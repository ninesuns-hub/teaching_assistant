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70"/>
  </p:notesMasterIdLst>
  <p:sldIdLst>
    <p:sldId id="615" r:id="rId2"/>
    <p:sldId id="578" r:id="rId3"/>
    <p:sldId id="265" r:id="rId4"/>
    <p:sldId id="854" r:id="rId5"/>
    <p:sldId id="855" r:id="rId6"/>
    <p:sldId id="856" r:id="rId7"/>
    <p:sldId id="857" r:id="rId8"/>
    <p:sldId id="858" r:id="rId9"/>
    <p:sldId id="859" r:id="rId10"/>
    <p:sldId id="861" r:id="rId11"/>
    <p:sldId id="862" r:id="rId12"/>
    <p:sldId id="860" r:id="rId13"/>
    <p:sldId id="863" r:id="rId14"/>
    <p:sldId id="864" r:id="rId15"/>
    <p:sldId id="865" r:id="rId16"/>
    <p:sldId id="866" r:id="rId17"/>
    <p:sldId id="868" r:id="rId18"/>
    <p:sldId id="869" r:id="rId19"/>
    <p:sldId id="870" r:id="rId20"/>
    <p:sldId id="871" r:id="rId21"/>
    <p:sldId id="872" r:id="rId22"/>
    <p:sldId id="873" r:id="rId23"/>
    <p:sldId id="874" r:id="rId24"/>
    <p:sldId id="823" r:id="rId25"/>
    <p:sldId id="708" r:id="rId26"/>
    <p:sldId id="709" r:id="rId27"/>
    <p:sldId id="825" r:id="rId28"/>
    <p:sldId id="826" r:id="rId29"/>
    <p:sldId id="828" r:id="rId30"/>
    <p:sldId id="829" r:id="rId31"/>
    <p:sldId id="830" r:id="rId32"/>
    <p:sldId id="787" r:id="rId33"/>
    <p:sldId id="788" r:id="rId34"/>
    <p:sldId id="831" r:id="rId35"/>
    <p:sldId id="789" r:id="rId36"/>
    <p:sldId id="790" r:id="rId37"/>
    <p:sldId id="791" r:id="rId38"/>
    <p:sldId id="833" r:id="rId39"/>
    <p:sldId id="834" r:id="rId40"/>
    <p:sldId id="835" r:id="rId41"/>
    <p:sldId id="851" r:id="rId42"/>
    <p:sldId id="837" r:id="rId43"/>
    <p:sldId id="836" r:id="rId44"/>
    <p:sldId id="794" r:id="rId45"/>
    <p:sldId id="795" r:id="rId46"/>
    <p:sldId id="796" r:id="rId47"/>
    <p:sldId id="797" r:id="rId48"/>
    <p:sldId id="798" r:id="rId49"/>
    <p:sldId id="838" r:id="rId50"/>
    <p:sldId id="799" r:id="rId51"/>
    <p:sldId id="800" r:id="rId52"/>
    <p:sldId id="801" r:id="rId53"/>
    <p:sldId id="839" r:id="rId54"/>
    <p:sldId id="803" r:id="rId55"/>
    <p:sldId id="804" r:id="rId56"/>
    <p:sldId id="841" r:id="rId57"/>
    <p:sldId id="806" r:id="rId58"/>
    <p:sldId id="842" r:id="rId59"/>
    <p:sldId id="843" r:id="rId60"/>
    <p:sldId id="844" r:id="rId61"/>
    <p:sldId id="808" r:id="rId62"/>
    <p:sldId id="846" r:id="rId63"/>
    <p:sldId id="848" r:id="rId64"/>
    <p:sldId id="810" r:id="rId65"/>
    <p:sldId id="811" r:id="rId66"/>
    <p:sldId id="850" r:id="rId67"/>
    <p:sldId id="852" r:id="rId68"/>
    <p:sldId id="853" r:id="rId69"/>
  </p:sldIdLst>
  <p:sldSz cx="12192000" cy="6858000"/>
  <p:notesSz cx="7104063" cy="10234613"/>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032">
          <p15:clr>
            <a:srgbClr val="A4A3A4"/>
          </p15:clr>
        </p15:guide>
        <p15:guide id="2" pos="3798">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B61FF"/>
    <a:srgbClr val="B9B93A"/>
    <a:srgbClr val="FFF2CC"/>
    <a:srgbClr val="CFA57C"/>
    <a:srgbClr val="002F7C"/>
    <a:srgbClr val="104AA8"/>
    <a:srgbClr val="0C3EAC"/>
    <a:srgbClr val="3D557A"/>
    <a:srgbClr val="45566D"/>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7176" autoAdjust="0"/>
    <p:restoredTop sz="78762" autoAdjust="0"/>
  </p:normalViewPr>
  <p:slideViewPr>
    <p:cSldViewPr snapToGrid="0" showGuides="1">
      <p:cViewPr>
        <p:scale>
          <a:sx n="100" d="100"/>
          <a:sy n="100" d="100"/>
        </p:scale>
        <p:origin x="666" y="72"/>
      </p:cViewPr>
      <p:guideLst>
        <p:guide orient="horz" pos="2032"/>
        <p:guide pos="3798"/>
      </p:guideLst>
    </p:cSldViewPr>
  </p:slideViewPr>
  <p:notesTextViewPr>
    <p:cViewPr>
      <p:scale>
        <a:sx n="1" d="1"/>
        <a:sy n="1" d="1"/>
      </p:scale>
      <p:origin x="0" y="-1512"/>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74" Type="http://schemas.openxmlformats.org/officeDocument/2006/relationships/tableStyles" Target="tableStyles.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viewProps" Target="view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 Type="http://schemas.openxmlformats.org/officeDocument/2006/relationships/slide" Target="slides/slide6.xml"/><Relationship Id="rId71"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3078163" cy="512763"/>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4024313" y="0"/>
            <a:ext cx="3078162" cy="512763"/>
          </a:xfrm>
          <a:prstGeom prst="rect">
            <a:avLst/>
          </a:prstGeom>
        </p:spPr>
        <p:txBody>
          <a:bodyPr vert="horz" lIns="91440" tIns="45720" rIns="91440" bIns="45720" rtlCol="0"/>
          <a:lstStyle>
            <a:lvl1pPr algn="r">
              <a:defRPr sz="1200"/>
            </a:lvl1pPr>
          </a:lstStyle>
          <a:p>
            <a:fld id="{873E485D-0A46-47F7-A37C-0200B173D2B8}" type="datetimeFigureOut">
              <a:rPr lang="zh-CN" altLang="en-US" smtClean="0"/>
              <a:t>2025/8/12</a:t>
            </a:fld>
            <a:endParaRPr lang="zh-CN" altLang="en-US"/>
          </a:p>
        </p:txBody>
      </p:sp>
      <p:sp>
        <p:nvSpPr>
          <p:cNvPr id="4" name="幻灯片图像占位符 3"/>
          <p:cNvSpPr>
            <a:spLocks noGrp="1" noRot="1" noChangeAspect="1"/>
          </p:cNvSpPr>
          <p:nvPr>
            <p:ph type="sldImg" idx="2"/>
          </p:nvPr>
        </p:nvSpPr>
        <p:spPr>
          <a:xfrm>
            <a:off x="482600" y="1279525"/>
            <a:ext cx="6140450" cy="34544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711200" y="4926013"/>
            <a:ext cx="5683250" cy="4029075"/>
          </a:xfrm>
          <a:prstGeom prst="rect">
            <a:avLst/>
          </a:prstGeom>
        </p:spPr>
        <p:txBody>
          <a:bodyPr vert="horz" lIns="91440" tIns="45720" rIns="91440" bIns="45720" rtlCol="0"/>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9721850"/>
            <a:ext cx="3078163" cy="512763"/>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4024313" y="9721850"/>
            <a:ext cx="3078162" cy="512763"/>
          </a:xfrm>
          <a:prstGeom prst="rect">
            <a:avLst/>
          </a:prstGeom>
        </p:spPr>
        <p:txBody>
          <a:bodyPr vert="horz" lIns="91440" tIns="45720" rIns="91440" bIns="45720" rtlCol="0" anchor="b"/>
          <a:lstStyle>
            <a:lvl1pPr algn="r">
              <a:defRPr sz="1200"/>
            </a:lvl1pPr>
          </a:lstStyle>
          <a:p>
            <a:fld id="{CAFE74B6-F93C-4D90-BE1A-7EFEDB35C0D4}" type="slidenum">
              <a:rPr lang="zh-CN" altLang="en-US" smtClean="0"/>
              <a:t>‹#›</a:t>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4A7EA511-84E0-4AE0-9842-AB0E10994BF1}" type="slidenum">
              <a:rPr lang="zh-CN" altLang="en-US" smtClean="0"/>
              <a:t>1</a:t>
            </a:fld>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indent="719138" eaLnBrk="1" hangingPunct="1">
              <a:spcBef>
                <a:spcPct val="60000"/>
              </a:spcBef>
              <a:buNone/>
            </a:pPr>
            <a:r>
              <a:rPr lang="zh-CN" altLang="en-US" b="1" dirty="0"/>
              <a:t>7.1.1 无向树的定义及其性质</a:t>
            </a:r>
            <a:endParaRPr lang="en-US" altLang="zh-CN" b="1" dirty="0"/>
          </a:p>
          <a:p>
            <a:pPr marL="0" indent="719138" eaLnBrk="1" hangingPunct="1">
              <a:spcBef>
                <a:spcPct val="60000"/>
              </a:spcBef>
              <a:buNone/>
            </a:pPr>
            <a:endParaRPr lang="zh-CN" altLang="en-US" b="1" dirty="0"/>
          </a:p>
          <a:p>
            <a:pPr marL="0" indent="719138" eaLnBrk="1" hangingPunct="1">
              <a:spcBef>
                <a:spcPct val="60000"/>
              </a:spcBef>
              <a:buNone/>
            </a:pPr>
            <a:r>
              <a:rPr lang="zh-CN" altLang="en-US" b="1" dirty="0"/>
              <a:t>7.1.2 生成树</a:t>
            </a:r>
          </a:p>
          <a:p>
            <a:endParaRPr lang="zh-CN" altLang="en-US" dirty="0"/>
          </a:p>
        </p:txBody>
      </p:sp>
      <p:sp>
        <p:nvSpPr>
          <p:cNvPr id="4" name="灯片编号占位符 3"/>
          <p:cNvSpPr>
            <a:spLocks noGrp="1"/>
          </p:cNvSpPr>
          <p:nvPr>
            <p:ph type="sldNum" sz="quarter" idx="10"/>
          </p:nvPr>
        </p:nvSpPr>
        <p:spPr/>
        <p:txBody>
          <a:bodyPr/>
          <a:lstStyle/>
          <a:p>
            <a:fld id="{CAFE74B6-F93C-4D90-BE1A-7EFEDB35C0D4}" type="slidenum">
              <a:rPr lang="zh-CN" altLang="en-US" smtClean="0"/>
              <a:t>2</a:t>
            </a:fld>
            <a:endParaRPr lang="zh-CN" altLang="en-US"/>
          </a:p>
        </p:txBody>
      </p:sp>
    </p:spTree>
    <p:extLst>
      <p:ext uri="{BB962C8B-B14F-4D97-AF65-F5344CB8AC3E}">
        <p14:creationId xmlns:p14="http://schemas.microsoft.com/office/powerpoint/2010/main" val="225160338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2800" dirty="0"/>
              <a:t>Given two matrices:</a:t>
            </a:r>
          </a:p>
          <a:p>
            <a:r>
              <a:rPr lang="en-US" altLang="zh-CN" sz="2800" dirty="0"/>
              <a:t>A=[</a:t>
            </a:r>
            <a:r>
              <a:rPr lang="en-US" altLang="zh-CN" sz="2800" dirty="0" err="1"/>
              <a:t>aij</a:t>
            </a:r>
            <a:r>
              <a:rPr lang="en-US" altLang="zh-CN" sz="2800" dirty="0"/>
              <a:t>],B=[</a:t>
            </a:r>
            <a:r>
              <a:rPr lang="en-US" altLang="zh-CN" sz="2800" dirty="0" err="1"/>
              <a:t>bij</a:t>
            </a:r>
            <a:r>
              <a:rPr lang="en-US" altLang="zh-CN" sz="2800" dirty="0"/>
              <a:t>]A = [a_{</a:t>
            </a:r>
            <a:r>
              <a:rPr lang="en-US" altLang="zh-CN" sz="2800" dirty="0" err="1"/>
              <a:t>ij</a:t>
            </a:r>
            <a:r>
              <a:rPr lang="en-US" altLang="zh-CN" sz="2800" dirty="0"/>
              <a:t>}], \quad B = [b_{</a:t>
            </a:r>
            <a:r>
              <a:rPr lang="en-US" altLang="zh-CN" sz="2800" dirty="0" err="1"/>
              <a:t>ij</a:t>
            </a:r>
            <a:r>
              <a:rPr lang="en-US" altLang="zh-CN" sz="2800" dirty="0"/>
              <a:t>}]A=[</a:t>
            </a:r>
            <a:r>
              <a:rPr lang="en-US" altLang="zh-CN" sz="2800" dirty="0" err="1"/>
              <a:t>aij</a:t>
            </a:r>
            <a:r>
              <a:rPr lang="en-US" altLang="zh-CN" sz="2800" dirty="0"/>
              <a:t>​],B=[</a:t>
            </a:r>
            <a:r>
              <a:rPr lang="en-US" altLang="zh-CN" sz="2800" dirty="0" err="1"/>
              <a:t>bij</a:t>
            </a:r>
            <a:r>
              <a:rPr lang="en-US" altLang="zh-CN" sz="2800" dirty="0"/>
              <a:t>​] both of size </a:t>
            </a:r>
            <a:r>
              <a:rPr lang="en-US" altLang="zh-CN" sz="2800" dirty="0" err="1"/>
              <a:t>n×nn</a:t>
            </a:r>
            <a:r>
              <a:rPr lang="en-US" altLang="zh-CN" sz="2800" dirty="0"/>
              <a:t> \times </a:t>
            </a:r>
            <a:r>
              <a:rPr lang="en-US" altLang="zh-CN" sz="2800" dirty="0" err="1"/>
              <a:t>nn×n</a:t>
            </a:r>
            <a:r>
              <a:rPr lang="en-US" altLang="zh-CN" sz="2800" dirty="0"/>
              <a:t>, their product C=A⋅BC = A \</a:t>
            </a:r>
            <a:r>
              <a:rPr lang="en-US" altLang="zh-CN" sz="2800" dirty="0" err="1"/>
              <a:t>cdot</a:t>
            </a:r>
            <a:r>
              <a:rPr lang="en-US" altLang="zh-CN" sz="2800" dirty="0"/>
              <a:t> BC=A⋅B is also </a:t>
            </a:r>
            <a:r>
              <a:rPr lang="en-US" altLang="zh-CN" sz="2800" dirty="0" err="1"/>
              <a:t>n×nn</a:t>
            </a:r>
            <a:r>
              <a:rPr lang="en-US" altLang="zh-CN" sz="2800" dirty="0"/>
              <a:t> \times </a:t>
            </a:r>
            <a:r>
              <a:rPr lang="en-US" altLang="zh-CN" sz="2800" dirty="0" err="1"/>
              <a:t>nn×n</a:t>
            </a:r>
            <a:r>
              <a:rPr lang="en-US" altLang="zh-CN" sz="2800" dirty="0"/>
              <a:t>, where each element is:</a:t>
            </a:r>
          </a:p>
          <a:p>
            <a:r>
              <a:rPr lang="en-US" altLang="zh-CN" sz="2800" dirty="0" err="1"/>
              <a:t>cij</a:t>
            </a:r>
            <a:r>
              <a:rPr lang="en-US" altLang="zh-CN" sz="2800" dirty="0"/>
              <a:t>=∑k=1naik⋅bkjc_{</a:t>
            </a:r>
            <a:r>
              <a:rPr lang="en-US" altLang="zh-CN" sz="2800" dirty="0" err="1"/>
              <a:t>ij</a:t>
            </a:r>
            <a:r>
              <a:rPr lang="en-US" altLang="zh-CN" sz="2800" dirty="0"/>
              <a:t>} = \sum_{k=1}^{n} a_{</a:t>
            </a:r>
            <a:r>
              <a:rPr lang="en-US" altLang="zh-CN" sz="2800" dirty="0" err="1"/>
              <a:t>ik</a:t>
            </a:r>
            <a:r>
              <a:rPr lang="en-US" altLang="zh-CN" sz="2800" dirty="0"/>
              <a:t>} \</a:t>
            </a:r>
            <a:r>
              <a:rPr lang="en-US" altLang="zh-CN" sz="2800" dirty="0" err="1"/>
              <a:t>cdot</a:t>
            </a:r>
            <a:r>
              <a:rPr lang="en-US" altLang="zh-CN" sz="2800" dirty="0"/>
              <a:t> b_{</a:t>
            </a:r>
            <a:r>
              <a:rPr lang="en-US" altLang="zh-CN" sz="2800" dirty="0" err="1"/>
              <a:t>kj</a:t>
            </a:r>
            <a:r>
              <a:rPr lang="en-US" altLang="zh-CN" sz="2800" dirty="0"/>
              <a:t>}</a:t>
            </a:r>
            <a:r>
              <a:rPr lang="en-US" altLang="zh-CN" sz="2800" dirty="0" err="1"/>
              <a:t>cij</a:t>
            </a:r>
            <a:r>
              <a:rPr lang="en-US" altLang="zh-CN" sz="2800" dirty="0"/>
              <a:t>​=k=1∑n​</a:t>
            </a:r>
            <a:r>
              <a:rPr lang="en-US" altLang="zh-CN" sz="2800" dirty="0" err="1"/>
              <a:t>aik</a:t>
            </a:r>
            <a:r>
              <a:rPr lang="en-US" altLang="zh-CN" sz="2800" dirty="0"/>
              <a:t>​⋅</a:t>
            </a:r>
            <a:r>
              <a:rPr lang="en-US" altLang="zh-CN" sz="2800" dirty="0" err="1"/>
              <a:t>bkj</a:t>
            </a:r>
            <a:r>
              <a:rPr lang="en-US" altLang="zh-CN" sz="2800" dirty="0"/>
              <a:t>​</a:t>
            </a:r>
          </a:p>
          <a:p>
            <a:endParaRPr lang="en-US" altLang="zh-CN" sz="2800" dirty="0"/>
          </a:p>
          <a:p>
            <a:r>
              <a:rPr lang="en-US" altLang="zh-CN" b="1" dirty="0"/>
              <a:t>3. Number of Elements in CCC</a:t>
            </a:r>
          </a:p>
          <a:p>
            <a:r>
              <a:rPr lang="en-US" altLang="zh-CN" dirty="0"/>
              <a:t>The result matrix CCC has </a:t>
            </a:r>
            <a:r>
              <a:rPr lang="en-US" altLang="zh-CN" dirty="0" err="1"/>
              <a:t>n×n</a:t>
            </a:r>
            <a:r>
              <a:rPr lang="en-US" altLang="zh-CN" dirty="0"/>
              <a:t>=n2n \times n = n^2n×n=n2 elements.</a:t>
            </a:r>
          </a:p>
          <a:p>
            <a:r>
              <a:rPr lang="en-US" altLang="zh-CN" b="1" dirty="0"/>
              <a:t>4. Total Work</a:t>
            </a:r>
          </a:p>
          <a:p>
            <a:r>
              <a:rPr lang="en-US" altLang="zh-CN" dirty="0"/>
              <a:t>Since each of the n2n^2n2 elements costs O(n)O(n)O(n) operations:</a:t>
            </a:r>
          </a:p>
          <a:p>
            <a:r>
              <a:rPr lang="en-US" altLang="zh-CN" dirty="0"/>
              <a:t>Total operations=n2×n=n3\text{Total operations} = n^2 \times n = n^3Total operations=n2×n=n3</a:t>
            </a:r>
            <a:endParaRPr lang="zh-CN" altLang="en-US" dirty="0"/>
          </a:p>
        </p:txBody>
      </p:sp>
      <p:sp>
        <p:nvSpPr>
          <p:cNvPr id="4" name="灯片编号占位符 3"/>
          <p:cNvSpPr>
            <a:spLocks noGrp="1"/>
          </p:cNvSpPr>
          <p:nvPr>
            <p:ph type="sldNum" sz="quarter" idx="10"/>
          </p:nvPr>
        </p:nvSpPr>
        <p:spPr/>
        <p:txBody>
          <a:bodyPr/>
          <a:lstStyle/>
          <a:p>
            <a:fld id="{CAFE74B6-F93C-4D90-BE1A-7EFEDB35C0D4}" type="slidenum">
              <a:rPr lang="zh-CN" altLang="en-US" smtClean="0"/>
              <a:t>3</a:t>
            </a:fld>
            <a:endParaRPr lang="zh-CN"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rPr>
              <a:t>图论树主要关注顶点的连接性和无环性，而数据结构树则更侧重于数据的组织、管理和操作效率。</a:t>
            </a:r>
            <a:endParaRPr lang="en-US" altLang="zh-CN" sz="1800" dirty="0">
              <a:effectLst/>
              <a:latin typeface="Times New Roman" panose="02020603050405020304" pitchFamily="18" charset="0"/>
              <a:ea typeface="宋体" panose="02010600030101010101" pitchFamily="2" charset="-122"/>
              <a:cs typeface="Times New Roman" panose="02020603050405020304" pitchFamily="18" charset="0"/>
            </a:endParaRPr>
          </a:p>
          <a:p>
            <a:pPr marL="0" indent="892175" eaLnBrk="1" hangingPunct="1">
              <a:spcBef>
                <a:spcPct val="60000"/>
              </a:spcBef>
              <a:buNone/>
            </a:pPr>
            <a:r>
              <a:rPr lang="en-US" altLang="zh-CN" b="1" dirty="0">
                <a:solidFill>
                  <a:srgbClr val="FF0000"/>
                </a:solidFill>
              </a:rPr>
              <a:t>7.1 </a:t>
            </a:r>
            <a:r>
              <a:rPr lang="zh-CN" altLang="en-US" b="1" dirty="0">
                <a:solidFill>
                  <a:srgbClr val="FF0000"/>
                </a:solidFill>
              </a:rPr>
              <a:t>无向树</a:t>
            </a:r>
            <a:endParaRPr lang="en-US" altLang="zh-CN" b="1" dirty="0">
              <a:solidFill>
                <a:srgbClr val="FF0000"/>
              </a:solidFill>
            </a:endParaRPr>
          </a:p>
          <a:p>
            <a:pPr marL="0" indent="892175" eaLnBrk="1" hangingPunct="1">
              <a:spcBef>
                <a:spcPct val="60000"/>
              </a:spcBef>
              <a:buNone/>
            </a:pPr>
            <a:endParaRPr lang="zh-CN" altLang="en-US" b="1" dirty="0"/>
          </a:p>
          <a:p>
            <a:pPr marL="0" indent="892175" eaLnBrk="1" hangingPunct="1">
              <a:spcBef>
                <a:spcPct val="60000"/>
              </a:spcBef>
              <a:buNone/>
            </a:pPr>
            <a:r>
              <a:rPr lang="en-US" altLang="zh-CN" b="1" dirty="0"/>
              <a:t>7.2 </a:t>
            </a:r>
            <a:r>
              <a:rPr lang="zh-CN" altLang="en-US" b="1" dirty="0"/>
              <a:t>根树及其应用</a:t>
            </a:r>
            <a:endParaRPr lang="zh-CN" altLang="en-US" sz="1800" b="1" dirty="0">
              <a:solidFill>
                <a:srgbClr val="FF0000"/>
              </a:solidFill>
            </a:endParaRPr>
          </a:p>
          <a:p>
            <a:endParaRPr lang="zh-CN" altLang="en-US" dirty="0"/>
          </a:p>
        </p:txBody>
      </p:sp>
      <p:sp>
        <p:nvSpPr>
          <p:cNvPr id="4" name="灯片编号占位符 3"/>
          <p:cNvSpPr>
            <a:spLocks noGrp="1"/>
          </p:cNvSpPr>
          <p:nvPr>
            <p:ph type="sldNum" sz="quarter" idx="10"/>
          </p:nvPr>
        </p:nvSpPr>
        <p:spPr/>
        <p:txBody>
          <a:bodyPr/>
          <a:lstStyle/>
          <a:p>
            <a:fld id="{CAFE74B6-F93C-4D90-BE1A-7EFEDB35C0D4}" type="slidenum">
              <a:rPr lang="zh-CN" altLang="en-US" smtClean="0"/>
              <a:t>4</a:t>
            </a:fld>
            <a:endParaRPr lang="zh-CN" altLang="en-US"/>
          </a:p>
        </p:txBody>
      </p:sp>
    </p:spTree>
    <p:extLst>
      <p:ext uri="{BB962C8B-B14F-4D97-AF65-F5344CB8AC3E}">
        <p14:creationId xmlns:p14="http://schemas.microsoft.com/office/powerpoint/2010/main" val="363275072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rPr>
              <a:t>图论树主要关注顶点的连接性和无环性，而数据结构树则更侧重于数据的组织、管理和操作效率。</a:t>
            </a:r>
            <a:endParaRPr lang="en-US" altLang="zh-CN" sz="1800" dirty="0">
              <a:effectLst/>
              <a:latin typeface="Times New Roman" panose="02020603050405020304" pitchFamily="18" charset="0"/>
              <a:ea typeface="宋体" panose="02010600030101010101" pitchFamily="2" charset="-122"/>
              <a:cs typeface="Times New Roman" panose="02020603050405020304" pitchFamily="18" charset="0"/>
            </a:endParaRPr>
          </a:p>
          <a:p>
            <a:pPr marL="0" indent="892175" eaLnBrk="1" hangingPunct="1">
              <a:spcBef>
                <a:spcPct val="60000"/>
              </a:spcBef>
              <a:buNone/>
            </a:pPr>
            <a:r>
              <a:rPr lang="en-US" altLang="zh-CN" b="1" dirty="0">
                <a:solidFill>
                  <a:srgbClr val="FF0000"/>
                </a:solidFill>
              </a:rPr>
              <a:t>7.1 </a:t>
            </a:r>
            <a:r>
              <a:rPr lang="zh-CN" altLang="en-US" b="1" dirty="0">
                <a:solidFill>
                  <a:srgbClr val="FF0000"/>
                </a:solidFill>
              </a:rPr>
              <a:t>无向树</a:t>
            </a:r>
            <a:endParaRPr lang="en-US" altLang="zh-CN" b="1" dirty="0">
              <a:solidFill>
                <a:srgbClr val="FF0000"/>
              </a:solidFill>
            </a:endParaRPr>
          </a:p>
          <a:p>
            <a:pPr marL="0" indent="892175" eaLnBrk="1" hangingPunct="1">
              <a:spcBef>
                <a:spcPct val="60000"/>
              </a:spcBef>
              <a:buNone/>
            </a:pPr>
            <a:endParaRPr lang="zh-CN" altLang="en-US" b="1" dirty="0"/>
          </a:p>
          <a:p>
            <a:pPr marL="0" indent="892175" eaLnBrk="1" hangingPunct="1">
              <a:spcBef>
                <a:spcPct val="60000"/>
              </a:spcBef>
              <a:buNone/>
            </a:pPr>
            <a:r>
              <a:rPr lang="en-US" altLang="zh-CN" b="1" dirty="0"/>
              <a:t>7.2 </a:t>
            </a:r>
            <a:r>
              <a:rPr lang="zh-CN" altLang="en-US" b="1" dirty="0"/>
              <a:t>根树及其应用</a:t>
            </a:r>
            <a:endParaRPr lang="zh-CN" altLang="en-US" sz="1800" b="1" dirty="0">
              <a:solidFill>
                <a:srgbClr val="FF0000"/>
              </a:solidFill>
            </a:endParaRPr>
          </a:p>
          <a:p>
            <a:endParaRPr lang="zh-CN" altLang="en-US" dirty="0"/>
          </a:p>
        </p:txBody>
      </p:sp>
      <p:sp>
        <p:nvSpPr>
          <p:cNvPr id="4" name="灯片编号占位符 3"/>
          <p:cNvSpPr>
            <a:spLocks noGrp="1"/>
          </p:cNvSpPr>
          <p:nvPr>
            <p:ph type="sldNum" sz="quarter" idx="10"/>
          </p:nvPr>
        </p:nvSpPr>
        <p:spPr/>
        <p:txBody>
          <a:bodyPr/>
          <a:lstStyle/>
          <a:p>
            <a:fld id="{CAFE74B6-F93C-4D90-BE1A-7EFEDB35C0D4}" type="slidenum">
              <a:rPr lang="zh-CN" altLang="en-US" smtClean="0"/>
              <a:t>5</a:t>
            </a:fld>
            <a:endParaRPr lang="zh-CN" altLang="en-US"/>
          </a:p>
        </p:txBody>
      </p:sp>
    </p:spTree>
    <p:extLst>
      <p:ext uri="{BB962C8B-B14F-4D97-AF65-F5344CB8AC3E}">
        <p14:creationId xmlns:p14="http://schemas.microsoft.com/office/powerpoint/2010/main" val="194556943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rPr>
              <a:t>图论树主要关注顶点的连接性和无环性，而数据结构树则更侧重于数据的组织、管理和操作效率。</a:t>
            </a:r>
            <a:endParaRPr lang="en-US" altLang="zh-CN" sz="1800" dirty="0">
              <a:effectLst/>
              <a:latin typeface="Times New Roman" panose="02020603050405020304" pitchFamily="18" charset="0"/>
              <a:ea typeface="宋体" panose="02010600030101010101" pitchFamily="2" charset="-122"/>
              <a:cs typeface="Times New Roman" panose="02020603050405020304" pitchFamily="18" charset="0"/>
            </a:endParaRPr>
          </a:p>
          <a:p>
            <a:pPr marL="0" indent="892175" eaLnBrk="1" hangingPunct="1">
              <a:spcBef>
                <a:spcPct val="60000"/>
              </a:spcBef>
              <a:buNone/>
            </a:pPr>
            <a:r>
              <a:rPr lang="en-US" altLang="zh-CN" b="1" dirty="0">
                <a:solidFill>
                  <a:srgbClr val="FF0000"/>
                </a:solidFill>
              </a:rPr>
              <a:t>7.1 </a:t>
            </a:r>
            <a:r>
              <a:rPr lang="zh-CN" altLang="en-US" b="1" dirty="0">
                <a:solidFill>
                  <a:srgbClr val="FF0000"/>
                </a:solidFill>
              </a:rPr>
              <a:t>无向树</a:t>
            </a:r>
            <a:endParaRPr lang="en-US" altLang="zh-CN" b="1" dirty="0">
              <a:solidFill>
                <a:srgbClr val="FF0000"/>
              </a:solidFill>
            </a:endParaRPr>
          </a:p>
          <a:p>
            <a:pPr marL="0" indent="892175" eaLnBrk="1" hangingPunct="1">
              <a:spcBef>
                <a:spcPct val="60000"/>
              </a:spcBef>
              <a:buNone/>
            </a:pPr>
            <a:endParaRPr lang="zh-CN" altLang="en-US" b="1" dirty="0"/>
          </a:p>
          <a:p>
            <a:pPr marL="0" indent="892175" eaLnBrk="1" hangingPunct="1">
              <a:spcBef>
                <a:spcPct val="60000"/>
              </a:spcBef>
              <a:buNone/>
            </a:pPr>
            <a:r>
              <a:rPr lang="en-US" altLang="zh-CN" b="1" dirty="0"/>
              <a:t>7.2 </a:t>
            </a:r>
            <a:r>
              <a:rPr lang="zh-CN" altLang="en-US" b="1" dirty="0"/>
              <a:t>根树及其应用</a:t>
            </a:r>
            <a:endParaRPr lang="zh-CN" altLang="en-US" sz="1800" b="1" dirty="0">
              <a:solidFill>
                <a:srgbClr val="FF0000"/>
              </a:solidFill>
            </a:endParaRPr>
          </a:p>
          <a:p>
            <a:endParaRPr lang="zh-CN" altLang="en-US" dirty="0"/>
          </a:p>
        </p:txBody>
      </p:sp>
      <p:sp>
        <p:nvSpPr>
          <p:cNvPr id="4" name="灯片编号占位符 3"/>
          <p:cNvSpPr>
            <a:spLocks noGrp="1"/>
          </p:cNvSpPr>
          <p:nvPr>
            <p:ph type="sldNum" sz="quarter" idx="10"/>
          </p:nvPr>
        </p:nvSpPr>
        <p:spPr/>
        <p:txBody>
          <a:bodyPr/>
          <a:lstStyle/>
          <a:p>
            <a:fld id="{CAFE74B6-F93C-4D90-BE1A-7EFEDB35C0D4}" type="slidenum">
              <a:rPr lang="zh-CN" altLang="en-US" smtClean="0"/>
              <a:t>6</a:t>
            </a:fld>
            <a:endParaRPr lang="zh-CN" altLang="en-US"/>
          </a:p>
        </p:txBody>
      </p:sp>
    </p:spTree>
    <p:extLst>
      <p:ext uri="{BB962C8B-B14F-4D97-AF65-F5344CB8AC3E}">
        <p14:creationId xmlns:p14="http://schemas.microsoft.com/office/powerpoint/2010/main" val="14574857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rPr>
              <a:t>图论树主要关注顶点的连接性和无环性，而数据结构树则更侧重于数据的组织、管理和操作效率。</a:t>
            </a:r>
            <a:endParaRPr lang="en-US" altLang="zh-CN" sz="1800" dirty="0">
              <a:effectLst/>
              <a:latin typeface="Times New Roman" panose="02020603050405020304" pitchFamily="18" charset="0"/>
              <a:ea typeface="宋体" panose="02010600030101010101" pitchFamily="2" charset="-122"/>
              <a:cs typeface="Times New Roman" panose="02020603050405020304" pitchFamily="18" charset="0"/>
            </a:endParaRPr>
          </a:p>
          <a:p>
            <a:pPr marL="0" indent="892175" eaLnBrk="1" hangingPunct="1">
              <a:spcBef>
                <a:spcPct val="60000"/>
              </a:spcBef>
              <a:buNone/>
            </a:pPr>
            <a:r>
              <a:rPr lang="en-US" altLang="zh-CN" b="1" dirty="0">
                <a:solidFill>
                  <a:srgbClr val="FF0000"/>
                </a:solidFill>
              </a:rPr>
              <a:t>7.1 </a:t>
            </a:r>
            <a:r>
              <a:rPr lang="zh-CN" altLang="en-US" b="1" dirty="0">
                <a:solidFill>
                  <a:srgbClr val="FF0000"/>
                </a:solidFill>
              </a:rPr>
              <a:t>无向树</a:t>
            </a:r>
            <a:endParaRPr lang="en-US" altLang="zh-CN" b="1" dirty="0">
              <a:solidFill>
                <a:srgbClr val="FF0000"/>
              </a:solidFill>
            </a:endParaRPr>
          </a:p>
          <a:p>
            <a:pPr marL="0" indent="892175" eaLnBrk="1" hangingPunct="1">
              <a:spcBef>
                <a:spcPct val="60000"/>
              </a:spcBef>
              <a:buNone/>
            </a:pPr>
            <a:endParaRPr lang="zh-CN" altLang="en-US" b="1" dirty="0"/>
          </a:p>
          <a:p>
            <a:pPr marL="0" indent="892175" eaLnBrk="1" hangingPunct="1">
              <a:spcBef>
                <a:spcPct val="60000"/>
              </a:spcBef>
              <a:buNone/>
            </a:pPr>
            <a:r>
              <a:rPr lang="en-US" altLang="zh-CN" b="1" dirty="0"/>
              <a:t>7.2 </a:t>
            </a:r>
            <a:r>
              <a:rPr lang="zh-CN" altLang="en-US" b="1" dirty="0"/>
              <a:t>根树及其应用</a:t>
            </a:r>
            <a:endParaRPr lang="zh-CN" altLang="en-US" sz="1800" b="1" dirty="0">
              <a:solidFill>
                <a:srgbClr val="FF0000"/>
              </a:solidFill>
            </a:endParaRPr>
          </a:p>
          <a:p>
            <a:endParaRPr lang="zh-CN" altLang="en-US" dirty="0"/>
          </a:p>
        </p:txBody>
      </p:sp>
      <p:sp>
        <p:nvSpPr>
          <p:cNvPr id="4" name="灯片编号占位符 3"/>
          <p:cNvSpPr>
            <a:spLocks noGrp="1"/>
          </p:cNvSpPr>
          <p:nvPr>
            <p:ph type="sldNum" sz="quarter" idx="10"/>
          </p:nvPr>
        </p:nvSpPr>
        <p:spPr/>
        <p:txBody>
          <a:bodyPr/>
          <a:lstStyle/>
          <a:p>
            <a:fld id="{CAFE74B6-F93C-4D90-BE1A-7EFEDB35C0D4}" type="slidenum">
              <a:rPr lang="zh-CN" altLang="en-US" smtClean="0"/>
              <a:t>7</a:t>
            </a:fld>
            <a:endParaRPr lang="zh-CN" altLang="en-US"/>
          </a:p>
        </p:txBody>
      </p:sp>
    </p:spTree>
    <p:extLst>
      <p:ext uri="{BB962C8B-B14F-4D97-AF65-F5344CB8AC3E}">
        <p14:creationId xmlns:p14="http://schemas.microsoft.com/office/powerpoint/2010/main" val="249623159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rPr>
              <a:t>图论树主要关注顶点的连接性和无环性，而数据结构树则更侧重于数据的组织、管理和操作效率。</a:t>
            </a:r>
            <a:endParaRPr lang="en-US" altLang="zh-CN" sz="1800" dirty="0">
              <a:effectLst/>
              <a:latin typeface="Times New Roman" panose="02020603050405020304" pitchFamily="18" charset="0"/>
              <a:ea typeface="宋体" panose="02010600030101010101" pitchFamily="2" charset="-122"/>
              <a:cs typeface="Times New Roman" panose="02020603050405020304" pitchFamily="18" charset="0"/>
            </a:endParaRPr>
          </a:p>
          <a:p>
            <a:pPr marL="0" indent="892175" eaLnBrk="1" hangingPunct="1">
              <a:spcBef>
                <a:spcPct val="60000"/>
              </a:spcBef>
              <a:buNone/>
            </a:pPr>
            <a:r>
              <a:rPr lang="en-US" altLang="zh-CN" b="1" dirty="0">
                <a:solidFill>
                  <a:srgbClr val="FF0000"/>
                </a:solidFill>
              </a:rPr>
              <a:t>7.1 </a:t>
            </a:r>
            <a:r>
              <a:rPr lang="zh-CN" altLang="en-US" b="1" dirty="0">
                <a:solidFill>
                  <a:srgbClr val="FF0000"/>
                </a:solidFill>
              </a:rPr>
              <a:t>无向树</a:t>
            </a:r>
            <a:endParaRPr lang="en-US" altLang="zh-CN" b="1" dirty="0">
              <a:solidFill>
                <a:srgbClr val="FF0000"/>
              </a:solidFill>
            </a:endParaRPr>
          </a:p>
          <a:p>
            <a:pPr marL="0" indent="892175" eaLnBrk="1" hangingPunct="1">
              <a:spcBef>
                <a:spcPct val="60000"/>
              </a:spcBef>
              <a:buNone/>
            </a:pPr>
            <a:endParaRPr lang="zh-CN" altLang="en-US" b="1" dirty="0"/>
          </a:p>
          <a:p>
            <a:pPr marL="0" indent="892175" eaLnBrk="1" hangingPunct="1">
              <a:spcBef>
                <a:spcPct val="60000"/>
              </a:spcBef>
              <a:buNone/>
            </a:pPr>
            <a:r>
              <a:rPr lang="en-US" altLang="zh-CN" b="1" dirty="0"/>
              <a:t>7.2 </a:t>
            </a:r>
            <a:r>
              <a:rPr lang="zh-CN" altLang="en-US" b="1" dirty="0"/>
              <a:t>根树及其应用</a:t>
            </a:r>
            <a:endParaRPr lang="zh-CN" altLang="en-US" sz="1800" b="1" dirty="0">
              <a:solidFill>
                <a:srgbClr val="FF0000"/>
              </a:solidFill>
            </a:endParaRPr>
          </a:p>
          <a:p>
            <a:endParaRPr lang="zh-CN" altLang="en-US" dirty="0"/>
          </a:p>
        </p:txBody>
      </p:sp>
      <p:sp>
        <p:nvSpPr>
          <p:cNvPr id="4" name="灯片编号占位符 3"/>
          <p:cNvSpPr>
            <a:spLocks noGrp="1"/>
          </p:cNvSpPr>
          <p:nvPr>
            <p:ph type="sldNum" sz="quarter" idx="10"/>
          </p:nvPr>
        </p:nvSpPr>
        <p:spPr/>
        <p:txBody>
          <a:bodyPr/>
          <a:lstStyle/>
          <a:p>
            <a:fld id="{CAFE74B6-F93C-4D90-BE1A-7EFEDB35C0D4}" type="slidenum">
              <a:rPr lang="zh-CN" altLang="en-US" smtClean="0"/>
              <a:t>8</a:t>
            </a:fld>
            <a:endParaRPr lang="zh-CN" altLang="en-US"/>
          </a:p>
        </p:txBody>
      </p:sp>
    </p:spTree>
    <p:extLst>
      <p:ext uri="{BB962C8B-B14F-4D97-AF65-F5344CB8AC3E}">
        <p14:creationId xmlns:p14="http://schemas.microsoft.com/office/powerpoint/2010/main" val="161968185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rPr>
              <a:t>图论树主要关注顶点的连接性和无环性，而数据结构树则更侧重于数据的组织、管理和操作效率。</a:t>
            </a:r>
            <a:endParaRPr lang="en-US" altLang="zh-CN" sz="1800" dirty="0">
              <a:effectLst/>
              <a:latin typeface="Times New Roman" panose="02020603050405020304" pitchFamily="18" charset="0"/>
              <a:ea typeface="宋体" panose="02010600030101010101" pitchFamily="2" charset="-122"/>
              <a:cs typeface="Times New Roman" panose="02020603050405020304" pitchFamily="18" charset="0"/>
            </a:endParaRPr>
          </a:p>
          <a:p>
            <a:pPr marL="0" indent="892175" eaLnBrk="1" hangingPunct="1">
              <a:spcBef>
                <a:spcPct val="60000"/>
              </a:spcBef>
              <a:buNone/>
            </a:pPr>
            <a:r>
              <a:rPr lang="en-US" altLang="zh-CN" b="1" dirty="0">
                <a:solidFill>
                  <a:srgbClr val="FF0000"/>
                </a:solidFill>
              </a:rPr>
              <a:t>7.1 </a:t>
            </a:r>
            <a:r>
              <a:rPr lang="zh-CN" altLang="en-US" b="1" dirty="0">
                <a:solidFill>
                  <a:srgbClr val="FF0000"/>
                </a:solidFill>
              </a:rPr>
              <a:t>无向树</a:t>
            </a:r>
            <a:endParaRPr lang="en-US" altLang="zh-CN" b="1" dirty="0">
              <a:solidFill>
                <a:srgbClr val="FF0000"/>
              </a:solidFill>
            </a:endParaRPr>
          </a:p>
          <a:p>
            <a:pPr marL="0" indent="892175" eaLnBrk="1" hangingPunct="1">
              <a:spcBef>
                <a:spcPct val="60000"/>
              </a:spcBef>
              <a:buNone/>
            </a:pPr>
            <a:endParaRPr lang="zh-CN" altLang="en-US" b="1" dirty="0"/>
          </a:p>
          <a:p>
            <a:pPr marL="0" indent="892175" eaLnBrk="1" hangingPunct="1">
              <a:spcBef>
                <a:spcPct val="60000"/>
              </a:spcBef>
              <a:buNone/>
            </a:pPr>
            <a:r>
              <a:rPr lang="en-US" altLang="zh-CN" b="1" dirty="0"/>
              <a:t>7.2 </a:t>
            </a:r>
            <a:r>
              <a:rPr lang="zh-CN" altLang="en-US" b="1" dirty="0"/>
              <a:t>根树及其应用</a:t>
            </a:r>
            <a:endParaRPr lang="zh-CN" altLang="en-US" sz="1800" b="1" dirty="0">
              <a:solidFill>
                <a:srgbClr val="FF0000"/>
              </a:solidFill>
            </a:endParaRPr>
          </a:p>
          <a:p>
            <a:endParaRPr lang="zh-CN" altLang="en-US" dirty="0"/>
          </a:p>
        </p:txBody>
      </p:sp>
      <p:sp>
        <p:nvSpPr>
          <p:cNvPr id="4" name="灯片编号占位符 3"/>
          <p:cNvSpPr>
            <a:spLocks noGrp="1"/>
          </p:cNvSpPr>
          <p:nvPr>
            <p:ph type="sldNum" sz="quarter" idx="10"/>
          </p:nvPr>
        </p:nvSpPr>
        <p:spPr/>
        <p:txBody>
          <a:bodyPr/>
          <a:lstStyle/>
          <a:p>
            <a:fld id="{CAFE74B6-F93C-4D90-BE1A-7EFEDB35C0D4}" type="slidenum">
              <a:rPr lang="zh-CN" altLang="en-US" smtClean="0"/>
              <a:t>9</a:t>
            </a:fld>
            <a:endParaRPr lang="zh-CN" altLang="en-US"/>
          </a:p>
        </p:txBody>
      </p:sp>
    </p:spTree>
    <p:extLst>
      <p:ext uri="{BB962C8B-B14F-4D97-AF65-F5344CB8AC3E}">
        <p14:creationId xmlns:p14="http://schemas.microsoft.com/office/powerpoint/2010/main" val="154075786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rPr>
              <a:t>图论树主要关注顶点的连接性和无环性，而数据结构树则更侧重于数据的组织、管理和操作效率。</a:t>
            </a:r>
            <a:endParaRPr lang="en-US" altLang="zh-CN" sz="1800" dirty="0">
              <a:effectLst/>
              <a:latin typeface="Times New Roman" panose="02020603050405020304" pitchFamily="18" charset="0"/>
              <a:ea typeface="宋体" panose="02010600030101010101" pitchFamily="2" charset="-122"/>
              <a:cs typeface="Times New Roman" panose="02020603050405020304" pitchFamily="18" charset="0"/>
            </a:endParaRPr>
          </a:p>
          <a:p>
            <a:pPr marL="0" indent="892175" eaLnBrk="1" hangingPunct="1">
              <a:spcBef>
                <a:spcPct val="60000"/>
              </a:spcBef>
              <a:buNone/>
            </a:pPr>
            <a:r>
              <a:rPr lang="en-US" altLang="zh-CN" b="1" dirty="0">
                <a:solidFill>
                  <a:srgbClr val="FF0000"/>
                </a:solidFill>
              </a:rPr>
              <a:t>7.1 </a:t>
            </a:r>
            <a:r>
              <a:rPr lang="zh-CN" altLang="en-US" b="1" dirty="0">
                <a:solidFill>
                  <a:srgbClr val="FF0000"/>
                </a:solidFill>
              </a:rPr>
              <a:t>无向树</a:t>
            </a:r>
            <a:endParaRPr lang="en-US" altLang="zh-CN" b="1" dirty="0">
              <a:solidFill>
                <a:srgbClr val="FF0000"/>
              </a:solidFill>
            </a:endParaRPr>
          </a:p>
          <a:p>
            <a:pPr marL="0" indent="892175" eaLnBrk="1" hangingPunct="1">
              <a:spcBef>
                <a:spcPct val="60000"/>
              </a:spcBef>
              <a:buNone/>
            </a:pPr>
            <a:endParaRPr lang="zh-CN" altLang="en-US" b="1" dirty="0"/>
          </a:p>
          <a:p>
            <a:pPr marL="0" indent="892175" eaLnBrk="1" hangingPunct="1">
              <a:spcBef>
                <a:spcPct val="60000"/>
              </a:spcBef>
              <a:buNone/>
            </a:pPr>
            <a:r>
              <a:rPr lang="en-US" altLang="zh-CN" b="1" dirty="0"/>
              <a:t>7.2 </a:t>
            </a:r>
            <a:r>
              <a:rPr lang="zh-CN" altLang="en-US" b="1" dirty="0"/>
              <a:t>根树及其应用</a:t>
            </a:r>
            <a:endParaRPr lang="zh-CN" altLang="en-US" sz="1800" b="1" dirty="0">
              <a:solidFill>
                <a:srgbClr val="FF0000"/>
              </a:solidFill>
            </a:endParaRPr>
          </a:p>
          <a:p>
            <a:endParaRPr lang="zh-CN" altLang="en-US" dirty="0"/>
          </a:p>
        </p:txBody>
      </p:sp>
      <p:sp>
        <p:nvSpPr>
          <p:cNvPr id="4" name="灯片编号占位符 3"/>
          <p:cNvSpPr>
            <a:spLocks noGrp="1"/>
          </p:cNvSpPr>
          <p:nvPr>
            <p:ph type="sldNum" sz="quarter" idx="10"/>
          </p:nvPr>
        </p:nvSpPr>
        <p:spPr/>
        <p:txBody>
          <a:bodyPr/>
          <a:lstStyle/>
          <a:p>
            <a:fld id="{CAFE74B6-F93C-4D90-BE1A-7EFEDB35C0D4}" type="slidenum">
              <a:rPr lang="zh-CN" altLang="en-US" smtClean="0"/>
              <a:t>10</a:t>
            </a:fld>
            <a:endParaRPr lang="zh-CN" altLang="en-US"/>
          </a:p>
        </p:txBody>
      </p:sp>
    </p:spTree>
    <p:extLst>
      <p:ext uri="{BB962C8B-B14F-4D97-AF65-F5344CB8AC3E}">
        <p14:creationId xmlns:p14="http://schemas.microsoft.com/office/powerpoint/2010/main" val="42603712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rPr>
              <a:t>图论树主要关注顶点的连接性和无环性，而数据结构树则更侧重于数据的组织、管理和操作效率。</a:t>
            </a:r>
            <a:endParaRPr lang="en-US" altLang="zh-CN" sz="1800" dirty="0">
              <a:effectLst/>
              <a:latin typeface="Times New Roman" panose="02020603050405020304" pitchFamily="18" charset="0"/>
              <a:ea typeface="宋体" panose="02010600030101010101" pitchFamily="2" charset="-122"/>
              <a:cs typeface="Times New Roman" panose="02020603050405020304" pitchFamily="18" charset="0"/>
            </a:endParaRPr>
          </a:p>
          <a:p>
            <a:pPr marL="0" indent="892175" eaLnBrk="1" hangingPunct="1">
              <a:spcBef>
                <a:spcPct val="60000"/>
              </a:spcBef>
              <a:buNone/>
            </a:pPr>
            <a:r>
              <a:rPr lang="en-US" altLang="zh-CN" b="1" dirty="0">
                <a:solidFill>
                  <a:srgbClr val="FF0000"/>
                </a:solidFill>
              </a:rPr>
              <a:t>7.1 </a:t>
            </a:r>
            <a:r>
              <a:rPr lang="zh-CN" altLang="en-US" b="1" dirty="0">
                <a:solidFill>
                  <a:srgbClr val="FF0000"/>
                </a:solidFill>
              </a:rPr>
              <a:t>无向树</a:t>
            </a:r>
            <a:endParaRPr lang="en-US" altLang="zh-CN" b="1" dirty="0">
              <a:solidFill>
                <a:srgbClr val="FF0000"/>
              </a:solidFill>
            </a:endParaRPr>
          </a:p>
          <a:p>
            <a:pPr marL="0" indent="892175" eaLnBrk="1" hangingPunct="1">
              <a:spcBef>
                <a:spcPct val="60000"/>
              </a:spcBef>
              <a:buNone/>
            </a:pPr>
            <a:endParaRPr lang="zh-CN" altLang="en-US" b="1" dirty="0"/>
          </a:p>
          <a:p>
            <a:pPr marL="0" indent="892175" eaLnBrk="1" hangingPunct="1">
              <a:spcBef>
                <a:spcPct val="60000"/>
              </a:spcBef>
              <a:buNone/>
            </a:pPr>
            <a:r>
              <a:rPr lang="en-US" altLang="zh-CN" b="1" dirty="0"/>
              <a:t>7.2 </a:t>
            </a:r>
            <a:r>
              <a:rPr lang="zh-CN" altLang="en-US" b="1" dirty="0"/>
              <a:t>根树及其应用</a:t>
            </a:r>
            <a:endParaRPr lang="zh-CN" altLang="en-US" sz="1800" b="1" dirty="0">
              <a:solidFill>
                <a:srgbClr val="FF0000"/>
              </a:solidFill>
            </a:endParaRPr>
          </a:p>
          <a:p>
            <a:endParaRPr lang="zh-CN" altLang="en-US" dirty="0"/>
          </a:p>
        </p:txBody>
      </p:sp>
      <p:sp>
        <p:nvSpPr>
          <p:cNvPr id="4" name="灯片编号占位符 3"/>
          <p:cNvSpPr>
            <a:spLocks noGrp="1"/>
          </p:cNvSpPr>
          <p:nvPr>
            <p:ph type="sldNum" sz="quarter" idx="10"/>
          </p:nvPr>
        </p:nvSpPr>
        <p:spPr/>
        <p:txBody>
          <a:bodyPr/>
          <a:lstStyle/>
          <a:p>
            <a:fld id="{CAFE74B6-F93C-4D90-BE1A-7EFEDB35C0D4}" type="slidenum">
              <a:rPr lang="zh-CN" altLang="en-US" smtClean="0"/>
              <a:t>11</a:t>
            </a:fld>
            <a:endParaRPr lang="zh-CN" altLang="en-US"/>
          </a:p>
        </p:txBody>
      </p:sp>
    </p:spTree>
    <p:extLst>
      <p:ext uri="{BB962C8B-B14F-4D97-AF65-F5344CB8AC3E}">
        <p14:creationId xmlns:p14="http://schemas.microsoft.com/office/powerpoint/2010/main" val="117559016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rPr>
              <a:t>图论树主要关注顶点的连接性和无环性，而数据结构树则更侧重于数据的组织、管理和操作效率。</a:t>
            </a:r>
            <a:endParaRPr lang="en-US" altLang="zh-CN" sz="1800" dirty="0">
              <a:effectLst/>
              <a:latin typeface="Times New Roman" panose="02020603050405020304" pitchFamily="18" charset="0"/>
              <a:ea typeface="宋体" panose="02010600030101010101" pitchFamily="2" charset="-122"/>
              <a:cs typeface="Times New Roman" panose="02020603050405020304" pitchFamily="18" charset="0"/>
            </a:endParaRPr>
          </a:p>
          <a:p>
            <a:pPr marL="0" indent="892175" eaLnBrk="1" hangingPunct="1">
              <a:spcBef>
                <a:spcPct val="60000"/>
              </a:spcBef>
              <a:buNone/>
            </a:pPr>
            <a:r>
              <a:rPr lang="en-US" altLang="zh-CN" b="1" dirty="0">
                <a:solidFill>
                  <a:srgbClr val="FF0000"/>
                </a:solidFill>
              </a:rPr>
              <a:t>7.1 </a:t>
            </a:r>
            <a:r>
              <a:rPr lang="zh-CN" altLang="en-US" b="1" dirty="0">
                <a:solidFill>
                  <a:srgbClr val="FF0000"/>
                </a:solidFill>
              </a:rPr>
              <a:t>无向树</a:t>
            </a:r>
            <a:endParaRPr lang="en-US" altLang="zh-CN" b="1" dirty="0">
              <a:solidFill>
                <a:srgbClr val="FF0000"/>
              </a:solidFill>
            </a:endParaRPr>
          </a:p>
          <a:p>
            <a:pPr marL="0" indent="892175" eaLnBrk="1" hangingPunct="1">
              <a:spcBef>
                <a:spcPct val="60000"/>
              </a:spcBef>
              <a:buNone/>
            </a:pPr>
            <a:endParaRPr lang="zh-CN" altLang="en-US" b="1" dirty="0"/>
          </a:p>
          <a:p>
            <a:pPr marL="0" indent="892175" eaLnBrk="1" hangingPunct="1">
              <a:spcBef>
                <a:spcPct val="60000"/>
              </a:spcBef>
              <a:buNone/>
            </a:pPr>
            <a:r>
              <a:rPr lang="en-US" altLang="zh-CN" b="1" dirty="0"/>
              <a:t>7.2 </a:t>
            </a:r>
            <a:r>
              <a:rPr lang="zh-CN" altLang="en-US" b="1" dirty="0"/>
              <a:t>根树及其应用</a:t>
            </a:r>
            <a:endParaRPr lang="zh-CN" altLang="en-US" sz="1800" b="1" dirty="0">
              <a:solidFill>
                <a:srgbClr val="FF0000"/>
              </a:solidFill>
            </a:endParaRPr>
          </a:p>
          <a:p>
            <a:endParaRPr lang="zh-CN" altLang="en-US" dirty="0"/>
          </a:p>
        </p:txBody>
      </p:sp>
      <p:sp>
        <p:nvSpPr>
          <p:cNvPr id="4" name="灯片编号占位符 3"/>
          <p:cNvSpPr>
            <a:spLocks noGrp="1"/>
          </p:cNvSpPr>
          <p:nvPr>
            <p:ph type="sldNum" sz="quarter" idx="10"/>
          </p:nvPr>
        </p:nvSpPr>
        <p:spPr/>
        <p:txBody>
          <a:bodyPr/>
          <a:lstStyle/>
          <a:p>
            <a:fld id="{CAFE74B6-F93C-4D90-BE1A-7EFEDB35C0D4}" type="slidenum">
              <a:rPr lang="zh-CN" altLang="en-US" smtClean="0"/>
              <a:t>12</a:t>
            </a:fld>
            <a:endParaRPr lang="zh-CN" altLang="en-US"/>
          </a:p>
        </p:txBody>
      </p:sp>
    </p:spTree>
    <p:extLst>
      <p:ext uri="{BB962C8B-B14F-4D97-AF65-F5344CB8AC3E}">
        <p14:creationId xmlns:p14="http://schemas.microsoft.com/office/powerpoint/2010/main" val="204455698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rPr>
              <a:t>图论树主要关注顶点的连接性和无环性，而数据结构树则更侧重于数据的组织、管理和操作效率。</a:t>
            </a:r>
            <a:endParaRPr lang="en-US" altLang="zh-CN" sz="1800" dirty="0">
              <a:effectLst/>
              <a:latin typeface="Times New Roman" panose="02020603050405020304" pitchFamily="18" charset="0"/>
              <a:ea typeface="宋体" panose="02010600030101010101" pitchFamily="2" charset="-122"/>
              <a:cs typeface="Times New Roman" panose="02020603050405020304" pitchFamily="18" charset="0"/>
            </a:endParaRPr>
          </a:p>
          <a:p>
            <a:pPr marL="0" indent="892175" eaLnBrk="1" hangingPunct="1">
              <a:spcBef>
                <a:spcPct val="60000"/>
              </a:spcBef>
              <a:buNone/>
            </a:pPr>
            <a:r>
              <a:rPr lang="en-US" altLang="zh-CN" b="1" dirty="0">
                <a:solidFill>
                  <a:srgbClr val="FF0000"/>
                </a:solidFill>
              </a:rPr>
              <a:t>7.1 </a:t>
            </a:r>
            <a:r>
              <a:rPr lang="zh-CN" altLang="en-US" b="1" dirty="0">
                <a:solidFill>
                  <a:srgbClr val="FF0000"/>
                </a:solidFill>
              </a:rPr>
              <a:t>无向树</a:t>
            </a:r>
            <a:endParaRPr lang="en-US" altLang="zh-CN" b="1" dirty="0">
              <a:solidFill>
                <a:srgbClr val="FF0000"/>
              </a:solidFill>
            </a:endParaRPr>
          </a:p>
          <a:p>
            <a:pPr marL="0" indent="892175" eaLnBrk="1" hangingPunct="1">
              <a:spcBef>
                <a:spcPct val="60000"/>
              </a:spcBef>
              <a:buNone/>
            </a:pPr>
            <a:endParaRPr lang="zh-CN" altLang="en-US" b="1" dirty="0"/>
          </a:p>
          <a:p>
            <a:pPr marL="0" indent="892175" eaLnBrk="1" hangingPunct="1">
              <a:spcBef>
                <a:spcPct val="60000"/>
              </a:spcBef>
              <a:buNone/>
            </a:pPr>
            <a:r>
              <a:rPr lang="en-US" altLang="zh-CN" b="1" dirty="0"/>
              <a:t>7.2 </a:t>
            </a:r>
            <a:r>
              <a:rPr lang="zh-CN" altLang="en-US" b="1" dirty="0"/>
              <a:t>根树及其应用</a:t>
            </a:r>
            <a:endParaRPr lang="zh-CN" altLang="en-US" sz="1800" b="1" dirty="0">
              <a:solidFill>
                <a:srgbClr val="FF0000"/>
              </a:solidFill>
            </a:endParaRPr>
          </a:p>
          <a:p>
            <a:endParaRPr lang="zh-CN" altLang="en-US" dirty="0"/>
          </a:p>
        </p:txBody>
      </p:sp>
      <p:sp>
        <p:nvSpPr>
          <p:cNvPr id="4" name="灯片编号占位符 3"/>
          <p:cNvSpPr>
            <a:spLocks noGrp="1"/>
          </p:cNvSpPr>
          <p:nvPr>
            <p:ph type="sldNum" sz="quarter" idx="10"/>
          </p:nvPr>
        </p:nvSpPr>
        <p:spPr/>
        <p:txBody>
          <a:bodyPr/>
          <a:lstStyle/>
          <a:p>
            <a:fld id="{CAFE74B6-F93C-4D90-BE1A-7EFEDB35C0D4}" type="slidenum">
              <a:rPr lang="zh-CN" altLang="en-US" smtClean="0"/>
              <a:t>13</a:t>
            </a:fld>
            <a:endParaRPr lang="zh-CN" altLang="en-US"/>
          </a:p>
        </p:txBody>
      </p:sp>
    </p:spTree>
    <p:extLst>
      <p:ext uri="{BB962C8B-B14F-4D97-AF65-F5344CB8AC3E}">
        <p14:creationId xmlns:p14="http://schemas.microsoft.com/office/powerpoint/2010/main" val="309516042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rPr>
              <a:t>图论树主要关注顶点的连接性和无环性，而数据结构树则更侧重于数据的组织、管理和操作效率。</a:t>
            </a:r>
            <a:endParaRPr lang="en-US" altLang="zh-CN" sz="1800" dirty="0">
              <a:effectLst/>
              <a:latin typeface="Times New Roman" panose="02020603050405020304" pitchFamily="18" charset="0"/>
              <a:ea typeface="宋体" panose="02010600030101010101" pitchFamily="2" charset="-122"/>
              <a:cs typeface="Times New Roman" panose="02020603050405020304" pitchFamily="18" charset="0"/>
            </a:endParaRPr>
          </a:p>
          <a:p>
            <a:pPr marL="0" indent="892175" eaLnBrk="1" hangingPunct="1">
              <a:spcBef>
                <a:spcPct val="60000"/>
              </a:spcBef>
              <a:buNone/>
            </a:pPr>
            <a:r>
              <a:rPr lang="en-US" altLang="zh-CN" b="1" dirty="0">
                <a:solidFill>
                  <a:srgbClr val="FF0000"/>
                </a:solidFill>
              </a:rPr>
              <a:t>7.1 </a:t>
            </a:r>
            <a:r>
              <a:rPr lang="zh-CN" altLang="en-US" b="1" dirty="0">
                <a:solidFill>
                  <a:srgbClr val="FF0000"/>
                </a:solidFill>
              </a:rPr>
              <a:t>无向树</a:t>
            </a:r>
            <a:endParaRPr lang="en-US" altLang="zh-CN" b="1" dirty="0">
              <a:solidFill>
                <a:srgbClr val="FF0000"/>
              </a:solidFill>
            </a:endParaRPr>
          </a:p>
          <a:p>
            <a:pPr marL="0" indent="892175" eaLnBrk="1" hangingPunct="1">
              <a:spcBef>
                <a:spcPct val="60000"/>
              </a:spcBef>
              <a:buNone/>
            </a:pPr>
            <a:endParaRPr lang="zh-CN" altLang="en-US" b="1" dirty="0"/>
          </a:p>
          <a:p>
            <a:pPr marL="0" indent="892175" eaLnBrk="1" hangingPunct="1">
              <a:spcBef>
                <a:spcPct val="60000"/>
              </a:spcBef>
              <a:buNone/>
            </a:pPr>
            <a:r>
              <a:rPr lang="en-US" altLang="zh-CN" b="1" dirty="0"/>
              <a:t>7.2 </a:t>
            </a:r>
            <a:r>
              <a:rPr lang="zh-CN" altLang="en-US" b="1" dirty="0"/>
              <a:t>根树及其应用</a:t>
            </a:r>
            <a:endParaRPr lang="zh-CN" altLang="en-US" sz="1800" b="1" dirty="0">
              <a:solidFill>
                <a:srgbClr val="FF0000"/>
              </a:solidFill>
            </a:endParaRPr>
          </a:p>
          <a:p>
            <a:endParaRPr lang="zh-CN" altLang="en-US" dirty="0"/>
          </a:p>
        </p:txBody>
      </p:sp>
      <p:sp>
        <p:nvSpPr>
          <p:cNvPr id="4" name="灯片编号占位符 3"/>
          <p:cNvSpPr>
            <a:spLocks noGrp="1"/>
          </p:cNvSpPr>
          <p:nvPr>
            <p:ph type="sldNum" sz="quarter" idx="10"/>
          </p:nvPr>
        </p:nvSpPr>
        <p:spPr/>
        <p:txBody>
          <a:bodyPr/>
          <a:lstStyle/>
          <a:p>
            <a:fld id="{CAFE74B6-F93C-4D90-BE1A-7EFEDB35C0D4}" type="slidenum">
              <a:rPr lang="zh-CN" altLang="en-US" smtClean="0"/>
              <a:t>14</a:t>
            </a:fld>
            <a:endParaRPr lang="zh-CN" altLang="en-US"/>
          </a:p>
        </p:txBody>
      </p:sp>
    </p:spTree>
    <p:extLst>
      <p:ext uri="{BB962C8B-B14F-4D97-AF65-F5344CB8AC3E}">
        <p14:creationId xmlns:p14="http://schemas.microsoft.com/office/powerpoint/2010/main" val="3854384516"/>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2800" dirty="0"/>
              <a:t>The </a:t>
            </a:r>
            <a:r>
              <a:rPr lang="en-US" altLang="zh-CN" sz="2800" b="1" dirty="0"/>
              <a:t>time complexity of Dijkstra’s algorithm</a:t>
            </a:r>
            <a:r>
              <a:rPr lang="en-US" altLang="zh-CN" sz="2800" dirty="0"/>
              <a:t> depends on how you implement the priority queue (the data structure that keeps track of the next closest node to process):</a:t>
            </a:r>
          </a:p>
          <a:p>
            <a:endParaRPr lang="en-US" altLang="zh-CN" sz="2800" dirty="0"/>
          </a:p>
          <a:p>
            <a:r>
              <a:rPr lang="en-US" altLang="zh-CN" sz="4000" b="1" dirty="0"/>
              <a:t>Algorithm Sketch (</a:t>
            </a:r>
            <a:r>
              <a:rPr lang="en-US" altLang="zh-CN" sz="4000" b="1" dirty="0" err="1"/>
              <a:t>Hierholzer’s</a:t>
            </a:r>
            <a:r>
              <a:rPr lang="en-US" altLang="zh-CN" sz="4000" b="1" dirty="0"/>
              <a:t> Algorithm):</a:t>
            </a:r>
          </a:p>
          <a:p>
            <a:pPr>
              <a:buFont typeface="+mj-lt"/>
              <a:buAutoNum type="arabicPeriod"/>
            </a:pPr>
            <a:r>
              <a:rPr lang="en-US" altLang="zh-CN" sz="4000" dirty="0"/>
              <a:t>Start from a vertex with an odd degree (or any vertex if all degrees are even).</a:t>
            </a:r>
          </a:p>
          <a:p>
            <a:pPr>
              <a:buFont typeface="+mj-lt"/>
              <a:buAutoNum type="arabicPeriod"/>
            </a:pPr>
            <a:r>
              <a:rPr lang="en-US" altLang="zh-CN" sz="4000" dirty="0"/>
              <a:t>Follow unused edges until returning to the starting vertex (for circuit) or ending at a vertex with no unused edges (for path).</a:t>
            </a:r>
          </a:p>
          <a:p>
            <a:pPr>
              <a:buFont typeface="+mj-lt"/>
              <a:buAutoNum type="arabicPeriod"/>
            </a:pPr>
            <a:r>
              <a:rPr lang="en-US" altLang="zh-CN" sz="4000" dirty="0"/>
              <a:t>Stitch any disconnected cycles into the main path.</a:t>
            </a:r>
          </a:p>
          <a:p>
            <a:endParaRPr lang="en-US" altLang="zh-CN" sz="2800" dirty="0"/>
          </a:p>
          <a:p>
            <a:r>
              <a:rPr lang="en-US" altLang="zh-CN" sz="4000" dirty="0"/>
              <a:t>The </a:t>
            </a:r>
            <a:r>
              <a:rPr lang="en-US" altLang="zh-CN" sz="4000" b="1" dirty="0"/>
              <a:t>time complexity of Kruskal’s algorithm</a:t>
            </a:r>
            <a:r>
              <a:rPr lang="en-US" altLang="zh-CN" sz="4000" dirty="0"/>
              <a:t> depends on two main steps:</a:t>
            </a:r>
          </a:p>
          <a:p>
            <a:r>
              <a:rPr lang="zh-CN" altLang="en-US" sz="4000" b="1" dirty="0"/>
              <a:t>🔹 </a:t>
            </a:r>
            <a:r>
              <a:rPr lang="en-US" altLang="zh-CN" sz="4000" b="1" dirty="0"/>
              <a:t>Step 1: Sorting the edges</a:t>
            </a:r>
          </a:p>
          <a:p>
            <a:pPr>
              <a:buFont typeface="Arial" panose="020B0604020202020204" pitchFamily="34" charset="0"/>
              <a:buChar char="•"/>
            </a:pPr>
            <a:r>
              <a:rPr lang="en-US" altLang="zh-CN" sz="4000" dirty="0"/>
              <a:t>If the graph has EEE edges and VVV vertices, the algorithm sorts all edges by weight.</a:t>
            </a:r>
          </a:p>
          <a:p>
            <a:pPr>
              <a:buFont typeface="Arial" panose="020B0604020202020204" pitchFamily="34" charset="0"/>
              <a:buChar char="•"/>
            </a:pPr>
            <a:r>
              <a:rPr lang="en-US" altLang="zh-CN" sz="4000" dirty="0"/>
              <a:t>Sorting cost = O(</a:t>
            </a:r>
            <a:r>
              <a:rPr lang="en-US" altLang="zh-CN" sz="4000" dirty="0" err="1"/>
              <a:t>Elog⁡E</a:t>
            </a:r>
            <a:r>
              <a:rPr lang="en-US" altLang="zh-CN" sz="4000" dirty="0"/>
              <a:t>)O(E \log E)O(</a:t>
            </a:r>
            <a:r>
              <a:rPr lang="en-US" altLang="zh-CN" sz="4000" dirty="0" err="1"/>
              <a:t>ElogE</a:t>
            </a:r>
            <a:r>
              <a:rPr lang="en-US" altLang="zh-CN" sz="4000" dirty="0"/>
              <a:t>).</a:t>
            </a:r>
          </a:p>
          <a:p>
            <a:pPr>
              <a:buFont typeface="Arial" panose="020B0604020202020204" pitchFamily="34" charset="0"/>
              <a:buChar char="•"/>
            </a:pPr>
            <a:r>
              <a:rPr lang="en-US" altLang="zh-CN" sz="4000" dirty="0"/>
              <a:t>Since E≤V2E \</a:t>
            </a:r>
            <a:r>
              <a:rPr lang="en-US" altLang="zh-CN" sz="4000" dirty="0" err="1"/>
              <a:t>leq</a:t>
            </a:r>
            <a:r>
              <a:rPr lang="en-US" altLang="zh-CN" sz="4000" dirty="0"/>
              <a:t> V^2E≤V2, </a:t>
            </a:r>
            <a:r>
              <a:rPr lang="en-US" altLang="zh-CN" sz="4000" dirty="0" err="1"/>
              <a:t>log⁡E</a:t>
            </a:r>
            <a:r>
              <a:rPr lang="en-US" altLang="zh-CN" sz="4000" dirty="0"/>
              <a:t>=O(log⁡V2)=O(</a:t>
            </a:r>
            <a:r>
              <a:rPr lang="en-US" altLang="zh-CN" sz="4000" dirty="0" err="1"/>
              <a:t>log⁡V</a:t>
            </a:r>
            <a:r>
              <a:rPr lang="en-US" altLang="zh-CN" sz="4000" dirty="0"/>
              <a:t>)\log E = O(\log V^2) = O(\log V)</a:t>
            </a:r>
            <a:r>
              <a:rPr lang="en-US" altLang="zh-CN" sz="4000" dirty="0" err="1"/>
              <a:t>logE</a:t>
            </a:r>
            <a:r>
              <a:rPr lang="en-US" altLang="zh-CN" sz="4000" dirty="0"/>
              <a:t>=O(logV2)=O(</a:t>
            </a:r>
            <a:r>
              <a:rPr lang="en-US" altLang="zh-CN" sz="4000" dirty="0" err="1"/>
              <a:t>logV</a:t>
            </a:r>
            <a:r>
              <a:rPr lang="en-US" altLang="zh-CN" sz="4000" dirty="0"/>
              <a:t>).</a:t>
            </a:r>
          </a:p>
          <a:p>
            <a:pPr>
              <a:buFont typeface="Arial" panose="020B0604020202020204" pitchFamily="34" charset="0"/>
              <a:buChar char="•"/>
            </a:pPr>
            <a:r>
              <a:rPr lang="en-US" altLang="zh-CN" sz="4000" dirty="0"/>
              <a:t>So this step is O(</a:t>
            </a:r>
            <a:r>
              <a:rPr lang="en-US" altLang="zh-CN" sz="4000" dirty="0" err="1"/>
              <a:t>Elog⁡V</a:t>
            </a:r>
            <a:r>
              <a:rPr lang="en-US" altLang="zh-CN" sz="4000" dirty="0"/>
              <a:t>)O(E \log V)O(</a:t>
            </a:r>
            <a:r>
              <a:rPr lang="en-US" altLang="zh-CN" sz="4000" dirty="0" err="1"/>
              <a:t>ElogV</a:t>
            </a:r>
            <a:r>
              <a:rPr lang="en-US" altLang="zh-CN" sz="4000" dirty="0"/>
              <a:t>).</a:t>
            </a:r>
          </a:p>
          <a:p>
            <a:r>
              <a:rPr lang="zh-CN" altLang="en-US" sz="4000" b="1" dirty="0"/>
              <a:t>🔹 </a:t>
            </a:r>
            <a:r>
              <a:rPr lang="en-US" altLang="zh-CN" sz="4000" b="1" dirty="0"/>
              <a:t>Step 2: Union-Find (Disjoint Set operations)</a:t>
            </a:r>
          </a:p>
          <a:p>
            <a:pPr>
              <a:buFont typeface="Arial" panose="020B0604020202020204" pitchFamily="34" charset="0"/>
              <a:buChar char="•"/>
            </a:pPr>
            <a:r>
              <a:rPr lang="en-US" altLang="zh-CN" sz="4000" dirty="0"/>
              <a:t>Kruskal uses Union-Find (DSU) to check whether adding an edge creates a cycle.</a:t>
            </a:r>
          </a:p>
          <a:p>
            <a:pPr>
              <a:buFont typeface="Arial" panose="020B0604020202020204" pitchFamily="34" charset="0"/>
              <a:buChar char="•"/>
            </a:pPr>
            <a:r>
              <a:rPr lang="en-US" altLang="zh-CN" sz="4000" dirty="0"/>
              <a:t>Each find or union operation takes almost constant time using </a:t>
            </a:r>
            <a:r>
              <a:rPr lang="en-US" altLang="zh-CN" sz="4000" b="1" dirty="0"/>
              <a:t>union by rank + path compression</a:t>
            </a:r>
            <a:r>
              <a:rPr lang="en-US" altLang="zh-CN" sz="4000" dirty="0"/>
              <a:t>: O(</a:t>
            </a:r>
            <a:r>
              <a:rPr lang="el-GR" altLang="zh-CN" sz="4000" dirty="0"/>
              <a:t>α(</a:t>
            </a:r>
            <a:r>
              <a:rPr lang="en-US" altLang="zh-CN" sz="4000" dirty="0"/>
              <a:t>V))O(\alpha(V))O(</a:t>
            </a:r>
            <a:r>
              <a:rPr lang="el-GR" altLang="zh-CN" sz="4000" dirty="0"/>
              <a:t>α(</a:t>
            </a:r>
            <a:r>
              <a:rPr lang="en-US" altLang="zh-CN" sz="4000" dirty="0"/>
              <a:t>V)), where </a:t>
            </a:r>
            <a:r>
              <a:rPr lang="el-GR" altLang="zh-CN" sz="4000" dirty="0"/>
              <a:t>α\</a:t>
            </a:r>
            <a:r>
              <a:rPr lang="en-US" altLang="zh-CN" sz="4000" dirty="0"/>
              <a:t>alpha</a:t>
            </a:r>
            <a:r>
              <a:rPr lang="el-GR" altLang="zh-CN" sz="4000" dirty="0"/>
              <a:t>α </a:t>
            </a:r>
            <a:r>
              <a:rPr lang="en-US" altLang="zh-CN" sz="4000" dirty="0"/>
              <a:t>is the inverse Ackermann function (so small it’s practically ≤ 4 in all real cases).</a:t>
            </a:r>
          </a:p>
          <a:p>
            <a:pPr>
              <a:buFont typeface="Arial" panose="020B0604020202020204" pitchFamily="34" charset="0"/>
              <a:buChar char="•"/>
            </a:pPr>
            <a:r>
              <a:rPr lang="en-US" altLang="zh-CN" sz="4000" dirty="0"/>
              <a:t>Over all EEE edges, this is O(E </a:t>
            </a:r>
            <a:r>
              <a:rPr lang="el-GR" altLang="zh-CN" sz="4000" dirty="0"/>
              <a:t>α(</a:t>
            </a:r>
            <a:r>
              <a:rPr lang="en-US" altLang="zh-CN" sz="4000" dirty="0"/>
              <a:t>V))≈O(E)O(E \, \alpha(V)) \</a:t>
            </a:r>
            <a:r>
              <a:rPr lang="en-US" altLang="zh-CN" sz="4000" dirty="0" err="1"/>
              <a:t>approx</a:t>
            </a:r>
            <a:r>
              <a:rPr lang="en-US" altLang="zh-CN" sz="4000" dirty="0"/>
              <a:t> O(E)O(E</a:t>
            </a:r>
            <a:r>
              <a:rPr lang="el-GR" altLang="zh-CN" sz="4000" dirty="0"/>
              <a:t>α(</a:t>
            </a:r>
            <a:r>
              <a:rPr lang="en-US" altLang="zh-CN" sz="4000" dirty="0"/>
              <a:t>V))≈O(E).</a:t>
            </a:r>
          </a:p>
          <a:p>
            <a:r>
              <a:rPr lang="zh-CN" altLang="en-US" sz="4000" b="1" dirty="0"/>
              <a:t>✅ </a:t>
            </a:r>
            <a:r>
              <a:rPr lang="en-US" altLang="zh-CN" sz="4000" b="1" dirty="0"/>
              <a:t>Total complexity</a:t>
            </a:r>
          </a:p>
          <a:p>
            <a:r>
              <a:rPr lang="en-US" altLang="zh-CN" sz="4000" dirty="0"/>
              <a:t>O(</a:t>
            </a:r>
            <a:r>
              <a:rPr lang="en-US" altLang="zh-CN" sz="4000" dirty="0" err="1"/>
              <a:t>Elog⁡V</a:t>
            </a:r>
            <a:r>
              <a:rPr lang="en-US" altLang="zh-CN" sz="4000" dirty="0"/>
              <a:t>)+O(E </a:t>
            </a:r>
            <a:r>
              <a:rPr lang="el-GR" altLang="zh-CN" sz="4000" dirty="0"/>
              <a:t>α(</a:t>
            </a:r>
            <a:r>
              <a:rPr lang="en-US" altLang="zh-CN" sz="4000" dirty="0"/>
              <a:t>V))≈O(</a:t>
            </a:r>
            <a:r>
              <a:rPr lang="en-US" altLang="zh-CN" sz="4000" dirty="0" err="1"/>
              <a:t>Elog⁡V</a:t>
            </a:r>
            <a:r>
              <a:rPr lang="en-US" altLang="zh-CN" sz="4000" dirty="0"/>
              <a:t>)O(E \log V) + O(E \, \alpha(V)) \</a:t>
            </a:r>
            <a:r>
              <a:rPr lang="en-US" altLang="zh-CN" sz="4000" dirty="0" err="1"/>
              <a:t>approx</a:t>
            </a:r>
            <a:r>
              <a:rPr lang="en-US" altLang="zh-CN" sz="4000" dirty="0"/>
              <a:t> O(E \log V)O(</a:t>
            </a:r>
            <a:r>
              <a:rPr lang="en-US" altLang="zh-CN" sz="4000" dirty="0" err="1"/>
              <a:t>ElogV</a:t>
            </a:r>
            <a:r>
              <a:rPr lang="en-US" altLang="zh-CN" sz="4000" dirty="0"/>
              <a:t>)+O(E</a:t>
            </a:r>
            <a:r>
              <a:rPr lang="el-GR" altLang="zh-CN" sz="4000" dirty="0"/>
              <a:t>α(</a:t>
            </a:r>
            <a:r>
              <a:rPr lang="en-US" altLang="zh-CN" sz="4000" dirty="0"/>
              <a:t>V))≈O(</a:t>
            </a:r>
            <a:r>
              <a:rPr lang="en-US" altLang="zh-CN" sz="4000" dirty="0" err="1"/>
              <a:t>ElogV</a:t>
            </a:r>
            <a:r>
              <a:rPr lang="en-US" altLang="zh-CN" sz="4000" dirty="0"/>
              <a:t>) </a:t>
            </a:r>
            <a:r>
              <a:rPr lang="zh-CN" altLang="en-US" sz="4000" b="1" dirty="0"/>
              <a:t>🔹 </a:t>
            </a:r>
            <a:r>
              <a:rPr lang="en-US" altLang="zh-CN" sz="4000" b="1" dirty="0"/>
              <a:t>Space complexity</a:t>
            </a:r>
          </a:p>
          <a:p>
            <a:pPr>
              <a:buFont typeface="Arial" panose="020B0604020202020204" pitchFamily="34" charset="0"/>
              <a:buChar char="•"/>
            </a:pPr>
            <a:r>
              <a:rPr lang="en-US" altLang="zh-CN" sz="4000" dirty="0"/>
              <a:t>Storing all edges: O(E)O(E)O(E)</a:t>
            </a:r>
          </a:p>
          <a:p>
            <a:pPr>
              <a:buFont typeface="Arial" panose="020B0604020202020204" pitchFamily="34" charset="0"/>
              <a:buChar char="•"/>
            </a:pPr>
            <a:r>
              <a:rPr lang="en-US" altLang="zh-CN" sz="4000" dirty="0"/>
              <a:t>Union-Find parent and rank arrays: O(V)O(V)O(V)</a:t>
            </a:r>
          </a:p>
          <a:p>
            <a:pPr>
              <a:buFont typeface="Arial" panose="020B0604020202020204" pitchFamily="34" charset="0"/>
              <a:buChar char="•"/>
            </a:pPr>
            <a:r>
              <a:rPr lang="en-US" altLang="zh-CN" sz="4000" dirty="0"/>
              <a:t>Total: O(V+E)O(V + E)O(V+E).</a:t>
            </a:r>
          </a:p>
          <a:p>
            <a:endParaRPr lang="en-US" altLang="zh-CN" sz="2800" dirty="0"/>
          </a:p>
          <a:p>
            <a:endParaRPr lang="zh-CN" altLang="en-US" dirty="0"/>
          </a:p>
        </p:txBody>
      </p:sp>
      <p:sp>
        <p:nvSpPr>
          <p:cNvPr id="4" name="灯片编号占位符 3"/>
          <p:cNvSpPr>
            <a:spLocks noGrp="1"/>
          </p:cNvSpPr>
          <p:nvPr>
            <p:ph type="sldNum" sz="quarter" idx="10"/>
          </p:nvPr>
        </p:nvSpPr>
        <p:spPr/>
        <p:txBody>
          <a:bodyPr/>
          <a:lstStyle/>
          <a:p>
            <a:fld id="{CAFE74B6-F93C-4D90-BE1A-7EFEDB35C0D4}" type="slidenum">
              <a:rPr lang="zh-CN" altLang="en-US" smtClean="0"/>
              <a:t>15</a:t>
            </a:fld>
            <a:endParaRPr lang="zh-CN" altLang="en-US"/>
          </a:p>
        </p:txBody>
      </p:sp>
    </p:spTree>
    <p:extLst>
      <p:ext uri="{BB962C8B-B14F-4D97-AF65-F5344CB8AC3E}">
        <p14:creationId xmlns:p14="http://schemas.microsoft.com/office/powerpoint/2010/main" val="3745291713"/>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rPr>
              <a:t>图论树主要关注顶点的连接性和无环性，而数据结构树则更侧重于数据的组织、管理和操作效率。</a:t>
            </a:r>
            <a:endParaRPr lang="en-US" altLang="zh-CN" sz="1800" dirty="0">
              <a:effectLst/>
              <a:latin typeface="Times New Roman" panose="02020603050405020304" pitchFamily="18" charset="0"/>
              <a:ea typeface="宋体" panose="02010600030101010101" pitchFamily="2" charset="-122"/>
              <a:cs typeface="Times New Roman" panose="02020603050405020304" pitchFamily="18" charset="0"/>
            </a:endParaRPr>
          </a:p>
          <a:p>
            <a:pPr marL="0" indent="892175" eaLnBrk="1" hangingPunct="1">
              <a:spcBef>
                <a:spcPct val="60000"/>
              </a:spcBef>
              <a:buNone/>
            </a:pPr>
            <a:r>
              <a:rPr lang="en-US" altLang="zh-CN" b="1" dirty="0">
                <a:solidFill>
                  <a:srgbClr val="FF0000"/>
                </a:solidFill>
              </a:rPr>
              <a:t>7.1 </a:t>
            </a:r>
            <a:r>
              <a:rPr lang="zh-CN" altLang="en-US" b="1" dirty="0">
                <a:solidFill>
                  <a:srgbClr val="FF0000"/>
                </a:solidFill>
              </a:rPr>
              <a:t>无向树</a:t>
            </a:r>
            <a:endParaRPr lang="en-US" altLang="zh-CN" b="1" dirty="0">
              <a:solidFill>
                <a:srgbClr val="FF0000"/>
              </a:solidFill>
            </a:endParaRPr>
          </a:p>
          <a:p>
            <a:pPr marL="0" indent="892175" eaLnBrk="1" hangingPunct="1">
              <a:spcBef>
                <a:spcPct val="60000"/>
              </a:spcBef>
              <a:buNone/>
            </a:pPr>
            <a:endParaRPr lang="zh-CN" altLang="en-US" b="1" dirty="0"/>
          </a:p>
          <a:p>
            <a:pPr marL="0" indent="892175" eaLnBrk="1" hangingPunct="1">
              <a:spcBef>
                <a:spcPct val="60000"/>
              </a:spcBef>
              <a:buNone/>
            </a:pPr>
            <a:r>
              <a:rPr lang="en-US" altLang="zh-CN" b="1" dirty="0"/>
              <a:t>7.2 </a:t>
            </a:r>
            <a:r>
              <a:rPr lang="zh-CN" altLang="en-US" b="1" dirty="0"/>
              <a:t>根树及其应用</a:t>
            </a:r>
            <a:endParaRPr lang="zh-CN" altLang="en-US" sz="1800" b="1" dirty="0">
              <a:solidFill>
                <a:srgbClr val="FF0000"/>
              </a:solidFill>
            </a:endParaRPr>
          </a:p>
          <a:p>
            <a:endParaRPr lang="zh-CN" altLang="en-US" dirty="0"/>
          </a:p>
        </p:txBody>
      </p:sp>
      <p:sp>
        <p:nvSpPr>
          <p:cNvPr id="4" name="灯片编号占位符 3"/>
          <p:cNvSpPr>
            <a:spLocks noGrp="1"/>
          </p:cNvSpPr>
          <p:nvPr>
            <p:ph type="sldNum" sz="quarter" idx="10"/>
          </p:nvPr>
        </p:nvSpPr>
        <p:spPr/>
        <p:txBody>
          <a:bodyPr/>
          <a:lstStyle/>
          <a:p>
            <a:fld id="{CAFE74B6-F93C-4D90-BE1A-7EFEDB35C0D4}" type="slidenum">
              <a:rPr lang="zh-CN" altLang="en-US" smtClean="0"/>
              <a:t>16</a:t>
            </a:fld>
            <a:endParaRPr lang="zh-CN" altLang="en-US"/>
          </a:p>
        </p:txBody>
      </p:sp>
    </p:spTree>
    <p:extLst>
      <p:ext uri="{BB962C8B-B14F-4D97-AF65-F5344CB8AC3E}">
        <p14:creationId xmlns:p14="http://schemas.microsoft.com/office/powerpoint/2010/main" val="97499203"/>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rPr>
              <a:t>图论树主要关注顶点的连接性和无环性，而数据结构树则更侧重于数据的组织、管理和操作效率。</a:t>
            </a:r>
            <a:endParaRPr lang="en-US" altLang="zh-CN" sz="1800" dirty="0">
              <a:effectLst/>
              <a:latin typeface="Times New Roman" panose="02020603050405020304" pitchFamily="18" charset="0"/>
              <a:ea typeface="宋体" panose="02010600030101010101" pitchFamily="2" charset="-122"/>
              <a:cs typeface="Times New Roman" panose="02020603050405020304" pitchFamily="18" charset="0"/>
            </a:endParaRPr>
          </a:p>
          <a:p>
            <a:pPr marL="0" indent="892175" eaLnBrk="1" hangingPunct="1">
              <a:spcBef>
                <a:spcPct val="60000"/>
              </a:spcBef>
              <a:buNone/>
            </a:pPr>
            <a:r>
              <a:rPr lang="en-US" altLang="zh-CN" b="1" dirty="0">
                <a:solidFill>
                  <a:srgbClr val="FF0000"/>
                </a:solidFill>
              </a:rPr>
              <a:t>7.1 </a:t>
            </a:r>
            <a:r>
              <a:rPr lang="zh-CN" altLang="en-US" b="1" dirty="0">
                <a:solidFill>
                  <a:srgbClr val="FF0000"/>
                </a:solidFill>
              </a:rPr>
              <a:t>无向树</a:t>
            </a:r>
            <a:endParaRPr lang="en-US" altLang="zh-CN" b="1" dirty="0">
              <a:solidFill>
                <a:srgbClr val="FF0000"/>
              </a:solidFill>
            </a:endParaRPr>
          </a:p>
          <a:p>
            <a:pPr marL="0" indent="892175" eaLnBrk="1" hangingPunct="1">
              <a:spcBef>
                <a:spcPct val="60000"/>
              </a:spcBef>
              <a:buNone/>
            </a:pPr>
            <a:endParaRPr lang="zh-CN" altLang="en-US" b="1" dirty="0"/>
          </a:p>
          <a:p>
            <a:pPr marL="0" indent="892175" eaLnBrk="1" hangingPunct="1">
              <a:spcBef>
                <a:spcPct val="60000"/>
              </a:spcBef>
              <a:buNone/>
            </a:pPr>
            <a:r>
              <a:rPr lang="en-US" altLang="zh-CN" b="1" dirty="0"/>
              <a:t>7.2 </a:t>
            </a:r>
            <a:r>
              <a:rPr lang="zh-CN" altLang="en-US" b="1" dirty="0"/>
              <a:t>根树及其应用</a:t>
            </a:r>
            <a:endParaRPr lang="zh-CN" altLang="en-US" sz="1800" b="1" dirty="0">
              <a:solidFill>
                <a:srgbClr val="FF0000"/>
              </a:solidFill>
            </a:endParaRPr>
          </a:p>
          <a:p>
            <a:endParaRPr lang="zh-CN" altLang="en-US" dirty="0"/>
          </a:p>
        </p:txBody>
      </p:sp>
      <p:sp>
        <p:nvSpPr>
          <p:cNvPr id="4" name="灯片编号占位符 3"/>
          <p:cNvSpPr>
            <a:spLocks noGrp="1"/>
          </p:cNvSpPr>
          <p:nvPr>
            <p:ph type="sldNum" sz="quarter" idx="10"/>
          </p:nvPr>
        </p:nvSpPr>
        <p:spPr/>
        <p:txBody>
          <a:bodyPr/>
          <a:lstStyle/>
          <a:p>
            <a:fld id="{CAFE74B6-F93C-4D90-BE1A-7EFEDB35C0D4}" type="slidenum">
              <a:rPr lang="zh-CN" altLang="en-US" smtClean="0"/>
              <a:t>17</a:t>
            </a:fld>
            <a:endParaRPr lang="zh-CN" altLang="en-US"/>
          </a:p>
        </p:txBody>
      </p:sp>
    </p:spTree>
    <p:extLst>
      <p:ext uri="{BB962C8B-B14F-4D97-AF65-F5344CB8AC3E}">
        <p14:creationId xmlns:p14="http://schemas.microsoft.com/office/powerpoint/2010/main" val="2916524060"/>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rPr>
              <a:t>图论树主要关注顶点的连接性和无环性，而数据结构树则更侧重于数据的组织、管理和操作效率。</a:t>
            </a:r>
            <a:endParaRPr lang="en-US" altLang="zh-CN" sz="1800" dirty="0">
              <a:effectLst/>
              <a:latin typeface="Times New Roman" panose="02020603050405020304" pitchFamily="18" charset="0"/>
              <a:ea typeface="宋体" panose="02010600030101010101" pitchFamily="2" charset="-122"/>
              <a:cs typeface="Times New Roman" panose="02020603050405020304" pitchFamily="18" charset="0"/>
            </a:endParaRPr>
          </a:p>
          <a:p>
            <a:pPr marL="0" indent="892175" eaLnBrk="1" hangingPunct="1">
              <a:spcBef>
                <a:spcPct val="60000"/>
              </a:spcBef>
              <a:buNone/>
            </a:pPr>
            <a:r>
              <a:rPr lang="en-US" altLang="zh-CN" b="1" dirty="0">
                <a:solidFill>
                  <a:srgbClr val="FF0000"/>
                </a:solidFill>
              </a:rPr>
              <a:t>7.1 </a:t>
            </a:r>
            <a:r>
              <a:rPr lang="zh-CN" altLang="en-US" b="1" dirty="0">
                <a:solidFill>
                  <a:srgbClr val="FF0000"/>
                </a:solidFill>
              </a:rPr>
              <a:t>无向树</a:t>
            </a:r>
            <a:endParaRPr lang="en-US" altLang="zh-CN" b="1" dirty="0">
              <a:solidFill>
                <a:srgbClr val="FF0000"/>
              </a:solidFill>
            </a:endParaRPr>
          </a:p>
          <a:p>
            <a:pPr marL="0" indent="892175" eaLnBrk="1" hangingPunct="1">
              <a:spcBef>
                <a:spcPct val="60000"/>
              </a:spcBef>
              <a:buNone/>
            </a:pPr>
            <a:endParaRPr lang="zh-CN" altLang="en-US" b="1" dirty="0"/>
          </a:p>
          <a:p>
            <a:pPr marL="0" indent="892175" eaLnBrk="1" hangingPunct="1">
              <a:spcBef>
                <a:spcPct val="60000"/>
              </a:spcBef>
              <a:buNone/>
            </a:pPr>
            <a:r>
              <a:rPr lang="en-US" altLang="zh-CN" b="1" dirty="0"/>
              <a:t>7.2 </a:t>
            </a:r>
            <a:r>
              <a:rPr lang="zh-CN" altLang="en-US" b="1" dirty="0"/>
              <a:t>根树及其应用</a:t>
            </a:r>
            <a:endParaRPr lang="zh-CN" altLang="en-US" sz="1800" b="1" dirty="0">
              <a:solidFill>
                <a:srgbClr val="FF0000"/>
              </a:solidFill>
            </a:endParaRPr>
          </a:p>
          <a:p>
            <a:endParaRPr lang="zh-CN" altLang="en-US" dirty="0"/>
          </a:p>
        </p:txBody>
      </p:sp>
      <p:sp>
        <p:nvSpPr>
          <p:cNvPr id="4" name="灯片编号占位符 3"/>
          <p:cNvSpPr>
            <a:spLocks noGrp="1"/>
          </p:cNvSpPr>
          <p:nvPr>
            <p:ph type="sldNum" sz="quarter" idx="10"/>
          </p:nvPr>
        </p:nvSpPr>
        <p:spPr/>
        <p:txBody>
          <a:bodyPr/>
          <a:lstStyle/>
          <a:p>
            <a:fld id="{CAFE74B6-F93C-4D90-BE1A-7EFEDB35C0D4}" type="slidenum">
              <a:rPr lang="zh-CN" altLang="en-US" smtClean="0"/>
              <a:t>18</a:t>
            </a:fld>
            <a:endParaRPr lang="zh-CN" altLang="en-US"/>
          </a:p>
        </p:txBody>
      </p:sp>
    </p:spTree>
    <p:extLst>
      <p:ext uri="{BB962C8B-B14F-4D97-AF65-F5344CB8AC3E}">
        <p14:creationId xmlns:p14="http://schemas.microsoft.com/office/powerpoint/2010/main" val="2197924502"/>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rPr>
              <a:t>图论树主要关注顶点的连接性和无环性，而数据结构树则更侧重于数据的组织、管理和操作效率。</a:t>
            </a:r>
            <a:endParaRPr lang="en-US" altLang="zh-CN" sz="1800" dirty="0">
              <a:effectLst/>
              <a:latin typeface="Times New Roman" panose="02020603050405020304" pitchFamily="18" charset="0"/>
              <a:ea typeface="宋体" panose="02010600030101010101" pitchFamily="2" charset="-122"/>
              <a:cs typeface="Times New Roman" panose="02020603050405020304" pitchFamily="18" charset="0"/>
            </a:endParaRPr>
          </a:p>
          <a:p>
            <a:pPr marL="0" indent="892175" eaLnBrk="1" hangingPunct="1">
              <a:spcBef>
                <a:spcPct val="60000"/>
              </a:spcBef>
              <a:buNone/>
            </a:pPr>
            <a:r>
              <a:rPr lang="en-US" altLang="zh-CN" b="1" dirty="0">
                <a:solidFill>
                  <a:srgbClr val="FF0000"/>
                </a:solidFill>
              </a:rPr>
              <a:t>7.1 </a:t>
            </a:r>
            <a:r>
              <a:rPr lang="zh-CN" altLang="en-US" b="1" dirty="0">
                <a:solidFill>
                  <a:srgbClr val="FF0000"/>
                </a:solidFill>
              </a:rPr>
              <a:t>无向树</a:t>
            </a:r>
            <a:endParaRPr lang="en-US" altLang="zh-CN" b="1" dirty="0">
              <a:solidFill>
                <a:srgbClr val="FF0000"/>
              </a:solidFill>
            </a:endParaRPr>
          </a:p>
          <a:p>
            <a:pPr marL="0" indent="892175" eaLnBrk="1" hangingPunct="1">
              <a:spcBef>
                <a:spcPct val="60000"/>
              </a:spcBef>
              <a:buNone/>
            </a:pPr>
            <a:endParaRPr lang="zh-CN" altLang="en-US" b="1" dirty="0"/>
          </a:p>
          <a:p>
            <a:pPr marL="0" indent="892175" eaLnBrk="1" hangingPunct="1">
              <a:spcBef>
                <a:spcPct val="60000"/>
              </a:spcBef>
              <a:buNone/>
            </a:pPr>
            <a:r>
              <a:rPr lang="en-US" altLang="zh-CN" b="1" dirty="0"/>
              <a:t>7.2 </a:t>
            </a:r>
            <a:r>
              <a:rPr lang="zh-CN" altLang="en-US" b="1" dirty="0"/>
              <a:t>根树及其应用</a:t>
            </a:r>
            <a:endParaRPr lang="zh-CN" altLang="en-US" sz="1800" b="1" dirty="0">
              <a:solidFill>
                <a:srgbClr val="FF0000"/>
              </a:solidFill>
            </a:endParaRPr>
          </a:p>
          <a:p>
            <a:endParaRPr lang="zh-CN" altLang="en-US" dirty="0"/>
          </a:p>
        </p:txBody>
      </p:sp>
      <p:sp>
        <p:nvSpPr>
          <p:cNvPr id="4" name="灯片编号占位符 3"/>
          <p:cNvSpPr>
            <a:spLocks noGrp="1"/>
          </p:cNvSpPr>
          <p:nvPr>
            <p:ph type="sldNum" sz="quarter" idx="10"/>
          </p:nvPr>
        </p:nvSpPr>
        <p:spPr/>
        <p:txBody>
          <a:bodyPr/>
          <a:lstStyle/>
          <a:p>
            <a:fld id="{CAFE74B6-F93C-4D90-BE1A-7EFEDB35C0D4}" type="slidenum">
              <a:rPr lang="zh-CN" altLang="en-US" smtClean="0"/>
              <a:t>19</a:t>
            </a:fld>
            <a:endParaRPr lang="zh-CN" altLang="en-US"/>
          </a:p>
        </p:txBody>
      </p:sp>
    </p:spTree>
    <p:extLst>
      <p:ext uri="{BB962C8B-B14F-4D97-AF65-F5344CB8AC3E}">
        <p14:creationId xmlns:p14="http://schemas.microsoft.com/office/powerpoint/2010/main" val="973463202"/>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rPr>
              <a:t>图论树主要关注顶点的连接性和无环性，而数据结构树则更侧重于数据的组织、管理和操作效率。</a:t>
            </a:r>
            <a:endParaRPr lang="en-US" altLang="zh-CN" sz="1800" dirty="0">
              <a:effectLst/>
              <a:latin typeface="Times New Roman" panose="02020603050405020304" pitchFamily="18" charset="0"/>
              <a:ea typeface="宋体" panose="02010600030101010101" pitchFamily="2" charset="-122"/>
              <a:cs typeface="Times New Roman" panose="02020603050405020304" pitchFamily="18" charset="0"/>
            </a:endParaRPr>
          </a:p>
          <a:p>
            <a:pPr marL="0" indent="892175" eaLnBrk="1" hangingPunct="1">
              <a:spcBef>
                <a:spcPct val="60000"/>
              </a:spcBef>
              <a:buNone/>
            </a:pPr>
            <a:r>
              <a:rPr lang="en-US" altLang="zh-CN" b="1" dirty="0">
                <a:solidFill>
                  <a:srgbClr val="FF0000"/>
                </a:solidFill>
              </a:rPr>
              <a:t>7.1 </a:t>
            </a:r>
            <a:r>
              <a:rPr lang="zh-CN" altLang="en-US" b="1" dirty="0">
                <a:solidFill>
                  <a:srgbClr val="FF0000"/>
                </a:solidFill>
              </a:rPr>
              <a:t>无向树</a:t>
            </a:r>
            <a:endParaRPr lang="en-US" altLang="zh-CN" b="1" dirty="0">
              <a:solidFill>
                <a:srgbClr val="FF0000"/>
              </a:solidFill>
            </a:endParaRPr>
          </a:p>
          <a:p>
            <a:pPr marL="0" indent="892175" eaLnBrk="1" hangingPunct="1">
              <a:spcBef>
                <a:spcPct val="60000"/>
              </a:spcBef>
              <a:buNone/>
            </a:pPr>
            <a:endParaRPr lang="zh-CN" altLang="en-US" b="1" dirty="0"/>
          </a:p>
          <a:p>
            <a:pPr marL="0" indent="892175" eaLnBrk="1" hangingPunct="1">
              <a:spcBef>
                <a:spcPct val="60000"/>
              </a:spcBef>
              <a:buNone/>
            </a:pPr>
            <a:r>
              <a:rPr lang="en-US" altLang="zh-CN" b="1" dirty="0"/>
              <a:t>7.2 </a:t>
            </a:r>
            <a:r>
              <a:rPr lang="zh-CN" altLang="en-US" b="1" dirty="0"/>
              <a:t>根树及其应用</a:t>
            </a:r>
            <a:endParaRPr lang="zh-CN" altLang="en-US" sz="1800" b="1" dirty="0">
              <a:solidFill>
                <a:srgbClr val="FF0000"/>
              </a:solidFill>
            </a:endParaRPr>
          </a:p>
          <a:p>
            <a:endParaRPr lang="zh-CN" altLang="en-US" dirty="0"/>
          </a:p>
        </p:txBody>
      </p:sp>
      <p:sp>
        <p:nvSpPr>
          <p:cNvPr id="4" name="灯片编号占位符 3"/>
          <p:cNvSpPr>
            <a:spLocks noGrp="1"/>
          </p:cNvSpPr>
          <p:nvPr>
            <p:ph type="sldNum" sz="quarter" idx="10"/>
          </p:nvPr>
        </p:nvSpPr>
        <p:spPr/>
        <p:txBody>
          <a:bodyPr/>
          <a:lstStyle/>
          <a:p>
            <a:fld id="{CAFE74B6-F93C-4D90-BE1A-7EFEDB35C0D4}" type="slidenum">
              <a:rPr lang="zh-CN" altLang="en-US" smtClean="0"/>
              <a:t>20</a:t>
            </a:fld>
            <a:endParaRPr lang="zh-CN" altLang="en-US"/>
          </a:p>
        </p:txBody>
      </p:sp>
    </p:spTree>
    <p:extLst>
      <p:ext uri="{BB962C8B-B14F-4D97-AF65-F5344CB8AC3E}">
        <p14:creationId xmlns:p14="http://schemas.microsoft.com/office/powerpoint/2010/main" val="1570542386"/>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rPr>
              <a:t>图论树主要关注顶点的连接性和无环性，而数据结构树则更侧重于数据的组织、管理和操作效率。</a:t>
            </a:r>
            <a:endParaRPr lang="en-US" altLang="zh-CN" sz="1800" dirty="0">
              <a:effectLst/>
              <a:latin typeface="Times New Roman" panose="02020603050405020304" pitchFamily="18" charset="0"/>
              <a:ea typeface="宋体" panose="02010600030101010101" pitchFamily="2" charset="-122"/>
              <a:cs typeface="Times New Roman" panose="02020603050405020304" pitchFamily="18" charset="0"/>
            </a:endParaRPr>
          </a:p>
          <a:p>
            <a:pPr marL="0" indent="892175" eaLnBrk="1" hangingPunct="1">
              <a:spcBef>
                <a:spcPct val="60000"/>
              </a:spcBef>
              <a:buNone/>
            </a:pPr>
            <a:r>
              <a:rPr lang="en-US" altLang="zh-CN" b="1" dirty="0">
                <a:solidFill>
                  <a:srgbClr val="FF0000"/>
                </a:solidFill>
              </a:rPr>
              <a:t>7.1 </a:t>
            </a:r>
            <a:r>
              <a:rPr lang="zh-CN" altLang="en-US" b="1" dirty="0">
                <a:solidFill>
                  <a:srgbClr val="FF0000"/>
                </a:solidFill>
              </a:rPr>
              <a:t>无向树</a:t>
            </a:r>
            <a:endParaRPr lang="en-US" altLang="zh-CN" b="1" dirty="0">
              <a:solidFill>
                <a:srgbClr val="FF0000"/>
              </a:solidFill>
            </a:endParaRPr>
          </a:p>
          <a:p>
            <a:pPr marL="0" indent="892175" eaLnBrk="1" hangingPunct="1">
              <a:spcBef>
                <a:spcPct val="60000"/>
              </a:spcBef>
              <a:buNone/>
            </a:pPr>
            <a:endParaRPr lang="zh-CN" altLang="en-US" b="1" dirty="0"/>
          </a:p>
          <a:p>
            <a:pPr marL="0" indent="892175" eaLnBrk="1" hangingPunct="1">
              <a:spcBef>
                <a:spcPct val="60000"/>
              </a:spcBef>
              <a:buNone/>
            </a:pPr>
            <a:r>
              <a:rPr lang="en-US" altLang="zh-CN" b="1" dirty="0"/>
              <a:t>7.2 </a:t>
            </a:r>
            <a:r>
              <a:rPr lang="zh-CN" altLang="en-US" b="1" dirty="0"/>
              <a:t>根树及其应用</a:t>
            </a:r>
            <a:endParaRPr lang="zh-CN" altLang="en-US" sz="1800" b="1" dirty="0">
              <a:solidFill>
                <a:srgbClr val="FF0000"/>
              </a:solidFill>
            </a:endParaRPr>
          </a:p>
          <a:p>
            <a:endParaRPr lang="zh-CN" altLang="en-US" dirty="0"/>
          </a:p>
        </p:txBody>
      </p:sp>
      <p:sp>
        <p:nvSpPr>
          <p:cNvPr id="4" name="灯片编号占位符 3"/>
          <p:cNvSpPr>
            <a:spLocks noGrp="1"/>
          </p:cNvSpPr>
          <p:nvPr>
            <p:ph type="sldNum" sz="quarter" idx="10"/>
          </p:nvPr>
        </p:nvSpPr>
        <p:spPr/>
        <p:txBody>
          <a:bodyPr/>
          <a:lstStyle/>
          <a:p>
            <a:fld id="{CAFE74B6-F93C-4D90-BE1A-7EFEDB35C0D4}" type="slidenum">
              <a:rPr lang="zh-CN" altLang="en-US" smtClean="0"/>
              <a:t>21</a:t>
            </a:fld>
            <a:endParaRPr lang="zh-CN" altLang="en-US"/>
          </a:p>
        </p:txBody>
      </p:sp>
    </p:spTree>
    <p:extLst>
      <p:ext uri="{BB962C8B-B14F-4D97-AF65-F5344CB8AC3E}">
        <p14:creationId xmlns:p14="http://schemas.microsoft.com/office/powerpoint/2010/main" val="3190558667"/>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rPr>
              <a:t>图论树主要关注顶点的连接性和无环性，而数据结构树则更侧重于数据的组织、管理和操作效率。</a:t>
            </a:r>
            <a:endParaRPr lang="en-US" altLang="zh-CN" sz="1800" dirty="0">
              <a:effectLst/>
              <a:latin typeface="Times New Roman" panose="02020603050405020304" pitchFamily="18" charset="0"/>
              <a:ea typeface="宋体" panose="02010600030101010101" pitchFamily="2" charset="-122"/>
              <a:cs typeface="Times New Roman" panose="02020603050405020304" pitchFamily="18" charset="0"/>
            </a:endParaRPr>
          </a:p>
          <a:p>
            <a:pPr marL="0" indent="892175" eaLnBrk="1" hangingPunct="1">
              <a:spcBef>
                <a:spcPct val="60000"/>
              </a:spcBef>
              <a:buNone/>
            </a:pPr>
            <a:r>
              <a:rPr lang="en-US" altLang="zh-CN" b="1" dirty="0">
                <a:solidFill>
                  <a:srgbClr val="FF0000"/>
                </a:solidFill>
              </a:rPr>
              <a:t>7.1 </a:t>
            </a:r>
            <a:r>
              <a:rPr lang="zh-CN" altLang="en-US" b="1" dirty="0">
                <a:solidFill>
                  <a:srgbClr val="FF0000"/>
                </a:solidFill>
              </a:rPr>
              <a:t>无向树</a:t>
            </a:r>
            <a:endParaRPr lang="en-US" altLang="zh-CN" b="1" dirty="0">
              <a:solidFill>
                <a:srgbClr val="FF0000"/>
              </a:solidFill>
            </a:endParaRPr>
          </a:p>
          <a:p>
            <a:pPr marL="0" indent="892175" eaLnBrk="1" hangingPunct="1">
              <a:spcBef>
                <a:spcPct val="60000"/>
              </a:spcBef>
              <a:buNone/>
            </a:pPr>
            <a:endParaRPr lang="zh-CN" altLang="en-US" b="1" dirty="0"/>
          </a:p>
          <a:p>
            <a:pPr marL="0" indent="892175" eaLnBrk="1" hangingPunct="1">
              <a:spcBef>
                <a:spcPct val="60000"/>
              </a:spcBef>
              <a:buNone/>
            </a:pPr>
            <a:r>
              <a:rPr lang="en-US" altLang="zh-CN" b="1" dirty="0"/>
              <a:t>7.2 </a:t>
            </a:r>
            <a:r>
              <a:rPr lang="zh-CN" altLang="en-US" b="1" dirty="0"/>
              <a:t>根树及其应用</a:t>
            </a:r>
            <a:endParaRPr lang="zh-CN" altLang="en-US" sz="1800" b="1" dirty="0">
              <a:solidFill>
                <a:srgbClr val="FF0000"/>
              </a:solidFill>
            </a:endParaRPr>
          </a:p>
          <a:p>
            <a:endParaRPr lang="zh-CN" altLang="en-US" dirty="0"/>
          </a:p>
        </p:txBody>
      </p:sp>
      <p:sp>
        <p:nvSpPr>
          <p:cNvPr id="4" name="灯片编号占位符 3"/>
          <p:cNvSpPr>
            <a:spLocks noGrp="1"/>
          </p:cNvSpPr>
          <p:nvPr>
            <p:ph type="sldNum" sz="quarter" idx="10"/>
          </p:nvPr>
        </p:nvSpPr>
        <p:spPr/>
        <p:txBody>
          <a:bodyPr/>
          <a:lstStyle/>
          <a:p>
            <a:fld id="{CAFE74B6-F93C-4D90-BE1A-7EFEDB35C0D4}" type="slidenum">
              <a:rPr lang="zh-CN" altLang="en-US" smtClean="0"/>
              <a:t>22</a:t>
            </a:fld>
            <a:endParaRPr lang="zh-CN" altLang="en-US"/>
          </a:p>
        </p:txBody>
      </p:sp>
    </p:spTree>
    <p:extLst>
      <p:ext uri="{BB962C8B-B14F-4D97-AF65-F5344CB8AC3E}">
        <p14:creationId xmlns:p14="http://schemas.microsoft.com/office/powerpoint/2010/main" val="627200433"/>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rPr>
              <a:t>图论树主要关注顶点的连接性和无环性，而数据结构树则更侧重于数据的组织、管理和操作效率。</a:t>
            </a:r>
            <a:endParaRPr lang="en-US" altLang="zh-CN" sz="1800" dirty="0">
              <a:effectLst/>
              <a:latin typeface="Times New Roman" panose="02020603050405020304" pitchFamily="18" charset="0"/>
              <a:ea typeface="宋体" panose="02010600030101010101" pitchFamily="2" charset="-122"/>
              <a:cs typeface="Times New Roman" panose="02020603050405020304" pitchFamily="18" charset="0"/>
            </a:endParaRPr>
          </a:p>
          <a:p>
            <a:pPr marL="0" indent="892175" eaLnBrk="1" hangingPunct="1">
              <a:spcBef>
                <a:spcPct val="60000"/>
              </a:spcBef>
              <a:buNone/>
            </a:pPr>
            <a:r>
              <a:rPr lang="en-US" altLang="zh-CN" b="1" dirty="0">
                <a:solidFill>
                  <a:srgbClr val="FF0000"/>
                </a:solidFill>
              </a:rPr>
              <a:t>7.1 </a:t>
            </a:r>
            <a:r>
              <a:rPr lang="zh-CN" altLang="en-US" b="1" dirty="0">
                <a:solidFill>
                  <a:srgbClr val="FF0000"/>
                </a:solidFill>
              </a:rPr>
              <a:t>无向树</a:t>
            </a:r>
            <a:endParaRPr lang="en-US" altLang="zh-CN" b="1" dirty="0">
              <a:solidFill>
                <a:srgbClr val="FF0000"/>
              </a:solidFill>
            </a:endParaRPr>
          </a:p>
          <a:p>
            <a:pPr marL="0" indent="892175" eaLnBrk="1" hangingPunct="1">
              <a:spcBef>
                <a:spcPct val="60000"/>
              </a:spcBef>
              <a:buNone/>
            </a:pPr>
            <a:endParaRPr lang="zh-CN" altLang="en-US" b="1" dirty="0"/>
          </a:p>
          <a:p>
            <a:pPr marL="0" indent="892175" eaLnBrk="1" hangingPunct="1">
              <a:spcBef>
                <a:spcPct val="60000"/>
              </a:spcBef>
              <a:buNone/>
            </a:pPr>
            <a:r>
              <a:rPr lang="en-US" altLang="zh-CN" b="1" dirty="0"/>
              <a:t>7.2 </a:t>
            </a:r>
            <a:r>
              <a:rPr lang="zh-CN" altLang="en-US" b="1" dirty="0"/>
              <a:t>根树及其应用</a:t>
            </a:r>
            <a:endParaRPr lang="zh-CN" altLang="en-US" sz="1800" b="1" dirty="0">
              <a:solidFill>
                <a:srgbClr val="FF0000"/>
              </a:solidFill>
            </a:endParaRPr>
          </a:p>
          <a:p>
            <a:endParaRPr lang="zh-CN" altLang="en-US" dirty="0"/>
          </a:p>
        </p:txBody>
      </p:sp>
      <p:sp>
        <p:nvSpPr>
          <p:cNvPr id="4" name="灯片编号占位符 3"/>
          <p:cNvSpPr>
            <a:spLocks noGrp="1"/>
          </p:cNvSpPr>
          <p:nvPr>
            <p:ph type="sldNum" sz="quarter" idx="10"/>
          </p:nvPr>
        </p:nvSpPr>
        <p:spPr/>
        <p:txBody>
          <a:bodyPr/>
          <a:lstStyle/>
          <a:p>
            <a:fld id="{CAFE74B6-F93C-4D90-BE1A-7EFEDB35C0D4}" type="slidenum">
              <a:rPr lang="zh-CN" altLang="en-US" smtClean="0"/>
              <a:t>23</a:t>
            </a:fld>
            <a:endParaRPr lang="zh-CN" altLang="en-US"/>
          </a:p>
        </p:txBody>
      </p:sp>
    </p:spTree>
    <p:extLst>
      <p:ext uri="{BB962C8B-B14F-4D97-AF65-F5344CB8AC3E}">
        <p14:creationId xmlns:p14="http://schemas.microsoft.com/office/powerpoint/2010/main" val="1285292518"/>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gn="just">
              <a:buFontTx/>
              <a:buNone/>
            </a:pPr>
            <a:r>
              <a:rPr lang="zh-CN" altLang="en-US" sz="1200" b="1" dirty="0">
                <a:solidFill>
                  <a:srgbClr val="FF3300"/>
                </a:solidFill>
              </a:rPr>
              <a:t>无向树</a:t>
            </a:r>
            <a:r>
              <a:rPr lang="zh-CN" altLang="en-US" sz="1200" b="1" dirty="0"/>
              <a:t>: 连通无回路的无向图</a:t>
            </a:r>
          </a:p>
          <a:p>
            <a:pPr algn="just">
              <a:buFontTx/>
              <a:buNone/>
            </a:pPr>
            <a:r>
              <a:rPr lang="zh-CN" altLang="en-US" sz="1200" b="1" dirty="0">
                <a:solidFill>
                  <a:srgbClr val="FF3300"/>
                </a:solidFill>
              </a:rPr>
              <a:t>平凡树</a:t>
            </a:r>
            <a:r>
              <a:rPr lang="zh-CN" altLang="en-US" sz="1200" b="1" dirty="0"/>
              <a:t>: 平凡图</a:t>
            </a:r>
          </a:p>
          <a:p>
            <a:pPr algn="just">
              <a:buFontTx/>
              <a:buNone/>
            </a:pPr>
            <a:r>
              <a:rPr lang="zh-CN" altLang="en-US" sz="1200" b="1" dirty="0">
                <a:solidFill>
                  <a:srgbClr val="FF3300"/>
                </a:solidFill>
              </a:rPr>
              <a:t>森林</a:t>
            </a:r>
            <a:r>
              <a:rPr lang="zh-CN" altLang="en-US" sz="1200" b="1" dirty="0"/>
              <a:t>: 每个连通分支都是树的非连通的无向图</a:t>
            </a:r>
          </a:p>
          <a:p>
            <a:pPr algn="just">
              <a:buFontTx/>
              <a:buNone/>
            </a:pPr>
            <a:r>
              <a:rPr lang="zh-CN" altLang="en-US" sz="1200" b="1" dirty="0">
                <a:solidFill>
                  <a:srgbClr val="FF3300"/>
                </a:solidFill>
              </a:rPr>
              <a:t>树叶</a:t>
            </a:r>
            <a:r>
              <a:rPr lang="zh-CN" altLang="en-US" sz="1200" b="1" dirty="0"/>
              <a:t>: 树中度数为1的顶点</a:t>
            </a:r>
          </a:p>
          <a:p>
            <a:pPr>
              <a:buFontTx/>
              <a:buNone/>
            </a:pPr>
            <a:r>
              <a:rPr lang="zh-CN" altLang="en-US" sz="1200" b="1" dirty="0">
                <a:solidFill>
                  <a:srgbClr val="FF3300"/>
                </a:solidFill>
              </a:rPr>
              <a:t>分支点</a:t>
            </a:r>
            <a:r>
              <a:rPr lang="zh-CN" altLang="en-US" sz="1200" b="1" dirty="0"/>
              <a:t>: 树中度数</a:t>
            </a:r>
            <a:r>
              <a:rPr lang="zh-CN" altLang="en-US" sz="1200" b="1" dirty="0">
                <a:sym typeface="Symbol" panose="05050102010706020507" pitchFamily="18" charset="2"/>
              </a:rPr>
              <a:t></a:t>
            </a:r>
            <a:r>
              <a:rPr lang="zh-CN" altLang="en-US" sz="1200" b="1" dirty="0"/>
              <a:t>2的顶点</a:t>
            </a:r>
          </a:p>
          <a:p>
            <a:endParaRPr lang="zh-CN" altLang="en-US" dirty="0"/>
          </a:p>
        </p:txBody>
      </p:sp>
      <p:sp>
        <p:nvSpPr>
          <p:cNvPr id="4" name="灯片编号占位符 3"/>
          <p:cNvSpPr>
            <a:spLocks noGrp="1"/>
          </p:cNvSpPr>
          <p:nvPr>
            <p:ph type="sldNum" sz="quarter" idx="10"/>
          </p:nvPr>
        </p:nvSpPr>
        <p:spPr/>
        <p:txBody>
          <a:bodyPr/>
          <a:lstStyle/>
          <a:p>
            <a:fld id="{CAFE74B6-F93C-4D90-BE1A-7EFEDB35C0D4}" type="slidenum">
              <a:rPr lang="zh-CN" altLang="en-US" smtClean="0"/>
              <a:t>24</a:t>
            </a:fld>
            <a:endParaRPr lang="zh-CN" altLang="en-US"/>
          </a:p>
        </p:txBody>
      </p:sp>
    </p:spTree>
    <p:extLst>
      <p:ext uri="{BB962C8B-B14F-4D97-AF65-F5344CB8AC3E}">
        <p14:creationId xmlns:p14="http://schemas.microsoft.com/office/powerpoint/2010/main" val="96082304"/>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教材中略掉了证明</a:t>
            </a:r>
            <a:endParaRPr lang="en-US" altLang="zh-CN" dirty="0"/>
          </a:p>
          <a:p>
            <a:pPr marL="609600" indent="-609600" eaLnBrk="1" hangingPunct="1">
              <a:buFontTx/>
              <a:buNone/>
            </a:pPr>
            <a:r>
              <a:rPr lang="en-US" altLang="zh-CN" sz="1200" b="1" dirty="0">
                <a:latin typeface="Times New Roman" panose="02020603050405020304" pitchFamily="18" charset="0"/>
                <a:cs typeface="Times New Roman" panose="02020603050405020304" pitchFamily="18" charset="0"/>
                <a:sym typeface="Symbol" panose="05050102010706020507" pitchFamily="18" charset="2"/>
              </a:rPr>
              <a:t>(1)(2) </a:t>
            </a:r>
            <a:r>
              <a:rPr lang="zh-CN" altLang="en-US" sz="1200" b="1" dirty="0">
                <a:latin typeface="Times New Roman" panose="02020603050405020304" pitchFamily="18" charset="0"/>
                <a:cs typeface="Times New Roman" panose="02020603050405020304" pitchFamily="18" charset="0"/>
                <a:sym typeface="Symbol" panose="05050102010706020507" pitchFamily="18" charset="2"/>
              </a:rPr>
              <a:t>由连通性, 任意2个顶点之间有一条路径. 又, 假设</a:t>
            </a:r>
          </a:p>
          <a:p>
            <a:pPr marL="609600" indent="-609600" eaLnBrk="1" hangingPunct="1">
              <a:buFontTx/>
              <a:buNone/>
            </a:pPr>
            <a:r>
              <a:rPr lang="zh-CN" altLang="en-US" sz="1200" b="1" dirty="0">
                <a:latin typeface="Times New Roman" panose="02020603050405020304" pitchFamily="18" charset="0"/>
                <a:cs typeface="Times New Roman" panose="02020603050405020304" pitchFamily="18" charset="0"/>
                <a:sym typeface="Symbol" panose="05050102010706020507" pitchFamily="18" charset="2"/>
              </a:rPr>
              <a:t>某2个顶点之间有2条路径, 则这2条路径可组合成一条回</a:t>
            </a:r>
          </a:p>
          <a:p>
            <a:pPr marL="609600" indent="-609600" eaLnBrk="1" hangingPunct="1">
              <a:buFontTx/>
              <a:buNone/>
            </a:pPr>
            <a:r>
              <a:rPr lang="zh-CN" altLang="en-US" sz="1200" b="1" dirty="0">
                <a:latin typeface="Times New Roman" panose="02020603050405020304" pitchFamily="18" charset="0"/>
                <a:cs typeface="Times New Roman" panose="02020603050405020304" pitchFamily="18" charset="0"/>
                <a:sym typeface="Symbol" panose="05050102010706020507" pitchFamily="18" charset="2"/>
              </a:rPr>
              <a:t>路, 与树的定义矛盾.</a:t>
            </a:r>
          </a:p>
          <a:p>
            <a:pPr marL="609600" indent="-609600" eaLnBrk="1" hangingPunct="1">
              <a:buFontTx/>
              <a:buNone/>
            </a:pPr>
            <a:endParaRPr lang="zh-CN" altLang="en-US" sz="1200" b="1" dirty="0">
              <a:latin typeface="Times New Roman" panose="02020603050405020304" pitchFamily="18" charset="0"/>
              <a:cs typeface="Times New Roman" panose="02020603050405020304" pitchFamily="18" charset="0"/>
              <a:sym typeface="Symbol" panose="05050102010706020507" pitchFamily="18" charset="2"/>
            </a:endParaRPr>
          </a:p>
          <a:p>
            <a:pPr marL="609600" indent="-609600" eaLnBrk="1" hangingPunct="1">
              <a:buFontTx/>
              <a:buNone/>
            </a:pPr>
            <a:r>
              <a:rPr lang="zh-CN" altLang="en-US" sz="1200" b="1" dirty="0">
                <a:latin typeface="Times New Roman" panose="02020603050405020304" pitchFamily="18" charset="0"/>
                <a:cs typeface="Times New Roman" panose="02020603050405020304" pitchFamily="18" charset="0"/>
                <a:sym typeface="Symbol" panose="05050102010706020507" pitchFamily="18" charset="2"/>
              </a:rPr>
              <a:t>(2)</a:t>
            </a:r>
            <a:r>
              <a:rPr lang="en-US" altLang="zh-CN" sz="1200" b="1" dirty="0">
                <a:latin typeface="Times New Roman" panose="02020603050405020304" pitchFamily="18" charset="0"/>
                <a:cs typeface="Times New Roman" panose="02020603050405020304" pitchFamily="18" charset="0"/>
                <a:sym typeface="Symbol" panose="05050102010706020507" pitchFamily="18" charset="2"/>
              </a:rPr>
              <a:t>(3) </a:t>
            </a:r>
            <a:r>
              <a:rPr lang="zh-CN" altLang="en-US" sz="1200" b="1" dirty="0">
                <a:latin typeface="Times New Roman" panose="02020603050405020304" pitchFamily="18" charset="0"/>
                <a:cs typeface="Times New Roman" panose="02020603050405020304" pitchFamily="18" charset="0"/>
                <a:sym typeface="Symbol" panose="05050102010706020507" pitchFamily="18" charset="2"/>
              </a:rPr>
              <a:t>显然连通, 要证</a:t>
            </a:r>
            <a:r>
              <a:rPr lang="en-US" altLang="zh-CN" sz="1200" b="1" i="1" dirty="0">
                <a:latin typeface="Times New Roman" panose="02020603050405020304" pitchFamily="18" charset="0"/>
                <a:cs typeface="Times New Roman" panose="02020603050405020304" pitchFamily="18" charset="0"/>
              </a:rPr>
              <a:t>m</a:t>
            </a:r>
            <a:r>
              <a:rPr lang="en-US" altLang="zh-CN" sz="1200" b="1" dirty="0">
                <a:latin typeface="Times New Roman" panose="02020603050405020304" pitchFamily="18" charset="0"/>
                <a:cs typeface="Times New Roman" panose="02020603050405020304" pitchFamily="18" charset="0"/>
              </a:rPr>
              <a:t>=</a:t>
            </a:r>
            <a:r>
              <a:rPr lang="en-US" altLang="zh-CN" sz="1200" b="1" i="1" dirty="0">
                <a:latin typeface="Times New Roman" panose="02020603050405020304" pitchFamily="18" charset="0"/>
                <a:cs typeface="Times New Roman" panose="02020603050405020304" pitchFamily="18" charset="0"/>
              </a:rPr>
              <a:t>n</a:t>
            </a:r>
            <a:r>
              <a:rPr lang="en-US" altLang="zh-CN" sz="1200" b="1" dirty="0">
                <a:latin typeface="Times New Roman" panose="02020603050405020304" pitchFamily="18" charset="0"/>
                <a:cs typeface="Times New Roman" panose="02020603050405020304" pitchFamily="18" charset="0"/>
                <a:sym typeface="Symbol" panose="05050102010706020507" pitchFamily="18" charset="2"/>
              </a:rPr>
              <a:t></a:t>
            </a:r>
            <a:r>
              <a:rPr lang="en-US" altLang="zh-CN" sz="1200" b="1" dirty="0">
                <a:latin typeface="Times New Roman" panose="02020603050405020304" pitchFamily="18" charset="0"/>
                <a:cs typeface="Times New Roman" panose="02020603050405020304" pitchFamily="18" charset="0"/>
              </a:rPr>
              <a:t>1. </a:t>
            </a:r>
            <a:r>
              <a:rPr lang="zh-CN" altLang="en-US" sz="1200" b="1" dirty="0">
                <a:latin typeface="Times New Roman" panose="02020603050405020304" pitchFamily="18" charset="0"/>
                <a:cs typeface="Times New Roman" panose="02020603050405020304" pitchFamily="18" charset="0"/>
              </a:rPr>
              <a:t>对</a:t>
            </a:r>
            <a:r>
              <a:rPr lang="en-US" altLang="zh-CN" sz="1200" b="1" i="1" dirty="0">
                <a:latin typeface="Times New Roman" panose="02020603050405020304" pitchFamily="18" charset="0"/>
                <a:cs typeface="Times New Roman" panose="02020603050405020304" pitchFamily="18" charset="0"/>
              </a:rPr>
              <a:t>n</a:t>
            </a:r>
            <a:r>
              <a:rPr lang="zh-CN" altLang="en-US" sz="1200" b="1" dirty="0">
                <a:latin typeface="Times New Roman" panose="02020603050405020304" pitchFamily="18" charset="0"/>
                <a:cs typeface="Times New Roman" panose="02020603050405020304" pitchFamily="18" charset="0"/>
              </a:rPr>
              <a:t>作归纳证明. </a:t>
            </a:r>
          </a:p>
          <a:p>
            <a:pPr marL="609600" indent="-609600" eaLnBrk="1" hangingPunct="1">
              <a:buFontTx/>
              <a:buNone/>
            </a:pPr>
            <a:r>
              <a:rPr lang="zh-CN" altLang="en-US" sz="1200" b="1" dirty="0">
                <a:latin typeface="Times New Roman" panose="02020603050405020304" pitchFamily="18" charset="0"/>
                <a:cs typeface="Times New Roman" panose="02020603050405020304" pitchFamily="18" charset="0"/>
              </a:rPr>
              <a:t>当</a:t>
            </a:r>
            <a:r>
              <a:rPr lang="en-US" altLang="zh-CN" sz="1200" b="1" i="1" dirty="0">
                <a:latin typeface="Times New Roman" panose="02020603050405020304" pitchFamily="18" charset="0"/>
                <a:cs typeface="Times New Roman" panose="02020603050405020304" pitchFamily="18" charset="0"/>
              </a:rPr>
              <a:t>n</a:t>
            </a:r>
            <a:r>
              <a:rPr lang="en-US" altLang="zh-CN" sz="1200" b="1" dirty="0">
                <a:latin typeface="Times New Roman" panose="02020603050405020304" pitchFamily="18" charset="0"/>
                <a:cs typeface="Times New Roman" panose="02020603050405020304" pitchFamily="18" charset="0"/>
              </a:rPr>
              <a:t>=1</a:t>
            </a:r>
            <a:r>
              <a:rPr lang="zh-CN" altLang="en-US" sz="1200" b="1" dirty="0">
                <a:latin typeface="Times New Roman" panose="02020603050405020304" pitchFamily="18" charset="0"/>
                <a:cs typeface="Times New Roman" panose="02020603050405020304" pitchFamily="18" charset="0"/>
              </a:rPr>
              <a:t>时, 显然</a:t>
            </a:r>
            <a:r>
              <a:rPr lang="en-US" altLang="zh-CN" sz="1200" b="1" i="1" dirty="0">
                <a:latin typeface="Times New Roman" panose="02020603050405020304" pitchFamily="18" charset="0"/>
                <a:cs typeface="Times New Roman" panose="02020603050405020304" pitchFamily="18" charset="0"/>
              </a:rPr>
              <a:t>m</a:t>
            </a:r>
            <a:r>
              <a:rPr lang="en-US" altLang="zh-CN" sz="1200" b="1" dirty="0">
                <a:latin typeface="Times New Roman" panose="02020603050405020304" pitchFamily="18" charset="0"/>
                <a:cs typeface="Times New Roman" panose="02020603050405020304" pitchFamily="18" charset="0"/>
              </a:rPr>
              <a:t>=0, </a:t>
            </a:r>
            <a:r>
              <a:rPr lang="zh-CN" altLang="en-US" sz="1200" b="1" dirty="0">
                <a:latin typeface="Times New Roman" panose="02020603050405020304" pitchFamily="18" charset="0"/>
                <a:cs typeface="Times New Roman" panose="02020603050405020304" pitchFamily="18" charset="0"/>
              </a:rPr>
              <a:t>结论成立. </a:t>
            </a:r>
          </a:p>
          <a:p>
            <a:pPr marL="609600" indent="-609600" eaLnBrk="1" hangingPunct="1">
              <a:buFontTx/>
              <a:buNone/>
            </a:pPr>
            <a:r>
              <a:rPr lang="zh-CN" altLang="en-US" sz="1200" b="1" dirty="0">
                <a:latin typeface="Times New Roman" panose="02020603050405020304" pitchFamily="18" charset="0"/>
                <a:cs typeface="Times New Roman" panose="02020603050405020304" pitchFamily="18" charset="0"/>
              </a:rPr>
              <a:t>假设当</a:t>
            </a:r>
            <a:r>
              <a:rPr lang="en-US" altLang="zh-CN" sz="1200" b="1" i="1" dirty="0" err="1">
                <a:latin typeface="Times New Roman" panose="02020603050405020304" pitchFamily="18" charset="0"/>
                <a:cs typeface="Times New Roman" panose="02020603050405020304" pitchFamily="18" charset="0"/>
              </a:rPr>
              <a:t>n</a:t>
            </a:r>
            <a:r>
              <a:rPr lang="en-US" altLang="zh-CN" sz="1200" b="1" dirty="0" err="1">
                <a:latin typeface="Times New Roman" panose="02020603050405020304" pitchFamily="18" charset="0"/>
                <a:cs typeface="Times New Roman" panose="02020603050405020304" pitchFamily="18" charset="0"/>
                <a:sym typeface="Symbol" panose="05050102010706020507" pitchFamily="18" charset="2"/>
              </a:rPr>
              <a:t></a:t>
            </a:r>
            <a:r>
              <a:rPr lang="en-US" altLang="zh-CN" sz="1200" b="1" i="1" dirty="0" err="1">
                <a:latin typeface="Times New Roman" panose="02020603050405020304" pitchFamily="18" charset="0"/>
                <a:cs typeface="Times New Roman" panose="02020603050405020304" pitchFamily="18" charset="0"/>
                <a:sym typeface="Symbol" panose="05050102010706020507" pitchFamily="18" charset="2"/>
              </a:rPr>
              <a:t>k</a:t>
            </a:r>
            <a:r>
              <a:rPr lang="en-US" altLang="zh-CN" sz="1200" b="1" dirty="0">
                <a:latin typeface="Times New Roman" panose="02020603050405020304" pitchFamily="18" charset="0"/>
                <a:cs typeface="Times New Roman" panose="02020603050405020304" pitchFamily="18" charset="0"/>
                <a:sym typeface="Symbol" panose="05050102010706020507" pitchFamily="18" charset="2"/>
              </a:rPr>
              <a:t>(</a:t>
            </a:r>
            <a:r>
              <a:rPr lang="en-US" altLang="zh-CN" sz="1200" b="1" i="1" dirty="0">
                <a:latin typeface="Times New Roman" panose="02020603050405020304" pitchFamily="18" charset="0"/>
                <a:cs typeface="Times New Roman" panose="02020603050405020304" pitchFamily="18" charset="0"/>
                <a:sym typeface="Symbol" panose="05050102010706020507" pitchFamily="18" charset="2"/>
              </a:rPr>
              <a:t>k</a:t>
            </a:r>
            <a:r>
              <a:rPr lang="en-US" altLang="zh-CN" sz="1200" b="1" dirty="0">
                <a:latin typeface="Times New Roman" panose="02020603050405020304" pitchFamily="18" charset="0"/>
                <a:cs typeface="Times New Roman" panose="02020603050405020304" pitchFamily="18" charset="0"/>
                <a:sym typeface="Symbol" panose="05050102010706020507" pitchFamily="18" charset="2"/>
              </a:rPr>
              <a:t>1)</a:t>
            </a:r>
            <a:r>
              <a:rPr lang="zh-CN" altLang="en-US" sz="1200" b="1" dirty="0">
                <a:latin typeface="Times New Roman" panose="02020603050405020304" pitchFamily="18" charset="0"/>
                <a:cs typeface="Times New Roman" panose="02020603050405020304" pitchFamily="18" charset="0"/>
                <a:sym typeface="Symbol" panose="05050102010706020507" pitchFamily="18" charset="2"/>
              </a:rPr>
              <a:t>时结论成立, 考虑</a:t>
            </a:r>
            <a:r>
              <a:rPr lang="en-US" altLang="zh-CN" sz="1200" b="1" i="1" dirty="0">
                <a:latin typeface="Times New Roman" panose="02020603050405020304" pitchFamily="18" charset="0"/>
                <a:cs typeface="Times New Roman" panose="02020603050405020304" pitchFamily="18" charset="0"/>
              </a:rPr>
              <a:t>n</a:t>
            </a:r>
            <a:r>
              <a:rPr lang="en-US" altLang="zh-CN" sz="1200" b="1" dirty="0">
                <a:latin typeface="Times New Roman" panose="02020603050405020304" pitchFamily="18" charset="0"/>
                <a:cs typeface="Times New Roman" panose="02020603050405020304" pitchFamily="18" charset="0"/>
                <a:sym typeface="Symbol" panose="05050102010706020507" pitchFamily="18" charset="2"/>
              </a:rPr>
              <a:t>=</a:t>
            </a:r>
            <a:r>
              <a:rPr lang="en-US" altLang="zh-CN" sz="1200" b="1" i="1" dirty="0">
                <a:latin typeface="Times New Roman" panose="02020603050405020304" pitchFamily="18" charset="0"/>
                <a:cs typeface="Times New Roman" panose="02020603050405020304" pitchFamily="18" charset="0"/>
                <a:sym typeface="Symbol" panose="05050102010706020507" pitchFamily="18" charset="2"/>
              </a:rPr>
              <a:t>k</a:t>
            </a:r>
            <a:r>
              <a:rPr lang="zh-CN" altLang="en-US" sz="1200" b="1" dirty="0">
                <a:latin typeface="Times New Roman" panose="02020603050405020304" pitchFamily="18" charset="0"/>
                <a:cs typeface="Times New Roman" panose="02020603050405020304" pitchFamily="18" charset="0"/>
                <a:sym typeface="Symbol" panose="05050102010706020507" pitchFamily="18" charset="2"/>
              </a:rPr>
              <a:t>+1. 任取一条边</a:t>
            </a:r>
            <a:r>
              <a:rPr lang="en-US" altLang="zh-CN" sz="1200" b="1" i="1" dirty="0">
                <a:latin typeface="Times New Roman" panose="02020603050405020304" pitchFamily="18" charset="0"/>
                <a:cs typeface="Times New Roman" panose="02020603050405020304" pitchFamily="18" charset="0"/>
                <a:sym typeface="Symbol" panose="05050102010706020507" pitchFamily="18" charset="2"/>
              </a:rPr>
              <a:t>e</a:t>
            </a:r>
            <a:r>
              <a:rPr lang="en-US" altLang="zh-CN" sz="1200" b="1" dirty="0">
                <a:latin typeface="Times New Roman" panose="02020603050405020304" pitchFamily="18" charset="0"/>
                <a:cs typeface="Times New Roman" panose="02020603050405020304" pitchFamily="18" charset="0"/>
                <a:sym typeface="Symbol" panose="05050102010706020507" pitchFamily="18" charset="2"/>
              </a:rPr>
              <a:t>=</a:t>
            </a:r>
          </a:p>
          <a:p>
            <a:pPr marL="609600" indent="-609600" eaLnBrk="1" hangingPunct="1">
              <a:buFontTx/>
              <a:buNone/>
            </a:pPr>
            <a:r>
              <a:rPr lang="en-US" altLang="zh-CN" sz="1200" b="1" dirty="0">
                <a:latin typeface="Times New Roman" panose="02020603050405020304" pitchFamily="18" charset="0"/>
                <a:cs typeface="Times New Roman" panose="02020603050405020304" pitchFamily="18" charset="0"/>
                <a:sym typeface="Symbol" panose="05050102010706020507" pitchFamily="18" charset="2"/>
              </a:rPr>
              <a:t>(</a:t>
            </a:r>
            <a:r>
              <a:rPr lang="en-US" altLang="zh-CN" sz="1200" b="1" i="1" dirty="0" err="1">
                <a:latin typeface="Times New Roman" panose="02020603050405020304" pitchFamily="18" charset="0"/>
                <a:cs typeface="Times New Roman" panose="02020603050405020304" pitchFamily="18" charset="0"/>
                <a:sym typeface="Symbol" panose="05050102010706020507" pitchFamily="18" charset="2"/>
              </a:rPr>
              <a:t>u,v</a:t>
            </a:r>
            <a:r>
              <a:rPr lang="en-US" altLang="zh-CN" sz="1200" b="1" dirty="0">
                <a:latin typeface="Times New Roman" panose="02020603050405020304" pitchFamily="18" charset="0"/>
                <a:cs typeface="Times New Roman" panose="02020603050405020304" pitchFamily="18" charset="0"/>
                <a:sym typeface="Symbol" panose="05050102010706020507" pitchFamily="18" charset="2"/>
              </a:rPr>
              <a:t>), </a:t>
            </a:r>
            <a:r>
              <a:rPr lang="zh-CN" altLang="en-US" sz="1200" b="1" dirty="0">
                <a:latin typeface="Times New Roman" panose="02020603050405020304" pitchFamily="18" charset="0"/>
                <a:cs typeface="Times New Roman" panose="02020603050405020304" pitchFamily="18" charset="0"/>
                <a:sym typeface="Symbol" panose="05050102010706020507" pitchFamily="18" charset="2"/>
              </a:rPr>
              <a:t>它是</a:t>
            </a:r>
            <a:r>
              <a:rPr lang="en-US" altLang="zh-CN" sz="1200" b="1" i="1" dirty="0" err="1">
                <a:latin typeface="Times New Roman" panose="02020603050405020304" pitchFamily="18" charset="0"/>
                <a:cs typeface="Times New Roman" panose="02020603050405020304" pitchFamily="18" charset="0"/>
                <a:sym typeface="Symbol" panose="05050102010706020507" pitchFamily="18" charset="2"/>
              </a:rPr>
              <a:t>u,v</a:t>
            </a:r>
            <a:r>
              <a:rPr lang="zh-CN" altLang="en-US" sz="1200" b="1" dirty="0">
                <a:latin typeface="Times New Roman" panose="02020603050405020304" pitchFamily="18" charset="0"/>
                <a:cs typeface="Times New Roman" panose="02020603050405020304" pitchFamily="18" charset="0"/>
                <a:sym typeface="Symbol" panose="05050102010706020507" pitchFamily="18" charset="2"/>
              </a:rPr>
              <a:t>之间惟一的通路, 删去</a:t>
            </a:r>
            <a:r>
              <a:rPr lang="en-US" altLang="zh-CN" sz="1200" b="1" i="1" dirty="0">
                <a:latin typeface="Times New Roman" panose="02020603050405020304" pitchFamily="18" charset="0"/>
                <a:cs typeface="Times New Roman" panose="02020603050405020304" pitchFamily="18" charset="0"/>
                <a:sym typeface="Symbol" panose="05050102010706020507" pitchFamily="18" charset="2"/>
              </a:rPr>
              <a:t>e</a:t>
            </a:r>
            <a:r>
              <a:rPr lang="en-US" altLang="zh-CN" sz="1200" b="1" dirty="0">
                <a:latin typeface="Times New Roman" panose="02020603050405020304" pitchFamily="18" charset="0"/>
                <a:cs typeface="Times New Roman" panose="02020603050405020304" pitchFamily="18" charset="0"/>
                <a:sym typeface="Symbol" panose="05050102010706020507" pitchFamily="18" charset="2"/>
              </a:rPr>
              <a:t>, </a:t>
            </a:r>
            <a:r>
              <a:rPr lang="en-US" altLang="zh-CN" sz="1200" b="1" i="1" dirty="0">
                <a:latin typeface="Times New Roman" panose="02020603050405020304" pitchFamily="18" charset="0"/>
                <a:cs typeface="Times New Roman" panose="02020603050405020304" pitchFamily="18" charset="0"/>
                <a:sym typeface="Symbol" panose="05050102010706020507" pitchFamily="18" charset="2"/>
              </a:rPr>
              <a:t>G</a:t>
            </a:r>
            <a:r>
              <a:rPr lang="zh-CN" altLang="en-US" sz="1200" b="1" dirty="0">
                <a:latin typeface="Times New Roman" panose="02020603050405020304" pitchFamily="18" charset="0"/>
                <a:cs typeface="Times New Roman" panose="02020603050405020304" pitchFamily="18" charset="0"/>
                <a:sym typeface="Symbol" panose="05050102010706020507" pitchFamily="18" charset="2"/>
              </a:rPr>
              <a:t>被分成2个连通分</a:t>
            </a:r>
          </a:p>
          <a:p>
            <a:pPr marL="609600" indent="-609600" eaLnBrk="1" hangingPunct="1">
              <a:buFontTx/>
              <a:buNone/>
            </a:pPr>
            <a:r>
              <a:rPr lang="zh-CN" altLang="en-US" sz="1200" b="1" dirty="0">
                <a:latin typeface="Times New Roman" panose="02020603050405020304" pitchFamily="18" charset="0"/>
                <a:cs typeface="Times New Roman" panose="02020603050405020304" pitchFamily="18" charset="0"/>
                <a:sym typeface="Symbol" panose="05050102010706020507" pitchFamily="18" charset="2"/>
              </a:rPr>
              <a:t>支, 设它们分别有</a:t>
            </a:r>
            <a:r>
              <a:rPr lang="en-US" altLang="zh-CN" sz="1200" b="1" i="1" dirty="0">
                <a:latin typeface="Times New Roman" panose="02020603050405020304" pitchFamily="18" charset="0"/>
                <a:cs typeface="Times New Roman" panose="02020603050405020304" pitchFamily="18" charset="0"/>
                <a:sym typeface="Symbol" panose="05050102010706020507" pitchFamily="18" charset="2"/>
              </a:rPr>
              <a:t>n</a:t>
            </a:r>
            <a:r>
              <a:rPr lang="en-US" altLang="zh-CN" sz="1200" b="1" baseline="-25000" dirty="0">
                <a:latin typeface="Times New Roman" panose="02020603050405020304" pitchFamily="18" charset="0"/>
                <a:cs typeface="Times New Roman" panose="02020603050405020304" pitchFamily="18" charset="0"/>
                <a:sym typeface="Symbol" panose="05050102010706020507" pitchFamily="18" charset="2"/>
              </a:rPr>
              <a:t>1</a:t>
            </a:r>
            <a:r>
              <a:rPr lang="en-US" altLang="zh-CN" sz="1200" b="1" dirty="0">
                <a:latin typeface="Times New Roman" panose="02020603050405020304" pitchFamily="18" charset="0"/>
                <a:cs typeface="Times New Roman" panose="02020603050405020304" pitchFamily="18" charset="0"/>
                <a:sym typeface="Symbol" panose="05050102010706020507" pitchFamily="18" charset="2"/>
              </a:rPr>
              <a:t>, </a:t>
            </a:r>
            <a:r>
              <a:rPr lang="en-US" altLang="zh-CN" sz="1200" b="1" i="1" dirty="0">
                <a:latin typeface="Times New Roman" panose="02020603050405020304" pitchFamily="18" charset="0"/>
                <a:cs typeface="Times New Roman" panose="02020603050405020304" pitchFamily="18" charset="0"/>
                <a:sym typeface="Symbol" panose="05050102010706020507" pitchFamily="18" charset="2"/>
              </a:rPr>
              <a:t>n</a:t>
            </a:r>
            <a:r>
              <a:rPr lang="en-US" altLang="zh-CN" sz="1200" b="1" baseline="-25000" dirty="0">
                <a:latin typeface="Times New Roman" panose="02020603050405020304" pitchFamily="18" charset="0"/>
                <a:cs typeface="Times New Roman" panose="02020603050405020304" pitchFamily="18" charset="0"/>
                <a:sym typeface="Symbol" panose="05050102010706020507" pitchFamily="18" charset="2"/>
              </a:rPr>
              <a:t>2</a:t>
            </a:r>
            <a:r>
              <a:rPr lang="zh-CN" altLang="en-US" sz="1200" b="1" dirty="0">
                <a:latin typeface="Times New Roman" panose="02020603050405020304" pitchFamily="18" charset="0"/>
                <a:cs typeface="Times New Roman" panose="02020603050405020304" pitchFamily="18" charset="0"/>
                <a:sym typeface="Symbol" panose="05050102010706020507" pitchFamily="18" charset="2"/>
              </a:rPr>
              <a:t>个顶点和</a:t>
            </a:r>
            <a:r>
              <a:rPr lang="en-US" altLang="zh-CN" sz="1200" b="1" i="1" dirty="0">
                <a:latin typeface="Times New Roman" panose="02020603050405020304" pitchFamily="18" charset="0"/>
                <a:cs typeface="Times New Roman" panose="02020603050405020304" pitchFamily="18" charset="0"/>
                <a:sym typeface="Symbol" panose="05050102010706020507" pitchFamily="18" charset="2"/>
              </a:rPr>
              <a:t>m</a:t>
            </a:r>
            <a:r>
              <a:rPr lang="en-US" altLang="zh-CN" sz="1200" b="1" baseline="-25000" dirty="0">
                <a:latin typeface="Times New Roman" panose="02020603050405020304" pitchFamily="18" charset="0"/>
                <a:cs typeface="Times New Roman" panose="02020603050405020304" pitchFamily="18" charset="0"/>
                <a:sym typeface="Symbol" panose="05050102010706020507" pitchFamily="18" charset="2"/>
              </a:rPr>
              <a:t>1</a:t>
            </a:r>
            <a:r>
              <a:rPr lang="en-US" altLang="zh-CN" sz="1200" b="1" dirty="0">
                <a:latin typeface="Times New Roman" panose="02020603050405020304" pitchFamily="18" charset="0"/>
                <a:cs typeface="Times New Roman" panose="02020603050405020304" pitchFamily="18" charset="0"/>
                <a:sym typeface="Symbol" panose="05050102010706020507" pitchFamily="18" charset="2"/>
              </a:rPr>
              <a:t>, </a:t>
            </a:r>
            <a:r>
              <a:rPr lang="en-US" altLang="zh-CN" sz="1200" b="1" i="1" dirty="0">
                <a:latin typeface="Times New Roman" panose="02020603050405020304" pitchFamily="18" charset="0"/>
                <a:cs typeface="Times New Roman" panose="02020603050405020304" pitchFamily="18" charset="0"/>
                <a:sym typeface="Symbol" panose="05050102010706020507" pitchFamily="18" charset="2"/>
              </a:rPr>
              <a:t>m</a:t>
            </a:r>
            <a:r>
              <a:rPr lang="en-US" altLang="zh-CN" sz="1200" b="1" baseline="-25000" dirty="0">
                <a:latin typeface="Times New Roman" panose="02020603050405020304" pitchFamily="18" charset="0"/>
                <a:cs typeface="Times New Roman" panose="02020603050405020304" pitchFamily="18" charset="0"/>
                <a:sym typeface="Symbol" panose="05050102010706020507" pitchFamily="18" charset="2"/>
              </a:rPr>
              <a:t>2</a:t>
            </a:r>
            <a:r>
              <a:rPr lang="zh-CN" altLang="en-US" sz="1200" b="1" dirty="0">
                <a:latin typeface="Times New Roman" panose="02020603050405020304" pitchFamily="18" charset="0"/>
                <a:cs typeface="Times New Roman" panose="02020603050405020304" pitchFamily="18" charset="0"/>
                <a:sym typeface="Symbol" panose="05050102010706020507" pitchFamily="18" charset="2"/>
              </a:rPr>
              <a:t>条边, </a:t>
            </a:r>
            <a:r>
              <a:rPr lang="en-US" altLang="zh-CN" sz="1200" b="1" i="1" dirty="0">
                <a:latin typeface="Times New Roman" panose="02020603050405020304" pitchFamily="18" charset="0"/>
                <a:cs typeface="Times New Roman" panose="02020603050405020304" pitchFamily="18" charset="0"/>
                <a:sym typeface="Symbol" panose="05050102010706020507" pitchFamily="18" charset="2"/>
              </a:rPr>
              <a:t>n</a:t>
            </a:r>
            <a:r>
              <a:rPr lang="en-US" altLang="zh-CN" sz="1200" b="1" baseline="-25000" dirty="0">
                <a:latin typeface="Times New Roman" panose="02020603050405020304" pitchFamily="18" charset="0"/>
                <a:cs typeface="Times New Roman" panose="02020603050405020304" pitchFamily="18" charset="0"/>
                <a:sym typeface="Symbol" panose="05050102010706020507" pitchFamily="18" charset="2"/>
              </a:rPr>
              <a:t>1</a:t>
            </a:r>
            <a:r>
              <a:rPr lang="en-US" altLang="zh-CN" sz="1200" b="1" dirty="0">
                <a:latin typeface="Times New Roman" panose="02020603050405020304" pitchFamily="18" charset="0"/>
                <a:cs typeface="Times New Roman" panose="02020603050405020304" pitchFamily="18" charset="0"/>
                <a:sym typeface="Symbol" panose="05050102010706020507" pitchFamily="18" charset="2"/>
              </a:rPr>
              <a:t></a:t>
            </a:r>
            <a:r>
              <a:rPr lang="en-US" altLang="zh-CN" sz="1200" b="1" i="1" dirty="0">
                <a:latin typeface="Times New Roman" panose="02020603050405020304" pitchFamily="18" charset="0"/>
                <a:cs typeface="Times New Roman" panose="02020603050405020304" pitchFamily="18" charset="0"/>
                <a:sym typeface="Symbol" panose="05050102010706020507" pitchFamily="18" charset="2"/>
              </a:rPr>
              <a:t>k,</a:t>
            </a:r>
            <a:r>
              <a:rPr lang="en-US" altLang="zh-CN" sz="1200" b="1" dirty="0">
                <a:latin typeface="Times New Roman" panose="02020603050405020304" pitchFamily="18" charset="0"/>
                <a:cs typeface="Times New Roman" panose="02020603050405020304" pitchFamily="18" charset="0"/>
                <a:sym typeface="Symbol" panose="05050102010706020507" pitchFamily="18" charset="2"/>
              </a:rPr>
              <a:t> </a:t>
            </a:r>
            <a:r>
              <a:rPr lang="en-US" altLang="zh-CN" sz="1200" b="1" i="1" dirty="0">
                <a:latin typeface="Times New Roman" panose="02020603050405020304" pitchFamily="18" charset="0"/>
                <a:cs typeface="Times New Roman" panose="02020603050405020304" pitchFamily="18" charset="0"/>
                <a:sym typeface="Symbol" panose="05050102010706020507" pitchFamily="18" charset="2"/>
              </a:rPr>
              <a:t>n</a:t>
            </a:r>
            <a:r>
              <a:rPr lang="en-US" altLang="zh-CN" sz="1200" b="1" baseline="-25000" dirty="0">
                <a:latin typeface="Times New Roman" panose="02020603050405020304" pitchFamily="18" charset="0"/>
                <a:cs typeface="Times New Roman" panose="02020603050405020304" pitchFamily="18" charset="0"/>
                <a:sym typeface="Symbol" panose="05050102010706020507" pitchFamily="18" charset="2"/>
              </a:rPr>
              <a:t>2</a:t>
            </a:r>
            <a:r>
              <a:rPr lang="en-US" altLang="zh-CN" sz="1200" b="1" dirty="0">
                <a:latin typeface="Times New Roman" panose="02020603050405020304" pitchFamily="18" charset="0"/>
                <a:cs typeface="Times New Roman" panose="02020603050405020304" pitchFamily="18" charset="0"/>
                <a:sym typeface="Symbol" panose="05050102010706020507" pitchFamily="18" charset="2"/>
              </a:rPr>
              <a:t></a:t>
            </a:r>
            <a:r>
              <a:rPr lang="en-US" altLang="zh-CN" sz="1200" b="1" i="1" dirty="0">
                <a:latin typeface="Times New Roman" panose="02020603050405020304" pitchFamily="18" charset="0"/>
                <a:cs typeface="Times New Roman" panose="02020603050405020304" pitchFamily="18" charset="0"/>
                <a:sym typeface="Symbol" panose="05050102010706020507" pitchFamily="18" charset="2"/>
              </a:rPr>
              <a:t>k. </a:t>
            </a:r>
          </a:p>
          <a:p>
            <a:pPr marL="609600" indent="-609600" eaLnBrk="1" hangingPunct="1">
              <a:buFontTx/>
              <a:buNone/>
            </a:pPr>
            <a:r>
              <a:rPr lang="zh-CN" altLang="en-US" sz="1200" b="1" dirty="0">
                <a:latin typeface="Times New Roman" panose="02020603050405020304" pitchFamily="18" charset="0"/>
                <a:cs typeface="Times New Roman" panose="02020603050405020304" pitchFamily="18" charset="0"/>
                <a:sym typeface="Symbol" panose="05050102010706020507" pitchFamily="18" charset="2"/>
              </a:rPr>
              <a:t>由归纳假设, </a:t>
            </a:r>
            <a:r>
              <a:rPr lang="en-US" altLang="zh-CN" sz="1200" b="1" i="1" dirty="0">
                <a:latin typeface="Times New Roman" panose="02020603050405020304" pitchFamily="18" charset="0"/>
                <a:cs typeface="Times New Roman" panose="02020603050405020304" pitchFamily="18" charset="0"/>
                <a:sym typeface="Symbol" panose="05050102010706020507" pitchFamily="18" charset="2"/>
              </a:rPr>
              <a:t>m</a:t>
            </a:r>
            <a:r>
              <a:rPr lang="en-US" altLang="zh-CN" sz="1200" b="1" baseline="-25000" dirty="0">
                <a:latin typeface="Times New Roman" panose="02020603050405020304" pitchFamily="18" charset="0"/>
                <a:cs typeface="Times New Roman" panose="02020603050405020304" pitchFamily="18" charset="0"/>
                <a:sym typeface="Symbol" panose="05050102010706020507" pitchFamily="18" charset="2"/>
              </a:rPr>
              <a:t>1</a:t>
            </a:r>
            <a:r>
              <a:rPr lang="zh-CN" altLang="en-US" sz="1200" b="1" dirty="0">
                <a:latin typeface="Times New Roman" panose="02020603050405020304" pitchFamily="18" charset="0"/>
                <a:cs typeface="Times New Roman" panose="02020603050405020304" pitchFamily="18" charset="0"/>
                <a:sym typeface="Symbol" panose="05050102010706020507" pitchFamily="18" charset="2"/>
              </a:rPr>
              <a:t>=</a:t>
            </a:r>
            <a:r>
              <a:rPr lang="en-US" altLang="zh-CN" sz="1200" b="1" i="1" dirty="0">
                <a:latin typeface="Times New Roman" panose="02020603050405020304" pitchFamily="18" charset="0"/>
                <a:cs typeface="Times New Roman" panose="02020603050405020304" pitchFamily="18" charset="0"/>
                <a:sym typeface="Symbol" panose="05050102010706020507" pitchFamily="18" charset="2"/>
              </a:rPr>
              <a:t>n</a:t>
            </a:r>
            <a:r>
              <a:rPr lang="en-US" altLang="zh-CN" sz="1200" b="1" baseline="-25000" dirty="0">
                <a:latin typeface="Times New Roman" panose="02020603050405020304" pitchFamily="18" charset="0"/>
                <a:cs typeface="Times New Roman" panose="02020603050405020304" pitchFamily="18" charset="0"/>
                <a:sym typeface="Symbol" panose="05050102010706020507" pitchFamily="18" charset="2"/>
              </a:rPr>
              <a:t>1</a:t>
            </a:r>
            <a:r>
              <a:rPr lang="zh-CN" altLang="en-US" sz="1200" b="1" dirty="0">
                <a:latin typeface="Times New Roman" panose="02020603050405020304" pitchFamily="18" charset="0"/>
                <a:cs typeface="Times New Roman" panose="02020603050405020304" pitchFamily="18" charset="0"/>
                <a:sym typeface="Symbol" panose="05050102010706020507" pitchFamily="18" charset="2"/>
              </a:rPr>
              <a:t>-1, </a:t>
            </a:r>
            <a:r>
              <a:rPr lang="en-US" altLang="zh-CN" sz="1200" b="1" i="1" dirty="0">
                <a:latin typeface="Times New Roman" panose="02020603050405020304" pitchFamily="18" charset="0"/>
                <a:cs typeface="Times New Roman" panose="02020603050405020304" pitchFamily="18" charset="0"/>
                <a:sym typeface="Symbol" panose="05050102010706020507" pitchFamily="18" charset="2"/>
              </a:rPr>
              <a:t>m</a:t>
            </a:r>
            <a:r>
              <a:rPr lang="en-US" altLang="zh-CN" sz="1200" b="1" baseline="-25000" dirty="0">
                <a:latin typeface="Times New Roman" panose="02020603050405020304" pitchFamily="18" charset="0"/>
                <a:cs typeface="Times New Roman" panose="02020603050405020304" pitchFamily="18" charset="0"/>
                <a:sym typeface="Symbol" panose="05050102010706020507" pitchFamily="18" charset="2"/>
              </a:rPr>
              <a:t>2</a:t>
            </a:r>
            <a:r>
              <a:rPr lang="zh-CN" altLang="en-US" sz="1200" b="1" dirty="0">
                <a:latin typeface="Times New Roman" panose="02020603050405020304" pitchFamily="18" charset="0"/>
                <a:cs typeface="Times New Roman" panose="02020603050405020304" pitchFamily="18" charset="0"/>
                <a:sym typeface="Symbol" panose="05050102010706020507" pitchFamily="18" charset="2"/>
              </a:rPr>
              <a:t>=</a:t>
            </a:r>
            <a:r>
              <a:rPr lang="en-US" altLang="zh-CN" sz="1200" b="1" i="1" dirty="0">
                <a:latin typeface="Times New Roman" panose="02020603050405020304" pitchFamily="18" charset="0"/>
                <a:cs typeface="Times New Roman" panose="02020603050405020304" pitchFamily="18" charset="0"/>
                <a:sym typeface="Symbol" panose="05050102010706020507" pitchFamily="18" charset="2"/>
              </a:rPr>
              <a:t>n</a:t>
            </a:r>
            <a:r>
              <a:rPr lang="en-US" altLang="zh-CN" sz="1200" b="1" baseline="-25000" dirty="0">
                <a:latin typeface="Times New Roman" panose="02020603050405020304" pitchFamily="18" charset="0"/>
                <a:cs typeface="Times New Roman" panose="02020603050405020304" pitchFamily="18" charset="0"/>
                <a:sym typeface="Symbol" panose="05050102010706020507" pitchFamily="18" charset="2"/>
              </a:rPr>
              <a:t>2</a:t>
            </a:r>
            <a:r>
              <a:rPr lang="zh-CN" altLang="en-US" sz="1200" b="1" dirty="0">
                <a:latin typeface="Times New Roman" panose="02020603050405020304" pitchFamily="18" charset="0"/>
                <a:cs typeface="Times New Roman" panose="02020603050405020304" pitchFamily="18" charset="0"/>
                <a:sym typeface="Symbol" panose="05050102010706020507" pitchFamily="18" charset="2"/>
              </a:rPr>
              <a:t>-1, 得</a:t>
            </a:r>
            <a:r>
              <a:rPr lang="en-US" altLang="zh-CN" sz="1200" b="1" i="1" dirty="0">
                <a:latin typeface="Times New Roman" panose="02020603050405020304" pitchFamily="18" charset="0"/>
                <a:cs typeface="Times New Roman" panose="02020603050405020304" pitchFamily="18" charset="0"/>
                <a:sym typeface="Symbol" panose="05050102010706020507" pitchFamily="18" charset="2"/>
              </a:rPr>
              <a:t>m</a:t>
            </a:r>
            <a:r>
              <a:rPr lang="en-US" altLang="zh-CN" sz="1200" b="1" dirty="0">
                <a:latin typeface="Times New Roman" panose="02020603050405020304" pitchFamily="18" charset="0"/>
                <a:cs typeface="Times New Roman" panose="02020603050405020304" pitchFamily="18" charset="0"/>
                <a:sym typeface="Symbol" panose="05050102010706020507" pitchFamily="18" charset="2"/>
              </a:rPr>
              <a:t>= </a:t>
            </a:r>
            <a:r>
              <a:rPr lang="en-US" altLang="zh-CN" sz="1200" b="1" i="1" dirty="0">
                <a:latin typeface="Times New Roman" panose="02020603050405020304" pitchFamily="18" charset="0"/>
                <a:cs typeface="Times New Roman" panose="02020603050405020304" pitchFamily="18" charset="0"/>
                <a:sym typeface="Symbol" panose="05050102010706020507" pitchFamily="18" charset="2"/>
              </a:rPr>
              <a:t>m</a:t>
            </a:r>
            <a:r>
              <a:rPr lang="en-US" altLang="zh-CN" sz="1200" b="1" baseline="-25000" dirty="0">
                <a:latin typeface="Times New Roman" panose="02020603050405020304" pitchFamily="18" charset="0"/>
                <a:cs typeface="Times New Roman" panose="02020603050405020304" pitchFamily="18" charset="0"/>
                <a:sym typeface="Symbol" panose="05050102010706020507" pitchFamily="18" charset="2"/>
              </a:rPr>
              <a:t>1</a:t>
            </a:r>
            <a:r>
              <a:rPr lang="en-US" altLang="zh-CN" sz="1200" b="1" dirty="0">
                <a:latin typeface="Times New Roman" panose="02020603050405020304" pitchFamily="18" charset="0"/>
                <a:cs typeface="Times New Roman" panose="02020603050405020304" pitchFamily="18" charset="0"/>
                <a:sym typeface="Symbol" panose="05050102010706020507" pitchFamily="18" charset="2"/>
              </a:rPr>
              <a:t>+</a:t>
            </a:r>
            <a:r>
              <a:rPr lang="en-US" altLang="zh-CN" sz="1200" b="1" i="1" dirty="0">
                <a:latin typeface="Times New Roman" panose="02020603050405020304" pitchFamily="18" charset="0"/>
                <a:cs typeface="Times New Roman" panose="02020603050405020304" pitchFamily="18" charset="0"/>
                <a:sym typeface="Symbol" panose="05050102010706020507" pitchFamily="18" charset="2"/>
              </a:rPr>
              <a:t>m</a:t>
            </a:r>
            <a:r>
              <a:rPr lang="en-US" altLang="zh-CN" sz="1200" b="1" baseline="-25000" dirty="0">
                <a:latin typeface="Times New Roman" panose="02020603050405020304" pitchFamily="18" charset="0"/>
                <a:cs typeface="Times New Roman" panose="02020603050405020304" pitchFamily="18" charset="0"/>
                <a:sym typeface="Symbol" panose="05050102010706020507" pitchFamily="18" charset="2"/>
              </a:rPr>
              <a:t>2</a:t>
            </a:r>
            <a:r>
              <a:rPr lang="en-US" altLang="zh-CN" sz="1200" b="1" dirty="0">
                <a:latin typeface="Times New Roman" panose="02020603050405020304" pitchFamily="18" charset="0"/>
                <a:cs typeface="Times New Roman" panose="02020603050405020304" pitchFamily="18" charset="0"/>
                <a:sym typeface="Symbol" panose="05050102010706020507" pitchFamily="18" charset="2"/>
              </a:rPr>
              <a:t>+1= </a:t>
            </a:r>
            <a:r>
              <a:rPr lang="en-US" altLang="zh-CN" sz="1200" b="1" i="1" dirty="0">
                <a:latin typeface="Times New Roman" panose="02020603050405020304" pitchFamily="18" charset="0"/>
                <a:cs typeface="Times New Roman" panose="02020603050405020304" pitchFamily="18" charset="0"/>
                <a:sym typeface="Symbol" panose="05050102010706020507" pitchFamily="18" charset="2"/>
              </a:rPr>
              <a:t>n</a:t>
            </a:r>
            <a:r>
              <a:rPr lang="en-US" altLang="zh-CN" sz="1200" b="1" dirty="0">
                <a:latin typeface="Times New Roman" panose="02020603050405020304" pitchFamily="18" charset="0"/>
                <a:cs typeface="Times New Roman" panose="02020603050405020304" pitchFamily="18" charset="0"/>
                <a:sym typeface="Symbol" panose="05050102010706020507" pitchFamily="18" charset="2"/>
              </a:rPr>
              <a:t>-1</a:t>
            </a:r>
            <a:endParaRPr lang="zh-CN" altLang="en-US" dirty="0"/>
          </a:p>
        </p:txBody>
      </p:sp>
      <p:sp>
        <p:nvSpPr>
          <p:cNvPr id="4" name="灯片编号占位符 3"/>
          <p:cNvSpPr>
            <a:spLocks noGrp="1"/>
          </p:cNvSpPr>
          <p:nvPr>
            <p:ph type="sldNum" sz="quarter" idx="10"/>
          </p:nvPr>
        </p:nvSpPr>
        <p:spPr/>
        <p:txBody>
          <a:bodyPr/>
          <a:lstStyle/>
          <a:p>
            <a:fld id="{CAFE74B6-F93C-4D90-BE1A-7EFEDB35C0D4}" type="slidenum">
              <a:rPr lang="zh-CN" altLang="en-US" smtClean="0"/>
              <a:t>27</a:t>
            </a:fld>
            <a:endParaRPr lang="zh-CN" altLang="en-US"/>
          </a:p>
        </p:txBody>
      </p:sp>
    </p:spTree>
    <p:extLst>
      <p:ext uri="{BB962C8B-B14F-4D97-AF65-F5344CB8AC3E}">
        <p14:creationId xmlns:p14="http://schemas.microsoft.com/office/powerpoint/2010/main" val="589339879"/>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教材中略掉了证明</a:t>
            </a:r>
            <a:endParaRPr lang="en-US" altLang="zh-CN" dirty="0"/>
          </a:p>
          <a:p>
            <a:pPr marL="609600" indent="-609600" eaLnBrk="1" hangingPunct="1">
              <a:buFontTx/>
              <a:buNone/>
            </a:pPr>
            <a:r>
              <a:rPr lang="en-US" altLang="zh-CN" sz="1200" b="1" dirty="0">
                <a:latin typeface="Times New Roman" panose="02020603050405020304" pitchFamily="18" charset="0"/>
                <a:cs typeface="Times New Roman" panose="02020603050405020304" pitchFamily="18" charset="0"/>
                <a:sym typeface="Symbol" panose="05050102010706020507" pitchFamily="18" charset="2"/>
              </a:rPr>
              <a:t>(1)(2) </a:t>
            </a:r>
            <a:r>
              <a:rPr lang="zh-CN" altLang="en-US" sz="1200" b="1" dirty="0">
                <a:latin typeface="Times New Roman" panose="02020603050405020304" pitchFamily="18" charset="0"/>
                <a:cs typeface="Times New Roman" panose="02020603050405020304" pitchFamily="18" charset="0"/>
                <a:sym typeface="Symbol" panose="05050102010706020507" pitchFamily="18" charset="2"/>
              </a:rPr>
              <a:t>由连通性, 任意2个顶点之间有一条路径. 又, 假设</a:t>
            </a:r>
          </a:p>
          <a:p>
            <a:pPr marL="609600" indent="-609600" eaLnBrk="1" hangingPunct="1">
              <a:buFontTx/>
              <a:buNone/>
            </a:pPr>
            <a:r>
              <a:rPr lang="zh-CN" altLang="en-US" sz="1200" b="1" dirty="0">
                <a:latin typeface="Times New Roman" panose="02020603050405020304" pitchFamily="18" charset="0"/>
                <a:cs typeface="Times New Roman" panose="02020603050405020304" pitchFamily="18" charset="0"/>
                <a:sym typeface="Symbol" panose="05050102010706020507" pitchFamily="18" charset="2"/>
              </a:rPr>
              <a:t>某2个顶点之间有2条路径, 则这2条路径可组合成一条回</a:t>
            </a:r>
          </a:p>
          <a:p>
            <a:pPr marL="609600" indent="-609600" eaLnBrk="1" hangingPunct="1">
              <a:buFontTx/>
              <a:buNone/>
            </a:pPr>
            <a:r>
              <a:rPr lang="zh-CN" altLang="en-US" sz="1200" b="1" dirty="0">
                <a:latin typeface="Times New Roman" panose="02020603050405020304" pitchFamily="18" charset="0"/>
                <a:cs typeface="Times New Roman" panose="02020603050405020304" pitchFamily="18" charset="0"/>
                <a:sym typeface="Symbol" panose="05050102010706020507" pitchFamily="18" charset="2"/>
              </a:rPr>
              <a:t>路, 与树的定义矛盾.</a:t>
            </a:r>
          </a:p>
          <a:p>
            <a:pPr marL="609600" indent="-609600" eaLnBrk="1" hangingPunct="1">
              <a:buFontTx/>
              <a:buNone/>
            </a:pPr>
            <a:endParaRPr lang="zh-CN" altLang="en-US" sz="1200" b="1" dirty="0">
              <a:latin typeface="Times New Roman" panose="02020603050405020304" pitchFamily="18" charset="0"/>
              <a:cs typeface="Times New Roman" panose="02020603050405020304" pitchFamily="18" charset="0"/>
              <a:sym typeface="Symbol" panose="05050102010706020507" pitchFamily="18" charset="2"/>
            </a:endParaRPr>
          </a:p>
          <a:p>
            <a:pPr marL="609600" indent="-609600" eaLnBrk="1" hangingPunct="1">
              <a:buFontTx/>
              <a:buNone/>
            </a:pPr>
            <a:r>
              <a:rPr lang="zh-CN" altLang="en-US" sz="1200" b="1" dirty="0">
                <a:latin typeface="Times New Roman" panose="02020603050405020304" pitchFamily="18" charset="0"/>
                <a:cs typeface="Times New Roman" panose="02020603050405020304" pitchFamily="18" charset="0"/>
                <a:sym typeface="Symbol" panose="05050102010706020507" pitchFamily="18" charset="2"/>
              </a:rPr>
              <a:t>(2)</a:t>
            </a:r>
            <a:r>
              <a:rPr lang="en-US" altLang="zh-CN" sz="1200" b="1" dirty="0">
                <a:latin typeface="Times New Roman" panose="02020603050405020304" pitchFamily="18" charset="0"/>
                <a:cs typeface="Times New Roman" panose="02020603050405020304" pitchFamily="18" charset="0"/>
                <a:sym typeface="Symbol" panose="05050102010706020507" pitchFamily="18" charset="2"/>
              </a:rPr>
              <a:t>(3) </a:t>
            </a:r>
            <a:r>
              <a:rPr lang="zh-CN" altLang="en-US" sz="1200" b="1" dirty="0">
                <a:latin typeface="Times New Roman" panose="02020603050405020304" pitchFamily="18" charset="0"/>
                <a:cs typeface="Times New Roman" panose="02020603050405020304" pitchFamily="18" charset="0"/>
                <a:sym typeface="Symbol" panose="05050102010706020507" pitchFamily="18" charset="2"/>
              </a:rPr>
              <a:t>显然连通, 要证</a:t>
            </a:r>
            <a:r>
              <a:rPr lang="en-US" altLang="zh-CN" sz="1200" b="1" i="1" dirty="0">
                <a:latin typeface="Times New Roman" panose="02020603050405020304" pitchFamily="18" charset="0"/>
                <a:cs typeface="Times New Roman" panose="02020603050405020304" pitchFamily="18" charset="0"/>
              </a:rPr>
              <a:t>m</a:t>
            </a:r>
            <a:r>
              <a:rPr lang="en-US" altLang="zh-CN" sz="1200" b="1" dirty="0">
                <a:latin typeface="Times New Roman" panose="02020603050405020304" pitchFamily="18" charset="0"/>
                <a:cs typeface="Times New Roman" panose="02020603050405020304" pitchFamily="18" charset="0"/>
              </a:rPr>
              <a:t>=</a:t>
            </a:r>
            <a:r>
              <a:rPr lang="en-US" altLang="zh-CN" sz="1200" b="1" i="1" dirty="0">
                <a:latin typeface="Times New Roman" panose="02020603050405020304" pitchFamily="18" charset="0"/>
                <a:cs typeface="Times New Roman" panose="02020603050405020304" pitchFamily="18" charset="0"/>
              </a:rPr>
              <a:t>n</a:t>
            </a:r>
            <a:r>
              <a:rPr lang="en-US" altLang="zh-CN" sz="1200" b="1" dirty="0">
                <a:latin typeface="Times New Roman" panose="02020603050405020304" pitchFamily="18" charset="0"/>
                <a:cs typeface="Times New Roman" panose="02020603050405020304" pitchFamily="18" charset="0"/>
                <a:sym typeface="Symbol" panose="05050102010706020507" pitchFamily="18" charset="2"/>
              </a:rPr>
              <a:t></a:t>
            </a:r>
            <a:r>
              <a:rPr lang="en-US" altLang="zh-CN" sz="1200" b="1" dirty="0">
                <a:latin typeface="Times New Roman" panose="02020603050405020304" pitchFamily="18" charset="0"/>
                <a:cs typeface="Times New Roman" panose="02020603050405020304" pitchFamily="18" charset="0"/>
              </a:rPr>
              <a:t>1. </a:t>
            </a:r>
            <a:r>
              <a:rPr lang="zh-CN" altLang="en-US" sz="1200" b="1" dirty="0">
                <a:latin typeface="Times New Roman" panose="02020603050405020304" pitchFamily="18" charset="0"/>
                <a:cs typeface="Times New Roman" panose="02020603050405020304" pitchFamily="18" charset="0"/>
              </a:rPr>
              <a:t>对</a:t>
            </a:r>
            <a:r>
              <a:rPr lang="en-US" altLang="zh-CN" sz="1200" b="1" i="1" dirty="0">
                <a:latin typeface="Times New Roman" panose="02020603050405020304" pitchFamily="18" charset="0"/>
                <a:cs typeface="Times New Roman" panose="02020603050405020304" pitchFamily="18" charset="0"/>
              </a:rPr>
              <a:t>n</a:t>
            </a:r>
            <a:r>
              <a:rPr lang="zh-CN" altLang="en-US" sz="1200" b="1" dirty="0">
                <a:latin typeface="Times New Roman" panose="02020603050405020304" pitchFamily="18" charset="0"/>
                <a:cs typeface="Times New Roman" panose="02020603050405020304" pitchFamily="18" charset="0"/>
              </a:rPr>
              <a:t>作归纳证明. </a:t>
            </a:r>
          </a:p>
          <a:p>
            <a:pPr marL="609600" indent="-609600" eaLnBrk="1" hangingPunct="1">
              <a:buFontTx/>
              <a:buNone/>
            </a:pPr>
            <a:r>
              <a:rPr lang="zh-CN" altLang="en-US" sz="1200" b="1" dirty="0">
                <a:latin typeface="Times New Roman" panose="02020603050405020304" pitchFamily="18" charset="0"/>
                <a:cs typeface="Times New Roman" panose="02020603050405020304" pitchFamily="18" charset="0"/>
              </a:rPr>
              <a:t>当</a:t>
            </a:r>
            <a:r>
              <a:rPr lang="en-US" altLang="zh-CN" sz="1200" b="1" i="1" dirty="0">
                <a:latin typeface="Times New Roman" panose="02020603050405020304" pitchFamily="18" charset="0"/>
                <a:cs typeface="Times New Roman" panose="02020603050405020304" pitchFamily="18" charset="0"/>
              </a:rPr>
              <a:t>n</a:t>
            </a:r>
            <a:r>
              <a:rPr lang="en-US" altLang="zh-CN" sz="1200" b="1" dirty="0">
                <a:latin typeface="Times New Roman" panose="02020603050405020304" pitchFamily="18" charset="0"/>
                <a:cs typeface="Times New Roman" panose="02020603050405020304" pitchFamily="18" charset="0"/>
              </a:rPr>
              <a:t>=1</a:t>
            </a:r>
            <a:r>
              <a:rPr lang="zh-CN" altLang="en-US" sz="1200" b="1" dirty="0">
                <a:latin typeface="Times New Roman" panose="02020603050405020304" pitchFamily="18" charset="0"/>
                <a:cs typeface="Times New Roman" panose="02020603050405020304" pitchFamily="18" charset="0"/>
              </a:rPr>
              <a:t>时, 显然</a:t>
            </a:r>
            <a:r>
              <a:rPr lang="en-US" altLang="zh-CN" sz="1200" b="1" i="1" dirty="0">
                <a:latin typeface="Times New Roman" panose="02020603050405020304" pitchFamily="18" charset="0"/>
                <a:cs typeface="Times New Roman" panose="02020603050405020304" pitchFamily="18" charset="0"/>
              </a:rPr>
              <a:t>m</a:t>
            </a:r>
            <a:r>
              <a:rPr lang="en-US" altLang="zh-CN" sz="1200" b="1" dirty="0">
                <a:latin typeface="Times New Roman" panose="02020603050405020304" pitchFamily="18" charset="0"/>
                <a:cs typeface="Times New Roman" panose="02020603050405020304" pitchFamily="18" charset="0"/>
              </a:rPr>
              <a:t>=0, </a:t>
            </a:r>
            <a:r>
              <a:rPr lang="zh-CN" altLang="en-US" sz="1200" b="1" dirty="0">
                <a:latin typeface="Times New Roman" panose="02020603050405020304" pitchFamily="18" charset="0"/>
                <a:cs typeface="Times New Roman" panose="02020603050405020304" pitchFamily="18" charset="0"/>
              </a:rPr>
              <a:t>结论成立. </a:t>
            </a:r>
          </a:p>
          <a:p>
            <a:pPr marL="609600" indent="-609600" eaLnBrk="1" hangingPunct="1">
              <a:buFontTx/>
              <a:buNone/>
            </a:pPr>
            <a:r>
              <a:rPr lang="zh-CN" altLang="en-US" sz="1200" b="1" dirty="0">
                <a:latin typeface="Times New Roman" panose="02020603050405020304" pitchFamily="18" charset="0"/>
                <a:cs typeface="Times New Roman" panose="02020603050405020304" pitchFamily="18" charset="0"/>
              </a:rPr>
              <a:t>假设当</a:t>
            </a:r>
            <a:r>
              <a:rPr lang="en-US" altLang="zh-CN" sz="1200" b="1" i="1" dirty="0" err="1">
                <a:latin typeface="Times New Roman" panose="02020603050405020304" pitchFamily="18" charset="0"/>
                <a:cs typeface="Times New Roman" panose="02020603050405020304" pitchFamily="18" charset="0"/>
              </a:rPr>
              <a:t>n</a:t>
            </a:r>
            <a:r>
              <a:rPr lang="en-US" altLang="zh-CN" sz="1200" b="1" dirty="0" err="1">
                <a:latin typeface="Times New Roman" panose="02020603050405020304" pitchFamily="18" charset="0"/>
                <a:cs typeface="Times New Roman" panose="02020603050405020304" pitchFamily="18" charset="0"/>
                <a:sym typeface="Symbol" panose="05050102010706020507" pitchFamily="18" charset="2"/>
              </a:rPr>
              <a:t></a:t>
            </a:r>
            <a:r>
              <a:rPr lang="en-US" altLang="zh-CN" sz="1200" b="1" i="1" dirty="0" err="1">
                <a:latin typeface="Times New Roman" panose="02020603050405020304" pitchFamily="18" charset="0"/>
                <a:cs typeface="Times New Roman" panose="02020603050405020304" pitchFamily="18" charset="0"/>
                <a:sym typeface="Symbol" panose="05050102010706020507" pitchFamily="18" charset="2"/>
              </a:rPr>
              <a:t>k</a:t>
            </a:r>
            <a:r>
              <a:rPr lang="en-US" altLang="zh-CN" sz="1200" b="1" dirty="0">
                <a:latin typeface="Times New Roman" panose="02020603050405020304" pitchFamily="18" charset="0"/>
                <a:cs typeface="Times New Roman" panose="02020603050405020304" pitchFamily="18" charset="0"/>
                <a:sym typeface="Symbol" panose="05050102010706020507" pitchFamily="18" charset="2"/>
              </a:rPr>
              <a:t>(</a:t>
            </a:r>
            <a:r>
              <a:rPr lang="en-US" altLang="zh-CN" sz="1200" b="1" i="1" dirty="0">
                <a:latin typeface="Times New Roman" panose="02020603050405020304" pitchFamily="18" charset="0"/>
                <a:cs typeface="Times New Roman" panose="02020603050405020304" pitchFamily="18" charset="0"/>
                <a:sym typeface="Symbol" panose="05050102010706020507" pitchFamily="18" charset="2"/>
              </a:rPr>
              <a:t>k</a:t>
            </a:r>
            <a:r>
              <a:rPr lang="en-US" altLang="zh-CN" sz="1200" b="1" dirty="0">
                <a:latin typeface="Times New Roman" panose="02020603050405020304" pitchFamily="18" charset="0"/>
                <a:cs typeface="Times New Roman" panose="02020603050405020304" pitchFamily="18" charset="0"/>
                <a:sym typeface="Symbol" panose="05050102010706020507" pitchFamily="18" charset="2"/>
              </a:rPr>
              <a:t>1)</a:t>
            </a:r>
            <a:r>
              <a:rPr lang="zh-CN" altLang="en-US" sz="1200" b="1" dirty="0">
                <a:latin typeface="Times New Roman" panose="02020603050405020304" pitchFamily="18" charset="0"/>
                <a:cs typeface="Times New Roman" panose="02020603050405020304" pitchFamily="18" charset="0"/>
                <a:sym typeface="Symbol" panose="05050102010706020507" pitchFamily="18" charset="2"/>
              </a:rPr>
              <a:t>时结论成立, 考虑</a:t>
            </a:r>
            <a:r>
              <a:rPr lang="en-US" altLang="zh-CN" sz="1200" b="1" i="1" dirty="0">
                <a:latin typeface="Times New Roman" panose="02020603050405020304" pitchFamily="18" charset="0"/>
                <a:cs typeface="Times New Roman" panose="02020603050405020304" pitchFamily="18" charset="0"/>
              </a:rPr>
              <a:t>n</a:t>
            </a:r>
            <a:r>
              <a:rPr lang="en-US" altLang="zh-CN" sz="1200" b="1" dirty="0">
                <a:latin typeface="Times New Roman" panose="02020603050405020304" pitchFamily="18" charset="0"/>
                <a:cs typeface="Times New Roman" panose="02020603050405020304" pitchFamily="18" charset="0"/>
                <a:sym typeface="Symbol" panose="05050102010706020507" pitchFamily="18" charset="2"/>
              </a:rPr>
              <a:t>=</a:t>
            </a:r>
            <a:r>
              <a:rPr lang="en-US" altLang="zh-CN" sz="1200" b="1" i="1" dirty="0">
                <a:latin typeface="Times New Roman" panose="02020603050405020304" pitchFamily="18" charset="0"/>
                <a:cs typeface="Times New Roman" panose="02020603050405020304" pitchFamily="18" charset="0"/>
                <a:sym typeface="Symbol" panose="05050102010706020507" pitchFamily="18" charset="2"/>
              </a:rPr>
              <a:t>k</a:t>
            </a:r>
            <a:r>
              <a:rPr lang="zh-CN" altLang="en-US" sz="1200" b="1" dirty="0">
                <a:latin typeface="Times New Roman" panose="02020603050405020304" pitchFamily="18" charset="0"/>
                <a:cs typeface="Times New Roman" panose="02020603050405020304" pitchFamily="18" charset="0"/>
                <a:sym typeface="Symbol" panose="05050102010706020507" pitchFamily="18" charset="2"/>
              </a:rPr>
              <a:t>+1. 任取一条边</a:t>
            </a:r>
            <a:r>
              <a:rPr lang="en-US" altLang="zh-CN" sz="1200" b="1" i="1" dirty="0">
                <a:latin typeface="Times New Roman" panose="02020603050405020304" pitchFamily="18" charset="0"/>
                <a:cs typeface="Times New Roman" panose="02020603050405020304" pitchFamily="18" charset="0"/>
                <a:sym typeface="Symbol" panose="05050102010706020507" pitchFamily="18" charset="2"/>
              </a:rPr>
              <a:t>e</a:t>
            </a:r>
            <a:r>
              <a:rPr lang="en-US" altLang="zh-CN" sz="1200" b="1" dirty="0">
                <a:latin typeface="Times New Roman" panose="02020603050405020304" pitchFamily="18" charset="0"/>
                <a:cs typeface="Times New Roman" panose="02020603050405020304" pitchFamily="18" charset="0"/>
                <a:sym typeface="Symbol" panose="05050102010706020507" pitchFamily="18" charset="2"/>
              </a:rPr>
              <a:t>=</a:t>
            </a:r>
          </a:p>
          <a:p>
            <a:pPr marL="609600" indent="-609600" eaLnBrk="1" hangingPunct="1">
              <a:buFontTx/>
              <a:buNone/>
            </a:pPr>
            <a:r>
              <a:rPr lang="en-US" altLang="zh-CN" sz="1200" b="1" dirty="0">
                <a:latin typeface="Times New Roman" panose="02020603050405020304" pitchFamily="18" charset="0"/>
                <a:cs typeface="Times New Roman" panose="02020603050405020304" pitchFamily="18" charset="0"/>
                <a:sym typeface="Symbol" panose="05050102010706020507" pitchFamily="18" charset="2"/>
              </a:rPr>
              <a:t>(</a:t>
            </a:r>
            <a:r>
              <a:rPr lang="en-US" altLang="zh-CN" sz="1200" b="1" i="1" dirty="0" err="1">
                <a:latin typeface="Times New Roman" panose="02020603050405020304" pitchFamily="18" charset="0"/>
                <a:cs typeface="Times New Roman" panose="02020603050405020304" pitchFamily="18" charset="0"/>
                <a:sym typeface="Symbol" panose="05050102010706020507" pitchFamily="18" charset="2"/>
              </a:rPr>
              <a:t>u,v</a:t>
            </a:r>
            <a:r>
              <a:rPr lang="en-US" altLang="zh-CN" sz="1200" b="1" dirty="0">
                <a:latin typeface="Times New Roman" panose="02020603050405020304" pitchFamily="18" charset="0"/>
                <a:cs typeface="Times New Roman" panose="02020603050405020304" pitchFamily="18" charset="0"/>
                <a:sym typeface="Symbol" panose="05050102010706020507" pitchFamily="18" charset="2"/>
              </a:rPr>
              <a:t>), </a:t>
            </a:r>
            <a:r>
              <a:rPr lang="zh-CN" altLang="en-US" sz="1200" b="1" dirty="0">
                <a:latin typeface="Times New Roman" panose="02020603050405020304" pitchFamily="18" charset="0"/>
                <a:cs typeface="Times New Roman" panose="02020603050405020304" pitchFamily="18" charset="0"/>
                <a:sym typeface="Symbol" panose="05050102010706020507" pitchFamily="18" charset="2"/>
              </a:rPr>
              <a:t>它是</a:t>
            </a:r>
            <a:r>
              <a:rPr lang="en-US" altLang="zh-CN" sz="1200" b="1" i="1" dirty="0" err="1">
                <a:latin typeface="Times New Roman" panose="02020603050405020304" pitchFamily="18" charset="0"/>
                <a:cs typeface="Times New Roman" panose="02020603050405020304" pitchFamily="18" charset="0"/>
                <a:sym typeface="Symbol" panose="05050102010706020507" pitchFamily="18" charset="2"/>
              </a:rPr>
              <a:t>u,v</a:t>
            </a:r>
            <a:r>
              <a:rPr lang="zh-CN" altLang="en-US" sz="1200" b="1" dirty="0">
                <a:latin typeface="Times New Roman" panose="02020603050405020304" pitchFamily="18" charset="0"/>
                <a:cs typeface="Times New Roman" panose="02020603050405020304" pitchFamily="18" charset="0"/>
                <a:sym typeface="Symbol" panose="05050102010706020507" pitchFamily="18" charset="2"/>
              </a:rPr>
              <a:t>之间惟一的通路, 删去</a:t>
            </a:r>
            <a:r>
              <a:rPr lang="en-US" altLang="zh-CN" sz="1200" b="1" i="1" dirty="0">
                <a:latin typeface="Times New Roman" panose="02020603050405020304" pitchFamily="18" charset="0"/>
                <a:cs typeface="Times New Roman" panose="02020603050405020304" pitchFamily="18" charset="0"/>
                <a:sym typeface="Symbol" panose="05050102010706020507" pitchFamily="18" charset="2"/>
              </a:rPr>
              <a:t>e</a:t>
            </a:r>
            <a:r>
              <a:rPr lang="en-US" altLang="zh-CN" sz="1200" b="1" dirty="0">
                <a:latin typeface="Times New Roman" panose="02020603050405020304" pitchFamily="18" charset="0"/>
                <a:cs typeface="Times New Roman" panose="02020603050405020304" pitchFamily="18" charset="0"/>
                <a:sym typeface="Symbol" panose="05050102010706020507" pitchFamily="18" charset="2"/>
              </a:rPr>
              <a:t>, </a:t>
            </a:r>
            <a:r>
              <a:rPr lang="en-US" altLang="zh-CN" sz="1200" b="1" i="1" dirty="0">
                <a:latin typeface="Times New Roman" panose="02020603050405020304" pitchFamily="18" charset="0"/>
                <a:cs typeface="Times New Roman" panose="02020603050405020304" pitchFamily="18" charset="0"/>
                <a:sym typeface="Symbol" panose="05050102010706020507" pitchFamily="18" charset="2"/>
              </a:rPr>
              <a:t>G</a:t>
            </a:r>
            <a:r>
              <a:rPr lang="zh-CN" altLang="en-US" sz="1200" b="1" dirty="0">
                <a:latin typeface="Times New Roman" panose="02020603050405020304" pitchFamily="18" charset="0"/>
                <a:cs typeface="Times New Roman" panose="02020603050405020304" pitchFamily="18" charset="0"/>
                <a:sym typeface="Symbol" panose="05050102010706020507" pitchFamily="18" charset="2"/>
              </a:rPr>
              <a:t>被分成2个连通分</a:t>
            </a:r>
          </a:p>
          <a:p>
            <a:pPr marL="609600" indent="-609600" eaLnBrk="1" hangingPunct="1">
              <a:buFontTx/>
              <a:buNone/>
            </a:pPr>
            <a:r>
              <a:rPr lang="zh-CN" altLang="en-US" sz="1200" b="1" dirty="0">
                <a:latin typeface="Times New Roman" panose="02020603050405020304" pitchFamily="18" charset="0"/>
                <a:cs typeface="Times New Roman" panose="02020603050405020304" pitchFamily="18" charset="0"/>
                <a:sym typeface="Symbol" panose="05050102010706020507" pitchFamily="18" charset="2"/>
              </a:rPr>
              <a:t>支, 设它们分别有</a:t>
            </a:r>
            <a:r>
              <a:rPr lang="en-US" altLang="zh-CN" sz="1200" b="1" i="1" dirty="0">
                <a:latin typeface="Times New Roman" panose="02020603050405020304" pitchFamily="18" charset="0"/>
                <a:cs typeface="Times New Roman" panose="02020603050405020304" pitchFamily="18" charset="0"/>
                <a:sym typeface="Symbol" panose="05050102010706020507" pitchFamily="18" charset="2"/>
              </a:rPr>
              <a:t>n</a:t>
            </a:r>
            <a:r>
              <a:rPr lang="en-US" altLang="zh-CN" sz="1200" b="1" baseline="-25000" dirty="0">
                <a:latin typeface="Times New Roman" panose="02020603050405020304" pitchFamily="18" charset="0"/>
                <a:cs typeface="Times New Roman" panose="02020603050405020304" pitchFamily="18" charset="0"/>
                <a:sym typeface="Symbol" panose="05050102010706020507" pitchFamily="18" charset="2"/>
              </a:rPr>
              <a:t>1</a:t>
            </a:r>
            <a:r>
              <a:rPr lang="en-US" altLang="zh-CN" sz="1200" b="1" dirty="0">
                <a:latin typeface="Times New Roman" panose="02020603050405020304" pitchFamily="18" charset="0"/>
                <a:cs typeface="Times New Roman" panose="02020603050405020304" pitchFamily="18" charset="0"/>
                <a:sym typeface="Symbol" panose="05050102010706020507" pitchFamily="18" charset="2"/>
              </a:rPr>
              <a:t>, </a:t>
            </a:r>
            <a:r>
              <a:rPr lang="en-US" altLang="zh-CN" sz="1200" b="1" i="1" dirty="0">
                <a:latin typeface="Times New Roman" panose="02020603050405020304" pitchFamily="18" charset="0"/>
                <a:cs typeface="Times New Roman" panose="02020603050405020304" pitchFamily="18" charset="0"/>
                <a:sym typeface="Symbol" panose="05050102010706020507" pitchFamily="18" charset="2"/>
              </a:rPr>
              <a:t>n</a:t>
            </a:r>
            <a:r>
              <a:rPr lang="en-US" altLang="zh-CN" sz="1200" b="1" baseline="-25000" dirty="0">
                <a:latin typeface="Times New Roman" panose="02020603050405020304" pitchFamily="18" charset="0"/>
                <a:cs typeface="Times New Roman" panose="02020603050405020304" pitchFamily="18" charset="0"/>
                <a:sym typeface="Symbol" panose="05050102010706020507" pitchFamily="18" charset="2"/>
              </a:rPr>
              <a:t>2</a:t>
            </a:r>
            <a:r>
              <a:rPr lang="zh-CN" altLang="en-US" sz="1200" b="1" dirty="0">
                <a:latin typeface="Times New Roman" panose="02020603050405020304" pitchFamily="18" charset="0"/>
                <a:cs typeface="Times New Roman" panose="02020603050405020304" pitchFamily="18" charset="0"/>
                <a:sym typeface="Symbol" panose="05050102010706020507" pitchFamily="18" charset="2"/>
              </a:rPr>
              <a:t>个顶点和</a:t>
            </a:r>
            <a:r>
              <a:rPr lang="en-US" altLang="zh-CN" sz="1200" b="1" i="1" dirty="0">
                <a:latin typeface="Times New Roman" panose="02020603050405020304" pitchFamily="18" charset="0"/>
                <a:cs typeface="Times New Roman" panose="02020603050405020304" pitchFamily="18" charset="0"/>
                <a:sym typeface="Symbol" panose="05050102010706020507" pitchFamily="18" charset="2"/>
              </a:rPr>
              <a:t>m</a:t>
            </a:r>
            <a:r>
              <a:rPr lang="en-US" altLang="zh-CN" sz="1200" b="1" baseline="-25000" dirty="0">
                <a:latin typeface="Times New Roman" panose="02020603050405020304" pitchFamily="18" charset="0"/>
                <a:cs typeface="Times New Roman" panose="02020603050405020304" pitchFamily="18" charset="0"/>
                <a:sym typeface="Symbol" panose="05050102010706020507" pitchFamily="18" charset="2"/>
              </a:rPr>
              <a:t>1</a:t>
            </a:r>
            <a:r>
              <a:rPr lang="en-US" altLang="zh-CN" sz="1200" b="1" dirty="0">
                <a:latin typeface="Times New Roman" panose="02020603050405020304" pitchFamily="18" charset="0"/>
                <a:cs typeface="Times New Roman" panose="02020603050405020304" pitchFamily="18" charset="0"/>
                <a:sym typeface="Symbol" panose="05050102010706020507" pitchFamily="18" charset="2"/>
              </a:rPr>
              <a:t>, </a:t>
            </a:r>
            <a:r>
              <a:rPr lang="en-US" altLang="zh-CN" sz="1200" b="1" i="1" dirty="0">
                <a:latin typeface="Times New Roman" panose="02020603050405020304" pitchFamily="18" charset="0"/>
                <a:cs typeface="Times New Roman" panose="02020603050405020304" pitchFamily="18" charset="0"/>
                <a:sym typeface="Symbol" panose="05050102010706020507" pitchFamily="18" charset="2"/>
              </a:rPr>
              <a:t>m</a:t>
            </a:r>
            <a:r>
              <a:rPr lang="en-US" altLang="zh-CN" sz="1200" b="1" baseline="-25000" dirty="0">
                <a:latin typeface="Times New Roman" panose="02020603050405020304" pitchFamily="18" charset="0"/>
                <a:cs typeface="Times New Roman" panose="02020603050405020304" pitchFamily="18" charset="0"/>
                <a:sym typeface="Symbol" panose="05050102010706020507" pitchFamily="18" charset="2"/>
              </a:rPr>
              <a:t>2</a:t>
            </a:r>
            <a:r>
              <a:rPr lang="zh-CN" altLang="en-US" sz="1200" b="1" dirty="0">
                <a:latin typeface="Times New Roman" panose="02020603050405020304" pitchFamily="18" charset="0"/>
                <a:cs typeface="Times New Roman" panose="02020603050405020304" pitchFamily="18" charset="0"/>
                <a:sym typeface="Symbol" panose="05050102010706020507" pitchFamily="18" charset="2"/>
              </a:rPr>
              <a:t>条边, </a:t>
            </a:r>
            <a:r>
              <a:rPr lang="en-US" altLang="zh-CN" sz="1200" b="1" i="1" dirty="0">
                <a:latin typeface="Times New Roman" panose="02020603050405020304" pitchFamily="18" charset="0"/>
                <a:cs typeface="Times New Roman" panose="02020603050405020304" pitchFamily="18" charset="0"/>
                <a:sym typeface="Symbol" panose="05050102010706020507" pitchFamily="18" charset="2"/>
              </a:rPr>
              <a:t>n</a:t>
            </a:r>
            <a:r>
              <a:rPr lang="en-US" altLang="zh-CN" sz="1200" b="1" baseline="-25000" dirty="0">
                <a:latin typeface="Times New Roman" panose="02020603050405020304" pitchFamily="18" charset="0"/>
                <a:cs typeface="Times New Roman" panose="02020603050405020304" pitchFamily="18" charset="0"/>
                <a:sym typeface="Symbol" panose="05050102010706020507" pitchFamily="18" charset="2"/>
              </a:rPr>
              <a:t>1</a:t>
            </a:r>
            <a:r>
              <a:rPr lang="en-US" altLang="zh-CN" sz="1200" b="1" dirty="0">
                <a:latin typeface="Times New Roman" panose="02020603050405020304" pitchFamily="18" charset="0"/>
                <a:cs typeface="Times New Roman" panose="02020603050405020304" pitchFamily="18" charset="0"/>
                <a:sym typeface="Symbol" panose="05050102010706020507" pitchFamily="18" charset="2"/>
              </a:rPr>
              <a:t></a:t>
            </a:r>
            <a:r>
              <a:rPr lang="en-US" altLang="zh-CN" sz="1200" b="1" i="1" dirty="0">
                <a:latin typeface="Times New Roman" panose="02020603050405020304" pitchFamily="18" charset="0"/>
                <a:cs typeface="Times New Roman" panose="02020603050405020304" pitchFamily="18" charset="0"/>
                <a:sym typeface="Symbol" panose="05050102010706020507" pitchFamily="18" charset="2"/>
              </a:rPr>
              <a:t>k,</a:t>
            </a:r>
            <a:r>
              <a:rPr lang="en-US" altLang="zh-CN" sz="1200" b="1" dirty="0">
                <a:latin typeface="Times New Roman" panose="02020603050405020304" pitchFamily="18" charset="0"/>
                <a:cs typeface="Times New Roman" panose="02020603050405020304" pitchFamily="18" charset="0"/>
                <a:sym typeface="Symbol" panose="05050102010706020507" pitchFamily="18" charset="2"/>
              </a:rPr>
              <a:t> </a:t>
            </a:r>
            <a:r>
              <a:rPr lang="en-US" altLang="zh-CN" sz="1200" b="1" i="1" dirty="0">
                <a:latin typeface="Times New Roman" panose="02020603050405020304" pitchFamily="18" charset="0"/>
                <a:cs typeface="Times New Roman" panose="02020603050405020304" pitchFamily="18" charset="0"/>
                <a:sym typeface="Symbol" panose="05050102010706020507" pitchFamily="18" charset="2"/>
              </a:rPr>
              <a:t>n</a:t>
            </a:r>
            <a:r>
              <a:rPr lang="en-US" altLang="zh-CN" sz="1200" b="1" baseline="-25000" dirty="0">
                <a:latin typeface="Times New Roman" panose="02020603050405020304" pitchFamily="18" charset="0"/>
                <a:cs typeface="Times New Roman" panose="02020603050405020304" pitchFamily="18" charset="0"/>
                <a:sym typeface="Symbol" panose="05050102010706020507" pitchFamily="18" charset="2"/>
              </a:rPr>
              <a:t>2</a:t>
            </a:r>
            <a:r>
              <a:rPr lang="en-US" altLang="zh-CN" sz="1200" b="1" dirty="0">
                <a:latin typeface="Times New Roman" panose="02020603050405020304" pitchFamily="18" charset="0"/>
                <a:cs typeface="Times New Roman" panose="02020603050405020304" pitchFamily="18" charset="0"/>
                <a:sym typeface="Symbol" panose="05050102010706020507" pitchFamily="18" charset="2"/>
              </a:rPr>
              <a:t></a:t>
            </a:r>
            <a:r>
              <a:rPr lang="en-US" altLang="zh-CN" sz="1200" b="1" i="1" dirty="0">
                <a:latin typeface="Times New Roman" panose="02020603050405020304" pitchFamily="18" charset="0"/>
                <a:cs typeface="Times New Roman" panose="02020603050405020304" pitchFamily="18" charset="0"/>
                <a:sym typeface="Symbol" panose="05050102010706020507" pitchFamily="18" charset="2"/>
              </a:rPr>
              <a:t>k. </a:t>
            </a:r>
          </a:p>
          <a:p>
            <a:pPr marL="609600" indent="-609600" eaLnBrk="1" hangingPunct="1">
              <a:buFontTx/>
              <a:buNone/>
            </a:pPr>
            <a:r>
              <a:rPr lang="zh-CN" altLang="en-US" sz="1200" b="1" dirty="0">
                <a:latin typeface="Times New Roman" panose="02020603050405020304" pitchFamily="18" charset="0"/>
                <a:cs typeface="Times New Roman" panose="02020603050405020304" pitchFamily="18" charset="0"/>
                <a:sym typeface="Symbol" panose="05050102010706020507" pitchFamily="18" charset="2"/>
              </a:rPr>
              <a:t>由归纳假设, </a:t>
            </a:r>
            <a:r>
              <a:rPr lang="en-US" altLang="zh-CN" sz="1200" b="1" i="1" dirty="0">
                <a:latin typeface="Times New Roman" panose="02020603050405020304" pitchFamily="18" charset="0"/>
                <a:cs typeface="Times New Roman" panose="02020603050405020304" pitchFamily="18" charset="0"/>
                <a:sym typeface="Symbol" panose="05050102010706020507" pitchFamily="18" charset="2"/>
              </a:rPr>
              <a:t>m</a:t>
            </a:r>
            <a:r>
              <a:rPr lang="en-US" altLang="zh-CN" sz="1200" b="1" baseline="-25000" dirty="0">
                <a:latin typeface="Times New Roman" panose="02020603050405020304" pitchFamily="18" charset="0"/>
                <a:cs typeface="Times New Roman" panose="02020603050405020304" pitchFamily="18" charset="0"/>
                <a:sym typeface="Symbol" panose="05050102010706020507" pitchFamily="18" charset="2"/>
              </a:rPr>
              <a:t>1</a:t>
            </a:r>
            <a:r>
              <a:rPr lang="zh-CN" altLang="en-US" sz="1200" b="1" dirty="0">
                <a:latin typeface="Times New Roman" panose="02020603050405020304" pitchFamily="18" charset="0"/>
                <a:cs typeface="Times New Roman" panose="02020603050405020304" pitchFamily="18" charset="0"/>
                <a:sym typeface="Symbol" panose="05050102010706020507" pitchFamily="18" charset="2"/>
              </a:rPr>
              <a:t>=</a:t>
            </a:r>
            <a:r>
              <a:rPr lang="en-US" altLang="zh-CN" sz="1200" b="1" i="1" dirty="0">
                <a:latin typeface="Times New Roman" panose="02020603050405020304" pitchFamily="18" charset="0"/>
                <a:cs typeface="Times New Roman" panose="02020603050405020304" pitchFamily="18" charset="0"/>
                <a:sym typeface="Symbol" panose="05050102010706020507" pitchFamily="18" charset="2"/>
              </a:rPr>
              <a:t>n</a:t>
            </a:r>
            <a:r>
              <a:rPr lang="en-US" altLang="zh-CN" sz="1200" b="1" baseline="-25000" dirty="0">
                <a:latin typeface="Times New Roman" panose="02020603050405020304" pitchFamily="18" charset="0"/>
                <a:cs typeface="Times New Roman" panose="02020603050405020304" pitchFamily="18" charset="0"/>
                <a:sym typeface="Symbol" panose="05050102010706020507" pitchFamily="18" charset="2"/>
              </a:rPr>
              <a:t>1</a:t>
            </a:r>
            <a:r>
              <a:rPr lang="zh-CN" altLang="en-US" sz="1200" b="1" dirty="0">
                <a:latin typeface="Times New Roman" panose="02020603050405020304" pitchFamily="18" charset="0"/>
                <a:cs typeface="Times New Roman" panose="02020603050405020304" pitchFamily="18" charset="0"/>
                <a:sym typeface="Symbol" panose="05050102010706020507" pitchFamily="18" charset="2"/>
              </a:rPr>
              <a:t>-1, </a:t>
            </a:r>
            <a:r>
              <a:rPr lang="en-US" altLang="zh-CN" sz="1200" b="1" i="1" dirty="0">
                <a:latin typeface="Times New Roman" panose="02020603050405020304" pitchFamily="18" charset="0"/>
                <a:cs typeface="Times New Roman" panose="02020603050405020304" pitchFamily="18" charset="0"/>
                <a:sym typeface="Symbol" panose="05050102010706020507" pitchFamily="18" charset="2"/>
              </a:rPr>
              <a:t>m</a:t>
            </a:r>
            <a:r>
              <a:rPr lang="en-US" altLang="zh-CN" sz="1200" b="1" baseline="-25000" dirty="0">
                <a:latin typeface="Times New Roman" panose="02020603050405020304" pitchFamily="18" charset="0"/>
                <a:cs typeface="Times New Roman" panose="02020603050405020304" pitchFamily="18" charset="0"/>
                <a:sym typeface="Symbol" panose="05050102010706020507" pitchFamily="18" charset="2"/>
              </a:rPr>
              <a:t>2</a:t>
            </a:r>
            <a:r>
              <a:rPr lang="zh-CN" altLang="en-US" sz="1200" b="1" dirty="0">
                <a:latin typeface="Times New Roman" panose="02020603050405020304" pitchFamily="18" charset="0"/>
                <a:cs typeface="Times New Roman" panose="02020603050405020304" pitchFamily="18" charset="0"/>
                <a:sym typeface="Symbol" panose="05050102010706020507" pitchFamily="18" charset="2"/>
              </a:rPr>
              <a:t>=</a:t>
            </a:r>
            <a:r>
              <a:rPr lang="en-US" altLang="zh-CN" sz="1200" b="1" i="1" dirty="0">
                <a:latin typeface="Times New Roman" panose="02020603050405020304" pitchFamily="18" charset="0"/>
                <a:cs typeface="Times New Roman" panose="02020603050405020304" pitchFamily="18" charset="0"/>
                <a:sym typeface="Symbol" panose="05050102010706020507" pitchFamily="18" charset="2"/>
              </a:rPr>
              <a:t>n</a:t>
            </a:r>
            <a:r>
              <a:rPr lang="en-US" altLang="zh-CN" sz="1200" b="1" baseline="-25000" dirty="0">
                <a:latin typeface="Times New Roman" panose="02020603050405020304" pitchFamily="18" charset="0"/>
                <a:cs typeface="Times New Roman" panose="02020603050405020304" pitchFamily="18" charset="0"/>
                <a:sym typeface="Symbol" panose="05050102010706020507" pitchFamily="18" charset="2"/>
              </a:rPr>
              <a:t>2</a:t>
            </a:r>
            <a:r>
              <a:rPr lang="zh-CN" altLang="en-US" sz="1200" b="1" dirty="0">
                <a:latin typeface="Times New Roman" panose="02020603050405020304" pitchFamily="18" charset="0"/>
                <a:cs typeface="Times New Roman" panose="02020603050405020304" pitchFamily="18" charset="0"/>
                <a:sym typeface="Symbol" panose="05050102010706020507" pitchFamily="18" charset="2"/>
              </a:rPr>
              <a:t>-1, 得</a:t>
            </a:r>
            <a:r>
              <a:rPr lang="en-US" altLang="zh-CN" sz="1200" b="1" i="1" dirty="0">
                <a:latin typeface="Times New Roman" panose="02020603050405020304" pitchFamily="18" charset="0"/>
                <a:cs typeface="Times New Roman" panose="02020603050405020304" pitchFamily="18" charset="0"/>
                <a:sym typeface="Symbol" panose="05050102010706020507" pitchFamily="18" charset="2"/>
              </a:rPr>
              <a:t>m</a:t>
            </a:r>
            <a:r>
              <a:rPr lang="en-US" altLang="zh-CN" sz="1200" b="1" dirty="0">
                <a:latin typeface="Times New Roman" panose="02020603050405020304" pitchFamily="18" charset="0"/>
                <a:cs typeface="Times New Roman" panose="02020603050405020304" pitchFamily="18" charset="0"/>
                <a:sym typeface="Symbol" panose="05050102010706020507" pitchFamily="18" charset="2"/>
              </a:rPr>
              <a:t>= </a:t>
            </a:r>
            <a:r>
              <a:rPr lang="en-US" altLang="zh-CN" sz="1200" b="1" i="1" dirty="0">
                <a:latin typeface="Times New Roman" panose="02020603050405020304" pitchFamily="18" charset="0"/>
                <a:cs typeface="Times New Roman" panose="02020603050405020304" pitchFamily="18" charset="0"/>
                <a:sym typeface="Symbol" panose="05050102010706020507" pitchFamily="18" charset="2"/>
              </a:rPr>
              <a:t>m</a:t>
            </a:r>
            <a:r>
              <a:rPr lang="en-US" altLang="zh-CN" sz="1200" b="1" baseline="-25000" dirty="0">
                <a:latin typeface="Times New Roman" panose="02020603050405020304" pitchFamily="18" charset="0"/>
                <a:cs typeface="Times New Roman" panose="02020603050405020304" pitchFamily="18" charset="0"/>
                <a:sym typeface="Symbol" panose="05050102010706020507" pitchFamily="18" charset="2"/>
              </a:rPr>
              <a:t>1</a:t>
            </a:r>
            <a:r>
              <a:rPr lang="en-US" altLang="zh-CN" sz="1200" b="1" dirty="0">
                <a:latin typeface="Times New Roman" panose="02020603050405020304" pitchFamily="18" charset="0"/>
                <a:cs typeface="Times New Roman" panose="02020603050405020304" pitchFamily="18" charset="0"/>
                <a:sym typeface="Symbol" panose="05050102010706020507" pitchFamily="18" charset="2"/>
              </a:rPr>
              <a:t>+</a:t>
            </a:r>
            <a:r>
              <a:rPr lang="en-US" altLang="zh-CN" sz="1200" b="1" i="1" dirty="0">
                <a:latin typeface="Times New Roman" panose="02020603050405020304" pitchFamily="18" charset="0"/>
                <a:cs typeface="Times New Roman" panose="02020603050405020304" pitchFamily="18" charset="0"/>
                <a:sym typeface="Symbol" panose="05050102010706020507" pitchFamily="18" charset="2"/>
              </a:rPr>
              <a:t>m</a:t>
            </a:r>
            <a:r>
              <a:rPr lang="en-US" altLang="zh-CN" sz="1200" b="1" baseline="-25000" dirty="0">
                <a:latin typeface="Times New Roman" panose="02020603050405020304" pitchFamily="18" charset="0"/>
                <a:cs typeface="Times New Roman" panose="02020603050405020304" pitchFamily="18" charset="0"/>
                <a:sym typeface="Symbol" panose="05050102010706020507" pitchFamily="18" charset="2"/>
              </a:rPr>
              <a:t>2</a:t>
            </a:r>
            <a:r>
              <a:rPr lang="en-US" altLang="zh-CN" sz="1200" b="1" dirty="0">
                <a:latin typeface="Times New Roman" panose="02020603050405020304" pitchFamily="18" charset="0"/>
                <a:cs typeface="Times New Roman" panose="02020603050405020304" pitchFamily="18" charset="0"/>
                <a:sym typeface="Symbol" panose="05050102010706020507" pitchFamily="18" charset="2"/>
              </a:rPr>
              <a:t>+1= </a:t>
            </a:r>
            <a:r>
              <a:rPr lang="en-US" altLang="zh-CN" sz="1200" b="1" i="1" dirty="0">
                <a:latin typeface="Times New Roman" panose="02020603050405020304" pitchFamily="18" charset="0"/>
                <a:cs typeface="Times New Roman" panose="02020603050405020304" pitchFamily="18" charset="0"/>
                <a:sym typeface="Symbol" panose="05050102010706020507" pitchFamily="18" charset="2"/>
              </a:rPr>
              <a:t>n</a:t>
            </a:r>
            <a:r>
              <a:rPr lang="en-US" altLang="zh-CN" sz="1200" b="1" dirty="0">
                <a:latin typeface="Times New Roman" panose="02020603050405020304" pitchFamily="18" charset="0"/>
                <a:cs typeface="Times New Roman" panose="02020603050405020304" pitchFamily="18" charset="0"/>
                <a:sym typeface="Symbol" panose="05050102010706020507" pitchFamily="18" charset="2"/>
              </a:rPr>
              <a:t>-1</a:t>
            </a:r>
            <a:endParaRPr lang="zh-CN" altLang="en-US" dirty="0"/>
          </a:p>
        </p:txBody>
      </p:sp>
      <p:sp>
        <p:nvSpPr>
          <p:cNvPr id="4" name="灯片编号占位符 3"/>
          <p:cNvSpPr>
            <a:spLocks noGrp="1"/>
          </p:cNvSpPr>
          <p:nvPr>
            <p:ph type="sldNum" sz="quarter" idx="10"/>
          </p:nvPr>
        </p:nvSpPr>
        <p:spPr/>
        <p:txBody>
          <a:bodyPr/>
          <a:lstStyle/>
          <a:p>
            <a:fld id="{CAFE74B6-F93C-4D90-BE1A-7EFEDB35C0D4}" type="slidenum">
              <a:rPr lang="zh-CN" altLang="en-US" smtClean="0"/>
              <a:t>28</a:t>
            </a:fld>
            <a:endParaRPr lang="zh-CN" altLang="en-US"/>
          </a:p>
        </p:txBody>
      </p:sp>
    </p:spTree>
    <p:extLst>
      <p:ext uri="{BB962C8B-B14F-4D97-AF65-F5344CB8AC3E}">
        <p14:creationId xmlns:p14="http://schemas.microsoft.com/office/powerpoint/2010/main" val="3734589078"/>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教材中略掉了证明</a:t>
            </a:r>
            <a:endParaRPr lang="en-US" altLang="zh-CN" dirty="0"/>
          </a:p>
          <a:p>
            <a:pPr marL="609600" indent="-609600" eaLnBrk="1" hangingPunct="1">
              <a:buFontTx/>
              <a:buNone/>
            </a:pPr>
            <a:r>
              <a:rPr lang="en-US" altLang="zh-CN" sz="1200" b="1" dirty="0">
                <a:latin typeface="Times New Roman" panose="02020603050405020304" pitchFamily="18" charset="0"/>
                <a:cs typeface="Times New Roman" panose="02020603050405020304" pitchFamily="18" charset="0"/>
                <a:sym typeface="Symbol" panose="05050102010706020507" pitchFamily="18" charset="2"/>
              </a:rPr>
              <a:t>(1)(2) </a:t>
            </a:r>
            <a:r>
              <a:rPr lang="zh-CN" altLang="en-US" sz="1200" b="1" dirty="0">
                <a:latin typeface="Times New Roman" panose="02020603050405020304" pitchFamily="18" charset="0"/>
                <a:cs typeface="Times New Roman" panose="02020603050405020304" pitchFamily="18" charset="0"/>
                <a:sym typeface="Symbol" panose="05050102010706020507" pitchFamily="18" charset="2"/>
              </a:rPr>
              <a:t>由连通性, 任意2个顶点之间有一条路径. 又, 假设</a:t>
            </a:r>
          </a:p>
          <a:p>
            <a:pPr marL="609600" indent="-609600" eaLnBrk="1" hangingPunct="1">
              <a:buFontTx/>
              <a:buNone/>
            </a:pPr>
            <a:r>
              <a:rPr lang="zh-CN" altLang="en-US" sz="1200" b="1" dirty="0">
                <a:latin typeface="Times New Roman" panose="02020603050405020304" pitchFamily="18" charset="0"/>
                <a:cs typeface="Times New Roman" panose="02020603050405020304" pitchFamily="18" charset="0"/>
                <a:sym typeface="Symbol" panose="05050102010706020507" pitchFamily="18" charset="2"/>
              </a:rPr>
              <a:t>某2个顶点之间有2条路径, 则这2条路径可组合成一条回</a:t>
            </a:r>
          </a:p>
          <a:p>
            <a:pPr marL="609600" indent="-609600" eaLnBrk="1" hangingPunct="1">
              <a:buFontTx/>
              <a:buNone/>
            </a:pPr>
            <a:r>
              <a:rPr lang="zh-CN" altLang="en-US" sz="1200" b="1" dirty="0">
                <a:latin typeface="Times New Roman" panose="02020603050405020304" pitchFamily="18" charset="0"/>
                <a:cs typeface="Times New Roman" panose="02020603050405020304" pitchFamily="18" charset="0"/>
                <a:sym typeface="Symbol" panose="05050102010706020507" pitchFamily="18" charset="2"/>
              </a:rPr>
              <a:t>路, 与树的定义矛盾.</a:t>
            </a:r>
          </a:p>
          <a:p>
            <a:pPr marL="609600" indent="-609600" eaLnBrk="1" hangingPunct="1">
              <a:buFontTx/>
              <a:buNone/>
            </a:pPr>
            <a:endParaRPr lang="zh-CN" altLang="en-US" sz="1200" b="1" dirty="0">
              <a:latin typeface="Times New Roman" panose="02020603050405020304" pitchFamily="18" charset="0"/>
              <a:cs typeface="Times New Roman" panose="02020603050405020304" pitchFamily="18" charset="0"/>
              <a:sym typeface="Symbol" panose="05050102010706020507" pitchFamily="18" charset="2"/>
            </a:endParaRPr>
          </a:p>
          <a:p>
            <a:pPr marL="609600" indent="-609600" eaLnBrk="1" hangingPunct="1">
              <a:buFontTx/>
              <a:buNone/>
            </a:pPr>
            <a:r>
              <a:rPr lang="zh-CN" altLang="en-US" sz="1200" b="1" dirty="0">
                <a:latin typeface="Times New Roman" panose="02020603050405020304" pitchFamily="18" charset="0"/>
                <a:cs typeface="Times New Roman" panose="02020603050405020304" pitchFamily="18" charset="0"/>
                <a:sym typeface="Symbol" panose="05050102010706020507" pitchFamily="18" charset="2"/>
              </a:rPr>
              <a:t>(2)</a:t>
            </a:r>
            <a:r>
              <a:rPr lang="en-US" altLang="zh-CN" sz="1200" b="1" dirty="0">
                <a:latin typeface="Times New Roman" panose="02020603050405020304" pitchFamily="18" charset="0"/>
                <a:cs typeface="Times New Roman" panose="02020603050405020304" pitchFamily="18" charset="0"/>
                <a:sym typeface="Symbol" panose="05050102010706020507" pitchFamily="18" charset="2"/>
              </a:rPr>
              <a:t>(3) </a:t>
            </a:r>
            <a:r>
              <a:rPr lang="zh-CN" altLang="en-US" sz="1200" b="1" dirty="0">
                <a:latin typeface="Times New Roman" panose="02020603050405020304" pitchFamily="18" charset="0"/>
                <a:cs typeface="Times New Roman" panose="02020603050405020304" pitchFamily="18" charset="0"/>
                <a:sym typeface="Symbol" panose="05050102010706020507" pitchFamily="18" charset="2"/>
              </a:rPr>
              <a:t>显然连通, 要证</a:t>
            </a:r>
            <a:r>
              <a:rPr lang="en-US" altLang="zh-CN" sz="1200" b="1" i="1" dirty="0">
                <a:latin typeface="Times New Roman" panose="02020603050405020304" pitchFamily="18" charset="0"/>
                <a:cs typeface="Times New Roman" panose="02020603050405020304" pitchFamily="18" charset="0"/>
              </a:rPr>
              <a:t>m</a:t>
            </a:r>
            <a:r>
              <a:rPr lang="en-US" altLang="zh-CN" sz="1200" b="1" dirty="0">
                <a:latin typeface="Times New Roman" panose="02020603050405020304" pitchFamily="18" charset="0"/>
                <a:cs typeface="Times New Roman" panose="02020603050405020304" pitchFamily="18" charset="0"/>
              </a:rPr>
              <a:t>=</a:t>
            </a:r>
            <a:r>
              <a:rPr lang="en-US" altLang="zh-CN" sz="1200" b="1" i="1" dirty="0">
                <a:latin typeface="Times New Roman" panose="02020603050405020304" pitchFamily="18" charset="0"/>
                <a:cs typeface="Times New Roman" panose="02020603050405020304" pitchFamily="18" charset="0"/>
              </a:rPr>
              <a:t>n</a:t>
            </a:r>
            <a:r>
              <a:rPr lang="en-US" altLang="zh-CN" sz="1200" b="1" dirty="0">
                <a:latin typeface="Times New Roman" panose="02020603050405020304" pitchFamily="18" charset="0"/>
                <a:cs typeface="Times New Roman" panose="02020603050405020304" pitchFamily="18" charset="0"/>
                <a:sym typeface="Symbol" panose="05050102010706020507" pitchFamily="18" charset="2"/>
              </a:rPr>
              <a:t></a:t>
            </a:r>
            <a:r>
              <a:rPr lang="en-US" altLang="zh-CN" sz="1200" b="1" dirty="0">
                <a:latin typeface="Times New Roman" panose="02020603050405020304" pitchFamily="18" charset="0"/>
                <a:cs typeface="Times New Roman" panose="02020603050405020304" pitchFamily="18" charset="0"/>
              </a:rPr>
              <a:t>1. </a:t>
            </a:r>
            <a:r>
              <a:rPr lang="zh-CN" altLang="en-US" sz="1200" b="1" dirty="0">
                <a:latin typeface="Times New Roman" panose="02020603050405020304" pitchFamily="18" charset="0"/>
                <a:cs typeface="Times New Roman" panose="02020603050405020304" pitchFamily="18" charset="0"/>
              </a:rPr>
              <a:t>对</a:t>
            </a:r>
            <a:r>
              <a:rPr lang="en-US" altLang="zh-CN" sz="1200" b="1" i="1" dirty="0">
                <a:latin typeface="Times New Roman" panose="02020603050405020304" pitchFamily="18" charset="0"/>
                <a:cs typeface="Times New Roman" panose="02020603050405020304" pitchFamily="18" charset="0"/>
              </a:rPr>
              <a:t>n</a:t>
            </a:r>
            <a:r>
              <a:rPr lang="zh-CN" altLang="en-US" sz="1200" b="1" dirty="0">
                <a:latin typeface="Times New Roman" panose="02020603050405020304" pitchFamily="18" charset="0"/>
                <a:cs typeface="Times New Roman" panose="02020603050405020304" pitchFamily="18" charset="0"/>
              </a:rPr>
              <a:t>作归纳证明. </a:t>
            </a:r>
          </a:p>
          <a:p>
            <a:pPr marL="609600" indent="-609600" eaLnBrk="1" hangingPunct="1">
              <a:buFontTx/>
              <a:buNone/>
            </a:pPr>
            <a:r>
              <a:rPr lang="zh-CN" altLang="en-US" sz="1200" b="1" dirty="0">
                <a:latin typeface="Times New Roman" panose="02020603050405020304" pitchFamily="18" charset="0"/>
                <a:cs typeface="Times New Roman" panose="02020603050405020304" pitchFamily="18" charset="0"/>
              </a:rPr>
              <a:t>当</a:t>
            </a:r>
            <a:r>
              <a:rPr lang="en-US" altLang="zh-CN" sz="1200" b="1" i="1" dirty="0">
                <a:latin typeface="Times New Roman" panose="02020603050405020304" pitchFamily="18" charset="0"/>
                <a:cs typeface="Times New Roman" panose="02020603050405020304" pitchFamily="18" charset="0"/>
              </a:rPr>
              <a:t>n</a:t>
            </a:r>
            <a:r>
              <a:rPr lang="en-US" altLang="zh-CN" sz="1200" b="1" dirty="0">
                <a:latin typeface="Times New Roman" panose="02020603050405020304" pitchFamily="18" charset="0"/>
                <a:cs typeface="Times New Roman" panose="02020603050405020304" pitchFamily="18" charset="0"/>
              </a:rPr>
              <a:t>=1</a:t>
            </a:r>
            <a:r>
              <a:rPr lang="zh-CN" altLang="en-US" sz="1200" b="1" dirty="0">
                <a:latin typeface="Times New Roman" panose="02020603050405020304" pitchFamily="18" charset="0"/>
                <a:cs typeface="Times New Roman" panose="02020603050405020304" pitchFamily="18" charset="0"/>
              </a:rPr>
              <a:t>时, 显然</a:t>
            </a:r>
            <a:r>
              <a:rPr lang="en-US" altLang="zh-CN" sz="1200" b="1" i="1" dirty="0">
                <a:latin typeface="Times New Roman" panose="02020603050405020304" pitchFamily="18" charset="0"/>
                <a:cs typeface="Times New Roman" panose="02020603050405020304" pitchFamily="18" charset="0"/>
              </a:rPr>
              <a:t>m</a:t>
            </a:r>
            <a:r>
              <a:rPr lang="en-US" altLang="zh-CN" sz="1200" b="1" dirty="0">
                <a:latin typeface="Times New Roman" panose="02020603050405020304" pitchFamily="18" charset="0"/>
                <a:cs typeface="Times New Roman" panose="02020603050405020304" pitchFamily="18" charset="0"/>
              </a:rPr>
              <a:t>=0, </a:t>
            </a:r>
            <a:r>
              <a:rPr lang="zh-CN" altLang="en-US" sz="1200" b="1" dirty="0">
                <a:latin typeface="Times New Roman" panose="02020603050405020304" pitchFamily="18" charset="0"/>
                <a:cs typeface="Times New Roman" panose="02020603050405020304" pitchFamily="18" charset="0"/>
              </a:rPr>
              <a:t>结论成立. </a:t>
            </a:r>
          </a:p>
          <a:p>
            <a:pPr marL="609600" indent="-609600" eaLnBrk="1" hangingPunct="1">
              <a:buFontTx/>
              <a:buNone/>
            </a:pPr>
            <a:r>
              <a:rPr lang="zh-CN" altLang="en-US" sz="1200" b="1" dirty="0">
                <a:latin typeface="Times New Roman" panose="02020603050405020304" pitchFamily="18" charset="0"/>
                <a:cs typeface="Times New Roman" panose="02020603050405020304" pitchFamily="18" charset="0"/>
              </a:rPr>
              <a:t>假设当</a:t>
            </a:r>
            <a:r>
              <a:rPr lang="en-US" altLang="zh-CN" sz="1200" b="1" i="1" dirty="0" err="1">
                <a:latin typeface="Times New Roman" panose="02020603050405020304" pitchFamily="18" charset="0"/>
                <a:cs typeface="Times New Roman" panose="02020603050405020304" pitchFamily="18" charset="0"/>
              </a:rPr>
              <a:t>n</a:t>
            </a:r>
            <a:r>
              <a:rPr lang="en-US" altLang="zh-CN" sz="1200" b="1" dirty="0" err="1">
                <a:latin typeface="Times New Roman" panose="02020603050405020304" pitchFamily="18" charset="0"/>
                <a:cs typeface="Times New Roman" panose="02020603050405020304" pitchFamily="18" charset="0"/>
                <a:sym typeface="Symbol" panose="05050102010706020507" pitchFamily="18" charset="2"/>
              </a:rPr>
              <a:t></a:t>
            </a:r>
            <a:r>
              <a:rPr lang="en-US" altLang="zh-CN" sz="1200" b="1" i="1" dirty="0" err="1">
                <a:latin typeface="Times New Roman" panose="02020603050405020304" pitchFamily="18" charset="0"/>
                <a:cs typeface="Times New Roman" panose="02020603050405020304" pitchFamily="18" charset="0"/>
                <a:sym typeface="Symbol" panose="05050102010706020507" pitchFamily="18" charset="2"/>
              </a:rPr>
              <a:t>k</a:t>
            </a:r>
            <a:r>
              <a:rPr lang="en-US" altLang="zh-CN" sz="1200" b="1" dirty="0">
                <a:latin typeface="Times New Roman" panose="02020603050405020304" pitchFamily="18" charset="0"/>
                <a:cs typeface="Times New Roman" panose="02020603050405020304" pitchFamily="18" charset="0"/>
                <a:sym typeface="Symbol" panose="05050102010706020507" pitchFamily="18" charset="2"/>
              </a:rPr>
              <a:t>(</a:t>
            </a:r>
            <a:r>
              <a:rPr lang="en-US" altLang="zh-CN" sz="1200" b="1" i="1" dirty="0">
                <a:latin typeface="Times New Roman" panose="02020603050405020304" pitchFamily="18" charset="0"/>
                <a:cs typeface="Times New Roman" panose="02020603050405020304" pitchFamily="18" charset="0"/>
                <a:sym typeface="Symbol" panose="05050102010706020507" pitchFamily="18" charset="2"/>
              </a:rPr>
              <a:t>k</a:t>
            </a:r>
            <a:r>
              <a:rPr lang="en-US" altLang="zh-CN" sz="1200" b="1" dirty="0">
                <a:latin typeface="Times New Roman" panose="02020603050405020304" pitchFamily="18" charset="0"/>
                <a:cs typeface="Times New Roman" panose="02020603050405020304" pitchFamily="18" charset="0"/>
                <a:sym typeface="Symbol" panose="05050102010706020507" pitchFamily="18" charset="2"/>
              </a:rPr>
              <a:t>1)</a:t>
            </a:r>
            <a:r>
              <a:rPr lang="zh-CN" altLang="en-US" sz="1200" b="1" dirty="0">
                <a:latin typeface="Times New Roman" panose="02020603050405020304" pitchFamily="18" charset="0"/>
                <a:cs typeface="Times New Roman" panose="02020603050405020304" pitchFamily="18" charset="0"/>
                <a:sym typeface="Symbol" panose="05050102010706020507" pitchFamily="18" charset="2"/>
              </a:rPr>
              <a:t>时结论成立, 考虑</a:t>
            </a:r>
            <a:r>
              <a:rPr lang="en-US" altLang="zh-CN" sz="1200" b="1" i="1" dirty="0">
                <a:latin typeface="Times New Roman" panose="02020603050405020304" pitchFamily="18" charset="0"/>
                <a:cs typeface="Times New Roman" panose="02020603050405020304" pitchFamily="18" charset="0"/>
              </a:rPr>
              <a:t>n</a:t>
            </a:r>
            <a:r>
              <a:rPr lang="en-US" altLang="zh-CN" sz="1200" b="1" dirty="0">
                <a:latin typeface="Times New Roman" panose="02020603050405020304" pitchFamily="18" charset="0"/>
                <a:cs typeface="Times New Roman" panose="02020603050405020304" pitchFamily="18" charset="0"/>
                <a:sym typeface="Symbol" panose="05050102010706020507" pitchFamily="18" charset="2"/>
              </a:rPr>
              <a:t>=</a:t>
            </a:r>
            <a:r>
              <a:rPr lang="en-US" altLang="zh-CN" sz="1200" b="1" i="1" dirty="0">
                <a:latin typeface="Times New Roman" panose="02020603050405020304" pitchFamily="18" charset="0"/>
                <a:cs typeface="Times New Roman" panose="02020603050405020304" pitchFamily="18" charset="0"/>
                <a:sym typeface="Symbol" panose="05050102010706020507" pitchFamily="18" charset="2"/>
              </a:rPr>
              <a:t>k</a:t>
            </a:r>
            <a:r>
              <a:rPr lang="zh-CN" altLang="en-US" sz="1200" b="1" dirty="0">
                <a:latin typeface="Times New Roman" panose="02020603050405020304" pitchFamily="18" charset="0"/>
                <a:cs typeface="Times New Roman" panose="02020603050405020304" pitchFamily="18" charset="0"/>
                <a:sym typeface="Symbol" panose="05050102010706020507" pitchFamily="18" charset="2"/>
              </a:rPr>
              <a:t>+1. 任取一条边</a:t>
            </a:r>
            <a:r>
              <a:rPr lang="en-US" altLang="zh-CN" sz="1200" b="1" i="1" dirty="0">
                <a:latin typeface="Times New Roman" panose="02020603050405020304" pitchFamily="18" charset="0"/>
                <a:cs typeface="Times New Roman" panose="02020603050405020304" pitchFamily="18" charset="0"/>
                <a:sym typeface="Symbol" panose="05050102010706020507" pitchFamily="18" charset="2"/>
              </a:rPr>
              <a:t>e</a:t>
            </a:r>
            <a:r>
              <a:rPr lang="en-US" altLang="zh-CN" sz="1200" b="1" dirty="0">
                <a:latin typeface="Times New Roman" panose="02020603050405020304" pitchFamily="18" charset="0"/>
                <a:cs typeface="Times New Roman" panose="02020603050405020304" pitchFamily="18" charset="0"/>
                <a:sym typeface="Symbol" panose="05050102010706020507" pitchFamily="18" charset="2"/>
              </a:rPr>
              <a:t>=</a:t>
            </a:r>
          </a:p>
          <a:p>
            <a:pPr marL="609600" indent="-609600" eaLnBrk="1" hangingPunct="1">
              <a:buFontTx/>
              <a:buNone/>
            </a:pPr>
            <a:r>
              <a:rPr lang="en-US" altLang="zh-CN" sz="1200" b="1" dirty="0">
                <a:latin typeface="Times New Roman" panose="02020603050405020304" pitchFamily="18" charset="0"/>
                <a:cs typeface="Times New Roman" panose="02020603050405020304" pitchFamily="18" charset="0"/>
                <a:sym typeface="Symbol" panose="05050102010706020507" pitchFamily="18" charset="2"/>
              </a:rPr>
              <a:t>(</a:t>
            </a:r>
            <a:r>
              <a:rPr lang="en-US" altLang="zh-CN" sz="1200" b="1" i="1" dirty="0" err="1">
                <a:latin typeface="Times New Roman" panose="02020603050405020304" pitchFamily="18" charset="0"/>
                <a:cs typeface="Times New Roman" panose="02020603050405020304" pitchFamily="18" charset="0"/>
                <a:sym typeface="Symbol" panose="05050102010706020507" pitchFamily="18" charset="2"/>
              </a:rPr>
              <a:t>u,v</a:t>
            </a:r>
            <a:r>
              <a:rPr lang="en-US" altLang="zh-CN" sz="1200" b="1" dirty="0">
                <a:latin typeface="Times New Roman" panose="02020603050405020304" pitchFamily="18" charset="0"/>
                <a:cs typeface="Times New Roman" panose="02020603050405020304" pitchFamily="18" charset="0"/>
                <a:sym typeface="Symbol" panose="05050102010706020507" pitchFamily="18" charset="2"/>
              </a:rPr>
              <a:t>), </a:t>
            </a:r>
            <a:r>
              <a:rPr lang="zh-CN" altLang="en-US" sz="1200" b="1" dirty="0">
                <a:latin typeface="Times New Roman" panose="02020603050405020304" pitchFamily="18" charset="0"/>
                <a:cs typeface="Times New Roman" panose="02020603050405020304" pitchFamily="18" charset="0"/>
                <a:sym typeface="Symbol" panose="05050102010706020507" pitchFamily="18" charset="2"/>
              </a:rPr>
              <a:t>它是</a:t>
            </a:r>
            <a:r>
              <a:rPr lang="en-US" altLang="zh-CN" sz="1200" b="1" i="1" dirty="0" err="1">
                <a:latin typeface="Times New Roman" panose="02020603050405020304" pitchFamily="18" charset="0"/>
                <a:cs typeface="Times New Roman" panose="02020603050405020304" pitchFamily="18" charset="0"/>
                <a:sym typeface="Symbol" panose="05050102010706020507" pitchFamily="18" charset="2"/>
              </a:rPr>
              <a:t>u,v</a:t>
            </a:r>
            <a:r>
              <a:rPr lang="zh-CN" altLang="en-US" sz="1200" b="1" dirty="0">
                <a:latin typeface="Times New Roman" panose="02020603050405020304" pitchFamily="18" charset="0"/>
                <a:cs typeface="Times New Roman" panose="02020603050405020304" pitchFamily="18" charset="0"/>
                <a:sym typeface="Symbol" panose="05050102010706020507" pitchFamily="18" charset="2"/>
              </a:rPr>
              <a:t>之间惟一的通路, 删去</a:t>
            </a:r>
            <a:r>
              <a:rPr lang="en-US" altLang="zh-CN" sz="1200" b="1" i="1" dirty="0">
                <a:latin typeface="Times New Roman" panose="02020603050405020304" pitchFamily="18" charset="0"/>
                <a:cs typeface="Times New Roman" panose="02020603050405020304" pitchFamily="18" charset="0"/>
                <a:sym typeface="Symbol" panose="05050102010706020507" pitchFamily="18" charset="2"/>
              </a:rPr>
              <a:t>e</a:t>
            </a:r>
            <a:r>
              <a:rPr lang="en-US" altLang="zh-CN" sz="1200" b="1" dirty="0">
                <a:latin typeface="Times New Roman" panose="02020603050405020304" pitchFamily="18" charset="0"/>
                <a:cs typeface="Times New Roman" panose="02020603050405020304" pitchFamily="18" charset="0"/>
                <a:sym typeface="Symbol" panose="05050102010706020507" pitchFamily="18" charset="2"/>
              </a:rPr>
              <a:t>, </a:t>
            </a:r>
            <a:r>
              <a:rPr lang="en-US" altLang="zh-CN" sz="1200" b="1" i="1" dirty="0">
                <a:latin typeface="Times New Roman" panose="02020603050405020304" pitchFamily="18" charset="0"/>
                <a:cs typeface="Times New Roman" panose="02020603050405020304" pitchFamily="18" charset="0"/>
                <a:sym typeface="Symbol" panose="05050102010706020507" pitchFamily="18" charset="2"/>
              </a:rPr>
              <a:t>G</a:t>
            </a:r>
            <a:r>
              <a:rPr lang="zh-CN" altLang="en-US" sz="1200" b="1" dirty="0">
                <a:latin typeface="Times New Roman" panose="02020603050405020304" pitchFamily="18" charset="0"/>
                <a:cs typeface="Times New Roman" panose="02020603050405020304" pitchFamily="18" charset="0"/>
                <a:sym typeface="Symbol" panose="05050102010706020507" pitchFamily="18" charset="2"/>
              </a:rPr>
              <a:t>被分成2个连通分</a:t>
            </a:r>
          </a:p>
          <a:p>
            <a:pPr marL="609600" indent="-609600" eaLnBrk="1" hangingPunct="1">
              <a:buFontTx/>
              <a:buNone/>
            </a:pPr>
            <a:r>
              <a:rPr lang="zh-CN" altLang="en-US" sz="1200" b="1" dirty="0">
                <a:latin typeface="Times New Roman" panose="02020603050405020304" pitchFamily="18" charset="0"/>
                <a:cs typeface="Times New Roman" panose="02020603050405020304" pitchFamily="18" charset="0"/>
                <a:sym typeface="Symbol" panose="05050102010706020507" pitchFamily="18" charset="2"/>
              </a:rPr>
              <a:t>支, 设它们分别有</a:t>
            </a:r>
            <a:r>
              <a:rPr lang="en-US" altLang="zh-CN" sz="1200" b="1" i="1" dirty="0">
                <a:latin typeface="Times New Roman" panose="02020603050405020304" pitchFamily="18" charset="0"/>
                <a:cs typeface="Times New Roman" panose="02020603050405020304" pitchFamily="18" charset="0"/>
                <a:sym typeface="Symbol" panose="05050102010706020507" pitchFamily="18" charset="2"/>
              </a:rPr>
              <a:t>n</a:t>
            </a:r>
            <a:r>
              <a:rPr lang="en-US" altLang="zh-CN" sz="1200" b="1" baseline="-25000" dirty="0">
                <a:latin typeface="Times New Roman" panose="02020603050405020304" pitchFamily="18" charset="0"/>
                <a:cs typeface="Times New Roman" panose="02020603050405020304" pitchFamily="18" charset="0"/>
                <a:sym typeface="Symbol" panose="05050102010706020507" pitchFamily="18" charset="2"/>
              </a:rPr>
              <a:t>1</a:t>
            </a:r>
            <a:r>
              <a:rPr lang="en-US" altLang="zh-CN" sz="1200" b="1" dirty="0">
                <a:latin typeface="Times New Roman" panose="02020603050405020304" pitchFamily="18" charset="0"/>
                <a:cs typeface="Times New Roman" panose="02020603050405020304" pitchFamily="18" charset="0"/>
                <a:sym typeface="Symbol" panose="05050102010706020507" pitchFamily="18" charset="2"/>
              </a:rPr>
              <a:t>, </a:t>
            </a:r>
            <a:r>
              <a:rPr lang="en-US" altLang="zh-CN" sz="1200" b="1" i="1" dirty="0">
                <a:latin typeface="Times New Roman" panose="02020603050405020304" pitchFamily="18" charset="0"/>
                <a:cs typeface="Times New Roman" panose="02020603050405020304" pitchFamily="18" charset="0"/>
                <a:sym typeface="Symbol" panose="05050102010706020507" pitchFamily="18" charset="2"/>
              </a:rPr>
              <a:t>n</a:t>
            </a:r>
            <a:r>
              <a:rPr lang="en-US" altLang="zh-CN" sz="1200" b="1" baseline="-25000" dirty="0">
                <a:latin typeface="Times New Roman" panose="02020603050405020304" pitchFamily="18" charset="0"/>
                <a:cs typeface="Times New Roman" panose="02020603050405020304" pitchFamily="18" charset="0"/>
                <a:sym typeface="Symbol" panose="05050102010706020507" pitchFamily="18" charset="2"/>
              </a:rPr>
              <a:t>2</a:t>
            </a:r>
            <a:r>
              <a:rPr lang="zh-CN" altLang="en-US" sz="1200" b="1" dirty="0">
                <a:latin typeface="Times New Roman" panose="02020603050405020304" pitchFamily="18" charset="0"/>
                <a:cs typeface="Times New Roman" panose="02020603050405020304" pitchFamily="18" charset="0"/>
                <a:sym typeface="Symbol" panose="05050102010706020507" pitchFamily="18" charset="2"/>
              </a:rPr>
              <a:t>个顶点和</a:t>
            </a:r>
            <a:r>
              <a:rPr lang="en-US" altLang="zh-CN" sz="1200" b="1" i="1" dirty="0">
                <a:latin typeface="Times New Roman" panose="02020603050405020304" pitchFamily="18" charset="0"/>
                <a:cs typeface="Times New Roman" panose="02020603050405020304" pitchFamily="18" charset="0"/>
                <a:sym typeface="Symbol" panose="05050102010706020507" pitchFamily="18" charset="2"/>
              </a:rPr>
              <a:t>m</a:t>
            </a:r>
            <a:r>
              <a:rPr lang="en-US" altLang="zh-CN" sz="1200" b="1" baseline="-25000" dirty="0">
                <a:latin typeface="Times New Roman" panose="02020603050405020304" pitchFamily="18" charset="0"/>
                <a:cs typeface="Times New Roman" panose="02020603050405020304" pitchFamily="18" charset="0"/>
                <a:sym typeface="Symbol" panose="05050102010706020507" pitchFamily="18" charset="2"/>
              </a:rPr>
              <a:t>1</a:t>
            </a:r>
            <a:r>
              <a:rPr lang="en-US" altLang="zh-CN" sz="1200" b="1" dirty="0">
                <a:latin typeface="Times New Roman" panose="02020603050405020304" pitchFamily="18" charset="0"/>
                <a:cs typeface="Times New Roman" panose="02020603050405020304" pitchFamily="18" charset="0"/>
                <a:sym typeface="Symbol" panose="05050102010706020507" pitchFamily="18" charset="2"/>
              </a:rPr>
              <a:t>, </a:t>
            </a:r>
            <a:r>
              <a:rPr lang="en-US" altLang="zh-CN" sz="1200" b="1" i="1" dirty="0">
                <a:latin typeface="Times New Roman" panose="02020603050405020304" pitchFamily="18" charset="0"/>
                <a:cs typeface="Times New Roman" panose="02020603050405020304" pitchFamily="18" charset="0"/>
                <a:sym typeface="Symbol" panose="05050102010706020507" pitchFamily="18" charset="2"/>
              </a:rPr>
              <a:t>m</a:t>
            </a:r>
            <a:r>
              <a:rPr lang="en-US" altLang="zh-CN" sz="1200" b="1" baseline="-25000" dirty="0">
                <a:latin typeface="Times New Roman" panose="02020603050405020304" pitchFamily="18" charset="0"/>
                <a:cs typeface="Times New Roman" panose="02020603050405020304" pitchFamily="18" charset="0"/>
                <a:sym typeface="Symbol" panose="05050102010706020507" pitchFamily="18" charset="2"/>
              </a:rPr>
              <a:t>2</a:t>
            </a:r>
            <a:r>
              <a:rPr lang="zh-CN" altLang="en-US" sz="1200" b="1" dirty="0">
                <a:latin typeface="Times New Roman" panose="02020603050405020304" pitchFamily="18" charset="0"/>
                <a:cs typeface="Times New Roman" panose="02020603050405020304" pitchFamily="18" charset="0"/>
                <a:sym typeface="Symbol" panose="05050102010706020507" pitchFamily="18" charset="2"/>
              </a:rPr>
              <a:t>条边, </a:t>
            </a:r>
            <a:r>
              <a:rPr lang="en-US" altLang="zh-CN" sz="1200" b="1" i="1" dirty="0">
                <a:latin typeface="Times New Roman" panose="02020603050405020304" pitchFamily="18" charset="0"/>
                <a:cs typeface="Times New Roman" panose="02020603050405020304" pitchFamily="18" charset="0"/>
                <a:sym typeface="Symbol" panose="05050102010706020507" pitchFamily="18" charset="2"/>
              </a:rPr>
              <a:t>n</a:t>
            </a:r>
            <a:r>
              <a:rPr lang="en-US" altLang="zh-CN" sz="1200" b="1" baseline="-25000" dirty="0">
                <a:latin typeface="Times New Roman" panose="02020603050405020304" pitchFamily="18" charset="0"/>
                <a:cs typeface="Times New Roman" panose="02020603050405020304" pitchFamily="18" charset="0"/>
                <a:sym typeface="Symbol" panose="05050102010706020507" pitchFamily="18" charset="2"/>
              </a:rPr>
              <a:t>1</a:t>
            </a:r>
            <a:r>
              <a:rPr lang="en-US" altLang="zh-CN" sz="1200" b="1" dirty="0">
                <a:latin typeface="Times New Roman" panose="02020603050405020304" pitchFamily="18" charset="0"/>
                <a:cs typeface="Times New Roman" panose="02020603050405020304" pitchFamily="18" charset="0"/>
                <a:sym typeface="Symbol" panose="05050102010706020507" pitchFamily="18" charset="2"/>
              </a:rPr>
              <a:t></a:t>
            </a:r>
            <a:r>
              <a:rPr lang="en-US" altLang="zh-CN" sz="1200" b="1" i="1" dirty="0">
                <a:latin typeface="Times New Roman" panose="02020603050405020304" pitchFamily="18" charset="0"/>
                <a:cs typeface="Times New Roman" panose="02020603050405020304" pitchFamily="18" charset="0"/>
                <a:sym typeface="Symbol" panose="05050102010706020507" pitchFamily="18" charset="2"/>
              </a:rPr>
              <a:t>k,</a:t>
            </a:r>
            <a:r>
              <a:rPr lang="en-US" altLang="zh-CN" sz="1200" b="1" dirty="0">
                <a:latin typeface="Times New Roman" panose="02020603050405020304" pitchFamily="18" charset="0"/>
                <a:cs typeface="Times New Roman" panose="02020603050405020304" pitchFamily="18" charset="0"/>
                <a:sym typeface="Symbol" panose="05050102010706020507" pitchFamily="18" charset="2"/>
              </a:rPr>
              <a:t> </a:t>
            </a:r>
            <a:r>
              <a:rPr lang="en-US" altLang="zh-CN" sz="1200" b="1" i="1" dirty="0">
                <a:latin typeface="Times New Roman" panose="02020603050405020304" pitchFamily="18" charset="0"/>
                <a:cs typeface="Times New Roman" panose="02020603050405020304" pitchFamily="18" charset="0"/>
                <a:sym typeface="Symbol" panose="05050102010706020507" pitchFamily="18" charset="2"/>
              </a:rPr>
              <a:t>n</a:t>
            </a:r>
            <a:r>
              <a:rPr lang="en-US" altLang="zh-CN" sz="1200" b="1" baseline="-25000" dirty="0">
                <a:latin typeface="Times New Roman" panose="02020603050405020304" pitchFamily="18" charset="0"/>
                <a:cs typeface="Times New Roman" panose="02020603050405020304" pitchFamily="18" charset="0"/>
                <a:sym typeface="Symbol" panose="05050102010706020507" pitchFamily="18" charset="2"/>
              </a:rPr>
              <a:t>2</a:t>
            </a:r>
            <a:r>
              <a:rPr lang="en-US" altLang="zh-CN" sz="1200" b="1" dirty="0">
                <a:latin typeface="Times New Roman" panose="02020603050405020304" pitchFamily="18" charset="0"/>
                <a:cs typeface="Times New Roman" panose="02020603050405020304" pitchFamily="18" charset="0"/>
                <a:sym typeface="Symbol" panose="05050102010706020507" pitchFamily="18" charset="2"/>
              </a:rPr>
              <a:t></a:t>
            </a:r>
            <a:r>
              <a:rPr lang="en-US" altLang="zh-CN" sz="1200" b="1" i="1" dirty="0">
                <a:latin typeface="Times New Roman" panose="02020603050405020304" pitchFamily="18" charset="0"/>
                <a:cs typeface="Times New Roman" panose="02020603050405020304" pitchFamily="18" charset="0"/>
                <a:sym typeface="Symbol" panose="05050102010706020507" pitchFamily="18" charset="2"/>
              </a:rPr>
              <a:t>k. </a:t>
            </a:r>
          </a:p>
          <a:p>
            <a:pPr marL="609600" indent="-609600" eaLnBrk="1" hangingPunct="1">
              <a:buFontTx/>
              <a:buNone/>
            </a:pPr>
            <a:r>
              <a:rPr lang="zh-CN" altLang="en-US" sz="1200" b="1" dirty="0">
                <a:latin typeface="Times New Roman" panose="02020603050405020304" pitchFamily="18" charset="0"/>
                <a:cs typeface="Times New Roman" panose="02020603050405020304" pitchFamily="18" charset="0"/>
                <a:sym typeface="Symbol" panose="05050102010706020507" pitchFamily="18" charset="2"/>
              </a:rPr>
              <a:t>由归纳假设, </a:t>
            </a:r>
            <a:r>
              <a:rPr lang="en-US" altLang="zh-CN" sz="1200" b="1" i="1" dirty="0">
                <a:latin typeface="Times New Roman" panose="02020603050405020304" pitchFamily="18" charset="0"/>
                <a:cs typeface="Times New Roman" panose="02020603050405020304" pitchFamily="18" charset="0"/>
                <a:sym typeface="Symbol" panose="05050102010706020507" pitchFamily="18" charset="2"/>
              </a:rPr>
              <a:t>m</a:t>
            </a:r>
            <a:r>
              <a:rPr lang="en-US" altLang="zh-CN" sz="1200" b="1" baseline="-25000" dirty="0">
                <a:latin typeface="Times New Roman" panose="02020603050405020304" pitchFamily="18" charset="0"/>
                <a:cs typeface="Times New Roman" panose="02020603050405020304" pitchFamily="18" charset="0"/>
                <a:sym typeface="Symbol" panose="05050102010706020507" pitchFamily="18" charset="2"/>
              </a:rPr>
              <a:t>1</a:t>
            </a:r>
            <a:r>
              <a:rPr lang="zh-CN" altLang="en-US" sz="1200" b="1" dirty="0">
                <a:latin typeface="Times New Roman" panose="02020603050405020304" pitchFamily="18" charset="0"/>
                <a:cs typeface="Times New Roman" panose="02020603050405020304" pitchFamily="18" charset="0"/>
                <a:sym typeface="Symbol" panose="05050102010706020507" pitchFamily="18" charset="2"/>
              </a:rPr>
              <a:t>=</a:t>
            </a:r>
            <a:r>
              <a:rPr lang="en-US" altLang="zh-CN" sz="1200" b="1" i="1" dirty="0">
                <a:latin typeface="Times New Roman" panose="02020603050405020304" pitchFamily="18" charset="0"/>
                <a:cs typeface="Times New Roman" panose="02020603050405020304" pitchFamily="18" charset="0"/>
                <a:sym typeface="Symbol" panose="05050102010706020507" pitchFamily="18" charset="2"/>
              </a:rPr>
              <a:t>n</a:t>
            </a:r>
            <a:r>
              <a:rPr lang="en-US" altLang="zh-CN" sz="1200" b="1" baseline="-25000" dirty="0">
                <a:latin typeface="Times New Roman" panose="02020603050405020304" pitchFamily="18" charset="0"/>
                <a:cs typeface="Times New Roman" panose="02020603050405020304" pitchFamily="18" charset="0"/>
                <a:sym typeface="Symbol" panose="05050102010706020507" pitchFamily="18" charset="2"/>
              </a:rPr>
              <a:t>1</a:t>
            </a:r>
            <a:r>
              <a:rPr lang="zh-CN" altLang="en-US" sz="1200" b="1" dirty="0">
                <a:latin typeface="Times New Roman" panose="02020603050405020304" pitchFamily="18" charset="0"/>
                <a:cs typeface="Times New Roman" panose="02020603050405020304" pitchFamily="18" charset="0"/>
                <a:sym typeface="Symbol" panose="05050102010706020507" pitchFamily="18" charset="2"/>
              </a:rPr>
              <a:t>-1, </a:t>
            </a:r>
            <a:r>
              <a:rPr lang="en-US" altLang="zh-CN" sz="1200" b="1" i="1" dirty="0">
                <a:latin typeface="Times New Roman" panose="02020603050405020304" pitchFamily="18" charset="0"/>
                <a:cs typeface="Times New Roman" panose="02020603050405020304" pitchFamily="18" charset="0"/>
                <a:sym typeface="Symbol" panose="05050102010706020507" pitchFamily="18" charset="2"/>
              </a:rPr>
              <a:t>m</a:t>
            </a:r>
            <a:r>
              <a:rPr lang="en-US" altLang="zh-CN" sz="1200" b="1" baseline="-25000" dirty="0">
                <a:latin typeface="Times New Roman" panose="02020603050405020304" pitchFamily="18" charset="0"/>
                <a:cs typeface="Times New Roman" panose="02020603050405020304" pitchFamily="18" charset="0"/>
                <a:sym typeface="Symbol" panose="05050102010706020507" pitchFamily="18" charset="2"/>
              </a:rPr>
              <a:t>2</a:t>
            </a:r>
            <a:r>
              <a:rPr lang="zh-CN" altLang="en-US" sz="1200" b="1" dirty="0">
                <a:latin typeface="Times New Roman" panose="02020603050405020304" pitchFamily="18" charset="0"/>
                <a:cs typeface="Times New Roman" panose="02020603050405020304" pitchFamily="18" charset="0"/>
                <a:sym typeface="Symbol" panose="05050102010706020507" pitchFamily="18" charset="2"/>
              </a:rPr>
              <a:t>=</a:t>
            </a:r>
            <a:r>
              <a:rPr lang="en-US" altLang="zh-CN" sz="1200" b="1" i="1" dirty="0">
                <a:latin typeface="Times New Roman" panose="02020603050405020304" pitchFamily="18" charset="0"/>
                <a:cs typeface="Times New Roman" panose="02020603050405020304" pitchFamily="18" charset="0"/>
                <a:sym typeface="Symbol" panose="05050102010706020507" pitchFamily="18" charset="2"/>
              </a:rPr>
              <a:t>n</a:t>
            </a:r>
            <a:r>
              <a:rPr lang="en-US" altLang="zh-CN" sz="1200" b="1" baseline="-25000" dirty="0">
                <a:latin typeface="Times New Roman" panose="02020603050405020304" pitchFamily="18" charset="0"/>
                <a:cs typeface="Times New Roman" panose="02020603050405020304" pitchFamily="18" charset="0"/>
                <a:sym typeface="Symbol" panose="05050102010706020507" pitchFamily="18" charset="2"/>
              </a:rPr>
              <a:t>2</a:t>
            </a:r>
            <a:r>
              <a:rPr lang="zh-CN" altLang="en-US" sz="1200" b="1" dirty="0">
                <a:latin typeface="Times New Roman" panose="02020603050405020304" pitchFamily="18" charset="0"/>
                <a:cs typeface="Times New Roman" panose="02020603050405020304" pitchFamily="18" charset="0"/>
                <a:sym typeface="Symbol" panose="05050102010706020507" pitchFamily="18" charset="2"/>
              </a:rPr>
              <a:t>-1, 得</a:t>
            </a:r>
            <a:r>
              <a:rPr lang="en-US" altLang="zh-CN" sz="1200" b="1" i="1" dirty="0">
                <a:latin typeface="Times New Roman" panose="02020603050405020304" pitchFamily="18" charset="0"/>
                <a:cs typeface="Times New Roman" panose="02020603050405020304" pitchFamily="18" charset="0"/>
                <a:sym typeface="Symbol" panose="05050102010706020507" pitchFamily="18" charset="2"/>
              </a:rPr>
              <a:t>m</a:t>
            </a:r>
            <a:r>
              <a:rPr lang="en-US" altLang="zh-CN" sz="1200" b="1" dirty="0">
                <a:latin typeface="Times New Roman" panose="02020603050405020304" pitchFamily="18" charset="0"/>
                <a:cs typeface="Times New Roman" panose="02020603050405020304" pitchFamily="18" charset="0"/>
                <a:sym typeface="Symbol" panose="05050102010706020507" pitchFamily="18" charset="2"/>
              </a:rPr>
              <a:t>= </a:t>
            </a:r>
            <a:r>
              <a:rPr lang="en-US" altLang="zh-CN" sz="1200" b="1" i="1" dirty="0">
                <a:latin typeface="Times New Roman" panose="02020603050405020304" pitchFamily="18" charset="0"/>
                <a:cs typeface="Times New Roman" panose="02020603050405020304" pitchFamily="18" charset="0"/>
                <a:sym typeface="Symbol" panose="05050102010706020507" pitchFamily="18" charset="2"/>
              </a:rPr>
              <a:t>m</a:t>
            </a:r>
            <a:r>
              <a:rPr lang="en-US" altLang="zh-CN" sz="1200" b="1" baseline="-25000" dirty="0">
                <a:latin typeface="Times New Roman" panose="02020603050405020304" pitchFamily="18" charset="0"/>
                <a:cs typeface="Times New Roman" panose="02020603050405020304" pitchFamily="18" charset="0"/>
                <a:sym typeface="Symbol" panose="05050102010706020507" pitchFamily="18" charset="2"/>
              </a:rPr>
              <a:t>1</a:t>
            </a:r>
            <a:r>
              <a:rPr lang="en-US" altLang="zh-CN" sz="1200" b="1" dirty="0">
                <a:latin typeface="Times New Roman" panose="02020603050405020304" pitchFamily="18" charset="0"/>
                <a:cs typeface="Times New Roman" panose="02020603050405020304" pitchFamily="18" charset="0"/>
                <a:sym typeface="Symbol" panose="05050102010706020507" pitchFamily="18" charset="2"/>
              </a:rPr>
              <a:t>+</a:t>
            </a:r>
            <a:r>
              <a:rPr lang="en-US" altLang="zh-CN" sz="1200" b="1" i="1" dirty="0">
                <a:latin typeface="Times New Roman" panose="02020603050405020304" pitchFamily="18" charset="0"/>
                <a:cs typeface="Times New Roman" panose="02020603050405020304" pitchFamily="18" charset="0"/>
                <a:sym typeface="Symbol" panose="05050102010706020507" pitchFamily="18" charset="2"/>
              </a:rPr>
              <a:t>m</a:t>
            </a:r>
            <a:r>
              <a:rPr lang="en-US" altLang="zh-CN" sz="1200" b="1" baseline="-25000" dirty="0">
                <a:latin typeface="Times New Roman" panose="02020603050405020304" pitchFamily="18" charset="0"/>
                <a:cs typeface="Times New Roman" panose="02020603050405020304" pitchFamily="18" charset="0"/>
                <a:sym typeface="Symbol" panose="05050102010706020507" pitchFamily="18" charset="2"/>
              </a:rPr>
              <a:t>2</a:t>
            </a:r>
            <a:r>
              <a:rPr lang="en-US" altLang="zh-CN" sz="1200" b="1" dirty="0">
                <a:latin typeface="Times New Roman" panose="02020603050405020304" pitchFamily="18" charset="0"/>
                <a:cs typeface="Times New Roman" panose="02020603050405020304" pitchFamily="18" charset="0"/>
                <a:sym typeface="Symbol" panose="05050102010706020507" pitchFamily="18" charset="2"/>
              </a:rPr>
              <a:t>+1= </a:t>
            </a:r>
            <a:r>
              <a:rPr lang="en-US" altLang="zh-CN" sz="1200" b="1" i="1" dirty="0">
                <a:latin typeface="Times New Roman" panose="02020603050405020304" pitchFamily="18" charset="0"/>
                <a:cs typeface="Times New Roman" panose="02020603050405020304" pitchFamily="18" charset="0"/>
                <a:sym typeface="Symbol" panose="05050102010706020507" pitchFamily="18" charset="2"/>
              </a:rPr>
              <a:t>n</a:t>
            </a:r>
            <a:r>
              <a:rPr lang="en-US" altLang="zh-CN" sz="1200" b="1" dirty="0">
                <a:latin typeface="Times New Roman" panose="02020603050405020304" pitchFamily="18" charset="0"/>
                <a:cs typeface="Times New Roman" panose="02020603050405020304" pitchFamily="18" charset="0"/>
                <a:sym typeface="Symbol" panose="05050102010706020507" pitchFamily="18" charset="2"/>
              </a:rPr>
              <a:t>-1</a:t>
            </a:r>
            <a:endParaRPr lang="zh-CN" altLang="en-US" dirty="0"/>
          </a:p>
        </p:txBody>
      </p:sp>
      <p:sp>
        <p:nvSpPr>
          <p:cNvPr id="4" name="灯片编号占位符 3"/>
          <p:cNvSpPr>
            <a:spLocks noGrp="1"/>
          </p:cNvSpPr>
          <p:nvPr>
            <p:ph type="sldNum" sz="quarter" idx="10"/>
          </p:nvPr>
        </p:nvSpPr>
        <p:spPr/>
        <p:txBody>
          <a:bodyPr/>
          <a:lstStyle/>
          <a:p>
            <a:fld id="{CAFE74B6-F93C-4D90-BE1A-7EFEDB35C0D4}" type="slidenum">
              <a:rPr lang="zh-CN" altLang="en-US" smtClean="0"/>
              <a:t>29</a:t>
            </a:fld>
            <a:endParaRPr lang="zh-CN" altLang="en-US"/>
          </a:p>
        </p:txBody>
      </p:sp>
    </p:spTree>
    <p:extLst>
      <p:ext uri="{BB962C8B-B14F-4D97-AF65-F5344CB8AC3E}">
        <p14:creationId xmlns:p14="http://schemas.microsoft.com/office/powerpoint/2010/main" val="3084494899"/>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教材中略掉了证明</a:t>
            </a:r>
            <a:endParaRPr lang="en-US" altLang="zh-CN" dirty="0"/>
          </a:p>
          <a:p>
            <a:pPr marL="609600" indent="-609600" eaLnBrk="1" hangingPunct="1">
              <a:buFontTx/>
              <a:buNone/>
            </a:pPr>
            <a:r>
              <a:rPr lang="en-US" altLang="zh-CN" sz="1200" b="1" dirty="0">
                <a:latin typeface="Times New Roman" panose="02020603050405020304" pitchFamily="18" charset="0"/>
                <a:cs typeface="Times New Roman" panose="02020603050405020304" pitchFamily="18" charset="0"/>
                <a:sym typeface="Symbol" panose="05050102010706020507" pitchFamily="18" charset="2"/>
              </a:rPr>
              <a:t>(1)(2) </a:t>
            </a:r>
            <a:r>
              <a:rPr lang="zh-CN" altLang="en-US" sz="1200" b="1" dirty="0">
                <a:latin typeface="Times New Roman" panose="02020603050405020304" pitchFamily="18" charset="0"/>
                <a:cs typeface="Times New Roman" panose="02020603050405020304" pitchFamily="18" charset="0"/>
                <a:sym typeface="Symbol" panose="05050102010706020507" pitchFamily="18" charset="2"/>
              </a:rPr>
              <a:t>由连通性, 任意2个顶点之间有一条路径. 又, 假设</a:t>
            </a:r>
          </a:p>
          <a:p>
            <a:pPr marL="609600" indent="-609600" eaLnBrk="1" hangingPunct="1">
              <a:buFontTx/>
              <a:buNone/>
            </a:pPr>
            <a:r>
              <a:rPr lang="zh-CN" altLang="en-US" sz="1200" b="1" dirty="0">
                <a:latin typeface="Times New Roman" panose="02020603050405020304" pitchFamily="18" charset="0"/>
                <a:cs typeface="Times New Roman" panose="02020603050405020304" pitchFamily="18" charset="0"/>
                <a:sym typeface="Symbol" panose="05050102010706020507" pitchFamily="18" charset="2"/>
              </a:rPr>
              <a:t>某2个顶点之间有2条路径, 则这2条路径可组合成一条回</a:t>
            </a:r>
          </a:p>
          <a:p>
            <a:pPr marL="609600" indent="-609600" eaLnBrk="1" hangingPunct="1">
              <a:buFontTx/>
              <a:buNone/>
            </a:pPr>
            <a:r>
              <a:rPr lang="zh-CN" altLang="en-US" sz="1200" b="1" dirty="0">
                <a:latin typeface="Times New Roman" panose="02020603050405020304" pitchFamily="18" charset="0"/>
                <a:cs typeface="Times New Roman" panose="02020603050405020304" pitchFamily="18" charset="0"/>
                <a:sym typeface="Symbol" panose="05050102010706020507" pitchFamily="18" charset="2"/>
              </a:rPr>
              <a:t>路, 与树的定义矛盾.</a:t>
            </a:r>
          </a:p>
          <a:p>
            <a:pPr marL="609600" indent="-609600" eaLnBrk="1" hangingPunct="1">
              <a:buFontTx/>
              <a:buNone/>
            </a:pPr>
            <a:endParaRPr lang="zh-CN" altLang="en-US" sz="1200" b="1" dirty="0">
              <a:latin typeface="Times New Roman" panose="02020603050405020304" pitchFamily="18" charset="0"/>
              <a:cs typeface="Times New Roman" panose="02020603050405020304" pitchFamily="18" charset="0"/>
              <a:sym typeface="Symbol" panose="05050102010706020507" pitchFamily="18" charset="2"/>
            </a:endParaRPr>
          </a:p>
          <a:p>
            <a:pPr marL="609600" indent="-609600" eaLnBrk="1" hangingPunct="1">
              <a:buFontTx/>
              <a:buNone/>
            </a:pPr>
            <a:r>
              <a:rPr lang="zh-CN" altLang="en-US" sz="1200" b="1" dirty="0">
                <a:latin typeface="Times New Roman" panose="02020603050405020304" pitchFamily="18" charset="0"/>
                <a:cs typeface="Times New Roman" panose="02020603050405020304" pitchFamily="18" charset="0"/>
                <a:sym typeface="Symbol" panose="05050102010706020507" pitchFamily="18" charset="2"/>
              </a:rPr>
              <a:t>(2)</a:t>
            </a:r>
            <a:r>
              <a:rPr lang="en-US" altLang="zh-CN" sz="1200" b="1" dirty="0">
                <a:latin typeface="Times New Roman" panose="02020603050405020304" pitchFamily="18" charset="0"/>
                <a:cs typeface="Times New Roman" panose="02020603050405020304" pitchFamily="18" charset="0"/>
                <a:sym typeface="Symbol" panose="05050102010706020507" pitchFamily="18" charset="2"/>
              </a:rPr>
              <a:t>(3) </a:t>
            </a:r>
            <a:r>
              <a:rPr lang="zh-CN" altLang="en-US" sz="1200" b="1" dirty="0">
                <a:latin typeface="Times New Roman" panose="02020603050405020304" pitchFamily="18" charset="0"/>
                <a:cs typeface="Times New Roman" panose="02020603050405020304" pitchFamily="18" charset="0"/>
                <a:sym typeface="Symbol" panose="05050102010706020507" pitchFamily="18" charset="2"/>
              </a:rPr>
              <a:t>显然连通, 要证</a:t>
            </a:r>
            <a:r>
              <a:rPr lang="en-US" altLang="zh-CN" sz="1200" b="1" i="1" dirty="0">
                <a:latin typeface="Times New Roman" panose="02020603050405020304" pitchFamily="18" charset="0"/>
                <a:cs typeface="Times New Roman" panose="02020603050405020304" pitchFamily="18" charset="0"/>
              </a:rPr>
              <a:t>m</a:t>
            </a:r>
            <a:r>
              <a:rPr lang="en-US" altLang="zh-CN" sz="1200" b="1" dirty="0">
                <a:latin typeface="Times New Roman" panose="02020603050405020304" pitchFamily="18" charset="0"/>
                <a:cs typeface="Times New Roman" panose="02020603050405020304" pitchFamily="18" charset="0"/>
              </a:rPr>
              <a:t>=</a:t>
            </a:r>
            <a:r>
              <a:rPr lang="en-US" altLang="zh-CN" sz="1200" b="1" i="1" dirty="0">
                <a:latin typeface="Times New Roman" panose="02020603050405020304" pitchFamily="18" charset="0"/>
                <a:cs typeface="Times New Roman" panose="02020603050405020304" pitchFamily="18" charset="0"/>
              </a:rPr>
              <a:t>n</a:t>
            </a:r>
            <a:r>
              <a:rPr lang="en-US" altLang="zh-CN" sz="1200" b="1" dirty="0">
                <a:latin typeface="Times New Roman" panose="02020603050405020304" pitchFamily="18" charset="0"/>
                <a:cs typeface="Times New Roman" panose="02020603050405020304" pitchFamily="18" charset="0"/>
                <a:sym typeface="Symbol" panose="05050102010706020507" pitchFamily="18" charset="2"/>
              </a:rPr>
              <a:t></a:t>
            </a:r>
            <a:r>
              <a:rPr lang="en-US" altLang="zh-CN" sz="1200" b="1" dirty="0">
                <a:latin typeface="Times New Roman" panose="02020603050405020304" pitchFamily="18" charset="0"/>
                <a:cs typeface="Times New Roman" panose="02020603050405020304" pitchFamily="18" charset="0"/>
              </a:rPr>
              <a:t>1. </a:t>
            </a:r>
            <a:r>
              <a:rPr lang="zh-CN" altLang="en-US" sz="1200" b="1" dirty="0">
                <a:latin typeface="Times New Roman" panose="02020603050405020304" pitchFamily="18" charset="0"/>
                <a:cs typeface="Times New Roman" panose="02020603050405020304" pitchFamily="18" charset="0"/>
              </a:rPr>
              <a:t>对</a:t>
            </a:r>
            <a:r>
              <a:rPr lang="en-US" altLang="zh-CN" sz="1200" b="1" i="1" dirty="0">
                <a:latin typeface="Times New Roman" panose="02020603050405020304" pitchFamily="18" charset="0"/>
                <a:cs typeface="Times New Roman" panose="02020603050405020304" pitchFamily="18" charset="0"/>
              </a:rPr>
              <a:t>n</a:t>
            </a:r>
            <a:r>
              <a:rPr lang="zh-CN" altLang="en-US" sz="1200" b="1" dirty="0">
                <a:latin typeface="Times New Roman" panose="02020603050405020304" pitchFamily="18" charset="0"/>
                <a:cs typeface="Times New Roman" panose="02020603050405020304" pitchFamily="18" charset="0"/>
              </a:rPr>
              <a:t>作归纳证明. </a:t>
            </a:r>
          </a:p>
          <a:p>
            <a:pPr marL="609600" indent="-609600" eaLnBrk="1" hangingPunct="1">
              <a:buFontTx/>
              <a:buNone/>
            </a:pPr>
            <a:r>
              <a:rPr lang="zh-CN" altLang="en-US" sz="1200" b="1" dirty="0">
                <a:latin typeface="Times New Roman" panose="02020603050405020304" pitchFamily="18" charset="0"/>
                <a:cs typeface="Times New Roman" panose="02020603050405020304" pitchFamily="18" charset="0"/>
              </a:rPr>
              <a:t>当</a:t>
            </a:r>
            <a:r>
              <a:rPr lang="en-US" altLang="zh-CN" sz="1200" b="1" i="1" dirty="0">
                <a:latin typeface="Times New Roman" panose="02020603050405020304" pitchFamily="18" charset="0"/>
                <a:cs typeface="Times New Roman" panose="02020603050405020304" pitchFamily="18" charset="0"/>
              </a:rPr>
              <a:t>n</a:t>
            </a:r>
            <a:r>
              <a:rPr lang="en-US" altLang="zh-CN" sz="1200" b="1" dirty="0">
                <a:latin typeface="Times New Roman" panose="02020603050405020304" pitchFamily="18" charset="0"/>
                <a:cs typeface="Times New Roman" panose="02020603050405020304" pitchFamily="18" charset="0"/>
              </a:rPr>
              <a:t>=1</a:t>
            </a:r>
            <a:r>
              <a:rPr lang="zh-CN" altLang="en-US" sz="1200" b="1" dirty="0">
                <a:latin typeface="Times New Roman" panose="02020603050405020304" pitchFamily="18" charset="0"/>
                <a:cs typeface="Times New Roman" panose="02020603050405020304" pitchFamily="18" charset="0"/>
              </a:rPr>
              <a:t>时, 显然</a:t>
            </a:r>
            <a:r>
              <a:rPr lang="en-US" altLang="zh-CN" sz="1200" b="1" i="1" dirty="0">
                <a:latin typeface="Times New Roman" panose="02020603050405020304" pitchFamily="18" charset="0"/>
                <a:cs typeface="Times New Roman" panose="02020603050405020304" pitchFamily="18" charset="0"/>
              </a:rPr>
              <a:t>m</a:t>
            </a:r>
            <a:r>
              <a:rPr lang="en-US" altLang="zh-CN" sz="1200" b="1" dirty="0">
                <a:latin typeface="Times New Roman" panose="02020603050405020304" pitchFamily="18" charset="0"/>
                <a:cs typeface="Times New Roman" panose="02020603050405020304" pitchFamily="18" charset="0"/>
              </a:rPr>
              <a:t>=0, </a:t>
            </a:r>
            <a:r>
              <a:rPr lang="zh-CN" altLang="en-US" sz="1200" b="1" dirty="0">
                <a:latin typeface="Times New Roman" panose="02020603050405020304" pitchFamily="18" charset="0"/>
                <a:cs typeface="Times New Roman" panose="02020603050405020304" pitchFamily="18" charset="0"/>
              </a:rPr>
              <a:t>结论成立. </a:t>
            </a:r>
          </a:p>
          <a:p>
            <a:pPr marL="609600" indent="-609600" eaLnBrk="1" hangingPunct="1">
              <a:buFontTx/>
              <a:buNone/>
            </a:pPr>
            <a:r>
              <a:rPr lang="zh-CN" altLang="en-US" sz="1200" b="1" dirty="0">
                <a:latin typeface="Times New Roman" panose="02020603050405020304" pitchFamily="18" charset="0"/>
                <a:cs typeface="Times New Roman" panose="02020603050405020304" pitchFamily="18" charset="0"/>
              </a:rPr>
              <a:t>假设当</a:t>
            </a:r>
            <a:r>
              <a:rPr lang="en-US" altLang="zh-CN" sz="1200" b="1" i="1" dirty="0" err="1">
                <a:latin typeface="Times New Roman" panose="02020603050405020304" pitchFamily="18" charset="0"/>
                <a:cs typeface="Times New Roman" panose="02020603050405020304" pitchFamily="18" charset="0"/>
              </a:rPr>
              <a:t>n</a:t>
            </a:r>
            <a:r>
              <a:rPr lang="en-US" altLang="zh-CN" sz="1200" b="1" dirty="0" err="1">
                <a:latin typeface="Times New Roman" panose="02020603050405020304" pitchFamily="18" charset="0"/>
                <a:cs typeface="Times New Roman" panose="02020603050405020304" pitchFamily="18" charset="0"/>
                <a:sym typeface="Symbol" panose="05050102010706020507" pitchFamily="18" charset="2"/>
              </a:rPr>
              <a:t></a:t>
            </a:r>
            <a:r>
              <a:rPr lang="en-US" altLang="zh-CN" sz="1200" b="1" i="1" dirty="0" err="1">
                <a:latin typeface="Times New Roman" panose="02020603050405020304" pitchFamily="18" charset="0"/>
                <a:cs typeface="Times New Roman" panose="02020603050405020304" pitchFamily="18" charset="0"/>
                <a:sym typeface="Symbol" panose="05050102010706020507" pitchFamily="18" charset="2"/>
              </a:rPr>
              <a:t>k</a:t>
            </a:r>
            <a:r>
              <a:rPr lang="en-US" altLang="zh-CN" sz="1200" b="1" dirty="0">
                <a:latin typeface="Times New Roman" panose="02020603050405020304" pitchFamily="18" charset="0"/>
                <a:cs typeface="Times New Roman" panose="02020603050405020304" pitchFamily="18" charset="0"/>
                <a:sym typeface="Symbol" panose="05050102010706020507" pitchFamily="18" charset="2"/>
              </a:rPr>
              <a:t>(</a:t>
            </a:r>
            <a:r>
              <a:rPr lang="en-US" altLang="zh-CN" sz="1200" b="1" i="1" dirty="0">
                <a:latin typeface="Times New Roman" panose="02020603050405020304" pitchFamily="18" charset="0"/>
                <a:cs typeface="Times New Roman" panose="02020603050405020304" pitchFamily="18" charset="0"/>
                <a:sym typeface="Symbol" panose="05050102010706020507" pitchFamily="18" charset="2"/>
              </a:rPr>
              <a:t>k</a:t>
            </a:r>
            <a:r>
              <a:rPr lang="en-US" altLang="zh-CN" sz="1200" b="1" dirty="0">
                <a:latin typeface="Times New Roman" panose="02020603050405020304" pitchFamily="18" charset="0"/>
                <a:cs typeface="Times New Roman" panose="02020603050405020304" pitchFamily="18" charset="0"/>
                <a:sym typeface="Symbol" panose="05050102010706020507" pitchFamily="18" charset="2"/>
              </a:rPr>
              <a:t>1)</a:t>
            </a:r>
            <a:r>
              <a:rPr lang="zh-CN" altLang="en-US" sz="1200" b="1" dirty="0">
                <a:latin typeface="Times New Roman" panose="02020603050405020304" pitchFamily="18" charset="0"/>
                <a:cs typeface="Times New Roman" panose="02020603050405020304" pitchFamily="18" charset="0"/>
                <a:sym typeface="Symbol" panose="05050102010706020507" pitchFamily="18" charset="2"/>
              </a:rPr>
              <a:t>时结论成立, 考虑</a:t>
            </a:r>
            <a:r>
              <a:rPr lang="en-US" altLang="zh-CN" sz="1200" b="1" i="1" dirty="0">
                <a:latin typeface="Times New Roman" panose="02020603050405020304" pitchFamily="18" charset="0"/>
                <a:cs typeface="Times New Roman" panose="02020603050405020304" pitchFamily="18" charset="0"/>
              </a:rPr>
              <a:t>n</a:t>
            </a:r>
            <a:r>
              <a:rPr lang="en-US" altLang="zh-CN" sz="1200" b="1" dirty="0">
                <a:latin typeface="Times New Roman" panose="02020603050405020304" pitchFamily="18" charset="0"/>
                <a:cs typeface="Times New Roman" panose="02020603050405020304" pitchFamily="18" charset="0"/>
                <a:sym typeface="Symbol" panose="05050102010706020507" pitchFamily="18" charset="2"/>
              </a:rPr>
              <a:t>=</a:t>
            </a:r>
            <a:r>
              <a:rPr lang="en-US" altLang="zh-CN" sz="1200" b="1" i="1" dirty="0">
                <a:latin typeface="Times New Roman" panose="02020603050405020304" pitchFamily="18" charset="0"/>
                <a:cs typeface="Times New Roman" panose="02020603050405020304" pitchFamily="18" charset="0"/>
                <a:sym typeface="Symbol" panose="05050102010706020507" pitchFamily="18" charset="2"/>
              </a:rPr>
              <a:t>k</a:t>
            </a:r>
            <a:r>
              <a:rPr lang="zh-CN" altLang="en-US" sz="1200" b="1" dirty="0">
                <a:latin typeface="Times New Roman" panose="02020603050405020304" pitchFamily="18" charset="0"/>
                <a:cs typeface="Times New Roman" panose="02020603050405020304" pitchFamily="18" charset="0"/>
                <a:sym typeface="Symbol" panose="05050102010706020507" pitchFamily="18" charset="2"/>
              </a:rPr>
              <a:t>+1. 任取一条边</a:t>
            </a:r>
            <a:r>
              <a:rPr lang="en-US" altLang="zh-CN" sz="1200" b="1" i="1" dirty="0">
                <a:latin typeface="Times New Roman" panose="02020603050405020304" pitchFamily="18" charset="0"/>
                <a:cs typeface="Times New Roman" panose="02020603050405020304" pitchFamily="18" charset="0"/>
                <a:sym typeface="Symbol" panose="05050102010706020507" pitchFamily="18" charset="2"/>
              </a:rPr>
              <a:t>e</a:t>
            </a:r>
            <a:r>
              <a:rPr lang="en-US" altLang="zh-CN" sz="1200" b="1" dirty="0">
                <a:latin typeface="Times New Roman" panose="02020603050405020304" pitchFamily="18" charset="0"/>
                <a:cs typeface="Times New Roman" panose="02020603050405020304" pitchFamily="18" charset="0"/>
                <a:sym typeface="Symbol" panose="05050102010706020507" pitchFamily="18" charset="2"/>
              </a:rPr>
              <a:t>=</a:t>
            </a:r>
          </a:p>
          <a:p>
            <a:pPr marL="609600" indent="-609600" eaLnBrk="1" hangingPunct="1">
              <a:buFontTx/>
              <a:buNone/>
            </a:pPr>
            <a:r>
              <a:rPr lang="en-US" altLang="zh-CN" sz="1200" b="1" dirty="0">
                <a:latin typeface="Times New Roman" panose="02020603050405020304" pitchFamily="18" charset="0"/>
                <a:cs typeface="Times New Roman" panose="02020603050405020304" pitchFamily="18" charset="0"/>
                <a:sym typeface="Symbol" panose="05050102010706020507" pitchFamily="18" charset="2"/>
              </a:rPr>
              <a:t>(</a:t>
            </a:r>
            <a:r>
              <a:rPr lang="en-US" altLang="zh-CN" sz="1200" b="1" i="1" dirty="0" err="1">
                <a:latin typeface="Times New Roman" panose="02020603050405020304" pitchFamily="18" charset="0"/>
                <a:cs typeface="Times New Roman" panose="02020603050405020304" pitchFamily="18" charset="0"/>
                <a:sym typeface="Symbol" panose="05050102010706020507" pitchFamily="18" charset="2"/>
              </a:rPr>
              <a:t>u,v</a:t>
            </a:r>
            <a:r>
              <a:rPr lang="en-US" altLang="zh-CN" sz="1200" b="1" dirty="0">
                <a:latin typeface="Times New Roman" panose="02020603050405020304" pitchFamily="18" charset="0"/>
                <a:cs typeface="Times New Roman" panose="02020603050405020304" pitchFamily="18" charset="0"/>
                <a:sym typeface="Symbol" panose="05050102010706020507" pitchFamily="18" charset="2"/>
              </a:rPr>
              <a:t>), </a:t>
            </a:r>
            <a:r>
              <a:rPr lang="zh-CN" altLang="en-US" sz="1200" b="1" dirty="0">
                <a:latin typeface="Times New Roman" panose="02020603050405020304" pitchFamily="18" charset="0"/>
                <a:cs typeface="Times New Roman" panose="02020603050405020304" pitchFamily="18" charset="0"/>
                <a:sym typeface="Symbol" panose="05050102010706020507" pitchFamily="18" charset="2"/>
              </a:rPr>
              <a:t>它是</a:t>
            </a:r>
            <a:r>
              <a:rPr lang="en-US" altLang="zh-CN" sz="1200" b="1" i="1" dirty="0" err="1">
                <a:latin typeface="Times New Roman" panose="02020603050405020304" pitchFamily="18" charset="0"/>
                <a:cs typeface="Times New Roman" panose="02020603050405020304" pitchFamily="18" charset="0"/>
                <a:sym typeface="Symbol" panose="05050102010706020507" pitchFamily="18" charset="2"/>
              </a:rPr>
              <a:t>u,v</a:t>
            </a:r>
            <a:r>
              <a:rPr lang="zh-CN" altLang="en-US" sz="1200" b="1" dirty="0">
                <a:latin typeface="Times New Roman" panose="02020603050405020304" pitchFamily="18" charset="0"/>
                <a:cs typeface="Times New Roman" panose="02020603050405020304" pitchFamily="18" charset="0"/>
                <a:sym typeface="Symbol" panose="05050102010706020507" pitchFamily="18" charset="2"/>
              </a:rPr>
              <a:t>之间惟一的通路, 删去</a:t>
            </a:r>
            <a:r>
              <a:rPr lang="en-US" altLang="zh-CN" sz="1200" b="1" i="1" dirty="0">
                <a:latin typeface="Times New Roman" panose="02020603050405020304" pitchFamily="18" charset="0"/>
                <a:cs typeface="Times New Roman" panose="02020603050405020304" pitchFamily="18" charset="0"/>
                <a:sym typeface="Symbol" panose="05050102010706020507" pitchFamily="18" charset="2"/>
              </a:rPr>
              <a:t>e</a:t>
            </a:r>
            <a:r>
              <a:rPr lang="en-US" altLang="zh-CN" sz="1200" b="1" dirty="0">
                <a:latin typeface="Times New Roman" panose="02020603050405020304" pitchFamily="18" charset="0"/>
                <a:cs typeface="Times New Roman" panose="02020603050405020304" pitchFamily="18" charset="0"/>
                <a:sym typeface="Symbol" panose="05050102010706020507" pitchFamily="18" charset="2"/>
              </a:rPr>
              <a:t>, </a:t>
            </a:r>
            <a:r>
              <a:rPr lang="en-US" altLang="zh-CN" sz="1200" b="1" i="1" dirty="0">
                <a:latin typeface="Times New Roman" panose="02020603050405020304" pitchFamily="18" charset="0"/>
                <a:cs typeface="Times New Roman" panose="02020603050405020304" pitchFamily="18" charset="0"/>
                <a:sym typeface="Symbol" panose="05050102010706020507" pitchFamily="18" charset="2"/>
              </a:rPr>
              <a:t>G</a:t>
            </a:r>
            <a:r>
              <a:rPr lang="zh-CN" altLang="en-US" sz="1200" b="1" dirty="0">
                <a:latin typeface="Times New Roman" panose="02020603050405020304" pitchFamily="18" charset="0"/>
                <a:cs typeface="Times New Roman" panose="02020603050405020304" pitchFamily="18" charset="0"/>
                <a:sym typeface="Symbol" panose="05050102010706020507" pitchFamily="18" charset="2"/>
              </a:rPr>
              <a:t>被分成2个连通分</a:t>
            </a:r>
          </a:p>
          <a:p>
            <a:pPr marL="609600" indent="-609600" eaLnBrk="1" hangingPunct="1">
              <a:buFontTx/>
              <a:buNone/>
            </a:pPr>
            <a:r>
              <a:rPr lang="zh-CN" altLang="en-US" sz="1200" b="1" dirty="0">
                <a:latin typeface="Times New Roman" panose="02020603050405020304" pitchFamily="18" charset="0"/>
                <a:cs typeface="Times New Roman" panose="02020603050405020304" pitchFamily="18" charset="0"/>
                <a:sym typeface="Symbol" panose="05050102010706020507" pitchFamily="18" charset="2"/>
              </a:rPr>
              <a:t>支, 设它们分别有</a:t>
            </a:r>
            <a:r>
              <a:rPr lang="en-US" altLang="zh-CN" sz="1200" b="1" i="1" dirty="0">
                <a:latin typeface="Times New Roman" panose="02020603050405020304" pitchFamily="18" charset="0"/>
                <a:cs typeface="Times New Roman" panose="02020603050405020304" pitchFamily="18" charset="0"/>
                <a:sym typeface="Symbol" panose="05050102010706020507" pitchFamily="18" charset="2"/>
              </a:rPr>
              <a:t>n</a:t>
            </a:r>
            <a:r>
              <a:rPr lang="en-US" altLang="zh-CN" sz="1200" b="1" baseline="-25000" dirty="0">
                <a:latin typeface="Times New Roman" panose="02020603050405020304" pitchFamily="18" charset="0"/>
                <a:cs typeface="Times New Roman" panose="02020603050405020304" pitchFamily="18" charset="0"/>
                <a:sym typeface="Symbol" panose="05050102010706020507" pitchFamily="18" charset="2"/>
              </a:rPr>
              <a:t>1</a:t>
            </a:r>
            <a:r>
              <a:rPr lang="en-US" altLang="zh-CN" sz="1200" b="1" dirty="0">
                <a:latin typeface="Times New Roman" panose="02020603050405020304" pitchFamily="18" charset="0"/>
                <a:cs typeface="Times New Roman" panose="02020603050405020304" pitchFamily="18" charset="0"/>
                <a:sym typeface="Symbol" panose="05050102010706020507" pitchFamily="18" charset="2"/>
              </a:rPr>
              <a:t>, </a:t>
            </a:r>
            <a:r>
              <a:rPr lang="en-US" altLang="zh-CN" sz="1200" b="1" i="1" dirty="0">
                <a:latin typeface="Times New Roman" panose="02020603050405020304" pitchFamily="18" charset="0"/>
                <a:cs typeface="Times New Roman" panose="02020603050405020304" pitchFamily="18" charset="0"/>
                <a:sym typeface="Symbol" panose="05050102010706020507" pitchFamily="18" charset="2"/>
              </a:rPr>
              <a:t>n</a:t>
            </a:r>
            <a:r>
              <a:rPr lang="en-US" altLang="zh-CN" sz="1200" b="1" baseline="-25000" dirty="0">
                <a:latin typeface="Times New Roman" panose="02020603050405020304" pitchFamily="18" charset="0"/>
                <a:cs typeface="Times New Roman" panose="02020603050405020304" pitchFamily="18" charset="0"/>
                <a:sym typeface="Symbol" panose="05050102010706020507" pitchFamily="18" charset="2"/>
              </a:rPr>
              <a:t>2</a:t>
            </a:r>
            <a:r>
              <a:rPr lang="zh-CN" altLang="en-US" sz="1200" b="1" dirty="0">
                <a:latin typeface="Times New Roman" panose="02020603050405020304" pitchFamily="18" charset="0"/>
                <a:cs typeface="Times New Roman" panose="02020603050405020304" pitchFamily="18" charset="0"/>
                <a:sym typeface="Symbol" panose="05050102010706020507" pitchFamily="18" charset="2"/>
              </a:rPr>
              <a:t>个顶点和</a:t>
            </a:r>
            <a:r>
              <a:rPr lang="en-US" altLang="zh-CN" sz="1200" b="1" i="1" dirty="0">
                <a:latin typeface="Times New Roman" panose="02020603050405020304" pitchFamily="18" charset="0"/>
                <a:cs typeface="Times New Roman" panose="02020603050405020304" pitchFamily="18" charset="0"/>
                <a:sym typeface="Symbol" panose="05050102010706020507" pitchFamily="18" charset="2"/>
              </a:rPr>
              <a:t>m</a:t>
            </a:r>
            <a:r>
              <a:rPr lang="en-US" altLang="zh-CN" sz="1200" b="1" baseline="-25000" dirty="0">
                <a:latin typeface="Times New Roman" panose="02020603050405020304" pitchFamily="18" charset="0"/>
                <a:cs typeface="Times New Roman" panose="02020603050405020304" pitchFamily="18" charset="0"/>
                <a:sym typeface="Symbol" panose="05050102010706020507" pitchFamily="18" charset="2"/>
              </a:rPr>
              <a:t>1</a:t>
            </a:r>
            <a:r>
              <a:rPr lang="en-US" altLang="zh-CN" sz="1200" b="1" dirty="0">
                <a:latin typeface="Times New Roman" panose="02020603050405020304" pitchFamily="18" charset="0"/>
                <a:cs typeface="Times New Roman" panose="02020603050405020304" pitchFamily="18" charset="0"/>
                <a:sym typeface="Symbol" panose="05050102010706020507" pitchFamily="18" charset="2"/>
              </a:rPr>
              <a:t>, </a:t>
            </a:r>
            <a:r>
              <a:rPr lang="en-US" altLang="zh-CN" sz="1200" b="1" i="1" dirty="0">
                <a:latin typeface="Times New Roman" panose="02020603050405020304" pitchFamily="18" charset="0"/>
                <a:cs typeface="Times New Roman" panose="02020603050405020304" pitchFamily="18" charset="0"/>
                <a:sym typeface="Symbol" panose="05050102010706020507" pitchFamily="18" charset="2"/>
              </a:rPr>
              <a:t>m</a:t>
            </a:r>
            <a:r>
              <a:rPr lang="en-US" altLang="zh-CN" sz="1200" b="1" baseline="-25000" dirty="0">
                <a:latin typeface="Times New Roman" panose="02020603050405020304" pitchFamily="18" charset="0"/>
                <a:cs typeface="Times New Roman" panose="02020603050405020304" pitchFamily="18" charset="0"/>
                <a:sym typeface="Symbol" panose="05050102010706020507" pitchFamily="18" charset="2"/>
              </a:rPr>
              <a:t>2</a:t>
            </a:r>
            <a:r>
              <a:rPr lang="zh-CN" altLang="en-US" sz="1200" b="1" dirty="0">
                <a:latin typeface="Times New Roman" panose="02020603050405020304" pitchFamily="18" charset="0"/>
                <a:cs typeface="Times New Roman" panose="02020603050405020304" pitchFamily="18" charset="0"/>
                <a:sym typeface="Symbol" panose="05050102010706020507" pitchFamily="18" charset="2"/>
              </a:rPr>
              <a:t>条边, </a:t>
            </a:r>
            <a:r>
              <a:rPr lang="en-US" altLang="zh-CN" sz="1200" b="1" i="1" dirty="0">
                <a:latin typeface="Times New Roman" panose="02020603050405020304" pitchFamily="18" charset="0"/>
                <a:cs typeface="Times New Roman" panose="02020603050405020304" pitchFamily="18" charset="0"/>
                <a:sym typeface="Symbol" panose="05050102010706020507" pitchFamily="18" charset="2"/>
              </a:rPr>
              <a:t>n</a:t>
            </a:r>
            <a:r>
              <a:rPr lang="en-US" altLang="zh-CN" sz="1200" b="1" baseline="-25000" dirty="0">
                <a:latin typeface="Times New Roman" panose="02020603050405020304" pitchFamily="18" charset="0"/>
                <a:cs typeface="Times New Roman" panose="02020603050405020304" pitchFamily="18" charset="0"/>
                <a:sym typeface="Symbol" panose="05050102010706020507" pitchFamily="18" charset="2"/>
              </a:rPr>
              <a:t>1</a:t>
            </a:r>
            <a:r>
              <a:rPr lang="en-US" altLang="zh-CN" sz="1200" b="1" dirty="0">
                <a:latin typeface="Times New Roman" panose="02020603050405020304" pitchFamily="18" charset="0"/>
                <a:cs typeface="Times New Roman" panose="02020603050405020304" pitchFamily="18" charset="0"/>
                <a:sym typeface="Symbol" panose="05050102010706020507" pitchFamily="18" charset="2"/>
              </a:rPr>
              <a:t></a:t>
            </a:r>
            <a:r>
              <a:rPr lang="en-US" altLang="zh-CN" sz="1200" b="1" i="1" dirty="0">
                <a:latin typeface="Times New Roman" panose="02020603050405020304" pitchFamily="18" charset="0"/>
                <a:cs typeface="Times New Roman" panose="02020603050405020304" pitchFamily="18" charset="0"/>
                <a:sym typeface="Symbol" panose="05050102010706020507" pitchFamily="18" charset="2"/>
              </a:rPr>
              <a:t>k,</a:t>
            </a:r>
            <a:r>
              <a:rPr lang="en-US" altLang="zh-CN" sz="1200" b="1" dirty="0">
                <a:latin typeface="Times New Roman" panose="02020603050405020304" pitchFamily="18" charset="0"/>
                <a:cs typeface="Times New Roman" panose="02020603050405020304" pitchFamily="18" charset="0"/>
                <a:sym typeface="Symbol" panose="05050102010706020507" pitchFamily="18" charset="2"/>
              </a:rPr>
              <a:t> </a:t>
            </a:r>
            <a:r>
              <a:rPr lang="en-US" altLang="zh-CN" sz="1200" b="1" i="1" dirty="0">
                <a:latin typeface="Times New Roman" panose="02020603050405020304" pitchFamily="18" charset="0"/>
                <a:cs typeface="Times New Roman" panose="02020603050405020304" pitchFamily="18" charset="0"/>
                <a:sym typeface="Symbol" panose="05050102010706020507" pitchFamily="18" charset="2"/>
              </a:rPr>
              <a:t>n</a:t>
            </a:r>
            <a:r>
              <a:rPr lang="en-US" altLang="zh-CN" sz="1200" b="1" baseline="-25000" dirty="0">
                <a:latin typeface="Times New Roman" panose="02020603050405020304" pitchFamily="18" charset="0"/>
                <a:cs typeface="Times New Roman" panose="02020603050405020304" pitchFamily="18" charset="0"/>
                <a:sym typeface="Symbol" panose="05050102010706020507" pitchFamily="18" charset="2"/>
              </a:rPr>
              <a:t>2</a:t>
            </a:r>
            <a:r>
              <a:rPr lang="en-US" altLang="zh-CN" sz="1200" b="1" dirty="0">
                <a:latin typeface="Times New Roman" panose="02020603050405020304" pitchFamily="18" charset="0"/>
                <a:cs typeface="Times New Roman" panose="02020603050405020304" pitchFamily="18" charset="0"/>
                <a:sym typeface="Symbol" panose="05050102010706020507" pitchFamily="18" charset="2"/>
              </a:rPr>
              <a:t></a:t>
            </a:r>
            <a:r>
              <a:rPr lang="en-US" altLang="zh-CN" sz="1200" b="1" i="1" dirty="0">
                <a:latin typeface="Times New Roman" panose="02020603050405020304" pitchFamily="18" charset="0"/>
                <a:cs typeface="Times New Roman" panose="02020603050405020304" pitchFamily="18" charset="0"/>
                <a:sym typeface="Symbol" panose="05050102010706020507" pitchFamily="18" charset="2"/>
              </a:rPr>
              <a:t>k. </a:t>
            </a:r>
          </a:p>
          <a:p>
            <a:pPr marL="609600" indent="-609600" eaLnBrk="1" hangingPunct="1">
              <a:buFontTx/>
              <a:buNone/>
            </a:pPr>
            <a:r>
              <a:rPr lang="zh-CN" altLang="en-US" sz="1200" b="1" dirty="0">
                <a:latin typeface="Times New Roman" panose="02020603050405020304" pitchFamily="18" charset="0"/>
                <a:cs typeface="Times New Roman" panose="02020603050405020304" pitchFamily="18" charset="0"/>
                <a:sym typeface="Symbol" panose="05050102010706020507" pitchFamily="18" charset="2"/>
              </a:rPr>
              <a:t>由归纳假设, </a:t>
            </a:r>
            <a:r>
              <a:rPr lang="en-US" altLang="zh-CN" sz="1200" b="1" i="1" dirty="0">
                <a:latin typeface="Times New Roman" panose="02020603050405020304" pitchFamily="18" charset="0"/>
                <a:cs typeface="Times New Roman" panose="02020603050405020304" pitchFamily="18" charset="0"/>
                <a:sym typeface="Symbol" panose="05050102010706020507" pitchFamily="18" charset="2"/>
              </a:rPr>
              <a:t>m</a:t>
            </a:r>
            <a:r>
              <a:rPr lang="en-US" altLang="zh-CN" sz="1200" b="1" baseline="-25000" dirty="0">
                <a:latin typeface="Times New Roman" panose="02020603050405020304" pitchFamily="18" charset="0"/>
                <a:cs typeface="Times New Roman" panose="02020603050405020304" pitchFamily="18" charset="0"/>
                <a:sym typeface="Symbol" panose="05050102010706020507" pitchFamily="18" charset="2"/>
              </a:rPr>
              <a:t>1</a:t>
            </a:r>
            <a:r>
              <a:rPr lang="zh-CN" altLang="en-US" sz="1200" b="1" dirty="0">
                <a:latin typeface="Times New Roman" panose="02020603050405020304" pitchFamily="18" charset="0"/>
                <a:cs typeface="Times New Roman" panose="02020603050405020304" pitchFamily="18" charset="0"/>
                <a:sym typeface="Symbol" panose="05050102010706020507" pitchFamily="18" charset="2"/>
              </a:rPr>
              <a:t>=</a:t>
            </a:r>
            <a:r>
              <a:rPr lang="en-US" altLang="zh-CN" sz="1200" b="1" i="1" dirty="0">
                <a:latin typeface="Times New Roman" panose="02020603050405020304" pitchFamily="18" charset="0"/>
                <a:cs typeface="Times New Roman" panose="02020603050405020304" pitchFamily="18" charset="0"/>
                <a:sym typeface="Symbol" panose="05050102010706020507" pitchFamily="18" charset="2"/>
              </a:rPr>
              <a:t>n</a:t>
            </a:r>
            <a:r>
              <a:rPr lang="en-US" altLang="zh-CN" sz="1200" b="1" baseline="-25000" dirty="0">
                <a:latin typeface="Times New Roman" panose="02020603050405020304" pitchFamily="18" charset="0"/>
                <a:cs typeface="Times New Roman" panose="02020603050405020304" pitchFamily="18" charset="0"/>
                <a:sym typeface="Symbol" panose="05050102010706020507" pitchFamily="18" charset="2"/>
              </a:rPr>
              <a:t>1</a:t>
            </a:r>
            <a:r>
              <a:rPr lang="zh-CN" altLang="en-US" sz="1200" b="1" dirty="0">
                <a:latin typeface="Times New Roman" panose="02020603050405020304" pitchFamily="18" charset="0"/>
                <a:cs typeface="Times New Roman" panose="02020603050405020304" pitchFamily="18" charset="0"/>
                <a:sym typeface="Symbol" panose="05050102010706020507" pitchFamily="18" charset="2"/>
              </a:rPr>
              <a:t>-1, </a:t>
            </a:r>
            <a:r>
              <a:rPr lang="en-US" altLang="zh-CN" sz="1200" b="1" i="1" dirty="0">
                <a:latin typeface="Times New Roman" panose="02020603050405020304" pitchFamily="18" charset="0"/>
                <a:cs typeface="Times New Roman" panose="02020603050405020304" pitchFamily="18" charset="0"/>
                <a:sym typeface="Symbol" panose="05050102010706020507" pitchFamily="18" charset="2"/>
              </a:rPr>
              <a:t>m</a:t>
            </a:r>
            <a:r>
              <a:rPr lang="en-US" altLang="zh-CN" sz="1200" b="1" baseline="-25000" dirty="0">
                <a:latin typeface="Times New Roman" panose="02020603050405020304" pitchFamily="18" charset="0"/>
                <a:cs typeface="Times New Roman" panose="02020603050405020304" pitchFamily="18" charset="0"/>
                <a:sym typeface="Symbol" panose="05050102010706020507" pitchFamily="18" charset="2"/>
              </a:rPr>
              <a:t>2</a:t>
            </a:r>
            <a:r>
              <a:rPr lang="zh-CN" altLang="en-US" sz="1200" b="1" dirty="0">
                <a:latin typeface="Times New Roman" panose="02020603050405020304" pitchFamily="18" charset="0"/>
                <a:cs typeface="Times New Roman" panose="02020603050405020304" pitchFamily="18" charset="0"/>
                <a:sym typeface="Symbol" panose="05050102010706020507" pitchFamily="18" charset="2"/>
              </a:rPr>
              <a:t>=</a:t>
            </a:r>
            <a:r>
              <a:rPr lang="en-US" altLang="zh-CN" sz="1200" b="1" i="1" dirty="0">
                <a:latin typeface="Times New Roman" panose="02020603050405020304" pitchFamily="18" charset="0"/>
                <a:cs typeface="Times New Roman" panose="02020603050405020304" pitchFamily="18" charset="0"/>
                <a:sym typeface="Symbol" panose="05050102010706020507" pitchFamily="18" charset="2"/>
              </a:rPr>
              <a:t>n</a:t>
            </a:r>
            <a:r>
              <a:rPr lang="en-US" altLang="zh-CN" sz="1200" b="1" baseline="-25000" dirty="0">
                <a:latin typeface="Times New Roman" panose="02020603050405020304" pitchFamily="18" charset="0"/>
                <a:cs typeface="Times New Roman" panose="02020603050405020304" pitchFamily="18" charset="0"/>
                <a:sym typeface="Symbol" panose="05050102010706020507" pitchFamily="18" charset="2"/>
              </a:rPr>
              <a:t>2</a:t>
            </a:r>
            <a:r>
              <a:rPr lang="zh-CN" altLang="en-US" sz="1200" b="1" dirty="0">
                <a:latin typeface="Times New Roman" panose="02020603050405020304" pitchFamily="18" charset="0"/>
                <a:cs typeface="Times New Roman" panose="02020603050405020304" pitchFamily="18" charset="0"/>
                <a:sym typeface="Symbol" panose="05050102010706020507" pitchFamily="18" charset="2"/>
              </a:rPr>
              <a:t>-1, 得</a:t>
            </a:r>
            <a:r>
              <a:rPr lang="en-US" altLang="zh-CN" sz="1200" b="1" i="1" dirty="0">
                <a:latin typeface="Times New Roman" panose="02020603050405020304" pitchFamily="18" charset="0"/>
                <a:cs typeface="Times New Roman" panose="02020603050405020304" pitchFamily="18" charset="0"/>
                <a:sym typeface="Symbol" panose="05050102010706020507" pitchFamily="18" charset="2"/>
              </a:rPr>
              <a:t>m</a:t>
            </a:r>
            <a:r>
              <a:rPr lang="en-US" altLang="zh-CN" sz="1200" b="1" dirty="0">
                <a:latin typeface="Times New Roman" panose="02020603050405020304" pitchFamily="18" charset="0"/>
                <a:cs typeface="Times New Roman" panose="02020603050405020304" pitchFamily="18" charset="0"/>
                <a:sym typeface="Symbol" panose="05050102010706020507" pitchFamily="18" charset="2"/>
              </a:rPr>
              <a:t>= </a:t>
            </a:r>
            <a:r>
              <a:rPr lang="en-US" altLang="zh-CN" sz="1200" b="1" i="1" dirty="0">
                <a:latin typeface="Times New Roman" panose="02020603050405020304" pitchFamily="18" charset="0"/>
                <a:cs typeface="Times New Roman" panose="02020603050405020304" pitchFamily="18" charset="0"/>
                <a:sym typeface="Symbol" panose="05050102010706020507" pitchFamily="18" charset="2"/>
              </a:rPr>
              <a:t>m</a:t>
            </a:r>
            <a:r>
              <a:rPr lang="en-US" altLang="zh-CN" sz="1200" b="1" baseline="-25000" dirty="0">
                <a:latin typeface="Times New Roman" panose="02020603050405020304" pitchFamily="18" charset="0"/>
                <a:cs typeface="Times New Roman" panose="02020603050405020304" pitchFamily="18" charset="0"/>
                <a:sym typeface="Symbol" panose="05050102010706020507" pitchFamily="18" charset="2"/>
              </a:rPr>
              <a:t>1</a:t>
            </a:r>
            <a:r>
              <a:rPr lang="en-US" altLang="zh-CN" sz="1200" b="1" dirty="0">
                <a:latin typeface="Times New Roman" panose="02020603050405020304" pitchFamily="18" charset="0"/>
                <a:cs typeface="Times New Roman" panose="02020603050405020304" pitchFamily="18" charset="0"/>
                <a:sym typeface="Symbol" panose="05050102010706020507" pitchFamily="18" charset="2"/>
              </a:rPr>
              <a:t>+</a:t>
            </a:r>
            <a:r>
              <a:rPr lang="en-US" altLang="zh-CN" sz="1200" b="1" i="1" dirty="0">
                <a:latin typeface="Times New Roman" panose="02020603050405020304" pitchFamily="18" charset="0"/>
                <a:cs typeface="Times New Roman" panose="02020603050405020304" pitchFamily="18" charset="0"/>
                <a:sym typeface="Symbol" panose="05050102010706020507" pitchFamily="18" charset="2"/>
              </a:rPr>
              <a:t>m</a:t>
            </a:r>
            <a:r>
              <a:rPr lang="en-US" altLang="zh-CN" sz="1200" b="1" baseline="-25000" dirty="0">
                <a:latin typeface="Times New Roman" panose="02020603050405020304" pitchFamily="18" charset="0"/>
                <a:cs typeface="Times New Roman" panose="02020603050405020304" pitchFamily="18" charset="0"/>
                <a:sym typeface="Symbol" panose="05050102010706020507" pitchFamily="18" charset="2"/>
              </a:rPr>
              <a:t>2</a:t>
            </a:r>
            <a:r>
              <a:rPr lang="en-US" altLang="zh-CN" sz="1200" b="1" dirty="0">
                <a:latin typeface="Times New Roman" panose="02020603050405020304" pitchFamily="18" charset="0"/>
                <a:cs typeface="Times New Roman" panose="02020603050405020304" pitchFamily="18" charset="0"/>
                <a:sym typeface="Symbol" panose="05050102010706020507" pitchFamily="18" charset="2"/>
              </a:rPr>
              <a:t>+1= </a:t>
            </a:r>
            <a:r>
              <a:rPr lang="en-US" altLang="zh-CN" sz="1200" b="1" i="1" dirty="0">
                <a:latin typeface="Times New Roman" panose="02020603050405020304" pitchFamily="18" charset="0"/>
                <a:cs typeface="Times New Roman" panose="02020603050405020304" pitchFamily="18" charset="0"/>
                <a:sym typeface="Symbol" panose="05050102010706020507" pitchFamily="18" charset="2"/>
              </a:rPr>
              <a:t>n</a:t>
            </a:r>
            <a:r>
              <a:rPr lang="en-US" altLang="zh-CN" sz="1200" b="1" dirty="0">
                <a:latin typeface="Times New Roman" panose="02020603050405020304" pitchFamily="18" charset="0"/>
                <a:cs typeface="Times New Roman" panose="02020603050405020304" pitchFamily="18" charset="0"/>
                <a:sym typeface="Symbol" panose="05050102010706020507" pitchFamily="18" charset="2"/>
              </a:rPr>
              <a:t>-1</a:t>
            </a:r>
            <a:endParaRPr lang="zh-CN" altLang="en-US" dirty="0"/>
          </a:p>
        </p:txBody>
      </p:sp>
      <p:sp>
        <p:nvSpPr>
          <p:cNvPr id="4" name="灯片编号占位符 3"/>
          <p:cNvSpPr>
            <a:spLocks noGrp="1"/>
          </p:cNvSpPr>
          <p:nvPr>
            <p:ph type="sldNum" sz="quarter" idx="10"/>
          </p:nvPr>
        </p:nvSpPr>
        <p:spPr/>
        <p:txBody>
          <a:bodyPr/>
          <a:lstStyle/>
          <a:p>
            <a:fld id="{CAFE74B6-F93C-4D90-BE1A-7EFEDB35C0D4}" type="slidenum">
              <a:rPr lang="zh-CN" altLang="en-US" smtClean="0"/>
              <a:t>30</a:t>
            </a:fld>
            <a:endParaRPr lang="zh-CN" altLang="en-US"/>
          </a:p>
        </p:txBody>
      </p:sp>
    </p:spTree>
    <p:extLst>
      <p:ext uri="{BB962C8B-B14F-4D97-AF65-F5344CB8AC3E}">
        <p14:creationId xmlns:p14="http://schemas.microsoft.com/office/powerpoint/2010/main" val="742580834"/>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b="0" i="0" dirty="0">
                <a:solidFill>
                  <a:srgbClr val="0D0D0D"/>
                </a:solidFill>
                <a:effectLst/>
                <a:latin typeface="Söhne"/>
              </a:rPr>
              <a:t>握手定理指出，在任何图中，所有顶点的度之和等于边的数量乘以</a:t>
            </a:r>
            <a:r>
              <a:rPr lang="en-US" altLang="zh-CN" b="0" i="0" dirty="0">
                <a:solidFill>
                  <a:srgbClr val="0D0D0D"/>
                </a:solidFill>
                <a:effectLst/>
                <a:latin typeface="Söhne"/>
              </a:rPr>
              <a:t>2</a:t>
            </a:r>
            <a:r>
              <a:rPr lang="zh-CN" altLang="en-US" b="0" i="0" dirty="0">
                <a:solidFill>
                  <a:srgbClr val="0D0D0D"/>
                </a:solidFill>
                <a:effectLst/>
                <a:latin typeface="Söhne"/>
              </a:rPr>
              <a:t>。</a:t>
            </a:r>
            <a:endParaRPr lang="en-US" altLang="zh-CN" b="0" i="0" dirty="0">
              <a:solidFill>
                <a:srgbClr val="0D0D0D"/>
              </a:solidFill>
              <a:effectLst/>
              <a:latin typeface="Söhne"/>
            </a:endParaRPr>
          </a:p>
          <a:p>
            <a:endParaRPr lang="en-US" altLang="zh-CN" b="0" i="0" dirty="0">
              <a:solidFill>
                <a:srgbClr val="0D0D0D"/>
              </a:solidFill>
              <a:effectLst/>
              <a:latin typeface="Söhne"/>
            </a:endParaRPr>
          </a:p>
          <a:p>
            <a:pPr algn="just" eaLnBrk="1" hangingPunct="1">
              <a:spcBef>
                <a:spcPct val="40000"/>
              </a:spcBef>
              <a:buClr>
                <a:schemeClr val="bg2"/>
              </a:buClr>
              <a:buSzPct val="75000"/>
              <a:buFont typeface="Wingdings" panose="05000000000000000000" pitchFamily="2" charset="2"/>
              <a:buNone/>
            </a:pPr>
            <a:r>
              <a:rPr kumimoji="0" lang="zh-CN" altLang="en-US" sz="1200" b="1" dirty="0">
                <a:solidFill>
                  <a:srgbClr val="FF3300"/>
                </a:solidFill>
                <a:latin typeface="Times New Roman" panose="02020603050405020304" pitchFamily="18" charset="0"/>
                <a:cs typeface="Times New Roman" panose="02020603050405020304" pitchFamily="18" charset="0"/>
              </a:rPr>
              <a:t>定理7.2 </a:t>
            </a:r>
            <a:r>
              <a:rPr kumimoji="0" lang="zh-CN" altLang="en-US" sz="1200" b="1" dirty="0">
                <a:solidFill>
                  <a:srgbClr val="FF0066"/>
                </a:solidFill>
                <a:latin typeface="Times New Roman" panose="02020603050405020304" pitchFamily="18" charset="0"/>
                <a:cs typeface="Times New Roman" panose="02020603050405020304" pitchFamily="18" charset="0"/>
              </a:rPr>
              <a:t> </a:t>
            </a:r>
            <a:r>
              <a:rPr kumimoji="0" lang="en-US" altLang="zh-CN" sz="1200" b="1" i="1" dirty="0">
                <a:latin typeface="Times New Roman" panose="02020603050405020304" pitchFamily="18" charset="0"/>
                <a:cs typeface="Times New Roman" panose="02020603050405020304" pitchFamily="18" charset="0"/>
              </a:rPr>
              <a:t>n</a:t>
            </a:r>
            <a:r>
              <a:rPr lang="zh-CN" altLang="en-US" b="1" dirty="0">
                <a:latin typeface="Times New Roman" panose="02020603050405020304" pitchFamily="18" charset="0"/>
                <a:cs typeface="Times New Roman" panose="02020603050405020304" pitchFamily="18" charset="0"/>
              </a:rPr>
              <a:t>阶</a:t>
            </a:r>
            <a:r>
              <a:rPr kumimoji="0" lang="zh-CN" altLang="en-US" sz="1200" b="1" dirty="0">
                <a:latin typeface="Times New Roman" panose="02020603050405020304" pitchFamily="18" charset="0"/>
                <a:cs typeface="Times New Roman" panose="02020603050405020304" pitchFamily="18" charset="0"/>
              </a:rPr>
              <a:t>非平凡的无向树至少有两片树叶 。</a:t>
            </a:r>
          </a:p>
          <a:p>
            <a:pPr algn="just" eaLnBrk="1" hangingPunct="1">
              <a:spcBef>
                <a:spcPct val="40000"/>
              </a:spcBef>
              <a:buClr>
                <a:schemeClr val="bg2"/>
              </a:buClr>
              <a:buSzPct val="75000"/>
              <a:buFont typeface="Wingdings" panose="05000000000000000000" pitchFamily="2" charset="2"/>
              <a:buNone/>
            </a:pPr>
            <a:r>
              <a:rPr kumimoji="0" lang="zh-CN" altLang="en-US" sz="1200" b="1" dirty="0">
                <a:latin typeface="Times New Roman" panose="02020603050405020304" pitchFamily="18" charset="0"/>
                <a:cs typeface="Times New Roman" panose="02020603050405020304" pitchFamily="18" charset="0"/>
              </a:rPr>
              <a:t>证：  设有</a:t>
            </a:r>
            <a:r>
              <a:rPr kumimoji="0" lang="en-US" altLang="zh-CN" sz="1200" b="1" i="1" dirty="0">
                <a:latin typeface="Times New Roman" panose="02020603050405020304" pitchFamily="18" charset="0"/>
                <a:cs typeface="Times New Roman" panose="02020603050405020304" pitchFamily="18" charset="0"/>
              </a:rPr>
              <a:t>n</a:t>
            </a:r>
            <a:r>
              <a:rPr kumimoji="0" lang="en-US" altLang="zh-CN" sz="1200" b="1" dirty="0">
                <a:latin typeface="Times New Roman" panose="02020603050405020304" pitchFamily="18" charset="0"/>
                <a:cs typeface="Times New Roman" panose="02020603050405020304" pitchFamily="18" charset="0"/>
              </a:rPr>
              <a:t>(</a:t>
            </a:r>
            <a:r>
              <a:rPr kumimoji="0" lang="en-US" altLang="zh-CN" sz="1200" b="1" i="1" dirty="0">
                <a:latin typeface="Times New Roman" panose="02020603050405020304" pitchFamily="18" charset="0"/>
                <a:cs typeface="Times New Roman" panose="02020603050405020304" pitchFamily="18" charset="0"/>
              </a:rPr>
              <a:t>n</a:t>
            </a:r>
            <a:r>
              <a:rPr kumimoji="0" lang="en-US" altLang="zh-CN" sz="1200" b="1" dirty="0">
                <a:latin typeface="Times New Roman" panose="02020603050405020304" pitchFamily="18" charset="0"/>
                <a:cs typeface="Times New Roman" panose="02020603050405020304" pitchFamily="18" charset="0"/>
              </a:rPr>
              <a:t>&gt;1)</a:t>
            </a:r>
            <a:r>
              <a:rPr kumimoji="0" lang="zh-CN" altLang="en-US" sz="1200" b="1" dirty="0">
                <a:latin typeface="Times New Roman" panose="02020603050405020304" pitchFamily="18" charset="0"/>
                <a:cs typeface="Times New Roman" panose="02020603050405020304" pitchFamily="18" charset="0"/>
              </a:rPr>
              <a:t>个顶点, </a:t>
            </a:r>
            <a:r>
              <a:rPr kumimoji="0" lang="en-US" altLang="zh-CN" sz="1200" b="1" i="1" dirty="0">
                <a:latin typeface="Times New Roman" panose="02020603050405020304" pitchFamily="18" charset="0"/>
                <a:cs typeface="Times New Roman" panose="02020603050405020304" pitchFamily="18" charset="0"/>
              </a:rPr>
              <a:t>k</a:t>
            </a:r>
            <a:r>
              <a:rPr kumimoji="0" lang="zh-CN" altLang="en-US" sz="1200" b="1" dirty="0">
                <a:latin typeface="Times New Roman" panose="02020603050405020304" pitchFamily="18" charset="0"/>
                <a:cs typeface="Times New Roman" panose="02020603050405020304" pitchFamily="18" charset="0"/>
              </a:rPr>
              <a:t>片树叶, </a:t>
            </a:r>
            <a:r>
              <a:rPr lang="en-US" altLang="zh-CN" b="1" i="1" dirty="0">
                <a:latin typeface="Times New Roman" panose="02020603050405020304" pitchFamily="18" charset="0"/>
                <a:cs typeface="Times New Roman" panose="02020603050405020304" pitchFamily="18" charset="0"/>
              </a:rPr>
              <a:t>m</a:t>
            </a:r>
            <a:r>
              <a:rPr lang="zh-CN" altLang="en-US" b="1" dirty="0">
                <a:latin typeface="Times New Roman" panose="02020603050405020304" pitchFamily="18" charset="0"/>
                <a:cs typeface="Times New Roman" panose="02020603050405020304" pitchFamily="18" charset="0"/>
              </a:rPr>
              <a:t>条边，</a:t>
            </a:r>
            <a:r>
              <a:rPr kumimoji="0" lang="zh-CN" altLang="en-US" sz="1200" b="1" dirty="0">
                <a:latin typeface="Times New Roman" panose="02020603050405020304" pitchFamily="18" charset="0"/>
                <a:cs typeface="Times New Roman" panose="02020603050405020304" pitchFamily="18" charset="0"/>
              </a:rPr>
              <a:t>由握手定理得到：</a:t>
            </a:r>
            <a:endParaRPr kumimoji="0" lang="en-US" altLang="zh-CN" sz="1200" b="1" dirty="0">
              <a:latin typeface="Times New Roman" panose="02020603050405020304" pitchFamily="18" charset="0"/>
              <a:cs typeface="Times New Roman" panose="02020603050405020304" pitchFamily="18" charset="0"/>
            </a:endParaRPr>
          </a:p>
          <a:p>
            <a:pPr algn="just" eaLnBrk="1" hangingPunct="1">
              <a:spcBef>
                <a:spcPct val="40000"/>
              </a:spcBef>
              <a:buClr>
                <a:schemeClr val="bg2"/>
              </a:buClr>
              <a:buSzPct val="75000"/>
              <a:buFont typeface="Wingdings" panose="05000000000000000000" pitchFamily="2" charset="2"/>
              <a:buNone/>
            </a:pPr>
            <a:r>
              <a:rPr lang="en-US" altLang="zh-CN" b="1" dirty="0">
                <a:latin typeface="Times New Roman" panose="02020603050405020304" pitchFamily="18" charset="0"/>
                <a:cs typeface="Times New Roman" panose="02020603050405020304" pitchFamily="18" charset="0"/>
              </a:rPr>
              <a:t>       </a:t>
            </a:r>
            <a:r>
              <a:rPr kumimoji="0" lang="en-US" altLang="zh-CN" sz="1200" b="1" dirty="0">
                <a:latin typeface="Times New Roman" panose="02020603050405020304" pitchFamily="18" charset="0"/>
                <a:cs typeface="Times New Roman" panose="02020603050405020304" pitchFamily="18" charset="0"/>
              </a:rPr>
              <a:t>2</a:t>
            </a:r>
            <a:r>
              <a:rPr lang="en-US" altLang="zh-CN" b="1" i="1" dirty="0">
                <a:latin typeface="Times New Roman" panose="02020603050405020304" pitchFamily="18" charset="0"/>
                <a:cs typeface="Times New Roman" panose="02020603050405020304" pitchFamily="18" charset="0"/>
              </a:rPr>
              <a:t> m</a:t>
            </a:r>
            <a:r>
              <a:rPr lang="en-US" altLang="zh-CN" sz="1200" b="1" dirty="0">
                <a:latin typeface="Times New Roman" panose="02020603050405020304" pitchFamily="18" charset="0"/>
                <a:cs typeface="Times New Roman" panose="02020603050405020304" pitchFamily="18" charset="0"/>
                <a:sym typeface="Symbol" panose="05050102010706020507" pitchFamily="18" charset="2"/>
              </a:rPr>
              <a:t> </a:t>
            </a:r>
            <a:r>
              <a:rPr kumimoji="0" lang="en-US" altLang="zh-CN" sz="1200" b="1" i="1" dirty="0">
                <a:latin typeface="Times New Roman" panose="02020603050405020304" pitchFamily="18" charset="0"/>
                <a:cs typeface="Times New Roman" panose="02020603050405020304" pitchFamily="18" charset="0"/>
              </a:rPr>
              <a:t> k + 2(n-k)</a:t>
            </a:r>
          </a:p>
          <a:p>
            <a:pPr algn="just" eaLnBrk="1" hangingPunct="1">
              <a:spcBef>
                <a:spcPct val="40000"/>
              </a:spcBef>
              <a:buClr>
                <a:schemeClr val="bg2"/>
              </a:buClr>
              <a:buSzPct val="75000"/>
              <a:buFont typeface="Wingdings" panose="05000000000000000000" pitchFamily="2" charset="2"/>
              <a:buNone/>
            </a:pPr>
            <a:r>
              <a:rPr kumimoji="0" lang="en-US" altLang="zh-CN" sz="1200" b="1" i="1" dirty="0">
                <a:latin typeface="Times New Roman" panose="02020603050405020304" pitchFamily="18" charset="0"/>
                <a:cs typeface="Times New Roman" panose="02020603050405020304" pitchFamily="18" charset="0"/>
              </a:rPr>
              <a:t>      </a:t>
            </a:r>
            <a:r>
              <a:rPr lang="zh-CN" altLang="en-US" b="1" dirty="0">
                <a:latin typeface="Times New Roman" panose="02020603050405020304" pitchFamily="18" charset="0"/>
                <a:cs typeface="Times New Roman" panose="02020603050405020304" pitchFamily="18" charset="0"/>
              </a:rPr>
              <a:t>根据定理</a:t>
            </a:r>
            <a:r>
              <a:rPr kumimoji="0" lang="zh-CN" altLang="en-US" sz="1200" b="1" dirty="0">
                <a:latin typeface="Times New Roman" panose="02020603050405020304" pitchFamily="18" charset="0"/>
                <a:cs typeface="Times New Roman" panose="02020603050405020304" pitchFamily="18" charset="0"/>
              </a:rPr>
              <a:t>7.1（边的数量总是等于节点数量减</a:t>
            </a:r>
            <a:r>
              <a:rPr kumimoji="0" lang="en-US" altLang="zh-CN" sz="1200" b="1" dirty="0">
                <a:latin typeface="Times New Roman" panose="02020603050405020304" pitchFamily="18" charset="0"/>
                <a:cs typeface="Times New Roman" panose="02020603050405020304" pitchFamily="18" charset="0"/>
              </a:rPr>
              <a:t>1</a:t>
            </a:r>
            <a:r>
              <a:rPr kumimoji="0" lang="zh-CN" altLang="en-US" sz="1200" b="1" dirty="0">
                <a:latin typeface="Times New Roman" panose="02020603050405020304" pitchFamily="18" charset="0"/>
                <a:cs typeface="Times New Roman" panose="02020603050405020304" pitchFamily="18" charset="0"/>
              </a:rPr>
              <a:t>）, 有</a:t>
            </a:r>
            <a:r>
              <a:rPr lang="en-US" altLang="zh-CN" b="1" i="1" dirty="0">
                <a:latin typeface="Times New Roman" panose="02020603050405020304" pitchFamily="18" charset="0"/>
                <a:cs typeface="Times New Roman" panose="02020603050405020304" pitchFamily="18" charset="0"/>
              </a:rPr>
              <a:t>m=n-1</a:t>
            </a:r>
          </a:p>
          <a:p>
            <a:pPr algn="just">
              <a:spcBef>
                <a:spcPct val="40000"/>
              </a:spcBef>
              <a:buClr>
                <a:schemeClr val="bg2"/>
              </a:buClr>
              <a:buSzPct val="75000"/>
              <a:buNone/>
            </a:pPr>
            <a:r>
              <a:rPr kumimoji="0" lang="en-US" altLang="zh-CN" sz="1200" b="1" i="1" dirty="0">
                <a:latin typeface="Times New Roman" panose="02020603050405020304" pitchFamily="18" charset="0"/>
                <a:cs typeface="Times New Roman" panose="02020603050405020304" pitchFamily="18" charset="0"/>
              </a:rPr>
              <a:t>       </a:t>
            </a:r>
            <a:r>
              <a:rPr kumimoji="0" lang="en-US" altLang="zh-CN" sz="1200" b="1" dirty="0">
                <a:latin typeface="Times New Roman" panose="02020603050405020304" pitchFamily="18" charset="0"/>
                <a:cs typeface="Times New Roman" panose="02020603050405020304" pitchFamily="18" charset="0"/>
              </a:rPr>
              <a:t>2</a:t>
            </a:r>
            <a:r>
              <a:rPr lang="en-US" altLang="zh-CN" b="1" i="1" dirty="0">
                <a:latin typeface="Times New Roman" panose="02020603050405020304" pitchFamily="18" charset="0"/>
                <a:cs typeface="Times New Roman" panose="02020603050405020304" pitchFamily="18" charset="0"/>
              </a:rPr>
              <a:t> </a:t>
            </a:r>
            <a:r>
              <a:rPr lang="en-US" altLang="zh-CN" b="1" dirty="0">
                <a:latin typeface="Times New Roman" panose="02020603050405020304" pitchFamily="18" charset="0"/>
                <a:cs typeface="Times New Roman" panose="02020603050405020304" pitchFamily="18" charset="0"/>
              </a:rPr>
              <a:t>(</a:t>
            </a:r>
            <a:r>
              <a:rPr lang="en-US" altLang="zh-CN" b="1" i="1" dirty="0">
                <a:latin typeface="Times New Roman" panose="02020603050405020304" pitchFamily="18" charset="0"/>
                <a:cs typeface="Times New Roman" panose="02020603050405020304" pitchFamily="18" charset="0"/>
              </a:rPr>
              <a:t>n-1</a:t>
            </a:r>
            <a:r>
              <a:rPr lang="en-US" altLang="zh-CN" b="1" dirty="0">
                <a:latin typeface="Times New Roman" panose="02020603050405020304" pitchFamily="18" charset="0"/>
                <a:cs typeface="Times New Roman" panose="02020603050405020304" pitchFamily="18" charset="0"/>
              </a:rPr>
              <a:t>)</a:t>
            </a:r>
            <a:r>
              <a:rPr lang="en-US" altLang="zh-CN" sz="1200" b="1" dirty="0">
                <a:latin typeface="Times New Roman" panose="02020603050405020304" pitchFamily="18" charset="0"/>
                <a:cs typeface="Times New Roman" panose="02020603050405020304" pitchFamily="18" charset="0"/>
                <a:sym typeface="Symbol" panose="05050102010706020507" pitchFamily="18" charset="2"/>
              </a:rPr>
              <a:t> </a:t>
            </a:r>
            <a:r>
              <a:rPr kumimoji="0" lang="en-US" altLang="zh-CN" sz="1200" b="1" i="1" dirty="0">
                <a:latin typeface="Times New Roman" panose="02020603050405020304" pitchFamily="18" charset="0"/>
                <a:cs typeface="Times New Roman" panose="02020603050405020304" pitchFamily="18" charset="0"/>
              </a:rPr>
              <a:t> k + 2</a:t>
            </a:r>
            <a:r>
              <a:rPr kumimoji="0" lang="en-US" altLang="zh-CN" sz="1200" b="1" dirty="0">
                <a:latin typeface="Times New Roman" panose="02020603050405020304" pitchFamily="18" charset="0"/>
                <a:cs typeface="Times New Roman" panose="02020603050405020304" pitchFamily="18" charset="0"/>
              </a:rPr>
              <a:t>(</a:t>
            </a:r>
            <a:r>
              <a:rPr kumimoji="0" lang="en-US" altLang="zh-CN" sz="1200" b="1" i="1" dirty="0">
                <a:latin typeface="Times New Roman" panose="02020603050405020304" pitchFamily="18" charset="0"/>
                <a:cs typeface="Times New Roman" panose="02020603050405020304" pitchFamily="18" charset="0"/>
              </a:rPr>
              <a:t>n-k</a:t>
            </a:r>
            <a:r>
              <a:rPr kumimoji="0" lang="en-US" altLang="zh-CN" sz="1200" b="1" dirty="0">
                <a:latin typeface="Times New Roman" panose="02020603050405020304" pitchFamily="18" charset="0"/>
                <a:cs typeface="Times New Roman" panose="02020603050405020304" pitchFamily="18" charset="0"/>
              </a:rPr>
              <a:t>)</a:t>
            </a:r>
            <a:r>
              <a:rPr lang="en-US" altLang="zh-CN" b="1" dirty="0">
                <a:latin typeface="Times New Roman" panose="02020603050405020304" pitchFamily="18" charset="0"/>
                <a:cs typeface="Times New Roman" panose="02020603050405020304" pitchFamily="18" charset="0"/>
              </a:rPr>
              <a:t>     </a:t>
            </a:r>
            <a:endParaRPr kumimoji="0" lang="zh-CN" altLang="en-US" sz="1200" b="1" dirty="0">
              <a:latin typeface="Times New Roman" panose="02020603050405020304" pitchFamily="18" charset="0"/>
              <a:cs typeface="Times New Roman" panose="02020603050405020304" pitchFamily="18" charset="0"/>
            </a:endParaRPr>
          </a:p>
          <a:p>
            <a:pPr algn="just" eaLnBrk="1" hangingPunct="1">
              <a:spcBef>
                <a:spcPct val="40000"/>
              </a:spcBef>
              <a:buClr>
                <a:schemeClr val="bg2"/>
              </a:buClr>
              <a:buSzPct val="75000"/>
              <a:buFont typeface="Wingdings" panose="05000000000000000000" pitchFamily="2" charset="2"/>
              <a:buNone/>
            </a:pPr>
            <a:r>
              <a:rPr kumimoji="0" lang="zh-CN" altLang="en-US" sz="1200" b="1" dirty="0">
                <a:latin typeface="Times New Roman" panose="02020603050405020304" pitchFamily="18" charset="0"/>
                <a:cs typeface="Times New Roman" panose="02020603050405020304" pitchFamily="18" charset="0"/>
              </a:rPr>
              <a:t>       解得 </a:t>
            </a:r>
            <a:r>
              <a:rPr kumimoji="0" lang="en-US" altLang="zh-CN" sz="1200" b="1" i="1" dirty="0">
                <a:latin typeface="Times New Roman" panose="02020603050405020304" pitchFamily="18" charset="0"/>
                <a:cs typeface="Times New Roman" panose="02020603050405020304" pitchFamily="18" charset="0"/>
              </a:rPr>
              <a:t>k</a:t>
            </a:r>
            <a:r>
              <a:rPr kumimoji="0" lang="en-US" altLang="zh-CN" sz="1200" b="1" dirty="0">
                <a:latin typeface="Times New Roman" panose="02020603050405020304" pitchFamily="18" charset="0"/>
                <a:cs typeface="Times New Roman" panose="02020603050405020304" pitchFamily="18" charset="0"/>
                <a:sym typeface="Symbol" panose="05050102010706020507" pitchFamily="18" charset="2"/>
              </a:rPr>
              <a:t></a:t>
            </a:r>
            <a:r>
              <a:rPr kumimoji="0" lang="en-US" altLang="zh-CN" sz="1200" b="1" dirty="0">
                <a:latin typeface="Times New Roman" panose="02020603050405020304" pitchFamily="18" charset="0"/>
                <a:cs typeface="Times New Roman" panose="02020603050405020304" pitchFamily="18" charset="0"/>
              </a:rPr>
              <a:t>2.</a:t>
            </a:r>
            <a:endParaRPr lang="en-US" altLang="zh-CN" sz="1200" b="1" dirty="0">
              <a:latin typeface="Times New Roman" panose="02020603050405020304" pitchFamily="18" charset="0"/>
              <a:cs typeface="Times New Roman" panose="02020603050405020304" pitchFamily="18" charset="0"/>
              <a:sym typeface="Symbol" panose="05050102010706020507" pitchFamily="18" charset="2"/>
            </a:endParaRPr>
          </a:p>
          <a:p>
            <a:endParaRPr lang="zh-CN" altLang="en-US" dirty="0"/>
          </a:p>
        </p:txBody>
      </p:sp>
      <p:sp>
        <p:nvSpPr>
          <p:cNvPr id="4" name="灯片编号占位符 3"/>
          <p:cNvSpPr>
            <a:spLocks noGrp="1"/>
          </p:cNvSpPr>
          <p:nvPr>
            <p:ph type="sldNum" sz="quarter" idx="10"/>
          </p:nvPr>
        </p:nvSpPr>
        <p:spPr/>
        <p:txBody>
          <a:bodyPr/>
          <a:lstStyle/>
          <a:p>
            <a:fld id="{CAFE74B6-F93C-4D90-BE1A-7EFEDB35C0D4}" type="slidenum">
              <a:rPr lang="zh-CN" altLang="en-US" smtClean="0"/>
              <a:t>31</a:t>
            </a:fld>
            <a:endParaRPr lang="zh-CN" altLang="en-US"/>
          </a:p>
        </p:txBody>
      </p:sp>
    </p:spTree>
    <p:extLst>
      <p:ext uri="{BB962C8B-B14F-4D97-AF65-F5344CB8AC3E}">
        <p14:creationId xmlns:p14="http://schemas.microsoft.com/office/powerpoint/2010/main" val="1859095129"/>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800" b="1" dirty="0">
                <a:solidFill>
                  <a:srgbClr val="00B0F0"/>
                </a:solidFill>
              </a:rPr>
              <a:t>例</a:t>
            </a:r>
            <a:r>
              <a:rPr lang="en-US" altLang="zh-CN" sz="1800" b="1" dirty="0">
                <a:solidFill>
                  <a:srgbClr val="00B0F0"/>
                </a:solidFill>
              </a:rPr>
              <a:t>: </a:t>
            </a:r>
            <a:r>
              <a:rPr lang="zh-CN" altLang="en-US" sz="1800" b="1" dirty="0">
                <a:latin typeface="Times New Roman" panose="02020603050405020304" pitchFamily="18" charset="0"/>
                <a:cs typeface="Times New Roman" panose="02020603050405020304" pitchFamily="18" charset="0"/>
              </a:rPr>
              <a:t>已知无向树</a:t>
            </a:r>
            <a:r>
              <a:rPr lang="en-US" altLang="zh-CN" sz="1800" b="1" i="1" dirty="0">
                <a:latin typeface="Times New Roman" panose="02020603050405020304" pitchFamily="18" charset="0"/>
                <a:cs typeface="Times New Roman" panose="02020603050405020304" pitchFamily="18" charset="0"/>
              </a:rPr>
              <a:t>T</a:t>
            </a:r>
            <a:r>
              <a:rPr lang="zh-CN" altLang="en-US" sz="1800" b="1" dirty="0">
                <a:latin typeface="Times New Roman" panose="02020603050405020304" pitchFamily="18" charset="0"/>
                <a:cs typeface="Times New Roman" panose="02020603050405020304" pitchFamily="18" charset="0"/>
              </a:rPr>
              <a:t>中, 有1个3度顶点, 2个2度顶点, 其余顶点全是树叶. 试求树叶数, 并画出满足要求的非同构的无向树. </a:t>
            </a:r>
            <a:endParaRPr lang="en-US" altLang="zh-CN" sz="1800" b="1" dirty="0">
              <a:latin typeface="Times New Roman" panose="02020603050405020304" pitchFamily="18" charset="0"/>
              <a:cs typeface="Times New Roman" panose="02020603050405020304" pitchFamily="18"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800" b="1" dirty="0">
                <a:solidFill>
                  <a:srgbClr val="00B0F0"/>
                </a:solidFill>
              </a:rPr>
              <a:t>解</a:t>
            </a:r>
            <a:r>
              <a:rPr lang="en-US" altLang="zh-CN" sz="1800" b="1" dirty="0">
                <a:solidFill>
                  <a:srgbClr val="00B0F0"/>
                </a:solidFill>
              </a:rPr>
              <a:t>:</a:t>
            </a:r>
            <a:r>
              <a:rPr lang="zh-CN" altLang="en-US" sz="1800" b="1" dirty="0"/>
              <a:t>设有</a:t>
            </a:r>
            <a:r>
              <a:rPr lang="en-US" altLang="zh-CN" sz="1800" b="1" i="1" dirty="0"/>
              <a:t>x</a:t>
            </a:r>
            <a:r>
              <a:rPr lang="zh-CN" altLang="en-US" sz="1800" b="1" dirty="0"/>
              <a:t>片树叶、</a:t>
            </a:r>
            <a:r>
              <a:rPr lang="en-US" altLang="zh-CN" sz="1800" b="1" i="1" dirty="0"/>
              <a:t>m</a:t>
            </a:r>
            <a:r>
              <a:rPr lang="zh-CN" altLang="en-US" sz="1800" b="1" dirty="0"/>
              <a:t>条边和</a:t>
            </a:r>
            <a:r>
              <a:rPr lang="en-US" altLang="zh-CN" sz="1800" b="1" i="1" dirty="0"/>
              <a:t> n</a:t>
            </a:r>
            <a:r>
              <a:rPr lang="zh-CN" altLang="en-US" sz="1800" b="1" dirty="0"/>
              <a:t> </a:t>
            </a:r>
            <a:r>
              <a:rPr lang="en-US" altLang="zh-CN" sz="1800" b="1" dirty="0"/>
              <a:t>(=</a:t>
            </a:r>
            <a:r>
              <a:rPr lang="en-US" altLang="zh-CN" sz="1800" b="1" i="1" dirty="0"/>
              <a:t> </a:t>
            </a:r>
            <a:r>
              <a:rPr lang="en-US" altLang="zh-CN" sz="1800" b="1" dirty="0"/>
              <a:t>1+2+</a:t>
            </a:r>
            <a:r>
              <a:rPr lang="en-US" altLang="zh-CN" sz="1800" b="1" i="1" dirty="0"/>
              <a:t> x </a:t>
            </a:r>
            <a:r>
              <a:rPr lang="en-US" altLang="zh-CN" sz="1800" b="1" dirty="0"/>
              <a:t>)</a:t>
            </a:r>
            <a:r>
              <a:rPr lang="zh-CN" altLang="en-US" sz="1800" b="1" dirty="0"/>
              <a:t>个顶点，总度数</a:t>
            </a:r>
            <a:r>
              <a:rPr lang="en-US" altLang="zh-CN" sz="1800" b="1" dirty="0"/>
              <a:t>=</a:t>
            </a:r>
            <a:r>
              <a:rPr lang="zh-CN" altLang="en-US" sz="1800" b="1" dirty="0"/>
              <a:t> </a:t>
            </a:r>
            <a:r>
              <a:rPr lang="en-US" altLang="zh-CN" sz="1800" b="1" dirty="0"/>
              <a:t>3</a:t>
            </a:r>
            <a:r>
              <a:rPr lang="zh-CN" altLang="zh-CN" sz="1800" b="1" dirty="0"/>
              <a:t>∗1</a:t>
            </a:r>
            <a:r>
              <a:rPr lang="en-US" altLang="zh-CN" sz="1800" b="1" dirty="0"/>
              <a:t>+</a:t>
            </a:r>
            <a:r>
              <a:rPr lang="zh-CN" altLang="zh-CN" sz="1800" b="1" dirty="0"/>
              <a:t>2∗2</a:t>
            </a:r>
            <a:r>
              <a:rPr lang="en-US" altLang="zh-CN" sz="1800" b="1" dirty="0"/>
              <a:t>+</a:t>
            </a:r>
            <a:r>
              <a:rPr lang="zh-CN" altLang="zh-CN" sz="1800" b="1" dirty="0"/>
              <a:t>1∗</a:t>
            </a:r>
            <a:r>
              <a:rPr lang="en-US" altLang="zh-CN" sz="1800" b="1" i="1" dirty="0"/>
              <a:t> x</a:t>
            </a:r>
            <a:r>
              <a:rPr lang="zh-CN" altLang="zh-CN" sz="1800" i="1" dirty="0"/>
              <a:t> </a:t>
            </a:r>
            <a:r>
              <a:rPr lang="en-US" altLang="zh-CN" sz="1800" i="1" dirty="0"/>
              <a:t>.</a:t>
            </a:r>
            <a:r>
              <a:rPr lang="zh-CN" altLang="en-US" sz="1800" b="1" dirty="0"/>
              <a:t>由用树的性质</a:t>
            </a:r>
            <a:r>
              <a:rPr lang="en-US" altLang="zh-CN" sz="1800" b="1" i="1" dirty="0"/>
              <a:t>m</a:t>
            </a:r>
            <a:r>
              <a:rPr lang="en-US" altLang="zh-CN" sz="1800" b="1" dirty="0"/>
              <a:t>=</a:t>
            </a:r>
            <a:r>
              <a:rPr lang="en-US" altLang="zh-CN" sz="1800" b="1" i="1" dirty="0"/>
              <a:t>n</a:t>
            </a:r>
            <a:r>
              <a:rPr lang="en-US" altLang="zh-CN" sz="1800" b="1" dirty="0">
                <a:sym typeface="Symbol" panose="05050102010706020507" pitchFamily="18" charset="2"/>
              </a:rPr>
              <a:t></a:t>
            </a:r>
            <a:r>
              <a:rPr lang="en-US" altLang="zh-CN" sz="1800" b="1" dirty="0"/>
              <a:t>1</a:t>
            </a:r>
            <a:r>
              <a:rPr lang="zh-CN" altLang="en-US" sz="1800" b="1" dirty="0"/>
              <a:t>和握手定理,有：</a:t>
            </a:r>
          </a:p>
          <a:p>
            <a:pPr marL="0" marR="0" lvl="0" indent="0" algn="l" defTabSz="914400" rtl="0" eaLnBrk="1" fontAlgn="auto" latinLnBrk="0" hangingPunct="1">
              <a:lnSpc>
                <a:spcPct val="100000"/>
              </a:lnSpc>
              <a:spcBef>
                <a:spcPts val="0"/>
              </a:spcBef>
              <a:spcAft>
                <a:spcPts val="0"/>
              </a:spcAft>
              <a:buClrTx/>
              <a:buSzTx/>
              <a:buFontTx/>
              <a:buNone/>
              <a:tabLst/>
              <a:defRPr/>
            </a:pPr>
            <a:endParaRPr lang="zh-CN" altLang="en-US" sz="1800" b="1" dirty="0">
              <a:latin typeface="Times New Roman" panose="02020603050405020304" pitchFamily="18" charset="0"/>
              <a:cs typeface="Times New Roman" panose="02020603050405020304" pitchFamily="18"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800" b="1" dirty="0"/>
              <a:t>解得</a:t>
            </a:r>
            <a:r>
              <a:rPr lang="en-US" altLang="zh-CN" sz="1800" b="1" i="1" dirty="0"/>
              <a:t>x</a:t>
            </a:r>
            <a:r>
              <a:rPr lang="en-US" altLang="zh-CN" sz="1800" b="1" dirty="0"/>
              <a:t>=3，</a:t>
            </a:r>
            <a:r>
              <a:rPr lang="zh-CN" altLang="en-US" sz="1800" b="1" dirty="0"/>
              <a:t>故</a:t>
            </a:r>
            <a:r>
              <a:rPr lang="en-US" altLang="zh-CN" sz="1800" b="1" i="1" dirty="0"/>
              <a:t>T</a:t>
            </a:r>
            <a:r>
              <a:rPr lang="zh-CN" altLang="en-US" sz="1800" b="1" dirty="0"/>
              <a:t>有3片</a:t>
            </a:r>
            <a:r>
              <a:rPr lang="zh-CN" altLang="en-US" sz="1800" b="1"/>
              <a:t>树叶.</a:t>
            </a:r>
            <a:r>
              <a:rPr lang="zh-CN" altLang="en-US" sz="2800"/>
              <a:t>两棵无向树如果不能通过顶点重命名变换为同一棵树，就被称为</a:t>
            </a:r>
            <a:r>
              <a:rPr lang="zh-CN" altLang="en-US" sz="2800" b="1"/>
              <a:t>非同构的树</a:t>
            </a:r>
            <a:r>
              <a:rPr lang="zh-CN" altLang="en-US" sz="2800"/>
              <a:t>。</a:t>
            </a:r>
          </a:p>
          <a:p>
            <a:pPr marL="0" marR="0" lvl="0" indent="0" algn="l" defTabSz="914400" rtl="0" eaLnBrk="1" fontAlgn="auto" latinLnBrk="0" hangingPunct="1">
              <a:lnSpc>
                <a:spcPct val="100000"/>
              </a:lnSpc>
              <a:spcBef>
                <a:spcPts val="0"/>
              </a:spcBef>
              <a:spcAft>
                <a:spcPts val="0"/>
              </a:spcAft>
              <a:buClrTx/>
              <a:buSzTx/>
              <a:buFontTx/>
              <a:buNone/>
              <a:tabLst/>
              <a:defRPr/>
            </a:pPr>
            <a:endParaRPr lang="zh-CN" altLang="en-US" sz="1800" b="1"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1800" b="1" i="1" dirty="0"/>
              <a:t>T</a:t>
            </a:r>
            <a:r>
              <a:rPr lang="zh-CN" altLang="en-US" sz="1800" b="1" dirty="0"/>
              <a:t>的度数列为1, 1, 1, 2, 2, 3</a:t>
            </a:r>
          </a:p>
          <a:p>
            <a:endParaRPr lang="en-US" altLang="zh-CN" sz="1800" dirty="0">
              <a:effectLst/>
              <a:latin typeface="Times New Roman" panose="02020603050405020304" pitchFamily="18" charset="0"/>
              <a:ea typeface="宋体" panose="02010600030101010101" pitchFamily="2" charset="-122"/>
              <a:cs typeface="Times New Roman" panose="02020603050405020304" pitchFamily="18" charset="0"/>
            </a:endParaRPr>
          </a:p>
          <a:p>
            <a:r>
              <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rPr>
              <a:t>握手定理指出，在任何图中，所有顶点的度之和等于边的数量乘以</a:t>
            </a:r>
            <a:r>
              <a:rPr lang="en-US" altLang="zh-CN" sz="1800" dirty="0">
                <a:effectLst/>
                <a:latin typeface="Times New Roman" panose="02020603050405020304" pitchFamily="18" charset="0"/>
                <a:ea typeface="宋体" panose="02010600030101010101" pitchFamily="2" charset="-122"/>
              </a:rPr>
              <a:t>2</a:t>
            </a:r>
            <a:endParaRPr lang="zh-CN" altLang="en-US" dirty="0"/>
          </a:p>
        </p:txBody>
      </p:sp>
      <p:sp>
        <p:nvSpPr>
          <p:cNvPr id="4" name="灯片编号占位符 3"/>
          <p:cNvSpPr>
            <a:spLocks noGrp="1"/>
          </p:cNvSpPr>
          <p:nvPr>
            <p:ph type="sldNum" sz="quarter" idx="10"/>
          </p:nvPr>
        </p:nvSpPr>
        <p:spPr/>
        <p:txBody>
          <a:bodyPr/>
          <a:lstStyle/>
          <a:p>
            <a:fld id="{CAFE74B6-F93C-4D90-BE1A-7EFEDB35C0D4}" type="slidenum">
              <a:rPr lang="zh-CN" altLang="en-US" smtClean="0"/>
              <a:t>32</a:t>
            </a:fld>
            <a:endParaRPr lang="zh-CN" altLang="en-US"/>
          </a:p>
        </p:txBody>
      </p:sp>
    </p:spTree>
    <p:extLst>
      <p:ext uri="{BB962C8B-B14F-4D97-AF65-F5344CB8AC3E}">
        <p14:creationId xmlns:p14="http://schemas.microsoft.com/office/powerpoint/2010/main" val="3063436280"/>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200" b="1" dirty="0">
                <a:solidFill>
                  <a:srgbClr val="00B0F0"/>
                </a:solidFill>
              </a:rPr>
              <a:t>例： </a:t>
            </a:r>
            <a:r>
              <a:rPr lang="zh-CN" altLang="en-US" sz="1200" b="1" dirty="0"/>
              <a:t>画出所有6阶非同构的无向树</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1200" b="1" dirty="0">
                <a:solidFill>
                  <a:srgbClr val="00B0F0"/>
                </a:solidFill>
              </a:rPr>
              <a:t>解： </a:t>
            </a:r>
            <a:r>
              <a:rPr kumimoji="0" lang="zh-CN" altLang="en-US" sz="1200" b="1" dirty="0"/>
              <a:t>5条边, 总度数等于10</a:t>
            </a:r>
          </a:p>
          <a:p>
            <a:endParaRPr lang="zh-CN" altLang="en-US" dirty="0"/>
          </a:p>
        </p:txBody>
      </p:sp>
      <p:sp>
        <p:nvSpPr>
          <p:cNvPr id="4" name="灯片编号占位符 3"/>
          <p:cNvSpPr>
            <a:spLocks noGrp="1"/>
          </p:cNvSpPr>
          <p:nvPr>
            <p:ph type="sldNum" sz="quarter" idx="10"/>
          </p:nvPr>
        </p:nvSpPr>
        <p:spPr/>
        <p:txBody>
          <a:bodyPr/>
          <a:lstStyle/>
          <a:p>
            <a:fld id="{CAFE74B6-F93C-4D90-BE1A-7EFEDB35C0D4}" type="slidenum">
              <a:rPr lang="zh-CN" altLang="en-US" smtClean="0"/>
              <a:t>33</a:t>
            </a:fld>
            <a:endParaRPr lang="zh-CN" altLang="en-US"/>
          </a:p>
        </p:txBody>
      </p:sp>
    </p:spTree>
    <p:extLst>
      <p:ext uri="{BB962C8B-B14F-4D97-AF65-F5344CB8AC3E}">
        <p14:creationId xmlns:p14="http://schemas.microsoft.com/office/powerpoint/2010/main" val="314775318"/>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indent="719138" eaLnBrk="1" hangingPunct="1">
              <a:spcBef>
                <a:spcPct val="60000"/>
              </a:spcBef>
              <a:buNone/>
            </a:pPr>
            <a:r>
              <a:rPr lang="zh-CN" altLang="en-US" b="1" dirty="0"/>
              <a:t>7.1.1 无向树的定义及其性质</a:t>
            </a:r>
            <a:endParaRPr lang="en-US" altLang="zh-CN" b="1" dirty="0"/>
          </a:p>
          <a:p>
            <a:pPr marL="0" indent="719138" eaLnBrk="1" hangingPunct="1">
              <a:spcBef>
                <a:spcPct val="60000"/>
              </a:spcBef>
              <a:buNone/>
            </a:pPr>
            <a:endParaRPr lang="zh-CN" altLang="en-US" b="1" dirty="0"/>
          </a:p>
          <a:p>
            <a:pPr marL="0" indent="719138" eaLnBrk="1" hangingPunct="1">
              <a:spcBef>
                <a:spcPct val="60000"/>
              </a:spcBef>
              <a:buNone/>
            </a:pPr>
            <a:r>
              <a:rPr lang="zh-CN" altLang="en-US" b="1" dirty="0"/>
              <a:t>7.1.2 生成树</a:t>
            </a:r>
          </a:p>
          <a:p>
            <a:endParaRPr lang="zh-CN" altLang="en-US" dirty="0"/>
          </a:p>
        </p:txBody>
      </p:sp>
      <p:sp>
        <p:nvSpPr>
          <p:cNvPr id="4" name="灯片编号占位符 3"/>
          <p:cNvSpPr>
            <a:spLocks noGrp="1"/>
          </p:cNvSpPr>
          <p:nvPr>
            <p:ph type="sldNum" sz="quarter" idx="10"/>
          </p:nvPr>
        </p:nvSpPr>
        <p:spPr/>
        <p:txBody>
          <a:bodyPr/>
          <a:lstStyle/>
          <a:p>
            <a:fld id="{CAFE74B6-F93C-4D90-BE1A-7EFEDB35C0D4}" type="slidenum">
              <a:rPr lang="zh-CN" altLang="en-US" smtClean="0"/>
              <a:t>34</a:t>
            </a:fld>
            <a:endParaRPr lang="zh-CN" altLang="en-US"/>
          </a:p>
        </p:txBody>
      </p:sp>
    </p:spTree>
    <p:extLst>
      <p:ext uri="{BB962C8B-B14F-4D97-AF65-F5344CB8AC3E}">
        <p14:creationId xmlns:p14="http://schemas.microsoft.com/office/powerpoint/2010/main" val="1632058974"/>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备注占位符 2"/>
              <p:cNvSpPr>
                <a:spLocks noGrp="1"/>
              </p:cNvSpPr>
              <p:nvPr>
                <p:ph type="body" idx="1"/>
              </p:nvPr>
            </p:nvSpPr>
            <p:spPr/>
            <p:txBody>
              <a:bodyPr/>
              <a:lstStyle/>
              <a:p>
                <a:r>
                  <a:rPr lang="zh-CN" altLang="zh-CN" sz="1800" dirty="0">
                    <a:effectLst/>
                    <a:highlight>
                      <a:srgbClr val="FFFF00"/>
                    </a:highlight>
                    <a:latin typeface="Times New Roman" panose="02020603050405020304" pitchFamily="18" charset="0"/>
                    <a:ea typeface="宋体" panose="02010600030101010101" pitchFamily="2" charset="-122"/>
                    <a:cs typeface="Times New Roman" panose="02020603050405020304" pitchFamily="18" charset="0"/>
                  </a:rPr>
                  <a:t>生成树是生成子图的一种特殊情况</a:t>
                </a:r>
                <a:r>
                  <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rPr>
                  <a:t>，它确保了子图是连通的并且是无环的。每个连通图都有至少一个生成树，但生成子图的数量可能更多，因为它们不受边数和无环性的限制。</a:t>
                </a:r>
                <a:endParaRPr lang="en-US" altLang="zh-CN" sz="1800" dirty="0">
                  <a:effectLst/>
                  <a:latin typeface="Times New Roman" panose="02020603050405020304" pitchFamily="18" charset="0"/>
                  <a:ea typeface="宋体" panose="02010600030101010101" pitchFamily="2" charset="-122"/>
                  <a:cs typeface="Times New Roman" panose="02020603050405020304" pitchFamily="18" charset="0"/>
                </a:endParaRPr>
              </a:p>
              <a:p>
                <a:pPr algn="just" eaLnBrk="1" hangingPunct="1">
                  <a:spcBef>
                    <a:spcPct val="20000"/>
                  </a:spcBef>
                  <a:buClr>
                    <a:schemeClr val="bg2"/>
                  </a:buClr>
                  <a:buSzPct val="75000"/>
                  <a:buFont typeface="Wingdings" panose="05000000000000000000" pitchFamily="2" charset="2"/>
                  <a:buNone/>
                </a:pPr>
                <a:r>
                  <a:rPr lang="zh-CN" altLang="en-US" sz="1200" b="1" dirty="0">
                    <a:latin typeface="Times New Roman" panose="02020603050405020304" pitchFamily="18" charset="0"/>
                  </a:rPr>
                  <a:t>设</a:t>
                </a:r>
                <a:r>
                  <a:rPr lang="en-US" altLang="zh-CN" sz="1200" b="1" i="1" dirty="0">
                    <a:latin typeface="Times New Roman" panose="02020603050405020304" pitchFamily="18" charset="0"/>
                  </a:rPr>
                  <a:t>G</a:t>
                </a:r>
                <a:r>
                  <a:rPr lang="zh-CN" altLang="en-US" sz="1200" b="1" dirty="0">
                    <a:latin typeface="Times New Roman" panose="02020603050405020304" pitchFamily="18" charset="0"/>
                  </a:rPr>
                  <a:t>为无向连通图</a:t>
                </a:r>
              </a:p>
              <a:p>
                <a:pPr algn="just" eaLnBrk="1" hangingPunct="1">
                  <a:spcBef>
                    <a:spcPct val="20000"/>
                  </a:spcBef>
                  <a:buClr>
                    <a:schemeClr val="bg2"/>
                  </a:buClr>
                  <a:buSzPct val="75000"/>
                  <a:buFont typeface="Wingdings" panose="05000000000000000000" pitchFamily="2" charset="2"/>
                  <a:buNone/>
                </a:pPr>
                <a:r>
                  <a:rPr lang="en-US" altLang="zh-CN" sz="1200" b="1" i="1" dirty="0">
                    <a:latin typeface="Times New Roman" panose="02020603050405020304" pitchFamily="18" charset="0"/>
                  </a:rPr>
                  <a:t>G</a:t>
                </a:r>
                <a:r>
                  <a:rPr lang="zh-CN" altLang="en-US" sz="1200" b="1" dirty="0">
                    <a:latin typeface="Times New Roman" panose="02020603050405020304" pitchFamily="18" charset="0"/>
                  </a:rPr>
                  <a:t>的</a:t>
                </a:r>
                <a:r>
                  <a:rPr lang="zh-CN" altLang="en-US" sz="1200" b="1" dirty="0">
                    <a:solidFill>
                      <a:srgbClr val="FF3300"/>
                    </a:solidFill>
                    <a:latin typeface="Times New Roman" panose="02020603050405020304" pitchFamily="18" charset="0"/>
                  </a:rPr>
                  <a:t>生成树</a:t>
                </a:r>
                <a:r>
                  <a:rPr lang="en-US" altLang="zh-CN" sz="1200" b="1" i="1" dirty="0">
                    <a:latin typeface="Times New Roman" panose="02020603050405020304" pitchFamily="18" charset="0"/>
                  </a:rPr>
                  <a:t>T </a:t>
                </a:r>
                <a:r>
                  <a:rPr lang="en-US" altLang="zh-CN" sz="1200" b="1" dirty="0">
                    <a:latin typeface="Times New Roman" panose="02020603050405020304" pitchFamily="18" charset="0"/>
                  </a:rPr>
                  <a:t>: </a:t>
                </a:r>
                <a:r>
                  <a:rPr lang="en-US" altLang="zh-CN" sz="1200" b="1" i="1" dirty="0">
                    <a:latin typeface="Times New Roman" panose="02020603050405020304" pitchFamily="18" charset="0"/>
                  </a:rPr>
                  <a:t>G</a:t>
                </a:r>
                <a:r>
                  <a:rPr lang="zh-CN" altLang="en-US" sz="1200" b="1" dirty="0">
                    <a:latin typeface="Times New Roman" panose="02020603050405020304" pitchFamily="18" charset="0"/>
                  </a:rPr>
                  <a:t>的生成子图并且是树</a:t>
                </a:r>
              </a:p>
              <a:p>
                <a:pPr algn="just" eaLnBrk="1" hangingPunct="1">
                  <a:spcBef>
                    <a:spcPct val="20000"/>
                  </a:spcBef>
                  <a:buClr>
                    <a:schemeClr val="bg2"/>
                  </a:buClr>
                  <a:buSzPct val="75000"/>
                  <a:buFont typeface="Wingdings" panose="05000000000000000000" pitchFamily="2" charset="2"/>
                  <a:buNone/>
                </a:pPr>
                <a:r>
                  <a:rPr lang="zh-CN" altLang="en-US" sz="1200" b="1" dirty="0">
                    <a:latin typeface="Times New Roman" panose="02020603050405020304" pitchFamily="18" charset="0"/>
                  </a:rPr>
                  <a:t>生成树</a:t>
                </a:r>
                <a:r>
                  <a:rPr lang="en-US" altLang="zh-CN" sz="1200" b="1" i="1" dirty="0">
                    <a:latin typeface="Times New Roman" panose="02020603050405020304" pitchFamily="18" charset="0"/>
                  </a:rPr>
                  <a:t>T</a:t>
                </a:r>
                <a:r>
                  <a:rPr lang="zh-CN" altLang="en-US" sz="1200" b="1" dirty="0">
                    <a:latin typeface="Times New Roman" panose="02020603050405020304" pitchFamily="18" charset="0"/>
                  </a:rPr>
                  <a:t>的</a:t>
                </a:r>
                <a:r>
                  <a:rPr lang="zh-CN" altLang="en-US" sz="1200" b="1" dirty="0">
                    <a:solidFill>
                      <a:srgbClr val="FF3300"/>
                    </a:solidFill>
                    <a:latin typeface="Times New Roman" panose="02020603050405020304" pitchFamily="18" charset="0"/>
                  </a:rPr>
                  <a:t>树枝</a:t>
                </a:r>
                <a:r>
                  <a:rPr lang="en-US" altLang="zh-CN" sz="1200" b="1" dirty="0">
                    <a:latin typeface="Times New Roman" panose="02020603050405020304" pitchFamily="18" charset="0"/>
                  </a:rPr>
                  <a:t>: </a:t>
                </a:r>
                <a:r>
                  <a:rPr lang="en-US" altLang="zh-CN" sz="1200" b="1" i="1" dirty="0">
                    <a:latin typeface="Times New Roman" panose="02020603050405020304" pitchFamily="18" charset="0"/>
                  </a:rPr>
                  <a:t>G</a:t>
                </a:r>
                <a:r>
                  <a:rPr lang="zh-CN" altLang="en-US" sz="1200" b="1" dirty="0">
                    <a:latin typeface="Times New Roman" panose="02020603050405020304" pitchFamily="18" charset="0"/>
                  </a:rPr>
                  <a:t>在</a:t>
                </a:r>
                <a:r>
                  <a:rPr lang="en-US" altLang="zh-CN" sz="1200" b="1" i="1" dirty="0">
                    <a:latin typeface="Times New Roman" panose="02020603050405020304" pitchFamily="18" charset="0"/>
                  </a:rPr>
                  <a:t>T</a:t>
                </a:r>
                <a:r>
                  <a:rPr lang="zh-CN" altLang="en-US" sz="1200" b="1" dirty="0">
                    <a:latin typeface="Times New Roman" panose="02020603050405020304" pitchFamily="18" charset="0"/>
                  </a:rPr>
                  <a:t>中的边</a:t>
                </a:r>
              </a:p>
              <a:p>
                <a:pPr algn="just" eaLnBrk="1" hangingPunct="1">
                  <a:spcBef>
                    <a:spcPct val="20000"/>
                  </a:spcBef>
                  <a:buClr>
                    <a:schemeClr val="bg2"/>
                  </a:buClr>
                  <a:buSzPct val="75000"/>
                  <a:buFont typeface="Wingdings" panose="05000000000000000000" pitchFamily="2" charset="2"/>
                  <a:buNone/>
                </a:pPr>
                <a:r>
                  <a:rPr lang="zh-CN" altLang="en-US" sz="1200" b="1" dirty="0">
                    <a:latin typeface="Times New Roman" panose="02020603050405020304" pitchFamily="18" charset="0"/>
                  </a:rPr>
                  <a:t>生成树</a:t>
                </a:r>
                <a:r>
                  <a:rPr lang="en-US" altLang="zh-CN" sz="1200" b="1" i="1" dirty="0">
                    <a:latin typeface="Times New Roman" panose="02020603050405020304" pitchFamily="18" charset="0"/>
                  </a:rPr>
                  <a:t>T</a:t>
                </a:r>
                <a:r>
                  <a:rPr lang="zh-CN" altLang="en-US" sz="1200" b="1" dirty="0">
                    <a:latin typeface="Times New Roman" panose="02020603050405020304" pitchFamily="18" charset="0"/>
                  </a:rPr>
                  <a:t>的</a:t>
                </a:r>
                <a:r>
                  <a:rPr lang="zh-CN" altLang="en-US" sz="1200" b="1" dirty="0">
                    <a:solidFill>
                      <a:srgbClr val="FF3300"/>
                    </a:solidFill>
                    <a:latin typeface="Times New Roman" panose="02020603050405020304" pitchFamily="18" charset="0"/>
                  </a:rPr>
                  <a:t>弦</a:t>
                </a:r>
                <a:r>
                  <a:rPr lang="en-US" altLang="zh-CN" sz="1200" b="1" dirty="0">
                    <a:latin typeface="Times New Roman" panose="02020603050405020304" pitchFamily="18" charset="0"/>
                  </a:rPr>
                  <a:t>: </a:t>
                </a:r>
                <a:r>
                  <a:rPr lang="en-US" altLang="zh-CN" sz="1200" b="1" i="1" dirty="0">
                    <a:latin typeface="Times New Roman" panose="02020603050405020304" pitchFamily="18" charset="0"/>
                  </a:rPr>
                  <a:t>G</a:t>
                </a:r>
                <a:r>
                  <a:rPr lang="zh-CN" altLang="en-US" sz="1200" b="1" dirty="0">
                    <a:latin typeface="Times New Roman" panose="02020603050405020304" pitchFamily="18" charset="0"/>
                  </a:rPr>
                  <a:t>不在</a:t>
                </a:r>
                <a:r>
                  <a:rPr lang="en-US" altLang="zh-CN" sz="1200" b="1" i="1" dirty="0">
                    <a:latin typeface="Times New Roman" panose="02020603050405020304" pitchFamily="18" charset="0"/>
                  </a:rPr>
                  <a:t>T</a:t>
                </a:r>
                <a:r>
                  <a:rPr lang="zh-CN" altLang="en-US" sz="1200" b="1" dirty="0">
                    <a:latin typeface="Times New Roman" panose="02020603050405020304" pitchFamily="18" charset="0"/>
                  </a:rPr>
                  <a:t>中的边</a:t>
                </a:r>
              </a:p>
              <a:p>
                <a:pPr algn="just">
                  <a:spcBef>
                    <a:spcPct val="20000"/>
                  </a:spcBef>
                  <a:buClr>
                    <a:schemeClr val="bg2"/>
                  </a:buClr>
                  <a:buSzPct val="75000"/>
                  <a:buNone/>
                </a:pPr>
                <a:r>
                  <a:rPr lang="zh-CN" altLang="en-US" sz="1200" b="1" dirty="0">
                    <a:latin typeface="Times New Roman" panose="02020603050405020304" pitchFamily="18" charset="0"/>
                  </a:rPr>
                  <a:t>生成树</a:t>
                </a:r>
                <a:r>
                  <a:rPr lang="en-US" altLang="zh-CN" sz="1200" b="1" i="1" dirty="0">
                    <a:latin typeface="Times New Roman" panose="02020603050405020304" pitchFamily="18" charset="0"/>
                  </a:rPr>
                  <a:t>T</a:t>
                </a:r>
                <a:r>
                  <a:rPr lang="zh-CN" altLang="en-US" sz="1200" b="1" dirty="0">
                    <a:latin typeface="Times New Roman" panose="02020603050405020304" pitchFamily="18" charset="0"/>
                  </a:rPr>
                  <a:t>的</a:t>
                </a:r>
                <a:r>
                  <a:rPr lang="zh-CN" altLang="en-US" sz="1200" b="1" dirty="0">
                    <a:solidFill>
                      <a:srgbClr val="FF3300"/>
                    </a:solidFill>
                    <a:latin typeface="Times New Roman" panose="02020603050405020304" pitchFamily="18" charset="0"/>
                  </a:rPr>
                  <a:t>余树 </a:t>
                </a:r>
                <a14:m>
                  <m:oMath xmlns:m="http://schemas.openxmlformats.org/officeDocument/2006/math">
                    <m:acc>
                      <m:accPr>
                        <m:chr m:val="̅"/>
                        <m:ctrlPr>
                          <a:rPr lang="zh-CN" altLang="en-US" sz="1200" b="1" i="1" smtClean="0">
                            <a:solidFill>
                              <a:srgbClr val="FF0000"/>
                            </a:solidFill>
                            <a:latin typeface="Cambria Math" panose="02040503050406030204" pitchFamily="18" charset="0"/>
                          </a:rPr>
                        </m:ctrlPr>
                      </m:accPr>
                      <m:e>
                        <m:r>
                          <m:rPr>
                            <m:nor/>
                          </m:rPr>
                          <a:rPr lang="en-US" altLang="zh-CN" b="1" i="1" dirty="0">
                            <a:solidFill>
                              <a:srgbClr val="FF0000"/>
                            </a:solidFill>
                            <a:latin typeface="Times New Roman" panose="02020603050405020304" pitchFamily="18" charset="0"/>
                          </a:rPr>
                          <m:t>T</m:t>
                        </m:r>
                      </m:e>
                    </m:acc>
                  </m:oMath>
                </a14:m>
                <a:r>
                  <a:rPr lang="zh-CN" altLang="en-US" sz="1200" b="1" dirty="0">
                    <a:solidFill>
                      <a:srgbClr val="FF3300"/>
                    </a:solidFill>
                    <a:latin typeface="Times New Roman" panose="02020603050405020304" pitchFamily="18" charset="0"/>
                  </a:rPr>
                  <a:t>    </a:t>
                </a:r>
                <a:r>
                  <a:rPr lang="en-US" altLang="zh-CN" sz="1200" b="1" dirty="0">
                    <a:latin typeface="Times New Roman" panose="02020603050405020304" pitchFamily="18" charset="0"/>
                  </a:rPr>
                  <a:t>: </a:t>
                </a:r>
                <a:r>
                  <a:rPr lang="zh-CN" altLang="en-US" sz="1200" b="1" dirty="0">
                    <a:latin typeface="Times New Roman" panose="02020603050405020304" pitchFamily="18" charset="0"/>
                  </a:rPr>
                  <a:t>所有弦的集合的导出子图</a:t>
                </a:r>
              </a:p>
              <a:p>
                <a:pPr eaLnBrk="1" hangingPunct="1">
                  <a:spcBef>
                    <a:spcPct val="20000"/>
                  </a:spcBef>
                  <a:buClr>
                    <a:schemeClr val="bg2"/>
                  </a:buClr>
                  <a:buSzPct val="75000"/>
                  <a:buFont typeface="Wingdings" panose="05000000000000000000" pitchFamily="2" charset="2"/>
                  <a:buNone/>
                </a:pPr>
                <a:r>
                  <a:rPr lang="zh-CN" altLang="en-US" sz="1200" b="1" dirty="0">
                    <a:latin typeface="Times New Roman" panose="02020603050405020304" pitchFamily="18" charset="0"/>
                  </a:rPr>
                  <a:t>注意：</a:t>
                </a:r>
                <a:r>
                  <a:rPr lang="zh-CN" altLang="en-US" sz="1200" b="1" dirty="0">
                    <a:solidFill>
                      <a:srgbClr val="FF3300"/>
                    </a:solidFill>
                    <a:latin typeface="Times New Roman" panose="02020603050405020304" pitchFamily="18" charset="0"/>
                  </a:rPr>
                  <a:t>余树 </a:t>
                </a:r>
                <a14:m>
                  <m:oMath xmlns:m="http://schemas.openxmlformats.org/officeDocument/2006/math">
                    <m:acc>
                      <m:accPr>
                        <m:chr m:val="̅"/>
                        <m:ctrlPr>
                          <a:rPr lang="zh-CN" altLang="en-US" sz="1200" b="1" i="1" smtClean="0">
                            <a:solidFill>
                              <a:srgbClr val="FF0000"/>
                            </a:solidFill>
                            <a:latin typeface="Cambria Math" panose="02040503050406030204" pitchFamily="18" charset="0"/>
                          </a:rPr>
                        </m:ctrlPr>
                      </m:accPr>
                      <m:e>
                        <m:r>
                          <m:rPr>
                            <m:nor/>
                          </m:rPr>
                          <a:rPr lang="en-US" altLang="zh-CN" b="1" i="1" dirty="0">
                            <a:solidFill>
                              <a:srgbClr val="FF0000"/>
                            </a:solidFill>
                            <a:latin typeface="Times New Roman" panose="02020603050405020304" pitchFamily="18" charset="0"/>
                          </a:rPr>
                          <m:t>T</m:t>
                        </m:r>
                      </m:e>
                    </m:acc>
                  </m:oMath>
                </a14:m>
                <a:r>
                  <a:rPr lang="zh-CN" altLang="en-US" sz="1200" b="1" dirty="0">
                    <a:latin typeface="Times New Roman" panose="02020603050405020304" pitchFamily="18" charset="0"/>
                  </a:rPr>
                  <a:t> 不一定连通</a:t>
                </a:r>
                <a:r>
                  <a:rPr lang="en-US" altLang="zh-CN" sz="1200" b="1" dirty="0">
                    <a:latin typeface="Times New Roman" panose="02020603050405020304" pitchFamily="18" charset="0"/>
                  </a:rPr>
                  <a:t>, </a:t>
                </a:r>
                <a:r>
                  <a:rPr lang="zh-CN" altLang="en-US" sz="1200" b="1" dirty="0">
                    <a:latin typeface="Times New Roman" panose="02020603050405020304" pitchFamily="18" charset="0"/>
                  </a:rPr>
                  <a:t>也不一定不含回路</a:t>
                </a:r>
                <a:endParaRPr lang="en-US" altLang="zh-CN" sz="1200" b="1" dirty="0">
                  <a:latin typeface="Times New Roman" panose="02020603050405020304" pitchFamily="18" charset="0"/>
                </a:endParaRPr>
              </a:p>
              <a:p>
                <a:pPr marL="0" marR="0" lvl="0" indent="0" algn="l" defTabSz="914400" rtl="0" eaLnBrk="1" fontAlgn="auto" latinLnBrk="0" hangingPunct="1">
                  <a:lnSpc>
                    <a:spcPct val="100000"/>
                  </a:lnSpc>
                  <a:spcBef>
                    <a:spcPct val="20000"/>
                  </a:spcBef>
                  <a:spcAft>
                    <a:spcPts val="0"/>
                  </a:spcAft>
                  <a:buClr>
                    <a:schemeClr val="bg2"/>
                  </a:buClr>
                  <a:buSzPct val="75000"/>
                  <a:buFont typeface="Wingdings" panose="05000000000000000000" pitchFamily="2" charset="2"/>
                  <a:buNone/>
                  <a:tabLst/>
                  <a:defRPr/>
                </a:pPr>
                <a:r>
                  <a:rPr kumimoji="0" lang="zh-CN" altLang="en-US" sz="1200" b="1" dirty="0">
                    <a:solidFill>
                      <a:srgbClr val="00B0F0"/>
                    </a:solidFill>
                  </a:rPr>
                  <a:t>例：</a:t>
                </a:r>
                <a:r>
                  <a:rPr kumimoji="0" lang="zh-CN" altLang="en-US" sz="1200" b="1" dirty="0"/>
                  <a:t>图中黑边构成生成树，红边构成余树</a:t>
                </a:r>
              </a:p>
              <a:p>
                <a:pPr eaLnBrk="1" hangingPunct="1">
                  <a:spcBef>
                    <a:spcPct val="20000"/>
                  </a:spcBef>
                  <a:buClr>
                    <a:schemeClr val="bg2"/>
                  </a:buClr>
                  <a:buSzPct val="75000"/>
                  <a:buFont typeface="Wingdings" panose="05000000000000000000" pitchFamily="2" charset="2"/>
                  <a:buNone/>
                </a:pPr>
                <a:endParaRPr lang="zh-CN" altLang="en-US" dirty="0"/>
              </a:p>
            </p:txBody>
          </p:sp>
        </mc:Choice>
        <mc:Fallback xmlns="">
          <p:sp>
            <p:nvSpPr>
              <p:cNvPr id="3" name="备注占位符 2"/>
              <p:cNvSpPr>
                <a:spLocks noGrp="1"/>
              </p:cNvSpPr>
              <p:nvPr>
                <p:ph type="body" idx="1"/>
              </p:nvPr>
            </p:nvSpPr>
            <p:spPr/>
            <p:txBody>
              <a:bodyPr/>
              <a:lstStyle/>
              <a:p>
                <a:r>
                  <a:rPr lang="zh-CN" altLang="zh-CN" sz="1800" dirty="0">
                    <a:effectLst/>
                    <a:highlight>
                      <a:srgbClr val="FFFF00"/>
                    </a:highlight>
                    <a:latin typeface="Times New Roman" panose="02020603050405020304" pitchFamily="18" charset="0"/>
                    <a:ea typeface="宋体" panose="02010600030101010101" pitchFamily="2" charset="-122"/>
                    <a:cs typeface="Times New Roman" panose="02020603050405020304" pitchFamily="18" charset="0"/>
                  </a:rPr>
                  <a:t>生成树是生成子图的一种特殊情况</a:t>
                </a:r>
                <a:r>
                  <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rPr>
                  <a:t>，它确保了子图是连通的并且是无环的。每个连通图都有至少一个生成树，但生成子图的数量可能更多，因为它们不受边数和无环性的限制。</a:t>
                </a:r>
                <a:endParaRPr lang="en-US" altLang="zh-CN" sz="1800" dirty="0">
                  <a:effectLst/>
                  <a:latin typeface="Times New Roman" panose="02020603050405020304" pitchFamily="18" charset="0"/>
                  <a:ea typeface="宋体" panose="02010600030101010101" pitchFamily="2" charset="-122"/>
                  <a:cs typeface="Times New Roman" panose="02020603050405020304" pitchFamily="18" charset="0"/>
                </a:endParaRPr>
              </a:p>
              <a:p>
                <a:pPr algn="just" eaLnBrk="1" hangingPunct="1">
                  <a:spcBef>
                    <a:spcPct val="20000"/>
                  </a:spcBef>
                  <a:buClr>
                    <a:schemeClr val="bg2"/>
                  </a:buClr>
                  <a:buSzPct val="75000"/>
                  <a:buFont typeface="Wingdings" panose="05000000000000000000" pitchFamily="2" charset="2"/>
                  <a:buNone/>
                </a:pPr>
                <a:r>
                  <a:rPr lang="zh-CN" altLang="en-US" sz="1200" b="1" dirty="0">
                    <a:latin typeface="Times New Roman" panose="02020603050405020304" pitchFamily="18" charset="0"/>
                  </a:rPr>
                  <a:t>设</a:t>
                </a:r>
                <a:r>
                  <a:rPr lang="en-US" altLang="zh-CN" sz="1200" b="1" i="1" dirty="0">
                    <a:latin typeface="Times New Roman" panose="02020603050405020304" pitchFamily="18" charset="0"/>
                  </a:rPr>
                  <a:t>G</a:t>
                </a:r>
                <a:r>
                  <a:rPr lang="zh-CN" altLang="en-US" sz="1200" b="1" dirty="0">
                    <a:latin typeface="Times New Roman" panose="02020603050405020304" pitchFamily="18" charset="0"/>
                  </a:rPr>
                  <a:t>为无向连通图</a:t>
                </a:r>
              </a:p>
              <a:p>
                <a:pPr algn="just" eaLnBrk="1" hangingPunct="1">
                  <a:spcBef>
                    <a:spcPct val="20000"/>
                  </a:spcBef>
                  <a:buClr>
                    <a:schemeClr val="bg2"/>
                  </a:buClr>
                  <a:buSzPct val="75000"/>
                  <a:buFont typeface="Wingdings" panose="05000000000000000000" pitchFamily="2" charset="2"/>
                  <a:buNone/>
                </a:pPr>
                <a:r>
                  <a:rPr lang="en-US" altLang="zh-CN" sz="1200" b="1" i="1" dirty="0">
                    <a:latin typeface="Times New Roman" panose="02020603050405020304" pitchFamily="18" charset="0"/>
                  </a:rPr>
                  <a:t>G</a:t>
                </a:r>
                <a:r>
                  <a:rPr lang="zh-CN" altLang="en-US" sz="1200" b="1" dirty="0">
                    <a:latin typeface="Times New Roman" panose="02020603050405020304" pitchFamily="18" charset="0"/>
                  </a:rPr>
                  <a:t>的</a:t>
                </a:r>
                <a:r>
                  <a:rPr lang="zh-CN" altLang="en-US" sz="1200" b="1" dirty="0">
                    <a:solidFill>
                      <a:srgbClr val="FF3300"/>
                    </a:solidFill>
                    <a:latin typeface="Times New Roman" panose="02020603050405020304" pitchFamily="18" charset="0"/>
                  </a:rPr>
                  <a:t>生成树</a:t>
                </a:r>
                <a:r>
                  <a:rPr lang="en-US" altLang="zh-CN" sz="1200" b="1" i="1" dirty="0">
                    <a:latin typeface="Times New Roman" panose="02020603050405020304" pitchFamily="18" charset="0"/>
                  </a:rPr>
                  <a:t>T </a:t>
                </a:r>
                <a:r>
                  <a:rPr lang="en-US" altLang="zh-CN" sz="1200" b="1" dirty="0">
                    <a:latin typeface="Times New Roman" panose="02020603050405020304" pitchFamily="18" charset="0"/>
                  </a:rPr>
                  <a:t>: </a:t>
                </a:r>
                <a:r>
                  <a:rPr lang="en-US" altLang="zh-CN" sz="1200" b="1" i="1" dirty="0">
                    <a:latin typeface="Times New Roman" panose="02020603050405020304" pitchFamily="18" charset="0"/>
                  </a:rPr>
                  <a:t>G</a:t>
                </a:r>
                <a:r>
                  <a:rPr lang="zh-CN" altLang="en-US" sz="1200" b="1" dirty="0">
                    <a:latin typeface="Times New Roman" panose="02020603050405020304" pitchFamily="18" charset="0"/>
                  </a:rPr>
                  <a:t>的生成子图并且是树</a:t>
                </a:r>
              </a:p>
              <a:p>
                <a:pPr algn="just" eaLnBrk="1" hangingPunct="1">
                  <a:spcBef>
                    <a:spcPct val="20000"/>
                  </a:spcBef>
                  <a:buClr>
                    <a:schemeClr val="bg2"/>
                  </a:buClr>
                  <a:buSzPct val="75000"/>
                  <a:buFont typeface="Wingdings" panose="05000000000000000000" pitchFamily="2" charset="2"/>
                  <a:buNone/>
                </a:pPr>
                <a:r>
                  <a:rPr lang="zh-CN" altLang="en-US" sz="1200" b="1" dirty="0">
                    <a:latin typeface="Times New Roman" panose="02020603050405020304" pitchFamily="18" charset="0"/>
                  </a:rPr>
                  <a:t>生成树</a:t>
                </a:r>
                <a:r>
                  <a:rPr lang="en-US" altLang="zh-CN" sz="1200" b="1" i="1" dirty="0">
                    <a:latin typeface="Times New Roman" panose="02020603050405020304" pitchFamily="18" charset="0"/>
                  </a:rPr>
                  <a:t>T</a:t>
                </a:r>
                <a:r>
                  <a:rPr lang="zh-CN" altLang="en-US" sz="1200" b="1" dirty="0">
                    <a:latin typeface="Times New Roman" panose="02020603050405020304" pitchFamily="18" charset="0"/>
                  </a:rPr>
                  <a:t>的</a:t>
                </a:r>
                <a:r>
                  <a:rPr lang="zh-CN" altLang="en-US" sz="1200" b="1" dirty="0">
                    <a:solidFill>
                      <a:srgbClr val="FF3300"/>
                    </a:solidFill>
                    <a:latin typeface="Times New Roman" panose="02020603050405020304" pitchFamily="18" charset="0"/>
                  </a:rPr>
                  <a:t>树枝</a:t>
                </a:r>
                <a:r>
                  <a:rPr lang="en-US" altLang="zh-CN" sz="1200" b="1" dirty="0">
                    <a:latin typeface="Times New Roman" panose="02020603050405020304" pitchFamily="18" charset="0"/>
                  </a:rPr>
                  <a:t>: </a:t>
                </a:r>
                <a:r>
                  <a:rPr lang="en-US" altLang="zh-CN" sz="1200" b="1" i="1" dirty="0">
                    <a:latin typeface="Times New Roman" panose="02020603050405020304" pitchFamily="18" charset="0"/>
                  </a:rPr>
                  <a:t>G</a:t>
                </a:r>
                <a:r>
                  <a:rPr lang="zh-CN" altLang="en-US" sz="1200" b="1" dirty="0">
                    <a:latin typeface="Times New Roman" panose="02020603050405020304" pitchFamily="18" charset="0"/>
                  </a:rPr>
                  <a:t>在</a:t>
                </a:r>
                <a:r>
                  <a:rPr lang="en-US" altLang="zh-CN" sz="1200" b="1" i="1" dirty="0">
                    <a:latin typeface="Times New Roman" panose="02020603050405020304" pitchFamily="18" charset="0"/>
                  </a:rPr>
                  <a:t>T</a:t>
                </a:r>
                <a:r>
                  <a:rPr lang="zh-CN" altLang="en-US" sz="1200" b="1" dirty="0">
                    <a:latin typeface="Times New Roman" panose="02020603050405020304" pitchFamily="18" charset="0"/>
                  </a:rPr>
                  <a:t>中的边</a:t>
                </a:r>
              </a:p>
              <a:p>
                <a:pPr algn="just" eaLnBrk="1" hangingPunct="1">
                  <a:spcBef>
                    <a:spcPct val="20000"/>
                  </a:spcBef>
                  <a:buClr>
                    <a:schemeClr val="bg2"/>
                  </a:buClr>
                  <a:buSzPct val="75000"/>
                  <a:buFont typeface="Wingdings" panose="05000000000000000000" pitchFamily="2" charset="2"/>
                  <a:buNone/>
                </a:pPr>
                <a:r>
                  <a:rPr lang="zh-CN" altLang="en-US" sz="1200" b="1" dirty="0">
                    <a:latin typeface="Times New Roman" panose="02020603050405020304" pitchFamily="18" charset="0"/>
                  </a:rPr>
                  <a:t>生成树</a:t>
                </a:r>
                <a:r>
                  <a:rPr lang="en-US" altLang="zh-CN" sz="1200" b="1" i="1" dirty="0">
                    <a:latin typeface="Times New Roman" panose="02020603050405020304" pitchFamily="18" charset="0"/>
                  </a:rPr>
                  <a:t>T</a:t>
                </a:r>
                <a:r>
                  <a:rPr lang="zh-CN" altLang="en-US" sz="1200" b="1" dirty="0">
                    <a:latin typeface="Times New Roman" panose="02020603050405020304" pitchFamily="18" charset="0"/>
                  </a:rPr>
                  <a:t>的</a:t>
                </a:r>
                <a:r>
                  <a:rPr lang="zh-CN" altLang="en-US" sz="1200" b="1" dirty="0">
                    <a:solidFill>
                      <a:srgbClr val="FF3300"/>
                    </a:solidFill>
                    <a:latin typeface="Times New Roman" panose="02020603050405020304" pitchFamily="18" charset="0"/>
                  </a:rPr>
                  <a:t>弦</a:t>
                </a:r>
                <a:r>
                  <a:rPr lang="en-US" altLang="zh-CN" sz="1200" b="1" dirty="0">
                    <a:latin typeface="Times New Roman" panose="02020603050405020304" pitchFamily="18" charset="0"/>
                  </a:rPr>
                  <a:t>: </a:t>
                </a:r>
                <a:r>
                  <a:rPr lang="en-US" altLang="zh-CN" sz="1200" b="1" i="1" dirty="0">
                    <a:latin typeface="Times New Roman" panose="02020603050405020304" pitchFamily="18" charset="0"/>
                  </a:rPr>
                  <a:t>G</a:t>
                </a:r>
                <a:r>
                  <a:rPr lang="zh-CN" altLang="en-US" sz="1200" b="1" dirty="0">
                    <a:latin typeface="Times New Roman" panose="02020603050405020304" pitchFamily="18" charset="0"/>
                  </a:rPr>
                  <a:t>不在</a:t>
                </a:r>
                <a:r>
                  <a:rPr lang="en-US" altLang="zh-CN" sz="1200" b="1" i="1" dirty="0">
                    <a:latin typeface="Times New Roman" panose="02020603050405020304" pitchFamily="18" charset="0"/>
                  </a:rPr>
                  <a:t>T</a:t>
                </a:r>
                <a:r>
                  <a:rPr lang="zh-CN" altLang="en-US" sz="1200" b="1" dirty="0">
                    <a:latin typeface="Times New Roman" panose="02020603050405020304" pitchFamily="18" charset="0"/>
                  </a:rPr>
                  <a:t>中的边</a:t>
                </a:r>
              </a:p>
              <a:p>
                <a:pPr algn="just">
                  <a:spcBef>
                    <a:spcPct val="20000"/>
                  </a:spcBef>
                  <a:buClr>
                    <a:schemeClr val="bg2"/>
                  </a:buClr>
                  <a:buSzPct val="75000"/>
                  <a:buNone/>
                </a:pPr>
                <a:r>
                  <a:rPr lang="zh-CN" altLang="en-US" sz="1200" b="1" dirty="0">
                    <a:latin typeface="Times New Roman" panose="02020603050405020304" pitchFamily="18" charset="0"/>
                  </a:rPr>
                  <a:t>生成树</a:t>
                </a:r>
                <a:r>
                  <a:rPr lang="en-US" altLang="zh-CN" sz="1200" b="1" i="1" dirty="0">
                    <a:latin typeface="Times New Roman" panose="02020603050405020304" pitchFamily="18" charset="0"/>
                  </a:rPr>
                  <a:t>T</a:t>
                </a:r>
                <a:r>
                  <a:rPr lang="zh-CN" altLang="en-US" sz="1200" b="1" dirty="0">
                    <a:latin typeface="Times New Roman" panose="02020603050405020304" pitchFamily="18" charset="0"/>
                  </a:rPr>
                  <a:t>的</a:t>
                </a:r>
                <a:r>
                  <a:rPr lang="zh-CN" altLang="en-US" sz="1200" b="1" dirty="0">
                    <a:solidFill>
                      <a:srgbClr val="FF3300"/>
                    </a:solidFill>
                    <a:latin typeface="Times New Roman" panose="02020603050405020304" pitchFamily="18" charset="0"/>
                  </a:rPr>
                  <a:t>余树 </a:t>
                </a:r>
                <a:r>
                  <a:rPr lang="en-US" altLang="zh-CN" b="1" i="0" dirty="0">
                    <a:solidFill>
                      <a:srgbClr val="FF0000"/>
                    </a:solidFill>
                    <a:latin typeface="Times New Roman" panose="02020603050405020304" pitchFamily="18" charset="0"/>
                  </a:rPr>
                  <a:t>"T</a:t>
                </a:r>
                <a:r>
                  <a:rPr lang="en-US" altLang="zh-CN" b="1" i="0" dirty="0">
                    <a:solidFill>
                      <a:srgbClr val="FF0000"/>
                    </a:solidFill>
                    <a:latin typeface="Cambria Math" panose="02040503050406030204" pitchFamily="18" charset="0"/>
                  </a:rPr>
                  <a:t>" </a:t>
                </a:r>
                <a:r>
                  <a:rPr lang="zh-CN" altLang="en-US" sz="1200" b="1" i="0">
                    <a:solidFill>
                      <a:srgbClr val="FF0000"/>
                    </a:solidFill>
                    <a:latin typeface="Cambria Math" panose="02040503050406030204" pitchFamily="18" charset="0"/>
                  </a:rPr>
                  <a:t> ̅</a:t>
                </a:r>
                <a:r>
                  <a:rPr lang="zh-CN" altLang="en-US" sz="1200" b="1" dirty="0">
                    <a:solidFill>
                      <a:srgbClr val="FF3300"/>
                    </a:solidFill>
                    <a:latin typeface="Times New Roman" panose="02020603050405020304" pitchFamily="18" charset="0"/>
                  </a:rPr>
                  <a:t>    </a:t>
                </a:r>
                <a:r>
                  <a:rPr lang="en-US" altLang="zh-CN" sz="1200" b="1" dirty="0">
                    <a:latin typeface="Times New Roman" panose="02020603050405020304" pitchFamily="18" charset="0"/>
                  </a:rPr>
                  <a:t>: </a:t>
                </a:r>
                <a:r>
                  <a:rPr lang="zh-CN" altLang="en-US" sz="1200" b="1" dirty="0">
                    <a:latin typeface="Times New Roman" panose="02020603050405020304" pitchFamily="18" charset="0"/>
                  </a:rPr>
                  <a:t>所有弦的集合的导出子图</a:t>
                </a:r>
              </a:p>
              <a:p>
                <a:pPr eaLnBrk="1" hangingPunct="1">
                  <a:spcBef>
                    <a:spcPct val="20000"/>
                  </a:spcBef>
                  <a:buClr>
                    <a:schemeClr val="bg2"/>
                  </a:buClr>
                  <a:buSzPct val="75000"/>
                  <a:buFont typeface="Wingdings" panose="05000000000000000000" pitchFamily="2" charset="2"/>
                  <a:buNone/>
                </a:pPr>
                <a:r>
                  <a:rPr lang="zh-CN" altLang="en-US" sz="1200" b="1" dirty="0">
                    <a:latin typeface="Times New Roman" panose="02020603050405020304" pitchFamily="18" charset="0"/>
                  </a:rPr>
                  <a:t>注意：</a:t>
                </a:r>
                <a:r>
                  <a:rPr lang="zh-CN" altLang="en-US" sz="1200" b="1" dirty="0">
                    <a:solidFill>
                      <a:srgbClr val="FF3300"/>
                    </a:solidFill>
                    <a:latin typeface="Times New Roman" panose="02020603050405020304" pitchFamily="18" charset="0"/>
                  </a:rPr>
                  <a:t>余树 </a:t>
                </a:r>
                <a:r>
                  <a:rPr lang="en-US" altLang="zh-CN" b="1" i="0" dirty="0">
                    <a:solidFill>
                      <a:srgbClr val="FF0000"/>
                    </a:solidFill>
                    <a:latin typeface="Times New Roman" panose="02020603050405020304" pitchFamily="18" charset="0"/>
                  </a:rPr>
                  <a:t>"T</a:t>
                </a:r>
                <a:r>
                  <a:rPr lang="en-US" altLang="zh-CN" b="1" i="0" dirty="0">
                    <a:solidFill>
                      <a:srgbClr val="FF0000"/>
                    </a:solidFill>
                    <a:latin typeface="Cambria Math" panose="02040503050406030204" pitchFamily="18" charset="0"/>
                  </a:rPr>
                  <a:t>" </a:t>
                </a:r>
                <a:r>
                  <a:rPr lang="zh-CN" altLang="en-US" sz="1200" b="1" i="0">
                    <a:solidFill>
                      <a:srgbClr val="FF0000"/>
                    </a:solidFill>
                    <a:latin typeface="Cambria Math" panose="02040503050406030204" pitchFamily="18" charset="0"/>
                  </a:rPr>
                  <a:t> ̅</a:t>
                </a:r>
                <a:r>
                  <a:rPr lang="zh-CN" altLang="en-US" sz="1200" b="1" dirty="0">
                    <a:latin typeface="Times New Roman" panose="02020603050405020304" pitchFamily="18" charset="0"/>
                  </a:rPr>
                  <a:t> 不一定连通</a:t>
                </a:r>
                <a:r>
                  <a:rPr lang="en-US" altLang="zh-CN" sz="1200" b="1" dirty="0">
                    <a:latin typeface="Times New Roman" panose="02020603050405020304" pitchFamily="18" charset="0"/>
                  </a:rPr>
                  <a:t>, </a:t>
                </a:r>
                <a:r>
                  <a:rPr lang="zh-CN" altLang="en-US" sz="1200" b="1" dirty="0">
                    <a:latin typeface="Times New Roman" panose="02020603050405020304" pitchFamily="18" charset="0"/>
                  </a:rPr>
                  <a:t>也不一定不含回路</a:t>
                </a:r>
                <a:endParaRPr lang="en-US" altLang="zh-CN" sz="1200" b="1" dirty="0">
                  <a:latin typeface="Times New Roman" panose="02020603050405020304" pitchFamily="18" charset="0"/>
                </a:endParaRPr>
              </a:p>
              <a:p>
                <a:pPr marL="0" marR="0" lvl="0" indent="0" algn="l" defTabSz="914400" rtl="0" eaLnBrk="1" fontAlgn="auto" latinLnBrk="0" hangingPunct="1">
                  <a:lnSpc>
                    <a:spcPct val="100000"/>
                  </a:lnSpc>
                  <a:spcBef>
                    <a:spcPct val="20000"/>
                  </a:spcBef>
                  <a:spcAft>
                    <a:spcPts val="0"/>
                  </a:spcAft>
                  <a:buClr>
                    <a:schemeClr val="bg2"/>
                  </a:buClr>
                  <a:buSzPct val="75000"/>
                  <a:buFont typeface="Wingdings" panose="05000000000000000000" pitchFamily="2" charset="2"/>
                  <a:buNone/>
                  <a:tabLst/>
                  <a:defRPr/>
                </a:pPr>
                <a:r>
                  <a:rPr kumimoji="0" lang="zh-CN" altLang="en-US" sz="1200" b="1" dirty="0">
                    <a:solidFill>
                      <a:srgbClr val="00B0F0"/>
                    </a:solidFill>
                  </a:rPr>
                  <a:t>例：</a:t>
                </a:r>
                <a:r>
                  <a:rPr kumimoji="0" lang="zh-CN" altLang="en-US" sz="1200" b="1" dirty="0"/>
                  <a:t>图中黑边构成生成树，红边构成余树</a:t>
                </a:r>
              </a:p>
              <a:p>
                <a:pPr eaLnBrk="1" hangingPunct="1">
                  <a:spcBef>
                    <a:spcPct val="20000"/>
                  </a:spcBef>
                  <a:buClr>
                    <a:schemeClr val="bg2"/>
                  </a:buClr>
                  <a:buSzPct val="75000"/>
                  <a:buFont typeface="Wingdings" panose="05000000000000000000" pitchFamily="2" charset="2"/>
                  <a:buNone/>
                </a:pPr>
                <a:endParaRPr lang="zh-CN" altLang="en-US" dirty="0"/>
              </a:p>
            </p:txBody>
          </p:sp>
        </mc:Fallback>
      </mc:AlternateContent>
      <p:sp>
        <p:nvSpPr>
          <p:cNvPr id="4" name="灯片编号占位符 3"/>
          <p:cNvSpPr>
            <a:spLocks noGrp="1"/>
          </p:cNvSpPr>
          <p:nvPr>
            <p:ph type="sldNum" sz="quarter" idx="10"/>
          </p:nvPr>
        </p:nvSpPr>
        <p:spPr/>
        <p:txBody>
          <a:bodyPr/>
          <a:lstStyle/>
          <a:p>
            <a:fld id="{CAFE74B6-F93C-4D90-BE1A-7EFEDB35C0D4}" type="slidenum">
              <a:rPr lang="zh-CN" altLang="en-US" smtClean="0"/>
              <a:t>35</a:t>
            </a:fld>
            <a:endParaRPr lang="zh-CN" altLang="en-US"/>
          </a:p>
        </p:txBody>
      </p:sp>
    </p:spTree>
    <p:extLst>
      <p:ext uri="{BB962C8B-B14F-4D97-AF65-F5344CB8AC3E}">
        <p14:creationId xmlns:p14="http://schemas.microsoft.com/office/powerpoint/2010/main" val="3340958760"/>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gn="just" eaLnBrk="1" hangingPunct="1">
              <a:spcBef>
                <a:spcPct val="30000"/>
              </a:spcBef>
              <a:buFontTx/>
              <a:buNone/>
            </a:pPr>
            <a:r>
              <a:rPr lang="zh-CN" altLang="en-US" sz="1200" b="1" dirty="0">
                <a:solidFill>
                  <a:srgbClr val="FF3300"/>
                </a:solidFill>
              </a:rPr>
              <a:t>定理7.3</a:t>
            </a:r>
            <a:r>
              <a:rPr lang="zh-CN" altLang="en-US" sz="1200" b="1" dirty="0">
                <a:solidFill>
                  <a:srgbClr val="FF0066"/>
                </a:solidFill>
              </a:rPr>
              <a:t>  </a:t>
            </a:r>
            <a:r>
              <a:rPr lang="zh-CN" altLang="en-US" sz="1200" b="1" dirty="0"/>
              <a:t>任何无向连通图都有生成树.</a:t>
            </a:r>
          </a:p>
          <a:p>
            <a:pPr algn="just" eaLnBrk="1" hangingPunct="1">
              <a:spcBef>
                <a:spcPct val="30000"/>
              </a:spcBef>
              <a:buFontTx/>
              <a:buNone/>
            </a:pPr>
            <a:r>
              <a:rPr lang="zh-CN" altLang="en-US" sz="1200" b="1" dirty="0">
                <a:solidFill>
                  <a:srgbClr val="00B0F0"/>
                </a:solidFill>
                <a:latin typeface="Times New Roman" panose="02020603050405020304" pitchFamily="18" charset="0"/>
                <a:cs typeface="Times New Roman" panose="02020603050405020304" pitchFamily="18" charset="0"/>
              </a:rPr>
              <a:t>证：</a:t>
            </a:r>
            <a:r>
              <a:rPr lang="zh-CN" altLang="en-US" sz="1200" b="1" dirty="0">
                <a:latin typeface="Times New Roman" panose="02020603050405020304" pitchFamily="18" charset="0"/>
                <a:cs typeface="Times New Roman" panose="02020603050405020304" pitchFamily="18" charset="0"/>
              </a:rPr>
              <a:t>用破圈法. 若图中无圈, 则图本身就是自己的生成树. </a:t>
            </a:r>
          </a:p>
          <a:p>
            <a:pPr algn="just" eaLnBrk="1" hangingPunct="1">
              <a:spcBef>
                <a:spcPct val="30000"/>
              </a:spcBef>
              <a:buFontTx/>
              <a:buNone/>
            </a:pPr>
            <a:r>
              <a:rPr lang="zh-CN" altLang="en-US" sz="1200" b="1" dirty="0">
                <a:latin typeface="Times New Roman" panose="02020603050405020304" pitchFamily="18" charset="0"/>
                <a:cs typeface="Times New Roman" panose="02020603050405020304" pitchFamily="18" charset="0"/>
              </a:rPr>
              <a:t>否则删去圈上的任一条边, 不破坏连通性, 重复进行直到</a:t>
            </a:r>
          </a:p>
          <a:p>
            <a:pPr algn="just" eaLnBrk="1" hangingPunct="1">
              <a:spcBef>
                <a:spcPct val="30000"/>
              </a:spcBef>
              <a:buFontTx/>
              <a:buNone/>
            </a:pPr>
            <a:r>
              <a:rPr lang="zh-CN" altLang="en-US" sz="1200" b="1" dirty="0">
                <a:latin typeface="Times New Roman" panose="02020603050405020304" pitchFamily="18" charset="0"/>
                <a:cs typeface="Times New Roman" panose="02020603050405020304" pitchFamily="18" charset="0"/>
              </a:rPr>
              <a:t>无圈为止, 得到图的一棵生成树.</a:t>
            </a:r>
          </a:p>
          <a:p>
            <a:pPr algn="just" eaLnBrk="1" hangingPunct="1">
              <a:spcBef>
                <a:spcPct val="30000"/>
              </a:spcBef>
              <a:buFontTx/>
              <a:buNone/>
            </a:pPr>
            <a:endParaRPr lang="zh-CN" altLang="en-US" sz="1200" b="1" dirty="0">
              <a:latin typeface="Times New Roman" panose="02020603050405020304" pitchFamily="18" charset="0"/>
              <a:cs typeface="Times New Roman" panose="02020603050405020304" pitchFamily="18" charset="0"/>
            </a:endParaRPr>
          </a:p>
          <a:p>
            <a:pPr algn="just" eaLnBrk="1" hangingPunct="1">
              <a:spcBef>
                <a:spcPct val="30000"/>
              </a:spcBef>
              <a:buFontTx/>
              <a:buNone/>
            </a:pPr>
            <a:r>
              <a:rPr lang="zh-CN" altLang="en-US" sz="1200" b="1" dirty="0">
                <a:solidFill>
                  <a:srgbClr val="FF3300"/>
                </a:solidFill>
                <a:latin typeface="Times New Roman" panose="02020603050405020304" pitchFamily="18" charset="0"/>
                <a:cs typeface="Times New Roman" panose="02020603050405020304" pitchFamily="18" charset="0"/>
              </a:rPr>
              <a:t>推论1</a:t>
            </a:r>
            <a:r>
              <a:rPr lang="zh-CN" altLang="en-US" sz="1200" b="1" dirty="0">
                <a:solidFill>
                  <a:srgbClr val="FF0066"/>
                </a:solidFill>
                <a:latin typeface="Times New Roman" panose="02020603050405020304" pitchFamily="18" charset="0"/>
                <a:cs typeface="Times New Roman" panose="02020603050405020304" pitchFamily="18" charset="0"/>
              </a:rPr>
              <a:t>  </a:t>
            </a:r>
            <a:r>
              <a:rPr lang="zh-CN" altLang="en-US" sz="1200" b="1" dirty="0">
                <a:latin typeface="Times New Roman" panose="02020603050405020304" pitchFamily="18" charset="0"/>
                <a:cs typeface="Times New Roman" panose="02020603050405020304" pitchFamily="18" charset="0"/>
              </a:rPr>
              <a:t>设</a:t>
            </a:r>
            <a:r>
              <a:rPr lang="en-US" altLang="zh-CN" sz="1200" b="1" i="1" dirty="0">
                <a:latin typeface="Times New Roman" panose="02020603050405020304" pitchFamily="18" charset="0"/>
                <a:cs typeface="Times New Roman" panose="02020603050405020304" pitchFamily="18" charset="0"/>
              </a:rPr>
              <a:t>n</a:t>
            </a:r>
            <a:r>
              <a:rPr lang="zh-CN" altLang="en-US" sz="1200" b="1" dirty="0">
                <a:latin typeface="Times New Roman" panose="02020603050405020304" pitchFamily="18" charset="0"/>
                <a:cs typeface="Times New Roman" panose="02020603050405020304" pitchFamily="18" charset="0"/>
              </a:rPr>
              <a:t>阶无向连通图有</a:t>
            </a:r>
            <a:r>
              <a:rPr lang="en-US" altLang="zh-CN" sz="1200" b="1" i="1" dirty="0">
                <a:latin typeface="Times New Roman" panose="02020603050405020304" pitchFamily="18" charset="0"/>
                <a:cs typeface="Times New Roman" panose="02020603050405020304" pitchFamily="18" charset="0"/>
              </a:rPr>
              <a:t>m</a:t>
            </a:r>
            <a:r>
              <a:rPr lang="zh-CN" altLang="en-US" sz="1200" b="1" dirty="0">
                <a:latin typeface="Times New Roman" panose="02020603050405020304" pitchFamily="18" charset="0"/>
                <a:cs typeface="Times New Roman" panose="02020603050405020304" pitchFamily="18" charset="0"/>
              </a:rPr>
              <a:t>条边, 则</a:t>
            </a:r>
            <a:r>
              <a:rPr lang="en-US" altLang="zh-CN" sz="1200" b="1" i="1" dirty="0">
                <a:latin typeface="Times New Roman" panose="02020603050405020304" pitchFamily="18" charset="0"/>
                <a:cs typeface="Times New Roman" panose="02020603050405020304" pitchFamily="18" charset="0"/>
              </a:rPr>
              <a:t>m</a:t>
            </a:r>
            <a:r>
              <a:rPr lang="en-US" altLang="zh-CN" sz="1200" b="1" dirty="0">
                <a:latin typeface="Times New Roman" panose="02020603050405020304" pitchFamily="18" charset="0"/>
                <a:cs typeface="Times New Roman" panose="02020603050405020304" pitchFamily="18" charset="0"/>
                <a:sym typeface="Symbol" panose="05050102010706020507" pitchFamily="18" charset="2"/>
              </a:rPr>
              <a:t></a:t>
            </a:r>
            <a:r>
              <a:rPr lang="en-US" altLang="zh-CN" sz="1200" b="1" i="1" dirty="0">
                <a:latin typeface="Times New Roman" panose="02020603050405020304" pitchFamily="18" charset="0"/>
                <a:cs typeface="Times New Roman" panose="02020603050405020304" pitchFamily="18" charset="0"/>
              </a:rPr>
              <a:t>n</a:t>
            </a:r>
            <a:r>
              <a:rPr lang="en-US" altLang="zh-CN" sz="1200" b="1" dirty="0">
                <a:latin typeface="Times New Roman" panose="02020603050405020304" pitchFamily="18" charset="0"/>
                <a:cs typeface="Times New Roman" panose="02020603050405020304" pitchFamily="18" charset="0"/>
                <a:sym typeface="Symbol" panose="05050102010706020507" pitchFamily="18" charset="2"/>
              </a:rPr>
              <a:t></a:t>
            </a:r>
            <a:r>
              <a:rPr lang="en-US" altLang="zh-CN" sz="1200" b="1" dirty="0">
                <a:latin typeface="Times New Roman" panose="02020603050405020304" pitchFamily="18" charset="0"/>
                <a:cs typeface="Times New Roman" panose="02020603050405020304" pitchFamily="18" charset="0"/>
              </a:rPr>
              <a:t>1. </a:t>
            </a:r>
          </a:p>
          <a:p>
            <a:pPr algn="just" eaLnBrk="1" hangingPunct="1">
              <a:spcBef>
                <a:spcPct val="30000"/>
              </a:spcBef>
              <a:buFontTx/>
              <a:buNone/>
            </a:pPr>
            <a:r>
              <a:rPr lang="zh-CN" altLang="en-US" sz="1200" b="1" dirty="0">
                <a:solidFill>
                  <a:srgbClr val="FF3300"/>
                </a:solidFill>
                <a:latin typeface="Times New Roman" panose="02020603050405020304" pitchFamily="18" charset="0"/>
                <a:cs typeface="Times New Roman" panose="02020603050405020304" pitchFamily="18" charset="0"/>
              </a:rPr>
              <a:t>推论2</a:t>
            </a:r>
            <a:r>
              <a:rPr lang="zh-CN" altLang="en-US" sz="1200" b="1" dirty="0">
                <a:solidFill>
                  <a:srgbClr val="FF0066"/>
                </a:solidFill>
                <a:latin typeface="Times New Roman" panose="02020603050405020304" pitchFamily="18" charset="0"/>
                <a:cs typeface="Times New Roman" panose="02020603050405020304" pitchFamily="18" charset="0"/>
              </a:rPr>
              <a:t>  </a:t>
            </a:r>
            <a:r>
              <a:rPr lang="zh-CN" altLang="en-US" sz="1200" b="1" dirty="0">
                <a:latin typeface="Times New Roman" panose="02020603050405020304" pitchFamily="18" charset="0"/>
                <a:cs typeface="Times New Roman" panose="02020603050405020304" pitchFamily="18" charset="0"/>
              </a:rPr>
              <a:t>设</a:t>
            </a:r>
            <a:r>
              <a:rPr lang="en-US" altLang="zh-CN" sz="1200" b="1" i="1" dirty="0">
                <a:latin typeface="Times New Roman" panose="02020603050405020304" pitchFamily="18" charset="0"/>
                <a:cs typeface="Times New Roman" panose="02020603050405020304" pitchFamily="18" charset="0"/>
              </a:rPr>
              <a:t>n</a:t>
            </a:r>
            <a:r>
              <a:rPr lang="zh-CN" altLang="en-US" sz="1200" b="1" dirty="0">
                <a:latin typeface="Times New Roman" panose="02020603050405020304" pitchFamily="18" charset="0"/>
                <a:cs typeface="Times New Roman" panose="02020603050405020304" pitchFamily="18" charset="0"/>
              </a:rPr>
              <a:t>阶无向连通图有</a:t>
            </a:r>
            <a:r>
              <a:rPr lang="en-US" altLang="zh-CN" sz="1200" b="1" i="1" dirty="0">
                <a:latin typeface="Times New Roman" panose="02020603050405020304" pitchFamily="18" charset="0"/>
                <a:cs typeface="Times New Roman" panose="02020603050405020304" pitchFamily="18" charset="0"/>
              </a:rPr>
              <a:t>m</a:t>
            </a:r>
            <a:r>
              <a:rPr lang="zh-CN" altLang="en-US" sz="1200" b="1" dirty="0">
                <a:latin typeface="Times New Roman" panose="02020603050405020304" pitchFamily="18" charset="0"/>
                <a:cs typeface="Times New Roman" panose="02020603050405020304" pitchFamily="18" charset="0"/>
              </a:rPr>
              <a:t>条边, 则它的生成树的余树</a:t>
            </a:r>
          </a:p>
          <a:p>
            <a:pPr algn="just" eaLnBrk="1" hangingPunct="1">
              <a:spcBef>
                <a:spcPct val="30000"/>
              </a:spcBef>
              <a:buFontTx/>
              <a:buNone/>
            </a:pPr>
            <a:r>
              <a:rPr lang="zh-CN" altLang="en-US" sz="1200" b="1" dirty="0">
                <a:latin typeface="Times New Roman" panose="02020603050405020304" pitchFamily="18" charset="0"/>
                <a:cs typeface="Times New Roman" panose="02020603050405020304" pitchFamily="18" charset="0"/>
              </a:rPr>
              <a:t>有</a:t>
            </a:r>
            <a:r>
              <a:rPr lang="en-US" altLang="zh-CN" sz="1200" b="1" i="1" dirty="0">
                <a:latin typeface="Times New Roman" panose="02020603050405020304" pitchFamily="18" charset="0"/>
                <a:cs typeface="Times New Roman" panose="02020603050405020304" pitchFamily="18" charset="0"/>
              </a:rPr>
              <a:t>m</a:t>
            </a:r>
            <a:r>
              <a:rPr lang="en-US" altLang="zh-CN" sz="1200" b="1" dirty="0">
                <a:latin typeface="Times New Roman" panose="02020603050405020304" pitchFamily="18" charset="0"/>
                <a:cs typeface="Times New Roman" panose="02020603050405020304" pitchFamily="18" charset="0"/>
                <a:sym typeface="Symbol" panose="05050102010706020507" pitchFamily="18" charset="2"/>
              </a:rPr>
              <a:t></a:t>
            </a:r>
            <a:r>
              <a:rPr lang="en-US" altLang="zh-CN" sz="1200" b="1" i="1" dirty="0">
                <a:latin typeface="Times New Roman" panose="02020603050405020304" pitchFamily="18" charset="0"/>
                <a:cs typeface="Times New Roman" panose="02020603050405020304" pitchFamily="18" charset="0"/>
              </a:rPr>
              <a:t>n</a:t>
            </a:r>
            <a:r>
              <a:rPr lang="en-US" altLang="zh-CN" sz="1200" b="1" dirty="0">
                <a:latin typeface="Times New Roman" panose="02020603050405020304" pitchFamily="18" charset="0"/>
                <a:cs typeface="Times New Roman" panose="02020603050405020304" pitchFamily="18" charset="0"/>
              </a:rPr>
              <a:t>+1</a:t>
            </a:r>
            <a:r>
              <a:rPr lang="zh-CN" altLang="en-US" sz="1200" b="1" dirty="0">
                <a:latin typeface="Times New Roman" panose="02020603050405020304" pitchFamily="18" charset="0"/>
                <a:cs typeface="Times New Roman" panose="02020603050405020304" pitchFamily="18" charset="0"/>
              </a:rPr>
              <a:t>条边.</a:t>
            </a:r>
          </a:p>
          <a:p>
            <a:endParaRPr lang="zh-CN" altLang="en-US" dirty="0"/>
          </a:p>
        </p:txBody>
      </p:sp>
      <p:sp>
        <p:nvSpPr>
          <p:cNvPr id="4" name="灯片编号占位符 3"/>
          <p:cNvSpPr>
            <a:spLocks noGrp="1"/>
          </p:cNvSpPr>
          <p:nvPr>
            <p:ph type="sldNum" sz="quarter" idx="10"/>
          </p:nvPr>
        </p:nvSpPr>
        <p:spPr/>
        <p:txBody>
          <a:bodyPr/>
          <a:lstStyle/>
          <a:p>
            <a:fld id="{CAFE74B6-F93C-4D90-BE1A-7EFEDB35C0D4}" type="slidenum">
              <a:rPr lang="zh-CN" altLang="en-US" smtClean="0"/>
              <a:t>36</a:t>
            </a:fld>
            <a:endParaRPr lang="zh-CN" altLang="en-US"/>
          </a:p>
        </p:txBody>
      </p:sp>
    </p:spTree>
    <p:extLst>
      <p:ext uri="{BB962C8B-B14F-4D97-AF65-F5344CB8AC3E}">
        <p14:creationId xmlns:p14="http://schemas.microsoft.com/office/powerpoint/2010/main" val="3769493377"/>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indent="266700" algn="just"/>
            <a:r>
              <a:rPr lang="zh-CN"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生成树主要用于确保连通性和简化复杂性，而最小生成树主要用于在保持连通性的前提下，寻求成本最低的解决方案。</a:t>
            </a:r>
          </a:p>
          <a:p>
            <a:pPr indent="266700" algn="l"/>
            <a:r>
              <a:rPr lang="zh-CN"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综上所述，最小生成树在生成树的基础上增加了对总边权重最小化的考虑，它在网络设计和优化问题中具有重要的应用价值。</a:t>
            </a:r>
          </a:p>
          <a:p>
            <a:pPr algn="just" eaLnBrk="1" hangingPunct="1">
              <a:lnSpc>
                <a:spcPct val="90000"/>
              </a:lnSpc>
              <a:buFontTx/>
              <a:buNone/>
            </a:pPr>
            <a:r>
              <a:rPr lang="zh-CN" altLang="en-US" sz="1200" b="1" dirty="0">
                <a:latin typeface="Times New Roman" panose="02020603050405020304" pitchFamily="18" charset="0"/>
                <a:cs typeface="Times New Roman" panose="02020603050405020304" pitchFamily="18" charset="0"/>
              </a:rPr>
              <a:t>图</a:t>
            </a:r>
            <a:r>
              <a:rPr lang="en-US" altLang="zh-CN" sz="1200" b="1" i="1" dirty="0">
                <a:latin typeface="Times New Roman" panose="02020603050405020304" pitchFamily="18" charset="0"/>
                <a:cs typeface="Times New Roman" panose="02020603050405020304" pitchFamily="18" charset="0"/>
              </a:rPr>
              <a:t>G</a:t>
            </a:r>
            <a:r>
              <a:rPr lang="zh-CN" altLang="en-US" sz="1200" b="1" dirty="0">
                <a:latin typeface="Times New Roman" panose="02020603050405020304" pitchFamily="18" charset="0"/>
                <a:cs typeface="Times New Roman" panose="02020603050405020304" pitchFamily="18" charset="0"/>
              </a:rPr>
              <a:t>的每一条边</a:t>
            </a:r>
            <a:r>
              <a:rPr lang="en-US" altLang="zh-CN" sz="1200" b="1" i="1" dirty="0">
                <a:latin typeface="Times New Roman" panose="02020603050405020304" pitchFamily="18" charset="0"/>
                <a:cs typeface="Times New Roman" panose="02020603050405020304" pitchFamily="18" charset="0"/>
              </a:rPr>
              <a:t>e</a:t>
            </a:r>
            <a:r>
              <a:rPr lang="zh-CN" altLang="en-US" sz="1200" b="1" dirty="0">
                <a:latin typeface="Times New Roman" panose="02020603050405020304" pitchFamily="18" charset="0"/>
                <a:cs typeface="Times New Roman" panose="02020603050405020304" pitchFamily="18" charset="0"/>
              </a:rPr>
              <a:t>附加一个实数</a:t>
            </a:r>
            <a:r>
              <a:rPr lang="en-US" altLang="zh-CN" sz="1200" b="1" i="1" dirty="0">
                <a:latin typeface="Times New Roman" panose="02020603050405020304" pitchFamily="18" charset="0"/>
                <a:cs typeface="Times New Roman" panose="02020603050405020304" pitchFamily="18" charset="0"/>
              </a:rPr>
              <a:t>w</a:t>
            </a:r>
            <a:r>
              <a:rPr lang="en-US" altLang="zh-CN" sz="1200" b="1" dirty="0">
                <a:latin typeface="Times New Roman" panose="02020603050405020304" pitchFamily="18" charset="0"/>
                <a:cs typeface="Times New Roman" panose="02020603050405020304" pitchFamily="18" charset="0"/>
              </a:rPr>
              <a:t>(</a:t>
            </a:r>
            <a:r>
              <a:rPr lang="en-US" altLang="zh-CN" sz="1200" b="1" i="1" dirty="0">
                <a:latin typeface="Times New Roman" panose="02020603050405020304" pitchFamily="18" charset="0"/>
                <a:cs typeface="Times New Roman" panose="02020603050405020304" pitchFamily="18" charset="0"/>
              </a:rPr>
              <a:t>e</a:t>
            </a:r>
            <a:r>
              <a:rPr lang="en-US" altLang="zh-CN" sz="1200" b="1" dirty="0">
                <a:latin typeface="Times New Roman" panose="02020603050405020304" pitchFamily="18" charset="0"/>
                <a:cs typeface="Times New Roman" panose="02020603050405020304" pitchFamily="18" charset="0"/>
              </a:rPr>
              <a:t>), </a:t>
            </a:r>
            <a:r>
              <a:rPr lang="zh-CN" altLang="en-US" sz="1200" b="1" dirty="0">
                <a:latin typeface="Times New Roman" panose="02020603050405020304" pitchFamily="18" charset="0"/>
                <a:cs typeface="Times New Roman" panose="02020603050405020304" pitchFamily="18" charset="0"/>
              </a:rPr>
              <a:t>称作边</a:t>
            </a:r>
            <a:r>
              <a:rPr lang="en-US" altLang="zh-CN" sz="1200" b="1" i="1" dirty="0">
                <a:latin typeface="Times New Roman" panose="02020603050405020304" pitchFamily="18" charset="0"/>
                <a:cs typeface="Times New Roman" panose="02020603050405020304" pitchFamily="18" charset="0"/>
              </a:rPr>
              <a:t>e</a:t>
            </a:r>
            <a:r>
              <a:rPr lang="zh-CN" altLang="en-US" sz="1200" b="1" dirty="0">
                <a:latin typeface="Times New Roman" panose="02020603050405020304" pitchFamily="18" charset="0"/>
                <a:cs typeface="Times New Roman" panose="02020603050405020304" pitchFamily="18" charset="0"/>
              </a:rPr>
              <a:t>的</a:t>
            </a:r>
            <a:r>
              <a:rPr lang="zh-CN" altLang="en-US" sz="1200" b="1" dirty="0">
                <a:solidFill>
                  <a:srgbClr val="FF3300"/>
                </a:solidFill>
                <a:latin typeface="Times New Roman" panose="02020603050405020304" pitchFamily="18" charset="0"/>
                <a:cs typeface="Times New Roman" panose="02020603050405020304" pitchFamily="18" charset="0"/>
              </a:rPr>
              <a:t>权</a:t>
            </a:r>
            <a:r>
              <a:rPr lang="zh-CN" altLang="en-US" sz="1200" b="1" dirty="0">
                <a:latin typeface="Times New Roman" panose="02020603050405020304" pitchFamily="18" charset="0"/>
                <a:cs typeface="Times New Roman" panose="02020603050405020304" pitchFamily="18" charset="0"/>
              </a:rPr>
              <a:t>. 图</a:t>
            </a:r>
            <a:r>
              <a:rPr lang="en-US" altLang="zh-CN" sz="1200" b="1" i="1" dirty="0">
                <a:latin typeface="Times New Roman" panose="02020603050405020304" pitchFamily="18" charset="0"/>
                <a:cs typeface="Times New Roman" panose="02020603050405020304" pitchFamily="18" charset="0"/>
              </a:rPr>
              <a:t>G</a:t>
            </a:r>
            <a:r>
              <a:rPr lang="zh-CN" altLang="en-US" sz="1200" b="1" dirty="0">
                <a:latin typeface="Times New Roman" panose="02020603050405020304" pitchFamily="18" charset="0"/>
                <a:cs typeface="Times New Roman" panose="02020603050405020304" pitchFamily="18" charset="0"/>
              </a:rPr>
              <a:t>连</a:t>
            </a:r>
          </a:p>
          <a:p>
            <a:pPr algn="just" eaLnBrk="1" hangingPunct="1">
              <a:lnSpc>
                <a:spcPct val="90000"/>
              </a:lnSpc>
              <a:buFontTx/>
              <a:buNone/>
            </a:pPr>
            <a:r>
              <a:rPr lang="zh-CN" altLang="en-US" sz="1200" b="1" dirty="0">
                <a:latin typeface="Times New Roman" panose="02020603050405020304" pitchFamily="18" charset="0"/>
                <a:cs typeface="Times New Roman" panose="02020603050405020304" pitchFamily="18" charset="0"/>
              </a:rPr>
              <a:t>同附加在边上的权称作</a:t>
            </a:r>
            <a:r>
              <a:rPr lang="zh-CN" altLang="en-US" sz="1200" b="1" dirty="0">
                <a:solidFill>
                  <a:srgbClr val="FF3300"/>
                </a:solidFill>
                <a:latin typeface="Times New Roman" panose="02020603050405020304" pitchFamily="18" charset="0"/>
                <a:cs typeface="Times New Roman" panose="02020603050405020304" pitchFamily="18" charset="0"/>
              </a:rPr>
              <a:t>带权图</a:t>
            </a:r>
            <a:r>
              <a:rPr lang="zh-CN" altLang="en-US" sz="1200" b="1" dirty="0">
                <a:latin typeface="Times New Roman" panose="02020603050405020304" pitchFamily="18" charset="0"/>
                <a:cs typeface="Times New Roman" panose="02020603050405020304" pitchFamily="18" charset="0"/>
              </a:rPr>
              <a:t>, 记作</a:t>
            </a:r>
            <a:r>
              <a:rPr lang="en-US" altLang="zh-CN" sz="1200" b="1" i="1" dirty="0">
                <a:latin typeface="Times New Roman" panose="02020603050405020304" pitchFamily="18" charset="0"/>
                <a:cs typeface="Times New Roman" panose="02020603050405020304" pitchFamily="18" charset="0"/>
              </a:rPr>
              <a:t>G</a:t>
            </a:r>
            <a:r>
              <a:rPr lang="en-US" altLang="zh-CN" sz="1200" b="1" dirty="0">
                <a:latin typeface="Times New Roman" panose="02020603050405020304" pitchFamily="18" charset="0"/>
                <a:cs typeface="Times New Roman" panose="02020603050405020304" pitchFamily="18" charset="0"/>
              </a:rPr>
              <a:t>=&lt;</a:t>
            </a:r>
            <a:r>
              <a:rPr lang="en-US" altLang="zh-CN" sz="1200" b="1" i="1" dirty="0">
                <a:latin typeface="Times New Roman" panose="02020603050405020304" pitchFamily="18" charset="0"/>
                <a:cs typeface="Times New Roman" panose="02020603050405020304" pitchFamily="18" charset="0"/>
              </a:rPr>
              <a:t>V</a:t>
            </a:r>
            <a:r>
              <a:rPr lang="en-US" altLang="zh-CN" sz="1200" b="1" dirty="0">
                <a:latin typeface="Times New Roman" panose="02020603050405020304" pitchFamily="18" charset="0"/>
                <a:cs typeface="Times New Roman" panose="02020603050405020304" pitchFamily="18" charset="0"/>
              </a:rPr>
              <a:t>,</a:t>
            </a:r>
            <a:r>
              <a:rPr lang="en-US" altLang="zh-CN" sz="1200" b="1" i="1" dirty="0">
                <a:latin typeface="Times New Roman" panose="02020603050405020304" pitchFamily="18" charset="0"/>
                <a:cs typeface="Times New Roman" panose="02020603050405020304" pitchFamily="18" charset="0"/>
              </a:rPr>
              <a:t>E</a:t>
            </a:r>
            <a:r>
              <a:rPr lang="en-US" altLang="zh-CN" sz="1200" b="1" dirty="0">
                <a:latin typeface="Times New Roman" panose="02020603050405020304" pitchFamily="18" charset="0"/>
                <a:cs typeface="Times New Roman" panose="02020603050405020304" pitchFamily="18" charset="0"/>
              </a:rPr>
              <a:t>,</a:t>
            </a:r>
            <a:r>
              <a:rPr lang="en-US" altLang="zh-CN" sz="1200" b="1" i="1" dirty="0">
                <a:latin typeface="Times New Roman" panose="02020603050405020304" pitchFamily="18" charset="0"/>
                <a:cs typeface="Times New Roman" panose="02020603050405020304" pitchFamily="18" charset="0"/>
              </a:rPr>
              <a:t>W</a:t>
            </a:r>
            <a:r>
              <a:rPr lang="en-US" altLang="zh-CN" sz="1200" b="1" dirty="0">
                <a:latin typeface="Times New Roman" panose="02020603050405020304" pitchFamily="18" charset="0"/>
                <a:cs typeface="Times New Roman" panose="02020603050405020304" pitchFamily="18" charset="0"/>
              </a:rPr>
              <a:t>&gt;. </a:t>
            </a:r>
            <a:r>
              <a:rPr lang="zh-CN" altLang="en-US" sz="1200" b="1" dirty="0">
                <a:latin typeface="Times New Roman" panose="02020603050405020304" pitchFamily="18" charset="0"/>
                <a:cs typeface="Times New Roman" panose="02020603050405020304" pitchFamily="18" charset="0"/>
              </a:rPr>
              <a:t>设</a:t>
            </a:r>
            <a:r>
              <a:rPr lang="en-US" altLang="zh-CN" sz="1200" b="1" i="1" dirty="0">
                <a:latin typeface="Times New Roman" panose="02020603050405020304" pitchFamily="18" charset="0"/>
                <a:cs typeface="Times New Roman" panose="02020603050405020304" pitchFamily="18" charset="0"/>
              </a:rPr>
              <a:t>H</a:t>
            </a:r>
            <a:r>
              <a:rPr lang="zh-CN" altLang="en-US" sz="1200" b="1" dirty="0">
                <a:latin typeface="Times New Roman" panose="02020603050405020304" pitchFamily="18" charset="0"/>
                <a:cs typeface="Times New Roman" panose="02020603050405020304" pitchFamily="18" charset="0"/>
                <a:sym typeface="Symbol" panose="05050102010706020507" pitchFamily="18" charset="2"/>
              </a:rPr>
              <a:t>是</a:t>
            </a:r>
            <a:r>
              <a:rPr lang="en-US" altLang="zh-CN" sz="1200" b="1" i="1" dirty="0">
                <a:latin typeface="Times New Roman" panose="02020603050405020304" pitchFamily="18" charset="0"/>
                <a:cs typeface="Times New Roman" panose="02020603050405020304" pitchFamily="18" charset="0"/>
                <a:sym typeface="Symbol" panose="05050102010706020507" pitchFamily="18" charset="2"/>
              </a:rPr>
              <a:t>G</a:t>
            </a:r>
          </a:p>
          <a:p>
            <a:pPr algn="just" eaLnBrk="1" hangingPunct="1">
              <a:lnSpc>
                <a:spcPct val="90000"/>
              </a:lnSpc>
              <a:buFontTx/>
              <a:buNone/>
            </a:pPr>
            <a:r>
              <a:rPr lang="zh-CN" altLang="en-US" sz="1200" b="1" dirty="0">
                <a:latin typeface="Times New Roman" panose="02020603050405020304" pitchFamily="18" charset="0"/>
                <a:cs typeface="Times New Roman" panose="02020603050405020304" pitchFamily="18" charset="0"/>
                <a:sym typeface="Symbol" panose="05050102010706020507" pitchFamily="18" charset="2"/>
              </a:rPr>
              <a:t>的子图, </a:t>
            </a:r>
            <a:r>
              <a:rPr lang="en-US" altLang="zh-CN" sz="1200" b="1" i="1" dirty="0">
                <a:latin typeface="Times New Roman" panose="02020603050405020304" pitchFamily="18" charset="0"/>
                <a:cs typeface="Times New Roman" panose="02020603050405020304" pitchFamily="18" charset="0"/>
                <a:sym typeface="Symbol" panose="05050102010706020507" pitchFamily="18" charset="2"/>
              </a:rPr>
              <a:t>H</a:t>
            </a:r>
            <a:r>
              <a:rPr lang="zh-CN" altLang="en-US" sz="1200" b="1" dirty="0">
                <a:latin typeface="Times New Roman" panose="02020603050405020304" pitchFamily="18" charset="0"/>
                <a:cs typeface="Times New Roman" panose="02020603050405020304" pitchFamily="18" charset="0"/>
                <a:sym typeface="Symbol" panose="05050102010706020507" pitchFamily="18" charset="2"/>
              </a:rPr>
              <a:t>所有边的权的和称作</a:t>
            </a:r>
            <a:r>
              <a:rPr lang="en-US" altLang="zh-CN" sz="1200" b="1" i="1" dirty="0">
                <a:solidFill>
                  <a:srgbClr val="FF3300"/>
                </a:solidFill>
                <a:latin typeface="Times New Roman" panose="02020603050405020304" pitchFamily="18" charset="0"/>
                <a:cs typeface="Times New Roman" panose="02020603050405020304" pitchFamily="18" charset="0"/>
                <a:sym typeface="Symbol" panose="05050102010706020507" pitchFamily="18" charset="2"/>
              </a:rPr>
              <a:t>H</a:t>
            </a:r>
            <a:r>
              <a:rPr lang="zh-CN" altLang="en-US" sz="1200" b="1" dirty="0">
                <a:solidFill>
                  <a:srgbClr val="FF3300"/>
                </a:solidFill>
                <a:latin typeface="Times New Roman" panose="02020603050405020304" pitchFamily="18" charset="0"/>
                <a:cs typeface="Times New Roman" panose="02020603050405020304" pitchFamily="18" charset="0"/>
                <a:sym typeface="Symbol" panose="05050102010706020507" pitchFamily="18" charset="2"/>
              </a:rPr>
              <a:t>的权</a:t>
            </a:r>
            <a:r>
              <a:rPr lang="zh-CN" altLang="en-US" sz="1200" b="1" dirty="0">
                <a:latin typeface="Times New Roman" panose="02020603050405020304" pitchFamily="18" charset="0"/>
                <a:cs typeface="Times New Roman" panose="02020603050405020304" pitchFamily="18" charset="0"/>
                <a:sym typeface="Symbol" panose="05050102010706020507" pitchFamily="18" charset="2"/>
              </a:rPr>
              <a:t>, 记作</a:t>
            </a:r>
            <a:r>
              <a:rPr lang="en-US" altLang="zh-CN" sz="1200" b="1" i="1" dirty="0">
                <a:latin typeface="Times New Roman" panose="02020603050405020304" pitchFamily="18" charset="0"/>
                <a:cs typeface="Times New Roman" panose="02020603050405020304" pitchFamily="18" charset="0"/>
                <a:sym typeface="Symbol" panose="05050102010706020507" pitchFamily="18" charset="2"/>
              </a:rPr>
              <a:t>W</a:t>
            </a:r>
            <a:r>
              <a:rPr lang="en-US" altLang="zh-CN" sz="1200" b="1" dirty="0">
                <a:latin typeface="Times New Roman" panose="02020603050405020304" pitchFamily="18" charset="0"/>
                <a:cs typeface="Times New Roman" panose="02020603050405020304" pitchFamily="18" charset="0"/>
                <a:sym typeface="Symbol" panose="05050102010706020507" pitchFamily="18" charset="2"/>
              </a:rPr>
              <a:t>(</a:t>
            </a:r>
            <a:r>
              <a:rPr lang="en-US" altLang="zh-CN" sz="1200" b="1" i="1" dirty="0">
                <a:latin typeface="Times New Roman" panose="02020603050405020304" pitchFamily="18" charset="0"/>
                <a:cs typeface="Times New Roman" panose="02020603050405020304" pitchFamily="18" charset="0"/>
                <a:sym typeface="Symbol" panose="05050102010706020507" pitchFamily="18" charset="2"/>
              </a:rPr>
              <a:t>H</a:t>
            </a:r>
            <a:r>
              <a:rPr lang="en-US" altLang="zh-CN" sz="1200" b="1" dirty="0">
                <a:latin typeface="Times New Roman" panose="02020603050405020304" pitchFamily="18" charset="0"/>
                <a:cs typeface="Times New Roman" panose="02020603050405020304" pitchFamily="18" charset="0"/>
                <a:sym typeface="Symbol" panose="05050102010706020507" pitchFamily="18" charset="2"/>
              </a:rPr>
              <a:t>).</a:t>
            </a:r>
          </a:p>
          <a:p>
            <a:pPr algn="just" eaLnBrk="1" hangingPunct="1">
              <a:lnSpc>
                <a:spcPct val="90000"/>
              </a:lnSpc>
              <a:buFontTx/>
              <a:buNone/>
            </a:pPr>
            <a:r>
              <a:rPr lang="zh-CN" altLang="en-US" sz="1200" b="1" dirty="0">
                <a:solidFill>
                  <a:srgbClr val="FF3300"/>
                </a:solidFill>
                <a:latin typeface="Times New Roman" panose="02020603050405020304" pitchFamily="18" charset="0"/>
                <a:cs typeface="Times New Roman" panose="02020603050405020304" pitchFamily="18" charset="0"/>
              </a:rPr>
              <a:t>最小生成树</a:t>
            </a:r>
            <a:r>
              <a:rPr lang="zh-CN" altLang="en-US" sz="1200" b="1" dirty="0">
                <a:latin typeface="Times New Roman" panose="02020603050405020304" pitchFamily="18" charset="0"/>
                <a:cs typeface="Times New Roman" panose="02020603050405020304" pitchFamily="18" charset="0"/>
              </a:rPr>
              <a:t>: 带权图</a:t>
            </a:r>
            <a:r>
              <a:rPr lang="en-US" altLang="zh-CN" sz="1200" b="1" i="1" dirty="0">
                <a:latin typeface="Times New Roman" panose="02020603050405020304" pitchFamily="18" charset="0"/>
                <a:cs typeface="Times New Roman" panose="02020603050405020304" pitchFamily="18" charset="0"/>
              </a:rPr>
              <a:t>G</a:t>
            </a:r>
            <a:r>
              <a:rPr lang="zh-CN" altLang="en-US" sz="1200" b="1" dirty="0">
                <a:latin typeface="Times New Roman" panose="02020603050405020304" pitchFamily="18" charset="0"/>
                <a:cs typeface="Times New Roman" panose="02020603050405020304" pitchFamily="18" charset="0"/>
              </a:rPr>
              <a:t>的所有生成树中权最小的生成树</a:t>
            </a:r>
            <a:endParaRPr lang="en-US" altLang="zh-CN" sz="1200" b="1" dirty="0">
              <a:latin typeface="Times New Roman" panose="02020603050405020304" pitchFamily="18" charset="0"/>
              <a:cs typeface="Times New Roman" panose="02020603050405020304" pitchFamily="18" charset="0"/>
            </a:endParaRPr>
          </a:p>
          <a:p>
            <a:pPr algn="just" eaLnBrk="1" hangingPunct="1">
              <a:lnSpc>
                <a:spcPct val="90000"/>
              </a:lnSpc>
              <a:buFont typeface="Wingdings" panose="05000000000000000000" pitchFamily="2" charset="2"/>
              <a:buNone/>
              <a:defRPr/>
            </a:pPr>
            <a:r>
              <a:rPr lang="zh-CN" altLang="en-US" sz="1200" b="1" dirty="0">
                <a:solidFill>
                  <a:srgbClr val="FF0000"/>
                </a:solidFill>
                <a:latin typeface="Times New Roman" pitchFamily="18" charset="0"/>
                <a:cs typeface="Times New Roman" pitchFamily="18" charset="0"/>
              </a:rPr>
              <a:t>避圈法 </a:t>
            </a:r>
            <a:r>
              <a:rPr lang="en-US" altLang="zh-CN" sz="1200" b="1" dirty="0">
                <a:solidFill>
                  <a:srgbClr val="FF0000"/>
                </a:solidFill>
                <a:latin typeface="Times New Roman" pitchFamily="18" charset="0"/>
                <a:cs typeface="Times New Roman" pitchFamily="18" charset="0"/>
              </a:rPr>
              <a:t>(Kruskal)</a:t>
            </a:r>
            <a:r>
              <a:rPr lang="en-US" altLang="zh-CN" sz="1200" b="1" dirty="0">
                <a:latin typeface="Times New Roman" pitchFamily="18" charset="0"/>
                <a:cs typeface="Times New Roman" pitchFamily="18" charset="0"/>
              </a:rPr>
              <a:t> ——</a:t>
            </a:r>
            <a:r>
              <a:rPr lang="zh-CN" altLang="en-US" sz="1200" b="1" dirty="0">
                <a:latin typeface="Times New Roman" pitchFamily="18" charset="0"/>
                <a:cs typeface="Times New Roman" pitchFamily="18" charset="0"/>
              </a:rPr>
              <a:t>求最小生成树的算法</a:t>
            </a:r>
            <a:endParaRPr lang="en-US" altLang="zh-CN" sz="1200" b="1" dirty="0">
              <a:solidFill>
                <a:srgbClr val="FF0000"/>
              </a:solidFill>
              <a:latin typeface="Times New Roman" pitchFamily="18" charset="0"/>
              <a:cs typeface="Times New Roman" pitchFamily="18" charset="0"/>
            </a:endParaRPr>
          </a:p>
          <a:p>
            <a:pPr>
              <a:buFont typeface="Wingdings" panose="05000000000000000000" pitchFamily="2" charset="2"/>
              <a:buNone/>
              <a:defRPr/>
            </a:pPr>
            <a:r>
              <a:rPr lang="zh-CN" altLang="en-US" sz="1200" b="1" dirty="0">
                <a:latin typeface="Times New Roman" pitchFamily="18" charset="0"/>
                <a:cs typeface="Times New Roman" pitchFamily="18" charset="0"/>
              </a:rPr>
              <a:t>设</a:t>
            </a:r>
            <a:r>
              <a:rPr lang="en-US" altLang="zh-CN" sz="1200" b="1" i="1" dirty="0">
                <a:latin typeface="Times New Roman" pitchFamily="18" charset="0"/>
                <a:cs typeface="Times New Roman" pitchFamily="18" charset="0"/>
              </a:rPr>
              <a:t>G</a:t>
            </a:r>
            <a:r>
              <a:rPr lang="zh-CN" altLang="en-US" sz="1200" b="1" dirty="0">
                <a:latin typeface="Times New Roman" pitchFamily="18" charset="0"/>
                <a:cs typeface="Times New Roman" pitchFamily="18" charset="0"/>
              </a:rPr>
              <a:t>是</a:t>
            </a:r>
            <a:r>
              <a:rPr lang="en-US" altLang="zh-CN" sz="1200" b="1" i="1" dirty="0">
                <a:latin typeface="Times New Roman" pitchFamily="18" charset="0"/>
                <a:cs typeface="Times New Roman" pitchFamily="18" charset="0"/>
              </a:rPr>
              <a:t>n</a:t>
            </a:r>
            <a:r>
              <a:rPr lang="zh-CN" altLang="zh-CN" sz="1200" b="1" dirty="0">
                <a:latin typeface="Times New Roman" pitchFamily="18" charset="0"/>
                <a:cs typeface="Times New Roman" pitchFamily="18" charset="0"/>
              </a:rPr>
              <a:t>阶无向连通带权图</a:t>
            </a:r>
            <a:r>
              <a:rPr lang="en-US" altLang="zh-CN" sz="1200" b="1" i="1" dirty="0">
                <a:latin typeface="Times New Roman" pitchFamily="18" charset="0"/>
                <a:cs typeface="Times New Roman" pitchFamily="18" charset="0"/>
              </a:rPr>
              <a:t>G</a:t>
            </a:r>
            <a:r>
              <a:rPr lang="en-US" altLang="zh-CN" sz="1200" b="1" dirty="0">
                <a:latin typeface="Times New Roman" pitchFamily="18" charset="0"/>
                <a:cs typeface="Times New Roman" pitchFamily="18" charset="0"/>
              </a:rPr>
              <a:t>.</a:t>
            </a:r>
            <a:endParaRPr lang="zh-CN" altLang="zh-CN" sz="1200" b="1" dirty="0">
              <a:latin typeface="Times New Roman" pitchFamily="18" charset="0"/>
              <a:cs typeface="Times New Roman" pitchFamily="18" charset="0"/>
            </a:endParaRPr>
          </a:p>
          <a:p>
            <a:pPr marL="457200" indent="-457200">
              <a:buFont typeface="Wingdings" panose="05000000000000000000" pitchFamily="2" charset="2"/>
              <a:buNone/>
              <a:defRPr/>
            </a:pPr>
            <a:r>
              <a:rPr lang="en-US" altLang="zh-CN" sz="1200" b="1" dirty="0">
                <a:latin typeface="Times New Roman" pitchFamily="18" charset="0"/>
                <a:cs typeface="Times New Roman" pitchFamily="18" charset="0"/>
              </a:rPr>
              <a:t>(1) </a:t>
            </a:r>
            <a:r>
              <a:rPr lang="zh-CN" altLang="zh-CN" sz="1200" b="1" dirty="0">
                <a:latin typeface="Times New Roman" pitchFamily="18" charset="0"/>
                <a:cs typeface="Times New Roman" pitchFamily="18" charset="0"/>
              </a:rPr>
              <a:t>按权从小到大排列边</a:t>
            </a:r>
            <a:r>
              <a:rPr lang="en-US" altLang="zh-CN" sz="1200" b="1" dirty="0">
                <a:latin typeface="Times New Roman" pitchFamily="18" charset="0"/>
                <a:cs typeface="Times New Roman" pitchFamily="18" charset="0"/>
              </a:rPr>
              <a:t>(</a:t>
            </a:r>
            <a:r>
              <a:rPr lang="zh-CN" altLang="en-US" sz="1200" b="1" dirty="0">
                <a:latin typeface="Times New Roman" pitchFamily="18" charset="0"/>
                <a:cs typeface="Times New Roman" pitchFamily="18" charset="0"/>
              </a:rPr>
              <a:t>环除外</a:t>
            </a:r>
            <a:r>
              <a:rPr lang="en-US" altLang="zh-CN" sz="1200" b="1" dirty="0">
                <a:latin typeface="Times New Roman" pitchFamily="18" charset="0"/>
                <a:cs typeface="Times New Roman" pitchFamily="18" charset="0"/>
              </a:rPr>
              <a:t>), </a:t>
            </a:r>
            <a:r>
              <a:rPr lang="zh-CN" altLang="zh-CN" sz="1200" b="1" dirty="0">
                <a:latin typeface="Times New Roman" pitchFamily="18" charset="0"/>
                <a:cs typeface="Times New Roman" pitchFamily="18" charset="0"/>
              </a:rPr>
              <a:t>设</a:t>
            </a:r>
            <a:r>
              <a:rPr lang="en-US" altLang="zh-CN" sz="1200" b="1" i="1" dirty="0">
                <a:latin typeface="Times New Roman" pitchFamily="18" charset="0"/>
                <a:cs typeface="Times New Roman" pitchFamily="18" charset="0"/>
              </a:rPr>
              <a:t>W</a:t>
            </a:r>
            <a:r>
              <a:rPr lang="en-US" altLang="zh-CN" sz="1200" b="1" dirty="0">
                <a:latin typeface="Times New Roman" pitchFamily="18" charset="0"/>
                <a:cs typeface="Times New Roman" pitchFamily="18" charset="0"/>
              </a:rPr>
              <a:t>(</a:t>
            </a:r>
            <a:r>
              <a:rPr lang="en-US" altLang="zh-CN" sz="1200" b="1" i="1" dirty="0">
                <a:latin typeface="Times New Roman" pitchFamily="18" charset="0"/>
                <a:cs typeface="Times New Roman" pitchFamily="18" charset="0"/>
              </a:rPr>
              <a:t>e</a:t>
            </a:r>
            <a:r>
              <a:rPr lang="en-US" altLang="zh-CN" sz="1200" b="1" baseline="-25000" dirty="0">
                <a:latin typeface="Times New Roman" pitchFamily="18" charset="0"/>
                <a:cs typeface="Times New Roman" pitchFamily="18" charset="0"/>
              </a:rPr>
              <a:t>1</a:t>
            </a:r>
            <a:r>
              <a:rPr lang="en-US" altLang="zh-CN" sz="1200" b="1" dirty="0">
                <a:latin typeface="Times New Roman" pitchFamily="18" charset="0"/>
                <a:cs typeface="Times New Roman" pitchFamily="18" charset="0"/>
              </a:rPr>
              <a:t>)</a:t>
            </a:r>
            <a:r>
              <a:rPr lang="zh-CN" altLang="zh-CN" sz="1200" b="1" dirty="0">
                <a:latin typeface="Times New Roman" pitchFamily="18" charset="0"/>
                <a:cs typeface="Times New Roman" pitchFamily="18" charset="0"/>
              </a:rPr>
              <a:t>≤</a:t>
            </a:r>
            <a:r>
              <a:rPr lang="en-US" altLang="zh-CN" sz="1200" b="1" i="1" dirty="0">
                <a:latin typeface="Times New Roman" pitchFamily="18" charset="0"/>
                <a:cs typeface="Times New Roman" pitchFamily="18" charset="0"/>
              </a:rPr>
              <a:t>W</a:t>
            </a:r>
            <a:r>
              <a:rPr lang="en-US" altLang="zh-CN" sz="1200" b="1" dirty="0">
                <a:latin typeface="Times New Roman" pitchFamily="18" charset="0"/>
                <a:cs typeface="Times New Roman" pitchFamily="18" charset="0"/>
              </a:rPr>
              <a:t>(</a:t>
            </a:r>
            <a:r>
              <a:rPr lang="en-US" altLang="zh-CN" sz="1200" b="1" i="1" dirty="0">
                <a:latin typeface="Times New Roman" pitchFamily="18" charset="0"/>
                <a:cs typeface="Times New Roman" pitchFamily="18" charset="0"/>
              </a:rPr>
              <a:t>e</a:t>
            </a:r>
            <a:r>
              <a:rPr lang="en-US" altLang="zh-CN" sz="1200" b="1" baseline="-25000" dirty="0">
                <a:latin typeface="Times New Roman" pitchFamily="18" charset="0"/>
                <a:cs typeface="Times New Roman" pitchFamily="18" charset="0"/>
              </a:rPr>
              <a:t>2</a:t>
            </a:r>
            <a:r>
              <a:rPr lang="en-US" altLang="zh-CN" sz="1200" b="1" dirty="0">
                <a:latin typeface="Times New Roman" pitchFamily="18" charset="0"/>
                <a:cs typeface="Times New Roman" pitchFamily="18" charset="0"/>
              </a:rPr>
              <a:t>)</a:t>
            </a:r>
            <a:r>
              <a:rPr lang="zh-CN" altLang="zh-CN" sz="1200" b="1" dirty="0">
                <a:latin typeface="Times New Roman" pitchFamily="18" charset="0"/>
                <a:cs typeface="Times New Roman" pitchFamily="18" charset="0"/>
              </a:rPr>
              <a:t>≤…≤</a:t>
            </a:r>
            <a:r>
              <a:rPr lang="en-US" altLang="zh-CN" sz="1200" b="1" i="1" dirty="0">
                <a:latin typeface="Times New Roman" pitchFamily="18" charset="0"/>
                <a:cs typeface="Times New Roman" pitchFamily="18" charset="0"/>
              </a:rPr>
              <a:t>W</a:t>
            </a:r>
            <a:r>
              <a:rPr lang="en-US" altLang="zh-CN" sz="1200" b="1" dirty="0">
                <a:latin typeface="Times New Roman" pitchFamily="18" charset="0"/>
                <a:cs typeface="Times New Roman" pitchFamily="18" charset="0"/>
              </a:rPr>
              <a:t>(</a:t>
            </a:r>
            <a:r>
              <a:rPr lang="en-US" altLang="zh-CN" sz="1200" b="1" i="1" dirty="0" err="1">
                <a:latin typeface="Times New Roman" pitchFamily="18" charset="0"/>
                <a:cs typeface="Times New Roman" pitchFamily="18" charset="0"/>
              </a:rPr>
              <a:t>e</a:t>
            </a:r>
            <a:r>
              <a:rPr lang="en-US" altLang="zh-CN" sz="1200" b="1" i="1" baseline="-25000" dirty="0" err="1">
                <a:latin typeface="Times New Roman" pitchFamily="18" charset="0"/>
                <a:cs typeface="Times New Roman" pitchFamily="18" charset="0"/>
              </a:rPr>
              <a:t>m</a:t>
            </a:r>
            <a:r>
              <a:rPr lang="en-US" altLang="zh-CN" sz="1200" b="1" dirty="0">
                <a:latin typeface="Times New Roman" pitchFamily="18" charset="0"/>
                <a:cs typeface="Times New Roman" pitchFamily="18" charset="0"/>
              </a:rPr>
              <a:t>).</a:t>
            </a:r>
            <a:endParaRPr lang="zh-CN" altLang="zh-CN" sz="1200" b="1" dirty="0">
              <a:latin typeface="Times New Roman" pitchFamily="18" charset="0"/>
              <a:cs typeface="Times New Roman" pitchFamily="18" charset="0"/>
            </a:endParaRPr>
          </a:p>
          <a:p>
            <a:pPr marL="457200" indent="-457200">
              <a:buFont typeface="Wingdings" panose="05000000000000000000" pitchFamily="2" charset="2"/>
              <a:buNone/>
              <a:defRPr/>
            </a:pPr>
            <a:r>
              <a:rPr lang="en-US" altLang="zh-CN" sz="1200" b="1" dirty="0">
                <a:latin typeface="Times New Roman" pitchFamily="18" charset="0"/>
                <a:cs typeface="Times New Roman" pitchFamily="18" charset="0"/>
              </a:rPr>
              <a:t>(2) </a:t>
            </a:r>
            <a:r>
              <a:rPr lang="zh-CN" altLang="zh-CN" sz="1200" b="1" dirty="0">
                <a:latin typeface="Times New Roman" pitchFamily="18" charset="0"/>
                <a:cs typeface="Times New Roman" pitchFamily="18" charset="0"/>
              </a:rPr>
              <a:t>令</a:t>
            </a:r>
            <a:r>
              <a:rPr lang="en-US" altLang="zh-CN" sz="1200" b="1" i="1" dirty="0">
                <a:latin typeface="Times New Roman" pitchFamily="18" charset="0"/>
                <a:cs typeface="Times New Roman" pitchFamily="18" charset="0"/>
              </a:rPr>
              <a:t>T</a:t>
            </a:r>
            <a:r>
              <a:rPr lang="en-US" altLang="zh-CN" sz="1200" b="1" dirty="0">
                <a:latin typeface="Times New Roman" pitchFamily="18" charset="0"/>
                <a:cs typeface="Times New Roman" pitchFamily="18" charset="0"/>
                <a:sym typeface="Symbol"/>
              </a:rPr>
              <a:t></a:t>
            </a:r>
            <a:r>
              <a:rPr lang="en-US" altLang="zh-CN" sz="1200" b="1" dirty="0">
                <a:latin typeface="Times New Roman" pitchFamily="18" charset="0"/>
                <a:cs typeface="Times New Roman" pitchFamily="18" charset="0"/>
              </a:rPr>
              <a:t>, </a:t>
            </a:r>
            <a:r>
              <a:rPr lang="en-US" altLang="zh-CN" sz="1200" b="1" i="1" dirty="0">
                <a:latin typeface="Times New Roman" pitchFamily="18" charset="0"/>
                <a:cs typeface="Times New Roman" pitchFamily="18" charset="0"/>
              </a:rPr>
              <a:t>i</a:t>
            </a:r>
            <a:r>
              <a:rPr lang="en-US" altLang="zh-CN" sz="1200" b="1" dirty="0">
                <a:latin typeface="Times New Roman" pitchFamily="18" charset="0"/>
                <a:cs typeface="Times New Roman" pitchFamily="18" charset="0"/>
                <a:sym typeface="Symbol"/>
              </a:rPr>
              <a:t></a:t>
            </a:r>
            <a:r>
              <a:rPr lang="en-US" altLang="zh-CN" sz="1200" b="1" dirty="0">
                <a:latin typeface="Times New Roman" pitchFamily="18" charset="0"/>
                <a:cs typeface="Times New Roman" pitchFamily="18" charset="0"/>
              </a:rPr>
              <a:t>1, </a:t>
            </a:r>
            <a:r>
              <a:rPr lang="en-US" altLang="zh-CN" sz="1200" b="1" i="1" dirty="0">
                <a:latin typeface="Times New Roman" pitchFamily="18" charset="0"/>
                <a:cs typeface="Times New Roman" pitchFamily="18" charset="0"/>
              </a:rPr>
              <a:t>k</a:t>
            </a:r>
            <a:r>
              <a:rPr lang="en-US" altLang="zh-CN" sz="1200" b="1" dirty="0">
                <a:latin typeface="Times New Roman" pitchFamily="18" charset="0"/>
                <a:cs typeface="Times New Roman" pitchFamily="18" charset="0"/>
                <a:sym typeface="Symbol"/>
              </a:rPr>
              <a:t></a:t>
            </a:r>
            <a:r>
              <a:rPr lang="en-US" altLang="zh-CN" sz="1200" b="1" dirty="0">
                <a:latin typeface="Times New Roman" pitchFamily="18" charset="0"/>
                <a:cs typeface="Times New Roman" pitchFamily="18" charset="0"/>
              </a:rPr>
              <a:t>0.</a:t>
            </a:r>
            <a:endParaRPr lang="zh-CN" altLang="zh-CN" sz="1200" b="1" dirty="0">
              <a:latin typeface="Times New Roman" pitchFamily="18" charset="0"/>
              <a:cs typeface="Times New Roman" pitchFamily="18" charset="0"/>
            </a:endParaRPr>
          </a:p>
          <a:p>
            <a:pPr>
              <a:buFont typeface="Wingdings" panose="05000000000000000000" pitchFamily="2" charset="2"/>
              <a:buNone/>
              <a:defRPr/>
            </a:pPr>
            <a:r>
              <a:rPr lang="en-US" altLang="zh-CN" sz="1200" b="1" dirty="0">
                <a:latin typeface="Times New Roman" pitchFamily="18" charset="0"/>
                <a:cs typeface="Times New Roman" pitchFamily="18" charset="0"/>
              </a:rPr>
              <a:t>(3) </a:t>
            </a:r>
            <a:r>
              <a:rPr lang="zh-CN" altLang="zh-CN" sz="1200" b="1" dirty="0">
                <a:latin typeface="Times New Roman" pitchFamily="18" charset="0"/>
                <a:cs typeface="Times New Roman" pitchFamily="18" charset="0"/>
              </a:rPr>
              <a:t>若</a:t>
            </a:r>
            <a:r>
              <a:rPr lang="en-US" altLang="zh-CN" sz="1200" b="1" i="1" dirty="0" err="1">
                <a:latin typeface="Times New Roman" pitchFamily="18" charset="0"/>
                <a:cs typeface="Times New Roman" pitchFamily="18" charset="0"/>
              </a:rPr>
              <a:t>e</a:t>
            </a:r>
            <a:r>
              <a:rPr lang="en-US" altLang="zh-CN" sz="1200" b="1" i="1" baseline="-25000" dirty="0" err="1">
                <a:latin typeface="Times New Roman" pitchFamily="18" charset="0"/>
                <a:cs typeface="Times New Roman" pitchFamily="18" charset="0"/>
              </a:rPr>
              <a:t>i</a:t>
            </a:r>
            <a:r>
              <a:rPr lang="zh-CN" altLang="zh-CN" sz="1200" b="1" dirty="0">
                <a:latin typeface="Times New Roman" pitchFamily="18" charset="0"/>
                <a:cs typeface="Times New Roman" pitchFamily="18" charset="0"/>
              </a:rPr>
              <a:t>与</a:t>
            </a:r>
            <a:r>
              <a:rPr lang="en-US" altLang="zh-CN" sz="1200" b="1" i="1" dirty="0">
                <a:latin typeface="Times New Roman" pitchFamily="18" charset="0"/>
                <a:cs typeface="Times New Roman" pitchFamily="18" charset="0"/>
              </a:rPr>
              <a:t>T</a:t>
            </a:r>
            <a:r>
              <a:rPr lang="zh-CN" altLang="zh-CN" sz="1200" b="1" dirty="0">
                <a:latin typeface="Times New Roman" pitchFamily="18" charset="0"/>
                <a:cs typeface="Times New Roman" pitchFamily="18" charset="0"/>
              </a:rPr>
              <a:t>中的边不构成回路，则令</a:t>
            </a:r>
            <a:r>
              <a:rPr lang="en-US" altLang="zh-CN" sz="1200" b="1" i="1" dirty="0">
                <a:latin typeface="Times New Roman" pitchFamily="18" charset="0"/>
                <a:cs typeface="Times New Roman" pitchFamily="18" charset="0"/>
              </a:rPr>
              <a:t>T</a:t>
            </a:r>
            <a:r>
              <a:rPr lang="en-US" altLang="zh-CN" sz="1200" b="1" dirty="0">
                <a:latin typeface="Times New Roman" pitchFamily="18" charset="0"/>
                <a:cs typeface="Times New Roman" pitchFamily="18" charset="0"/>
                <a:sym typeface="Symbol"/>
              </a:rPr>
              <a:t></a:t>
            </a:r>
            <a:r>
              <a:rPr lang="en-US" altLang="zh-CN" sz="1200" b="1" i="1" dirty="0">
                <a:latin typeface="Times New Roman" pitchFamily="18" charset="0"/>
                <a:cs typeface="Times New Roman" pitchFamily="18" charset="0"/>
              </a:rPr>
              <a:t>T</a:t>
            </a:r>
            <a:r>
              <a:rPr lang="en-US" altLang="zh-CN" sz="1200" b="1" dirty="0">
                <a:latin typeface="Times New Roman" pitchFamily="18" charset="0"/>
                <a:cs typeface="Times New Roman" pitchFamily="18" charset="0"/>
                <a:sym typeface="Symbol"/>
              </a:rPr>
              <a:t></a:t>
            </a:r>
            <a:r>
              <a:rPr lang="en-US" altLang="zh-CN" sz="1200" b="1" dirty="0">
                <a:latin typeface="Times New Roman" pitchFamily="18" charset="0"/>
                <a:cs typeface="Times New Roman" pitchFamily="18" charset="0"/>
              </a:rPr>
              <a:t>{</a:t>
            </a:r>
            <a:r>
              <a:rPr lang="en-US" altLang="zh-CN" sz="1200" b="1" i="1" dirty="0" err="1">
                <a:latin typeface="Times New Roman" pitchFamily="18" charset="0"/>
                <a:cs typeface="Times New Roman" pitchFamily="18" charset="0"/>
              </a:rPr>
              <a:t>e</a:t>
            </a:r>
            <a:r>
              <a:rPr lang="en-US" altLang="zh-CN" sz="1200" b="1" i="1" baseline="-25000" dirty="0" err="1">
                <a:latin typeface="Times New Roman" pitchFamily="18" charset="0"/>
                <a:cs typeface="Times New Roman" pitchFamily="18" charset="0"/>
              </a:rPr>
              <a:t>i</a:t>
            </a:r>
            <a:r>
              <a:rPr lang="en-US" altLang="zh-CN" sz="1200" b="1" dirty="0">
                <a:latin typeface="Times New Roman" pitchFamily="18" charset="0"/>
                <a:cs typeface="Times New Roman" pitchFamily="18" charset="0"/>
              </a:rPr>
              <a:t>}, </a:t>
            </a:r>
            <a:r>
              <a:rPr lang="en-US" altLang="zh-CN" sz="1200" b="1" i="1" dirty="0">
                <a:latin typeface="Times New Roman" pitchFamily="18" charset="0"/>
                <a:cs typeface="Times New Roman" pitchFamily="18" charset="0"/>
              </a:rPr>
              <a:t>k</a:t>
            </a:r>
            <a:r>
              <a:rPr lang="en-US" altLang="zh-CN" sz="1200" b="1" dirty="0">
                <a:latin typeface="Times New Roman" pitchFamily="18" charset="0"/>
                <a:cs typeface="Times New Roman" pitchFamily="18" charset="0"/>
                <a:sym typeface="Symbol"/>
              </a:rPr>
              <a:t></a:t>
            </a:r>
            <a:r>
              <a:rPr lang="en-US" altLang="zh-CN" sz="1200" b="1" i="1" dirty="0">
                <a:latin typeface="Times New Roman" pitchFamily="18" charset="0"/>
                <a:cs typeface="Times New Roman" pitchFamily="18" charset="0"/>
              </a:rPr>
              <a:t>k</a:t>
            </a:r>
            <a:r>
              <a:rPr lang="en-US" altLang="zh-CN" sz="1200" b="1" dirty="0">
                <a:latin typeface="Times New Roman" pitchFamily="18" charset="0"/>
                <a:cs typeface="Times New Roman" pitchFamily="18" charset="0"/>
              </a:rPr>
              <a:t>+1.  </a:t>
            </a:r>
            <a:endParaRPr lang="zh-CN" altLang="zh-CN" sz="1200" b="1" dirty="0">
              <a:latin typeface="Times New Roman" pitchFamily="18" charset="0"/>
              <a:cs typeface="Times New Roman" pitchFamily="18" charset="0"/>
            </a:endParaRPr>
          </a:p>
          <a:p>
            <a:pPr>
              <a:buFont typeface="Wingdings" panose="05000000000000000000" pitchFamily="2" charset="2"/>
              <a:buNone/>
              <a:defRPr/>
            </a:pPr>
            <a:r>
              <a:rPr lang="en-US" altLang="zh-CN" sz="1200" b="1" dirty="0">
                <a:latin typeface="Times New Roman" pitchFamily="18" charset="0"/>
                <a:cs typeface="Times New Roman" pitchFamily="18" charset="0"/>
              </a:rPr>
              <a:t>(4) </a:t>
            </a:r>
            <a:r>
              <a:rPr lang="zh-CN" altLang="zh-CN" sz="1200" b="1" dirty="0">
                <a:latin typeface="Times New Roman" pitchFamily="18" charset="0"/>
                <a:cs typeface="Times New Roman" pitchFamily="18" charset="0"/>
              </a:rPr>
              <a:t>若</a:t>
            </a:r>
            <a:r>
              <a:rPr lang="en-US" altLang="zh-CN" sz="1200" b="1" i="1" dirty="0">
                <a:latin typeface="Times New Roman" pitchFamily="18" charset="0"/>
                <a:cs typeface="Times New Roman" pitchFamily="18" charset="0"/>
              </a:rPr>
              <a:t>k</a:t>
            </a:r>
            <a:r>
              <a:rPr lang="en-US" altLang="zh-CN" sz="1200" b="1" dirty="0">
                <a:latin typeface="Times New Roman" pitchFamily="18" charset="0"/>
                <a:cs typeface="Times New Roman" pitchFamily="18" charset="0"/>
              </a:rPr>
              <a:t>&lt;</a:t>
            </a:r>
            <a:r>
              <a:rPr lang="en-US" altLang="zh-CN" sz="1200" b="1" i="1" dirty="0">
                <a:latin typeface="Times New Roman" pitchFamily="18" charset="0"/>
                <a:cs typeface="Times New Roman" pitchFamily="18" charset="0"/>
              </a:rPr>
              <a:t>n</a:t>
            </a:r>
            <a:r>
              <a:rPr lang="en-US" altLang="zh-CN" sz="1200" b="1" dirty="0">
                <a:latin typeface="Times New Roman" pitchFamily="18" charset="0"/>
                <a:cs typeface="Times New Roman" pitchFamily="18" charset="0"/>
              </a:rPr>
              <a:t>-1, </a:t>
            </a:r>
            <a:r>
              <a:rPr lang="zh-CN" altLang="zh-CN" sz="1200" b="1" dirty="0">
                <a:latin typeface="Times New Roman" pitchFamily="18" charset="0"/>
                <a:cs typeface="Times New Roman" pitchFamily="18" charset="0"/>
              </a:rPr>
              <a:t>则令</a:t>
            </a:r>
            <a:r>
              <a:rPr lang="en-US" altLang="zh-CN" sz="1200" b="1" i="1" dirty="0">
                <a:latin typeface="Times New Roman" pitchFamily="18" charset="0"/>
                <a:cs typeface="Times New Roman" pitchFamily="18" charset="0"/>
              </a:rPr>
              <a:t>i</a:t>
            </a:r>
            <a:r>
              <a:rPr lang="en-US" altLang="zh-CN" sz="1200" b="1" dirty="0">
                <a:latin typeface="Times New Roman" pitchFamily="18" charset="0"/>
                <a:cs typeface="Times New Roman" pitchFamily="18" charset="0"/>
                <a:sym typeface="Symbol"/>
              </a:rPr>
              <a:t></a:t>
            </a:r>
            <a:r>
              <a:rPr lang="en-US" altLang="zh-CN" sz="1200" b="1" i="1" dirty="0">
                <a:latin typeface="Times New Roman" pitchFamily="18" charset="0"/>
                <a:cs typeface="Times New Roman" pitchFamily="18" charset="0"/>
              </a:rPr>
              <a:t>i</a:t>
            </a:r>
            <a:r>
              <a:rPr lang="en-US" altLang="zh-CN" sz="1200" b="1" dirty="0">
                <a:latin typeface="Times New Roman" pitchFamily="18" charset="0"/>
                <a:cs typeface="Times New Roman" pitchFamily="18" charset="0"/>
              </a:rPr>
              <a:t>+1, </a:t>
            </a:r>
            <a:r>
              <a:rPr lang="zh-CN" altLang="zh-CN" sz="1200" b="1" dirty="0">
                <a:latin typeface="Times New Roman" pitchFamily="18" charset="0"/>
                <a:cs typeface="Times New Roman" pitchFamily="18" charset="0"/>
              </a:rPr>
              <a:t>转</a:t>
            </a:r>
            <a:r>
              <a:rPr lang="en-US" altLang="zh-CN" sz="1200" b="1" dirty="0">
                <a:latin typeface="Times New Roman" pitchFamily="18" charset="0"/>
                <a:cs typeface="Times New Roman" pitchFamily="18" charset="0"/>
              </a:rPr>
              <a:t>(3).</a:t>
            </a:r>
            <a:endParaRPr lang="en-US" altLang="zh-CN" sz="1200" b="1" dirty="0">
              <a:latin typeface="Times New Roman" pitchFamily="18" charset="0"/>
            </a:endParaRPr>
          </a:p>
          <a:p>
            <a:endParaRPr lang="zh-CN" altLang="en-US" dirty="0"/>
          </a:p>
        </p:txBody>
      </p:sp>
      <p:sp>
        <p:nvSpPr>
          <p:cNvPr id="4" name="灯片编号占位符 3"/>
          <p:cNvSpPr>
            <a:spLocks noGrp="1"/>
          </p:cNvSpPr>
          <p:nvPr>
            <p:ph type="sldNum" sz="quarter" idx="10"/>
          </p:nvPr>
        </p:nvSpPr>
        <p:spPr/>
        <p:txBody>
          <a:bodyPr/>
          <a:lstStyle/>
          <a:p>
            <a:fld id="{CAFE74B6-F93C-4D90-BE1A-7EFEDB35C0D4}" type="slidenum">
              <a:rPr lang="zh-CN" altLang="en-US" smtClean="0"/>
              <a:t>37</a:t>
            </a:fld>
            <a:endParaRPr lang="zh-CN" altLang="en-US"/>
          </a:p>
        </p:txBody>
      </p:sp>
    </p:spTree>
    <p:extLst>
      <p:ext uri="{BB962C8B-B14F-4D97-AF65-F5344CB8AC3E}">
        <p14:creationId xmlns:p14="http://schemas.microsoft.com/office/powerpoint/2010/main" val="956923112"/>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indent="266700" algn="just"/>
            <a:r>
              <a:rPr lang="zh-CN"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生成树主要用于确保连通性和简化复杂性，而最小生成树主要用于在保持连通性的前提下，寻求成本最低的解决方案。</a:t>
            </a:r>
          </a:p>
          <a:p>
            <a:pPr indent="266700" algn="l"/>
            <a:r>
              <a:rPr lang="zh-CN"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综上所述，最小生成树在生成树的基础上增加了对总边权重最小化的考虑，它在网络设计和优化问题中具有重要的应用价值。</a:t>
            </a:r>
          </a:p>
          <a:p>
            <a:pPr algn="just" eaLnBrk="1" hangingPunct="1">
              <a:lnSpc>
                <a:spcPct val="90000"/>
              </a:lnSpc>
              <a:buFontTx/>
              <a:buNone/>
            </a:pPr>
            <a:r>
              <a:rPr lang="zh-CN" altLang="en-US" sz="1200" b="1" dirty="0">
                <a:latin typeface="Times New Roman" panose="02020603050405020304" pitchFamily="18" charset="0"/>
                <a:cs typeface="Times New Roman" panose="02020603050405020304" pitchFamily="18" charset="0"/>
              </a:rPr>
              <a:t>图</a:t>
            </a:r>
            <a:r>
              <a:rPr lang="en-US" altLang="zh-CN" sz="1200" b="1" i="1" dirty="0">
                <a:latin typeface="Times New Roman" panose="02020603050405020304" pitchFamily="18" charset="0"/>
                <a:cs typeface="Times New Roman" panose="02020603050405020304" pitchFamily="18" charset="0"/>
              </a:rPr>
              <a:t>G</a:t>
            </a:r>
            <a:r>
              <a:rPr lang="zh-CN" altLang="en-US" sz="1200" b="1" dirty="0">
                <a:latin typeface="Times New Roman" panose="02020603050405020304" pitchFamily="18" charset="0"/>
                <a:cs typeface="Times New Roman" panose="02020603050405020304" pitchFamily="18" charset="0"/>
              </a:rPr>
              <a:t>的每一条边</a:t>
            </a:r>
            <a:r>
              <a:rPr lang="en-US" altLang="zh-CN" sz="1200" b="1" i="1" dirty="0">
                <a:latin typeface="Times New Roman" panose="02020603050405020304" pitchFamily="18" charset="0"/>
                <a:cs typeface="Times New Roman" panose="02020603050405020304" pitchFamily="18" charset="0"/>
              </a:rPr>
              <a:t>e</a:t>
            </a:r>
            <a:r>
              <a:rPr lang="zh-CN" altLang="en-US" sz="1200" b="1" dirty="0">
                <a:latin typeface="Times New Roman" panose="02020603050405020304" pitchFamily="18" charset="0"/>
                <a:cs typeface="Times New Roman" panose="02020603050405020304" pitchFamily="18" charset="0"/>
              </a:rPr>
              <a:t>附加一个实数</a:t>
            </a:r>
            <a:r>
              <a:rPr lang="en-US" altLang="zh-CN" sz="1200" b="1" i="1" dirty="0">
                <a:latin typeface="Times New Roman" panose="02020603050405020304" pitchFamily="18" charset="0"/>
                <a:cs typeface="Times New Roman" panose="02020603050405020304" pitchFamily="18" charset="0"/>
              </a:rPr>
              <a:t>w</a:t>
            </a:r>
            <a:r>
              <a:rPr lang="en-US" altLang="zh-CN" sz="1200" b="1" dirty="0">
                <a:latin typeface="Times New Roman" panose="02020603050405020304" pitchFamily="18" charset="0"/>
                <a:cs typeface="Times New Roman" panose="02020603050405020304" pitchFamily="18" charset="0"/>
              </a:rPr>
              <a:t>(</a:t>
            </a:r>
            <a:r>
              <a:rPr lang="en-US" altLang="zh-CN" sz="1200" b="1" i="1" dirty="0">
                <a:latin typeface="Times New Roman" panose="02020603050405020304" pitchFamily="18" charset="0"/>
                <a:cs typeface="Times New Roman" panose="02020603050405020304" pitchFamily="18" charset="0"/>
              </a:rPr>
              <a:t>e</a:t>
            </a:r>
            <a:r>
              <a:rPr lang="en-US" altLang="zh-CN" sz="1200" b="1" dirty="0">
                <a:latin typeface="Times New Roman" panose="02020603050405020304" pitchFamily="18" charset="0"/>
                <a:cs typeface="Times New Roman" panose="02020603050405020304" pitchFamily="18" charset="0"/>
              </a:rPr>
              <a:t>), </a:t>
            </a:r>
            <a:r>
              <a:rPr lang="zh-CN" altLang="en-US" sz="1200" b="1" dirty="0">
                <a:latin typeface="Times New Roman" panose="02020603050405020304" pitchFamily="18" charset="0"/>
                <a:cs typeface="Times New Roman" panose="02020603050405020304" pitchFamily="18" charset="0"/>
              </a:rPr>
              <a:t>称作边</a:t>
            </a:r>
            <a:r>
              <a:rPr lang="en-US" altLang="zh-CN" sz="1200" b="1" i="1" dirty="0">
                <a:latin typeface="Times New Roman" panose="02020603050405020304" pitchFamily="18" charset="0"/>
                <a:cs typeface="Times New Roman" panose="02020603050405020304" pitchFamily="18" charset="0"/>
              </a:rPr>
              <a:t>e</a:t>
            </a:r>
            <a:r>
              <a:rPr lang="zh-CN" altLang="en-US" sz="1200" b="1" dirty="0">
                <a:latin typeface="Times New Roman" panose="02020603050405020304" pitchFamily="18" charset="0"/>
                <a:cs typeface="Times New Roman" panose="02020603050405020304" pitchFamily="18" charset="0"/>
              </a:rPr>
              <a:t>的</a:t>
            </a:r>
            <a:r>
              <a:rPr lang="zh-CN" altLang="en-US" sz="1200" b="1" dirty="0">
                <a:solidFill>
                  <a:srgbClr val="FF3300"/>
                </a:solidFill>
                <a:latin typeface="Times New Roman" panose="02020603050405020304" pitchFamily="18" charset="0"/>
                <a:cs typeface="Times New Roman" panose="02020603050405020304" pitchFamily="18" charset="0"/>
              </a:rPr>
              <a:t>权</a:t>
            </a:r>
            <a:r>
              <a:rPr lang="zh-CN" altLang="en-US" sz="1200" b="1" dirty="0">
                <a:latin typeface="Times New Roman" panose="02020603050405020304" pitchFamily="18" charset="0"/>
                <a:cs typeface="Times New Roman" panose="02020603050405020304" pitchFamily="18" charset="0"/>
              </a:rPr>
              <a:t>. 图</a:t>
            </a:r>
            <a:r>
              <a:rPr lang="en-US" altLang="zh-CN" sz="1200" b="1" i="1" dirty="0">
                <a:latin typeface="Times New Roman" panose="02020603050405020304" pitchFamily="18" charset="0"/>
                <a:cs typeface="Times New Roman" panose="02020603050405020304" pitchFamily="18" charset="0"/>
              </a:rPr>
              <a:t>G</a:t>
            </a:r>
            <a:r>
              <a:rPr lang="zh-CN" altLang="en-US" sz="1200" b="1" dirty="0">
                <a:latin typeface="Times New Roman" panose="02020603050405020304" pitchFamily="18" charset="0"/>
                <a:cs typeface="Times New Roman" panose="02020603050405020304" pitchFamily="18" charset="0"/>
              </a:rPr>
              <a:t>连</a:t>
            </a:r>
          </a:p>
          <a:p>
            <a:pPr algn="just" eaLnBrk="1" hangingPunct="1">
              <a:lnSpc>
                <a:spcPct val="90000"/>
              </a:lnSpc>
              <a:buFontTx/>
              <a:buNone/>
            </a:pPr>
            <a:r>
              <a:rPr lang="zh-CN" altLang="en-US" sz="1200" b="1" dirty="0">
                <a:latin typeface="Times New Roman" panose="02020603050405020304" pitchFamily="18" charset="0"/>
                <a:cs typeface="Times New Roman" panose="02020603050405020304" pitchFamily="18" charset="0"/>
              </a:rPr>
              <a:t>同附加在边上的权称作</a:t>
            </a:r>
            <a:r>
              <a:rPr lang="zh-CN" altLang="en-US" sz="1200" b="1" dirty="0">
                <a:solidFill>
                  <a:srgbClr val="FF3300"/>
                </a:solidFill>
                <a:latin typeface="Times New Roman" panose="02020603050405020304" pitchFamily="18" charset="0"/>
                <a:cs typeface="Times New Roman" panose="02020603050405020304" pitchFamily="18" charset="0"/>
              </a:rPr>
              <a:t>带权图</a:t>
            </a:r>
            <a:r>
              <a:rPr lang="zh-CN" altLang="en-US" sz="1200" b="1" dirty="0">
                <a:latin typeface="Times New Roman" panose="02020603050405020304" pitchFamily="18" charset="0"/>
                <a:cs typeface="Times New Roman" panose="02020603050405020304" pitchFamily="18" charset="0"/>
              </a:rPr>
              <a:t>, 记作</a:t>
            </a:r>
            <a:r>
              <a:rPr lang="en-US" altLang="zh-CN" sz="1200" b="1" i="1" dirty="0">
                <a:latin typeface="Times New Roman" panose="02020603050405020304" pitchFamily="18" charset="0"/>
                <a:cs typeface="Times New Roman" panose="02020603050405020304" pitchFamily="18" charset="0"/>
              </a:rPr>
              <a:t>G</a:t>
            </a:r>
            <a:r>
              <a:rPr lang="en-US" altLang="zh-CN" sz="1200" b="1" dirty="0">
                <a:latin typeface="Times New Roman" panose="02020603050405020304" pitchFamily="18" charset="0"/>
                <a:cs typeface="Times New Roman" panose="02020603050405020304" pitchFamily="18" charset="0"/>
              </a:rPr>
              <a:t>=&lt;</a:t>
            </a:r>
            <a:r>
              <a:rPr lang="en-US" altLang="zh-CN" sz="1200" b="1" i="1" dirty="0">
                <a:latin typeface="Times New Roman" panose="02020603050405020304" pitchFamily="18" charset="0"/>
                <a:cs typeface="Times New Roman" panose="02020603050405020304" pitchFamily="18" charset="0"/>
              </a:rPr>
              <a:t>V</a:t>
            </a:r>
            <a:r>
              <a:rPr lang="en-US" altLang="zh-CN" sz="1200" b="1" dirty="0">
                <a:latin typeface="Times New Roman" panose="02020603050405020304" pitchFamily="18" charset="0"/>
                <a:cs typeface="Times New Roman" panose="02020603050405020304" pitchFamily="18" charset="0"/>
              </a:rPr>
              <a:t>,</a:t>
            </a:r>
            <a:r>
              <a:rPr lang="en-US" altLang="zh-CN" sz="1200" b="1" i="1" dirty="0">
                <a:latin typeface="Times New Roman" panose="02020603050405020304" pitchFamily="18" charset="0"/>
                <a:cs typeface="Times New Roman" panose="02020603050405020304" pitchFamily="18" charset="0"/>
              </a:rPr>
              <a:t>E</a:t>
            </a:r>
            <a:r>
              <a:rPr lang="en-US" altLang="zh-CN" sz="1200" b="1" dirty="0">
                <a:latin typeface="Times New Roman" panose="02020603050405020304" pitchFamily="18" charset="0"/>
                <a:cs typeface="Times New Roman" panose="02020603050405020304" pitchFamily="18" charset="0"/>
              </a:rPr>
              <a:t>,</a:t>
            </a:r>
            <a:r>
              <a:rPr lang="en-US" altLang="zh-CN" sz="1200" b="1" i="1" dirty="0">
                <a:latin typeface="Times New Roman" panose="02020603050405020304" pitchFamily="18" charset="0"/>
                <a:cs typeface="Times New Roman" panose="02020603050405020304" pitchFamily="18" charset="0"/>
              </a:rPr>
              <a:t>W</a:t>
            </a:r>
            <a:r>
              <a:rPr lang="en-US" altLang="zh-CN" sz="1200" b="1" dirty="0">
                <a:latin typeface="Times New Roman" panose="02020603050405020304" pitchFamily="18" charset="0"/>
                <a:cs typeface="Times New Roman" panose="02020603050405020304" pitchFamily="18" charset="0"/>
              </a:rPr>
              <a:t>&gt;. </a:t>
            </a:r>
            <a:r>
              <a:rPr lang="zh-CN" altLang="en-US" sz="1200" b="1" dirty="0">
                <a:latin typeface="Times New Roman" panose="02020603050405020304" pitchFamily="18" charset="0"/>
                <a:cs typeface="Times New Roman" panose="02020603050405020304" pitchFamily="18" charset="0"/>
              </a:rPr>
              <a:t>设</a:t>
            </a:r>
            <a:r>
              <a:rPr lang="en-US" altLang="zh-CN" sz="1200" b="1" i="1" dirty="0">
                <a:latin typeface="Times New Roman" panose="02020603050405020304" pitchFamily="18" charset="0"/>
                <a:cs typeface="Times New Roman" panose="02020603050405020304" pitchFamily="18" charset="0"/>
              </a:rPr>
              <a:t>H</a:t>
            </a:r>
            <a:r>
              <a:rPr lang="zh-CN" altLang="en-US" sz="1200" b="1" dirty="0">
                <a:latin typeface="Times New Roman" panose="02020603050405020304" pitchFamily="18" charset="0"/>
                <a:cs typeface="Times New Roman" panose="02020603050405020304" pitchFamily="18" charset="0"/>
                <a:sym typeface="Symbol" panose="05050102010706020507" pitchFamily="18" charset="2"/>
              </a:rPr>
              <a:t>是</a:t>
            </a:r>
            <a:r>
              <a:rPr lang="en-US" altLang="zh-CN" sz="1200" b="1" i="1" dirty="0">
                <a:latin typeface="Times New Roman" panose="02020603050405020304" pitchFamily="18" charset="0"/>
                <a:cs typeface="Times New Roman" panose="02020603050405020304" pitchFamily="18" charset="0"/>
                <a:sym typeface="Symbol" panose="05050102010706020507" pitchFamily="18" charset="2"/>
              </a:rPr>
              <a:t>G</a:t>
            </a:r>
          </a:p>
          <a:p>
            <a:pPr algn="just" eaLnBrk="1" hangingPunct="1">
              <a:lnSpc>
                <a:spcPct val="90000"/>
              </a:lnSpc>
              <a:buFontTx/>
              <a:buNone/>
            </a:pPr>
            <a:r>
              <a:rPr lang="zh-CN" altLang="en-US" sz="1200" b="1" dirty="0">
                <a:latin typeface="Times New Roman" panose="02020603050405020304" pitchFamily="18" charset="0"/>
                <a:cs typeface="Times New Roman" panose="02020603050405020304" pitchFamily="18" charset="0"/>
                <a:sym typeface="Symbol" panose="05050102010706020507" pitchFamily="18" charset="2"/>
              </a:rPr>
              <a:t>的子图, </a:t>
            </a:r>
            <a:r>
              <a:rPr lang="en-US" altLang="zh-CN" sz="1200" b="1" i="1" dirty="0">
                <a:latin typeface="Times New Roman" panose="02020603050405020304" pitchFamily="18" charset="0"/>
                <a:cs typeface="Times New Roman" panose="02020603050405020304" pitchFamily="18" charset="0"/>
                <a:sym typeface="Symbol" panose="05050102010706020507" pitchFamily="18" charset="2"/>
              </a:rPr>
              <a:t>H</a:t>
            </a:r>
            <a:r>
              <a:rPr lang="zh-CN" altLang="en-US" sz="1200" b="1" dirty="0">
                <a:latin typeface="Times New Roman" panose="02020603050405020304" pitchFamily="18" charset="0"/>
                <a:cs typeface="Times New Roman" panose="02020603050405020304" pitchFamily="18" charset="0"/>
                <a:sym typeface="Symbol" panose="05050102010706020507" pitchFamily="18" charset="2"/>
              </a:rPr>
              <a:t>所有边的权的和称作</a:t>
            </a:r>
            <a:r>
              <a:rPr lang="en-US" altLang="zh-CN" sz="1200" b="1" i="1" dirty="0">
                <a:solidFill>
                  <a:srgbClr val="FF3300"/>
                </a:solidFill>
                <a:latin typeface="Times New Roman" panose="02020603050405020304" pitchFamily="18" charset="0"/>
                <a:cs typeface="Times New Roman" panose="02020603050405020304" pitchFamily="18" charset="0"/>
                <a:sym typeface="Symbol" panose="05050102010706020507" pitchFamily="18" charset="2"/>
              </a:rPr>
              <a:t>H</a:t>
            </a:r>
            <a:r>
              <a:rPr lang="zh-CN" altLang="en-US" sz="1200" b="1" dirty="0">
                <a:solidFill>
                  <a:srgbClr val="FF3300"/>
                </a:solidFill>
                <a:latin typeface="Times New Roman" panose="02020603050405020304" pitchFamily="18" charset="0"/>
                <a:cs typeface="Times New Roman" panose="02020603050405020304" pitchFamily="18" charset="0"/>
                <a:sym typeface="Symbol" panose="05050102010706020507" pitchFamily="18" charset="2"/>
              </a:rPr>
              <a:t>的权</a:t>
            </a:r>
            <a:r>
              <a:rPr lang="zh-CN" altLang="en-US" sz="1200" b="1" dirty="0">
                <a:latin typeface="Times New Roman" panose="02020603050405020304" pitchFamily="18" charset="0"/>
                <a:cs typeface="Times New Roman" panose="02020603050405020304" pitchFamily="18" charset="0"/>
                <a:sym typeface="Symbol" panose="05050102010706020507" pitchFamily="18" charset="2"/>
              </a:rPr>
              <a:t>, 记作</a:t>
            </a:r>
            <a:r>
              <a:rPr lang="en-US" altLang="zh-CN" sz="1200" b="1" i="1" dirty="0">
                <a:latin typeface="Times New Roman" panose="02020603050405020304" pitchFamily="18" charset="0"/>
                <a:cs typeface="Times New Roman" panose="02020603050405020304" pitchFamily="18" charset="0"/>
                <a:sym typeface="Symbol" panose="05050102010706020507" pitchFamily="18" charset="2"/>
              </a:rPr>
              <a:t>W</a:t>
            </a:r>
            <a:r>
              <a:rPr lang="en-US" altLang="zh-CN" sz="1200" b="1" dirty="0">
                <a:latin typeface="Times New Roman" panose="02020603050405020304" pitchFamily="18" charset="0"/>
                <a:cs typeface="Times New Roman" panose="02020603050405020304" pitchFamily="18" charset="0"/>
                <a:sym typeface="Symbol" panose="05050102010706020507" pitchFamily="18" charset="2"/>
              </a:rPr>
              <a:t>(</a:t>
            </a:r>
            <a:r>
              <a:rPr lang="en-US" altLang="zh-CN" sz="1200" b="1" i="1" dirty="0">
                <a:latin typeface="Times New Roman" panose="02020603050405020304" pitchFamily="18" charset="0"/>
                <a:cs typeface="Times New Roman" panose="02020603050405020304" pitchFamily="18" charset="0"/>
                <a:sym typeface="Symbol" panose="05050102010706020507" pitchFamily="18" charset="2"/>
              </a:rPr>
              <a:t>H</a:t>
            </a:r>
            <a:r>
              <a:rPr lang="en-US" altLang="zh-CN" sz="1200" b="1" dirty="0">
                <a:latin typeface="Times New Roman" panose="02020603050405020304" pitchFamily="18" charset="0"/>
                <a:cs typeface="Times New Roman" panose="02020603050405020304" pitchFamily="18" charset="0"/>
                <a:sym typeface="Symbol" panose="05050102010706020507" pitchFamily="18" charset="2"/>
              </a:rPr>
              <a:t>).</a:t>
            </a:r>
          </a:p>
          <a:p>
            <a:pPr algn="just" eaLnBrk="1" hangingPunct="1">
              <a:lnSpc>
                <a:spcPct val="90000"/>
              </a:lnSpc>
              <a:buFontTx/>
              <a:buNone/>
            </a:pPr>
            <a:r>
              <a:rPr lang="zh-CN" altLang="en-US" sz="1200" b="1" dirty="0">
                <a:solidFill>
                  <a:srgbClr val="FF3300"/>
                </a:solidFill>
                <a:latin typeface="Times New Roman" panose="02020603050405020304" pitchFamily="18" charset="0"/>
                <a:cs typeface="Times New Roman" panose="02020603050405020304" pitchFamily="18" charset="0"/>
              </a:rPr>
              <a:t>最小生成树</a:t>
            </a:r>
            <a:r>
              <a:rPr lang="zh-CN" altLang="en-US" sz="1200" b="1" dirty="0">
                <a:latin typeface="Times New Roman" panose="02020603050405020304" pitchFamily="18" charset="0"/>
                <a:cs typeface="Times New Roman" panose="02020603050405020304" pitchFamily="18" charset="0"/>
              </a:rPr>
              <a:t>: 带权图</a:t>
            </a:r>
            <a:r>
              <a:rPr lang="en-US" altLang="zh-CN" sz="1200" b="1" i="1" dirty="0">
                <a:latin typeface="Times New Roman" panose="02020603050405020304" pitchFamily="18" charset="0"/>
                <a:cs typeface="Times New Roman" panose="02020603050405020304" pitchFamily="18" charset="0"/>
              </a:rPr>
              <a:t>G</a:t>
            </a:r>
            <a:r>
              <a:rPr lang="zh-CN" altLang="en-US" sz="1200" b="1" dirty="0">
                <a:latin typeface="Times New Roman" panose="02020603050405020304" pitchFamily="18" charset="0"/>
                <a:cs typeface="Times New Roman" panose="02020603050405020304" pitchFamily="18" charset="0"/>
              </a:rPr>
              <a:t>的所有生成树中权最小的生成树</a:t>
            </a:r>
            <a:endParaRPr lang="en-US" altLang="zh-CN" sz="1200" b="1" dirty="0">
              <a:latin typeface="Times New Roman" panose="02020603050405020304" pitchFamily="18" charset="0"/>
              <a:cs typeface="Times New Roman" panose="02020603050405020304" pitchFamily="18" charset="0"/>
            </a:endParaRPr>
          </a:p>
          <a:p>
            <a:pPr algn="just" eaLnBrk="1" hangingPunct="1">
              <a:lnSpc>
                <a:spcPct val="90000"/>
              </a:lnSpc>
              <a:buFont typeface="Wingdings" panose="05000000000000000000" pitchFamily="2" charset="2"/>
              <a:buNone/>
              <a:defRPr/>
            </a:pPr>
            <a:r>
              <a:rPr lang="zh-CN" altLang="en-US" sz="1200" b="1" dirty="0">
                <a:solidFill>
                  <a:srgbClr val="FF0000"/>
                </a:solidFill>
                <a:latin typeface="Times New Roman" pitchFamily="18" charset="0"/>
                <a:cs typeface="Times New Roman" pitchFamily="18" charset="0"/>
              </a:rPr>
              <a:t>避圈法 </a:t>
            </a:r>
            <a:r>
              <a:rPr lang="en-US" altLang="zh-CN" sz="1200" b="1" dirty="0">
                <a:solidFill>
                  <a:srgbClr val="FF0000"/>
                </a:solidFill>
                <a:latin typeface="Times New Roman" pitchFamily="18" charset="0"/>
                <a:cs typeface="Times New Roman" pitchFamily="18" charset="0"/>
              </a:rPr>
              <a:t>(Kruskal)</a:t>
            </a:r>
            <a:r>
              <a:rPr lang="en-US" altLang="zh-CN" sz="1200" b="1" dirty="0">
                <a:latin typeface="Times New Roman" pitchFamily="18" charset="0"/>
                <a:cs typeface="Times New Roman" pitchFamily="18" charset="0"/>
              </a:rPr>
              <a:t> ——</a:t>
            </a:r>
            <a:r>
              <a:rPr lang="zh-CN" altLang="en-US" sz="1200" b="1" dirty="0">
                <a:latin typeface="Times New Roman" pitchFamily="18" charset="0"/>
                <a:cs typeface="Times New Roman" pitchFamily="18" charset="0"/>
              </a:rPr>
              <a:t>求最小生成树的算法</a:t>
            </a:r>
            <a:endParaRPr lang="en-US" altLang="zh-CN" sz="1200" b="1" dirty="0">
              <a:solidFill>
                <a:srgbClr val="FF0000"/>
              </a:solidFill>
              <a:latin typeface="Times New Roman" pitchFamily="18" charset="0"/>
              <a:cs typeface="Times New Roman" pitchFamily="18" charset="0"/>
            </a:endParaRPr>
          </a:p>
          <a:p>
            <a:pPr>
              <a:buFont typeface="Wingdings" panose="05000000000000000000" pitchFamily="2" charset="2"/>
              <a:buNone/>
              <a:defRPr/>
            </a:pPr>
            <a:r>
              <a:rPr lang="zh-CN" altLang="en-US" sz="1200" b="1" dirty="0">
                <a:latin typeface="Times New Roman" pitchFamily="18" charset="0"/>
                <a:cs typeface="Times New Roman" pitchFamily="18" charset="0"/>
              </a:rPr>
              <a:t>设</a:t>
            </a:r>
            <a:r>
              <a:rPr lang="en-US" altLang="zh-CN" sz="1200" b="1" i="1" dirty="0">
                <a:latin typeface="Times New Roman" pitchFamily="18" charset="0"/>
                <a:cs typeface="Times New Roman" pitchFamily="18" charset="0"/>
              </a:rPr>
              <a:t>G</a:t>
            </a:r>
            <a:r>
              <a:rPr lang="zh-CN" altLang="en-US" sz="1200" b="1" dirty="0">
                <a:latin typeface="Times New Roman" pitchFamily="18" charset="0"/>
                <a:cs typeface="Times New Roman" pitchFamily="18" charset="0"/>
              </a:rPr>
              <a:t>是</a:t>
            </a:r>
            <a:r>
              <a:rPr lang="en-US" altLang="zh-CN" sz="1200" b="1" i="1" dirty="0">
                <a:latin typeface="Times New Roman" pitchFamily="18" charset="0"/>
                <a:cs typeface="Times New Roman" pitchFamily="18" charset="0"/>
              </a:rPr>
              <a:t>n</a:t>
            </a:r>
            <a:r>
              <a:rPr lang="zh-CN" altLang="zh-CN" sz="1200" b="1" dirty="0">
                <a:latin typeface="Times New Roman" pitchFamily="18" charset="0"/>
                <a:cs typeface="Times New Roman" pitchFamily="18" charset="0"/>
              </a:rPr>
              <a:t>阶无向连通带权图</a:t>
            </a:r>
            <a:r>
              <a:rPr lang="en-US" altLang="zh-CN" sz="1200" b="1" i="1" dirty="0">
                <a:latin typeface="Times New Roman" pitchFamily="18" charset="0"/>
                <a:cs typeface="Times New Roman" pitchFamily="18" charset="0"/>
              </a:rPr>
              <a:t>G</a:t>
            </a:r>
            <a:r>
              <a:rPr lang="en-US" altLang="zh-CN" sz="1200" b="1" dirty="0">
                <a:latin typeface="Times New Roman" pitchFamily="18" charset="0"/>
                <a:cs typeface="Times New Roman" pitchFamily="18" charset="0"/>
              </a:rPr>
              <a:t>.</a:t>
            </a:r>
            <a:endParaRPr lang="zh-CN" altLang="zh-CN" sz="1200" b="1" dirty="0">
              <a:latin typeface="Times New Roman" pitchFamily="18" charset="0"/>
              <a:cs typeface="Times New Roman" pitchFamily="18" charset="0"/>
            </a:endParaRPr>
          </a:p>
          <a:p>
            <a:pPr marL="457200" indent="-457200">
              <a:buFont typeface="Wingdings" panose="05000000000000000000" pitchFamily="2" charset="2"/>
              <a:buNone/>
              <a:defRPr/>
            </a:pPr>
            <a:r>
              <a:rPr lang="en-US" altLang="zh-CN" sz="1200" b="1" dirty="0">
                <a:latin typeface="Times New Roman" pitchFamily="18" charset="0"/>
                <a:cs typeface="Times New Roman" pitchFamily="18" charset="0"/>
              </a:rPr>
              <a:t>(1) </a:t>
            </a:r>
            <a:r>
              <a:rPr lang="zh-CN" altLang="zh-CN" sz="1200" b="1" dirty="0">
                <a:latin typeface="Times New Roman" pitchFamily="18" charset="0"/>
                <a:cs typeface="Times New Roman" pitchFamily="18" charset="0"/>
              </a:rPr>
              <a:t>按权从小到大排列边</a:t>
            </a:r>
            <a:r>
              <a:rPr lang="en-US" altLang="zh-CN" sz="1200" b="1" dirty="0">
                <a:latin typeface="Times New Roman" pitchFamily="18" charset="0"/>
                <a:cs typeface="Times New Roman" pitchFamily="18" charset="0"/>
              </a:rPr>
              <a:t>(</a:t>
            </a:r>
            <a:r>
              <a:rPr lang="zh-CN" altLang="en-US" sz="1200" b="1" dirty="0">
                <a:latin typeface="Times New Roman" pitchFamily="18" charset="0"/>
                <a:cs typeface="Times New Roman" pitchFamily="18" charset="0"/>
              </a:rPr>
              <a:t>环除外</a:t>
            </a:r>
            <a:r>
              <a:rPr lang="en-US" altLang="zh-CN" sz="1200" b="1" dirty="0">
                <a:latin typeface="Times New Roman" pitchFamily="18" charset="0"/>
                <a:cs typeface="Times New Roman" pitchFamily="18" charset="0"/>
              </a:rPr>
              <a:t>), </a:t>
            </a:r>
            <a:r>
              <a:rPr lang="zh-CN" altLang="zh-CN" sz="1200" b="1" dirty="0">
                <a:latin typeface="Times New Roman" pitchFamily="18" charset="0"/>
                <a:cs typeface="Times New Roman" pitchFamily="18" charset="0"/>
              </a:rPr>
              <a:t>设</a:t>
            </a:r>
            <a:r>
              <a:rPr lang="en-US" altLang="zh-CN" sz="1200" b="1" i="1" dirty="0">
                <a:latin typeface="Times New Roman" pitchFamily="18" charset="0"/>
                <a:cs typeface="Times New Roman" pitchFamily="18" charset="0"/>
              </a:rPr>
              <a:t>W</a:t>
            </a:r>
            <a:r>
              <a:rPr lang="en-US" altLang="zh-CN" sz="1200" b="1" dirty="0">
                <a:latin typeface="Times New Roman" pitchFamily="18" charset="0"/>
                <a:cs typeface="Times New Roman" pitchFamily="18" charset="0"/>
              </a:rPr>
              <a:t>(</a:t>
            </a:r>
            <a:r>
              <a:rPr lang="en-US" altLang="zh-CN" sz="1200" b="1" i="1" dirty="0">
                <a:latin typeface="Times New Roman" pitchFamily="18" charset="0"/>
                <a:cs typeface="Times New Roman" pitchFamily="18" charset="0"/>
              </a:rPr>
              <a:t>e</a:t>
            </a:r>
            <a:r>
              <a:rPr lang="en-US" altLang="zh-CN" sz="1200" b="1" baseline="-25000" dirty="0">
                <a:latin typeface="Times New Roman" pitchFamily="18" charset="0"/>
                <a:cs typeface="Times New Roman" pitchFamily="18" charset="0"/>
              </a:rPr>
              <a:t>1</a:t>
            </a:r>
            <a:r>
              <a:rPr lang="en-US" altLang="zh-CN" sz="1200" b="1" dirty="0">
                <a:latin typeface="Times New Roman" pitchFamily="18" charset="0"/>
                <a:cs typeface="Times New Roman" pitchFamily="18" charset="0"/>
              </a:rPr>
              <a:t>)</a:t>
            </a:r>
            <a:r>
              <a:rPr lang="zh-CN" altLang="zh-CN" sz="1200" b="1" dirty="0">
                <a:latin typeface="Times New Roman" pitchFamily="18" charset="0"/>
                <a:cs typeface="Times New Roman" pitchFamily="18" charset="0"/>
              </a:rPr>
              <a:t>≤</a:t>
            </a:r>
            <a:r>
              <a:rPr lang="en-US" altLang="zh-CN" sz="1200" b="1" i="1" dirty="0">
                <a:latin typeface="Times New Roman" pitchFamily="18" charset="0"/>
                <a:cs typeface="Times New Roman" pitchFamily="18" charset="0"/>
              </a:rPr>
              <a:t>W</a:t>
            </a:r>
            <a:r>
              <a:rPr lang="en-US" altLang="zh-CN" sz="1200" b="1" dirty="0">
                <a:latin typeface="Times New Roman" pitchFamily="18" charset="0"/>
                <a:cs typeface="Times New Roman" pitchFamily="18" charset="0"/>
              </a:rPr>
              <a:t>(</a:t>
            </a:r>
            <a:r>
              <a:rPr lang="en-US" altLang="zh-CN" sz="1200" b="1" i="1" dirty="0">
                <a:latin typeface="Times New Roman" pitchFamily="18" charset="0"/>
                <a:cs typeface="Times New Roman" pitchFamily="18" charset="0"/>
              </a:rPr>
              <a:t>e</a:t>
            </a:r>
            <a:r>
              <a:rPr lang="en-US" altLang="zh-CN" sz="1200" b="1" baseline="-25000" dirty="0">
                <a:latin typeface="Times New Roman" pitchFamily="18" charset="0"/>
                <a:cs typeface="Times New Roman" pitchFamily="18" charset="0"/>
              </a:rPr>
              <a:t>2</a:t>
            </a:r>
            <a:r>
              <a:rPr lang="en-US" altLang="zh-CN" sz="1200" b="1" dirty="0">
                <a:latin typeface="Times New Roman" pitchFamily="18" charset="0"/>
                <a:cs typeface="Times New Roman" pitchFamily="18" charset="0"/>
              </a:rPr>
              <a:t>)</a:t>
            </a:r>
            <a:r>
              <a:rPr lang="zh-CN" altLang="zh-CN" sz="1200" b="1" dirty="0">
                <a:latin typeface="Times New Roman" pitchFamily="18" charset="0"/>
                <a:cs typeface="Times New Roman" pitchFamily="18" charset="0"/>
              </a:rPr>
              <a:t>≤…≤</a:t>
            </a:r>
            <a:r>
              <a:rPr lang="en-US" altLang="zh-CN" sz="1200" b="1" i="1" dirty="0">
                <a:latin typeface="Times New Roman" pitchFamily="18" charset="0"/>
                <a:cs typeface="Times New Roman" pitchFamily="18" charset="0"/>
              </a:rPr>
              <a:t>W</a:t>
            </a:r>
            <a:r>
              <a:rPr lang="en-US" altLang="zh-CN" sz="1200" b="1" dirty="0">
                <a:latin typeface="Times New Roman" pitchFamily="18" charset="0"/>
                <a:cs typeface="Times New Roman" pitchFamily="18" charset="0"/>
              </a:rPr>
              <a:t>(</a:t>
            </a:r>
            <a:r>
              <a:rPr lang="en-US" altLang="zh-CN" sz="1200" b="1" i="1" dirty="0" err="1">
                <a:latin typeface="Times New Roman" pitchFamily="18" charset="0"/>
                <a:cs typeface="Times New Roman" pitchFamily="18" charset="0"/>
              </a:rPr>
              <a:t>e</a:t>
            </a:r>
            <a:r>
              <a:rPr lang="en-US" altLang="zh-CN" sz="1200" b="1" i="1" baseline="-25000" dirty="0" err="1">
                <a:latin typeface="Times New Roman" pitchFamily="18" charset="0"/>
                <a:cs typeface="Times New Roman" pitchFamily="18" charset="0"/>
              </a:rPr>
              <a:t>m</a:t>
            </a:r>
            <a:r>
              <a:rPr lang="en-US" altLang="zh-CN" sz="1200" b="1" dirty="0">
                <a:latin typeface="Times New Roman" pitchFamily="18" charset="0"/>
                <a:cs typeface="Times New Roman" pitchFamily="18" charset="0"/>
              </a:rPr>
              <a:t>).</a:t>
            </a:r>
            <a:endParaRPr lang="zh-CN" altLang="zh-CN" sz="1200" b="1" dirty="0">
              <a:latin typeface="Times New Roman" pitchFamily="18" charset="0"/>
              <a:cs typeface="Times New Roman" pitchFamily="18" charset="0"/>
            </a:endParaRPr>
          </a:p>
          <a:p>
            <a:pPr marL="457200" indent="-457200">
              <a:buFont typeface="Wingdings" panose="05000000000000000000" pitchFamily="2" charset="2"/>
              <a:buNone/>
              <a:defRPr/>
            </a:pPr>
            <a:r>
              <a:rPr lang="en-US" altLang="zh-CN" sz="1200" b="1" dirty="0">
                <a:latin typeface="Times New Roman" pitchFamily="18" charset="0"/>
                <a:cs typeface="Times New Roman" pitchFamily="18" charset="0"/>
              </a:rPr>
              <a:t>(2) </a:t>
            </a:r>
            <a:r>
              <a:rPr lang="zh-CN" altLang="zh-CN" sz="1200" b="1" dirty="0">
                <a:latin typeface="Times New Roman" pitchFamily="18" charset="0"/>
                <a:cs typeface="Times New Roman" pitchFamily="18" charset="0"/>
              </a:rPr>
              <a:t>令</a:t>
            </a:r>
            <a:r>
              <a:rPr lang="en-US" altLang="zh-CN" sz="1200" b="1" i="1" dirty="0">
                <a:latin typeface="Times New Roman" pitchFamily="18" charset="0"/>
                <a:cs typeface="Times New Roman" pitchFamily="18" charset="0"/>
              </a:rPr>
              <a:t>T</a:t>
            </a:r>
            <a:r>
              <a:rPr lang="en-US" altLang="zh-CN" sz="1200" b="1" dirty="0">
                <a:latin typeface="Times New Roman" pitchFamily="18" charset="0"/>
                <a:cs typeface="Times New Roman" pitchFamily="18" charset="0"/>
                <a:sym typeface="Symbol"/>
              </a:rPr>
              <a:t></a:t>
            </a:r>
            <a:r>
              <a:rPr lang="en-US" altLang="zh-CN" sz="1200" b="1" dirty="0">
                <a:latin typeface="Times New Roman" pitchFamily="18" charset="0"/>
                <a:cs typeface="Times New Roman" pitchFamily="18" charset="0"/>
              </a:rPr>
              <a:t>, </a:t>
            </a:r>
            <a:r>
              <a:rPr lang="en-US" altLang="zh-CN" sz="1200" b="1" i="1" dirty="0">
                <a:latin typeface="Times New Roman" pitchFamily="18" charset="0"/>
                <a:cs typeface="Times New Roman" pitchFamily="18" charset="0"/>
              </a:rPr>
              <a:t>i</a:t>
            </a:r>
            <a:r>
              <a:rPr lang="en-US" altLang="zh-CN" sz="1200" b="1" dirty="0">
                <a:latin typeface="Times New Roman" pitchFamily="18" charset="0"/>
                <a:cs typeface="Times New Roman" pitchFamily="18" charset="0"/>
                <a:sym typeface="Symbol"/>
              </a:rPr>
              <a:t></a:t>
            </a:r>
            <a:r>
              <a:rPr lang="en-US" altLang="zh-CN" sz="1200" b="1" dirty="0">
                <a:latin typeface="Times New Roman" pitchFamily="18" charset="0"/>
                <a:cs typeface="Times New Roman" pitchFamily="18" charset="0"/>
              </a:rPr>
              <a:t>1, </a:t>
            </a:r>
            <a:r>
              <a:rPr lang="en-US" altLang="zh-CN" sz="1200" b="1" i="1" dirty="0">
                <a:latin typeface="Times New Roman" pitchFamily="18" charset="0"/>
                <a:cs typeface="Times New Roman" pitchFamily="18" charset="0"/>
              </a:rPr>
              <a:t>k</a:t>
            </a:r>
            <a:r>
              <a:rPr lang="en-US" altLang="zh-CN" sz="1200" b="1" dirty="0">
                <a:latin typeface="Times New Roman" pitchFamily="18" charset="0"/>
                <a:cs typeface="Times New Roman" pitchFamily="18" charset="0"/>
                <a:sym typeface="Symbol"/>
              </a:rPr>
              <a:t></a:t>
            </a:r>
            <a:r>
              <a:rPr lang="en-US" altLang="zh-CN" sz="1200" b="1" dirty="0">
                <a:latin typeface="Times New Roman" pitchFamily="18" charset="0"/>
                <a:cs typeface="Times New Roman" pitchFamily="18" charset="0"/>
              </a:rPr>
              <a:t>0.</a:t>
            </a:r>
            <a:endParaRPr lang="zh-CN" altLang="zh-CN" sz="1200" b="1" dirty="0">
              <a:latin typeface="Times New Roman" pitchFamily="18" charset="0"/>
              <a:cs typeface="Times New Roman" pitchFamily="18" charset="0"/>
            </a:endParaRPr>
          </a:p>
          <a:p>
            <a:pPr>
              <a:buFont typeface="Wingdings" panose="05000000000000000000" pitchFamily="2" charset="2"/>
              <a:buNone/>
              <a:defRPr/>
            </a:pPr>
            <a:r>
              <a:rPr lang="en-US" altLang="zh-CN" sz="1200" b="1" dirty="0">
                <a:latin typeface="Times New Roman" pitchFamily="18" charset="0"/>
                <a:cs typeface="Times New Roman" pitchFamily="18" charset="0"/>
              </a:rPr>
              <a:t>(3) </a:t>
            </a:r>
            <a:r>
              <a:rPr lang="zh-CN" altLang="zh-CN" sz="1200" b="1" dirty="0">
                <a:latin typeface="Times New Roman" pitchFamily="18" charset="0"/>
                <a:cs typeface="Times New Roman" pitchFamily="18" charset="0"/>
              </a:rPr>
              <a:t>若</a:t>
            </a:r>
            <a:r>
              <a:rPr lang="en-US" altLang="zh-CN" sz="1200" b="1" i="1" dirty="0" err="1">
                <a:latin typeface="Times New Roman" pitchFamily="18" charset="0"/>
                <a:cs typeface="Times New Roman" pitchFamily="18" charset="0"/>
              </a:rPr>
              <a:t>e</a:t>
            </a:r>
            <a:r>
              <a:rPr lang="en-US" altLang="zh-CN" sz="1200" b="1" i="1" baseline="-25000" dirty="0" err="1">
                <a:latin typeface="Times New Roman" pitchFamily="18" charset="0"/>
                <a:cs typeface="Times New Roman" pitchFamily="18" charset="0"/>
              </a:rPr>
              <a:t>i</a:t>
            </a:r>
            <a:r>
              <a:rPr lang="zh-CN" altLang="zh-CN" sz="1200" b="1" dirty="0">
                <a:latin typeface="Times New Roman" pitchFamily="18" charset="0"/>
                <a:cs typeface="Times New Roman" pitchFamily="18" charset="0"/>
              </a:rPr>
              <a:t>与</a:t>
            </a:r>
            <a:r>
              <a:rPr lang="en-US" altLang="zh-CN" sz="1200" b="1" i="1" dirty="0">
                <a:latin typeface="Times New Roman" pitchFamily="18" charset="0"/>
                <a:cs typeface="Times New Roman" pitchFamily="18" charset="0"/>
              </a:rPr>
              <a:t>T</a:t>
            </a:r>
            <a:r>
              <a:rPr lang="zh-CN" altLang="zh-CN" sz="1200" b="1" dirty="0">
                <a:latin typeface="Times New Roman" pitchFamily="18" charset="0"/>
                <a:cs typeface="Times New Roman" pitchFamily="18" charset="0"/>
              </a:rPr>
              <a:t>中的边不构成回路，则令</a:t>
            </a:r>
            <a:r>
              <a:rPr lang="en-US" altLang="zh-CN" sz="1200" b="1" i="1" dirty="0">
                <a:latin typeface="Times New Roman" pitchFamily="18" charset="0"/>
                <a:cs typeface="Times New Roman" pitchFamily="18" charset="0"/>
              </a:rPr>
              <a:t>T</a:t>
            </a:r>
            <a:r>
              <a:rPr lang="en-US" altLang="zh-CN" sz="1200" b="1" dirty="0">
                <a:latin typeface="Times New Roman" pitchFamily="18" charset="0"/>
                <a:cs typeface="Times New Roman" pitchFamily="18" charset="0"/>
                <a:sym typeface="Symbol"/>
              </a:rPr>
              <a:t></a:t>
            </a:r>
            <a:r>
              <a:rPr lang="en-US" altLang="zh-CN" sz="1200" b="1" i="1" dirty="0">
                <a:latin typeface="Times New Roman" pitchFamily="18" charset="0"/>
                <a:cs typeface="Times New Roman" pitchFamily="18" charset="0"/>
              </a:rPr>
              <a:t>T</a:t>
            </a:r>
            <a:r>
              <a:rPr lang="en-US" altLang="zh-CN" sz="1200" b="1" dirty="0">
                <a:latin typeface="Times New Roman" pitchFamily="18" charset="0"/>
                <a:cs typeface="Times New Roman" pitchFamily="18" charset="0"/>
                <a:sym typeface="Symbol"/>
              </a:rPr>
              <a:t></a:t>
            </a:r>
            <a:r>
              <a:rPr lang="en-US" altLang="zh-CN" sz="1200" b="1" dirty="0">
                <a:latin typeface="Times New Roman" pitchFamily="18" charset="0"/>
                <a:cs typeface="Times New Roman" pitchFamily="18" charset="0"/>
              </a:rPr>
              <a:t>{</a:t>
            </a:r>
            <a:r>
              <a:rPr lang="en-US" altLang="zh-CN" sz="1200" b="1" i="1" dirty="0" err="1">
                <a:latin typeface="Times New Roman" pitchFamily="18" charset="0"/>
                <a:cs typeface="Times New Roman" pitchFamily="18" charset="0"/>
              </a:rPr>
              <a:t>e</a:t>
            </a:r>
            <a:r>
              <a:rPr lang="en-US" altLang="zh-CN" sz="1200" b="1" i="1" baseline="-25000" dirty="0" err="1">
                <a:latin typeface="Times New Roman" pitchFamily="18" charset="0"/>
                <a:cs typeface="Times New Roman" pitchFamily="18" charset="0"/>
              </a:rPr>
              <a:t>i</a:t>
            </a:r>
            <a:r>
              <a:rPr lang="en-US" altLang="zh-CN" sz="1200" b="1" dirty="0">
                <a:latin typeface="Times New Roman" pitchFamily="18" charset="0"/>
                <a:cs typeface="Times New Roman" pitchFamily="18" charset="0"/>
              </a:rPr>
              <a:t>}, </a:t>
            </a:r>
            <a:r>
              <a:rPr lang="en-US" altLang="zh-CN" sz="1200" b="1" i="1" dirty="0">
                <a:latin typeface="Times New Roman" pitchFamily="18" charset="0"/>
                <a:cs typeface="Times New Roman" pitchFamily="18" charset="0"/>
              </a:rPr>
              <a:t>k</a:t>
            </a:r>
            <a:r>
              <a:rPr lang="en-US" altLang="zh-CN" sz="1200" b="1" dirty="0">
                <a:latin typeface="Times New Roman" pitchFamily="18" charset="0"/>
                <a:cs typeface="Times New Roman" pitchFamily="18" charset="0"/>
                <a:sym typeface="Symbol"/>
              </a:rPr>
              <a:t></a:t>
            </a:r>
            <a:r>
              <a:rPr lang="en-US" altLang="zh-CN" sz="1200" b="1" i="1" dirty="0">
                <a:latin typeface="Times New Roman" pitchFamily="18" charset="0"/>
                <a:cs typeface="Times New Roman" pitchFamily="18" charset="0"/>
              </a:rPr>
              <a:t>k</a:t>
            </a:r>
            <a:r>
              <a:rPr lang="en-US" altLang="zh-CN" sz="1200" b="1" dirty="0">
                <a:latin typeface="Times New Roman" pitchFamily="18" charset="0"/>
                <a:cs typeface="Times New Roman" pitchFamily="18" charset="0"/>
              </a:rPr>
              <a:t>+1.  </a:t>
            </a:r>
            <a:endParaRPr lang="zh-CN" altLang="zh-CN" sz="1200" b="1" dirty="0">
              <a:latin typeface="Times New Roman" pitchFamily="18" charset="0"/>
              <a:cs typeface="Times New Roman" pitchFamily="18" charset="0"/>
            </a:endParaRPr>
          </a:p>
          <a:p>
            <a:pPr>
              <a:buFont typeface="Wingdings" panose="05000000000000000000" pitchFamily="2" charset="2"/>
              <a:buNone/>
              <a:defRPr/>
            </a:pPr>
            <a:r>
              <a:rPr lang="en-US" altLang="zh-CN" sz="1200" b="1" dirty="0">
                <a:latin typeface="Times New Roman" pitchFamily="18" charset="0"/>
                <a:cs typeface="Times New Roman" pitchFamily="18" charset="0"/>
              </a:rPr>
              <a:t>(4) </a:t>
            </a:r>
            <a:r>
              <a:rPr lang="zh-CN" altLang="zh-CN" sz="1200" b="1" dirty="0">
                <a:latin typeface="Times New Roman" pitchFamily="18" charset="0"/>
                <a:cs typeface="Times New Roman" pitchFamily="18" charset="0"/>
              </a:rPr>
              <a:t>若</a:t>
            </a:r>
            <a:r>
              <a:rPr lang="en-US" altLang="zh-CN" sz="1200" b="1" i="1" dirty="0">
                <a:latin typeface="Times New Roman" pitchFamily="18" charset="0"/>
                <a:cs typeface="Times New Roman" pitchFamily="18" charset="0"/>
              </a:rPr>
              <a:t>k</a:t>
            </a:r>
            <a:r>
              <a:rPr lang="en-US" altLang="zh-CN" sz="1200" b="1" dirty="0">
                <a:latin typeface="Times New Roman" pitchFamily="18" charset="0"/>
                <a:cs typeface="Times New Roman" pitchFamily="18" charset="0"/>
              </a:rPr>
              <a:t>&lt;</a:t>
            </a:r>
            <a:r>
              <a:rPr lang="en-US" altLang="zh-CN" sz="1200" b="1" i="1" dirty="0">
                <a:latin typeface="Times New Roman" pitchFamily="18" charset="0"/>
                <a:cs typeface="Times New Roman" pitchFamily="18" charset="0"/>
              </a:rPr>
              <a:t>n</a:t>
            </a:r>
            <a:r>
              <a:rPr lang="en-US" altLang="zh-CN" sz="1200" b="1" dirty="0">
                <a:latin typeface="Times New Roman" pitchFamily="18" charset="0"/>
                <a:cs typeface="Times New Roman" pitchFamily="18" charset="0"/>
              </a:rPr>
              <a:t>-1, </a:t>
            </a:r>
            <a:r>
              <a:rPr lang="zh-CN" altLang="zh-CN" sz="1200" b="1" dirty="0">
                <a:latin typeface="Times New Roman" pitchFamily="18" charset="0"/>
                <a:cs typeface="Times New Roman" pitchFamily="18" charset="0"/>
              </a:rPr>
              <a:t>则令</a:t>
            </a:r>
            <a:r>
              <a:rPr lang="en-US" altLang="zh-CN" sz="1200" b="1" i="1" dirty="0">
                <a:latin typeface="Times New Roman" pitchFamily="18" charset="0"/>
                <a:cs typeface="Times New Roman" pitchFamily="18" charset="0"/>
              </a:rPr>
              <a:t>i</a:t>
            </a:r>
            <a:r>
              <a:rPr lang="en-US" altLang="zh-CN" sz="1200" b="1" dirty="0">
                <a:latin typeface="Times New Roman" pitchFamily="18" charset="0"/>
                <a:cs typeface="Times New Roman" pitchFamily="18" charset="0"/>
                <a:sym typeface="Symbol"/>
              </a:rPr>
              <a:t></a:t>
            </a:r>
            <a:r>
              <a:rPr lang="en-US" altLang="zh-CN" sz="1200" b="1" i="1" dirty="0">
                <a:latin typeface="Times New Roman" pitchFamily="18" charset="0"/>
                <a:cs typeface="Times New Roman" pitchFamily="18" charset="0"/>
              </a:rPr>
              <a:t>i</a:t>
            </a:r>
            <a:r>
              <a:rPr lang="en-US" altLang="zh-CN" sz="1200" b="1" dirty="0">
                <a:latin typeface="Times New Roman" pitchFamily="18" charset="0"/>
                <a:cs typeface="Times New Roman" pitchFamily="18" charset="0"/>
              </a:rPr>
              <a:t>+1, </a:t>
            </a:r>
            <a:r>
              <a:rPr lang="zh-CN" altLang="zh-CN" sz="1200" b="1" dirty="0">
                <a:latin typeface="Times New Roman" pitchFamily="18" charset="0"/>
                <a:cs typeface="Times New Roman" pitchFamily="18" charset="0"/>
              </a:rPr>
              <a:t>转</a:t>
            </a:r>
            <a:r>
              <a:rPr lang="en-US" altLang="zh-CN" sz="1200" b="1" dirty="0">
                <a:latin typeface="Times New Roman" pitchFamily="18" charset="0"/>
                <a:cs typeface="Times New Roman" pitchFamily="18" charset="0"/>
              </a:rPr>
              <a:t>(3).</a:t>
            </a:r>
            <a:endParaRPr lang="en-US" altLang="zh-CN" sz="1200" b="1" dirty="0">
              <a:latin typeface="Times New Roman" pitchFamily="18" charset="0"/>
            </a:endParaRPr>
          </a:p>
          <a:p>
            <a:endParaRPr lang="zh-CN" altLang="en-US" dirty="0"/>
          </a:p>
        </p:txBody>
      </p:sp>
      <p:sp>
        <p:nvSpPr>
          <p:cNvPr id="4" name="灯片编号占位符 3"/>
          <p:cNvSpPr>
            <a:spLocks noGrp="1"/>
          </p:cNvSpPr>
          <p:nvPr>
            <p:ph type="sldNum" sz="quarter" idx="10"/>
          </p:nvPr>
        </p:nvSpPr>
        <p:spPr/>
        <p:txBody>
          <a:bodyPr/>
          <a:lstStyle/>
          <a:p>
            <a:fld id="{CAFE74B6-F93C-4D90-BE1A-7EFEDB35C0D4}" type="slidenum">
              <a:rPr lang="zh-CN" altLang="en-US" smtClean="0"/>
              <a:t>38</a:t>
            </a:fld>
            <a:endParaRPr lang="zh-CN" altLang="en-US"/>
          </a:p>
        </p:txBody>
      </p:sp>
    </p:spTree>
    <p:extLst>
      <p:ext uri="{BB962C8B-B14F-4D97-AF65-F5344CB8AC3E}">
        <p14:creationId xmlns:p14="http://schemas.microsoft.com/office/powerpoint/2010/main" val="2420889687"/>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indent="266700" algn="just"/>
            <a:r>
              <a:rPr lang="zh-CN"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生成树主要用于确保连通性和简化复杂性，而最小生成树主要用于在保持连通性的前提下，寻求成本最低的解决方案。</a:t>
            </a:r>
          </a:p>
          <a:p>
            <a:pPr indent="266700" algn="l"/>
            <a:r>
              <a:rPr lang="zh-CN"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综上所述，最小生成树在生成树的基础上增加了对总边权重最小化的考虑，它在网络设计和优化问题中具有重要的应用价值。</a:t>
            </a:r>
          </a:p>
          <a:p>
            <a:pPr algn="just" eaLnBrk="1" hangingPunct="1">
              <a:lnSpc>
                <a:spcPct val="90000"/>
              </a:lnSpc>
              <a:buFontTx/>
              <a:buNone/>
            </a:pPr>
            <a:r>
              <a:rPr lang="zh-CN" altLang="en-US" sz="1200" b="1" dirty="0">
                <a:latin typeface="Times New Roman" panose="02020603050405020304" pitchFamily="18" charset="0"/>
                <a:cs typeface="Times New Roman" panose="02020603050405020304" pitchFamily="18" charset="0"/>
              </a:rPr>
              <a:t>图</a:t>
            </a:r>
            <a:r>
              <a:rPr lang="en-US" altLang="zh-CN" sz="1200" b="1" i="1" dirty="0">
                <a:latin typeface="Times New Roman" panose="02020603050405020304" pitchFamily="18" charset="0"/>
                <a:cs typeface="Times New Roman" panose="02020603050405020304" pitchFamily="18" charset="0"/>
              </a:rPr>
              <a:t>G</a:t>
            </a:r>
            <a:r>
              <a:rPr lang="zh-CN" altLang="en-US" sz="1200" b="1" dirty="0">
                <a:latin typeface="Times New Roman" panose="02020603050405020304" pitchFamily="18" charset="0"/>
                <a:cs typeface="Times New Roman" panose="02020603050405020304" pitchFamily="18" charset="0"/>
              </a:rPr>
              <a:t>的每一条边</a:t>
            </a:r>
            <a:r>
              <a:rPr lang="en-US" altLang="zh-CN" sz="1200" b="1" i="1" dirty="0">
                <a:latin typeface="Times New Roman" panose="02020603050405020304" pitchFamily="18" charset="0"/>
                <a:cs typeface="Times New Roman" panose="02020603050405020304" pitchFamily="18" charset="0"/>
              </a:rPr>
              <a:t>e</a:t>
            </a:r>
            <a:r>
              <a:rPr lang="zh-CN" altLang="en-US" sz="1200" b="1" dirty="0">
                <a:latin typeface="Times New Roman" panose="02020603050405020304" pitchFamily="18" charset="0"/>
                <a:cs typeface="Times New Roman" panose="02020603050405020304" pitchFamily="18" charset="0"/>
              </a:rPr>
              <a:t>附加一个实数</a:t>
            </a:r>
            <a:r>
              <a:rPr lang="en-US" altLang="zh-CN" sz="1200" b="1" i="1" dirty="0">
                <a:latin typeface="Times New Roman" panose="02020603050405020304" pitchFamily="18" charset="0"/>
                <a:cs typeface="Times New Roman" panose="02020603050405020304" pitchFamily="18" charset="0"/>
              </a:rPr>
              <a:t>w</a:t>
            </a:r>
            <a:r>
              <a:rPr lang="en-US" altLang="zh-CN" sz="1200" b="1" dirty="0">
                <a:latin typeface="Times New Roman" panose="02020603050405020304" pitchFamily="18" charset="0"/>
                <a:cs typeface="Times New Roman" panose="02020603050405020304" pitchFamily="18" charset="0"/>
              </a:rPr>
              <a:t>(</a:t>
            </a:r>
            <a:r>
              <a:rPr lang="en-US" altLang="zh-CN" sz="1200" b="1" i="1" dirty="0">
                <a:latin typeface="Times New Roman" panose="02020603050405020304" pitchFamily="18" charset="0"/>
                <a:cs typeface="Times New Roman" panose="02020603050405020304" pitchFamily="18" charset="0"/>
              </a:rPr>
              <a:t>e</a:t>
            </a:r>
            <a:r>
              <a:rPr lang="en-US" altLang="zh-CN" sz="1200" b="1" dirty="0">
                <a:latin typeface="Times New Roman" panose="02020603050405020304" pitchFamily="18" charset="0"/>
                <a:cs typeface="Times New Roman" panose="02020603050405020304" pitchFamily="18" charset="0"/>
              </a:rPr>
              <a:t>), </a:t>
            </a:r>
            <a:r>
              <a:rPr lang="zh-CN" altLang="en-US" sz="1200" b="1" dirty="0">
                <a:latin typeface="Times New Roman" panose="02020603050405020304" pitchFamily="18" charset="0"/>
                <a:cs typeface="Times New Roman" panose="02020603050405020304" pitchFamily="18" charset="0"/>
              </a:rPr>
              <a:t>称作边</a:t>
            </a:r>
            <a:r>
              <a:rPr lang="en-US" altLang="zh-CN" sz="1200" b="1" i="1" dirty="0">
                <a:latin typeface="Times New Roman" panose="02020603050405020304" pitchFamily="18" charset="0"/>
                <a:cs typeface="Times New Roman" panose="02020603050405020304" pitchFamily="18" charset="0"/>
              </a:rPr>
              <a:t>e</a:t>
            </a:r>
            <a:r>
              <a:rPr lang="zh-CN" altLang="en-US" sz="1200" b="1" dirty="0">
                <a:latin typeface="Times New Roman" panose="02020603050405020304" pitchFamily="18" charset="0"/>
                <a:cs typeface="Times New Roman" panose="02020603050405020304" pitchFamily="18" charset="0"/>
              </a:rPr>
              <a:t>的</a:t>
            </a:r>
            <a:r>
              <a:rPr lang="zh-CN" altLang="en-US" sz="1200" b="1" dirty="0">
                <a:solidFill>
                  <a:srgbClr val="FF3300"/>
                </a:solidFill>
                <a:latin typeface="Times New Roman" panose="02020603050405020304" pitchFamily="18" charset="0"/>
                <a:cs typeface="Times New Roman" panose="02020603050405020304" pitchFamily="18" charset="0"/>
              </a:rPr>
              <a:t>权</a:t>
            </a:r>
            <a:r>
              <a:rPr lang="zh-CN" altLang="en-US" sz="1200" b="1" dirty="0">
                <a:latin typeface="Times New Roman" panose="02020603050405020304" pitchFamily="18" charset="0"/>
                <a:cs typeface="Times New Roman" panose="02020603050405020304" pitchFamily="18" charset="0"/>
              </a:rPr>
              <a:t>. 图</a:t>
            </a:r>
            <a:r>
              <a:rPr lang="en-US" altLang="zh-CN" sz="1200" b="1" i="1" dirty="0">
                <a:latin typeface="Times New Roman" panose="02020603050405020304" pitchFamily="18" charset="0"/>
                <a:cs typeface="Times New Roman" panose="02020603050405020304" pitchFamily="18" charset="0"/>
              </a:rPr>
              <a:t>G</a:t>
            </a:r>
            <a:r>
              <a:rPr lang="zh-CN" altLang="en-US" sz="1200" b="1" dirty="0">
                <a:latin typeface="Times New Roman" panose="02020603050405020304" pitchFamily="18" charset="0"/>
                <a:cs typeface="Times New Roman" panose="02020603050405020304" pitchFamily="18" charset="0"/>
              </a:rPr>
              <a:t>连</a:t>
            </a:r>
          </a:p>
          <a:p>
            <a:pPr algn="just" eaLnBrk="1" hangingPunct="1">
              <a:lnSpc>
                <a:spcPct val="90000"/>
              </a:lnSpc>
              <a:buFontTx/>
              <a:buNone/>
            </a:pPr>
            <a:r>
              <a:rPr lang="zh-CN" altLang="en-US" sz="1200" b="1" dirty="0">
                <a:latin typeface="Times New Roman" panose="02020603050405020304" pitchFamily="18" charset="0"/>
                <a:cs typeface="Times New Roman" panose="02020603050405020304" pitchFamily="18" charset="0"/>
              </a:rPr>
              <a:t>同附加在边上的权称作</a:t>
            </a:r>
            <a:r>
              <a:rPr lang="zh-CN" altLang="en-US" sz="1200" b="1" dirty="0">
                <a:solidFill>
                  <a:srgbClr val="FF3300"/>
                </a:solidFill>
                <a:latin typeface="Times New Roman" panose="02020603050405020304" pitchFamily="18" charset="0"/>
                <a:cs typeface="Times New Roman" panose="02020603050405020304" pitchFamily="18" charset="0"/>
              </a:rPr>
              <a:t>带权图</a:t>
            </a:r>
            <a:r>
              <a:rPr lang="zh-CN" altLang="en-US" sz="1200" b="1" dirty="0">
                <a:latin typeface="Times New Roman" panose="02020603050405020304" pitchFamily="18" charset="0"/>
                <a:cs typeface="Times New Roman" panose="02020603050405020304" pitchFamily="18" charset="0"/>
              </a:rPr>
              <a:t>, 记作</a:t>
            </a:r>
            <a:r>
              <a:rPr lang="en-US" altLang="zh-CN" sz="1200" b="1" i="1" dirty="0">
                <a:latin typeface="Times New Roman" panose="02020603050405020304" pitchFamily="18" charset="0"/>
                <a:cs typeface="Times New Roman" panose="02020603050405020304" pitchFamily="18" charset="0"/>
              </a:rPr>
              <a:t>G</a:t>
            </a:r>
            <a:r>
              <a:rPr lang="en-US" altLang="zh-CN" sz="1200" b="1" dirty="0">
                <a:latin typeface="Times New Roman" panose="02020603050405020304" pitchFamily="18" charset="0"/>
                <a:cs typeface="Times New Roman" panose="02020603050405020304" pitchFamily="18" charset="0"/>
              </a:rPr>
              <a:t>=&lt;</a:t>
            </a:r>
            <a:r>
              <a:rPr lang="en-US" altLang="zh-CN" sz="1200" b="1" i="1" dirty="0">
                <a:latin typeface="Times New Roman" panose="02020603050405020304" pitchFamily="18" charset="0"/>
                <a:cs typeface="Times New Roman" panose="02020603050405020304" pitchFamily="18" charset="0"/>
              </a:rPr>
              <a:t>V</a:t>
            </a:r>
            <a:r>
              <a:rPr lang="en-US" altLang="zh-CN" sz="1200" b="1" dirty="0">
                <a:latin typeface="Times New Roman" panose="02020603050405020304" pitchFamily="18" charset="0"/>
                <a:cs typeface="Times New Roman" panose="02020603050405020304" pitchFamily="18" charset="0"/>
              </a:rPr>
              <a:t>,</a:t>
            </a:r>
            <a:r>
              <a:rPr lang="en-US" altLang="zh-CN" sz="1200" b="1" i="1" dirty="0">
                <a:latin typeface="Times New Roman" panose="02020603050405020304" pitchFamily="18" charset="0"/>
                <a:cs typeface="Times New Roman" panose="02020603050405020304" pitchFamily="18" charset="0"/>
              </a:rPr>
              <a:t>E</a:t>
            </a:r>
            <a:r>
              <a:rPr lang="en-US" altLang="zh-CN" sz="1200" b="1" dirty="0">
                <a:latin typeface="Times New Roman" panose="02020603050405020304" pitchFamily="18" charset="0"/>
                <a:cs typeface="Times New Roman" panose="02020603050405020304" pitchFamily="18" charset="0"/>
              </a:rPr>
              <a:t>,</a:t>
            </a:r>
            <a:r>
              <a:rPr lang="en-US" altLang="zh-CN" sz="1200" b="1" i="1" dirty="0">
                <a:latin typeface="Times New Roman" panose="02020603050405020304" pitchFamily="18" charset="0"/>
                <a:cs typeface="Times New Roman" panose="02020603050405020304" pitchFamily="18" charset="0"/>
              </a:rPr>
              <a:t>W</a:t>
            </a:r>
            <a:r>
              <a:rPr lang="en-US" altLang="zh-CN" sz="1200" b="1" dirty="0">
                <a:latin typeface="Times New Roman" panose="02020603050405020304" pitchFamily="18" charset="0"/>
                <a:cs typeface="Times New Roman" panose="02020603050405020304" pitchFamily="18" charset="0"/>
              </a:rPr>
              <a:t>&gt;. </a:t>
            </a:r>
            <a:r>
              <a:rPr lang="zh-CN" altLang="en-US" sz="1200" b="1" dirty="0">
                <a:latin typeface="Times New Roman" panose="02020603050405020304" pitchFamily="18" charset="0"/>
                <a:cs typeface="Times New Roman" panose="02020603050405020304" pitchFamily="18" charset="0"/>
              </a:rPr>
              <a:t>设</a:t>
            </a:r>
            <a:r>
              <a:rPr lang="en-US" altLang="zh-CN" sz="1200" b="1" i="1" dirty="0">
                <a:latin typeface="Times New Roman" panose="02020603050405020304" pitchFamily="18" charset="0"/>
                <a:cs typeface="Times New Roman" panose="02020603050405020304" pitchFamily="18" charset="0"/>
              </a:rPr>
              <a:t>H</a:t>
            </a:r>
            <a:r>
              <a:rPr lang="zh-CN" altLang="en-US" sz="1200" b="1" dirty="0">
                <a:latin typeface="Times New Roman" panose="02020603050405020304" pitchFamily="18" charset="0"/>
                <a:cs typeface="Times New Roman" panose="02020603050405020304" pitchFamily="18" charset="0"/>
                <a:sym typeface="Symbol" panose="05050102010706020507" pitchFamily="18" charset="2"/>
              </a:rPr>
              <a:t>是</a:t>
            </a:r>
            <a:r>
              <a:rPr lang="en-US" altLang="zh-CN" sz="1200" b="1" i="1" dirty="0">
                <a:latin typeface="Times New Roman" panose="02020603050405020304" pitchFamily="18" charset="0"/>
                <a:cs typeface="Times New Roman" panose="02020603050405020304" pitchFamily="18" charset="0"/>
                <a:sym typeface="Symbol" panose="05050102010706020507" pitchFamily="18" charset="2"/>
              </a:rPr>
              <a:t>G</a:t>
            </a:r>
          </a:p>
          <a:p>
            <a:pPr algn="just" eaLnBrk="1" hangingPunct="1">
              <a:lnSpc>
                <a:spcPct val="90000"/>
              </a:lnSpc>
              <a:buFontTx/>
              <a:buNone/>
            </a:pPr>
            <a:r>
              <a:rPr lang="zh-CN" altLang="en-US" sz="1200" b="1" dirty="0">
                <a:latin typeface="Times New Roman" panose="02020603050405020304" pitchFamily="18" charset="0"/>
                <a:cs typeface="Times New Roman" panose="02020603050405020304" pitchFamily="18" charset="0"/>
                <a:sym typeface="Symbol" panose="05050102010706020507" pitchFamily="18" charset="2"/>
              </a:rPr>
              <a:t>的子图, </a:t>
            </a:r>
            <a:r>
              <a:rPr lang="en-US" altLang="zh-CN" sz="1200" b="1" i="1" dirty="0">
                <a:latin typeface="Times New Roman" panose="02020603050405020304" pitchFamily="18" charset="0"/>
                <a:cs typeface="Times New Roman" panose="02020603050405020304" pitchFamily="18" charset="0"/>
                <a:sym typeface="Symbol" panose="05050102010706020507" pitchFamily="18" charset="2"/>
              </a:rPr>
              <a:t>H</a:t>
            </a:r>
            <a:r>
              <a:rPr lang="zh-CN" altLang="en-US" sz="1200" b="1" dirty="0">
                <a:latin typeface="Times New Roman" panose="02020603050405020304" pitchFamily="18" charset="0"/>
                <a:cs typeface="Times New Roman" panose="02020603050405020304" pitchFamily="18" charset="0"/>
                <a:sym typeface="Symbol" panose="05050102010706020507" pitchFamily="18" charset="2"/>
              </a:rPr>
              <a:t>所有边的权的和称作</a:t>
            </a:r>
            <a:r>
              <a:rPr lang="en-US" altLang="zh-CN" sz="1200" b="1" i="1" dirty="0">
                <a:solidFill>
                  <a:srgbClr val="FF3300"/>
                </a:solidFill>
                <a:latin typeface="Times New Roman" panose="02020603050405020304" pitchFamily="18" charset="0"/>
                <a:cs typeface="Times New Roman" panose="02020603050405020304" pitchFamily="18" charset="0"/>
                <a:sym typeface="Symbol" panose="05050102010706020507" pitchFamily="18" charset="2"/>
              </a:rPr>
              <a:t>H</a:t>
            </a:r>
            <a:r>
              <a:rPr lang="zh-CN" altLang="en-US" sz="1200" b="1" dirty="0">
                <a:solidFill>
                  <a:srgbClr val="FF3300"/>
                </a:solidFill>
                <a:latin typeface="Times New Roman" panose="02020603050405020304" pitchFamily="18" charset="0"/>
                <a:cs typeface="Times New Roman" panose="02020603050405020304" pitchFamily="18" charset="0"/>
                <a:sym typeface="Symbol" panose="05050102010706020507" pitchFamily="18" charset="2"/>
              </a:rPr>
              <a:t>的权</a:t>
            </a:r>
            <a:r>
              <a:rPr lang="zh-CN" altLang="en-US" sz="1200" b="1" dirty="0">
                <a:latin typeface="Times New Roman" panose="02020603050405020304" pitchFamily="18" charset="0"/>
                <a:cs typeface="Times New Roman" panose="02020603050405020304" pitchFamily="18" charset="0"/>
                <a:sym typeface="Symbol" panose="05050102010706020507" pitchFamily="18" charset="2"/>
              </a:rPr>
              <a:t>, 记作</a:t>
            </a:r>
            <a:r>
              <a:rPr lang="en-US" altLang="zh-CN" sz="1200" b="1" i="1" dirty="0">
                <a:latin typeface="Times New Roman" panose="02020603050405020304" pitchFamily="18" charset="0"/>
                <a:cs typeface="Times New Roman" panose="02020603050405020304" pitchFamily="18" charset="0"/>
                <a:sym typeface="Symbol" panose="05050102010706020507" pitchFamily="18" charset="2"/>
              </a:rPr>
              <a:t>W</a:t>
            </a:r>
            <a:r>
              <a:rPr lang="en-US" altLang="zh-CN" sz="1200" b="1" dirty="0">
                <a:latin typeface="Times New Roman" panose="02020603050405020304" pitchFamily="18" charset="0"/>
                <a:cs typeface="Times New Roman" panose="02020603050405020304" pitchFamily="18" charset="0"/>
                <a:sym typeface="Symbol" panose="05050102010706020507" pitchFamily="18" charset="2"/>
              </a:rPr>
              <a:t>(</a:t>
            </a:r>
            <a:r>
              <a:rPr lang="en-US" altLang="zh-CN" sz="1200" b="1" i="1" dirty="0">
                <a:latin typeface="Times New Roman" panose="02020603050405020304" pitchFamily="18" charset="0"/>
                <a:cs typeface="Times New Roman" panose="02020603050405020304" pitchFamily="18" charset="0"/>
                <a:sym typeface="Symbol" panose="05050102010706020507" pitchFamily="18" charset="2"/>
              </a:rPr>
              <a:t>H</a:t>
            </a:r>
            <a:r>
              <a:rPr lang="en-US" altLang="zh-CN" sz="1200" b="1" dirty="0">
                <a:latin typeface="Times New Roman" panose="02020603050405020304" pitchFamily="18" charset="0"/>
                <a:cs typeface="Times New Roman" panose="02020603050405020304" pitchFamily="18" charset="0"/>
                <a:sym typeface="Symbol" panose="05050102010706020507" pitchFamily="18" charset="2"/>
              </a:rPr>
              <a:t>).</a:t>
            </a:r>
          </a:p>
          <a:p>
            <a:pPr algn="just" eaLnBrk="1" hangingPunct="1">
              <a:lnSpc>
                <a:spcPct val="90000"/>
              </a:lnSpc>
              <a:buFontTx/>
              <a:buNone/>
            </a:pPr>
            <a:r>
              <a:rPr lang="zh-CN" altLang="en-US" sz="1200" b="1" dirty="0">
                <a:solidFill>
                  <a:srgbClr val="FF3300"/>
                </a:solidFill>
                <a:latin typeface="Times New Roman" panose="02020603050405020304" pitchFamily="18" charset="0"/>
                <a:cs typeface="Times New Roman" panose="02020603050405020304" pitchFamily="18" charset="0"/>
              </a:rPr>
              <a:t>最小生成树</a:t>
            </a:r>
            <a:r>
              <a:rPr lang="zh-CN" altLang="en-US" sz="1200" b="1" dirty="0">
                <a:latin typeface="Times New Roman" panose="02020603050405020304" pitchFamily="18" charset="0"/>
                <a:cs typeface="Times New Roman" panose="02020603050405020304" pitchFamily="18" charset="0"/>
              </a:rPr>
              <a:t>: 带权图</a:t>
            </a:r>
            <a:r>
              <a:rPr lang="en-US" altLang="zh-CN" sz="1200" b="1" i="1" dirty="0">
                <a:latin typeface="Times New Roman" panose="02020603050405020304" pitchFamily="18" charset="0"/>
                <a:cs typeface="Times New Roman" panose="02020603050405020304" pitchFamily="18" charset="0"/>
              </a:rPr>
              <a:t>G</a:t>
            </a:r>
            <a:r>
              <a:rPr lang="zh-CN" altLang="en-US" sz="1200" b="1" dirty="0">
                <a:latin typeface="Times New Roman" panose="02020603050405020304" pitchFamily="18" charset="0"/>
                <a:cs typeface="Times New Roman" panose="02020603050405020304" pitchFamily="18" charset="0"/>
              </a:rPr>
              <a:t>的所有生成树中权最小的生成树</a:t>
            </a:r>
            <a:endParaRPr lang="en-US" altLang="zh-CN" sz="1200" b="1" dirty="0">
              <a:latin typeface="Times New Roman" panose="02020603050405020304" pitchFamily="18" charset="0"/>
              <a:cs typeface="Times New Roman" panose="02020603050405020304" pitchFamily="18" charset="0"/>
            </a:endParaRPr>
          </a:p>
          <a:p>
            <a:pPr algn="just" eaLnBrk="1" hangingPunct="1">
              <a:lnSpc>
                <a:spcPct val="90000"/>
              </a:lnSpc>
              <a:buFont typeface="Wingdings" panose="05000000000000000000" pitchFamily="2" charset="2"/>
              <a:buNone/>
              <a:defRPr/>
            </a:pPr>
            <a:r>
              <a:rPr lang="zh-CN" altLang="en-US" sz="1200" b="1" dirty="0">
                <a:solidFill>
                  <a:srgbClr val="FF0000"/>
                </a:solidFill>
                <a:latin typeface="Times New Roman" pitchFamily="18" charset="0"/>
                <a:cs typeface="Times New Roman" pitchFamily="18" charset="0"/>
              </a:rPr>
              <a:t>避圈法 </a:t>
            </a:r>
            <a:r>
              <a:rPr lang="en-US" altLang="zh-CN" sz="1200" b="1" dirty="0">
                <a:solidFill>
                  <a:srgbClr val="FF0000"/>
                </a:solidFill>
                <a:latin typeface="Times New Roman" pitchFamily="18" charset="0"/>
                <a:cs typeface="Times New Roman" pitchFamily="18" charset="0"/>
              </a:rPr>
              <a:t>(Kruskal)</a:t>
            </a:r>
            <a:r>
              <a:rPr lang="en-US" altLang="zh-CN" sz="1200" b="1" dirty="0">
                <a:latin typeface="Times New Roman" pitchFamily="18" charset="0"/>
                <a:cs typeface="Times New Roman" pitchFamily="18" charset="0"/>
              </a:rPr>
              <a:t> ——</a:t>
            </a:r>
            <a:r>
              <a:rPr lang="zh-CN" altLang="en-US" sz="1200" b="1" dirty="0">
                <a:latin typeface="Times New Roman" pitchFamily="18" charset="0"/>
                <a:cs typeface="Times New Roman" pitchFamily="18" charset="0"/>
              </a:rPr>
              <a:t>求最小生成树的算法</a:t>
            </a:r>
            <a:endParaRPr lang="en-US" altLang="zh-CN" sz="1200" b="1" dirty="0">
              <a:solidFill>
                <a:srgbClr val="FF0000"/>
              </a:solidFill>
              <a:latin typeface="Times New Roman" pitchFamily="18" charset="0"/>
              <a:cs typeface="Times New Roman" pitchFamily="18" charset="0"/>
            </a:endParaRPr>
          </a:p>
          <a:p>
            <a:pPr>
              <a:buFont typeface="Wingdings" panose="05000000000000000000" pitchFamily="2" charset="2"/>
              <a:buNone/>
              <a:defRPr/>
            </a:pPr>
            <a:r>
              <a:rPr lang="zh-CN" altLang="en-US" sz="1200" b="1" dirty="0">
                <a:latin typeface="Times New Roman" pitchFamily="18" charset="0"/>
                <a:cs typeface="Times New Roman" pitchFamily="18" charset="0"/>
              </a:rPr>
              <a:t>设</a:t>
            </a:r>
            <a:r>
              <a:rPr lang="en-US" altLang="zh-CN" sz="1200" b="1" i="1" dirty="0">
                <a:latin typeface="Times New Roman" pitchFamily="18" charset="0"/>
                <a:cs typeface="Times New Roman" pitchFamily="18" charset="0"/>
              </a:rPr>
              <a:t>G</a:t>
            </a:r>
            <a:r>
              <a:rPr lang="zh-CN" altLang="en-US" sz="1200" b="1" dirty="0">
                <a:latin typeface="Times New Roman" pitchFamily="18" charset="0"/>
                <a:cs typeface="Times New Roman" pitchFamily="18" charset="0"/>
              </a:rPr>
              <a:t>是</a:t>
            </a:r>
            <a:r>
              <a:rPr lang="en-US" altLang="zh-CN" sz="1200" b="1" i="1" dirty="0">
                <a:latin typeface="Times New Roman" pitchFamily="18" charset="0"/>
                <a:cs typeface="Times New Roman" pitchFamily="18" charset="0"/>
              </a:rPr>
              <a:t>n</a:t>
            </a:r>
            <a:r>
              <a:rPr lang="zh-CN" altLang="zh-CN" sz="1200" b="1" dirty="0">
                <a:latin typeface="Times New Roman" pitchFamily="18" charset="0"/>
                <a:cs typeface="Times New Roman" pitchFamily="18" charset="0"/>
              </a:rPr>
              <a:t>阶无向连通带权图</a:t>
            </a:r>
            <a:r>
              <a:rPr lang="en-US" altLang="zh-CN" sz="1200" b="1" i="1" dirty="0">
                <a:latin typeface="Times New Roman" pitchFamily="18" charset="0"/>
                <a:cs typeface="Times New Roman" pitchFamily="18" charset="0"/>
              </a:rPr>
              <a:t>G</a:t>
            </a:r>
            <a:r>
              <a:rPr lang="en-US" altLang="zh-CN" sz="1200" b="1" dirty="0">
                <a:latin typeface="Times New Roman" pitchFamily="18" charset="0"/>
                <a:cs typeface="Times New Roman" pitchFamily="18" charset="0"/>
              </a:rPr>
              <a:t>.</a:t>
            </a:r>
            <a:endParaRPr lang="zh-CN" altLang="zh-CN" sz="1200" b="1" dirty="0">
              <a:latin typeface="Times New Roman" pitchFamily="18" charset="0"/>
              <a:cs typeface="Times New Roman" pitchFamily="18" charset="0"/>
            </a:endParaRPr>
          </a:p>
          <a:p>
            <a:pPr marL="457200" indent="-457200">
              <a:buFont typeface="Wingdings" panose="05000000000000000000" pitchFamily="2" charset="2"/>
              <a:buNone/>
              <a:defRPr/>
            </a:pPr>
            <a:r>
              <a:rPr lang="en-US" altLang="zh-CN" sz="1200" b="1" dirty="0">
                <a:latin typeface="Times New Roman" pitchFamily="18" charset="0"/>
                <a:cs typeface="Times New Roman" pitchFamily="18" charset="0"/>
              </a:rPr>
              <a:t>(1) </a:t>
            </a:r>
            <a:r>
              <a:rPr lang="zh-CN" altLang="zh-CN" sz="1200" b="1" dirty="0">
                <a:latin typeface="Times New Roman" pitchFamily="18" charset="0"/>
                <a:cs typeface="Times New Roman" pitchFamily="18" charset="0"/>
              </a:rPr>
              <a:t>按权从小到大排列边</a:t>
            </a:r>
            <a:r>
              <a:rPr lang="en-US" altLang="zh-CN" sz="1200" b="1" dirty="0">
                <a:latin typeface="Times New Roman" pitchFamily="18" charset="0"/>
                <a:cs typeface="Times New Roman" pitchFamily="18" charset="0"/>
              </a:rPr>
              <a:t>(</a:t>
            </a:r>
            <a:r>
              <a:rPr lang="zh-CN" altLang="en-US" sz="1200" b="1" dirty="0">
                <a:latin typeface="Times New Roman" pitchFamily="18" charset="0"/>
                <a:cs typeface="Times New Roman" pitchFamily="18" charset="0"/>
              </a:rPr>
              <a:t>环除外</a:t>
            </a:r>
            <a:r>
              <a:rPr lang="en-US" altLang="zh-CN" sz="1200" b="1" dirty="0">
                <a:latin typeface="Times New Roman" pitchFamily="18" charset="0"/>
                <a:cs typeface="Times New Roman" pitchFamily="18" charset="0"/>
              </a:rPr>
              <a:t>), </a:t>
            </a:r>
            <a:r>
              <a:rPr lang="zh-CN" altLang="zh-CN" sz="1200" b="1" dirty="0">
                <a:latin typeface="Times New Roman" pitchFamily="18" charset="0"/>
                <a:cs typeface="Times New Roman" pitchFamily="18" charset="0"/>
              </a:rPr>
              <a:t>设</a:t>
            </a:r>
            <a:r>
              <a:rPr lang="en-US" altLang="zh-CN" sz="1200" b="1" i="1" dirty="0">
                <a:latin typeface="Times New Roman" pitchFamily="18" charset="0"/>
                <a:cs typeface="Times New Roman" pitchFamily="18" charset="0"/>
              </a:rPr>
              <a:t>W</a:t>
            </a:r>
            <a:r>
              <a:rPr lang="en-US" altLang="zh-CN" sz="1200" b="1" dirty="0">
                <a:latin typeface="Times New Roman" pitchFamily="18" charset="0"/>
                <a:cs typeface="Times New Roman" pitchFamily="18" charset="0"/>
              </a:rPr>
              <a:t>(</a:t>
            </a:r>
            <a:r>
              <a:rPr lang="en-US" altLang="zh-CN" sz="1200" b="1" i="1" dirty="0">
                <a:latin typeface="Times New Roman" pitchFamily="18" charset="0"/>
                <a:cs typeface="Times New Roman" pitchFamily="18" charset="0"/>
              </a:rPr>
              <a:t>e</a:t>
            </a:r>
            <a:r>
              <a:rPr lang="en-US" altLang="zh-CN" sz="1200" b="1" baseline="-25000" dirty="0">
                <a:latin typeface="Times New Roman" pitchFamily="18" charset="0"/>
                <a:cs typeface="Times New Roman" pitchFamily="18" charset="0"/>
              </a:rPr>
              <a:t>1</a:t>
            </a:r>
            <a:r>
              <a:rPr lang="en-US" altLang="zh-CN" sz="1200" b="1" dirty="0">
                <a:latin typeface="Times New Roman" pitchFamily="18" charset="0"/>
                <a:cs typeface="Times New Roman" pitchFamily="18" charset="0"/>
              </a:rPr>
              <a:t>)</a:t>
            </a:r>
            <a:r>
              <a:rPr lang="zh-CN" altLang="zh-CN" sz="1200" b="1" dirty="0">
                <a:latin typeface="Times New Roman" pitchFamily="18" charset="0"/>
                <a:cs typeface="Times New Roman" pitchFamily="18" charset="0"/>
              </a:rPr>
              <a:t>≤</a:t>
            </a:r>
            <a:r>
              <a:rPr lang="en-US" altLang="zh-CN" sz="1200" b="1" i="1" dirty="0">
                <a:latin typeface="Times New Roman" pitchFamily="18" charset="0"/>
                <a:cs typeface="Times New Roman" pitchFamily="18" charset="0"/>
              </a:rPr>
              <a:t>W</a:t>
            </a:r>
            <a:r>
              <a:rPr lang="en-US" altLang="zh-CN" sz="1200" b="1" dirty="0">
                <a:latin typeface="Times New Roman" pitchFamily="18" charset="0"/>
                <a:cs typeface="Times New Roman" pitchFamily="18" charset="0"/>
              </a:rPr>
              <a:t>(</a:t>
            </a:r>
            <a:r>
              <a:rPr lang="en-US" altLang="zh-CN" sz="1200" b="1" i="1" dirty="0">
                <a:latin typeface="Times New Roman" pitchFamily="18" charset="0"/>
                <a:cs typeface="Times New Roman" pitchFamily="18" charset="0"/>
              </a:rPr>
              <a:t>e</a:t>
            </a:r>
            <a:r>
              <a:rPr lang="en-US" altLang="zh-CN" sz="1200" b="1" baseline="-25000" dirty="0">
                <a:latin typeface="Times New Roman" pitchFamily="18" charset="0"/>
                <a:cs typeface="Times New Roman" pitchFamily="18" charset="0"/>
              </a:rPr>
              <a:t>2</a:t>
            </a:r>
            <a:r>
              <a:rPr lang="en-US" altLang="zh-CN" sz="1200" b="1" dirty="0">
                <a:latin typeface="Times New Roman" pitchFamily="18" charset="0"/>
                <a:cs typeface="Times New Roman" pitchFamily="18" charset="0"/>
              </a:rPr>
              <a:t>)</a:t>
            </a:r>
            <a:r>
              <a:rPr lang="zh-CN" altLang="zh-CN" sz="1200" b="1" dirty="0">
                <a:latin typeface="Times New Roman" pitchFamily="18" charset="0"/>
                <a:cs typeface="Times New Roman" pitchFamily="18" charset="0"/>
              </a:rPr>
              <a:t>≤…≤</a:t>
            </a:r>
            <a:r>
              <a:rPr lang="en-US" altLang="zh-CN" sz="1200" b="1" i="1" dirty="0">
                <a:latin typeface="Times New Roman" pitchFamily="18" charset="0"/>
                <a:cs typeface="Times New Roman" pitchFamily="18" charset="0"/>
              </a:rPr>
              <a:t>W</a:t>
            </a:r>
            <a:r>
              <a:rPr lang="en-US" altLang="zh-CN" sz="1200" b="1" dirty="0">
                <a:latin typeface="Times New Roman" pitchFamily="18" charset="0"/>
                <a:cs typeface="Times New Roman" pitchFamily="18" charset="0"/>
              </a:rPr>
              <a:t>(</a:t>
            </a:r>
            <a:r>
              <a:rPr lang="en-US" altLang="zh-CN" sz="1200" b="1" i="1" dirty="0" err="1">
                <a:latin typeface="Times New Roman" pitchFamily="18" charset="0"/>
                <a:cs typeface="Times New Roman" pitchFamily="18" charset="0"/>
              </a:rPr>
              <a:t>e</a:t>
            </a:r>
            <a:r>
              <a:rPr lang="en-US" altLang="zh-CN" sz="1200" b="1" i="1" baseline="-25000" dirty="0" err="1">
                <a:latin typeface="Times New Roman" pitchFamily="18" charset="0"/>
                <a:cs typeface="Times New Roman" pitchFamily="18" charset="0"/>
              </a:rPr>
              <a:t>m</a:t>
            </a:r>
            <a:r>
              <a:rPr lang="en-US" altLang="zh-CN" sz="1200" b="1" dirty="0">
                <a:latin typeface="Times New Roman" pitchFamily="18" charset="0"/>
                <a:cs typeface="Times New Roman" pitchFamily="18" charset="0"/>
              </a:rPr>
              <a:t>).</a:t>
            </a:r>
            <a:endParaRPr lang="zh-CN" altLang="zh-CN" sz="1200" b="1" dirty="0">
              <a:latin typeface="Times New Roman" pitchFamily="18" charset="0"/>
              <a:cs typeface="Times New Roman" pitchFamily="18" charset="0"/>
            </a:endParaRPr>
          </a:p>
          <a:p>
            <a:pPr marL="457200" indent="-457200">
              <a:buFont typeface="Wingdings" panose="05000000000000000000" pitchFamily="2" charset="2"/>
              <a:buNone/>
              <a:defRPr/>
            </a:pPr>
            <a:r>
              <a:rPr lang="en-US" altLang="zh-CN" sz="1200" b="1" dirty="0">
                <a:latin typeface="Times New Roman" pitchFamily="18" charset="0"/>
                <a:cs typeface="Times New Roman" pitchFamily="18" charset="0"/>
              </a:rPr>
              <a:t>(2) </a:t>
            </a:r>
            <a:r>
              <a:rPr lang="zh-CN" altLang="zh-CN" sz="1200" b="1" dirty="0">
                <a:latin typeface="Times New Roman" pitchFamily="18" charset="0"/>
                <a:cs typeface="Times New Roman" pitchFamily="18" charset="0"/>
              </a:rPr>
              <a:t>令</a:t>
            </a:r>
            <a:r>
              <a:rPr lang="en-US" altLang="zh-CN" sz="1200" b="1" i="1" dirty="0">
                <a:latin typeface="Times New Roman" pitchFamily="18" charset="0"/>
                <a:cs typeface="Times New Roman" pitchFamily="18" charset="0"/>
              </a:rPr>
              <a:t>T</a:t>
            </a:r>
            <a:r>
              <a:rPr lang="en-US" altLang="zh-CN" sz="1200" b="1" dirty="0">
                <a:latin typeface="Times New Roman" pitchFamily="18" charset="0"/>
                <a:cs typeface="Times New Roman" pitchFamily="18" charset="0"/>
                <a:sym typeface="Symbol"/>
              </a:rPr>
              <a:t></a:t>
            </a:r>
            <a:r>
              <a:rPr lang="en-US" altLang="zh-CN" sz="1200" b="1" dirty="0">
                <a:latin typeface="Times New Roman" pitchFamily="18" charset="0"/>
                <a:cs typeface="Times New Roman" pitchFamily="18" charset="0"/>
              </a:rPr>
              <a:t>, </a:t>
            </a:r>
            <a:r>
              <a:rPr lang="en-US" altLang="zh-CN" sz="1200" b="1" i="1" dirty="0">
                <a:latin typeface="Times New Roman" pitchFamily="18" charset="0"/>
                <a:cs typeface="Times New Roman" pitchFamily="18" charset="0"/>
              </a:rPr>
              <a:t>i</a:t>
            </a:r>
            <a:r>
              <a:rPr lang="en-US" altLang="zh-CN" sz="1200" b="1" dirty="0">
                <a:latin typeface="Times New Roman" pitchFamily="18" charset="0"/>
                <a:cs typeface="Times New Roman" pitchFamily="18" charset="0"/>
                <a:sym typeface="Symbol"/>
              </a:rPr>
              <a:t></a:t>
            </a:r>
            <a:r>
              <a:rPr lang="en-US" altLang="zh-CN" sz="1200" b="1" dirty="0">
                <a:latin typeface="Times New Roman" pitchFamily="18" charset="0"/>
                <a:cs typeface="Times New Roman" pitchFamily="18" charset="0"/>
              </a:rPr>
              <a:t>1, </a:t>
            </a:r>
            <a:r>
              <a:rPr lang="en-US" altLang="zh-CN" sz="1200" b="1" i="1" dirty="0">
                <a:latin typeface="Times New Roman" pitchFamily="18" charset="0"/>
                <a:cs typeface="Times New Roman" pitchFamily="18" charset="0"/>
              </a:rPr>
              <a:t>k</a:t>
            </a:r>
            <a:r>
              <a:rPr lang="en-US" altLang="zh-CN" sz="1200" b="1" dirty="0">
                <a:latin typeface="Times New Roman" pitchFamily="18" charset="0"/>
                <a:cs typeface="Times New Roman" pitchFamily="18" charset="0"/>
                <a:sym typeface="Symbol"/>
              </a:rPr>
              <a:t></a:t>
            </a:r>
            <a:r>
              <a:rPr lang="en-US" altLang="zh-CN" sz="1200" b="1" dirty="0">
                <a:latin typeface="Times New Roman" pitchFamily="18" charset="0"/>
                <a:cs typeface="Times New Roman" pitchFamily="18" charset="0"/>
              </a:rPr>
              <a:t>0.</a:t>
            </a:r>
            <a:endParaRPr lang="zh-CN" altLang="zh-CN" sz="1200" b="1" dirty="0">
              <a:latin typeface="Times New Roman" pitchFamily="18" charset="0"/>
              <a:cs typeface="Times New Roman" pitchFamily="18" charset="0"/>
            </a:endParaRPr>
          </a:p>
          <a:p>
            <a:pPr>
              <a:buFont typeface="Wingdings" panose="05000000000000000000" pitchFamily="2" charset="2"/>
              <a:buNone/>
              <a:defRPr/>
            </a:pPr>
            <a:r>
              <a:rPr lang="en-US" altLang="zh-CN" sz="1200" b="1" dirty="0">
                <a:latin typeface="Times New Roman" pitchFamily="18" charset="0"/>
                <a:cs typeface="Times New Roman" pitchFamily="18" charset="0"/>
              </a:rPr>
              <a:t>(3) </a:t>
            </a:r>
            <a:r>
              <a:rPr lang="zh-CN" altLang="zh-CN" sz="1200" b="1" dirty="0">
                <a:latin typeface="Times New Roman" pitchFamily="18" charset="0"/>
                <a:cs typeface="Times New Roman" pitchFamily="18" charset="0"/>
              </a:rPr>
              <a:t>若</a:t>
            </a:r>
            <a:r>
              <a:rPr lang="en-US" altLang="zh-CN" sz="1200" b="1" i="1" dirty="0" err="1">
                <a:latin typeface="Times New Roman" pitchFamily="18" charset="0"/>
                <a:cs typeface="Times New Roman" pitchFamily="18" charset="0"/>
              </a:rPr>
              <a:t>e</a:t>
            </a:r>
            <a:r>
              <a:rPr lang="en-US" altLang="zh-CN" sz="1200" b="1" i="1" baseline="-25000" dirty="0" err="1">
                <a:latin typeface="Times New Roman" pitchFamily="18" charset="0"/>
                <a:cs typeface="Times New Roman" pitchFamily="18" charset="0"/>
              </a:rPr>
              <a:t>i</a:t>
            </a:r>
            <a:r>
              <a:rPr lang="zh-CN" altLang="zh-CN" sz="1200" b="1" dirty="0">
                <a:latin typeface="Times New Roman" pitchFamily="18" charset="0"/>
                <a:cs typeface="Times New Roman" pitchFamily="18" charset="0"/>
              </a:rPr>
              <a:t>与</a:t>
            </a:r>
            <a:r>
              <a:rPr lang="en-US" altLang="zh-CN" sz="1200" b="1" i="1" dirty="0">
                <a:latin typeface="Times New Roman" pitchFamily="18" charset="0"/>
                <a:cs typeface="Times New Roman" pitchFamily="18" charset="0"/>
              </a:rPr>
              <a:t>T</a:t>
            </a:r>
            <a:r>
              <a:rPr lang="zh-CN" altLang="zh-CN" sz="1200" b="1" dirty="0">
                <a:latin typeface="Times New Roman" pitchFamily="18" charset="0"/>
                <a:cs typeface="Times New Roman" pitchFamily="18" charset="0"/>
              </a:rPr>
              <a:t>中的边不构成回路，则令</a:t>
            </a:r>
            <a:r>
              <a:rPr lang="en-US" altLang="zh-CN" sz="1200" b="1" i="1" dirty="0">
                <a:latin typeface="Times New Roman" pitchFamily="18" charset="0"/>
                <a:cs typeface="Times New Roman" pitchFamily="18" charset="0"/>
              </a:rPr>
              <a:t>T</a:t>
            </a:r>
            <a:r>
              <a:rPr lang="en-US" altLang="zh-CN" sz="1200" b="1" dirty="0">
                <a:latin typeface="Times New Roman" pitchFamily="18" charset="0"/>
                <a:cs typeface="Times New Roman" pitchFamily="18" charset="0"/>
                <a:sym typeface="Symbol"/>
              </a:rPr>
              <a:t></a:t>
            </a:r>
            <a:r>
              <a:rPr lang="en-US" altLang="zh-CN" sz="1200" b="1" i="1" dirty="0">
                <a:latin typeface="Times New Roman" pitchFamily="18" charset="0"/>
                <a:cs typeface="Times New Roman" pitchFamily="18" charset="0"/>
              </a:rPr>
              <a:t>T</a:t>
            </a:r>
            <a:r>
              <a:rPr lang="en-US" altLang="zh-CN" sz="1200" b="1" dirty="0">
                <a:latin typeface="Times New Roman" pitchFamily="18" charset="0"/>
                <a:cs typeface="Times New Roman" pitchFamily="18" charset="0"/>
                <a:sym typeface="Symbol"/>
              </a:rPr>
              <a:t></a:t>
            </a:r>
            <a:r>
              <a:rPr lang="en-US" altLang="zh-CN" sz="1200" b="1" dirty="0">
                <a:latin typeface="Times New Roman" pitchFamily="18" charset="0"/>
                <a:cs typeface="Times New Roman" pitchFamily="18" charset="0"/>
              </a:rPr>
              <a:t>{</a:t>
            </a:r>
            <a:r>
              <a:rPr lang="en-US" altLang="zh-CN" sz="1200" b="1" i="1" dirty="0" err="1">
                <a:latin typeface="Times New Roman" pitchFamily="18" charset="0"/>
                <a:cs typeface="Times New Roman" pitchFamily="18" charset="0"/>
              </a:rPr>
              <a:t>e</a:t>
            </a:r>
            <a:r>
              <a:rPr lang="en-US" altLang="zh-CN" sz="1200" b="1" i="1" baseline="-25000" dirty="0" err="1">
                <a:latin typeface="Times New Roman" pitchFamily="18" charset="0"/>
                <a:cs typeface="Times New Roman" pitchFamily="18" charset="0"/>
              </a:rPr>
              <a:t>i</a:t>
            </a:r>
            <a:r>
              <a:rPr lang="en-US" altLang="zh-CN" sz="1200" b="1" dirty="0">
                <a:latin typeface="Times New Roman" pitchFamily="18" charset="0"/>
                <a:cs typeface="Times New Roman" pitchFamily="18" charset="0"/>
              </a:rPr>
              <a:t>}, </a:t>
            </a:r>
            <a:r>
              <a:rPr lang="en-US" altLang="zh-CN" sz="1200" b="1" i="1" dirty="0">
                <a:latin typeface="Times New Roman" pitchFamily="18" charset="0"/>
                <a:cs typeface="Times New Roman" pitchFamily="18" charset="0"/>
              </a:rPr>
              <a:t>k</a:t>
            </a:r>
            <a:r>
              <a:rPr lang="en-US" altLang="zh-CN" sz="1200" b="1" dirty="0">
                <a:latin typeface="Times New Roman" pitchFamily="18" charset="0"/>
                <a:cs typeface="Times New Roman" pitchFamily="18" charset="0"/>
                <a:sym typeface="Symbol"/>
              </a:rPr>
              <a:t></a:t>
            </a:r>
            <a:r>
              <a:rPr lang="en-US" altLang="zh-CN" sz="1200" b="1" i="1" dirty="0">
                <a:latin typeface="Times New Roman" pitchFamily="18" charset="0"/>
                <a:cs typeface="Times New Roman" pitchFamily="18" charset="0"/>
              </a:rPr>
              <a:t>k</a:t>
            </a:r>
            <a:r>
              <a:rPr lang="en-US" altLang="zh-CN" sz="1200" b="1" dirty="0">
                <a:latin typeface="Times New Roman" pitchFamily="18" charset="0"/>
                <a:cs typeface="Times New Roman" pitchFamily="18" charset="0"/>
              </a:rPr>
              <a:t>+1.  </a:t>
            </a:r>
            <a:endParaRPr lang="zh-CN" altLang="zh-CN" sz="1200" b="1" dirty="0">
              <a:latin typeface="Times New Roman" pitchFamily="18" charset="0"/>
              <a:cs typeface="Times New Roman" pitchFamily="18" charset="0"/>
            </a:endParaRPr>
          </a:p>
          <a:p>
            <a:pPr>
              <a:buFont typeface="Wingdings" panose="05000000000000000000" pitchFamily="2" charset="2"/>
              <a:buNone/>
              <a:defRPr/>
            </a:pPr>
            <a:r>
              <a:rPr lang="en-US" altLang="zh-CN" sz="1200" b="1" dirty="0">
                <a:latin typeface="Times New Roman" pitchFamily="18" charset="0"/>
                <a:cs typeface="Times New Roman" pitchFamily="18" charset="0"/>
              </a:rPr>
              <a:t>(4) </a:t>
            </a:r>
            <a:r>
              <a:rPr lang="zh-CN" altLang="zh-CN" sz="1200" b="1" dirty="0">
                <a:latin typeface="Times New Roman" pitchFamily="18" charset="0"/>
                <a:cs typeface="Times New Roman" pitchFamily="18" charset="0"/>
              </a:rPr>
              <a:t>若</a:t>
            </a:r>
            <a:r>
              <a:rPr lang="en-US" altLang="zh-CN" sz="1200" b="1" i="1" dirty="0">
                <a:latin typeface="Times New Roman" pitchFamily="18" charset="0"/>
                <a:cs typeface="Times New Roman" pitchFamily="18" charset="0"/>
              </a:rPr>
              <a:t>k</a:t>
            </a:r>
            <a:r>
              <a:rPr lang="en-US" altLang="zh-CN" sz="1200" b="1" dirty="0">
                <a:latin typeface="Times New Roman" pitchFamily="18" charset="0"/>
                <a:cs typeface="Times New Roman" pitchFamily="18" charset="0"/>
              </a:rPr>
              <a:t>&lt;</a:t>
            </a:r>
            <a:r>
              <a:rPr lang="en-US" altLang="zh-CN" sz="1200" b="1" i="1" dirty="0">
                <a:latin typeface="Times New Roman" pitchFamily="18" charset="0"/>
                <a:cs typeface="Times New Roman" pitchFamily="18" charset="0"/>
              </a:rPr>
              <a:t>n</a:t>
            </a:r>
            <a:r>
              <a:rPr lang="en-US" altLang="zh-CN" sz="1200" b="1" dirty="0">
                <a:latin typeface="Times New Roman" pitchFamily="18" charset="0"/>
                <a:cs typeface="Times New Roman" pitchFamily="18" charset="0"/>
              </a:rPr>
              <a:t>-1, </a:t>
            </a:r>
            <a:r>
              <a:rPr lang="zh-CN" altLang="zh-CN" sz="1200" b="1" dirty="0">
                <a:latin typeface="Times New Roman" pitchFamily="18" charset="0"/>
                <a:cs typeface="Times New Roman" pitchFamily="18" charset="0"/>
              </a:rPr>
              <a:t>则令</a:t>
            </a:r>
            <a:r>
              <a:rPr lang="en-US" altLang="zh-CN" sz="1200" b="1" i="1" dirty="0">
                <a:latin typeface="Times New Roman" pitchFamily="18" charset="0"/>
                <a:cs typeface="Times New Roman" pitchFamily="18" charset="0"/>
              </a:rPr>
              <a:t>i</a:t>
            </a:r>
            <a:r>
              <a:rPr lang="en-US" altLang="zh-CN" sz="1200" b="1" dirty="0">
                <a:latin typeface="Times New Roman" pitchFamily="18" charset="0"/>
                <a:cs typeface="Times New Roman" pitchFamily="18" charset="0"/>
                <a:sym typeface="Symbol"/>
              </a:rPr>
              <a:t></a:t>
            </a:r>
            <a:r>
              <a:rPr lang="en-US" altLang="zh-CN" sz="1200" b="1" i="1" dirty="0">
                <a:latin typeface="Times New Roman" pitchFamily="18" charset="0"/>
                <a:cs typeface="Times New Roman" pitchFamily="18" charset="0"/>
              </a:rPr>
              <a:t>i</a:t>
            </a:r>
            <a:r>
              <a:rPr lang="en-US" altLang="zh-CN" sz="1200" b="1" dirty="0">
                <a:latin typeface="Times New Roman" pitchFamily="18" charset="0"/>
                <a:cs typeface="Times New Roman" pitchFamily="18" charset="0"/>
              </a:rPr>
              <a:t>+1, </a:t>
            </a:r>
            <a:r>
              <a:rPr lang="zh-CN" altLang="zh-CN" sz="1200" b="1" dirty="0">
                <a:latin typeface="Times New Roman" pitchFamily="18" charset="0"/>
                <a:cs typeface="Times New Roman" pitchFamily="18" charset="0"/>
              </a:rPr>
              <a:t>转</a:t>
            </a:r>
            <a:r>
              <a:rPr lang="en-US" altLang="zh-CN" sz="1200" b="1" dirty="0">
                <a:latin typeface="Times New Roman" pitchFamily="18" charset="0"/>
                <a:cs typeface="Times New Roman" pitchFamily="18" charset="0"/>
              </a:rPr>
              <a:t>(3).</a:t>
            </a:r>
            <a:endParaRPr lang="en-US" altLang="zh-CN" sz="1200" b="1" dirty="0">
              <a:latin typeface="Times New Roman" pitchFamily="18" charset="0"/>
            </a:endParaRPr>
          </a:p>
          <a:p>
            <a:endParaRPr lang="zh-CN" altLang="en-US" dirty="0"/>
          </a:p>
        </p:txBody>
      </p:sp>
      <p:sp>
        <p:nvSpPr>
          <p:cNvPr id="4" name="灯片编号占位符 3"/>
          <p:cNvSpPr>
            <a:spLocks noGrp="1"/>
          </p:cNvSpPr>
          <p:nvPr>
            <p:ph type="sldNum" sz="quarter" idx="10"/>
          </p:nvPr>
        </p:nvSpPr>
        <p:spPr/>
        <p:txBody>
          <a:bodyPr/>
          <a:lstStyle/>
          <a:p>
            <a:fld id="{CAFE74B6-F93C-4D90-BE1A-7EFEDB35C0D4}" type="slidenum">
              <a:rPr lang="zh-CN" altLang="en-US" smtClean="0"/>
              <a:t>39</a:t>
            </a:fld>
            <a:endParaRPr lang="zh-CN" altLang="en-US"/>
          </a:p>
        </p:txBody>
      </p:sp>
    </p:spTree>
    <p:extLst>
      <p:ext uri="{BB962C8B-B14F-4D97-AF65-F5344CB8AC3E}">
        <p14:creationId xmlns:p14="http://schemas.microsoft.com/office/powerpoint/2010/main" val="141554612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例：通信企业有如下图所示的光纤网络覆盖需求，建筑物之间可以铺设光缆的线路及长度</a:t>
            </a:r>
            <a:r>
              <a:rPr lang="en-US" altLang="zh-CN" dirty="0"/>
              <a:t>(</a:t>
            </a:r>
            <a:r>
              <a:rPr lang="zh-CN" altLang="en-US" dirty="0"/>
              <a:t>单位</a:t>
            </a:r>
            <a:r>
              <a:rPr lang="en-US" altLang="zh-CN" dirty="0"/>
              <a:t>:</a:t>
            </a:r>
            <a:r>
              <a:rPr lang="zh-CN" altLang="en-US" dirty="0"/>
              <a:t>米</a:t>
            </a:r>
            <a:r>
              <a:rPr lang="en-US" altLang="zh-CN" dirty="0"/>
              <a:t>)</a:t>
            </a:r>
            <a:r>
              <a:rPr lang="zh-CN" altLang="en-US" dirty="0"/>
              <a:t>如图所示</a:t>
            </a:r>
            <a:r>
              <a:rPr lang="en-US" altLang="zh-CN" dirty="0"/>
              <a:t>. </a:t>
            </a:r>
            <a:r>
              <a:rPr lang="zh-CN" altLang="en-US" dirty="0"/>
              <a:t>问</a:t>
            </a:r>
            <a:r>
              <a:rPr lang="en-US" altLang="zh-CN" dirty="0"/>
              <a:t>:</a:t>
            </a:r>
            <a:r>
              <a:rPr lang="zh-CN" altLang="en-US" dirty="0"/>
              <a:t>在确保网络全覆盖的条件下， 如何确定光缆铺设路线才能使光缆的总长度最短</a:t>
            </a:r>
            <a:r>
              <a:rPr lang="en-US" altLang="zh-CN" dirty="0"/>
              <a:t>?</a:t>
            </a:r>
            <a:endParaRPr lang="zh-CN" altLang="en-US" dirty="0"/>
          </a:p>
        </p:txBody>
      </p:sp>
      <p:sp>
        <p:nvSpPr>
          <p:cNvPr id="4" name="灯片编号占位符 3"/>
          <p:cNvSpPr>
            <a:spLocks noGrp="1"/>
          </p:cNvSpPr>
          <p:nvPr>
            <p:ph type="sldNum" sz="quarter" idx="10"/>
          </p:nvPr>
        </p:nvSpPr>
        <p:spPr/>
        <p:txBody>
          <a:bodyPr/>
          <a:lstStyle/>
          <a:p>
            <a:fld id="{CAFE74B6-F93C-4D90-BE1A-7EFEDB35C0D4}" type="slidenum">
              <a:rPr lang="zh-CN" altLang="en-US" smtClean="0"/>
              <a:t>40</a:t>
            </a:fld>
            <a:endParaRPr lang="zh-CN" altLang="en-US"/>
          </a:p>
        </p:txBody>
      </p:sp>
    </p:spTree>
    <p:extLst>
      <p:ext uri="{BB962C8B-B14F-4D97-AF65-F5344CB8AC3E}">
        <p14:creationId xmlns:p14="http://schemas.microsoft.com/office/powerpoint/2010/main" val="1816513724"/>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CAFE74B6-F93C-4D90-BE1A-7EFEDB35C0D4}" type="slidenum">
              <a:rPr lang="zh-CN" altLang="en-US" smtClean="0"/>
              <a:t>41</a:t>
            </a:fld>
            <a:endParaRPr lang="zh-CN" altLang="en-US"/>
          </a:p>
        </p:txBody>
      </p:sp>
    </p:spTree>
    <p:extLst>
      <p:ext uri="{BB962C8B-B14F-4D97-AF65-F5344CB8AC3E}">
        <p14:creationId xmlns:p14="http://schemas.microsoft.com/office/powerpoint/2010/main" val="576376179"/>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4A7EA511-84E0-4AE0-9842-AB0E10994BF1}" type="slidenum">
              <a:rPr lang="zh-CN" altLang="en-US" smtClean="0"/>
              <a:t>42</a:t>
            </a:fld>
            <a:endParaRPr lang="zh-CN" altLang="en-US"/>
          </a:p>
        </p:txBody>
      </p:sp>
    </p:spTree>
    <p:extLst>
      <p:ext uri="{BB962C8B-B14F-4D97-AF65-F5344CB8AC3E}">
        <p14:creationId xmlns:p14="http://schemas.microsoft.com/office/powerpoint/2010/main" val="2629397084"/>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rPr>
              <a:t>图论树主要关注顶点的连接性和无环性，而数据结构树则更侧重于数据的组织、管理和操作效率。</a:t>
            </a:r>
            <a:endParaRPr lang="en-US" altLang="zh-CN" sz="1800" dirty="0">
              <a:effectLst/>
              <a:latin typeface="Times New Roman" panose="02020603050405020304" pitchFamily="18" charset="0"/>
              <a:ea typeface="宋体" panose="02010600030101010101" pitchFamily="2" charset="-122"/>
              <a:cs typeface="Times New Roman" panose="02020603050405020304" pitchFamily="18" charset="0"/>
            </a:endParaRPr>
          </a:p>
          <a:p>
            <a:pPr marL="0" indent="892175" eaLnBrk="1" hangingPunct="1">
              <a:spcBef>
                <a:spcPct val="60000"/>
              </a:spcBef>
              <a:buNone/>
            </a:pPr>
            <a:r>
              <a:rPr lang="en-US" altLang="zh-CN" b="1" dirty="0">
                <a:solidFill>
                  <a:srgbClr val="FF0000"/>
                </a:solidFill>
              </a:rPr>
              <a:t>7.1 </a:t>
            </a:r>
            <a:r>
              <a:rPr lang="zh-CN" altLang="en-US" b="1" dirty="0">
                <a:solidFill>
                  <a:srgbClr val="FF0000"/>
                </a:solidFill>
              </a:rPr>
              <a:t>无向树</a:t>
            </a:r>
            <a:endParaRPr lang="en-US" altLang="zh-CN" b="1" dirty="0">
              <a:solidFill>
                <a:srgbClr val="FF0000"/>
              </a:solidFill>
            </a:endParaRPr>
          </a:p>
          <a:p>
            <a:pPr marL="0" indent="892175" eaLnBrk="1" hangingPunct="1">
              <a:spcBef>
                <a:spcPct val="60000"/>
              </a:spcBef>
              <a:buNone/>
            </a:pPr>
            <a:endParaRPr lang="zh-CN" altLang="en-US" b="1" dirty="0"/>
          </a:p>
          <a:p>
            <a:pPr marL="0" indent="892175" eaLnBrk="1" hangingPunct="1">
              <a:spcBef>
                <a:spcPct val="60000"/>
              </a:spcBef>
              <a:buNone/>
            </a:pPr>
            <a:r>
              <a:rPr lang="en-US" altLang="zh-CN" b="1" dirty="0"/>
              <a:t>7.2 </a:t>
            </a:r>
            <a:r>
              <a:rPr lang="zh-CN" altLang="en-US" b="1" dirty="0"/>
              <a:t>根树及其应用</a:t>
            </a:r>
            <a:endParaRPr lang="zh-CN" altLang="en-US" sz="1800" b="1" dirty="0">
              <a:solidFill>
                <a:srgbClr val="FF0000"/>
              </a:solidFill>
            </a:endParaRPr>
          </a:p>
          <a:p>
            <a:endParaRPr lang="zh-CN" altLang="en-US" dirty="0"/>
          </a:p>
        </p:txBody>
      </p:sp>
      <p:sp>
        <p:nvSpPr>
          <p:cNvPr id="4" name="灯片编号占位符 3"/>
          <p:cNvSpPr>
            <a:spLocks noGrp="1"/>
          </p:cNvSpPr>
          <p:nvPr>
            <p:ph type="sldNum" sz="quarter" idx="10"/>
          </p:nvPr>
        </p:nvSpPr>
        <p:spPr/>
        <p:txBody>
          <a:bodyPr/>
          <a:lstStyle/>
          <a:p>
            <a:fld id="{CAFE74B6-F93C-4D90-BE1A-7EFEDB35C0D4}" type="slidenum">
              <a:rPr lang="zh-CN" altLang="en-US" smtClean="0"/>
              <a:t>43</a:t>
            </a:fld>
            <a:endParaRPr lang="zh-CN" altLang="en-US"/>
          </a:p>
        </p:txBody>
      </p:sp>
    </p:spTree>
    <p:extLst>
      <p:ext uri="{BB962C8B-B14F-4D97-AF65-F5344CB8AC3E}">
        <p14:creationId xmlns:p14="http://schemas.microsoft.com/office/powerpoint/2010/main" val="1317921324"/>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7.2.1 </a:t>
            </a:r>
            <a:r>
              <a:rPr lang="zh-CN" altLang="en-US" dirty="0"/>
              <a:t>根树及其分类</a:t>
            </a:r>
          </a:p>
          <a:p>
            <a:r>
              <a:rPr lang="en-US" altLang="zh-CN" dirty="0"/>
              <a:t>7.2.2 </a:t>
            </a:r>
            <a:r>
              <a:rPr lang="zh-CN" altLang="en-US" dirty="0"/>
              <a:t>最优树与哈夫曼算法</a:t>
            </a:r>
          </a:p>
          <a:p>
            <a:r>
              <a:rPr lang="en-US" altLang="zh-CN" dirty="0"/>
              <a:t>7.2.3 </a:t>
            </a:r>
            <a:r>
              <a:rPr lang="zh-CN" altLang="en-US" dirty="0"/>
              <a:t>最佳前缀码</a:t>
            </a:r>
          </a:p>
          <a:p>
            <a:r>
              <a:rPr lang="en-US" altLang="zh-CN" dirty="0"/>
              <a:t>7.2.4 </a:t>
            </a:r>
            <a:r>
              <a:rPr lang="zh-CN" altLang="en-US" dirty="0"/>
              <a:t>根树的行遍及其应用</a:t>
            </a:r>
          </a:p>
          <a:p>
            <a:pPr marL="1884363" lvl="1" indent="277813" eaLnBrk="1" hangingPunct="1"/>
            <a:r>
              <a:rPr lang="zh-CN" altLang="en-US" b="1" dirty="0"/>
              <a:t>中序行遍法、前序行遍法和后序行遍法</a:t>
            </a:r>
          </a:p>
          <a:p>
            <a:pPr marL="1884363" lvl="1" indent="277813" eaLnBrk="1" hangingPunct="1"/>
            <a:r>
              <a:rPr lang="zh-CN" altLang="en-US" b="1" dirty="0"/>
              <a:t>波兰符号法与逆波兰符号法</a:t>
            </a:r>
          </a:p>
          <a:p>
            <a:endParaRPr lang="zh-CN" altLang="en-US" dirty="0"/>
          </a:p>
        </p:txBody>
      </p:sp>
      <p:sp>
        <p:nvSpPr>
          <p:cNvPr id="4" name="灯片编号占位符 3"/>
          <p:cNvSpPr>
            <a:spLocks noGrp="1"/>
          </p:cNvSpPr>
          <p:nvPr>
            <p:ph type="sldNum" sz="quarter" idx="10"/>
          </p:nvPr>
        </p:nvSpPr>
        <p:spPr/>
        <p:txBody>
          <a:bodyPr/>
          <a:lstStyle/>
          <a:p>
            <a:fld id="{CAFE74B6-F93C-4D90-BE1A-7EFEDB35C0D4}" type="slidenum">
              <a:rPr lang="zh-CN" altLang="en-US" smtClean="0"/>
              <a:t>44</a:t>
            </a:fld>
            <a:endParaRPr lang="zh-CN" altLang="en-US"/>
          </a:p>
        </p:txBody>
      </p:sp>
    </p:spTree>
    <p:extLst>
      <p:ext uri="{BB962C8B-B14F-4D97-AF65-F5344CB8AC3E}">
        <p14:creationId xmlns:p14="http://schemas.microsoft.com/office/powerpoint/2010/main" val="947957836"/>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gn="just" eaLnBrk="1" hangingPunct="1">
              <a:lnSpc>
                <a:spcPct val="130000"/>
              </a:lnSpc>
              <a:spcBef>
                <a:spcPct val="25000"/>
              </a:spcBef>
              <a:buFontTx/>
              <a:buNone/>
            </a:pPr>
            <a:r>
              <a:rPr lang="zh-CN" altLang="en-US" sz="1200" b="1" dirty="0">
                <a:solidFill>
                  <a:srgbClr val="FF0000"/>
                </a:solidFill>
              </a:rPr>
              <a:t>有向树</a:t>
            </a:r>
            <a:r>
              <a:rPr lang="zh-CN" altLang="en-US" sz="1200" b="1" dirty="0"/>
              <a:t>: 略去方向后为无向树的有向图</a:t>
            </a:r>
          </a:p>
          <a:p>
            <a:pPr algn="just" eaLnBrk="1" hangingPunct="1">
              <a:lnSpc>
                <a:spcPct val="130000"/>
              </a:lnSpc>
              <a:spcBef>
                <a:spcPct val="25000"/>
              </a:spcBef>
              <a:buFontTx/>
              <a:buNone/>
            </a:pPr>
            <a:r>
              <a:rPr lang="zh-CN" altLang="en-US" sz="1200" b="1" dirty="0">
                <a:solidFill>
                  <a:srgbClr val="FF0000"/>
                </a:solidFill>
              </a:rPr>
              <a:t>根树</a:t>
            </a:r>
            <a:r>
              <a:rPr lang="zh-CN" altLang="en-US" sz="1200" b="1" dirty="0"/>
              <a:t>: 有一个顶点入度为0, 其余的入度均为1的非平凡的有向树</a:t>
            </a:r>
          </a:p>
          <a:p>
            <a:pPr algn="just" eaLnBrk="1" hangingPunct="1">
              <a:lnSpc>
                <a:spcPct val="130000"/>
              </a:lnSpc>
              <a:spcBef>
                <a:spcPct val="25000"/>
              </a:spcBef>
              <a:buFontTx/>
              <a:buNone/>
            </a:pPr>
            <a:r>
              <a:rPr lang="zh-CN" altLang="en-US" sz="1200" b="1" dirty="0">
                <a:solidFill>
                  <a:srgbClr val="FF0000"/>
                </a:solidFill>
              </a:rPr>
              <a:t>树根</a:t>
            </a:r>
            <a:r>
              <a:rPr lang="zh-CN" altLang="en-US" sz="1200" b="1" dirty="0"/>
              <a:t>: 有向树中入度为0的顶点</a:t>
            </a:r>
          </a:p>
          <a:p>
            <a:pPr algn="just" eaLnBrk="1" hangingPunct="1">
              <a:lnSpc>
                <a:spcPct val="130000"/>
              </a:lnSpc>
              <a:spcBef>
                <a:spcPct val="25000"/>
              </a:spcBef>
              <a:buFontTx/>
              <a:buNone/>
            </a:pPr>
            <a:r>
              <a:rPr lang="zh-CN" altLang="en-US" sz="1200" b="1" dirty="0">
                <a:solidFill>
                  <a:srgbClr val="FF0000"/>
                </a:solidFill>
              </a:rPr>
              <a:t>树叶</a:t>
            </a:r>
            <a:r>
              <a:rPr lang="zh-CN" altLang="en-US" sz="1200" b="1" dirty="0"/>
              <a:t>: 有向树中入度为1, 出度为0的顶点</a:t>
            </a:r>
          </a:p>
          <a:p>
            <a:pPr algn="just" eaLnBrk="1" hangingPunct="1">
              <a:lnSpc>
                <a:spcPct val="130000"/>
              </a:lnSpc>
              <a:spcBef>
                <a:spcPct val="25000"/>
              </a:spcBef>
              <a:buFontTx/>
              <a:buNone/>
            </a:pPr>
            <a:r>
              <a:rPr lang="zh-CN" altLang="en-US" sz="1200" b="1" dirty="0">
                <a:solidFill>
                  <a:srgbClr val="FF0000"/>
                </a:solidFill>
              </a:rPr>
              <a:t>内点</a:t>
            </a:r>
            <a:r>
              <a:rPr lang="zh-CN" altLang="en-US" sz="1200" b="1" dirty="0"/>
              <a:t>: 有向树中入度为1, 出度大于0的顶点</a:t>
            </a:r>
          </a:p>
          <a:p>
            <a:pPr algn="just" eaLnBrk="1" hangingPunct="1">
              <a:lnSpc>
                <a:spcPct val="130000"/>
              </a:lnSpc>
              <a:spcBef>
                <a:spcPct val="25000"/>
              </a:spcBef>
              <a:buFontTx/>
              <a:buNone/>
            </a:pPr>
            <a:r>
              <a:rPr lang="zh-CN" altLang="en-US" sz="1200" b="1" dirty="0">
                <a:solidFill>
                  <a:srgbClr val="FF0000"/>
                </a:solidFill>
              </a:rPr>
              <a:t>分支点</a:t>
            </a:r>
            <a:r>
              <a:rPr lang="zh-CN" altLang="en-US" sz="1200" b="1" dirty="0"/>
              <a:t>: 树根与内点的总称</a:t>
            </a:r>
          </a:p>
          <a:p>
            <a:pPr algn="just" eaLnBrk="1" hangingPunct="1">
              <a:lnSpc>
                <a:spcPct val="130000"/>
              </a:lnSpc>
              <a:spcBef>
                <a:spcPct val="25000"/>
              </a:spcBef>
              <a:buFontTx/>
              <a:buNone/>
            </a:pPr>
            <a:r>
              <a:rPr lang="zh-CN" altLang="en-US" sz="1200" b="1" dirty="0">
                <a:solidFill>
                  <a:srgbClr val="FF0000"/>
                </a:solidFill>
              </a:rPr>
              <a:t>顶点</a:t>
            </a:r>
            <a:r>
              <a:rPr lang="en-US" altLang="zh-CN" sz="1200" b="1" i="1" dirty="0">
                <a:solidFill>
                  <a:srgbClr val="FF0000"/>
                </a:solidFill>
              </a:rPr>
              <a:t>v</a:t>
            </a:r>
            <a:r>
              <a:rPr lang="zh-CN" altLang="en-US" sz="1200" b="1" dirty="0">
                <a:solidFill>
                  <a:srgbClr val="FF0000"/>
                </a:solidFill>
              </a:rPr>
              <a:t>的层数</a:t>
            </a:r>
            <a:r>
              <a:rPr lang="zh-CN" altLang="en-US" sz="1200" b="1" dirty="0"/>
              <a:t>: 从树根到</a:t>
            </a:r>
            <a:r>
              <a:rPr lang="en-US" altLang="zh-CN" sz="1200" b="1" i="1" dirty="0"/>
              <a:t>v</a:t>
            </a:r>
            <a:r>
              <a:rPr lang="zh-CN" altLang="en-US" sz="1200" b="1" dirty="0"/>
              <a:t>的通路长度</a:t>
            </a:r>
          </a:p>
          <a:p>
            <a:pPr algn="just" eaLnBrk="1" hangingPunct="1">
              <a:lnSpc>
                <a:spcPct val="130000"/>
              </a:lnSpc>
              <a:spcBef>
                <a:spcPct val="25000"/>
              </a:spcBef>
              <a:buFontTx/>
              <a:buNone/>
            </a:pPr>
            <a:r>
              <a:rPr lang="zh-CN" altLang="en-US" sz="1200" b="1" dirty="0">
                <a:solidFill>
                  <a:srgbClr val="FF0000"/>
                </a:solidFill>
              </a:rPr>
              <a:t>树高</a:t>
            </a:r>
            <a:r>
              <a:rPr lang="zh-CN" altLang="en-US" sz="1200" b="1" dirty="0"/>
              <a:t>: 有向树中顶点的最大层数</a:t>
            </a:r>
          </a:p>
          <a:p>
            <a:endParaRPr lang="zh-CN" altLang="en-US" dirty="0"/>
          </a:p>
        </p:txBody>
      </p:sp>
      <p:sp>
        <p:nvSpPr>
          <p:cNvPr id="4" name="灯片编号占位符 3"/>
          <p:cNvSpPr>
            <a:spLocks noGrp="1"/>
          </p:cNvSpPr>
          <p:nvPr>
            <p:ph type="sldNum" sz="quarter" idx="10"/>
          </p:nvPr>
        </p:nvSpPr>
        <p:spPr/>
        <p:txBody>
          <a:bodyPr/>
          <a:lstStyle/>
          <a:p>
            <a:fld id="{CAFE74B6-F93C-4D90-BE1A-7EFEDB35C0D4}" type="slidenum">
              <a:rPr lang="zh-CN" altLang="en-US" smtClean="0"/>
              <a:t>45</a:t>
            </a:fld>
            <a:endParaRPr lang="zh-CN" altLang="en-US"/>
          </a:p>
        </p:txBody>
      </p:sp>
    </p:spTree>
    <p:extLst>
      <p:ext uri="{BB962C8B-B14F-4D97-AF65-F5344CB8AC3E}">
        <p14:creationId xmlns:p14="http://schemas.microsoft.com/office/powerpoint/2010/main" val="1558861888"/>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gn="just">
              <a:buFontTx/>
              <a:buNone/>
            </a:pPr>
            <a:r>
              <a:rPr lang="zh-CN" altLang="en-US" sz="1200" b="1" dirty="0">
                <a:solidFill>
                  <a:srgbClr val="FF0000"/>
                </a:solidFill>
                <a:latin typeface="宋体" panose="02010600030101010101" pitchFamily="2" charset="-122"/>
              </a:rPr>
              <a:t>根树的画法</a:t>
            </a:r>
            <a:r>
              <a:rPr lang="zh-CN" altLang="en-US" sz="1200" b="1" dirty="0">
                <a:latin typeface="宋体" panose="02010600030101010101" pitchFamily="2" charset="-122"/>
              </a:rPr>
              <a:t>:树根放最上方,省去所有有向边上的箭头</a:t>
            </a:r>
          </a:p>
          <a:p>
            <a:pPr algn="just">
              <a:buFontTx/>
              <a:buNone/>
            </a:pPr>
            <a:r>
              <a:rPr lang="zh-CN" altLang="en-US" sz="1200" b="1" dirty="0">
                <a:solidFill>
                  <a:srgbClr val="00B0F0"/>
                </a:solidFill>
                <a:latin typeface="宋体" panose="02010600030101010101" pitchFamily="2" charset="-122"/>
              </a:rPr>
              <a:t>例：</a:t>
            </a:r>
            <a:r>
              <a:rPr lang="zh-CN" altLang="en-US" sz="1200" b="1" dirty="0">
                <a:latin typeface="宋体" panose="02010600030101010101" pitchFamily="2" charset="-122"/>
              </a:rPr>
              <a:t>右图中</a:t>
            </a:r>
          </a:p>
          <a:p>
            <a:pPr algn="just">
              <a:buFontTx/>
              <a:buNone/>
            </a:pPr>
            <a:r>
              <a:rPr lang="zh-CN" altLang="en-US" sz="1200" b="1" i="1" dirty="0">
                <a:latin typeface="Times New Roman" panose="02020603050405020304" pitchFamily="18" charset="0"/>
                <a:cs typeface="Times New Roman" panose="02020603050405020304" pitchFamily="18" charset="0"/>
              </a:rPr>
              <a:t>    </a:t>
            </a:r>
            <a:r>
              <a:rPr lang="en-US" altLang="zh-CN" sz="1200" b="1" i="1" dirty="0">
                <a:latin typeface="Times New Roman" panose="02020603050405020304" pitchFamily="18" charset="0"/>
                <a:cs typeface="Times New Roman" panose="02020603050405020304" pitchFamily="18" charset="0"/>
              </a:rPr>
              <a:t>a</a:t>
            </a:r>
            <a:r>
              <a:rPr lang="zh-CN" altLang="en-US" sz="1200" b="1" dirty="0">
                <a:latin typeface="Times New Roman" panose="02020603050405020304" pitchFamily="18" charset="0"/>
                <a:cs typeface="Times New Roman" panose="02020603050405020304" pitchFamily="18" charset="0"/>
              </a:rPr>
              <a:t>是树根</a:t>
            </a:r>
          </a:p>
          <a:p>
            <a:pPr algn="just">
              <a:buFontTx/>
              <a:buNone/>
            </a:pPr>
            <a:r>
              <a:rPr lang="zh-CN" altLang="en-US" sz="1200" b="1" i="1" dirty="0">
                <a:latin typeface="Times New Roman" panose="02020603050405020304" pitchFamily="18" charset="0"/>
                <a:cs typeface="Times New Roman" panose="02020603050405020304" pitchFamily="18" charset="0"/>
              </a:rPr>
              <a:t>    </a:t>
            </a:r>
            <a:r>
              <a:rPr lang="en-US" altLang="zh-CN" sz="1200" b="1" i="1" dirty="0" err="1">
                <a:latin typeface="Times New Roman" panose="02020603050405020304" pitchFamily="18" charset="0"/>
                <a:cs typeface="Times New Roman" panose="02020603050405020304" pitchFamily="18" charset="0"/>
              </a:rPr>
              <a:t>b,e,f,h,i</a:t>
            </a:r>
            <a:r>
              <a:rPr lang="zh-CN" altLang="en-US" sz="1200" b="1" dirty="0">
                <a:latin typeface="Times New Roman" panose="02020603050405020304" pitchFamily="18" charset="0"/>
                <a:cs typeface="Times New Roman" panose="02020603050405020304" pitchFamily="18" charset="0"/>
              </a:rPr>
              <a:t>是树叶</a:t>
            </a:r>
          </a:p>
          <a:p>
            <a:pPr algn="just">
              <a:buFontTx/>
              <a:buNone/>
            </a:pPr>
            <a:r>
              <a:rPr lang="zh-CN" altLang="en-US" sz="1200" b="1" i="1" dirty="0">
                <a:latin typeface="Times New Roman" panose="02020603050405020304" pitchFamily="18" charset="0"/>
                <a:cs typeface="Times New Roman" panose="02020603050405020304" pitchFamily="18" charset="0"/>
              </a:rPr>
              <a:t>    </a:t>
            </a:r>
            <a:r>
              <a:rPr lang="en-US" altLang="zh-CN" sz="1200" b="1" i="1" dirty="0" err="1">
                <a:latin typeface="Times New Roman" panose="02020603050405020304" pitchFamily="18" charset="0"/>
                <a:cs typeface="Times New Roman" panose="02020603050405020304" pitchFamily="18" charset="0"/>
              </a:rPr>
              <a:t>c,d,g</a:t>
            </a:r>
            <a:r>
              <a:rPr lang="zh-CN" altLang="en-US" sz="1200" b="1" dirty="0">
                <a:latin typeface="Times New Roman" panose="02020603050405020304" pitchFamily="18" charset="0"/>
                <a:cs typeface="Times New Roman" panose="02020603050405020304" pitchFamily="18" charset="0"/>
              </a:rPr>
              <a:t>是内点</a:t>
            </a:r>
          </a:p>
          <a:p>
            <a:pPr algn="just">
              <a:buFontTx/>
              <a:buNone/>
            </a:pPr>
            <a:r>
              <a:rPr lang="zh-CN" altLang="en-US" sz="1200" b="1" i="1" dirty="0">
                <a:latin typeface="Times New Roman" panose="02020603050405020304" pitchFamily="18" charset="0"/>
                <a:cs typeface="Times New Roman" panose="02020603050405020304" pitchFamily="18" charset="0"/>
              </a:rPr>
              <a:t>    </a:t>
            </a:r>
            <a:r>
              <a:rPr lang="en-US" altLang="zh-CN" sz="1200" b="1" i="1" dirty="0" err="1">
                <a:latin typeface="Times New Roman" panose="02020603050405020304" pitchFamily="18" charset="0"/>
                <a:cs typeface="Times New Roman" panose="02020603050405020304" pitchFamily="18" charset="0"/>
              </a:rPr>
              <a:t>a,c,d,g</a:t>
            </a:r>
            <a:r>
              <a:rPr lang="zh-CN" altLang="en-US" sz="1200" b="1" dirty="0">
                <a:latin typeface="Times New Roman" panose="02020603050405020304" pitchFamily="18" charset="0"/>
                <a:cs typeface="Times New Roman" panose="02020603050405020304" pitchFamily="18" charset="0"/>
              </a:rPr>
              <a:t>是分支点</a:t>
            </a:r>
          </a:p>
          <a:p>
            <a:pPr algn="just">
              <a:buFontTx/>
              <a:buNone/>
            </a:pPr>
            <a:r>
              <a:rPr lang="zh-CN" altLang="en-US" sz="1200" b="1" i="1" dirty="0">
                <a:latin typeface="Times New Roman" panose="02020603050405020304" pitchFamily="18" charset="0"/>
                <a:cs typeface="Times New Roman" panose="02020603050405020304" pitchFamily="18" charset="0"/>
              </a:rPr>
              <a:t>    </a:t>
            </a:r>
            <a:r>
              <a:rPr lang="en-US" altLang="zh-CN" sz="1200" b="1" i="1" dirty="0">
                <a:latin typeface="Times New Roman" panose="02020603050405020304" pitchFamily="18" charset="0"/>
                <a:cs typeface="Times New Roman" panose="02020603050405020304" pitchFamily="18" charset="0"/>
              </a:rPr>
              <a:t>a</a:t>
            </a:r>
            <a:r>
              <a:rPr lang="zh-CN" altLang="en-US" sz="1200" b="1" dirty="0">
                <a:latin typeface="Times New Roman" panose="02020603050405020304" pitchFamily="18" charset="0"/>
                <a:cs typeface="Times New Roman" panose="02020603050405020304" pitchFamily="18" charset="0"/>
              </a:rPr>
              <a:t>为0层;1层有</a:t>
            </a:r>
            <a:r>
              <a:rPr lang="en-US" altLang="zh-CN" sz="1200" b="1" i="1" dirty="0" err="1">
                <a:latin typeface="Times New Roman" panose="02020603050405020304" pitchFamily="18" charset="0"/>
                <a:cs typeface="Times New Roman" panose="02020603050405020304" pitchFamily="18" charset="0"/>
              </a:rPr>
              <a:t>b,c</a:t>
            </a:r>
            <a:r>
              <a:rPr lang="en-US" altLang="zh-CN" sz="1200" b="1" dirty="0">
                <a:latin typeface="Times New Roman" panose="02020603050405020304" pitchFamily="18" charset="0"/>
                <a:cs typeface="Times New Roman" panose="02020603050405020304" pitchFamily="18" charset="0"/>
              </a:rPr>
              <a:t>; 2</a:t>
            </a:r>
            <a:r>
              <a:rPr lang="zh-CN" altLang="en-US" sz="1200" b="1" dirty="0">
                <a:latin typeface="Times New Roman" panose="02020603050405020304" pitchFamily="18" charset="0"/>
                <a:cs typeface="Times New Roman" panose="02020603050405020304" pitchFamily="18" charset="0"/>
              </a:rPr>
              <a:t>层有</a:t>
            </a:r>
            <a:r>
              <a:rPr lang="en-US" altLang="zh-CN" sz="1200" b="1" i="1" dirty="0" err="1">
                <a:latin typeface="Times New Roman" panose="02020603050405020304" pitchFamily="18" charset="0"/>
                <a:cs typeface="Times New Roman" panose="02020603050405020304" pitchFamily="18" charset="0"/>
              </a:rPr>
              <a:t>d,e,f</a:t>
            </a:r>
            <a:r>
              <a:rPr lang="en-US" altLang="zh-CN" sz="1200" b="1" dirty="0">
                <a:latin typeface="Times New Roman" panose="02020603050405020304" pitchFamily="18" charset="0"/>
                <a:cs typeface="Times New Roman" panose="02020603050405020304" pitchFamily="18" charset="0"/>
              </a:rPr>
              <a:t>;</a:t>
            </a:r>
          </a:p>
          <a:p>
            <a:pPr algn="just">
              <a:buFontTx/>
              <a:buNone/>
            </a:pPr>
            <a:r>
              <a:rPr lang="en-US" altLang="zh-CN" sz="1200" b="1" dirty="0">
                <a:latin typeface="Times New Roman" panose="02020603050405020304" pitchFamily="18" charset="0"/>
                <a:cs typeface="Times New Roman" panose="02020603050405020304" pitchFamily="18" charset="0"/>
              </a:rPr>
              <a:t>    3</a:t>
            </a:r>
            <a:r>
              <a:rPr lang="zh-CN" altLang="en-US" sz="1200" b="1" dirty="0">
                <a:latin typeface="Times New Roman" panose="02020603050405020304" pitchFamily="18" charset="0"/>
                <a:cs typeface="Times New Roman" panose="02020603050405020304" pitchFamily="18" charset="0"/>
              </a:rPr>
              <a:t>层有</a:t>
            </a:r>
            <a:r>
              <a:rPr lang="en-US" altLang="zh-CN" sz="1200" b="1" i="1" dirty="0" err="1">
                <a:latin typeface="Times New Roman" panose="02020603050405020304" pitchFamily="18" charset="0"/>
                <a:cs typeface="Times New Roman" panose="02020603050405020304" pitchFamily="18" charset="0"/>
              </a:rPr>
              <a:t>g,h</a:t>
            </a:r>
            <a:r>
              <a:rPr lang="en-US" altLang="zh-CN" sz="1200" b="1" dirty="0">
                <a:latin typeface="Times New Roman" panose="02020603050405020304" pitchFamily="18" charset="0"/>
                <a:cs typeface="Times New Roman" panose="02020603050405020304" pitchFamily="18" charset="0"/>
              </a:rPr>
              <a:t>; 4</a:t>
            </a:r>
            <a:r>
              <a:rPr lang="zh-CN" altLang="en-US" sz="1200" b="1" dirty="0">
                <a:latin typeface="Times New Roman" panose="02020603050405020304" pitchFamily="18" charset="0"/>
                <a:cs typeface="Times New Roman" panose="02020603050405020304" pitchFamily="18" charset="0"/>
              </a:rPr>
              <a:t>层有</a:t>
            </a:r>
            <a:r>
              <a:rPr lang="en-US" altLang="zh-CN" sz="1200" b="1" i="1" dirty="0" err="1">
                <a:latin typeface="Times New Roman" panose="02020603050405020304" pitchFamily="18" charset="0"/>
                <a:cs typeface="Times New Roman" panose="02020603050405020304" pitchFamily="18" charset="0"/>
              </a:rPr>
              <a:t>i</a:t>
            </a:r>
            <a:r>
              <a:rPr lang="en-US" altLang="zh-CN" sz="1200" b="1" dirty="0">
                <a:latin typeface="Times New Roman" panose="02020603050405020304" pitchFamily="18" charset="0"/>
                <a:cs typeface="Times New Roman" panose="02020603050405020304" pitchFamily="18" charset="0"/>
              </a:rPr>
              <a:t>.</a:t>
            </a:r>
          </a:p>
          <a:p>
            <a:pPr algn="just">
              <a:buFontTx/>
              <a:buNone/>
            </a:pPr>
            <a:r>
              <a:rPr lang="en-US" altLang="zh-CN" sz="1200" b="1" dirty="0">
                <a:latin typeface="Times New Roman" panose="02020603050405020304" pitchFamily="18" charset="0"/>
                <a:cs typeface="Times New Roman" panose="02020603050405020304" pitchFamily="18" charset="0"/>
              </a:rPr>
              <a:t>   </a:t>
            </a:r>
            <a:r>
              <a:rPr lang="zh-CN" altLang="en-US" sz="1200" b="1" dirty="0">
                <a:latin typeface="Times New Roman" panose="02020603050405020304" pitchFamily="18" charset="0"/>
                <a:cs typeface="Times New Roman" panose="02020603050405020304" pitchFamily="18" charset="0"/>
              </a:rPr>
              <a:t>树高为4</a:t>
            </a:r>
          </a:p>
          <a:p>
            <a:endParaRPr lang="zh-CN" altLang="en-US" dirty="0"/>
          </a:p>
        </p:txBody>
      </p:sp>
      <p:sp>
        <p:nvSpPr>
          <p:cNvPr id="4" name="灯片编号占位符 3"/>
          <p:cNvSpPr>
            <a:spLocks noGrp="1"/>
          </p:cNvSpPr>
          <p:nvPr>
            <p:ph type="sldNum" sz="quarter" idx="10"/>
          </p:nvPr>
        </p:nvSpPr>
        <p:spPr/>
        <p:txBody>
          <a:bodyPr/>
          <a:lstStyle/>
          <a:p>
            <a:fld id="{CAFE74B6-F93C-4D90-BE1A-7EFEDB35C0D4}" type="slidenum">
              <a:rPr lang="zh-CN" altLang="en-US" smtClean="0"/>
              <a:t>46</a:t>
            </a:fld>
            <a:endParaRPr lang="zh-CN" altLang="en-US"/>
          </a:p>
        </p:txBody>
      </p:sp>
    </p:spTree>
    <p:extLst>
      <p:ext uri="{BB962C8B-B14F-4D97-AF65-F5344CB8AC3E}">
        <p14:creationId xmlns:p14="http://schemas.microsoft.com/office/powerpoint/2010/main" val="3120073868"/>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家族树和有序树都可以视为根树的特定类型或应用，但它们侧重点不同，家族树关注于血缘关系的表示，而</a:t>
            </a:r>
            <a:r>
              <a:rPr lang="zh-CN" altLang="zh-CN" sz="1800" kern="100" dirty="0">
                <a:effectLst/>
                <a:highlight>
                  <a:srgbClr val="FFFF00"/>
                </a:highlight>
                <a:latin typeface="Times New Roman" panose="02020603050405020304" pitchFamily="18" charset="0"/>
                <a:ea typeface="宋体" panose="02010600030101010101" pitchFamily="2" charset="-122"/>
                <a:cs typeface="Times New Roman" panose="02020603050405020304" pitchFamily="18" charset="0"/>
              </a:rPr>
              <a:t>有序树关注于节点之间顺序</a:t>
            </a:r>
            <a:r>
              <a:rPr lang="zh-CN"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的维护。</a:t>
            </a:r>
          </a:p>
          <a:p>
            <a:endParaRPr lang="en-US" altLang="zh-CN" b="0" i="0" dirty="0">
              <a:solidFill>
                <a:srgbClr val="0D0D0D"/>
              </a:solidFill>
              <a:effectLst/>
              <a:latin typeface="Söhne"/>
            </a:endParaRPr>
          </a:p>
          <a:p>
            <a:r>
              <a:rPr lang="zh-CN" altLang="en-US" b="0" i="0" dirty="0">
                <a:solidFill>
                  <a:srgbClr val="0D0D0D"/>
                </a:solidFill>
                <a:effectLst/>
                <a:latin typeface="Söhne"/>
              </a:rPr>
              <a:t>家族树的特点和用途使其成为一种特殊的应用场景下的树结构，而不是计算机科学或图论中的一种</a:t>
            </a:r>
            <a:r>
              <a:rPr lang="en-US" altLang="zh-CN" b="0" i="0" dirty="0">
                <a:solidFill>
                  <a:srgbClr val="0D0D0D"/>
                </a:solidFill>
                <a:effectLst/>
                <a:latin typeface="Söhne"/>
              </a:rPr>
              <a:t>"</a:t>
            </a:r>
            <a:r>
              <a:rPr lang="zh-CN" altLang="en-US" b="0" i="0" dirty="0">
                <a:solidFill>
                  <a:srgbClr val="0D0D0D"/>
                </a:solidFill>
                <a:effectLst/>
                <a:latin typeface="Söhne"/>
              </a:rPr>
              <a:t>正规</a:t>
            </a:r>
            <a:r>
              <a:rPr lang="en-US" altLang="zh-CN" b="0" i="0" dirty="0">
                <a:solidFill>
                  <a:srgbClr val="0D0D0D"/>
                </a:solidFill>
                <a:effectLst/>
                <a:latin typeface="Söhne"/>
              </a:rPr>
              <a:t>"</a:t>
            </a:r>
            <a:r>
              <a:rPr lang="zh-CN" altLang="en-US" b="0" i="0" dirty="0">
                <a:solidFill>
                  <a:srgbClr val="0D0D0D"/>
                </a:solidFill>
                <a:effectLst/>
                <a:latin typeface="Söhne"/>
              </a:rPr>
              <a:t>分类。不过，理解家族树仍然可以帮助我们学习和理解树形结构的通用特性，如节点、边、层次关系等，以及如何利用这些结构来组织和处理复杂的关系数据。</a:t>
            </a:r>
            <a:endParaRPr lang="en-US" altLang="zh-CN" b="0" i="0" dirty="0">
              <a:solidFill>
                <a:srgbClr val="0D0D0D"/>
              </a:solidFill>
              <a:effectLst/>
              <a:latin typeface="Söhne"/>
            </a:endParaRPr>
          </a:p>
          <a:p>
            <a:r>
              <a:rPr lang="zh-CN" altLang="en-US" sz="1200" b="1" dirty="0">
                <a:solidFill>
                  <a:srgbClr val="00B0F0"/>
                </a:solidFill>
                <a:latin typeface="Times New Roman" panose="02020603050405020304" pitchFamily="18" charset="0"/>
                <a:cs typeface="Times New Roman" panose="02020603050405020304" pitchFamily="18" charset="0"/>
              </a:rPr>
              <a:t>注：</a:t>
            </a:r>
            <a:r>
              <a:rPr lang="zh-CN" altLang="en-US" sz="1200" b="1" dirty="0">
                <a:latin typeface="Calibri" panose="020F0502020204030204" pitchFamily="34" charset="0"/>
                <a:cs typeface="Calibri" panose="020F0502020204030204" pitchFamily="34" charset="0"/>
              </a:rPr>
              <a:t>①</a:t>
            </a:r>
            <a:r>
              <a:rPr lang="zh-CN" altLang="zh-CN" sz="1200" b="1" dirty="0">
                <a:effectLst/>
                <a:latin typeface="Times New Roman" panose="02020603050405020304" pitchFamily="18" charset="0"/>
                <a:ea typeface="宋体" panose="02010600030101010101" pitchFamily="2" charset="-122"/>
                <a:cs typeface="Times New Roman" panose="02020603050405020304" pitchFamily="18" charset="0"/>
              </a:rPr>
              <a:t>家族树和有序树可视为根树的特定类型或应用</a:t>
            </a:r>
            <a:r>
              <a:rPr lang="en-US" altLang="zh-CN" sz="1200" b="1" dirty="0">
                <a:latin typeface="Times New Roman" panose="02020603050405020304" pitchFamily="18" charset="0"/>
                <a:ea typeface="宋体" panose="02010600030101010101" pitchFamily="2" charset="-122"/>
                <a:cs typeface="Times New Roman" panose="02020603050405020304" pitchFamily="18" charset="0"/>
              </a:rPr>
              <a:t>.</a:t>
            </a:r>
            <a:r>
              <a:rPr lang="en-US" altLang="zh-CN" sz="1200" b="1" dirty="0">
                <a:latin typeface="Calibri" panose="020F0502020204030204" pitchFamily="34" charset="0"/>
                <a:ea typeface="宋体" panose="02010600030101010101" pitchFamily="2" charset="-122"/>
                <a:cs typeface="Calibri" panose="020F0502020204030204" pitchFamily="34" charset="0"/>
              </a:rPr>
              <a:t>②</a:t>
            </a:r>
            <a:r>
              <a:rPr lang="zh-CN" altLang="zh-CN" sz="1200" b="1" dirty="0">
                <a:latin typeface="Times New Roman" panose="02020603050405020304" pitchFamily="18" charset="0"/>
                <a:ea typeface="宋体" panose="02010600030101010101" pitchFamily="2" charset="-122"/>
                <a:cs typeface="Times New Roman" panose="02020603050405020304" pitchFamily="18" charset="0"/>
              </a:rPr>
              <a:t>家族树关注于血缘关系的表示，有序树关注于节点之间</a:t>
            </a:r>
            <a:r>
              <a:rPr lang="zh-CN" altLang="en-US" sz="1200" b="1" dirty="0">
                <a:latin typeface="Times New Roman" panose="02020603050405020304" pitchFamily="18" charset="0"/>
                <a:ea typeface="宋体" panose="02010600030101010101" pitchFamily="2" charset="-122"/>
                <a:cs typeface="Times New Roman" panose="02020603050405020304" pitchFamily="18" charset="0"/>
              </a:rPr>
              <a:t>次</a:t>
            </a:r>
            <a:r>
              <a:rPr lang="zh-CN" altLang="zh-CN" sz="1200" b="1" dirty="0">
                <a:latin typeface="Times New Roman" panose="02020603050405020304" pitchFamily="18" charset="0"/>
                <a:ea typeface="宋体" panose="02010600030101010101" pitchFamily="2" charset="-122"/>
                <a:cs typeface="Times New Roman" panose="02020603050405020304" pitchFamily="18" charset="0"/>
              </a:rPr>
              <a:t>序的维护</a:t>
            </a:r>
            <a:r>
              <a:rPr lang="en-US" altLang="zh-CN" sz="1200" b="1" dirty="0">
                <a:latin typeface="Times New Roman" panose="02020603050405020304" pitchFamily="18" charset="0"/>
                <a:ea typeface="宋体" panose="02010600030101010101" pitchFamily="2" charset="-122"/>
                <a:cs typeface="Times New Roman" panose="02020603050405020304" pitchFamily="18" charset="0"/>
              </a:rPr>
              <a:t>. </a:t>
            </a:r>
            <a:r>
              <a:rPr lang="zh-CN" altLang="en-US" sz="1200" b="1" dirty="0">
                <a:latin typeface="Calibri" panose="020F0502020204030204" pitchFamily="34" charset="0"/>
                <a:ea typeface="宋体" panose="02010600030101010101" pitchFamily="2" charset="-122"/>
                <a:cs typeface="Calibri" panose="020F0502020204030204" pitchFamily="34" charset="0"/>
              </a:rPr>
              <a:t>③</a:t>
            </a:r>
            <a:r>
              <a:rPr lang="zh-CN" altLang="en-US" sz="1200" b="1" dirty="0">
                <a:latin typeface="Times New Roman" panose="02020603050405020304" pitchFamily="18" charset="0"/>
                <a:ea typeface="宋体" panose="02010600030101010101" pitchFamily="2" charset="-122"/>
                <a:cs typeface="Times New Roman" panose="02020603050405020304" pitchFamily="18" charset="0"/>
              </a:rPr>
              <a:t>家族树和有序树可帮助理解树中节点、边、层次结构，以及利用这些结构来组织和处理复杂的数据关系</a:t>
            </a:r>
            <a:endParaRPr lang="zh-CN" altLang="en-US" dirty="0"/>
          </a:p>
        </p:txBody>
      </p:sp>
      <p:sp>
        <p:nvSpPr>
          <p:cNvPr id="4" name="灯片编号占位符 3"/>
          <p:cNvSpPr>
            <a:spLocks noGrp="1"/>
          </p:cNvSpPr>
          <p:nvPr>
            <p:ph type="sldNum" sz="quarter" idx="10"/>
          </p:nvPr>
        </p:nvSpPr>
        <p:spPr/>
        <p:txBody>
          <a:bodyPr/>
          <a:lstStyle/>
          <a:p>
            <a:fld id="{CAFE74B6-F93C-4D90-BE1A-7EFEDB35C0D4}" type="slidenum">
              <a:rPr lang="zh-CN" altLang="en-US" smtClean="0"/>
              <a:t>47</a:t>
            </a:fld>
            <a:endParaRPr lang="zh-CN" altLang="en-US"/>
          </a:p>
        </p:txBody>
      </p:sp>
    </p:spTree>
    <p:extLst>
      <p:ext uri="{BB962C8B-B14F-4D97-AF65-F5344CB8AC3E}">
        <p14:creationId xmlns:p14="http://schemas.microsoft.com/office/powerpoint/2010/main" val="1271980059"/>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indent="0" algn="just" eaLnBrk="1" hangingPunct="1">
              <a:spcBef>
                <a:spcPct val="45000"/>
              </a:spcBef>
              <a:buFontTx/>
              <a:buNone/>
            </a:pPr>
            <a:r>
              <a:rPr lang="zh-CN" altLang="en-US" sz="1200" b="1" dirty="0"/>
              <a:t>根据根树中节点和子节点数、子节点的顺序性、树的规则性以及树的完全性对根树进行了细分</a:t>
            </a:r>
            <a:r>
              <a:rPr lang="en-US" altLang="zh-CN" sz="1200" b="1" dirty="0"/>
              <a:t>.</a:t>
            </a:r>
          </a:p>
          <a:p>
            <a:pPr algn="just" eaLnBrk="1" hangingPunct="1">
              <a:spcBef>
                <a:spcPct val="45000"/>
              </a:spcBef>
              <a:buFontTx/>
              <a:buNone/>
            </a:pPr>
            <a:r>
              <a:rPr lang="en-US" altLang="zh-CN" sz="1200" b="1" i="1" dirty="0">
                <a:solidFill>
                  <a:srgbClr val="FF3300"/>
                </a:solidFill>
              </a:rPr>
              <a:t>r</a:t>
            </a:r>
            <a:r>
              <a:rPr lang="zh-CN" altLang="en-US" sz="1200" b="1" dirty="0">
                <a:solidFill>
                  <a:srgbClr val="FF3300"/>
                </a:solidFill>
              </a:rPr>
              <a:t>元树</a:t>
            </a:r>
            <a:r>
              <a:rPr lang="zh-CN" altLang="en-US" sz="1200" b="1" dirty="0"/>
              <a:t>:根树的每个分支点至多有</a:t>
            </a:r>
            <a:r>
              <a:rPr lang="en-US" altLang="zh-CN" sz="1200" b="1" i="1" dirty="0"/>
              <a:t>r</a:t>
            </a:r>
            <a:r>
              <a:rPr lang="zh-CN" altLang="en-US" sz="1200" b="1" dirty="0"/>
              <a:t>个儿子</a:t>
            </a:r>
          </a:p>
          <a:p>
            <a:pPr algn="just" eaLnBrk="1" hangingPunct="1">
              <a:spcBef>
                <a:spcPct val="45000"/>
              </a:spcBef>
              <a:buFontTx/>
              <a:buNone/>
            </a:pPr>
            <a:r>
              <a:rPr lang="en-US" altLang="zh-CN" sz="1200" b="1" i="1" dirty="0">
                <a:solidFill>
                  <a:srgbClr val="FF3300"/>
                </a:solidFill>
              </a:rPr>
              <a:t>r</a:t>
            </a:r>
            <a:r>
              <a:rPr lang="zh-CN" altLang="en-US" sz="1200" b="1" dirty="0">
                <a:solidFill>
                  <a:srgbClr val="FF3300"/>
                </a:solidFill>
              </a:rPr>
              <a:t>元正则树</a:t>
            </a:r>
            <a:r>
              <a:rPr lang="zh-CN" altLang="en-US" sz="1200" b="1" dirty="0"/>
              <a:t>: 根树的每个分支点恰有</a:t>
            </a:r>
            <a:r>
              <a:rPr lang="en-US" altLang="zh-CN" sz="1200" b="1" i="1" dirty="0"/>
              <a:t>r</a:t>
            </a:r>
            <a:r>
              <a:rPr lang="zh-CN" altLang="en-US" sz="1200" b="1" dirty="0"/>
              <a:t>个儿子</a:t>
            </a:r>
          </a:p>
          <a:p>
            <a:pPr algn="just" eaLnBrk="1" hangingPunct="1">
              <a:spcBef>
                <a:spcPct val="45000"/>
              </a:spcBef>
              <a:buFontTx/>
              <a:buNone/>
            </a:pPr>
            <a:r>
              <a:rPr lang="en-US" altLang="zh-CN" sz="1200" b="1" i="1" dirty="0">
                <a:solidFill>
                  <a:srgbClr val="FF3300"/>
                </a:solidFill>
              </a:rPr>
              <a:t>r</a:t>
            </a:r>
            <a:r>
              <a:rPr lang="zh-CN" altLang="en-US" sz="1200" b="1" dirty="0">
                <a:solidFill>
                  <a:srgbClr val="FF3300"/>
                </a:solidFill>
              </a:rPr>
              <a:t>元完全正则树</a:t>
            </a:r>
            <a:r>
              <a:rPr lang="zh-CN" altLang="en-US" sz="1200" b="1" dirty="0"/>
              <a:t>: 所有树叶层数相同的</a:t>
            </a:r>
            <a:r>
              <a:rPr lang="en-US" altLang="zh-CN" sz="1200" b="1" i="1" dirty="0"/>
              <a:t>r</a:t>
            </a:r>
            <a:r>
              <a:rPr lang="zh-CN" altLang="en-US" sz="1200" b="1" dirty="0"/>
              <a:t>元正则树</a:t>
            </a:r>
          </a:p>
          <a:p>
            <a:pPr algn="just" eaLnBrk="1" hangingPunct="1">
              <a:spcBef>
                <a:spcPct val="45000"/>
              </a:spcBef>
              <a:buFontTx/>
              <a:buNone/>
            </a:pPr>
            <a:r>
              <a:rPr lang="en-US" altLang="zh-CN" sz="1200" b="1" i="1" dirty="0">
                <a:solidFill>
                  <a:srgbClr val="FF3300"/>
                </a:solidFill>
              </a:rPr>
              <a:t>r</a:t>
            </a:r>
            <a:r>
              <a:rPr lang="zh-CN" altLang="en-US" sz="1200" b="1" dirty="0">
                <a:solidFill>
                  <a:srgbClr val="FF3300"/>
                </a:solidFill>
              </a:rPr>
              <a:t>元有序树</a:t>
            </a:r>
            <a:r>
              <a:rPr lang="zh-CN" altLang="en-US" sz="1200" b="1" dirty="0"/>
              <a:t>: 有序的</a:t>
            </a:r>
            <a:r>
              <a:rPr lang="en-US" altLang="zh-CN" sz="1200" b="1" i="1" dirty="0"/>
              <a:t>r</a:t>
            </a:r>
            <a:r>
              <a:rPr lang="zh-CN" altLang="en-US" sz="1200" b="1" dirty="0"/>
              <a:t>元树</a:t>
            </a:r>
          </a:p>
          <a:p>
            <a:pPr eaLnBrk="1" hangingPunct="1">
              <a:spcBef>
                <a:spcPct val="45000"/>
              </a:spcBef>
              <a:buFontTx/>
              <a:buNone/>
            </a:pPr>
            <a:r>
              <a:rPr lang="en-US" altLang="zh-CN" sz="1200" b="1" i="1" dirty="0">
                <a:solidFill>
                  <a:srgbClr val="FF3300"/>
                </a:solidFill>
              </a:rPr>
              <a:t>r</a:t>
            </a:r>
            <a:r>
              <a:rPr lang="zh-CN" altLang="en-US" sz="1200" b="1" dirty="0">
                <a:solidFill>
                  <a:srgbClr val="FF3300"/>
                </a:solidFill>
              </a:rPr>
              <a:t>元正则有序树</a:t>
            </a:r>
            <a:r>
              <a:rPr lang="zh-CN" altLang="en-US" sz="1200" b="1" dirty="0"/>
              <a:t>: 有序的</a:t>
            </a:r>
            <a:r>
              <a:rPr lang="en-US" altLang="zh-CN" sz="1200" b="1" i="1" dirty="0"/>
              <a:t>r</a:t>
            </a:r>
            <a:r>
              <a:rPr lang="zh-CN" altLang="en-US" sz="1200" b="1" dirty="0"/>
              <a:t>元正则树</a:t>
            </a:r>
            <a:endParaRPr lang="zh-CN" altLang="en-US" sz="1200" b="1" i="1" dirty="0">
              <a:solidFill>
                <a:srgbClr val="FF0066"/>
              </a:solidFill>
            </a:endParaRPr>
          </a:p>
          <a:p>
            <a:pPr eaLnBrk="1" hangingPunct="1">
              <a:spcBef>
                <a:spcPct val="45000"/>
              </a:spcBef>
              <a:buFontTx/>
              <a:buNone/>
            </a:pPr>
            <a:r>
              <a:rPr lang="en-US" altLang="zh-CN" sz="1200" b="1" i="1" dirty="0">
                <a:solidFill>
                  <a:srgbClr val="FF3300"/>
                </a:solidFill>
              </a:rPr>
              <a:t>r</a:t>
            </a:r>
            <a:r>
              <a:rPr lang="zh-CN" altLang="en-US" sz="1200" b="1" dirty="0">
                <a:solidFill>
                  <a:srgbClr val="FF3300"/>
                </a:solidFill>
              </a:rPr>
              <a:t>元完全正则有序树</a:t>
            </a:r>
            <a:r>
              <a:rPr lang="zh-CN" altLang="en-US" sz="1200" b="1" dirty="0"/>
              <a:t>: 有序的</a:t>
            </a:r>
            <a:r>
              <a:rPr lang="en-US" altLang="zh-CN" sz="1200" b="1" i="1" dirty="0"/>
              <a:t>r</a:t>
            </a:r>
            <a:r>
              <a:rPr lang="zh-CN" altLang="en-US" sz="1200" b="1" dirty="0"/>
              <a:t>元完全正则树</a:t>
            </a:r>
            <a:endParaRPr lang="en-US" altLang="zh-CN" sz="1200" b="1" dirty="0"/>
          </a:p>
          <a:p>
            <a:endParaRPr lang="zh-CN" altLang="en-US" dirty="0"/>
          </a:p>
        </p:txBody>
      </p:sp>
      <p:sp>
        <p:nvSpPr>
          <p:cNvPr id="4" name="灯片编号占位符 3"/>
          <p:cNvSpPr>
            <a:spLocks noGrp="1"/>
          </p:cNvSpPr>
          <p:nvPr>
            <p:ph type="sldNum" sz="quarter" idx="10"/>
          </p:nvPr>
        </p:nvSpPr>
        <p:spPr/>
        <p:txBody>
          <a:bodyPr/>
          <a:lstStyle/>
          <a:p>
            <a:fld id="{CAFE74B6-F93C-4D90-BE1A-7EFEDB35C0D4}" type="slidenum">
              <a:rPr lang="zh-CN" altLang="en-US" smtClean="0"/>
              <a:t>48</a:t>
            </a:fld>
            <a:endParaRPr lang="zh-CN" altLang="en-US"/>
          </a:p>
        </p:txBody>
      </p:sp>
    </p:spTree>
    <p:extLst>
      <p:ext uri="{BB962C8B-B14F-4D97-AF65-F5344CB8AC3E}">
        <p14:creationId xmlns:p14="http://schemas.microsoft.com/office/powerpoint/2010/main" val="976547485"/>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7.2.1 </a:t>
            </a:r>
            <a:r>
              <a:rPr lang="zh-CN" altLang="en-US" dirty="0"/>
              <a:t>根树及其分类</a:t>
            </a:r>
          </a:p>
          <a:p>
            <a:r>
              <a:rPr lang="en-US" altLang="zh-CN" dirty="0"/>
              <a:t>7.2.2 </a:t>
            </a:r>
            <a:r>
              <a:rPr lang="zh-CN" altLang="en-US" dirty="0"/>
              <a:t>最优树与哈夫曼算法</a:t>
            </a:r>
          </a:p>
          <a:p>
            <a:r>
              <a:rPr lang="en-US" altLang="zh-CN" dirty="0"/>
              <a:t>7.2.3 </a:t>
            </a:r>
            <a:r>
              <a:rPr lang="zh-CN" altLang="en-US" dirty="0"/>
              <a:t>最佳前缀码</a:t>
            </a:r>
          </a:p>
          <a:p>
            <a:r>
              <a:rPr lang="en-US" altLang="zh-CN" dirty="0"/>
              <a:t>7.2.4 </a:t>
            </a:r>
            <a:r>
              <a:rPr lang="zh-CN" altLang="en-US" dirty="0"/>
              <a:t>根树的行遍及其应用</a:t>
            </a:r>
          </a:p>
          <a:p>
            <a:pPr marL="1884363" lvl="1" indent="277813" eaLnBrk="1" hangingPunct="1"/>
            <a:r>
              <a:rPr lang="zh-CN" altLang="en-US" b="1" dirty="0"/>
              <a:t>中序行遍法、前序行遍法和后序行遍法</a:t>
            </a:r>
          </a:p>
          <a:p>
            <a:pPr marL="1884363" lvl="1" indent="277813" eaLnBrk="1" hangingPunct="1"/>
            <a:r>
              <a:rPr lang="zh-CN" altLang="en-US" b="1" dirty="0"/>
              <a:t>波兰符号法与逆波兰符号法</a:t>
            </a:r>
          </a:p>
          <a:p>
            <a:endParaRPr lang="zh-CN" altLang="en-US" dirty="0"/>
          </a:p>
        </p:txBody>
      </p:sp>
      <p:sp>
        <p:nvSpPr>
          <p:cNvPr id="4" name="灯片编号占位符 3"/>
          <p:cNvSpPr>
            <a:spLocks noGrp="1"/>
          </p:cNvSpPr>
          <p:nvPr>
            <p:ph type="sldNum" sz="quarter" idx="10"/>
          </p:nvPr>
        </p:nvSpPr>
        <p:spPr/>
        <p:txBody>
          <a:bodyPr/>
          <a:lstStyle/>
          <a:p>
            <a:fld id="{CAFE74B6-F93C-4D90-BE1A-7EFEDB35C0D4}" type="slidenum">
              <a:rPr lang="zh-CN" altLang="en-US" smtClean="0"/>
              <a:t>49</a:t>
            </a:fld>
            <a:endParaRPr lang="zh-CN" altLang="en-US"/>
          </a:p>
        </p:txBody>
      </p:sp>
    </p:spTree>
    <p:extLst>
      <p:ext uri="{BB962C8B-B14F-4D97-AF65-F5344CB8AC3E}">
        <p14:creationId xmlns:p14="http://schemas.microsoft.com/office/powerpoint/2010/main" val="1820235603"/>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在</a:t>
            </a:r>
            <a:r>
              <a:rPr lang="zh-CN" altLang="zh-CN" sz="1800" kern="100" dirty="0">
                <a:effectLst/>
                <a:highlight>
                  <a:srgbClr val="FFFF00"/>
                </a:highlight>
                <a:latin typeface="Times New Roman" panose="02020603050405020304" pitchFamily="18" charset="0"/>
                <a:ea typeface="宋体" panose="02010600030101010101" pitchFamily="2" charset="-122"/>
                <a:cs typeface="Times New Roman" panose="02020603050405020304" pitchFamily="18" charset="0"/>
              </a:rPr>
              <a:t>设计和实现数据结构时，选择或设计一个最优的树结构可以大大提高程序的效率和性能</a:t>
            </a:r>
            <a:r>
              <a:rPr lang="zh-CN"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。最优树和最优二叉树的计算和构建通常涉及复杂的算法，包括动态规划、贪心算法等。</a:t>
            </a:r>
            <a:endParaRPr lang="en-US" altLang="zh-CN" sz="1800" kern="100" dirty="0">
              <a:effectLst/>
              <a:latin typeface="Times New Roman" panose="02020603050405020304" pitchFamily="18" charset="0"/>
              <a:ea typeface="宋体" panose="02010600030101010101" pitchFamily="2" charset="-122"/>
              <a:cs typeface="Times New Roman" panose="02020603050405020304" pitchFamily="18" charset="0"/>
            </a:endParaRPr>
          </a:p>
          <a:p>
            <a:pPr eaLnBrk="1" hangingPunct="1">
              <a:spcBef>
                <a:spcPct val="80000"/>
              </a:spcBef>
              <a:buClr>
                <a:schemeClr val="bg2"/>
              </a:buClr>
              <a:buSzPct val="75000"/>
              <a:buFont typeface="Wingdings" panose="05000000000000000000" pitchFamily="2" charset="2"/>
              <a:buNone/>
            </a:pPr>
            <a:r>
              <a:rPr kumimoji="0" lang="zh-CN" altLang="en-US" sz="1800" b="1" dirty="0">
                <a:solidFill>
                  <a:srgbClr val="FF3300"/>
                </a:solidFill>
                <a:cs typeface="Times New Roman" panose="02020603050405020304" pitchFamily="18" charset="0"/>
              </a:rPr>
              <a:t>定义：</a:t>
            </a:r>
            <a:r>
              <a:rPr kumimoji="0" lang="zh-CN" altLang="en-US" sz="1800" b="1" dirty="0">
                <a:cs typeface="Times New Roman" panose="02020603050405020304" pitchFamily="18" charset="0"/>
              </a:rPr>
              <a:t>设2元树</a:t>
            </a:r>
            <a:r>
              <a:rPr kumimoji="0" lang="en-US" altLang="zh-CN" sz="1800" b="1" i="1" dirty="0">
                <a:cs typeface="Times New Roman" panose="02020603050405020304" pitchFamily="18" charset="0"/>
              </a:rPr>
              <a:t>T</a:t>
            </a:r>
            <a:r>
              <a:rPr kumimoji="0" lang="zh-CN" altLang="en-US" sz="1800" b="1" dirty="0">
                <a:cs typeface="Times New Roman" panose="02020603050405020304" pitchFamily="18" charset="0"/>
              </a:rPr>
              <a:t>有</a:t>
            </a:r>
            <a:r>
              <a:rPr kumimoji="0" lang="en-US" altLang="zh-CN" sz="1800" b="1" i="1" dirty="0">
                <a:cs typeface="Times New Roman" panose="02020603050405020304" pitchFamily="18" charset="0"/>
              </a:rPr>
              <a:t>t</a:t>
            </a:r>
            <a:r>
              <a:rPr kumimoji="0" lang="zh-CN" altLang="en-US" sz="1800" b="1" dirty="0">
                <a:cs typeface="Times New Roman" panose="02020603050405020304" pitchFamily="18" charset="0"/>
              </a:rPr>
              <a:t>片树叶</a:t>
            </a:r>
            <a:r>
              <a:rPr kumimoji="0" lang="en-US" altLang="zh-CN" sz="1800" b="1" i="1" dirty="0">
                <a:cs typeface="Times New Roman" panose="02020603050405020304" pitchFamily="18" charset="0"/>
              </a:rPr>
              <a:t>v</a:t>
            </a:r>
            <a:r>
              <a:rPr kumimoji="0" lang="en-US" altLang="zh-CN" sz="1800" b="1" baseline="-30000" dirty="0">
                <a:cs typeface="Times New Roman" panose="02020603050405020304" pitchFamily="18" charset="0"/>
              </a:rPr>
              <a:t>1</a:t>
            </a:r>
            <a:r>
              <a:rPr kumimoji="0" lang="en-US" altLang="zh-CN" sz="1800" b="1" dirty="0">
                <a:cs typeface="Times New Roman" panose="02020603050405020304" pitchFamily="18" charset="0"/>
              </a:rPr>
              <a:t>, </a:t>
            </a:r>
            <a:r>
              <a:rPr kumimoji="0" lang="en-US" altLang="zh-CN" sz="1800" b="1" i="1" dirty="0">
                <a:cs typeface="Times New Roman" panose="02020603050405020304" pitchFamily="18" charset="0"/>
              </a:rPr>
              <a:t>v</a:t>
            </a:r>
            <a:r>
              <a:rPr kumimoji="0" lang="en-US" altLang="zh-CN" sz="1800" b="1" baseline="-30000" dirty="0">
                <a:cs typeface="Times New Roman" panose="02020603050405020304" pitchFamily="18" charset="0"/>
              </a:rPr>
              <a:t>2</a:t>
            </a:r>
            <a:r>
              <a:rPr kumimoji="0" lang="en-US" altLang="zh-CN" sz="1800" b="1" dirty="0">
                <a:cs typeface="Times New Roman" panose="02020603050405020304" pitchFamily="18" charset="0"/>
              </a:rPr>
              <a:t>, …, </a:t>
            </a:r>
            <a:r>
              <a:rPr kumimoji="0" lang="en-US" altLang="zh-CN" sz="1800" b="1" i="1" dirty="0" err="1">
                <a:cs typeface="Times New Roman" panose="02020603050405020304" pitchFamily="18" charset="0"/>
              </a:rPr>
              <a:t>v</a:t>
            </a:r>
            <a:r>
              <a:rPr kumimoji="0" lang="en-US" altLang="zh-CN" sz="1800" b="1" i="1" baseline="-30000" dirty="0" err="1">
                <a:cs typeface="Times New Roman" panose="02020603050405020304" pitchFamily="18" charset="0"/>
              </a:rPr>
              <a:t>t</a:t>
            </a:r>
            <a:r>
              <a:rPr kumimoji="0" lang="en-US" altLang="zh-CN" sz="1800" b="1" dirty="0">
                <a:cs typeface="Times New Roman" panose="02020603050405020304" pitchFamily="18" charset="0"/>
              </a:rPr>
              <a:t>, </a:t>
            </a:r>
            <a:r>
              <a:rPr kumimoji="0" lang="zh-CN" altLang="en-US" sz="1800" b="1" dirty="0">
                <a:cs typeface="Times New Roman" panose="02020603050405020304" pitchFamily="18" charset="0"/>
              </a:rPr>
              <a:t>树叶的权分别为</a:t>
            </a:r>
          </a:p>
          <a:p>
            <a:pPr eaLnBrk="1" hangingPunct="1">
              <a:spcBef>
                <a:spcPct val="60000"/>
              </a:spcBef>
              <a:buClr>
                <a:schemeClr val="bg2"/>
              </a:buClr>
              <a:buSzPct val="75000"/>
              <a:buFont typeface="Wingdings" panose="05000000000000000000" pitchFamily="2" charset="2"/>
              <a:buNone/>
            </a:pPr>
            <a:r>
              <a:rPr kumimoji="0" lang="en-US" altLang="zh-CN" sz="1800" b="1" i="1" dirty="0">
                <a:cs typeface="Times New Roman" panose="02020603050405020304" pitchFamily="18" charset="0"/>
              </a:rPr>
              <a:t>w</a:t>
            </a:r>
            <a:r>
              <a:rPr kumimoji="0" lang="en-US" altLang="zh-CN" sz="1800" b="1" baseline="-30000" dirty="0">
                <a:cs typeface="Times New Roman" panose="02020603050405020304" pitchFamily="18" charset="0"/>
              </a:rPr>
              <a:t>1</a:t>
            </a:r>
            <a:r>
              <a:rPr kumimoji="0" lang="en-US" altLang="zh-CN" sz="1800" b="1" dirty="0">
                <a:cs typeface="Times New Roman" panose="02020603050405020304" pitchFamily="18" charset="0"/>
              </a:rPr>
              <a:t>, </a:t>
            </a:r>
            <a:r>
              <a:rPr kumimoji="0" lang="en-US" altLang="zh-CN" sz="1800" b="1" i="1" dirty="0">
                <a:cs typeface="Times New Roman" panose="02020603050405020304" pitchFamily="18" charset="0"/>
              </a:rPr>
              <a:t>w</a:t>
            </a:r>
            <a:r>
              <a:rPr kumimoji="0" lang="en-US" altLang="zh-CN" sz="1800" b="1" baseline="-30000" dirty="0">
                <a:cs typeface="Times New Roman" panose="02020603050405020304" pitchFamily="18" charset="0"/>
              </a:rPr>
              <a:t>2</a:t>
            </a:r>
            <a:r>
              <a:rPr kumimoji="0" lang="en-US" altLang="zh-CN" sz="1800" b="1" dirty="0">
                <a:cs typeface="Times New Roman" panose="02020603050405020304" pitchFamily="18" charset="0"/>
              </a:rPr>
              <a:t>, …, </a:t>
            </a:r>
            <a:r>
              <a:rPr kumimoji="0" lang="en-US" altLang="zh-CN" sz="1800" b="1" i="1" dirty="0" err="1">
                <a:cs typeface="Times New Roman" panose="02020603050405020304" pitchFamily="18" charset="0"/>
              </a:rPr>
              <a:t>w</a:t>
            </a:r>
            <a:r>
              <a:rPr kumimoji="0" lang="en-US" altLang="zh-CN" sz="1800" b="1" i="1" baseline="-30000" dirty="0" err="1">
                <a:cs typeface="Times New Roman" panose="02020603050405020304" pitchFamily="18" charset="0"/>
              </a:rPr>
              <a:t>t</a:t>
            </a:r>
            <a:r>
              <a:rPr kumimoji="0" lang="en-US" altLang="zh-CN" sz="1800" b="1" dirty="0">
                <a:cs typeface="Times New Roman" panose="02020603050405020304" pitchFamily="18" charset="0"/>
              </a:rPr>
              <a:t>, </a:t>
            </a:r>
            <a:r>
              <a:rPr kumimoji="0" lang="zh-CN" altLang="en-US" sz="1800" b="1" dirty="0">
                <a:cs typeface="Times New Roman" panose="02020603050405020304" pitchFamily="18" charset="0"/>
              </a:rPr>
              <a:t>称                             为</a:t>
            </a:r>
            <a:r>
              <a:rPr kumimoji="0" lang="en-US" altLang="zh-CN" sz="1800" b="1" i="1" dirty="0">
                <a:solidFill>
                  <a:srgbClr val="FF3300"/>
                </a:solidFill>
                <a:cs typeface="Times New Roman" panose="02020603050405020304" pitchFamily="18" charset="0"/>
              </a:rPr>
              <a:t>T</a:t>
            </a:r>
            <a:r>
              <a:rPr kumimoji="0" lang="zh-CN" altLang="en-US" sz="1800" b="1" dirty="0">
                <a:solidFill>
                  <a:srgbClr val="FF3300"/>
                </a:solidFill>
                <a:cs typeface="Times New Roman" panose="02020603050405020304" pitchFamily="18" charset="0"/>
              </a:rPr>
              <a:t>的权</a:t>
            </a:r>
            <a:r>
              <a:rPr kumimoji="0" lang="zh-CN" altLang="en-US" sz="1800" b="1" dirty="0">
                <a:cs typeface="Times New Roman" panose="02020603050405020304" pitchFamily="18" charset="0"/>
              </a:rPr>
              <a:t>, 记作</a:t>
            </a:r>
            <a:r>
              <a:rPr kumimoji="0" lang="en-US" altLang="zh-CN" sz="1800" b="1" i="1" dirty="0">
                <a:cs typeface="Times New Roman" panose="02020603050405020304" pitchFamily="18" charset="0"/>
              </a:rPr>
              <a:t>W</a:t>
            </a:r>
            <a:r>
              <a:rPr kumimoji="0" lang="en-US" altLang="zh-CN" sz="1800" b="1" dirty="0">
                <a:cs typeface="Times New Roman" panose="02020603050405020304" pitchFamily="18" charset="0"/>
              </a:rPr>
              <a:t>(</a:t>
            </a:r>
            <a:r>
              <a:rPr kumimoji="0" lang="en-US" altLang="zh-CN" sz="1800" b="1" i="1" dirty="0">
                <a:cs typeface="Times New Roman" panose="02020603050405020304" pitchFamily="18" charset="0"/>
              </a:rPr>
              <a:t>T</a:t>
            </a:r>
            <a:r>
              <a:rPr kumimoji="0" lang="en-US" altLang="zh-CN" sz="1800" b="1" dirty="0">
                <a:cs typeface="Times New Roman" panose="02020603050405020304" pitchFamily="18" charset="0"/>
              </a:rPr>
              <a:t>), </a:t>
            </a:r>
            <a:r>
              <a:rPr kumimoji="0" lang="zh-CN" altLang="en-US" sz="1800" b="1" dirty="0">
                <a:cs typeface="Times New Roman" panose="02020603050405020304" pitchFamily="18" charset="0"/>
              </a:rPr>
              <a:t>其中</a:t>
            </a:r>
          </a:p>
          <a:p>
            <a:pPr eaLnBrk="1" hangingPunct="1">
              <a:spcBef>
                <a:spcPct val="60000"/>
              </a:spcBef>
              <a:buClr>
                <a:schemeClr val="bg2"/>
              </a:buClr>
              <a:buSzPct val="75000"/>
              <a:buFont typeface="Wingdings" panose="05000000000000000000" pitchFamily="2" charset="2"/>
              <a:buNone/>
            </a:pPr>
            <a:r>
              <a:rPr kumimoji="0" lang="en-US" altLang="zh-CN" sz="1800" b="1" i="1" dirty="0">
                <a:cs typeface="Times New Roman" panose="02020603050405020304" pitchFamily="18" charset="0"/>
              </a:rPr>
              <a:t>l</a:t>
            </a:r>
            <a:r>
              <a:rPr kumimoji="0" lang="en-US" altLang="zh-CN" sz="1800" b="1" dirty="0">
                <a:cs typeface="Times New Roman" panose="02020603050405020304" pitchFamily="18" charset="0"/>
              </a:rPr>
              <a:t>(</a:t>
            </a:r>
            <a:r>
              <a:rPr kumimoji="0" lang="en-US" altLang="zh-CN" sz="1800" b="1" i="1" dirty="0">
                <a:cs typeface="Times New Roman" panose="02020603050405020304" pitchFamily="18" charset="0"/>
              </a:rPr>
              <a:t>v</a:t>
            </a:r>
            <a:r>
              <a:rPr kumimoji="0" lang="en-US" altLang="zh-CN" sz="1800" b="1" i="1" baseline="-30000" dirty="0">
                <a:cs typeface="Times New Roman" panose="02020603050405020304" pitchFamily="18" charset="0"/>
              </a:rPr>
              <a:t>i</a:t>
            </a:r>
            <a:r>
              <a:rPr kumimoji="0" lang="en-US" altLang="zh-CN" sz="1800" b="1" dirty="0">
                <a:cs typeface="Times New Roman" panose="02020603050405020304" pitchFamily="18" charset="0"/>
              </a:rPr>
              <a:t>)</a:t>
            </a:r>
            <a:r>
              <a:rPr kumimoji="0" lang="zh-CN" altLang="en-US" sz="1800" b="1" dirty="0">
                <a:cs typeface="Times New Roman" panose="02020603050405020304" pitchFamily="18" charset="0"/>
              </a:rPr>
              <a:t>是</a:t>
            </a:r>
            <a:r>
              <a:rPr kumimoji="0" lang="en-US" altLang="zh-CN" sz="1800" b="1" i="1" dirty="0">
                <a:cs typeface="Times New Roman" panose="02020603050405020304" pitchFamily="18" charset="0"/>
              </a:rPr>
              <a:t>v</a:t>
            </a:r>
            <a:r>
              <a:rPr kumimoji="0" lang="en-US" altLang="zh-CN" sz="1800" b="1" i="1" baseline="-30000" dirty="0">
                <a:cs typeface="Times New Roman" panose="02020603050405020304" pitchFamily="18" charset="0"/>
              </a:rPr>
              <a:t>i</a:t>
            </a:r>
            <a:r>
              <a:rPr kumimoji="0" lang="zh-CN" altLang="en-US" sz="1800" b="1" dirty="0">
                <a:cs typeface="Times New Roman" panose="02020603050405020304" pitchFamily="18" charset="0"/>
              </a:rPr>
              <a:t>的层数. 在所有有</a:t>
            </a:r>
            <a:r>
              <a:rPr kumimoji="0" lang="en-US" altLang="zh-CN" sz="1800" b="1" i="1" dirty="0">
                <a:cs typeface="Times New Roman" panose="02020603050405020304" pitchFamily="18" charset="0"/>
              </a:rPr>
              <a:t>t</a:t>
            </a:r>
            <a:r>
              <a:rPr kumimoji="0" lang="zh-CN" altLang="en-US" sz="1800" b="1" dirty="0">
                <a:cs typeface="Times New Roman" panose="02020603050405020304" pitchFamily="18" charset="0"/>
              </a:rPr>
              <a:t>片树叶, 带权</a:t>
            </a:r>
            <a:r>
              <a:rPr kumimoji="0" lang="en-US" altLang="zh-CN" sz="1800" b="1" i="1" dirty="0">
                <a:cs typeface="Times New Roman" panose="02020603050405020304" pitchFamily="18" charset="0"/>
              </a:rPr>
              <a:t>w</a:t>
            </a:r>
            <a:r>
              <a:rPr kumimoji="0" lang="en-US" altLang="zh-CN" sz="1800" b="1" baseline="-30000" dirty="0">
                <a:cs typeface="Times New Roman" panose="02020603050405020304" pitchFamily="18" charset="0"/>
              </a:rPr>
              <a:t>1</a:t>
            </a:r>
            <a:r>
              <a:rPr kumimoji="0" lang="en-US" altLang="zh-CN" sz="1800" b="1" dirty="0">
                <a:cs typeface="Times New Roman" panose="02020603050405020304" pitchFamily="18" charset="0"/>
              </a:rPr>
              <a:t>, </a:t>
            </a:r>
            <a:r>
              <a:rPr kumimoji="0" lang="en-US" altLang="zh-CN" sz="1800" b="1" i="1" dirty="0">
                <a:cs typeface="Times New Roman" panose="02020603050405020304" pitchFamily="18" charset="0"/>
              </a:rPr>
              <a:t>w</a:t>
            </a:r>
            <a:r>
              <a:rPr kumimoji="0" lang="en-US" altLang="zh-CN" sz="1800" b="1" baseline="-30000" dirty="0">
                <a:cs typeface="Times New Roman" panose="02020603050405020304" pitchFamily="18" charset="0"/>
              </a:rPr>
              <a:t>2</a:t>
            </a:r>
            <a:r>
              <a:rPr kumimoji="0" lang="en-US" altLang="zh-CN" sz="1800" b="1" dirty="0">
                <a:cs typeface="Times New Roman" panose="02020603050405020304" pitchFamily="18" charset="0"/>
              </a:rPr>
              <a:t>, …, </a:t>
            </a:r>
            <a:r>
              <a:rPr kumimoji="0" lang="en-US" altLang="zh-CN" sz="1800" b="1" i="1" dirty="0" err="1">
                <a:cs typeface="Times New Roman" panose="02020603050405020304" pitchFamily="18" charset="0"/>
              </a:rPr>
              <a:t>w</a:t>
            </a:r>
            <a:r>
              <a:rPr kumimoji="0" lang="en-US" altLang="zh-CN" sz="1800" b="1" i="1" baseline="-30000" dirty="0" err="1">
                <a:cs typeface="Times New Roman" panose="02020603050405020304" pitchFamily="18" charset="0"/>
              </a:rPr>
              <a:t>t</a:t>
            </a:r>
            <a:r>
              <a:rPr kumimoji="0" lang="en-US" altLang="zh-CN" sz="1800" b="1" i="1" baseline="-30000" dirty="0">
                <a:cs typeface="Times New Roman" panose="02020603050405020304" pitchFamily="18" charset="0"/>
              </a:rPr>
              <a:t> </a:t>
            </a:r>
            <a:r>
              <a:rPr kumimoji="0" lang="zh-CN" altLang="en-US" sz="1800" b="1" dirty="0">
                <a:cs typeface="Times New Roman" panose="02020603050405020304" pitchFamily="18" charset="0"/>
              </a:rPr>
              <a:t>的 2元</a:t>
            </a:r>
          </a:p>
          <a:p>
            <a:pPr eaLnBrk="1" hangingPunct="1">
              <a:spcBef>
                <a:spcPct val="40000"/>
              </a:spcBef>
              <a:buClr>
                <a:schemeClr val="bg2"/>
              </a:buClr>
              <a:buSzPct val="75000"/>
              <a:buFont typeface="Wingdings" panose="05000000000000000000" pitchFamily="2" charset="2"/>
              <a:buNone/>
            </a:pPr>
            <a:r>
              <a:rPr kumimoji="0" lang="zh-CN" altLang="en-US" sz="1800" b="1" dirty="0">
                <a:cs typeface="Times New Roman" panose="02020603050405020304" pitchFamily="18" charset="0"/>
              </a:rPr>
              <a:t>树中, 权最小的二叉树称为</a:t>
            </a:r>
            <a:r>
              <a:rPr kumimoji="0" lang="zh-CN" altLang="en-US" sz="1800" b="1" dirty="0">
                <a:solidFill>
                  <a:srgbClr val="FF3300"/>
                </a:solidFill>
                <a:cs typeface="Times New Roman" panose="02020603050405020304" pitchFamily="18" charset="0"/>
              </a:rPr>
              <a:t>最优二叉树</a:t>
            </a:r>
            <a:endParaRPr kumimoji="0" lang="zh-CN" altLang="en-US" sz="1800" b="1" dirty="0">
              <a:cs typeface="Times New Roman" panose="02020603050405020304" pitchFamily="18" charset="0"/>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zh-CN" altLang="zh-CN" sz="1800" kern="100" dirty="0">
              <a:effectLst/>
              <a:latin typeface="Times New Roman" panose="02020603050405020304" pitchFamily="18" charset="0"/>
              <a:ea typeface="宋体" panose="02010600030101010101" pitchFamily="2" charset="-122"/>
              <a:cs typeface="Times New Roman" panose="02020603050405020304" pitchFamily="18" charset="0"/>
            </a:endParaRPr>
          </a:p>
          <a:p>
            <a:endParaRPr lang="zh-CN" altLang="en-US" dirty="0"/>
          </a:p>
        </p:txBody>
      </p:sp>
      <p:sp>
        <p:nvSpPr>
          <p:cNvPr id="4" name="灯片编号占位符 3"/>
          <p:cNvSpPr>
            <a:spLocks noGrp="1"/>
          </p:cNvSpPr>
          <p:nvPr>
            <p:ph type="sldNum" sz="quarter" idx="10"/>
          </p:nvPr>
        </p:nvSpPr>
        <p:spPr/>
        <p:txBody>
          <a:bodyPr/>
          <a:lstStyle/>
          <a:p>
            <a:fld id="{CAFE74B6-F93C-4D90-BE1A-7EFEDB35C0D4}" type="slidenum">
              <a:rPr lang="zh-CN" altLang="en-US" smtClean="0"/>
              <a:t>50</a:t>
            </a:fld>
            <a:endParaRPr lang="zh-CN" altLang="en-US"/>
          </a:p>
        </p:txBody>
      </p:sp>
    </p:spTree>
    <p:extLst>
      <p:ext uri="{BB962C8B-B14F-4D97-AF65-F5344CB8AC3E}">
        <p14:creationId xmlns:p14="http://schemas.microsoft.com/office/powerpoint/2010/main" val="807846814"/>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rPr>
              <a:t>最优二叉树通过</a:t>
            </a:r>
            <a:r>
              <a:rPr lang="zh-CN" altLang="zh-CN" sz="1800" dirty="0">
                <a:effectLst/>
                <a:highlight>
                  <a:srgbClr val="FFFF00"/>
                </a:highlight>
                <a:latin typeface="Times New Roman" panose="02020603050405020304" pitchFamily="18" charset="0"/>
                <a:ea typeface="宋体" panose="02010600030101010101" pitchFamily="2" charset="-122"/>
                <a:cs typeface="Times New Roman" panose="02020603050405020304" pitchFamily="18" charset="0"/>
              </a:rPr>
              <a:t>确保频率（或权重）较高的树叶在树的较低层</a:t>
            </a:r>
            <a:r>
              <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rPr>
              <a:t>，而频率较低的树叶在较高层，从而减少整体的加权路径长度。</a:t>
            </a:r>
            <a:endParaRPr lang="en-US" altLang="zh-CN" sz="1200" b="1" i="0" dirty="0">
              <a:latin typeface="Times New Roman" panose="02020603050405020304" pitchFamily="18" charset="0"/>
              <a:cs typeface="Times New Roman" panose="02020603050405020304" pitchFamily="18" charset="0"/>
            </a:endParaRPr>
          </a:p>
          <a:p>
            <a:r>
              <a:rPr lang="zh-CN" altLang="en-US" sz="1200" b="1" i="0" dirty="0">
                <a:latin typeface="Times New Roman" panose="02020603050405020304" pitchFamily="18" charset="0"/>
                <a:cs typeface="Times New Roman" panose="02020603050405020304" pitchFamily="18" charset="0"/>
              </a:rPr>
              <a:t>当</a:t>
            </a:r>
            <a:r>
              <a:rPr lang="zh-CN" altLang="en-US" sz="1200" b="1" dirty="0">
                <a:latin typeface="Times New Roman" panose="02020603050405020304" pitchFamily="18" charset="0"/>
                <a:cs typeface="Times New Roman" panose="02020603050405020304" pitchFamily="18" charset="0"/>
              </a:rPr>
              <a:t>树叶表示编码字符、</a:t>
            </a:r>
            <a:r>
              <a:rPr lang="zh-CN" altLang="en-US" sz="1200" b="1" i="0" dirty="0">
                <a:latin typeface="Times New Roman" panose="02020603050405020304" pitchFamily="18" charset="0"/>
                <a:cs typeface="Times New Roman" panose="02020603050405020304" pitchFamily="18" charset="0"/>
              </a:rPr>
              <a:t>权重</a:t>
            </a:r>
            <a:r>
              <a:rPr lang="en-US" altLang="zh-CN" sz="1200" b="1" i="1" dirty="0">
                <a:latin typeface="Times New Roman" panose="02020603050405020304" pitchFamily="18" charset="0"/>
                <a:cs typeface="Times New Roman" panose="02020603050405020304" pitchFamily="18" charset="0"/>
              </a:rPr>
              <a:t>w</a:t>
            </a:r>
            <a:r>
              <a:rPr lang="en-US" altLang="zh-CN" sz="1200" b="1" baseline="-30000" dirty="0">
                <a:latin typeface="Times New Roman" panose="02020603050405020304" pitchFamily="18" charset="0"/>
                <a:cs typeface="Times New Roman" panose="02020603050405020304" pitchFamily="18" charset="0"/>
              </a:rPr>
              <a:t>1</a:t>
            </a:r>
            <a:r>
              <a:rPr lang="en-US" altLang="zh-CN" sz="1200" b="1" dirty="0">
                <a:latin typeface="Times New Roman" panose="02020603050405020304" pitchFamily="18" charset="0"/>
                <a:cs typeface="Times New Roman" panose="02020603050405020304" pitchFamily="18" charset="0"/>
              </a:rPr>
              <a:t>, </a:t>
            </a:r>
            <a:r>
              <a:rPr lang="en-US" altLang="zh-CN" sz="1200" b="1" i="1" dirty="0">
                <a:latin typeface="Times New Roman" panose="02020603050405020304" pitchFamily="18" charset="0"/>
                <a:cs typeface="Times New Roman" panose="02020603050405020304" pitchFamily="18" charset="0"/>
              </a:rPr>
              <a:t>w</a:t>
            </a:r>
            <a:r>
              <a:rPr lang="en-US" altLang="zh-CN" sz="1200" b="1" baseline="-30000" dirty="0">
                <a:latin typeface="Times New Roman" panose="02020603050405020304" pitchFamily="18" charset="0"/>
                <a:cs typeface="Times New Roman" panose="02020603050405020304" pitchFamily="18" charset="0"/>
              </a:rPr>
              <a:t>2</a:t>
            </a:r>
            <a:r>
              <a:rPr lang="en-US" altLang="zh-CN" sz="1200" b="1" dirty="0">
                <a:latin typeface="Times New Roman" panose="02020603050405020304" pitchFamily="18" charset="0"/>
                <a:cs typeface="Times New Roman" panose="02020603050405020304" pitchFamily="18" charset="0"/>
              </a:rPr>
              <a:t>, …, </a:t>
            </a:r>
            <a:r>
              <a:rPr lang="en-US" altLang="zh-CN" sz="1200" b="1" i="1" dirty="0" err="1">
                <a:latin typeface="Times New Roman" panose="02020603050405020304" pitchFamily="18" charset="0"/>
                <a:cs typeface="Times New Roman" panose="02020603050405020304" pitchFamily="18" charset="0"/>
              </a:rPr>
              <a:t>w</a:t>
            </a:r>
            <a:r>
              <a:rPr lang="en-US" altLang="zh-CN" sz="1200" b="1" i="1" baseline="-30000" dirty="0" err="1">
                <a:latin typeface="Times New Roman" panose="02020603050405020304" pitchFamily="18" charset="0"/>
                <a:cs typeface="Times New Roman" panose="02020603050405020304" pitchFamily="18" charset="0"/>
              </a:rPr>
              <a:t>t</a:t>
            </a:r>
            <a:r>
              <a:rPr lang="zh-CN" altLang="en-US" sz="1200" b="1" dirty="0">
                <a:latin typeface="Times New Roman" panose="02020603050405020304" pitchFamily="18" charset="0"/>
                <a:cs typeface="Times New Roman" panose="02020603050405020304" pitchFamily="18" charset="0"/>
              </a:rPr>
              <a:t>度表示编码字符出现的频率时，产生的最优二叉树就是</a:t>
            </a:r>
            <a:r>
              <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rPr>
              <a:t>哈夫曼树</a:t>
            </a:r>
            <a:r>
              <a:rPr lang="zh-CN" altLang="en-US" sz="1800" dirty="0">
                <a:effectLst/>
                <a:latin typeface="Times New Roman" panose="02020603050405020304" pitchFamily="18" charset="0"/>
                <a:ea typeface="宋体" panose="02010600030101010101" pitchFamily="2" charset="-122"/>
                <a:cs typeface="Times New Roman" panose="02020603050405020304" pitchFamily="18" charset="0"/>
              </a:rPr>
              <a:t>；</a:t>
            </a:r>
            <a:endParaRPr lang="en-US" altLang="zh-CN" sz="1800" dirty="0">
              <a:effectLst/>
              <a:latin typeface="Times New Roman" panose="02020603050405020304" pitchFamily="18" charset="0"/>
              <a:ea typeface="宋体" panose="02010600030101010101" pitchFamily="2" charset="-122"/>
              <a:cs typeface="Times New Roman" panose="02020603050405020304" pitchFamily="18" charset="0"/>
            </a:endParaRPr>
          </a:p>
          <a:p>
            <a:pPr algn="just" eaLnBrk="1" hangingPunct="1">
              <a:lnSpc>
                <a:spcPct val="115000"/>
              </a:lnSpc>
              <a:buFontTx/>
              <a:buNone/>
            </a:pPr>
            <a:r>
              <a:rPr lang="zh-CN" altLang="en-US" sz="1200" b="1" dirty="0">
                <a:solidFill>
                  <a:srgbClr val="FF0000"/>
                </a:solidFill>
                <a:latin typeface="Times New Roman" panose="02020603050405020304" pitchFamily="18" charset="0"/>
                <a:cs typeface="Times New Roman" panose="02020603050405020304" pitchFamily="18" charset="0"/>
              </a:rPr>
              <a:t>哈夫曼(</a:t>
            </a:r>
            <a:r>
              <a:rPr lang="en-US" altLang="zh-CN" sz="1200" b="1" dirty="0">
                <a:solidFill>
                  <a:srgbClr val="FF0000"/>
                </a:solidFill>
                <a:latin typeface="Times New Roman" panose="02020603050405020304" pitchFamily="18" charset="0"/>
                <a:cs typeface="Times New Roman" panose="02020603050405020304" pitchFamily="18" charset="0"/>
              </a:rPr>
              <a:t>Huffman)</a:t>
            </a:r>
            <a:r>
              <a:rPr lang="zh-CN" altLang="en-US" sz="1200" b="1" dirty="0">
                <a:solidFill>
                  <a:srgbClr val="FF0000"/>
                </a:solidFill>
                <a:latin typeface="Times New Roman" panose="02020603050405020304" pitchFamily="18" charset="0"/>
                <a:cs typeface="Times New Roman" panose="02020603050405020304" pitchFamily="18" charset="0"/>
              </a:rPr>
              <a:t>算法</a:t>
            </a:r>
          </a:p>
          <a:p>
            <a:pPr algn="just" eaLnBrk="1" hangingPunct="1">
              <a:lnSpc>
                <a:spcPct val="115000"/>
              </a:lnSpc>
              <a:buFontTx/>
              <a:buNone/>
            </a:pPr>
            <a:r>
              <a:rPr lang="zh-CN" altLang="en-US" sz="1200" b="1" dirty="0">
                <a:latin typeface="Times New Roman" panose="02020603050405020304" pitchFamily="18" charset="0"/>
                <a:cs typeface="Times New Roman" panose="02020603050405020304" pitchFamily="18" charset="0"/>
              </a:rPr>
              <a:t>给定实数</a:t>
            </a:r>
            <a:r>
              <a:rPr lang="en-US" altLang="zh-CN" sz="1200" b="1" i="1" dirty="0">
                <a:latin typeface="Times New Roman" panose="02020603050405020304" pitchFamily="18" charset="0"/>
                <a:cs typeface="Times New Roman" panose="02020603050405020304" pitchFamily="18" charset="0"/>
              </a:rPr>
              <a:t>w</a:t>
            </a:r>
            <a:r>
              <a:rPr lang="en-US" altLang="zh-CN" sz="1200" b="1" baseline="-30000" dirty="0">
                <a:latin typeface="Times New Roman" panose="02020603050405020304" pitchFamily="18" charset="0"/>
                <a:cs typeface="Times New Roman" panose="02020603050405020304" pitchFamily="18" charset="0"/>
              </a:rPr>
              <a:t>1</a:t>
            </a:r>
            <a:r>
              <a:rPr lang="en-US" altLang="zh-CN" sz="1200" b="1" dirty="0">
                <a:latin typeface="Times New Roman" panose="02020603050405020304" pitchFamily="18" charset="0"/>
                <a:cs typeface="Times New Roman" panose="02020603050405020304" pitchFamily="18" charset="0"/>
              </a:rPr>
              <a:t>, </a:t>
            </a:r>
            <a:r>
              <a:rPr lang="en-US" altLang="zh-CN" sz="1200" b="1" i="1" dirty="0">
                <a:latin typeface="Times New Roman" panose="02020603050405020304" pitchFamily="18" charset="0"/>
                <a:cs typeface="Times New Roman" panose="02020603050405020304" pitchFamily="18" charset="0"/>
              </a:rPr>
              <a:t>w</a:t>
            </a:r>
            <a:r>
              <a:rPr lang="en-US" altLang="zh-CN" sz="1200" b="1" baseline="-30000" dirty="0">
                <a:latin typeface="Times New Roman" panose="02020603050405020304" pitchFamily="18" charset="0"/>
                <a:cs typeface="Times New Roman" panose="02020603050405020304" pitchFamily="18" charset="0"/>
              </a:rPr>
              <a:t>2</a:t>
            </a:r>
            <a:r>
              <a:rPr lang="en-US" altLang="zh-CN" sz="1200" b="1" dirty="0">
                <a:latin typeface="Times New Roman" panose="02020603050405020304" pitchFamily="18" charset="0"/>
                <a:cs typeface="Times New Roman" panose="02020603050405020304" pitchFamily="18" charset="0"/>
              </a:rPr>
              <a:t>, …, </a:t>
            </a:r>
            <a:r>
              <a:rPr lang="en-US" altLang="zh-CN" sz="1200" b="1" i="1" dirty="0" err="1">
                <a:latin typeface="Times New Roman" panose="02020603050405020304" pitchFamily="18" charset="0"/>
                <a:cs typeface="Times New Roman" panose="02020603050405020304" pitchFamily="18" charset="0"/>
              </a:rPr>
              <a:t>w</a:t>
            </a:r>
            <a:r>
              <a:rPr lang="en-US" altLang="zh-CN" sz="1200" b="1" i="1" baseline="-30000" dirty="0" err="1">
                <a:latin typeface="Times New Roman" panose="02020603050405020304" pitchFamily="18" charset="0"/>
                <a:cs typeface="Times New Roman" panose="02020603050405020304" pitchFamily="18" charset="0"/>
              </a:rPr>
              <a:t>t</a:t>
            </a:r>
            <a:r>
              <a:rPr lang="en-US" altLang="zh-CN" sz="1200" b="1" dirty="0">
                <a:latin typeface="Times New Roman" panose="02020603050405020304" pitchFamily="18" charset="0"/>
                <a:cs typeface="Times New Roman" panose="02020603050405020304" pitchFamily="18" charset="0"/>
              </a:rPr>
              <a:t> </a:t>
            </a:r>
          </a:p>
          <a:p>
            <a:pPr algn="just" eaLnBrk="1" hangingPunct="1">
              <a:lnSpc>
                <a:spcPct val="115000"/>
              </a:lnSpc>
              <a:buFontTx/>
              <a:buNone/>
            </a:pPr>
            <a:r>
              <a:rPr lang="en-US" altLang="zh-CN" sz="1200" b="1" dirty="0">
                <a:latin typeface="Times New Roman" panose="02020603050405020304" pitchFamily="18" charset="0"/>
                <a:cs typeface="Times New Roman" panose="02020603050405020304" pitchFamily="18" charset="0"/>
              </a:rPr>
              <a:t>① </a:t>
            </a:r>
            <a:r>
              <a:rPr lang="zh-CN" altLang="en-US" sz="1200" b="1" dirty="0">
                <a:latin typeface="Times New Roman" panose="02020603050405020304" pitchFamily="18" charset="0"/>
                <a:cs typeface="Times New Roman" panose="02020603050405020304" pitchFamily="18" charset="0"/>
              </a:rPr>
              <a:t>作</a:t>
            </a:r>
            <a:r>
              <a:rPr lang="en-US" altLang="zh-CN" sz="1200" b="1" i="1" dirty="0">
                <a:latin typeface="Times New Roman" panose="02020603050405020304" pitchFamily="18" charset="0"/>
                <a:cs typeface="Times New Roman" panose="02020603050405020304" pitchFamily="18" charset="0"/>
              </a:rPr>
              <a:t>t</a:t>
            </a:r>
            <a:r>
              <a:rPr lang="zh-CN" altLang="en-US" sz="1200" b="1" dirty="0">
                <a:latin typeface="Times New Roman" panose="02020603050405020304" pitchFamily="18" charset="0"/>
                <a:cs typeface="Times New Roman" panose="02020603050405020304" pitchFamily="18" charset="0"/>
              </a:rPr>
              <a:t>片树叶, 分别以</a:t>
            </a:r>
            <a:r>
              <a:rPr lang="en-US" altLang="zh-CN" sz="1200" b="1" i="1" dirty="0">
                <a:latin typeface="Times New Roman" panose="02020603050405020304" pitchFamily="18" charset="0"/>
                <a:cs typeface="Times New Roman" panose="02020603050405020304" pitchFamily="18" charset="0"/>
              </a:rPr>
              <a:t>w</a:t>
            </a:r>
            <a:r>
              <a:rPr lang="en-US" altLang="zh-CN" sz="1200" b="1" baseline="-30000" dirty="0">
                <a:latin typeface="Times New Roman" panose="02020603050405020304" pitchFamily="18" charset="0"/>
                <a:cs typeface="Times New Roman" panose="02020603050405020304" pitchFamily="18" charset="0"/>
              </a:rPr>
              <a:t>1</a:t>
            </a:r>
            <a:r>
              <a:rPr lang="en-US" altLang="zh-CN" sz="1200" b="1" dirty="0">
                <a:latin typeface="Times New Roman" panose="02020603050405020304" pitchFamily="18" charset="0"/>
                <a:cs typeface="Times New Roman" panose="02020603050405020304" pitchFamily="18" charset="0"/>
              </a:rPr>
              <a:t>, </a:t>
            </a:r>
            <a:r>
              <a:rPr lang="en-US" altLang="zh-CN" sz="1200" b="1" i="1" dirty="0">
                <a:latin typeface="Times New Roman" panose="02020603050405020304" pitchFamily="18" charset="0"/>
                <a:cs typeface="Times New Roman" panose="02020603050405020304" pitchFamily="18" charset="0"/>
              </a:rPr>
              <a:t>w</a:t>
            </a:r>
            <a:r>
              <a:rPr lang="en-US" altLang="zh-CN" sz="1200" b="1" baseline="-30000" dirty="0">
                <a:latin typeface="Times New Roman" panose="02020603050405020304" pitchFamily="18" charset="0"/>
                <a:cs typeface="Times New Roman" panose="02020603050405020304" pitchFamily="18" charset="0"/>
              </a:rPr>
              <a:t>2</a:t>
            </a:r>
            <a:r>
              <a:rPr lang="en-US" altLang="zh-CN" sz="1200" b="1" dirty="0">
                <a:latin typeface="Times New Roman" panose="02020603050405020304" pitchFamily="18" charset="0"/>
                <a:cs typeface="Times New Roman" panose="02020603050405020304" pitchFamily="18" charset="0"/>
              </a:rPr>
              <a:t>, …, </a:t>
            </a:r>
            <a:r>
              <a:rPr lang="en-US" altLang="zh-CN" sz="1200" b="1" i="1" dirty="0" err="1">
                <a:latin typeface="Times New Roman" panose="02020603050405020304" pitchFamily="18" charset="0"/>
                <a:cs typeface="Times New Roman" panose="02020603050405020304" pitchFamily="18" charset="0"/>
              </a:rPr>
              <a:t>w</a:t>
            </a:r>
            <a:r>
              <a:rPr lang="en-US" altLang="zh-CN" sz="1200" b="1" i="1" baseline="-30000" dirty="0" err="1">
                <a:latin typeface="Times New Roman" panose="02020603050405020304" pitchFamily="18" charset="0"/>
                <a:cs typeface="Times New Roman" panose="02020603050405020304" pitchFamily="18" charset="0"/>
              </a:rPr>
              <a:t>t</a:t>
            </a:r>
            <a:r>
              <a:rPr lang="zh-CN" altLang="en-US" sz="1200" b="1" dirty="0">
                <a:latin typeface="Times New Roman" panose="02020603050405020304" pitchFamily="18" charset="0"/>
                <a:cs typeface="Times New Roman" panose="02020603050405020304" pitchFamily="18" charset="0"/>
              </a:rPr>
              <a:t>为权</a:t>
            </a:r>
            <a:r>
              <a:rPr lang="en-US" altLang="zh-CN" sz="1200" b="1" dirty="0">
                <a:latin typeface="Times New Roman" panose="02020603050405020304" pitchFamily="18" charset="0"/>
                <a:cs typeface="Times New Roman" panose="02020603050405020304" pitchFamily="18" charset="0"/>
              </a:rPr>
              <a:t>.</a:t>
            </a:r>
            <a:endParaRPr lang="zh-CN" altLang="en-US" sz="1200" b="1" dirty="0">
              <a:latin typeface="Times New Roman" panose="02020603050405020304" pitchFamily="18" charset="0"/>
              <a:cs typeface="Times New Roman" panose="02020603050405020304" pitchFamily="18" charset="0"/>
            </a:endParaRPr>
          </a:p>
          <a:p>
            <a:pPr algn="just" eaLnBrk="1" hangingPunct="1">
              <a:lnSpc>
                <a:spcPct val="115000"/>
              </a:lnSpc>
              <a:buFontTx/>
              <a:buNone/>
            </a:pPr>
            <a:r>
              <a:rPr lang="zh-CN" altLang="en-US" sz="1200" b="1" dirty="0">
                <a:latin typeface="Times New Roman" panose="02020603050405020304" pitchFamily="18" charset="0"/>
                <a:cs typeface="Times New Roman" panose="02020603050405020304" pitchFamily="18" charset="0"/>
              </a:rPr>
              <a:t>② 在所有入度为0的顶点(不一定是树叶)中选出两个权最小的顶点, 添加一个新分支点, 以这2个顶点为儿子, 其权等于这2个儿子的权之和</a:t>
            </a:r>
            <a:r>
              <a:rPr lang="en-US" altLang="zh-CN" sz="1200" b="1" dirty="0">
                <a:latin typeface="Times New Roman" panose="02020603050405020304" pitchFamily="18" charset="0"/>
                <a:cs typeface="Times New Roman" panose="02020603050405020304" pitchFamily="18" charset="0"/>
              </a:rPr>
              <a:t>.</a:t>
            </a:r>
            <a:endParaRPr lang="zh-CN" altLang="en-US" sz="1200" b="1" dirty="0">
              <a:latin typeface="Times New Roman" panose="02020603050405020304" pitchFamily="18" charset="0"/>
              <a:cs typeface="Times New Roman" panose="02020603050405020304" pitchFamily="18" charset="0"/>
            </a:endParaRPr>
          </a:p>
          <a:p>
            <a:pPr eaLnBrk="1" hangingPunct="1">
              <a:lnSpc>
                <a:spcPct val="115000"/>
              </a:lnSpc>
              <a:buFontTx/>
              <a:buNone/>
            </a:pPr>
            <a:r>
              <a:rPr lang="zh-CN" altLang="en-US" sz="1200" b="1" dirty="0">
                <a:latin typeface="Times New Roman" panose="02020603050405020304" pitchFamily="18" charset="0"/>
                <a:cs typeface="Times New Roman" panose="02020603050405020304" pitchFamily="18" charset="0"/>
              </a:rPr>
              <a:t>③ 重复②, 直到只有1个入度为0 的顶点为止 </a:t>
            </a:r>
          </a:p>
          <a:p>
            <a:pPr eaLnBrk="1" hangingPunct="1">
              <a:lnSpc>
                <a:spcPct val="115000"/>
              </a:lnSpc>
              <a:buFontTx/>
              <a:buNone/>
            </a:pPr>
            <a:r>
              <a:rPr lang="en-US" altLang="zh-CN" sz="1200" b="1" i="1" dirty="0">
                <a:latin typeface="Times New Roman" panose="02020603050405020304" pitchFamily="18" charset="0"/>
                <a:cs typeface="Times New Roman" panose="02020603050405020304" pitchFamily="18" charset="0"/>
              </a:rPr>
              <a:t>W</a:t>
            </a:r>
            <a:r>
              <a:rPr lang="en-US" altLang="zh-CN" sz="1200" b="1" dirty="0">
                <a:latin typeface="Times New Roman" panose="02020603050405020304" pitchFamily="18" charset="0"/>
                <a:cs typeface="Times New Roman" panose="02020603050405020304" pitchFamily="18" charset="0"/>
              </a:rPr>
              <a:t>(</a:t>
            </a:r>
            <a:r>
              <a:rPr lang="en-US" altLang="zh-CN" sz="1200" b="1" i="1" dirty="0">
                <a:latin typeface="Times New Roman" panose="02020603050405020304" pitchFamily="18" charset="0"/>
                <a:cs typeface="Times New Roman" panose="02020603050405020304" pitchFamily="18" charset="0"/>
              </a:rPr>
              <a:t>T</a:t>
            </a:r>
            <a:r>
              <a:rPr lang="en-US" altLang="zh-CN" sz="1200" b="1" dirty="0">
                <a:latin typeface="Times New Roman" panose="02020603050405020304" pitchFamily="18" charset="0"/>
                <a:cs typeface="Times New Roman" panose="02020603050405020304" pitchFamily="18" charset="0"/>
              </a:rPr>
              <a:t>)</a:t>
            </a:r>
            <a:r>
              <a:rPr lang="zh-CN" altLang="en-US" sz="1200" b="1" dirty="0">
                <a:latin typeface="Times New Roman" panose="02020603050405020304" pitchFamily="18" charset="0"/>
                <a:cs typeface="Times New Roman" panose="02020603050405020304" pitchFamily="18" charset="0"/>
              </a:rPr>
              <a:t>等于所有分支点的权之和，生成的最优二叉树其加权路径长度最小</a:t>
            </a:r>
          </a:p>
          <a:p>
            <a:endParaRPr lang="zh-CN" altLang="en-US" dirty="0"/>
          </a:p>
        </p:txBody>
      </p:sp>
      <p:sp>
        <p:nvSpPr>
          <p:cNvPr id="4" name="灯片编号占位符 3"/>
          <p:cNvSpPr>
            <a:spLocks noGrp="1"/>
          </p:cNvSpPr>
          <p:nvPr>
            <p:ph type="sldNum" sz="quarter" idx="10"/>
          </p:nvPr>
        </p:nvSpPr>
        <p:spPr/>
        <p:txBody>
          <a:bodyPr/>
          <a:lstStyle/>
          <a:p>
            <a:fld id="{CAFE74B6-F93C-4D90-BE1A-7EFEDB35C0D4}" type="slidenum">
              <a:rPr lang="zh-CN" altLang="en-US" smtClean="0"/>
              <a:t>51</a:t>
            </a:fld>
            <a:endParaRPr lang="zh-CN" altLang="en-US"/>
          </a:p>
        </p:txBody>
      </p:sp>
    </p:spTree>
    <p:extLst>
      <p:ext uri="{BB962C8B-B14F-4D97-AF65-F5344CB8AC3E}">
        <p14:creationId xmlns:p14="http://schemas.microsoft.com/office/powerpoint/2010/main" val="2149842993"/>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buFontTx/>
              <a:buNone/>
            </a:pPr>
            <a:r>
              <a:rPr lang="zh-CN" altLang="en-US" sz="1200" b="1" dirty="0">
                <a:solidFill>
                  <a:srgbClr val="00B0F0"/>
                </a:solidFill>
              </a:rPr>
              <a:t>例： </a:t>
            </a:r>
            <a:r>
              <a:rPr lang="zh-CN" altLang="en-US" sz="1200" b="1" dirty="0"/>
              <a:t>求以1,3,4,5,6为权的最优2叉树, 并计算它的权</a:t>
            </a:r>
          </a:p>
          <a:p>
            <a:pPr>
              <a:buNone/>
            </a:pPr>
            <a:r>
              <a:rPr lang="zh-CN" altLang="en-US" sz="1200" b="1" dirty="0">
                <a:solidFill>
                  <a:srgbClr val="00B0F0"/>
                </a:solidFill>
              </a:rPr>
              <a:t>解： </a:t>
            </a:r>
            <a:r>
              <a:rPr kumimoji="0" lang="zh-CN" altLang="en-US" sz="1200" b="1" dirty="0"/>
              <a:t>(</a:t>
            </a:r>
            <a:r>
              <a:rPr kumimoji="0" lang="en-US" altLang="zh-CN" sz="1200" b="1" dirty="0"/>
              <a:t>a)</a:t>
            </a:r>
            <a:r>
              <a:rPr kumimoji="0" lang="zh-CN" altLang="en-US" sz="1200" b="1" dirty="0"/>
              <a:t>到(</a:t>
            </a:r>
            <a:r>
              <a:rPr kumimoji="0" lang="en-US" altLang="zh-CN" sz="1200" b="1" dirty="0"/>
              <a:t>e)</a:t>
            </a:r>
            <a:r>
              <a:rPr kumimoji="0" lang="zh-CN" altLang="en-US" sz="1200" b="1" dirty="0"/>
              <a:t>是哈夫曼算法的计算过程</a:t>
            </a:r>
            <a:endParaRPr kumimoji="0" lang="en-US" altLang="zh-CN" sz="1200" b="1" dirty="0"/>
          </a:p>
          <a:p>
            <a:endParaRPr lang="zh-CN" altLang="en-US" dirty="0"/>
          </a:p>
        </p:txBody>
      </p:sp>
      <p:sp>
        <p:nvSpPr>
          <p:cNvPr id="4" name="灯片编号占位符 3"/>
          <p:cNvSpPr>
            <a:spLocks noGrp="1"/>
          </p:cNvSpPr>
          <p:nvPr>
            <p:ph type="sldNum" sz="quarter" idx="10"/>
          </p:nvPr>
        </p:nvSpPr>
        <p:spPr/>
        <p:txBody>
          <a:bodyPr/>
          <a:lstStyle/>
          <a:p>
            <a:fld id="{CAFE74B6-F93C-4D90-BE1A-7EFEDB35C0D4}" type="slidenum">
              <a:rPr lang="zh-CN" altLang="en-US" smtClean="0"/>
              <a:t>52</a:t>
            </a:fld>
            <a:endParaRPr lang="zh-CN" altLang="en-US"/>
          </a:p>
        </p:txBody>
      </p:sp>
    </p:spTree>
    <p:extLst>
      <p:ext uri="{BB962C8B-B14F-4D97-AF65-F5344CB8AC3E}">
        <p14:creationId xmlns:p14="http://schemas.microsoft.com/office/powerpoint/2010/main" val="2268525035"/>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7.2.1 </a:t>
            </a:r>
            <a:r>
              <a:rPr lang="zh-CN" altLang="en-US" dirty="0"/>
              <a:t>根树及其分类</a:t>
            </a:r>
          </a:p>
          <a:p>
            <a:r>
              <a:rPr lang="en-US" altLang="zh-CN" dirty="0"/>
              <a:t>7.2.2 </a:t>
            </a:r>
            <a:r>
              <a:rPr lang="zh-CN" altLang="en-US" dirty="0"/>
              <a:t>最优树与哈夫曼算法</a:t>
            </a:r>
          </a:p>
          <a:p>
            <a:r>
              <a:rPr lang="en-US" altLang="zh-CN" dirty="0"/>
              <a:t>7.2.3 </a:t>
            </a:r>
            <a:r>
              <a:rPr lang="zh-CN" altLang="en-US" dirty="0"/>
              <a:t>最佳前缀码</a:t>
            </a:r>
          </a:p>
          <a:p>
            <a:r>
              <a:rPr lang="en-US" altLang="zh-CN" dirty="0"/>
              <a:t>7.2.4 </a:t>
            </a:r>
            <a:r>
              <a:rPr lang="zh-CN" altLang="en-US" dirty="0"/>
              <a:t>根树的行遍及其应用</a:t>
            </a:r>
          </a:p>
          <a:p>
            <a:pPr marL="1884363" lvl="1" indent="277813" eaLnBrk="1" hangingPunct="1"/>
            <a:r>
              <a:rPr lang="zh-CN" altLang="en-US" b="1" dirty="0"/>
              <a:t>中序行遍法、前序行遍法和后序行遍法</a:t>
            </a:r>
          </a:p>
          <a:p>
            <a:pPr marL="1884363" lvl="1" indent="277813" eaLnBrk="1" hangingPunct="1"/>
            <a:r>
              <a:rPr lang="zh-CN" altLang="en-US" b="1" dirty="0"/>
              <a:t>波兰符号法与逆波兰符号法</a:t>
            </a:r>
          </a:p>
          <a:p>
            <a:endParaRPr lang="zh-CN" altLang="en-US" dirty="0"/>
          </a:p>
        </p:txBody>
      </p:sp>
      <p:sp>
        <p:nvSpPr>
          <p:cNvPr id="4" name="灯片编号占位符 3"/>
          <p:cNvSpPr>
            <a:spLocks noGrp="1"/>
          </p:cNvSpPr>
          <p:nvPr>
            <p:ph type="sldNum" sz="quarter" idx="10"/>
          </p:nvPr>
        </p:nvSpPr>
        <p:spPr/>
        <p:txBody>
          <a:bodyPr/>
          <a:lstStyle/>
          <a:p>
            <a:fld id="{CAFE74B6-F93C-4D90-BE1A-7EFEDB35C0D4}" type="slidenum">
              <a:rPr lang="zh-CN" altLang="en-US" smtClean="0"/>
              <a:t>53</a:t>
            </a:fld>
            <a:endParaRPr lang="zh-CN" altLang="en-US"/>
          </a:p>
        </p:txBody>
      </p:sp>
    </p:spTree>
    <p:extLst>
      <p:ext uri="{BB962C8B-B14F-4D97-AF65-F5344CB8AC3E}">
        <p14:creationId xmlns:p14="http://schemas.microsoft.com/office/powerpoint/2010/main" val="3532950588"/>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gn="just">
              <a:buNone/>
            </a:pPr>
            <a:r>
              <a:rPr lang="zh-CN" altLang="en-US" sz="1200" b="1" dirty="0">
                <a:solidFill>
                  <a:srgbClr val="FF0000"/>
                </a:solidFill>
                <a:latin typeface="Times New Roman" panose="02020603050405020304" pitchFamily="18" charset="0"/>
                <a:cs typeface="Times New Roman" panose="02020603050405020304" pitchFamily="18" charset="0"/>
              </a:rPr>
              <a:t>定义：</a:t>
            </a:r>
            <a:r>
              <a:rPr lang="zh-CN" altLang="en-US" sz="1200" b="1" dirty="0">
                <a:latin typeface="Times New Roman" panose="02020603050405020304" pitchFamily="18" charset="0"/>
                <a:cs typeface="Times New Roman" panose="02020603050405020304" pitchFamily="18" charset="0"/>
              </a:rPr>
              <a:t>设</a:t>
            </a:r>
            <a:r>
              <a:rPr lang="zh-CN" altLang="en-US" sz="1200" b="1" i="1" dirty="0">
                <a:latin typeface="Times New Roman" panose="02020603050405020304" pitchFamily="18" charset="0"/>
                <a:cs typeface="Times New Roman" panose="02020603050405020304" pitchFamily="18" charset="0"/>
                <a:sym typeface="Symbol" panose="05050102010706020507" pitchFamily="18" charset="2"/>
              </a:rPr>
              <a:t> </a:t>
            </a:r>
            <a:r>
              <a:rPr lang="zh-CN" altLang="en-US" sz="1200" b="1" dirty="0">
                <a:latin typeface="Times New Roman" panose="02020603050405020304" pitchFamily="18" charset="0"/>
                <a:cs typeface="Times New Roman" panose="02020603050405020304" pitchFamily="18" charset="0"/>
              </a:rPr>
              <a:t>=</a:t>
            </a:r>
            <a:r>
              <a:rPr lang="zh-CN" altLang="en-US" sz="1200" b="1" i="1" dirty="0">
                <a:latin typeface="Times New Roman" panose="02020603050405020304" pitchFamily="18" charset="0"/>
                <a:cs typeface="Times New Roman" panose="02020603050405020304" pitchFamily="18" charset="0"/>
                <a:sym typeface="Symbol" panose="05050102010706020507" pitchFamily="18" charset="2"/>
              </a:rPr>
              <a:t></a:t>
            </a:r>
            <a:r>
              <a:rPr lang="zh-CN" altLang="en-US" sz="1200" b="1" baseline="-30000" dirty="0">
                <a:latin typeface="Times New Roman" panose="02020603050405020304" pitchFamily="18" charset="0"/>
                <a:cs typeface="Times New Roman" panose="02020603050405020304" pitchFamily="18" charset="0"/>
              </a:rPr>
              <a:t>1</a:t>
            </a:r>
            <a:r>
              <a:rPr lang="zh-CN" altLang="en-US" sz="1200" b="1" i="1" dirty="0">
                <a:latin typeface="Times New Roman" panose="02020603050405020304" pitchFamily="18" charset="0"/>
                <a:cs typeface="Times New Roman" panose="02020603050405020304" pitchFamily="18" charset="0"/>
                <a:sym typeface="Symbol" panose="05050102010706020507" pitchFamily="18" charset="2"/>
              </a:rPr>
              <a:t></a:t>
            </a:r>
            <a:r>
              <a:rPr lang="zh-CN" altLang="en-US" sz="1200" b="1" baseline="-30000" dirty="0">
                <a:latin typeface="Times New Roman" panose="02020603050405020304" pitchFamily="18" charset="0"/>
                <a:cs typeface="Times New Roman" panose="02020603050405020304" pitchFamily="18" charset="0"/>
              </a:rPr>
              <a:t>2</a:t>
            </a:r>
            <a:r>
              <a:rPr lang="zh-CN" altLang="en-US" sz="1200" b="1" dirty="0">
                <a:latin typeface="Times New Roman" panose="02020603050405020304" pitchFamily="18" charset="0"/>
                <a:cs typeface="Times New Roman" panose="02020603050405020304" pitchFamily="18" charset="0"/>
              </a:rPr>
              <a:t>…</a:t>
            </a:r>
            <a:r>
              <a:rPr lang="zh-CN" altLang="en-US" sz="1200" b="1" i="1" dirty="0">
                <a:latin typeface="Times New Roman" panose="02020603050405020304" pitchFamily="18" charset="0"/>
                <a:cs typeface="Times New Roman" panose="02020603050405020304" pitchFamily="18" charset="0"/>
                <a:sym typeface="Symbol" panose="05050102010706020507" pitchFamily="18" charset="2"/>
              </a:rPr>
              <a:t></a:t>
            </a:r>
            <a:r>
              <a:rPr lang="en-US" altLang="zh-CN" sz="1200" b="1" i="1" baseline="-30000" dirty="0">
                <a:latin typeface="Times New Roman" panose="02020603050405020304" pitchFamily="18" charset="0"/>
                <a:cs typeface="Times New Roman" panose="02020603050405020304" pitchFamily="18" charset="0"/>
              </a:rPr>
              <a:t>n</a:t>
            </a:r>
            <a:r>
              <a:rPr lang="en-US" altLang="zh-CN" sz="1200" b="1" baseline="-30000" dirty="0">
                <a:latin typeface="Times New Roman" panose="02020603050405020304" pitchFamily="18" charset="0"/>
                <a:cs typeface="Times New Roman" panose="02020603050405020304" pitchFamily="18" charset="0"/>
              </a:rPr>
              <a:t>-1</a:t>
            </a:r>
            <a:r>
              <a:rPr lang="en-US" altLang="zh-CN" sz="1200" b="1" i="1" dirty="0">
                <a:latin typeface="Times New Roman" panose="02020603050405020304" pitchFamily="18" charset="0"/>
                <a:cs typeface="Times New Roman" panose="02020603050405020304" pitchFamily="18" charset="0"/>
                <a:sym typeface="Symbol" panose="05050102010706020507" pitchFamily="18" charset="2"/>
              </a:rPr>
              <a:t></a:t>
            </a:r>
            <a:r>
              <a:rPr lang="en-US" altLang="zh-CN" sz="1200" b="1" i="1" baseline="-30000" dirty="0">
                <a:latin typeface="Times New Roman" panose="02020603050405020304" pitchFamily="18" charset="0"/>
                <a:cs typeface="Times New Roman" panose="02020603050405020304" pitchFamily="18" charset="0"/>
              </a:rPr>
              <a:t>n</a:t>
            </a:r>
            <a:r>
              <a:rPr lang="zh-CN" altLang="en-US" sz="1200" b="1" dirty="0">
                <a:latin typeface="Times New Roman" panose="02020603050405020304" pitchFamily="18" charset="0"/>
                <a:cs typeface="Times New Roman" panose="02020603050405020304" pitchFamily="18" charset="0"/>
              </a:rPr>
              <a:t>是长度为</a:t>
            </a:r>
            <a:r>
              <a:rPr lang="en-US" altLang="zh-CN" sz="1200" b="1" i="1" dirty="0">
                <a:latin typeface="Times New Roman" panose="02020603050405020304" pitchFamily="18" charset="0"/>
                <a:cs typeface="Times New Roman" panose="02020603050405020304" pitchFamily="18" charset="0"/>
              </a:rPr>
              <a:t>n</a:t>
            </a:r>
            <a:r>
              <a:rPr lang="zh-CN" altLang="en-US" sz="1200" b="1" dirty="0">
                <a:latin typeface="Times New Roman" panose="02020603050405020304" pitchFamily="18" charset="0"/>
                <a:cs typeface="Times New Roman" panose="02020603050405020304" pitchFamily="18" charset="0"/>
              </a:rPr>
              <a:t>的符号串, </a:t>
            </a:r>
            <a:r>
              <a:rPr lang="zh-CN" altLang="en-US" sz="1200" b="1" i="1" dirty="0">
                <a:latin typeface="Times New Roman" panose="02020603050405020304" pitchFamily="18" charset="0"/>
                <a:cs typeface="Times New Roman" panose="02020603050405020304" pitchFamily="18" charset="0"/>
                <a:sym typeface="Symbol" panose="05050102010706020507" pitchFamily="18" charset="2"/>
              </a:rPr>
              <a:t></a:t>
            </a:r>
            <a:r>
              <a:rPr lang="zh-CN" altLang="en-US" sz="1200" b="1" baseline="-30000" dirty="0">
                <a:latin typeface="Times New Roman" panose="02020603050405020304" pitchFamily="18" charset="0"/>
                <a:cs typeface="Times New Roman" panose="02020603050405020304" pitchFamily="18" charset="0"/>
              </a:rPr>
              <a:t>1</a:t>
            </a:r>
            <a:r>
              <a:rPr lang="zh-CN" altLang="en-US" sz="1200" b="1" i="1" dirty="0">
                <a:latin typeface="Times New Roman" panose="02020603050405020304" pitchFamily="18" charset="0"/>
                <a:cs typeface="Times New Roman" panose="02020603050405020304" pitchFamily="18" charset="0"/>
                <a:sym typeface="Symbol" panose="05050102010706020507" pitchFamily="18" charset="2"/>
              </a:rPr>
              <a:t></a:t>
            </a:r>
            <a:r>
              <a:rPr lang="zh-CN" altLang="en-US" sz="1200" b="1" baseline="-30000" dirty="0">
                <a:latin typeface="Times New Roman" panose="02020603050405020304" pitchFamily="18" charset="0"/>
                <a:cs typeface="Times New Roman" panose="02020603050405020304" pitchFamily="18" charset="0"/>
              </a:rPr>
              <a:t>2</a:t>
            </a:r>
            <a:r>
              <a:rPr lang="zh-CN" altLang="en-US" sz="1200" b="1" dirty="0">
                <a:latin typeface="Times New Roman" panose="02020603050405020304" pitchFamily="18" charset="0"/>
                <a:cs typeface="Times New Roman" panose="02020603050405020304" pitchFamily="18" charset="0"/>
              </a:rPr>
              <a:t>…</a:t>
            </a:r>
            <a:r>
              <a:rPr lang="zh-CN" altLang="en-US" sz="1200" b="1" i="1" dirty="0">
                <a:latin typeface="Times New Roman" panose="02020603050405020304" pitchFamily="18" charset="0"/>
                <a:cs typeface="Times New Roman" panose="02020603050405020304" pitchFamily="18" charset="0"/>
                <a:sym typeface="Symbol" panose="05050102010706020507" pitchFamily="18" charset="2"/>
              </a:rPr>
              <a:t></a:t>
            </a:r>
            <a:r>
              <a:rPr lang="en-US" altLang="zh-CN" b="1" i="1" baseline="-30000" dirty="0">
                <a:latin typeface="Times New Roman" panose="02020603050405020304" pitchFamily="18" charset="0"/>
                <a:cs typeface="Times New Roman" panose="02020603050405020304" pitchFamily="18" charset="0"/>
              </a:rPr>
              <a:t>j</a:t>
            </a:r>
            <a:r>
              <a:rPr lang="zh-CN" altLang="en-US" sz="1200" b="1" dirty="0">
                <a:latin typeface="Times New Roman" panose="02020603050405020304" pitchFamily="18" charset="0"/>
                <a:cs typeface="Times New Roman" panose="02020603050405020304" pitchFamily="18" charset="0"/>
                <a:sym typeface="Symbol" panose="05050102010706020507" pitchFamily="18" charset="2"/>
              </a:rPr>
              <a:t>（</a:t>
            </a:r>
            <a:r>
              <a:rPr lang="en-US" altLang="zh-CN" sz="1200" b="1" dirty="0">
                <a:latin typeface="Times New Roman" panose="02020603050405020304" pitchFamily="18" charset="0"/>
                <a:cs typeface="Times New Roman" panose="02020603050405020304" pitchFamily="18" charset="0"/>
                <a:sym typeface="Symbol" panose="05050102010706020507" pitchFamily="18" charset="2"/>
              </a:rPr>
              <a:t>1≤ </a:t>
            </a:r>
            <a:r>
              <a:rPr lang="en-US" altLang="zh-CN" sz="1200" b="1" i="1" dirty="0">
                <a:latin typeface="Times New Roman" panose="02020603050405020304" pitchFamily="18" charset="0"/>
                <a:cs typeface="Times New Roman" panose="02020603050405020304" pitchFamily="18" charset="0"/>
                <a:sym typeface="Symbol" panose="05050102010706020507" pitchFamily="18" charset="2"/>
              </a:rPr>
              <a:t>j</a:t>
            </a:r>
            <a:r>
              <a:rPr lang="en-US" altLang="zh-CN" sz="1200" b="1" dirty="0">
                <a:latin typeface="Times New Roman" panose="02020603050405020304" pitchFamily="18" charset="0"/>
                <a:cs typeface="Times New Roman" panose="02020603050405020304" pitchFamily="18" charset="0"/>
                <a:sym typeface="Symbol" panose="05050102010706020507" pitchFamily="18" charset="2"/>
              </a:rPr>
              <a:t> ≤ </a:t>
            </a:r>
            <a:r>
              <a:rPr lang="en-US" altLang="zh-CN" sz="1200" b="1" i="1" dirty="0">
                <a:latin typeface="Times New Roman" panose="02020603050405020304" pitchFamily="18" charset="0"/>
                <a:cs typeface="Times New Roman" panose="02020603050405020304" pitchFamily="18" charset="0"/>
                <a:sym typeface="Symbol" panose="05050102010706020507" pitchFamily="18" charset="2"/>
              </a:rPr>
              <a:t>n</a:t>
            </a:r>
            <a:r>
              <a:rPr lang="zh-CN" altLang="en-US" sz="1200" b="1" dirty="0">
                <a:latin typeface="Times New Roman" panose="02020603050405020304" pitchFamily="18" charset="0"/>
                <a:cs typeface="Times New Roman" panose="02020603050405020304" pitchFamily="18" charset="0"/>
                <a:sym typeface="Symbol" panose="05050102010706020507" pitchFamily="18" charset="2"/>
              </a:rPr>
              <a:t>）</a:t>
            </a:r>
            <a:r>
              <a:rPr lang="zh-CN" altLang="en-US" b="1" dirty="0">
                <a:latin typeface="Times New Roman" panose="02020603050405020304" pitchFamily="18" charset="0"/>
                <a:cs typeface="Times New Roman" panose="02020603050405020304" pitchFamily="18" charset="0"/>
                <a:sym typeface="Symbol" panose="05050102010706020507" pitchFamily="18" charset="2"/>
              </a:rPr>
              <a:t>为</a:t>
            </a:r>
            <a:r>
              <a:rPr lang="zh-CN" altLang="en-US" sz="1200" b="1" i="1" dirty="0">
                <a:latin typeface="Times New Roman" panose="02020603050405020304" pitchFamily="18" charset="0"/>
                <a:cs typeface="Times New Roman" panose="02020603050405020304" pitchFamily="18" charset="0"/>
                <a:sym typeface="Symbol" panose="05050102010706020507" pitchFamily="18" charset="2"/>
              </a:rPr>
              <a:t> </a:t>
            </a:r>
            <a:r>
              <a:rPr lang="zh-CN" altLang="en-US" sz="1200" b="1" dirty="0">
                <a:latin typeface="Times New Roman" panose="02020603050405020304" pitchFamily="18" charset="0"/>
                <a:cs typeface="Times New Roman" panose="02020603050405020304" pitchFamily="18" charset="0"/>
                <a:sym typeface="Symbol" panose="05050102010706020507" pitchFamily="18" charset="2"/>
              </a:rPr>
              <a:t>（长度为</a:t>
            </a:r>
            <a:r>
              <a:rPr lang="en-US" altLang="zh-CN" sz="1200" b="1" i="1" dirty="0">
                <a:latin typeface="Times New Roman" panose="02020603050405020304" pitchFamily="18" charset="0"/>
                <a:cs typeface="Times New Roman" panose="02020603050405020304" pitchFamily="18" charset="0"/>
                <a:sym typeface="Symbol" panose="05050102010706020507" pitchFamily="18" charset="2"/>
              </a:rPr>
              <a:t>j</a:t>
            </a:r>
            <a:r>
              <a:rPr lang="en-US" altLang="zh-CN" sz="1200" b="1" dirty="0">
                <a:latin typeface="Times New Roman" panose="02020603050405020304" pitchFamily="18" charset="0"/>
                <a:cs typeface="Times New Roman" panose="02020603050405020304" pitchFamily="18" charset="0"/>
                <a:sym typeface="Symbol" panose="05050102010706020507" pitchFamily="18" charset="2"/>
              </a:rPr>
              <a:t> </a:t>
            </a:r>
            <a:r>
              <a:rPr lang="zh-CN" altLang="en-US" sz="1200" b="1" dirty="0">
                <a:latin typeface="Times New Roman" panose="02020603050405020304" pitchFamily="18" charset="0"/>
                <a:cs typeface="Times New Roman" panose="02020603050405020304" pitchFamily="18" charset="0"/>
                <a:sym typeface="Symbol" panose="05050102010706020507" pitchFamily="18" charset="2"/>
              </a:rPr>
              <a:t>）的前缀。</a:t>
            </a:r>
            <a:endParaRPr lang="en-US" altLang="zh-CN" sz="1200" b="1" baseline="-30000" dirty="0">
              <a:latin typeface="Times New Roman" panose="02020603050405020304" pitchFamily="18" charset="0"/>
              <a:cs typeface="Times New Roman" panose="02020603050405020304" pitchFamily="18" charset="0"/>
            </a:endParaRPr>
          </a:p>
          <a:p>
            <a:pPr marL="87313" indent="403225" algn="just" eaLnBrk="1" hangingPunct="1">
              <a:buFontTx/>
              <a:buNone/>
            </a:pPr>
            <a:r>
              <a:rPr lang="zh-CN" altLang="en-US" sz="1200" b="1" dirty="0">
                <a:latin typeface="Times New Roman" panose="02020603050405020304" pitchFamily="18" charset="0"/>
                <a:cs typeface="Times New Roman" panose="02020603050405020304" pitchFamily="18" charset="0"/>
              </a:rPr>
              <a:t>若非空符号串集</a:t>
            </a:r>
            <a:r>
              <a:rPr lang="en-US" altLang="zh-CN" sz="1200" b="1" dirty="0">
                <a:latin typeface="Times New Roman" panose="02020603050405020304" pitchFamily="18" charset="0"/>
                <a:cs typeface="Times New Roman" panose="02020603050405020304" pitchFamily="18" charset="0"/>
              </a:rPr>
              <a:t>B=</a:t>
            </a:r>
            <a:r>
              <a:rPr lang="zh-CN" altLang="en-US" sz="1200" b="1" dirty="0">
                <a:latin typeface="Times New Roman" panose="02020603050405020304" pitchFamily="18" charset="0"/>
                <a:cs typeface="Times New Roman" panose="02020603050405020304" pitchFamily="18" charset="0"/>
              </a:rPr>
              <a:t> {</a:t>
            </a:r>
            <a:r>
              <a:rPr lang="zh-CN" altLang="en-US" sz="1200" b="1" i="1" dirty="0">
                <a:latin typeface="Times New Roman" panose="02020603050405020304" pitchFamily="18" charset="0"/>
                <a:cs typeface="Times New Roman" panose="02020603050405020304" pitchFamily="18" charset="0"/>
                <a:sym typeface="Symbol" panose="05050102010706020507" pitchFamily="18" charset="2"/>
              </a:rPr>
              <a:t></a:t>
            </a:r>
            <a:r>
              <a:rPr lang="zh-CN" altLang="en-US" sz="1200" b="1" baseline="-30000" dirty="0">
                <a:latin typeface="Times New Roman" panose="02020603050405020304" pitchFamily="18" charset="0"/>
                <a:cs typeface="Times New Roman" panose="02020603050405020304" pitchFamily="18" charset="0"/>
              </a:rPr>
              <a:t>1</a:t>
            </a:r>
            <a:r>
              <a:rPr lang="zh-CN" altLang="en-US" sz="1200" b="1" dirty="0">
                <a:latin typeface="Times New Roman" panose="02020603050405020304" pitchFamily="18" charset="0"/>
                <a:cs typeface="Times New Roman" panose="02020603050405020304" pitchFamily="18" charset="0"/>
              </a:rPr>
              <a:t>, </a:t>
            </a:r>
            <a:r>
              <a:rPr lang="zh-CN" altLang="en-US" sz="1200" b="1" i="1" dirty="0">
                <a:latin typeface="Times New Roman" panose="02020603050405020304" pitchFamily="18" charset="0"/>
                <a:cs typeface="Times New Roman" panose="02020603050405020304" pitchFamily="18" charset="0"/>
                <a:sym typeface="Symbol" panose="05050102010706020507" pitchFamily="18" charset="2"/>
              </a:rPr>
              <a:t></a:t>
            </a:r>
            <a:r>
              <a:rPr lang="zh-CN" altLang="en-US" sz="1200" b="1" baseline="-30000" dirty="0">
                <a:latin typeface="Times New Roman" panose="02020603050405020304" pitchFamily="18" charset="0"/>
                <a:cs typeface="Times New Roman" panose="02020603050405020304" pitchFamily="18" charset="0"/>
              </a:rPr>
              <a:t>2</a:t>
            </a:r>
            <a:r>
              <a:rPr lang="zh-CN" altLang="en-US" sz="1200" b="1" dirty="0">
                <a:latin typeface="Times New Roman" panose="02020603050405020304" pitchFamily="18" charset="0"/>
                <a:cs typeface="Times New Roman" panose="02020603050405020304" pitchFamily="18" charset="0"/>
              </a:rPr>
              <a:t>, …, </a:t>
            </a:r>
            <a:r>
              <a:rPr lang="zh-CN" altLang="en-US" sz="1200" b="1" i="1" dirty="0">
                <a:latin typeface="Times New Roman" panose="02020603050405020304" pitchFamily="18" charset="0"/>
                <a:cs typeface="Times New Roman" panose="02020603050405020304" pitchFamily="18" charset="0"/>
                <a:sym typeface="Symbol" panose="05050102010706020507" pitchFamily="18" charset="2"/>
              </a:rPr>
              <a:t></a:t>
            </a:r>
            <a:r>
              <a:rPr lang="en-US" altLang="zh-CN" sz="1200" b="1" i="1" baseline="-30000" dirty="0">
                <a:latin typeface="Times New Roman" panose="02020603050405020304" pitchFamily="18" charset="0"/>
                <a:cs typeface="Times New Roman" panose="02020603050405020304" pitchFamily="18" charset="0"/>
              </a:rPr>
              <a:t>m</a:t>
            </a:r>
            <a:r>
              <a:rPr lang="en-US" altLang="zh-CN" sz="1200" b="1" dirty="0">
                <a:latin typeface="Times New Roman" panose="02020603050405020304" pitchFamily="18" charset="0"/>
                <a:cs typeface="Times New Roman" panose="02020603050405020304" pitchFamily="18" charset="0"/>
              </a:rPr>
              <a:t>}</a:t>
            </a:r>
            <a:r>
              <a:rPr lang="zh-CN" altLang="en-US" sz="1200" b="1" dirty="0">
                <a:latin typeface="Times New Roman" panose="02020603050405020304" pitchFamily="18" charset="0"/>
                <a:cs typeface="Times New Roman" panose="02020603050405020304" pitchFamily="18" charset="0"/>
              </a:rPr>
              <a:t>中任何两个</a:t>
            </a:r>
            <a:r>
              <a:rPr lang="zh-CN" altLang="en-US" sz="1200" b="1" i="1" dirty="0">
                <a:latin typeface="Times New Roman" panose="02020603050405020304" pitchFamily="18" charset="0"/>
                <a:cs typeface="Times New Roman" panose="02020603050405020304" pitchFamily="18" charset="0"/>
                <a:sym typeface="Symbol" panose="05050102010706020507" pitchFamily="18" charset="2"/>
              </a:rPr>
              <a:t></a:t>
            </a:r>
            <a:r>
              <a:rPr lang="en-US" altLang="zh-CN" sz="1200" b="1" i="1" baseline="-30000" dirty="0" err="1">
                <a:latin typeface="Times New Roman" panose="02020603050405020304" pitchFamily="18" charset="0"/>
                <a:cs typeface="Times New Roman" panose="02020603050405020304" pitchFamily="18" charset="0"/>
              </a:rPr>
              <a:t>i</a:t>
            </a:r>
            <a:r>
              <a:rPr lang="zh-CN" altLang="en-US" sz="1200" b="1" dirty="0">
                <a:latin typeface="Times New Roman" panose="02020603050405020304" pitchFamily="18" charset="0"/>
                <a:cs typeface="Times New Roman" panose="02020603050405020304" pitchFamily="18" charset="0"/>
              </a:rPr>
              <a:t>, </a:t>
            </a:r>
            <a:r>
              <a:rPr lang="zh-CN" altLang="en-US" sz="1200" b="1" i="1" dirty="0">
                <a:latin typeface="Times New Roman" panose="02020603050405020304" pitchFamily="18" charset="0"/>
                <a:cs typeface="Times New Roman" panose="02020603050405020304" pitchFamily="18" charset="0"/>
                <a:sym typeface="Symbol" panose="05050102010706020507" pitchFamily="18" charset="2"/>
              </a:rPr>
              <a:t></a:t>
            </a:r>
            <a:r>
              <a:rPr lang="en-US" altLang="zh-CN" b="1" i="1" baseline="-30000" dirty="0">
                <a:latin typeface="Times New Roman" panose="02020603050405020304" pitchFamily="18" charset="0"/>
                <a:cs typeface="Times New Roman" panose="02020603050405020304" pitchFamily="18" charset="0"/>
                <a:sym typeface="Symbol" panose="05050102010706020507" pitchFamily="18" charset="2"/>
              </a:rPr>
              <a:t>j</a:t>
            </a:r>
            <a:r>
              <a:rPr lang="zh-CN" altLang="en-US" sz="1200" b="1" dirty="0">
                <a:latin typeface="Times New Roman" panose="02020603050405020304" pitchFamily="18" charset="0"/>
                <a:cs typeface="Times New Roman" panose="02020603050405020304" pitchFamily="18" charset="0"/>
              </a:rPr>
              <a:t>互</a:t>
            </a:r>
            <a:r>
              <a:rPr lang="en-US" altLang="zh-CN" b="1" dirty="0">
                <a:latin typeface="Times New Roman" panose="02020603050405020304" pitchFamily="18" charset="0"/>
                <a:cs typeface="Times New Roman" panose="02020603050405020304" pitchFamily="18" charset="0"/>
              </a:rPr>
              <a:t>(</a:t>
            </a:r>
            <a:r>
              <a:rPr lang="en-US" altLang="zh-CN" b="1" i="1" dirty="0" err="1">
                <a:latin typeface="Times New Roman" panose="02020603050405020304" pitchFamily="18" charset="0"/>
                <a:cs typeface="Times New Roman" panose="02020603050405020304" pitchFamily="18" charset="0"/>
              </a:rPr>
              <a:t>i</a:t>
            </a:r>
            <a:r>
              <a:rPr lang="en-US" altLang="zh-CN" b="1" i="1" dirty="0">
                <a:latin typeface="Times New Roman" panose="02020603050405020304" pitchFamily="18" charset="0"/>
                <a:cs typeface="Times New Roman" panose="02020603050405020304" pitchFamily="18" charset="0"/>
              </a:rPr>
              <a:t> </a:t>
            </a:r>
            <a:r>
              <a:rPr lang="en-US" altLang="zh-CN" sz="1200" b="1" dirty="0">
                <a:latin typeface="Times New Roman" panose="02020603050405020304" pitchFamily="18" charset="0"/>
                <a:cs typeface="Times New Roman" panose="02020603050405020304" pitchFamily="18" charset="0"/>
                <a:sym typeface="Symbol" panose="05050102010706020507" pitchFamily="18" charset="2"/>
              </a:rPr>
              <a:t>≠ </a:t>
            </a:r>
            <a:r>
              <a:rPr lang="en-US" altLang="zh-CN" b="1" i="1" dirty="0">
                <a:latin typeface="Times New Roman" panose="02020603050405020304" pitchFamily="18" charset="0"/>
                <a:cs typeface="Times New Roman" panose="02020603050405020304" pitchFamily="18" charset="0"/>
              </a:rPr>
              <a:t>j</a:t>
            </a:r>
            <a:r>
              <a:rPr lang="en-US" altLang="zh-CN" b="1" dirty="0">
                <a:latin typeface="Times New Roman" panose="02020603050405020304" pitchFamily="18" charset="0"/>
                <a:cs typeface="Times New Roman" panose="02020603050405020304" pitchFamily="18" charset="0"/>
              </a:rPr>
              <a:t>)</a:t>
            </a:r>
            <a:r>
              <a:rPr lang="zh-CN" altLang="en-US" b="1" dirty="0">
                <a:latin typeface="Times New Roman" panose="02020603050405020304" pitchFamily="18" charset="0"/>
                <a:cs typeface="Times New Roman" panose="02020603050405020304" pitchFamily="18" charset="0"/>
              </a:rPr>
              <a:t>互</a:t>
            </a:r>
            <a:r>
              <a:rPr lang="zh-CN" altLang="en-US" sz="1200" b="1" dirty="0">
                <a:latin typeface="Times New Roman" panose="02020603050405020304" pitchFamily="18" charset="0"/>
                <a:cs typeface="Times New Roman" panose="02020603050405020304" pitchFamily="18" charset="0"/>
              </a:rPr>
              <a:t>不为前缀, 则称</a:t>
            </a:r>
            <a:r>
              <a:rPr lang="en-US" altLang="zh-CN" sz="1200" b="1" dirty="0">
                <a:latin typeface="Times New Roman" panose="02020603050405020304" pitchFamily="18" charset="0"/>
                <a:cs typeface="Times New Roman" panose="02020603050405020304" pitchFamily="18" charset="0"/>
              </a:rPr>
              <a:t>B</a:t>
            </a:r>
            <a:r>
              <a:rPr lang="zh-CN" altLang="en-US" sz="1200" b="1" dirty="0">
                <a:latin typeface="Times New Roman" panose="02020603050405020304" pitchFamily="18" charset="0"/>
                <a:cs typeface="Times New Roman" panose="02020603050405020304" pitchFamily="18" charset="0"/>
              </a:rPr>
              <a:t>为</a:t>
            </a:r>
            <a:r>
              <a:rPr lang="zh-CN" altLang="en-US" sz="1200" b="1" dirty="0">
                <a:solidFill>
                  <a:srgbClr val="FF3300"/>
                </a:solidFill>
                <a:latin typeface="Times New Roman" panose="02020603050405020304" pitchFamily="18" charset="0"/>
                <a:cs typeface="Times New Roman" panose="02020603050405020304" pitchFamily="18" charset="0"/>
              </a:rPr>
              <a:t>前缀码。</a:t>
            </a:r>
            <a:endParaRPr lang="en-US" altLang="zh-CN" sz="1200" b="1" dirty="0">
              <a:solidFill>
                <a:srgbClr val="FF3300"/>
              </a:solidFill>
              <a:latin typeface="Times New Roman" panose="02020603050405020304" pitchFamily="18" charset="0"/>
              <a:cs typeface="Times New Roman" panose="02020603050405020304" pitchFamily="18" charset="0"/>
            </a:endParaRPr>
          </a:p>
          <a:p>
            <a:pPr marL="87313" indent="403225" algn="just" eaLnBrk="1" hangingPunct="1">
              <a:buFontTx/>
              <a:buNone/>
            </a:pPr>
            <a:endParaRPr lang="zh-CN" altLang="en-US" sz="1200" b="1" dirty="0">
              <a:latin typeface="Times New Roman" panose="02020603050405020304" pitchFamily="18" charset="0"/>
              <a:cs typeface="Times New Roman" panose="02020603050405020304" pitchFamily="18" charset="0"/>
            </a:endParaRPr>
          </a:p>
          <a:p>
            <a:pPr indent="304800" eaLnBrk="1" hangingPunct="1">
              <a:buFontTx/>
              <a:buNone/>
            </a:pPr>
            <a:r>
              <a:rPr lang="zh-CN" altLang="en-US" sz="1200" b="1" dirty="0"/>
              <a:t>只出现两个符号(如0与1)的前缀码称作</a:t>
            </a:r>
            <a:r>
              <a:rPr lang="zh-CN" altLang="en-US" sz="1200" b="1" dirty="0">
                <a:solidFill>
                  <a:srgbClr val="FF3300"/>
                </a:solidFill>
              </a:rPr>
              <a:t>二元前缀码</a:t>
            </a:r>
            <a:endParaRPr lang="en-US" altLang="zh-CN" sz="1200" b="1" dirty="0">
              <a:solidFill>
                <a:srgbClr val="FF3300"/>
              </a:solidFill>
            </a:endParaRPr>
          </a:p>
          <a:p>
            <a:pPr indent="304800" eaLnBrk="1" hangingPunct="1">
              <a:buFontTx/>
              <a:buNone/>
            </a:pPr>
            <a:endParaRPr lang="zh-CN" altLang="en-US" sz="1200" b="1" dirty="0"/>
          </a:p>
          <a:p>
            <a:pPr eaLnBrk="1" hangingPunct="1">
              <a:buFontTx/>
              <a:buNone/>
            </a:pPr>
            <a:r>
              <a:rPr lang="zh-CN" altLang="en-US" sz="1200" b="1" dirty="0">
                <a:solidFill>
                  <a:srgbClr val="00B0F0"/>
                </a:solidFill>
              </a:rPr>
              <a:t>例</a:t>
            </a:r>
            <a:r>
              <a:rPr lang="zh-CN" altLang="en-US" sz="1200" b="1" dirty="0"/>
              <a:t>：   {0,10,110, 1111}, {10,01,001,110}是2元前缀码</a:t>
            </a:r>
          </a:p>
          <a:p>
            <a:pPr eaLnBrk="1" hangingPunct="1">
              <a:buFontTx/>
              <a:buNone/>
            </a:pPr>
            <a:r>
              <a:rPr lang="zh-CN" altLang="en-US" sz="1200" b="1" dirty="0"/>
              <a:t>           {0,10,010, 1010} 不是前缀码</a:t>
            </a:r>
          </a:p>
          <a:p>
            <a:endParaRPr lang="zh-CN" altLang="en-US" dirty="0"/>
          </a:p>
        </p:txBody>
      </p:sp>
      <p:sp>
        <p:nvSpPr>
          <p:cNvPr id="4" name="灯片编号占位符 3"/>
          <p:cNvSpPr>
            <a:spLocks noGrp="1"/>
          </p:cNvSpPr>
          <p:nvPr>
            <p:ph type="sldNum" sz="quarter" idx="10"/>
          </p:nvPr>
        </p:nvSpPr>
        <p:spPr/>
        <p:txBody>
          <a:bodyPr/>
          <a:lstStyle/>
          <a:p>
            <a:fld id="{CAFE74B6-F93C-4D90-BE1A-7EFEDB35C0D4}" type="slidenum">
              <a:rPr lang="zh-CN" altLang="en-US" smtClean="0"/>
              <a:t>54</a:t>
            </a:fld>
            <a:endParaRPr lang="zh-CN" altLang="en-US"/>
          </a:p>
        </p:txBody>
      </p:sp>
    </p:spTree>
    <p:extLst>
      <p:ext uri="{BB962C8B-B14F-4D97-AF65-F5344CB8AC3E}">
        <p14:creationId xmlns:p14="http://schemas.microsoft.com/office/powerpoint/2010/main" val="958798246"/>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indent="0" algn="just">
              <a:lnSpc>
                <a:spcPct val="110000"/>
              </a:lnSpc>
              <a:buNone/>
            </a:pPr>
            <a:r>
              <a:rPr lang="zh-CN" altLang="en-US" b="1" dirty="0">
                <a:solidFill>
                  <a:srgbClr val="FF0000"/>
                </a:solidFill>
                <a:latin typeface="Times New Roman" panose="02020603050405020304" pitchFamily="18" charset="0"/>
                <a:cs typeface="Times New Roman" panose="02020603050405020304" pitchFamily="18" charset="0"/>
              </a:rPr>
              <a:t>一棵</a:t>
            </a:r>
            <a:r>
              <a:rPr lang="en-US" altLang="zh-CN" b="1" dirty="0">
                <a:solidFill>
                  <a:srgbClr val="FF0000"/>
                </a:solidFill>
                <a:latin typeface="Times New Roman" panose="02020603050405020304" pitchFamily="18" charset="0"/>
                <a:cs typeface="Times New Roman" panose="02020603050405020304" pitchFamily="18" charset="0"/>
              </a:rPr>
              <a:t>2</a:t>
            </a:r>
            <a:r>
              <a:rPr lang="zh-CN" altLang="en-US" b="1" dirty="0">
                <a:solidFill>
                  <a:srgbClr val="FF0000"/>
                </a:solidFill>
                <a:latin typeface="Times New Roman" panose="02020603050405020304" pitchFamily="18" charset="0"/>
                <a:cs typeface="Times New Roman" panose="02020603050405020304" pitchFamily="18" charset="0"/>
              </a:rPr>
              <a:t>叉树产生一组二元前缀码</a:t>
            </a:r>
            <a:r>
              <a:rPr lang="en-US" altLang="zh-CN" b="1" dirty="0">
                <a:solidFill>
                  <a:srgbClr val="FF0000"/>
                </a:solidFill>
                <a:latin typeface="Times New Roman" panose="02020603050405020304" pitchFamily="18" charset="0"/>
                <a:cs typeface="Times New Roman" panose="02020603050405020304" pitchFamily="18" charset="0"/>
              </a:rPr>
              <a:t>:</a:t>
            </a:r>
          </a:p>
          <a:p>
            <a:pPr marL="0" indent="0" algn="just">
              <a:lnSpc>
                <a:spcPct val="110000"/>
              </a:lnSpc>
              <a:buNone/>
            </a:pPr>
            <a:r>
              <a:rPr lang="en-US" altLang="zh-CN" b="1" dirty="0">
                <a:latin typeface="Times New Roman" panose="02020603050405020304" pitchFamily="18" charset="0"/>
                <a:cs typeface="Times New Roman" panose="02020603050405020304" pitchFamily="18" charset="0"/>
              </a:rPr>
              <a:t>①</a:t>
            </a:r>
            <a:r>
              <a:rPr lang="zh-CN" altLang="en-US" b="1" dirty="0">
                <a:latin typeface="Times New Roman" panose="02020603050405020304" pitchFamily="18" charset="0"/>
                <a:cs typeface="Times New Roman" panose="02020603050405020304" pitchFamily="18" charset="0"/>
              </a:rPr>
              <a:t>对每个分支点, 若关联2条边, 则给左边标0, 右边标1; </a:t>
            </a:r>
            <a:endParaRPr lang="en-US" altLang="zh-CN" b="1" dirty="0">
              <a:latin typeface="Times New Roman" panose="02020603050405020304" pitchFamily="18" charset="0"/>
              <a:cs typeface="Times New Roman" panose="02020603050405020304" pitchFamily="18" charset="0"/>
            </a:endParaRPr>
          </a:p>
          <a:p>
            <a:pPr marL="0" indent="0" algn="just">
              <a:lnSpc>
                <a:spcPct val="110000"/>
              </a:lnSpc>
              <a:buNone/>
            </a:pPr>
            <a:r>
              <a:rPr lang="zh-CN" altLang="en-US" b="1" dirty="0">
                <a:latin typeface="Times New Roman" panose="02020603050405020304" pitchFamily="18" charset="0"/>
                <a:cs typeface="Times New Roman" panose="02020603050405020304" pitchFamily="18" charset="0"/>
              </a:rPr>
              <a:t>②若只关联1条边, 则可以给它标0(看作左边), 也可以标1(看作右边). </a:t>
            </a:r>
            <a:endParaRPr lang="en-US" altLang="zh-CN" b="1" dirty="0">
              <a:latin typeface="Times New Roman" panose="02020603050405020304" pitchFamily="18" charset="0"/>
              <a:cs typeface="Times New Roman" panose="02020603050405020304" pitchFamily="18" charset="0"/>
            </a:endParaRPr>
          </a:p>
          <a:p>
            <a:pPr marL="0" indent="0" algn="just">
              <a:lnSpc>
                <a:spcPct val="110000"/>
              </a:lnSpc>
              <a:buNone/>
            </a:pPr>
            <a:r>
              <a:rPr lang="zh-CN" altLang="en-US" b="1" dirty="0">
                <a:latin typeface="Times New Roman" panose="02020603050405020304" pitchFamily="18" charset="0"/>
                <a:cs typeface="Times New Roman" panose="02020603050405020304" pitchFamily="18" charset="0"/>
              </a:rPr>
              <a:t>③将从树根到每一片树叶的通路上标识的数字组成的字符串记在树叶处, 所得的字符串构成一个前缀码.</a:t>
            </a:r>
            <a:endParaRPr lang="en-US" altLang="zh-CN" b="1" dirty="0">
              <a:latin typeface="Times New Roman" panose="02020603050405020304" pitchFamily="18" charset="0"/>
              <a:cs typeface="Times New Roman" panose="02020603050405020304" pitchFamily="18" charset="0"/>
            </a:endParaRPr>
          </a:p>
          <a:p>
            <a:pPr marL="0" marR="0" lvl="0" indent="0" algn="just" defTabSz="914400" rtl="0" eaLnBrk="1" fontAlgn="auto" latinLnBrk="0" hangingPunct="1">
              <a:lnSpc>
                <a:spcPct val="110000"/>
              </a:lnSpc>
              <a:spcBef>
                <a:spcPts val="0"/>
              </a:spcBef>
              <a:spcAft>
                <a:spcPts val="0"/>
              </a:spcAft>
              <a:buClrTx/>
              <a:buSzTx/>
              <a:buFontTx/>
              <a:buNone/>
              <a:tabLst/>
              <a:defRPr/>
            </a:pPr>
            <a:r>
              <a:rPr kumimoji="0" lang="zh-CN" altLang="en-US" sz="1200" b="1" dirty="0"/>
              <a:t>前缀码：{00, 11, 011, 0100 , 010</a:t>
            </a:r>
            <a:r>
              <a:rPr kumimoji="0" lang="en-US" altLang="zh-CN" sz="1200" b="1" dirty="0"/>
              <a:t>1</a:t>
            </a:r>
            <a:r>
              <a:rPr kumimoji="0" lang="zh-CN" altLang="en-US" sz="1200" b="1" dirty="0"/>
              <a:t>}， {00, 1</a:t>
            </a:r>
            <a:r>
              <a:rPr kumimoji="0" lang="en-US" altLang="zh-CN" sz="1200" b="1" dirty="0"/>
              <a:t>0</a:t>
            </a:r>
            <a:r>
              <a:rPr kumimoji="0" lang="zh-CN" altLang="en-US" sz="1200" b="1" dirty="0"/>
              <a:t>, 011, 0100 , 010</a:t>
            </a:r>
            <a:r>
              <a:rPr kumimoji="0" lang="en-US" altLang="zh-CN" sz="1200" b="1" dirty="0"/>
              <a:t>1</a:t>
            </a:r>
            <a:r>
              <a:rPr kumimoji="0" lang="zh-CN" altLang="en-US" sz="1200" b="1" dirty="0"/>
              <a:t>}</a:t>
            </a:r>
          </a:p>
          <a:p>
            <a:pPr marL="0" indent="0" algn="just">
              <a:lnSpc>
                <a:spcPct val="110000"/>
              </a:lnSpc>
              <a:buNone/>
            </a:pPr>
            <a:endParaRPr lang="en-US" altLang="zh-CN" b="1" dirty="0">
              <a:latin typeface="Times New Roman" panose="02020603050405020304" pitchFamily="18" charset="0"/>
              <a:cs typeface="Times New Roman" panose="02020603050405020304" pitchFamily="18" charset="0"/>
            </a:endParaRPr>
          </a:p>
          <a:p>
            <a:endParaRPr lang="zh-CN" altLang="en-US" dirty="0"/>
          </a:p>
        </p:txBody>
      </p:sp>
      <p:sp>
        <p:nvSpPr>
          <p:cNvPr id="4" name="灯片编号占位符 3"/>
          <p:cNvSpPr>
            <a:spLocks noGrp="1"/>
          </p:cNvSpPr>
          <p:nvPr>
            <p:ph type="sldNum" sz="quarter" idx="10"/>
          </p:nvPr>
        </p:nvSpPr>
        <p:spPr/>
        <p:txBody>
          <a:bodyPr/>
          <a:lstStyle/>
          <a:p>
            <a:fld id="{CAFE74B6-F93C-4D90-BE1A-7EFEDB35C0D4}" type="slidenum">
              <a:rPr lang="zh-CN" altLang="en-US" smtClean="0"/>
              <a:t>55</a:t>
            </a:fld>
            <a:endParaRPr lang="zh-CN" altLang="en-US"/>
          </a:p>
        </p:txBody>
      </p:sp>
    </p:spTree>
    <p:extLst>
      <p:ext uri="{BB962C8B-B14F-4D97-AF65-F5344CB8AC3E}">
        <p14:creationId xmlns:p14="http://schemas.microsoft.com/office/powerpoint/2010/main" val="476840422"/>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gn="just" eaLnBrk="1" hangingPunct="1">
              <a:lnSpc>
                <a:spcPct val="110000"/>
              </a:lnSpc>
              <a:buFontTx/>
              <a:buNone/>
            </a:pPr>
            <a:r>
              <a:rPr lang="zh-CN" altLang="en-US" sz="1200" b="1" dirty="0">
                <a:solidFill>
                  <a:srgbClr val="00B0F0"/>
                </a:solidFill>
              </a:rPr>
              <a:t>例：</a:t>
            </a:r>
            <a:r>
              <a:rPr lang="zh-CN" altLang="en-US" sz="1200" b="1" dirty="0"/>
              <a:t>在通信中,设八进制数字出现的频率(%)如下:</a:t>
            </a:r>
          </a:p>
          <a:p>
            <a:pPr algn="just" eaLnBrk="1" hangingPunct="1">
              <a:lnSpc>
                <a:spcPct val="110000"/>
              </a:lnSpc>
              <a:buFontTx/>
              <a:buNone/>
            </a:pPr>
            <a:r>
              <a:rPr lang="zh-CN" altLang="en-US" sz="1200" b="1" dirty="0"/>
              <a:t>      </a:t>
            </a:r>
            <a:r>
              <a:rPr lang="zh-CN" altLang="en-US" sz="1200" b="1" dirty="0">
                <a:latin typeface="Times New Roman" panose="02020603050405020304" pitchFamily="18" charset="0"/>
                <a:cs typeface="Times New Roman" panose="02020603050405020304" pitchFamily="18" charset="0"/>
              </a:rPr>
              <a:t>0: </a:t>
            </a:r>
            <a:r>
              <a:rPr lang="en-US" altLang="zh-CN" sz="1200" b="1" dirty="0">
                <a:latin typeface="Times New Roman" panose="02020603050405020304" pitchFamily="18" charset="0"/>
                <a:cs typeface="Times New Roman" panose="02020603050405020304" pitchFamily="18" charset="0"/>
              </a:rPr>
              <a:t>30</a:t>
            </a:r>
            <a:r>
              <a:rPr lang="zh-CN" altLang="en-US" sz="1200" b="1" dirty="0">
                <a:latin typeface="Times New Roman" panose="02020603050405020304" pitchFamily="18" charset="0"/>
                <a:cs typeface="Times New Roman" panose="02020603050405020304" pitchFamily="18" charset="0"/>
              </a:rPr>
              <a:t>,  1: 20,  2: 15,  3: 10,  4: 10,  5: </a:t>
            </a:r>
            <a:r>
              <a:rPr lang="en-US" altLang="zh-CN" sz="1200" b="1" dirty="0">
                <a:latin typeface="Times New Roman" panose="02020603050405020304" pitchFamily="18" charset="0"/>
                <a:cs typeface="Times New Roman" panose="02020603050405020304" pitchFamily="18" charset="0"/>
              </a:rPr>
              <a:t>5</a:t>
            </a:r>
            <a:r>
              <a:rPr lang="zh-CN" altLang="en-US" sz="1200" b="1" dirty="0">
                <a:latin typeface="Times New Roman" panose="02020603050405020304" pitchFamily="18" charset="0"/>
                <a:cs typeface="Times New Roman" panose="02020603050405020304" pitchFamily="18" charset="0"/>
              </a:rPr>
              <a:t>,  6: 5,  7: 5</a:t>
            </a:r>
          </a:p>
          <a:p>
            <a:pPr eaLnBrk="1" hangingPunct="1">
              <a:lnSpc>
                <a:spcPct val="110000"/>
              </a:lnSpc>
              <a:buFontTx/>
              <a:buNone/>
            </a:pPr>
            <a:r>
              <a:rPr lang="zh-CN" altLang="en-US" sz="1200" b="1" dirty="0">
                <a:latin typeface="Times New Roman" panose="02020603050405020304" pitchFamily="18" charset="0"/>
                <a:cs typeface="Times New Roman" panose="02020603050405020304" pitchFamily="18" charset="0"/>
              </a:rPr>
              <a:t>采用2元前缀码, 求传输数字最少的2元前缀码 (称作</a:t>
            </a:r>
            <a:r>
              <a:rPr lang="zh-CN" altLang="en-US" sz="1200" b="1" dirty="0">
                <a:solidFill>
                  <a:srgbClr val="FF3300"/>
                </a:solidFill>
                <a:latin typeface="Times New Roman" panose="02020603050405020304" pitchFamily="18" charset="0"/>
                <a:cs typeface="Times New Roman" panose="02020603050405020304" pitchFamily="18" charset="0"/>
              </a:rPr>
              <a:t>最佳</a:t>
            </a:r>
          </a:p>
          <a:p>
            <a:pPr eaLnBrk="1" hangingPunct="1">
              <a:lnSpc>
                <a:spcPct val="110000"/>
              </a:lnSpc>
              <a:buFontTx/>
              <a:buNone/>
            </a:pPr>
            <a:r>
              <a:rPr lang="zh-CN" altLang="en-US" sz="1200" b="1" dirty="0">
                <a:solidFill>
                  <a:srgbClr val="FF3300"/>
                </a:solidFill>
                <a:latin typeface="Times New Roman" panose="02020603050405020304" pitchFamily="18" charset="0"/>
                <a:cs typeface="Times New Roman" panose="02020603050405020304" pitchFamily="18" charset="0"/>
              </a:rPr>
              <a:t>前缀码</a:t>
            </a:r>
            <a:r>
              <a:rPr lang="zh-CN" altLang="en-US" sz="1200" b="1" dirty="0">
                <a:latin typeface="Times New Roman" panose="02020603050405020304" pitchFamily="18" charset="0"/>
                <a:cs typeface="Times New Roman" panose="02020603050405020304" pitchFamily="18" charset="0"/>
              </a:rPr>
              <a:t>), 并求传输100</a:t>
            </a:r>
            <a:r>
              <a:rPr lang="en-US" altLang="zh-CN" sz="1200" b="1" dirty="0">
                <a:latin typeface="Times New Roman" panose="02020603050405020304" pitchFamily="18" charset="0"/>
                <a:cs typeface="Times New Roman" panose="02020603050405020304" pitchFamily="18" charset="0"/>
              </a:rPr>
              <a:t>00</a:t>
            </a:r>
            <a:r>
              <a:rPr lang="zh-CN" altLang="en-US" sz="1200" b="1" dirty="0">
                <a:latin typeface="Times New Roman" panose="02020603050405020304" pitchFamily="18" charset="0"/>
                <a:cs typeface="Times New Roman" panose="02020603050405020304" pitchFamily="18" charset="0"/>
              </a:rPr>
              <a:t>个按上述比例出现的八进制数字需</a:t>
            </a:r>
          </a:p>
          <a:p>
            <a:pPr eaLnBrk="1" hangingPunct="1">
              <a:lnSpc>
                <a:spcPct val="110000"/>
              </a:lnSpc>
              <a:buFontTx/>
              <a:buNone/>
            </a:pPr>
            <a:r>
              <a:rPr lang="zh-CN" altLang="en-US" sz="1200" b="1" dirty="0">
                <a:latin typeface="Times New Roman" panose="02020603050405020304" pitchFamily="18" charset="0"/>
                <a:cs typeface="Times New Roman" panose="02020603050405020304" pitchFamily="18" charset="0"/>
              </a:rPr>
              <a:t>要多少个二进制数字？若用等长的 (长为3) 的码字传输需</a:t>
            </a:r>
          </a:p>
          <a:p>
            <a:pPr eaLnBrk="1" hangingPunct="1">
              <a:lnSpc>
                <a:spcPct val="110000"/>
              </a:lnSpc>
              <a:buFontTx/>
              <a:buNone/>
            </a:pPr>
            <a:r>
              <a:rPr lang="zh-CN" altLang="en-US" sz="1200" b="1" dirty="0">
                <a:latin typeface="Times New Roman" panose="02020603050405020304" pitchFamily="18" charset="0"/>
                <a:cs typeface="Times New Roman" panose="02020603050405020304" pitchFamily="18" charset="0"/>
              </a:rPr>
              <a:t>要多少个二进制数字?</a:t>
            </a:r>
            <a:endParaRPr lang="en-US" altLang="zh-CN" sz="1200" b="1" dirty="0">
              <a:latin typeface="Times New Roman" panose="02020603050405020304" pitchFamily="18" charset="0"/>
              <a:cs typeface="Times New Roman" panose="02020603050405020304" pitchFamily="18" charset="0"/>
            </a:endParaRPr>
          </a:p>
          <a:p>
            <a:pPr eaLnBrk="1" hangingPunct="1">
              <a:lnSpc>
                <a:spcPct val="110000"/>
              </a:lnSpc>
              <a:buFontTx/>
              <a:buNone/>
            </a:pPr>
            <a:r>
              <a:rPr lang="zh-CN" altLang="en-US" sz="1200" b="1" dirty="0">
                <a:solidFill>
                  <a:srgbClr val="00B0F0"/>
                </a:solidFill>
                <a:latin typeface="Times New Roman" panose="02020603050405020304" pitchFamily="18" charset="0"/>
                <a:cs typeface="Times New Roman" panose="02020603050405020304" pitchFamily="18" charset="0"/>
              </a:rPr>
              <a:t>解：</a:t>
            </a:r>
            <a:r>
              <a:rPr lang="zh-CN" altLang="en-US" sz="1200" b="1" dirty="0">
                <a:latin typeface="Times New Roman" panose="02020603050405020304" pitchFamily="18" charset="0"/>
                <a:cs typeface="Times New Roman" panose="02020603050405020304" pitchFamily="18" charset="0"/>
              </a:rPr>
              <a:t>①</a:t>
            </a:r>
            <a:r>
              <a:rPr lang="zh-CN" altLang="en-US" sz="1200" b="1" dirty="0">
                <a:solidFill>
                  <a:srgbClr val="00B0F0"/>
                </a:solidFill>
                <a:latin typeface="Times New Roman" panose="02020603050405020304" pitchFamily="18" charset="0"/>
                <a:cs typeface="Times New Roman" panose="02020603050405020304" pitchFamily="18" charset="0"/>
              </a:rPr>
              <a:t> </a:t>
            </a:r>
            <a:r>
              <a:rPr lang="zh-CN" altLang="en-US" sz="1200" b="1" dirty="0">
                <a:latin typeface="Times New Roman" panose="02020603050405020304" pitchFamily="18" charset="0"/>
                <a:cs typeface="Times New Roman" panose="02020603050405020304" pitchFamily="18" charset="0"/>
              </a:rPr>
              <a:t>用</a:t>
            </a:r>
            <a:r>
              <a:rPr lang="en-US" altLang="zh-CN" sz="1200" b="1" dirty="0">
                <a:latin typeface="Times New Roman" panose="02020603050405020304" pitchFamily="18" charset="0"/>
                <a:cs typeface="Times New Roman" panose="02020603050405020304" pitchFamily="18" charset="0"/>
              </a:rPr>
              <a:t>Huffman</a:t>
            </a:r>
            <a:r>
              <a:rPr lang="zh-CN" altLang="en-US" sz="1200" b="1" dirty="0">
                <a:latin typeface="Times New Roman" panose="02020603050405020304" pitchFamily="18" charset="0"/>
                <a:cs typeface="Times New Roman" panose="02020603050405020304" pitchFamily="18" charset="0"/>
              </a:rPr>
              <a:t>算法求以频率(乘以100)为权的最优2元树. </a:t>
            </a:r>
          </a:p>
          <a:p>
            <a:pPr eaLnBrk="1" hangingPunct="1">
              <a:lnSpc>
                <a:spcPct val="110000"/>
              </a:lnSpc>
              <a:buFontTx/>
              <a:buNone/>
            </a:pPr>
            <a:r>
              <a:rPr lang="zh-CN" altLang="en-US" sz="1200" b="1" dirty="0">
                <a:latin typeface="Times New Roman" panose="02020603050405020304" pitchFamily="18" charset="0"/>
                <a:cs typeface="Times New Roman" panose="02020603050405020304" pitchFamily="18" charset="0"/>
              </a:rPr>
              <a:t>设 </a:t>
            </a:r>
            <a:r>
              <a:rPr lang="en-US" altLang="zh-CN" sz="1200" b="1" i="1" dirty="0">
                <a:latin typeface="Times New Roman" panose="02020603050405020304" pitchFamily="18" charset="0"/>
                <a:cs typeface="Times New Roman" panose="02020603050405020304" pitchFamily="18" charset="0"/>
              </a:rPr>
              <a:t>w</a:t>
            </a:r>
            <a:r>
              <a:rPr lang="en-US" altLang="zh-CN" sz="1200" b="1" baseline="-30000" dirty="0">
                <a:latin typeface="Times New Roman" panose="02020603050405020304" pitchFamily="18" charset="0"/>
                <a:cs typeface="Times New Roman" panose="02020603050405020304" pitchFamily="18" charset="0"/>
              </a:rPr>
              <a:t>1</a:t>
            </a:r>
            <a:r>
              <a:rPr lang="en-US" altLang="zh-CN" sz="1200" b="1" dirty="0">
                <a:latin typeface="Times New Roman" panose="02020603050405020304" pitchFamily="18" charset="0"/>
                <a:cs typeface="Times New Roman" panose="02020603050405020304" pitchFamily="18" charset="0"/>
              </a:rPr>
              <a:t>=5,</a:t>
            </a:r>
            <a:r>
              <a:rPr lang="en-US" altLang="zh-CN" sz="1200" b="1" i="1" dirty="0">
                <a:latin typeface="Times New Roman" panose="02020603050405020304" pitchFamily="18" charset="0"/>
                <a:cs typeface="Times New Roman" panose="02020603050405020304" pitchFamily="18" charset="0"/>
              </a:rPr>
              <a:t>w</a:t>
            </a:r>
            <a:r>
              <a:rPr lang="en-US" altLang="zh-CN" sz="1200" b="1" baseline="-30000" dirty="0">
                <a:latin typeface="Times New Roman" panose="02020603050405020304" pitchFamily="18" charset="0"/>
                <a:cs typeface="Times New Roman" panose="02020603050405020304" pitchFamily="18" charset="0"/>
              </a:rPr>
              <a:t>2</a:t>
            </a:r>
            <a:r>
              <a:rPr lang="en-US" altLang="zh-CN" sz="1200" b="1" dirty="0">
                <a:latin typeface="Times New Roman" panose="02020603050405020304" pitchFamily="18" charset="0"/>
                <a:cs typeface="Times New Roman" panose="02020603050405020304" pitchFamily="18" charset="0"/>
              </a:rPr>
              <a:t>=5,</a:t>
            </a:r>
            <a:r>
              <a:rPr lang="en-US" altLang="zh-CN" sz="1200" b="1" i="1" dirty="0">
                <a:latin typeface="Times New Roman" panose="02020603050405020304" pitchFamily="18" charset="0"/>
                <a:cs typeface="Times New Roman" panose="02020603050405020304" pitchFamily="18" charset="0"/>
              </a:rPr>
              <a:t>w</a:t>
            </a:r>
            <a:r>
              <a:rPr lang="en-US" altLang="zh-CN" sz="1200" b="1" baseline="-30000" dirty="0">
                <a:latin typeface="Times New Roman" panose="02020603050405020304" pitchFamily="18" charset="0"/>
                <a:cs typeface="Times New Roman" panose="02020603050405020304" pitchFamily="18" charset="0"/>
              </a:rPr>
              <a:t>3</a:t>
            </a:r>
            <a:r>
              <a:rPr lang="en-US" altLang="zh-CN" sz="1200" b="1" dirty="0">
                <a:latin typeface="Times New Roman" panose="02020603050405020304" pitchFamily="18" charset="0"/>
                <a:cs typeface="Times New Roman" panose="02020603050405020304" pitchFamily="18" charset="0"/>
              </a:rPr>
              <a:t>=5,</a:t>
            </a:r>
            <a:r>
              <a:rPr lang="en-US" altLang="zh-CN" sz="1200" b="1" i="1" dirty="0">
                <a:latin typeface="Times New Roman" panose="02020603050405020304" pitchFamily="18" charset="0"/>
                <a:cs typeface="Times New Roman" panose="02020603050405020304" pitchFamily="18" charset="0"/>
              </a:rPr>
              <a:t>w</a:t>
            </a:r>
            <a:r>
              <a:rPr lang="en-US" altLang="zh-CN" sz="1200" b="1" baseline="-30000" dirty="0">
                <a:latin typeface="Times New Roman" panose="02020603050405020304" pitchFamily="18" charset="0"/>
                <a:cs typeface="Times New Roman" panose="02020603050405020304" pitchFamily="18" charset="0"/>
              </a:rPr>
              <a:t>4</a:t>
            </a:r>
            <a:r>
              <a:rPr lang="en-US" altLang="zh-CN" sz="1200" b="1" dirty="0">
                <a:latin typeface="Times New Roman" panose="02020603050405020304" pitchFamily="18" charset="0"/>
                <a:cs typeface="Times New Roman" panose="02020603050405020304" pitchFamily="18" charset="0"/>
              </a:rPr>
              <a:t>=10,</a:t>
            </a:r>
            <a:r>
              <a:rPr lang="en-US" altLang="zh-CN" sz="1200" b="1" i="1" dirty="0">
                <a:latin typeface="Times New Roman" panose="02020603050405020304" pitchFamily="18" charset="0"/>
                <a:cs typeface="Times New Roman" panose="02020603050405020304" pitchFamily="18" charset="0"/>
              </a:rPr>
              <a:t>w</a:t>
            </a:r>
            <a:r>
              <a:rPr lang="en-US" altLang="zh-CN" sz="1200" b="1" baseline="-30000" dirty="0">
                <a:latin typeface="Times New Roman" panose="02020603050405020304" pitchFamily="18" charset="0"/>
                <a:cs typeface="Times New Roman" panose="02020603050405020304" pitchFamily="18" charset="0"/>
              </a:rPr>
              <a:t>5</a:t>
            </a:r>
            <a:r>
              <a:rPr lang="en-US" altLang="zh-CN" sz="1200" b="1" dirty="0">
                <a:latin typeface="Times New Roman" panose="02020603050405020304" pitchFamily="18" charset="0"/>
                <a:cs typeface="Times New Roman" panose="02020603050405020304" pitchFamily="18" charset="0"/>
              </a:rPr>
              <a:t>=10,</a:t>
            </a:r>
            <a:r>
              <a:rPr lang="en-US" altLang="zh-CN" sz="1200" b="1" i="1" dirty="0">
                <a:latin typeface="Times New Roman" panose="02020603050405020304" pitchFamily="18" charset="0"/>
                <a:cs typeface="Times New Roman" panose="02020603050405020304" pitchFamily="18" charset="0"/>
              </a:rPr>
              <a:t>w</a:t>
            </a:r>
            <a:r>
              <a:rPr lang="en-US" altLang="zh-CN" sz="1200" b="1" baseline="-30000" dirty="0">
                <a:latin typeface="Times New Roman" panose="02020603050405020304" pitchFamily="18" charset="0"/>
                <a:cs typeface="Times New Roman" panose="02020603050405020304" pitchFamily="18" charset="0"/>
              </a:rPr>
              <a:t>6</a:t>
            </a:r>
            <a:r>
              <a:rPr lang="en-US" altLang="zh-CN" sz="1200" b="1" dirty="0">
                <a:latin typeface="Times New Roman" panose="02020603050405020304" pitchFamily="18" charset="0"/>
                <a:cs typeface="Times New Roman" panose="02020603050405020304" pitchFamily="18" charset="0"/>
              </a:rPr>
              <a:t>=15,</a:t>
            </a:r>
            <a:r>
              <a:rPr lang="en-US" altLang="zh-CN" sz="1200" b="1" i="1" dirty="0">
                <a:latin typeface="Times New Roman" panose="02020603050405020304" pitchFamily="18" charset="0"/>
                <a:cs typeface="Times New Roman" panose="02020603050405020304" pitchFamily="18" charset="0"/>
              </a:rPr>
              <a:t>w</a:t>
            </a:r>
            <a:r>
              <a:rPr lang="en-US" altLang="zh-CN" sz="1200" b="1" baseline="-30000" dirty="0">
                <a:latin typeface="Times New Roman" panose="02020603050405020304" pitchFamily="18" charset="0"/>
                <a:cs typeface="Times New Roman" panose="02020603050405020304" pitchFamily="18" charset="0"/>
              </a:rPr>
              <a:t>7</a:t>
            </a:r>
            <a:r>
              <a:rPr lang="en-US" altLang="zh-CN" sz="1200" b="1" dirty="0">
                <a:latin typeface="Times New Roman" panose="02020603050405020304" pitchFamily="18" charset="0"/>
                <a:cs typeface="Times New Roman" panose="02020603050405020304" pitchFamily="18" charset="0"/>
              </a:rPr>
              <a:t>=20,</a:t>
            </a:r>
            <a:r>
              <a:rPr lang="en-US" altLang="zh-CN" sz="1200" b="1" i="1" dirty="0">
                <a:latin typeface="Times New Roman" panose="02020603050405020304" pitchFamily="18" charset="0"/>
                <a:cs typeface="Times New Roman" panose="02020603050405020304" pitchFamily="18" charset="0"/>
              </a:rPr>
              <a:t>w</a:t>
            </a:r>
            <a:r>
              <a:rPr lang="en-US" altLang="zh-CN" sz="1200" b="1" baseline="-30000" dirty="0">
                <a:latin typeface="Times New Roman" panose="02020603050405020304" pitchFamily="18" charset="0"/>
                <a:cs typeface="Times New Roman" panose="02020603050405020304" pitchFamily="18" charset="0"/>
              </a:rPr>
              <a:t>8</a:t>
            </a:r>
            <a:r>
              <a:rPr lang="en-US" altLang="zh-CN" sz="1200" b="1" dirty="0">
                <a:latin typeface="Times New Roman" panose="02020603050405020304" pitchFamily="18" charset="0"/>
                <a:cs typeface="Times New Roman" panose="02020603050405020304" pitchFamily="18" charset="0"/>
              </a:rPr>
              <a:t>=30</a:t>
            </a:r>
            <a:endParaRPr lang="zh-CN" altLang="en-US" dirty="0"/>
          </a:p>
        </p:txBody>
      </p:sp>
      <p:sp>
        <p:nvSpPr>
          <p:cNvPr id="4" name="灯片编号占位符 3"/>
          <p:cNvSpPr>
            <a:spLocks noGrp="1"/>
          </p:cNvSpPr>
          <p:nvPr>
            <p:ph type="sldNum" sz="quarter" idx="10"/>
          </p:nvPr>
        </p:nvSpPr>
        <p:spPr/>
        <p:txBody>
          <a:bodyPr/>
          <a:lstStyle/>
          <a:p>
            <a:fld id="{CAFE74B6-F93C-4D90-BE1A-7EFEDB35C0D4}" type="slidenum">
              <a:rPr lang="zh-CN" altLang="en-US" smtClean="0"/>
              <a:t>56</a:t>
            </a:fld>
            <a:endParaRPr lang="zh-CN" altLang="en-US"/>
          </a:p>
        </p:txBody>
      </p:sp>
    </p:spTree>
    <p:extLst>
      <p:ext uri="{BB962C8B-B14F-4D97-AF65-F5344CB8AC3E}">
        <p14:creationId xmlns:p14="http://schemas.microsoft.com/office/powerpoint/2010/main" val="3678697333"/>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gn="just" eaLnBrk="1" hangingPunct="1">
              <a:lnSpc>
                <a:spcPct val="110000"/>
              </a:lnSpc>
              <a:buFontTx/>
              <a:buNone/>
            </a:pPr>
            <a:r>
              <a:rPr lang="zh-CN" altLang="en-US" sz="1200" b="1" dirty="0">
                <a:solidFill>
                  <a:srgbClr val="00B0F0"/>
                </a:solidFill>
              </a:rPr>
              <a:t>例：</a:t>
            </a:r>
            <a:r>
              <a:rPr lang="zh-CN" altLang="en-US" sz="1200" b="1" dirty="0"/>
              <a:t>在通信中,设八进制数字出现的频率(%)如下:</a:t>
            </a:r>
          </a:p>
          <a:p>
            <a:pPr algn="just" eaLnBrk="1" hangingPunct="1">
              <a:lnSpc>
                <a:spcPct val="110000"/>
              </a:lnSpc>
              <a:buFontTx/>
              <a:buNone/>
            </a:pPr>
            <a:r>
              <a:rPr lang="zh-CN" altLang="en-US" sz="1200" b="1" dirty="0"/>
              <a:t>      </a:t>
            </a:r>
            <a:r>
              <a:rPr lang="zh-CN" altLang="en-US" sz="1200" b="1" dirty="0">
                <a:latin typeface="Times New Roman" panose="02020603050405020304" pitchFamily="18" charset="0"/>
                <a:cs typeface="Times New Roman" panose="02020603050405020304" pitchFamily="18" charset="0"/>
              </a:rPr>
              <a:t>0: </a:t>
            </a:r>
            <a:r>
              <a:rPr lang="en-US" altLang="zh-CN" sz="1200" b="1" dirty="0">
                <a:latin typeface="Times New Roman" panose="02020603050405020304" pitchFamily="18" charset="0"/>
                <a:cs typeface="Times New Roman" panose="02020603050405020304" pitchFamily="18" charset="0"/>
              </a:rPr>
              <a:t>30</a:t>
            </a:r>
            <a:r>
              <a:rPr lang="zh-CN" altLang="en-US" sz="1200" b="1" dirty="0">
                <a:latin typeface="Times New Roman" panose="02020603050405020304" pitchFamily="18" charset="0"/>
                <a:cs typeface="Times New Roman" panose="02020603050405020304" pitchFamily="18" charset="0"/>
              </a:rPr>
              <a:t>,  1: 20,  2: 15,  3: 10,  4: 10,  5: </a:t>
            </a:r>
            <a:r>
              <a:rPr lang="en-US" altLang="zh-CN" sz="1200" b="1" dirty="0">
                <a:latin typeface="Times New Roman" panose="02020603050405020304" pitchFamily="18" charset="0"/>
                <a:cs typeface="Times New Roman" panose="02020603050405020304" pitchFamily="18" charset="0"/>
              </a:rPr>
              <a:t>5</a:t>
            </a:r>
            <a:r>
              <a:rPr lang="zh-CN" altLang="en-US" sz="1200" b="1" dirty="0">
                <a:latin typeface="Times New Roman" panose="02020603050405020304" pitchFamily="18" charset="0"/>
                <a:cs typeface="Times New Roman" panose="02020603050405020304" pitchFamily="18" charset="0"/>
              </a:rPr>
              <a:t>,  6: 5,  7: 5</a:t>
            </a:r>
          </a:p>
          <a:p>
            <a:pPr eaLnBrk="1" hangingPunct="1">
              <a:lnSpc>
                <a:spcPct val="110000"/>
              </a:lnSpc>
              <a:buFontTx/>
              <a:buNone/>
            </a:pPr>
            <a:r>
              <a:rPr lang="zh-CN" altLang="en-US" sz="1200" b="1" dirty="0">
                <a:latin typeface="Times New Roman" panose="02020603050405020304" pitchFamily="18" charset="0"/>
                <a:cs typeface="Times New Roman" panose="02020603050405020304" pitchFamily="18" charset="0"/>
              </a:rPr>
              <a:t>采用2元前缀码, 求传输数字最少的2元前缀码 (称作</a:t>
            </a:r>
            <a:r>
              <a:rPr lang="zh-CN" altLang="en-US" sz="1200" b="1" dirty="0">
                <a:solidFill>
                  <a:srgbClr val="FF3300"/>
                </a:solidFill>
                <a:latin typeface="Times New Roman" panose="02020603050405020304" pitchFamily="18" charset="0"/>
                <a:cs typeface="Times New Roman" panose="02020603050405020304" pitchFamily="18" charset="0"/>
              </a:rPr>
              <a:t>最佳</a:t>
            </a:r>
          </a:p>
          <a:p>
            <a:pPr eaLnBrk="1" hangingPunct="1">
              <a:lnSpc>
                <a:spcPct val="110000"/>
              </a:lnSpc>
              <a:buFontTx/>
              <a:buNone/>
            </a:pPr>
            <a:r>
              <a:rPr lang="zh-CN" altLang="en-US" sz="1200" b="1" dirty="0">
                <a:solidFill>
                  <a:srgbClr val="FF3300"/>
                </a:solidFill>
                <a:latin typeface="Times New Roman" panose="02020603050405020304" pitchFamily="18" charset="0"/>
                <a:cs typeface="Times New Roman" panose="02020603050405020304" pitchFamily="18" charset="0"/>
              </a:rPr>
              <a:t>前缀码</a:t>
            </a:r>
            <a:r>
              <a:rPr lang="zh-CN" altLang="en-US" sz="1200" b="1" dirty="0">
                <a:latin typeface="Times New Roman" panose="02020603050405020304" pitchFamily="18" charset="0"/>
                <a:cs typeface="Times New Roman" panose="02020603050405020304" pitchFamily="18" charset="0"/>
              </a:rPr>
              <a:t>), 并求传输100</a:t>
            </a:r>
            <a:r>
              <a:rPr lang="en-US" altLang="zh-CN" sz="1200" b="1" dirty="0">
                <a:latin typeface="Times New Roman" panose="02020603050405020304" pitchFamily="18" charset="0"/>
                <a:cs typeface="Times New Roman" panose="02020603050405020304" pitchFamily="18" charset="0"/>
              </a:rPr>
              <a:t>00</a:t>
            </a:r>
            <a:r>
              <a:rPr lang="zh-CN" altLang="en-US" sz="1200" b="1" dirty="0">
                <a:latin typeface="Times New Roman" panose="02020603050405020304" pitchFamily="18" charset="0"/>
                <a:cs typeface="Times New Roman" panose="02020603050405020304" pitchFamily="18" charset="0"/>
              </a:rPr>
              <a:t>个按上述比例出现的八进制数字需</a:t>
            </a:r>
          </a:p>
          <a:p>
            <a:pPr eaLnBrk="1" hangingPunct="1">
              <a:lnSpc>
                <a:spcPct val="110000"/>
              </a:lnSpc>
              <a:buFontTx/>
              <a:buNone/>
            </a:pPr>
            <a:r>
              <a:rPr lang="zh-CN" altLang="en-US" sz="1200" b="1" dirty="0">
                <a:latin typeface="Times New Roman" panose="02020603050405020304" pitchFamily="18" charset="0"/>
                <a:cs typeface="Times New Roman" panose="02020603050405020304" pitchFamily="18" charset="0"/>
              </a:rPr>
              <a:t>要多少个二进制数字？若用等长的 (长为3) 的码字传输需</a:t>
            </a:r>
          </a:p>
          <a:p>
            <a:pPr eaLnBrk="1" hangingPunct="1">
              <a:lnSpc>
                <a:spcPct val="110000"/>
              </a:lnSpc>
              <a:buFontTx/>
              <a:buNone/>
            </a:pPr>
            <a:r>
              <a:rPr lang="zh-CN" altLang="en-US" sz="1200" b="1" dirty="0">
                <a:latin typeface="Times New Roman" panose="02020603050405020304" pitchFamily="18" charset="0"/>
                <a:cs typeface="Times New Roman" panose="02020603050405020304" pitchFamily="18" charset="0"/>
              </a:rPr>
              <a:t>要多少个二进制数字?</a:t>
            </a:r>
            <a:endParaRPr lang="en-US" altLang="zh-CN" sz="1200" b="1" dirty="0">
              <a:latin typeface="Times New Roman" panose="02020603050405020304" pitchFamily="18" charset="0"/>
              <a:cs typeface="Times New Roman" panose="02020603050405020304" pitchFamily="18" charset="0"/>
            </a:endParaRPr>
          </a:p>
          <a:p>
            <a:pPr eaLnBrk="1" hangingPunct="1">
              <a:lnSpc>
                <a:spcPct val="110000"/>
              </a:lnSpc>
              <a:buFontTx/>
              <a:buNone/>
            </a:pPr>
            <a:r>
              <a:rPr lang="zh-CN" altLang="en-US" sz="1200" b="1" dirty="0">
                <a:solidFill>
                  <a:srgbClr val="00B0F0"/>
                </a:solidFill>
                <a:latin typeface="Times New Roman" panose="02020603050405020304" pitchFamily="18" charset="0"/>
                <a:cs typeface="Times New Roman" panose="02020603050405020304" pitchFamily="18" charset="0"/>
              </a:rPr>
              <a:t>解：</a:t>
            </a:r>
            <a:r>
              <a:rPr lang="zh-CN" altLang="en-US" sz="1200" b="1" dirty="0">
                <a:latin typeface="Times New Roman" panose="02020603050405020304" pitchFamily="18" charset="0"/>
                <a:cs typeface="Times New Roman" panose="02020603050405020304" pitchFamily="18" charset="0"/>
              </a:rPr>
              <a:t>①</a:t>
            </a:r>
            <a:r>
              <a:rPr lang="zh-CN" altLang="en-US" sz="1200" b="1" dirty="0">
                <a:solidFill>
                  <a:srgbClr val="00B0F0"/>
                </a:solidFill>
                <a:latin typeface="Times New Roman" panose="02020603050405020304" pitchFamily="18" charset="0"/>
                <a:cs typeface="Times New Roman" panose="02020603050405020304" pitchFamily="18" charset="0"/>
              </a:rPr>
              <a:t> </a:t>
            </a:r>
            <a:r>
              <a:rPr lang="zh-CN" altLang="en-US" sz="1200" b="1" dirty="0">
                <a:latin typeface="Times New Roman" panose="02020603050405020304" pitchFamily="18" charset="0"/>
                <a:cs typeface="Times New Roman" panose="02020603050405020304" pitchFamily="18" charset="0"/>
              </a:rPr>
              <a:t>用</a:t>
            </a:r>
            <a:r>
              <a:rPr lang="en-US" altLang="zh-CN" sz="1200" b="1" dirty="0">
                <a:latin typeface="Times New Roman" panose="02020603050405020304" pitchFamily="18" charset="0"/>
                <a:cs typeface="Times New Roman" panose="02020603050405020304" pitchFamily="18" charset="0"/>
              </a:rPr>
              <a:t>Huffman</a:t>
            </a:r>
            <a:r>
              <a:rPr lang="zh-CN" altLang="en-US" sz="1200" b="1" dirty="0">
                <a:latin typeface="Times New Roman" panose="02020603050405020304" pitchFamily="18" charset="0"/>
                <a:cs typeface="Times New Roman" panose="02020603050405020304" pitchFamily="18" charset="0"/>
              </a:rPr>
              <a:t>算法求以频率(乘以100)为权的最优2元树. </a:t>
            </a:r>
          </a:p>
          <a:p>
            <a:pPr eaLnBrk="1" hangingPunct="1">
              <a:lnSpc>
                <a:spcPct val="110000"/>
              </a:lnSpc>
              <a:buFontTx/>
              <a:buNone/>
            </a:pPr>
            <a:r>
              <a:rPr lang="zh-CN" altLang="en-US" sz="1200" b="1" dirty="0">
                <a:latin typeface="Times New Roman" panose="02020603050405020304" pitchFamily="18" charset="0"/>
                <a:cs typeface="Times New Roman" panose="02020603050405020304" pitchFamily="18" charset="0"/>
              </a:rPr>
              <a:t>设 </a:t>
            </a:r>
            <a:r>
              <a:rPr lang="en-US" altLang="zh-CN" sz="1200" b="1" i="1" dirty="0">
                <a:latin typeface="Times New Roman" panose="02020603050405020304" pitchFamily="18" charset="0"/>
                <a:cs typeface="Times New Roman" panose="02020603050405020304" pitchFamily="18" charset="0"/>
              </a:rPr>
              <a:t>w</a:t>
            </a:r>
            <a:r>
              <a:rPr lang="en-US" altLang="zh-CN" sz="1200" b="1" baseline="-30000" dirty="0">
                <a:latin typeface="Times New Roman" panose="02020603050405020304" pitchFamily="18" charset="0"/>
                <a:cs typeface="Times New Roman" panose="02020603050405020304" pitchFamily="18" charset="0"/>
              </a:rPr>
              <a:t>1</a:t>
            </a:r>
            <a:r>
              <a:rPr lang="en-US" altLang="zh-CN" sz="1200" b="1" dirty="0">
                <a:latin typeface="Times New Roman" panose="02020603050405020304" pitchFamily="18" charset="0"/>
                <a:cs typeface="Times New Roman" panose="02020603050405020304" pitchFamily="18" charset="0"/>
              </a:rPr>
              <a:t>=5,</a:t>
            </a:r>
            <a:r>
              <a:rPr lang="en-US" altLang="zh-CN" sz="1200" b="1" i="1" dirty="0">
                <a:latin typeface="Times New Roman" panose="02020603050405020304" pitchFamily="18" charset="0"/>
                <a:cs typeface="Times New Roman" panose="02020603050405020304" pitchFamily="18" charset="0"/>
              </a:rPr>
              <a:t>w</a:t>
            </a:r>
            <a:r>
              <a:rPr lang="en-US" altLang="zh-CN" sz="1200" b="1" baseline="-30000" dirty="0">
                <a:latin typeface="Times New Roman" panose="02020603050405020304" pitchFamily="18" charset="0"/>
                <a:cs typeface="Times New Roman" panose="02020603050405020304" pitchFamily="18" charset="0"/>
              </a:rPr>
              <a:t>2</a:t>
            </a:r>
            <a:r>
              <a:rPr lang="en-US" altLang="zh-CN" sz="1200" b="1" dirty="0">
                <a:latin typeface="Times New Roman" panose="02020603050405020304" pitchFamily="18" charset="0"/>
                <a:cs typeface="Times New Roman" panose="02020603050405020304" pitchFamily="18" charset="0"/>
              </a:rPr>
              <a:t>=5,</a:t>
            </a:r>
            <a:r>
              <a:rPr lang="en-US" altLang="zh-CN" sz="1200" b="1" i="1" dirty="0">
                <a:latin typeface="Times New Roman" panose="02020603050405020304" pitchFamily="18" charset="0"/>
                <a:cs typeface="Times New Roman" panose="02020603050405020304" pitchFamily="18" charset="0"/>
              </a:rPr>
              <a:t>w</a:t>
            </a:r>
            <a:r>
              <a:rPr lang="en-US" altLang="zh-CN" sz="1200" b="1" baseline="-30000" dirty="0">
                <a:latin typeface="Times New Roman" panose="02020603050405020304" pitchFamily="18" charset="0"/>
                <a:cs typeface="Times New Roman" panose="02020603050405020304" pitchFamily="18" charset="0"/>
              </a:rPr>
              <a:t>3</a:t>
            </a:r>
            <a:r>
              <a:rPr lang="en-US" altLang="zh-CN" sz="1200" b="1" dirty="0">
                <a:latin typeface="Times New Roman" panose="02020603050405020304" pitchFamily="18" charset="0"/>
                <a:cs typeface="Times New Roman" panose="02020603050405020304" pitchFamily="18" charset="0"/>
              </a:rPr>
              <a:t>=5,</a:t>
            </a:r>
            <a:r>
              <a:rPr lang="en-US" altLang="zh-CN" sz="1200" b="1" i="1" dirty="0">
                <a:latin typeface="Times New Roman" panose="02020603050405020304" pitchFamily="18" charset="0"/>
                <a:cs typeface="Times New Roman" panose="02020603050405020304" pitchFamily="18" charset="0"/>
              </a:rPr>
              <a:t>w</a:t>
            </a:r>
            <a:r>
              <a:rPr lang="en-US" altLang="zh-CN" sz="1200" b="1" baseline="-30000" dirty="0">
                <a:latin typeface="Times New Roman" panose="02020603050405020304" pitchFamily="18" charset="0"/>
                <a:cs typeface="Times New Roman" panose="02020603050405020304" pitchFamily="18" charset="0"/>
              </a:rPr>
              <a:t>4</a:t>
            </a:r>
            <a:r>
              <a:rPr lang="en-US" altLang="zh-CN" sz="1200" b="1" dirty="0">
                <a:latin typeface="Times New Roman" panose="02020603050405020304" pitchFamily="18" charset="0"/>
                <a:cs typeface="Times New Roman" panose="02020603050405020304" pitchFamily="18" charset="0"/>
              </a:rPr>
              <a:t>=10,</a:t>
            </a:r>
            <a:r>
              <a:rPr lang="en-US" altLang="zh-CN" sz="1200" b="1" i="1" dirty="0">
                <a:latin typeface="Times New Roman" panose="02020603050405020304" pitchFamily="18" charset="0"/>
                <a:cs typeface="Times New Roman" panose="02020603050405020304" pitchFamily="18" charset="0"/>
              </a:rPr>
              <a:t>w</a:t>
            </a:r>
            <a:r>
              <a:rPr lang="en-US" altLang="zh-CN" sz="1200" b="1" baseline="-30000" dirty="0">
                <a:latin typeface="Times New Roman" panose="02020603050405020304" pitchFamily="18" charset="0"/>
                <a:cs typeface="Times New Roman" panose="02020603050405020304" pitchFamily="18" charset="0"/>
              </a:rPr>
              <a:t>5</a:t>
            </a:r>
            <a:r>
              <a:rPr lang="en-US" altLang="zh-CN" sz="1200" b="1" dirty="0">
                <a:latin typeface="Times New Roman" panose="02020603050405020304" pitchFamily="18" charset="0"/>
                <a:cs typeface="Times New Roman" panose="02020603050405020304" pitchFamily="18" charset="0"/>
              </a:rPr>
              <a:t>=10,</a:t>
            </a:r>
            <a:r>
              <a:rPr lang="en-US" altLang="zh-CN" sz="1200" b="1" i="1" dirty="0">
                <a:latin typeface="Times New Roman" panose="02020603050405020304" pitchFamily="18" charset="0"/>
                <a:cs typeface="Times New Roman" panose="02020603050405020304" pitchFamily="18" charset="0"/>
              </a:rPr>
              <a:t>w</a:t>
            </a:r>
            <a:r>
              <a:rPr lang="en-US" altLang="zh-CN" sz="1200" b="1" baseline="-30000" dirty="0">
                <a:latin typeface="Times New Roman" panose="02020603050405020304" pitchFamily="18" charset="0"/>
                <a:cs typeface="Times New Roman" panose="02020603050405020304" pitchFamily="18" charset="0"/>
              </a:rPr>
              <a:t>6</a:t>
            </a:r>
            <a:r>
              <a:rPr lang="en-US" altLang="zh-CN" sz="1200" b="1" dirty="0">
                <a:latin typeface="Times New Roman" panose="02020603050405020304" pitchFamily="18" charset="0"/>
                <a:cs typeface="Times New Roman" panose="02020603050405020304" pitchFamily="18" charset="0"/>
              </a:rPr>
              <a:t>=15,</a:t>
            </a:r>
            <a:r>
              <a:rPr lang="en-US" altLang="zh-CN" sz="1200" b="1" i="1" dirty="0">
                <a:latin typeface="Times New Roman" panose="02020603050405020304" pitchFamily="18" charset="0"/>
                <a:cs typeface="Times New Roman" panose="02020603050405020304" pitchFamily="18" charset="0"/>
              </a:rPr>
              <a:t>w</a:t>
            </a:r>
            <a:r>
              <a:rPr lang="en-US" altLang="zh-CN" sz="1200" b="1" baseline="-30000" dirty="0">
                <a:latin typeface="Times New Roman" panose="02020603050405020304" pitchFamily="18" charset="0"/>
                <a:cs typeface="Times New Roman" panose="02020603050405020304" pitchFamily="18" charset="0"/>
              </a:rPr>
              <a:t>7</a:t>
            </a:r>
            <a:r>
              <a:rPr lang="en-US" altLang="zh-CN" sz="1200" b="1" dirty="0">
                <a:latin typeface="Times New Roman" panose="02020603050405020304" pitchFamily="18" charset="0"/>
                <a:cs typeface="Times New Roman" panose="02020603050405020304" pitchFamily="18" charset="0"/>
              </a:rPr>
              <a:t>=20,</a:t>
            </a:r>
            <a:r>
              <a:rPr lang="en-US" altLang="zh-CN" sz="1200" b="1" i="1" dirty="0">
                <a:latin typeface="Times New Roman" panose="02020603050405020304" pitchFamily="18" charset="0"/>
                <a:cs typeface="Times New Roman" panose="02020603050405020304" pitchFamily="18" charset="0"/>
              </a:rPr>
              <a:t>w</a:t>
            </a:r>
            <a:r>
              <a:rPr lang="en-US" altLang="zh-CN" sz="1200" b="1" baseline="-30000" dirty="0">
                <a:latin typeface="Times New Roman" panose="02020603050405020304" pitchFamily="18" charset="0"/>
                <a:cs typeface="Times New Roman" panose="02020603050405020304" pitchFamily="18" charset="0"/>
              </a:rPr>
              <a:t>8</a:t>
            </a:r>
            <a:r>
              <a:rPr lang="en-US" altLang="zh-CN" sz="1200" b="1" dirty="0">
                <a:latin typeface="Times New Roman" panose="02020603050405020304" pitchFamily="18" charset="0"/>
                <a:cs typeface="Times New Roman" panose="02020603050405020304" pitchFamily="18" charset="0"/>
              </a:rPr>
              <a:t>=30</a:t>
            </a:r>
            <a:endParaRPr lang="zh-CN" altLang="en-US" dirty="0"/>
          </a:p>
        </p:txBody>
      </p:sp>
      <p:sp>
        <p:nvSpPr>
          <p:cNvPr id="4" name="灯片编号占位符 3"/>
          <p:cNvSpPr>
            <a:spLocks noGrp="1"/>
          </p:cNvSpPr>
          <p:nvPr>
            <p:ph type="sldNum" sz="quarter" idx="10"/>
          </p:nvPr>
        </p:nvSpPr>
        <p:spPr/>
        <p:txBody>
          <a:bodyPr/>
          <a:lstStyle/>
          <a:p>
            <a:fld id="{CAFE74B6-F93C-4D90-BE1A-7EFEDB35C0D4}" type="slidenum">
              <a:rPr lang="zh-CN" altLang="en-US" smtClean="0"/>
              <a:t>57</a:t>
            </a:fld>
            <a:endParaRPr lang="zh-CN" altLang="en-US"/>
          </a:p>
        </p:txBody>
      </p:sp>
    </p:spTree>
    <p:extLst>
      <p:ext uri="{BB962C8B-B14F-4D97-AF65-F5344CB8AC3E}">
        <p14:creationId xmlns:p14="http://schemas.microsoft.com/office/powerpoint/2010/main" val="1534554904"/>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gn="just" eaLnBrk="1" hangingPunct="1">
              <a:lnSpc>
                <a:spcPct val="110000"/>
              </a:lnSpc>
              <a:buFontTx/>
              <a:buNone/>
            </a:pPr>
            <a:r>
              <a:rPr lang="zh-CN" altLang="en-US" sz="1200" b="1" dirty="0">
                <a:solidFill>
                  <a:srgbClr val="00B0F0"/>
                </a:solidFill>
              </a:rPr>
              <a:t>例：</a:t>
            </a:r>
            <a:r>
              <a:rPr lang="zh-CN" altLang="en-US" sz="1200" b="1" dirty="0"/>
              <a:t>在通信中,设八进制数字出现的频率(%)如下:</a:t>
            </a:r>
          </a:p>
          <a:p>
            <a:pPr algn="just" eaLnBrk="1" hangingPunct="1">
              <a:lnSpc>
                <a:spcPct val="110000"/>
              </a:lnSpc>
              <a:buFontTx/>
              <a:buNone/>
            </a:pPr>
            <a:r>
              <a:rPr lang="zh-CN" altLang="en-US" sz="1200" b="1" dirty="0"/>
              <a:t>      </a:t>
            </a:r>
            <a:r>
              <a:rPr lang="zh-CN" altLang="en-US" sz="1200" b="1" dirty="0">
                <a:latin typeface="Times New Roman" panose="02020603050405020304" pitchFamily="18" charset="0"/>
                <a:cs typeface="Times New Roman" panose="02020603050405020304" pitchFamily="18" charset="0"/>
              </a:rPr>
              <a:t>0: </a:t>
            </a:r>
            <a:r>
              <a:rPr lang="en-US" altLang="zh-CN" sz="1200" b="1" dirty="0">
                <a:latin typeface="Times New Roman" panose="02020603050405020304" pitchFamily="18" charset="0"/>
                <a:cs typeface="Times New Roman" panose="02020603050405020304" pitchFamily="18" charset="0"/>
              </a:rPr>
              <a:t>30</a:t>
            </a:r>
            <a:r>
              <a:rPr lang="zh-CN" altLang="en-US" sz="1200" b="1" dirty="0">
                <a:latin typeface="Times New Roman" panose="02020603050405020304" pitchFamily="18" charset="0"/>
                <a:cs typeface="Times New Roman" panose="02020603050405020304" pitchFamily="18" charset="0"/>
              </a:rPr>
              <a:t>,  1: 20,  2: 15,  3: 10,  4: 10,  5: </a:t>
            </a:r>
            <a:r>
              <a:rPr lang="en-US" altLang="zh-CN" sz="1200" b="1" dirty="0">
                <a:latin typeface="Times New Roman" panose="02020603050405020304" pitchFamily="18" charset="0"/>
                <a:cs typeface="Times New Roman" panose="02020603050405020304" pitchFamily="18" charset="0"/>
              </a:rPr>
              <a:t>5</a:t>
            </a:r>
            <a:r>
              <a:rPr lang="zh-CN" altLang="en-US" sz="1200" b="1" dirty="0">
                <a:latin typeface="Times New Roman" panose="02020603050405020304" pitchFamily="18" charset="0"/>
                <a:cs typeface="Times New Roman" panose="02020603050405020304" pitchFamily="18" charset="0"/>
              </a:rPr>
              <a:t>,  6: 5,  7: 5</a:t>
            </a:r>
          </a:p>
          <a:p>
            <a:pPr eaLnBrk="1" hangingPunct="1">
              <a:lnSpc>
                <a:spcPct val="110000"/>
              </a:lnSpc>
              <a:buFontTx/>
              <a:buNone/>
            </a:pPr>
            <a:r>
              <a:rPr lang="zh-CN" altLang="en-US" sz="1200" b="1" dirty="0">
                <a:latin typeface="Times New Roman" panose="02020603050405020304" pitchFamily="18" charset="0"/>
                <a:cs typeface="Times New Roman" panose="02020603050405020304" pitchFamily="18" charset="0"/>
              </a:rPr>
              <a:t>采用2元前缀码, 求传输数字最少的2元前缀码 (称作</a:t>
            </a:r>
            <a:r>
              <a:rPr lang="zh-CN" altLang="en-US" sz="1200" b="1" dirty="0">
                <a:solidFill>
                  <a:srgbClr val="FF3300"/>
                </a:solidFill>
                <a:latin typeface="Times New Roman" panose="02020603050405020304" pitchFamily="18" charset="0"/>
                <a:cs typeface="Times New Roman" panose="02020603050405020304" pitchFamily="18" charset="0"/>
              </a:rPr>
              <a:t>最佳</a:t>
            </a:r>
          </a:p>
          <a:p>
            <a:pPr eaLnBrk="1" hangingPunct="1">
              <a:lnSpc>
                <a:spcPct val="110000"/>
              </a:lnSpc>
              <a:buFontTx/>
              <a:buNone/>
            </a:pPr>
            <a:r>
              <a:rPr lang="zh-CN" altLang="en-US" sz="1200" b="1" dirty="0">
                <a:solidFill>
                  <a:srgbClr val="FF3300"/>
                </a:solidFill>
                <a:latin typeface="Times New Roman" panose="02020603050405020304" pitchFamily="18" charset="0"/>
                <a:cs typeface="Times New Roman" panose="02020603050405020304" pitchFamily="18" charset="0"/>
              </a:rPr>
              <a:t>前缀码</a:t>
            </a:r>
            <a:r>
              <a:rPr lang="zh-CN" altLang="en-US" sz="1200" b="1" dirty="0">
                <a:latin typeface="Times New Roman" panose="02020603050405020304" pitchFamily="18" charset="0"/>
                <a:cs typeface="Times New Roman" panose="02020603050405020304" pitchFamily="18" charset="0"/>
              </a:rPr>
              <a:t>), 并求传输100</a:t>
            </a:r>
            <a:r>
              <a:rPr lang="en-US" altLang="zh-CN" sz="1200" b="1" dirty="0">
                <a:latin typeface="Times New Roman" panose="02020603050405020304" pitchFamily="18" charset="0"/>
                <a:cs typeface="Times New Roman" panose="02020603050405020304" pitchFamily="18" charset="0"/>
              </a:rPr>
              <a:t>00</a:t>
            </a:r>
            <a:r>
              <a:rPr lang="zh-CN" altLang="en-US" sz="1200" b="1" dirty="0">
                <a:latin typeface="Times New Roman" panose="02020603050405020304" pitchFamily="18" charset="0"/>
                <a:cs typeface="Times New Roman" panose="02020603050405020304" pitchFamily="18" charset="0"/>
              </a:rPr>
              <a:t>个按上述比例出现的八进制数字需</a:t>
            </a:r>
          </a:p>
          <a:p>
            <a:pPr eaLnBrk="1" hangingPunct="1">
              <a:lnSpc>
                <a:spcPct val="110000"/>
              </a:lnSpc>
              <a:buFontTx/>
              <a:buNone/>
            </a:pPr>
            <a:r>
              <a:rPr lang="zh-CN" altLang="en-US" sz="1200" b="1" dirty="0">
                <a:latin typeface="Times New Roman" panose="02020603050405020304" pitchFamily="18" charset="0"/>
                <a:cs typeface="Times New Roman" panose="02020603050405020304" pitchFamily="18" charset="0"/>
              </a:rPr>
              <a:t>要多少个二进制数字？若用等长的 (长为3) 的码字传输需</a:t>
            </a:r>
          </a:p>
          <a:p>
            <a:pPr eaLnBrk="1" hangingPunct="1">
              <a:lnSpc>
                <a:spcPct val="110000"/>
              </a:lnSpc>
              <a:buFontTx/>
              <a:buNone/>
            </a:pPr>
            <a:r>
              <a:rPr lang="zh-CN" altLang="en-US" sz="1200" b="1" dirty="0">
                <a:latin typeface="Times New Roman" panose="02020603050405020304" pitchFamily="18" charset="0"/>
                <a:cs typeface="Times New Roman" panose="02020603050405020304" pitchFamily="18" charset="0"/>
              </a:rPr>
              <a:t>要多少个二进制数字?</a:t>
            </a:r>
            <a:endParaRPr lang="en-US" altLang="zh-CN" sz="1200" b="1" dirty="0">
              <a:latin typeface="Times New Roman" panose="02020603050405020304" pitchFamily="18" charset="0"/>
              <a:cs typeface="Times New Roman" panose="02020603050405020304" pitchFamily="18" charset="0"/>
            </a:endParaRPr>
          </a:p>
          <a:p>
            <a:pPr eaLnBrk="1" hangingPunct="1">
              <a:lnSpc>
                <a:spcPct val="110000"/>
              </a:lnSpc>
              <a:buFontTx/>
              <a:buNone/>
            </a:pPr>
            <a:r>
              <a:rPr lang="zh-CN" altLang="en-US" sz="1200" b="1" dirty="0">
                <a:solidFill>
                  <a:srgbClr val="00B0F0"/>
                </a:solidFill>
                <a:latin typeface="Times New Roman" panose="02020603050405020304" pitchFamily="18" charset="0"/>
                <a:cs typeface="Times New Roman" panose="02020603050405020304" pitchFamily="18" charset="0"/>
              </a:rPr>
              <a:t>解：</a:t>
            </a:r>
            <a:r>
              <a:rPr lang="zh-CN" altLang="en-US" sz="1200" b="1" dirty="0">
                <a:latin typeface="Times New Roman" panose="02020603050405020304" pitchFamily="18" charset="0"/>
                <a:cs typeface="Times New Roman" panose="02020603050405020304" pitchFamily="18" charset="0"/>
              </a:rPr>
              <a:t>①</a:t>
            </a:r>
            <a:r>
              <a:rPr lang="zh-CN" altLang="en-US" sz="1200" b="1" dirty="0">
                <a:solidFill>
                  <a:srgbClr val="00B0F0"/>
                </a:solidFill>
                <a:latin typeface="Times New Roman" panose="02020603050405020304" pitchFamily="18" charset="0"/>
                <a:cs typeface="Times New Roman" panose="02020603050405020304" pitchFamily="18" charset="0"/>
              </a:rPr>
              <a:t> </a:t>
            </a:r>
            <a:r>
              <a:rPr lang="zh-CN" altLang="en-US" sz="1200" b="1" dirty="0">
                <a:latin typeface="Times New Roman" panose="02020603050405020304" pitchFamily="18" charset="0"/>
                <a:cs typeface="Times New Roman" panose="02020603050405020304" pitchFamily="18" charset="0"/>
              </a:rPr>
              <a:t>用</a:t>
            </a:r>
            <a:r>
              <a:rPr lang="en-US" altLang="zh-CN" sz="1200" b="1" dirty="0">
                <a:latin typeface="Times New Roman" panose="02020603050405020304" pitchFamily="18" charset="0"/>
                <a:cs typeface="Times New Roman" panose="02020603050405020304" pitchFamily="18" charset="0"/>
              </a:rPr>
              <a:t>Huffman</a:t>
            </a:r>
            <a:r>
              <a:rPr lang="zh-CN" altLang="en-US" sz="1200" b="1" dirty="0">
                <a:latin typeface="Times New Roman" panose="02020603050405020304" pitchFamily="18" charset="0"/>
                <a:cs typeface="Times New Roman" panose="02020603050405020304" pitchFamily="18" charset="0"/>
              </a:rPr>
              <a:t>算法求以频率(乘以100)为权的最优2元树. </a:t>
            </a:r>
          </a:p>
          <a:p>
            <a:pPr eaLnBrk="1" hangingPunct="1">
              <a:lnSpc>
                <a:spcPct val="110000"/>
              </a:lnSpc>
              <a:buFontTx/>
              <a:buNone/>
            </a:pPr>
            <a:r>
              <a:rPr lang="zh-CN" altLang="en-US" sz="1200" b="1" dirty="0">
                <a:latin typeface="Times New Roman" panose="02020603050405020304" pitchFamily="18" charset="0"/>
                <a:cs typeface="Times New Roman" panose="02020603050405020304" pitchFamily="18" charset="0"/>
              </a:rPr>
              <a:t>设 </a:t>
            </a:r>
            <a:r>
              <a:rPr lang="en-US" altLang="zh-CN" sz="1200" b="1" i="1" dirty="0">
                <a:latin typeface="Times New Roman" panose="02020603050405020304" pitchFamily="18" charset="0"/>
                <a:cs typeface="Times New Roman" panose="02020603050405020304" pitchFamily="18" charset="0"/>
              </a:rPr>
              <a:t>w</a:t>
            </a:r>
            <a:r>
              <a:rPr lang="en-US" altLang="zh-CN" sz="1200" b="1" baseline="-30000" dirty="0">
                <a:latin typeface="Times New Roman" panose="02020603050405020304" pitchFamily="18" charset="0"/>
                <a:cs typeface="Times New Roman" panose="02020603050405020304" pitchFamily="18" charset="0"/>
              </a:rPr>
              <a:t>1</a:t>
            </a:r>
            <a:r>
              <a:rPr lang="en-US" altLang="zh-CN" sz="1200" b="1" dirty="0">
                <a:latin typeface="Times New Roman" panose="02020603050405020304" pitchFamily="18" charset="0"/>
                <a:cs typeface="Times New Roman" panose="02020603050405020304" pitchFamily="18" charset="0"/>
              </a:rPr>
              <a:t>=5,</a:t>
            </a:r>
            <a:r>
              <a:rPr lang="en-US" altLang="zh-CN" sz="1200" b="1" i="1" dirty="0">
                <a:latin typeface="Times New Roman" panose="02020603050405020304" pitchFamily="18" charset="0"/>
                <a:cs typeface="Times New Roman" panose="02020603050405020304" pitchFamily="18" charset="0"/>
              </a:rPr>
              <a:t>w</a:t>
            </a:r>
            <a:r>
              <a:rPr lang="en-US" altLang="zh-CN" sz="1200" b="1" baseline="-30000" dirty="0">
                <a:latin typeface="Times New Roman" panose="02020603050405020304" pitchFamily="18" charset="0"/>
                <a:cs typeface="Times New Roman" panose="02020603050405020304" pitchFamily="18" charset="0"/>
              </a:rPr>
              <a:t>2</a:t>
            </a:r>
            <a:r>
              <a:rPr lang="en-US" altLang="zh-CN" sz="1200" b="1" dirty="0">
                <a:latin typeface="Times New Roman" panose="02020603050405020304" pitchFamily="18" charset="0"/>
                <a:cs typeface="Times New Roman" panose="02020603050405020304" pitchFamily="18" charset="0"/>
              </a:rPr>
              <a:t>=5,</a:t>
            </a:r>
            <a:r>
              <a:rPr lang="en-US" altLang="zh-CN" sz="1200" b="1" i="1" dirty="0">
                <a:latin typeface="Times New Roman" panose="02020603050405020304" pitchFamily="18" charset="0"/>
                <a:cs typeface="Times New Roman" panose="02020603050405020304" pitchFamily="18" charset="0"/>
              </a:rPr>
              <a:t>w</a:t>
            </a:r>
            <a:r>
              <a:rPr lang="en-US" altLang="zh-CN" sz="1200" b="1" baseline="-30000" dirty="0">
                <a:latin typeface="Times New Roman" panose="02020603050405020304" pitchFamily="18" charset="0"/>
                <a:cs typeface="Times New Roman" panose="02020603050405020304" pitchFamily="18" charset="0"/>
              </a:rPr>
              <a:t>3</a:t>
            </a:r>
            <a:r>
              <a:rPr lang="en-US" altLang="zh-CN" sz="1200" b="1" dirty="0">
                <a:latin typeface="Times New Roman" panose="02020603050405020304" pitchFamily="18" charset="0"/>
                <a:cs typeface="Times New Roman" panose="02020603050405020304" pitchFamily="18" charset="0"/>
              </a:rPr>
              <a:t>=5,</a:t>
            </a:r>
            <a:r>
              <a:rPr lang="en-US" altLang="zh-CN" sz="1200" b="1" i="1" dirty="0">
                <a:latin typeface="Times New Roman" panose="02020603050405020304" pitchFamily="18" charset="0"/>
                <a:cs typeface="Times New Roman" panose="02020603050405020304" pitchFamily="18" charset="0"/>
              </a:rPr>
              <a:t>w</a:t>
            </a:r>
            <a:r>
              <a:rPr lang="en-US" altLang="zh-CN" sz="1200" b="1" baseline="-30000" dirty="0">
                <a:latin typeface="Times New Roman" panose="02020603050405020304" pitchFamily="18" charset="0"/>
                <a:cs typeface="Times New Roman" panose="02020603050405020304" pitchFamily="18" charset="0"/>
              </a:rPr>
              <a:t>4</a:t>
            </a:r>
            <a:r>
              <a:rPr lang="en-US" altLang="zh-CN" sz="1200" b="1" dirty="0">
                <a:latin typeface="Times New Roman" panose="02020603050405020304" pitchFamily="18" charset="0"/>
                <a:cs typeface="Times New Roman" panose="02020603050405020304" pitchFamily="18" charset="0"/>
              </a:rPr>
              <a:t>=10,</a:t>
            </a:r>
            <a:r>
              <a:rPr lang="en-US" altLang="zh-CN" sz="1200" b="1" i="1" dirty="0">
                <a:latin typeface="Times New Roman" panose="02020603050405020304" pitchFamily="18" charset="0"/>
                <a:cs typeface="Times New Roman" panose="02020603050405020304" pitchFamily="18" charset="0"/>
              </a:rPr>
              <a:t>w</a:t>
            </a:r>
            <a:r>
              <a:rPr lang="en-US" altLang="zh-CN" sz="1200" b="1" baseline="-30000" dirty="0">
                <a:latin typeface="Times New Roman" panose="02020603050405020304" pitchFamily="18" charset="0"/>
                <a:cs typeface="Times New Roman" panose="02020603050405020304" pitchFamily="18" charset="0"/>
              </a:rPr>
              <a:t>5</a:t>
            </a:r>
            <a:r>
              <a:rPr lang="en-US" altLang="zh-CN" sz="1200" b="1" dirty="0">
                <a:latin typeface="Times New Roman" panose="02020603050405020304" pitchFamily="18" charset="0"/>
                <a:cs typeface="Times New Roman" panose="02020603050405020304" pitchFamily="18" charset="0"/>
              </a:rPr>
              <a:t>=10,</a:t>
            </a:r>
            <a:r>
              <a:rPr lang="en-US" altLang="zh-CN" sz="1200" b="1" i="1" dirty="0">
                <a:latin typeface="Times New Roman" panose="02020603050405020304" pitchFamily="18" charset="0"/>
                <a:cs typeface="Times New Roman" panose="02020603050405020304" pitchFamily="18" charset="0"/>
              </a:rPr>
              <a:t>w</a:t>
            </a:r>
            <a:r>
              <a:rPr lang="en-US" altLang="zh-CN" sz="1200" b="1" baseline="-30000" dirty="0">
                <a:latin typeface="Times New Roman" panose="02020603050405020304" pitchFamily="18" charset="0"/>
                <a:cs typeface="Times New Roman" panose="02020603050405020304" pitchFamily="18" charset="0"/>
              </a:rPr>
              <a:t>6</a:t>
            </a:r>
            <a:r>
              <a:rPr lang="en-US" altLang="zh-CN" sz="1200" b="1" dirty="0">
                <a:latin typeface="Times New Roman" panose="02020603050405020304" pitchFamily="18" charset="0"/>
                <a:cs typeface="Times New Roman" panose="02020603050405020304" pitchFamily="18" charset="0"/>
              </a:rPr>
              <a:t>=15,</a:t>
            </a:r>
            <a:r>
              <a:rPr lang="en-US" altLang="zh-CN" sz="1200" b="1" i="1" dirty="0">
                <a:latin typeface="Times New Roman" panose="02020603050405020304" pitchFamily="18" charset="0"/>
                <a:cs typeface="Times New Roman" panose="02020603050405020304" pitchFamily="18" charset="0"/>
              </a:rPr>
              <a:t>w</a:t>
            </a:r>
            <a:r>
              <a:rPr lang="en-US" altLang="zh-CN" sz="1200" b="1" baseline="-30000" dirty="0">
                <a:latin typeface="Times New Roman" panose="02020603050405020304" pitchFamily="18" charset="0"/>
                <a:cs typeface="Times New Roman" panose="02020603050405020304" pitchFamily="18" charset="0"/>
              </a:rPr>
              <a:t>7</a:t>
            </a:r>
            <a:r>
              <a:rPr lang="en-US" altLang="zh-CN" sz="1200" b="1" dirty="0">
                <a:latin typeface="Times New Roman" panose="02020603050405020304" pitchFamily="18" charset="0"/>
                <a:cs typeface="Times New Roman" panose="02020603050405020304" pitchFamily="18" charset="0"/>
              </a:rPr>
              <a:t>=20,</a:t>
            </a:r>
            <a:r>
              <a:rPr lang="en-US" altLang="zh-CN" sz="1200" b="1" i="1" dirty="0">
                <a:latin typeface="Times New Roman" panose="02020603050405020304" pitchFamily="18" charset="0"/>
                <a:cs typeface="Times New Roman" panose="02020603050405020304" pitchFamily="18" charset="0"/>
              </a:rPr>
              <a:t>w</a:t>
            </a:r>
            <a:r>
              <a:rPr lang="en-US" altLang="zh-CN" sz="1200" b="1" baseline="-30000" dirty="0">
                <a:latin typeface="Times New Roman" panose="02020603050405020304" pitchFamily="18" charset="0"/>
                <a:cs typeface="Times New Roman" panose="02020603050405020304" pitchFamily="18" charset="0"/>
              </a:rPr>
              <a:t>8</a:t>
            </a:r>
            <a:r>
              <a:rPr lang="en-US" altLang="zh-CN" sz="1200" b="1" dirty="0">
                <a:latin typeface="Times New Roman" panose="02020603050405020304" pitchFamily="18" charset="0"/>
                <a:cs typeface="Times New Roman" panose="02020603050405020304" pitchFamily="18" charset="0"/>
              </a:rPr>
              <a:t>=30</a:t>
            </a:r>
            <a:endParaRPr lang="zh-CN" altLang="en-US" dirty="0"/>
          </a:p>
        </p:txBody>
      </p:sp>
      <p:sp>
        <p:nvSpPr>
          <p:cNvPr id="4" name="灯片编号占位符 3"/>
          <p:cNvSpPr>
            <a:spLocks noGrp="1"/>
          </p:cNvSpPr>
          <p:nvPr>
            <p:ph type="sldNum" sz="quarter" idx="10"/>
          </p:nvPr>
        </p:nvSpPr>
        <p:spPr/>
        <p:txBody>
          <a:bodyPr/>
          <a:lstStyle/>
          <a:p>
            <a:fld id="{CAFE74B6-F93C-4D90-BE1A-7EFEDB35C0D4}" type="slidenum">
              <a:rPr lang="zh-CN" altLang="en-US" smtClean="0"/>
              <a:t>58</a:t>
            </a:fld>
            <a:endParaRPr lang="zh-CN" altLang="en-US"/>
          </a:p>
        </p:txBody>
      </p:sp>
    </p:spTree>
    <p:extLst>
      <p:ext uri="{BB962C8B-B14F-4D97-AF65-F5344CB8AC3E}">
        <p14:creationId xmlns:p14="http://schemas.microsoft.com/office/powerpoint/2010/main" val="1334255039"/>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gn="just" eaLnBrk="1" hangingPunct="1">
              <a:lnSpc>
                <a:spcPct val="110000"/>
              </a:lnSpc>
              <a:buFontTx/>
              <a:buNone/>
            </a:pPr>
            <a:r>
              <a:rPr lang="zh-CN" altLang="en-US" sz="1200" b="1" dirty="0">
                <a:solidFill>
                  <a:srgbClr val="00B0F0"/>
                </a:solidFill>
              </a:rPr>
              <a:t>例：</a:t>
            </a:r>
            <a:r>
              <a:rPr lang="zh-CN" altLang="en-US" sz="1200" b="1" dirty="0"/>
              <a:t>在通信中,设八进制数字出现的频率(%)如下:</a:t>
            </a:r>
          </a:p>
          <a:p>
            <a:pPr algn="just" eaLnBrk="1" hangingPunct="1">
              <a:lnSpc>
                <a:spcPct val="110000"/>
              </a:lnSpc>
              <a:buFontTx/>
              <a:buNone/>
            </a:pPr>
            <a:r>
              <a:rPr lang="zh-CN" altLang="en-US" sz="1200" b="1" dirty="0"/>
              <a:t>      </a:t>
            </a:r>
            <a:r>
              <a:rPr lang="zh-CN" altLang="en-US" sz="1200" b="1" dirty="0">
                <a:latin typeface="Times New Roman" panose="02020603050405020304" pitchFamily="18" charset="0"/>
                <a:cs typeface="Times New Roman" panose="02020603050405020304" pitchFamily="18" charset="0"/>
              </a:rPr>
              <a:t>0: </a:t>
            </a:r>
            <a:r>
              <a:rPr lang="en-US" altLang="zh-CN" sz="1200" b="1" dirty="0">
                <a:latin typeface="Times New Roman" panose="02020603050405020304" pitchFamily="18" charset="0"/>
                <a:cs typeface="Times New Roman" panose="02020603050405020304" pitchFamily="18" charset="0"/>
              </a:rPr>
              <a:t>30</a:t>
            </a:r>
            <a:r>
              <a:rPr lang="zh-CN" altLang="en-US" sz="1200" b="1" dirty="0">
                <a:latin typeface="Times New Roman" panose="02020603050405020304" pitchFamily="18" charset="0"/>
                <a:cs typeface="Times New Roman" panose="02020603050405020304" pitchFamily="18" charset="0"/>
              </a:rPr>
              <a:t>,  1: 20,  2: 15,  3: 10,  4: 10,  5: </a:t>
            </a:r>
            <a:r>
              <a:rPr lang="en-US" altLang="zh-CN" sz="1200" b="1" dirty="0">
                <a:latin typeface="Times New Roman" panose="02020603050405020304" pitchFamily="18" charset="0"/>
                <a:cs typeface="Times New Roman" panose="02020603050405020304" pitchFamily="18" charset="0"/>
              </a:rPr>
              <a:t>5</a:t>
            </a:r>
            <a:r>
              <a:rPr lang="zh-CN" altLang="en-US" sz="1200" b="1" dirty="0">
                <a:latin typeface="Times New Roman" panose="02020603050405020304" pitchFamily="18" charset="0"/>
                <a:cs typeface="Times New Roman" panose="02020603050405020304" pitchFamily="18" charset="0"/>
              </a:rPr>
              <a:t>,  6: 5,  7: 5</a:t>
            </a:r>
          </a:p>
          <a:p>
            <a:pPr eaLnBrk="1" hangingPunct="1">
              <a:lnSpc>
                <a:spcPct val="110000"/>
              </a:lnSpc>
              <a:buFontTx/>
              <a:buNone/>
            </a:pPr>
            <a:r>
              <a:rPr lang="zh-CN" altLang="en-US" sz="1200" b="1" dirty="0">
                <a:latin typeface="Times New Roman" panose="02020603050405020304" pitchFamily="18" charset="0"/>
                <a:cs typeface="Times New Roman" panose="02020603050405020304" pitchFamily="18" charset="0"/>
              </a:rPr>
              <a:t>采用2元前缀码, 求传输数字最少的2元前缀码 (称作</a:t>
            </a:r>
            <a:r>
              <a:rPr lang="zh-CN" altLang="en-US" sz="1200" b="1" dirty="0">
                <a:solidFill>
                  <a:srgbClr val="FF3300"/>
                </a:solidFill>
                <a:latin typeface="Times New Roman" panose="02020603050405020304" pitchFamily="18" charset="0"/>
                <a:cs typeface="Times New Roman" panose="02020603050405020304" pitchFamily="18" charset="0"/>
              </a:rPr>
              <a:t>最佳</a:t>
            </a:r>
          </a:p>
          <a:p>
            <a:pPr eaLnBrk="1" hangingPunct="1">
              <a:lnSpc>
                <a:spcPct val="110000"/>
              </a:lnSpc>
              <a:buFontTx/>
              <a:buNone/>
            </a:pPr>
            <a:r>
              <a:rPr lang="zh-CN" altLang="en-US" sz="1200" b="1" dirty="0">
                <a:solidFill>
                  <a:srgbClr val="FF3300"/>
                </a:solidFill>
                <a:latin typeface="Times New Roman" panose="02020603050405020304" pitchFamily="18" charset="0"/>
                <a:cs typeface="Times New Roman" panose="02020603050405020304" pitchFamily="18" charset="0"/>
              </a:rPr>
              <a:t>前缀码</a:t>
            </a:r>
            <a:r>
              <a:rPr lang="zh-CN" altLang="en-US" sz="1200" b="1" dirty="0">
                <a:latin typeface="Times New Roman" panose="02020603050405020304" pitchFamily="18" charset="0"/>
                <a:cs typeface="Times New Roman" panose="02020603050405020304" pitchFamily="18" charset="0"/>
              </a:rPr>
              <a:t>), 并求传输100</a:t>
            </a:r>
            <a:r>
              <a:rPr lang="en-US" altLang="zh-CN" sz="1200" b="1" dirty="0">
                <a:latin typeface="Times New Roman" panose="02020603050405020304" pitchFamily="18" charset="0"/>
                <a:cs typeface="Times New Roman" panose="02020603050405020304" pitchFamily="18" charset="0"/>
              </a:rPr>
              <a:t>00</a:t>
            </a:r>
            <a:r>
              <a:rPr lang="zh-CN" altLang="en-US" sz="1200" b="1" dirty="0">
                <a:latin typeface="Times New Roman" panose="02020603050405020304" pitchFamily="18" charset="0"/>
                <a:cs typeface="Times New Roman" panose="02020603050405020304" pitchFamily="18" charset="0"/>
              </a:rPr>
              <a:t>个按上述比例出现的八进制数字需</a:t>
            </a:r>
          </a:p>
          <a:p>
            <a:pPr eaLnBrk="1" hangingPunct="1">
              <a:lnSpc>
                <a:spcPct val="110000"/>
              </a:lnSpc>
              <a:buFontTx/>
              <a:buNone/>
            </a:pPr>
            <a:r>
              <a:rPr lang="zh-CN" altLang="en-US" sz="1200" b="1" dirty="0">
                <a:latin typeface="Times New Roman" panose="02020603050405020304" pitchFamily="18" charset="0"/>
                <a:cs typeface="Times New Roman" panose="02020603050405020304" pitchFamily="18" charset="0"/>
              </a:rPr>
              <a:t>要多少个二进制数字？若用等长的 (长为3) 的码字传输需</a:t>
            </a:r>
          </a:p>
          <a:p>
            <a:pPr eaLnBrk="1" hangingPunct="1">
              <a:lnSpc>
                <a:spcPct val="110000"/>
              </a:lnSpc>
              <a:buFontTx/>
              <a:buNone/>
            </a:pPr>
            <a:r>
              <a:rPr lang="zh-CN" altLang="en-US" sz="1200" b="1" dirty="0">
                <a:latin typeface="Times New Roman" panose="02020603050405020304" pitchFamily="18" charset="0"/>
                <a:cs typeface="Times New Roman" panose="02020603050405020304" pitchFamily="18" charset="0"/>
              </a:rPr>
              <a:t>要多少个二进制数字?</a:t>
            </a:r>
            <a:endParaRPr lang="en-US" altLang="zh-CN" sz="1200" b="1" dirty="0">
              <a:latin typeface="Times New Roman" panose="02020603050405020304" pitchFamily="18" charset="0"/>
              <a:cs typeface="Times New Roman" panose="02020603050405020304" pitchFamily="18" charset="0"/>
            </a:endParaRPr>
          </a:p>
          <a:p>
            <a:pPr eaLnBrk="1" hangingPunct="1">
              <a:lnSpc>
                <a:spcPct val="110000"/>
              </a:lnSpc>
              <a:buFontTx/>
              <a:buNone/>
            </a:pPr>
            <a:r>
              <a:rPr lang="zh-CN" altLang="en-US" sz="1200" b="1" dirty="0">
                <a:solidFill>
                  <a:srgbClr val="00B0F0"/>
                </a:solidFill>
                <a:latin typeface="Times New Roman" panose="02020603050405020304" pitchFamily="18" charset="0"/>
                <a:cs typeface="Times New Roman" panose="02020603050405020304" pitchFamily="18" charset="0"/>
              </a:rPr>
              <a:t>解：</a:t>
            </a:r>
            <a:r>
              <a:rPr lang="zh-CN" altLang="en-US" sz="1200" b="1" dirty="0">
                <a:latin typeface="Times New Roman" panose="02020603050405020304" pitchFamily="18" charset="0"/>
                <a:cs typeface="Times New Roman" panose="02020603050405020304" pitchFamily="18" charset="0"/>
              </a:rPr>
              <a:t>①</a:t>
            </a:r>
            <a:r>
              <a:rPr lang="zh-CN" altLang="en-US" sz="1200" b="1" dirty="0">
                <a:solidFill>
                  <a:srgbClr val="00B0F0"/>
                </a:solidFill>
                <a:latin typeface="Times New Roman" panose="02020603050405020304" pitchFamily="18" charset="0"/>
                <a:cs typeface="Times New Roman" panose="02020603050405020304" pitchFamily="18" charset="0"/>
              </a:rPr>
              <a:t> </a:t>
            </a:r>
            <a:r>
              <a:rPr lang="zh-CN" altLang="en-US" sz="1200" b="1" dirty="0">
                <a:latin typeface="Times New Roman" panose="02020603050405020304" pitchFamily="18" charset="0"/>
                <a:cs typeface="Times New Roman" panose="02020603050405020304" pitchFamily="18" charset="0"/>
              </a:rPr>
              <a:t>用</a:t>
            </a:r>
            <a:r>
              <a:rPr lang="en-US" altLang="zh-CN" sz="1200" b="1" dirty="0">
                <a:latin typeface="Times New Roman" panose="02020603050405020304" pitchFamily="18" charset="0"/>
                <a:cs typeface="Times New Roman" panose="02020603050405020304" pitchFamily="18" charset="0"/>
              </a:rPr>
              <a:t>Huffman</a:t>
            </a:r>
            <a:r>
              <a:rPr lang="zh-CN" altLang="en-US" sz="1200" b="1" dirty="0">
                <a:latin typeface="Times New Roman" panose="02020603050405020304" pitchFamily="18" charset="0"/>
                <a:cs typeface="Times New Roman" panose="02020603050405020304" pitchFamily="18" charset="0"/>
              </a:rPr>
              <a:t>算法求以频率(乘以100)为权的最优2元树. </a:t>
            </a:r>
          </a:p>
          <a:p>
            <a:pPr eaLnBrk="1" hangingPunct="1">
              <a:lnSpc>
                <a:spcPct val="110000"/>
              </a:lnSpc>
              <a:buFontTx/>
              <a:buNone/>
            </a:pPr>
            <a:r>
              <a:rPr lang="zh-CN" altLang="en-US" sz="1200" b="1" dirty="0">
                <a:latin typeface="Times New Roman" panose="02020603050405020304" pitchFamily="18" charset="0"/>
                <a:cs typeface="Times New Roman" panose="02020603050405020304" pitchFamily="18" charset="0"/>
              </a:rPr>
              <a:t>设 </a:t>
            </a:r>
            <a:r>
              <a:rPr lang="en-US" altLang="zh-CN" sz="1200" b="1" i="1" dirty="0">
                <a:latin typeface="Times New Roman" panose="02020603050405020304" pitchFamily="18" charset="0"/>
                <a:cs typeface="Times New Roman" panose="02020603050405020304" pitchFamily="18" charset="0"/>
              </a:rPr>
              <a:t>w</a:t>
            </a:r>
            <a:r>
              <a:rPr lang="en-US" altLang="zh-CN" sz="1200" b="1" baseline="-30000" dirty="0">
                <a:latin typeface="Times New Roman" panose="02020603050405020304" pitchFamily="18" charset="0"/>
                <a:cs typeface="Times New Roman" panose="02020603050405020304" pitchFamily="18" charset="0"/>
              </a:rPr>
              <a:t>1</a:t>
            </a:r>
            <a:r>
              <a:rPr lang="en-US" altLang="zh-CN" sz="1200" b="1" dirty="0">
                <a:latin typeface="Times New Roman" panose="02020603050405020304" pitchFamily="18" charset="0"/>
                <a:cs typeface="Times New Roman" panose="02020603050405020304" pitchFamily="18" charset="0"/>
              </a:rPr>
              <a:t>=5,</a:t>
            </a:r>
            <a:r>
              <a:rPr lang="en-US" altLang="zh-CN" sz="1200" b="1" i="1" dirty="0">
                <a:latin typeface="Times New Roman" panose="02020603050405020304" pitchFamily="18" charset="0"/>
                <a:cs typeface="Times New Roman" panose="02020603050405020304" pitchFamily="18" charset="0"/>
              </a:rPr>
              <a:t>w</a:t>
            </a:r>
            <a:r>
              <a:rPr lang="en-US" altLang="zh-CN" sz="1200" b="1" baseline="-30000" dirty="0">
                <a:latin typeface="Times New Roman" panose="02020603050405020304" pitchFamily="18" charset="0"/>
                <a:cs typeface="Times New Roman" panose="02020603050405020304" pitchFamily="18" charset="0"/>
              </a:rPr>
              <a:t>2</a:t>
            </a:r>
            <a:r>
              <a:rPr lang="en-US" altLang="zh-CN" sz="1200" b="1" dirty="0">
                <a:latin typeface="Times New Roman" panose="02020603050405020304" pitchFamily="18" charset="0"/>
                <a:cs typeface="Times New Roman" panose="02020603050405020304" pitchFamily="18" charset="0"/>
              </a:rPr>
              <a:t>=5,</a:t>
            </a:r>
            <a:r>
              <a:rPr lang="en-US" altLang="zh-CN" sz="1200" b="1" i="1" dirty="0">
                <a:latin typeface="Times New Roman" panose="02020603050405020304" pitchFamily="18" charset="0"/>
                <a:cs typeface="Times New Roman" panose="02020603050405020304" pitchFamily="18" charset="0"/>
              </a:rPr>
              <a:t>w</a:t>
            </a:r>
            <a:r>
              <a:rPr lang="en-US" altLang="zh-CN" sz="1200" b="1" baseline="-30000" dirty="0">
                <a:latin typeface="Times New Roman" panose="02020603050405020304" pitchFamily="18" charset="0"/>
                <a:cs typeface="Times New Roman" panose="02020603050405020304" pitchFamily="18" charset="0"/>
              </a:rPr>
              <a:t>3</a:t>
            </a:r>
            <a:r>
              <a:rPr lang="en-US" altLang="zh-CN" sz="1200" b="1" dirty="0">
                <a:latin typeface="Times New Roman" panose="02020603050405020304" pitchFamily="18" charset="0"/>
                <a:cs typeface="Times New Roman" panose="02020603050405020304" pitchFamily="18" charset="0"/>
              </a:rPr>
              <a:t>=5,</a:t>
            </a:r>
            <a:r>
              <a:rPr lang="en-US" altLang="zh-CN" sz="1200" b="1" i="1" dirty="0">
                <a:latin typeface="Times New Roman" panose="02020603050405020304" pitchFamily="18" charset="0"/>
                <a:cs typeface="Times New Roman" panose="02020603050405020304" pitchFamily="18" charset="0"/>
              </a:rPr>
              <a:t>w</a:t>
            </a:r>
            <a:r>
              <a:rPr lang="en-US" altLang="zh-CN" sz="1200" b="1" baseline="-30000" dirty="0">
                <a:latin typeface="Times New Roman" panose="02020603050405020304" pitchFamily="18" charset="0"/>
                <a:cs typeface="Times New Roman" panose="02020603050405020304" pitchFamily="18" charset="0"/>
              </a:rPr>
              <a:t>4</a:t>
            </a:r>
            <a:r>
              <a:rPr lang="en-US" altLang="zh-CN" sz="1200" b="1" dirty="0">
                <a:latin typeface="Times New Roman" panose="02020603050405020304" pitchFamily="18" charset="0"/>
                <a:cs typeface="Times New Roman" panose="02020603050405020304" pitchFamily="18" charset="0"/>
              </a:rPr>
              <a:t>=10,</a:t>
            </a:r>
            <a:r>
              <a:rPr lang="en-US" altLang="zh-CN" sz="1200" b="1" i="1" dirty="0">
                <a:latin typeface="Times New Roman" panose="02020603050405020304" pitchFamily="18" charset="0"/>
                <a:cs typeface="Times New Roman" panose="02020603050405020304" pitchFamily="18" charset="0"/>
              </a:rPr>
              <a:t>w</a:t>
            </a:r>
            <a:r>
              <a:rPr lang="en-US" altLang="zh-CN" sz="1200" b="1" baseline="-30000" dirty="0">
                <a:latin typeface="Times New Roman" panose="02020603050405020304" pitchFamily="18" charset="0"/>
                <a:cs typeface="Times New Roman" panose="02020603050405020304" pitchFamily="18" charset="0"/>
              </a:rPr>
              <a:t>5</a:t>
            </a:r>
            <a:r>
              <a:rPr lang="en-US" altLang="zh-CN" sz="1200" b="1" dirty="0">
                <a:latin typeface="Times New Roman" panose="02020603050405020304" pitchFamily="18" charset="0"/>
                <a:cs typeface="Times New Roman" panose="02020603050405020304" pitchFamily="18" charset="0"/>
              </a:rPr>
              <a:t>=10,</a:t>
            </a:r>
            <a:r>
              <a:rPr lang="en-US" altLang="zh-CN" sz="1200" b="1" i="1" dirty="0">
                <a:latin typeface="Times New Roman" panose="02020603050405020304" pitchFamily="18" charset="0"/>
                <a:cs typeface="Times New Roman" panose="02020603050405020304" pitchFamily="18" charset="0"/>
              </a:rPr>
              <a:t>w</a:t>
            </a:r>
            <a:r>
              <a:rPr lang="en-US" altLang="zh-CN" sz="1200" b="1" baseline="-30000" dirty="0">
                <a:latin typeface="Times New Roman" panose="02020603050405020304" pitchFamily="18" charset="0"/>
                <a:cs typeface="Times New Roman" panose="02020603050405020304" pitchFamily="18" charset="0"/>
              </a:rPr>
              <a:t>6</a:t>
            </a:r>
            <a:r>
              <a:rPr lang="en-US" altLang="zh-CN" sz="1200" b="1" dirty="0">
                <a:latin typeface="Times New Roman" panose="02020603050405020304" pitchFamily="18" charset="0"/>
                <a:cs typeface="Times New Roman" panose="02020603050405020304" pitchFamily="18" charset="0"/>
              </a:rPr>
              <a:t>=15,</a:t>
            </a:r>
            <a:r>
              <a:rPr lang="en-US" altLang="zh-CN" sz="1200" b="1" i="1" dirty="0">
                <a:latin typeface="Times New Roman" panose="02020603050405020304" pitchFamily="18" charset="0"/>
                <a:cs typeface="Times New Roman" panose="02020603050405020304" pitchFamily="18" charset="0"/>
              </a:rPr>
              <a:t>w</a:t>
            </a:r>
            <a:r>
              <a:rPr lang="en-US" altLang="zh-CN" sz="1200" b="1" baseline="-30000" dirty="0">
                <a:latin typeface="Times New Roman" panose="02020603050405020304" pitchFamily="18" charset="0"/>
                <a:cs typeface="Times New Roman" panose="02020603050405020304" pitchFamily="18" charset="0"/>
              </a:rPr>
              <a:t>7</a:t>
            </a:r>
            <a:r>
              <a:rPr lang="en-US" altLang="zh-CN" sz="1200" b="1" dirty="0">
                <a:latin typeface="Times New Roman" panose="02020603050405020304" pitchFamily="18" charset="0"/>
                <a:cs typeface="Times New Roman" panose="02020603050405020304" pitchFamily="18" charset="0"/>
              </a:rPr>
              <a:t>=20,</a:t>
            </a:r>
            <a:r>
              <a:rPr lang="en-US" altLang="zh-CN" sz="1200" b="1" i="1" dirty="0">
                <a:latin typeface="Times New Roman" panose="02020603050405020304" pitchFamily="18" charset="0"/>
                <a:cs typeface="Times New Roman" panose="02020603050405020304" pitchFamily="18" charset="0"/>
              </a:rPr>
              <a:t>w</a:t>
            </a:r>
            <a:r>
              <a:rPr lang="en-US" altLang="zh-CN" sz="1200" b="1" baseline="-30000" dirty="0">
                <a:latin typeface="Times New Roman" panose="02020603050405020304" pitchFamily="18" charset="0"/>
                <a:cs typeface="Times New Roman" panose="02020603050405020304" pitchFamily="18" charset="0"/>
              </a:rPr>
              <a:t>8</a:t>
            </a:r>
            <a:r>
              <a:rPr lang="en-US" altLang="zh-CN" sz="1200" b="1" dirty="0">
                <a:latin typeface="Times New Roman" panose="02020603050405020304" pitchFamily="18" charset="0"/>
                <a:cs typeface="Times New Roman" panose="02020603050405020304" pitchFamily="18" charset="0"/>
              </a:rPr>
              <a:t>=30</a:t>
            </a:r>
            <a:endParaRPr lang="zh-CN" altLang="en-US" dirty="0"/>
          </a:p>
        </p:txBody>
      </p:sp>
      <p:sp>
        <p:nvSpPr>
          <p:cNvPr id="4" name="灯片编号占位符 3"/>
          <p:cNvSpPr>
            <a:spLocks noGrp="1"/>
          </p:cNvSpPr>
          <p:nvPr>
            <p:ph type="sldNum" sz="quarter" idx="10"/>
          </p:nvPr>
        </p:nvSpPr>
        <p:spPr/>
        <p:txBody>
          <a:bodyPr/>
          <a:lstStyle/>
          <a:p>
            <a:fld id="{CAFE74B6-F93C-4D90-BE1A-7EFEDB35C0D4}" type="slidenum">
              <a:rPr lang="zh-CN" altLang="en-US" smtClean="0"/>
              <a:t>59</a:t>
            </a:fld>
            <a:endParaRPr lang="zh-CN" altLang="en-US"/>
          </a:p>
        </p:txBody>
      </p:sp>
    </p:spTree>
    <p:extLst>
      <p:ext uri="{BB962C8B-B14F-4D97-AF65-F5344CB8AC3E}">
        <p14:creationId xmlns:p14="http://schemas.microsoft.com/office/powerpoint/2010/main" val="2512064100"/>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7.2.1 </a:t>
            </a:r>
            <a:r>
              <a:rPr lang="zh-CN" altLang="en-US" dirty="0"/>
              <a:t>根树及其分类</a:t>
            </a:r>
          </a:p>
          <a:p>
            <a:r>
              <a:rPr lang="en-US" altLang="zh-CN" dirty="0"/>
              <a:t>7.2.2 </a:t>
            </a:r>
            <a:r>
              <a:rPr lang="zh-CN" altLang="en-US" dirty="0"/>
              <a:t>最优树与哈夫曼算法</a:t>
            </a:r>
          </a:p>
          <a:p>
            <a:r>
              <a:rPr lang="en-US" altLang="zh-CN" dirty="0"/>
              <a:t>7.2.3 </a:t>
            </a:r>
            <a:r>
              <a:rPr lang="zh-CN" altLang="en-US" dirty="0"/>
              <a:t>最佳前缀码</a:t>
            </a:r>
          </a:p>
          <a:p>
            <a:r>
              <a:rPr lang="en-US" altLang="zh-CN" dirty="0"/>
              <a:t>7.2.4 </a:t>
            </a:r>
            <a:r>
              <a:rPr lang="zh-CN" altLang="en-US" dirty="0"/>
              <a:t>根树的行遍及其应用</a:t>
            </a:r>
          </a:p>
          <a:p>
            <a:pPr marL="1884363" lvl="1" indent="277813" eaLnBrk="1" hangingPunct="1"/>
            <a:r>
              <a:rPr lang="zh-CN" altLang="en-US" b="1" dirty="0"/>
              <a:t>中序行遍法、前序行遍法和后序行遍法</a:t>
            </a:r>
          </a:p>
          <a:p>
            <a:pPr marL="1884363" lvl="1" indent="277813" eaLnBrk="1" hangingPunct="1"/>
            <a:r>
              <a:rPr lang="zh-CN" altLang="en-US" b="1" dirty="0"/>
              <a:t>波兰符号法与逆波兰符号法</a:t>
            </a:r>
          </a:p>
          <a:p>
            <a:endParaRPr lang="zh-CN" altLang="en-US" dirty="0"/>
          </a:p>
        </p:txBody>
      </p:sp>
      <p:sp>
        <p:nvSpPr>
          <p:cNvPr id="4" name="灯片编号占位符 3"/>
          <p:cNvSpPr>
            <a:spLocks noGrp="1"/>
          </p:cNvSpPr>
          <p:nvPr>
            <p:ph type="sldNum" sz="quarter" idx="10"/>
          </p:nvPr>
        </p:nvSpPr>
        <p:spPr/>
        <p:txBody>
          <a:bodyPr/>
          <a:lstStyle/>
          <a:p>
            <a:fld id="{CAFE74B6-F93C-4D90-BE1A-7EFEDB35C0D4}" type="slidenum">
              <a:rPr lang="zh-CN" altLang="en-US" smtClean="0"/>
              <a:t>60</a:t>
            </a:fld>
            <a:endParaRPr lang="zh-CN" altLang="en-US"/>
          </a:p>
        </p:txBody>
      </p:sp>
    </p:spTree>
    <p:extLst>
      <p:ext uri="{BB962C8B-B14F-4D97-AF65-F5344CB8AC3E}">
        <p14:creationId xmlns:p14="http://schemas.microsoft.com/office/powerpoint/2010/main" val="3859238062"/>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gn="just" eaLnBrk="1" hangingPunct="1">
              <a:buFontTx/>
              <a:buNone/>
            </a:pPr>
            <a:r>
              <a:rPr lang="zh-CN" altLang="en-US" sz="1200" b="1" dirty="0">
                <a:solidFill>
                  <a:srgbClr val="FF3300"/>
                </a:solidFill>
                <a:latin typeface="Times New Roman" panose="02020603050405020304" pitchFamily="18" charset="0"/>
              </a:rPr>
              <a:t>行遍</a:t>
            </a:r>
            <a:r>
              <a:rPr lang="en-US" altLang="zh-CN" sz="1200" b="1" dirty="0">
                <a:solidFill>
                  <a:srgbClr val="FF3300"/>
                </a:solidFill>
                <a:latin typeface="Times New Roman" panose="02020603050405020304" pitchFamily="18" charset="0"/>
              </a:rPr>
              <a:t>(</a:t>
            </a:r>
            <a:r>
              <a:rPr lang="zh-CN" altLang="en-US" sz="1200" b="1" dirty="0">
                <a:solidFill>
                  <a:srgbClr val="FF3300"/>
                </a:solidFill>
                <a:latin typeface="Times New Roman" panose="02020603050405020304" pitchFamily="18" charset="0"/>
              </a:rPr>
              <a:t>周游</a:t>
            </a:r>
            <a:r>
              <a:rPr lang="en-US" altLang="zh-CN" sz="1200" b="1" dirty="0">
                <a:solidFill>
                  <a:srgbClr val="FF3300"/>
                </a:solidFill>
                <a:latin typeface="Times New Roman" panose="02020603050405020304" pitchFamily="18" charset="0"/>
              </a:rPr>
              <a:t>)</a:t>
            </a:r>
            <a:r>
              <a:rPr lang="zh-CN" altLang="en-US" sz="1200" b="1" dirty="0">
                <a:solidFill>
                  <a:srgbClr val="FF3300"/>
                </a:solidFill>
                <a:latin typeface="Times New Roman" panose="02020603050405020304" pitchFamily="18" charset="0"/>
              </a:rPr>
              <a:t>根树</a:t>
            </a:r>
            <a:r>
              <a:rPr lang="en-US" altLang="zh-CN" sz="1200" b="1" dirty="0"/>
              <a:t>: </a:t>
            </a:r>
            <a:r>
              <a:rPr lang="zh-CN" altLang="en-US" sz="1200" b="1" dirty="0"/>
              <a:t>对根树每个顶点访问一次且仅访问一次</a:t>
            </a:r>
            <a:r>
              <a:rPr lang="en-US" altLang="zh-CN" sz="1200" b="1" dirty="0"/>
              <a:t>.</a:t>
            </a:r>
            <a:endParaRPr lang="zh-CN" altLang="en-US" sz="1200" b="1" dirty="0"/>
          </a:p>
          <a:p>
            <a:pPr algn="just" eaLnBrk="1" hangingPunct="1">
              <a:buFont typeface="Wingdings" panose="05000000000000000000" pitchFamily="2" charset="2"/>
              <a:buNone/>
            </a:pPr>
            <a:r>
              <a:rPr lang="zh-CN" altLang="en-US" sz="1200" b="1" dirty="0">
                <a:solidFill>
                  <a:srgbClr val="FF0000"/>
                </a:solidFill>
                <a:latin typeface="Times New Roman" panose="02020603050405020304" pitchFamily="18" charset="0"/>
              </a:rPr>
              <a:t>行遍</a:t>
            </a:r>
            <a:r>
              <a:rPr lang="en-US" altLang="zh-CN" sz="1200" b="1" dirty="0">
                <a:solidFill>
                  <a:srgbClr val="FF0000"/>
                </a:solidFill>
                <a:latin typeface="Times New Roman" panose="02020603050405020304" pitchFamily="18" charset="0"/>
              </a:rPr>
              <a:t>2</a:t>
            </a:r>
            <a:r>
              <a:rPr lang="zh-CN" altLang="en-US" sz="1200" b="1" dirty="0">
                <a:solidFill>
                  <a:srgbClr val="FF0000"/>
                </a:solidFill>
                <a:latin typeface="Times New Roman" panose="02020603050405020304" pitchFamily="18" charset="0"/>
              </a:rPr>
              <a:t>叉有序树的方式</a:t>
            </a:r>
            <a:r>
              <a:rPr lang="zh-CN" altLang="en-US" sz="1200" b="1" dirty="0">
                <a:latin typeface="Times New Roman" panose="02020603050405020304" pitchFamily="18" charset="0"/>
              </a:rPr>
              <a:t>：</a:t>
            </a:r>
          </a:p>
          <a:p>
            <a:pPr algn="just" eaLnBrk="1" hangingPunct="1">
              <a:buFont typeface="Wingdings" panose="05000000000000000000" pitchFamily="2" charset="2"/>
              <a:buNone/>
            </a:pPr>
            <a:r>
              <a:rPr lang="zh-CN" altLang="en-US" sz="1200" b="1" dirty="0">
                <a:latin typeface="Times New Roman" panose="02020603050405020304" pitchFamily="18" charset="0"/>
              </a:rPr>
              <a:t>    ① </a:t>
            </a:r>
            <a:r>
              <a:rPr lang="zh-CN" altLang="en-US" sz="1200" b="1" dirty="0">
                <a:solidFill>
                  <a:srgbClr val="FF0000"/>
                </a:solidFill>
                <a:latin typeface="Times New Roman" panose="02020603050405020304" pitchFamily="18" charset="0"/>
              </a:rPr>
              <a:t>中序</a:t>
            </a:r>
            <a:r>
              <a:rPr lang="zh-CN" altLang="en-US" sz="1200" b="1" dirty="0">
                <a:latin typeface="Times New Roman" panose="02020603050405020304" pitchFamily="18" charset="0"/>
              </a:rPr>
              <a:t>行遍法</a:t>
            </a:r>
            <a:r>
              <a:rPr lang="en-US" altLang="zh-CN" sz="1200" b="1" dirty="0">
                <a:latin typeface="Times New Roman" panose="02020603050405020304" pitchFamily="18" charset="0"/>
              </a:rPr>
              <a:t>: </a:t>
            </a:r>
            <a:r>
              <a:rPr lang="zh-CN" altLang="en-US" sz="1200" b="1" dirty="0">
                <a:latin typeface="Times New Roman" panose="02020603050405020304" pitchFamily="18" charset="0"/>
              </a:rPr>
              <a:t>左子树、根、右子树</a:t>
            </a:r>
          </a:p>
          <a:p>
            <a:pPr algn="just" eaLnBrk="1" hangingPunct="1">
              <a:buFont typeface="Wingdings" panose="05000000000000000000" pitchFamily="2" charset="2"/>
              <a:buNone/>
            </a:pPr>
            <a:r>
              <a:rPr lang="zh-CN" altLang="en-US" sz="1200" b="1" dirty="0">
                <a:latin typeface="Times New Roman" panose="02020603050405020304" pitchFamily="18" charset="0"/>
              </a:rPr>
              <a:t>    ② </a:t>
            </a:r>
            <a:r>
              <a:rPr lang="zh-CN" altLang="en-US" sz="1200" b="1" dirty="0">
                <a:solidFill>
                  <a:srgbClr val="FF0000"/>
                </a:solidFill>
                <a:latin typeface="Times New Roman" panose="02020603050405020304" pitchFamily="18" charset="0"/>
              </a:rPr>
              <a:t>前序</a:t>
            </a:r>
            <a:r>
              <a:rPr lang="zh-CN" altLang="en-US" sz="1200" b="1" dirty="0">
                <a:latin typeface="Times New Roman" panose="02020603050405020304" pitchFamily="18" charset="0"/>
              </a:rPr>
              <a:t>行遍法</a:t>
            </a:r>
            <a:r>
              <a:rPr lang="en-US" altLang="zh-CN" sz="1200" b="1" dirty="0">
                <a:latin typeface="Times New Roman" panose="02020603050405020304" pitchFamily="18" charset="0"/>
              </a:rPr>
              <a:t>: </a:t>
            </a:r>
            <a:r>
              <a:rPr lang="zh-CN" altLang="en-US" sz="1200" b="1" dirty="0">
                <a:latin typeface="Times New Roman" panose="02020603050405020304" pitchFamily="18" charset="0"/>
              </a:rPr>
              <a:t>根、左子树、右子树</a:t>
            </a:r>
          </a:p>
          <a:p>
            <a:pPr eaLnBrk="1" hangingPunct="1">
              <a:buFont typeface="Wingdings" panose="05000000000000000000" pitchFamily="2" charset="2"/>
              <a:buNone/>
            </a:pPr>
            <a:r>
              <a:rPr lang="zh-CN" altLang="en-US" sz="1200" b="1" dirty="0">
                <a:latin typeface="Times New Roman" panose="02020603050405020304" pitchFamily="18" charset="0"/>
              </a:rPr>
              <a:t>    ③ </a:t>
            </a:r>
            <a:r>
              <a:rPr lang="zh-CN" altLang="en-US" sz="1200" b="1" dirty="0">
                <a:solidFill>
                  <a:srgbClr val="FF0000"/>
                </a:solidFill>
                <a:latin typeface="Times New Roman" panose="02020603050405020304" pitchFamily="18" charset="0"/>
              </a:rPr>
              <a:t>后序</a:t>
            </a:r>
            <a:r>
              <a:rPr lang="zh-CN" altLang="en-US" sz="1200" b="1" dirty="0">
                <a:latin typeface="Times New Roman" panose="02020603050405020304" pitchFamily="18" charset="0"/>
              </a:rPr>
              <a:t>行遍法</a:t>
            </a:r>
            <a:r>
              <a:rPr lang="en-US" altLang="zh-CN" sz="1200" b="1" dirty="0">
                <a:latin typeface="Times New Roman" panose="02020603050405020304" pitchFamily="18" charset="0"/>
              </a:rPr>
              <a:t>: </a:t>
            </a:r>
            <a:r>
              <a:rPr lang="zh-CN" altLang="en-US" sz="1200" b="1" dirty="0">
                <a:latin typeface="Times New Roman" panose="02020603050405020304" pitchFamily="18" charset="0"/>
              </a:rPr>
              <a:t>左子树、右子树、根 </a:t>
            </a:r>
          </a:p>
          <a:p>
            <a:pPr algn="just" eaLnBrk="1" hangingPunct="1">
              <a:buFont typeface="Wingdings" panose="05000000000000000000" pitchFamily="2" charset="2"/>
              <a:buNone/>
            </a:pPr>
            <a:r>
              <a:rPr lang="zh-CN" altLang="zh-CN" sz="1200" b="1" dirty="0"/>
              <a:t>当</a:t>
            </a:r>
            <a:r>
              <a:rPr lang="en-US" altLang="zh-CN" b="1" dirty="0"/>
              <a:t>2</a:t>
            </a:r>
            <a:r>
              <a:rPr lang="zh-CN" altLang="en-US" b="1" dirty="0"/>
              <a:t>叉有序树</a:t>
            </a:r>
            <a:r>
              <a:rPr lang="zh-CN" altLang="zh-CN" sz="1200" b="1" dirty="0"/>
              <a:t>不是正则树时</a:t>
            </a:r>
            <a:r>
              <a:rPr lang="en-US" altLang="zh-CN" sz="1200" b="1" dirty="0"/>
              <a:t>, </a:t>
            </a:r>
            <a:r>
              <a:rPr lang="zh-CN" altLang="zh-CN" sz="1200" b="1" dirty="0"/>
              <a:t>左子树或右子树可缺省</a:t>
            </a:r>
            <a:endParaRPr lang="en-US" altLang="zh-CN" sz="1200" b="1" dirty="0"/>
          </a:p>
          <a:p>
            <a:pPr algn="just" eaLnBrk="1" hangingPunct="1">
              <a:buFont typeface="Wingdings" panose="05000000000000000000" pitchFamily="2" charset="2"/>
              <a:buNone/>
            </a:pPr>
            <a:endParaRPr lang="en-US" altLang="zh-CN" sz="1200" b="1" dirty="0"/>
          </a:p>
          <a:p>
            <a:pPr algn="just" eaLnBrk="1" hangingPunct="1">
              <a:buFont typeface="Wingdings" panose="05000000000000000000" pitchFamily="2" charset="2"/>
              <a:buNone/>
            </a:pPr>
            <a:r>
              <a:rPr lang="zh-CN" altLang="en-US" sz="1200" b="1" dirty="0">
                <a:solidFill>
                  <a:srgbClr val="00B0F0"/>
                </a:solidFill>
                <a:latin typeface="Times New Roman" panose="02020603050405020304" pitchFamily="18" charset="0"/>
              </a:rPr>
              <a:t>例</a:t>
            </a:r>
            <a:r>
              <a:rPr lang="en-US" altLang="zh-CN" sz="1200" b="1" dirty="0">
                <a:solidFill>
                  <a:srgbClr val="00B0F0"/>
                </a:solidFill>
                <a:latin typeface="Times New Roman" panose="02020603050405020304" pitchFamily="18" charset="0"/>
              </a:rPr>
              <a:t>:  </a:t>
            </a:r>
            <a:r>
              <a:rPr lang="zh-CN" altLang="en-US" sz="1200" b="1" dirty="0">
                <a:latin typeface="Times New Roman" panose="02020603050405020304" pitchFamily="18" charset="0"/>
              </a:rPr>
              <a:t>右图的行遍结果为：</a:t>
            </a:r>
            <a:r>
              <a:rPr lang="en-US" altLang="zh-CN" sz="1200" b="1" dirty="0">
                <a:latin typeface="Times New Roman" panose="02020603050405020304" pitchFamily="18" charset="0"/>
              </a:rPr>
              <a:t> </a:t>
            </a:r>
          </a:p>
          <a:p>
            <a:pPr algn="just" eaLnBrk="1" hangingPunct="1">
              <a:buFont typeface="Wingdings" panose="05000000000000000000" pitchFamily="2" charset="2"/>
              <a:buNone/>
            </a:pPr>
            <a:r>
              <a:rPr lang="en-US" altLang="zh-CN" sz="1200" b="1" dirty="0">
                <a:latin typeface="Times New Roman" panose="02020603050405020304" pitchFamily="18" charset="0"/>
              </a:rPr>
              <a:t> </a:t>
            </a:r>
            <a:r>
              <a:rPr lang="zh-CN" altLang="en-US" sz="1200" b="1" dirty="0">
                <a:latin typeface="Times New Roman" panose="02020603050405020304" pitchFamily="18" charset="0"/>
              </a:rPr>
              <a:t>中序行遍</a:t>
            </a:r>
            <a:r>
              <a:rPr lang="en-US" altLang="zh-CN" sz="1200" b="1" dirty="0">
                <a:latin typeface="Times New Roman" panose="02020603050405020304" pitchFamily="18" charset="0"/>
              </a:rPr>
              <a:t>: </a:t>
            </a:r>
            <a:r>
              <a:rPr lang="en-US" altLang="zh-CN" sz="1200" b="1" i="1" dirty="0">
                <a:latin typeface="Times New Roman" panose="02020603050405020304" pitchFamily="18" charset="0"/>
              </a:rPr>
              <a:t>b</a:t>
            </a:r>
            <a:r>
              <a:rPr lang="en-US" altLang="zh-CN" sz="1200" b="1" dirty="0">
                <a:latin typeface="Times New Roman" panose="02020603050405020304" pitchFamily="18" charset="0"/>
              </a:rPr>
              <a:t> </a:t>
            </a:r>
            <a:r>
              <a:rPr lang="en-US" altLang="zh-CN" sz="1200" b="1" i="1" u="sng" dirty="0">
                <a:latin typeface="Times New Roman" panose="02020603050405020304" pitchFamily="18" charset="0"/>
              </a:rPr>
              <a:t>a</a:t>
            </a:r>
            <a:r>
              <a:rPr lang="en-US" altLang="zh-CN" sz="1200" b="1" dirty="0">
                <a:latin typeface="Times New Roman" panose="02020603050405020304" pitchFamily="18" charset="0"/>
              </a:rPr>
              <a:t> (</a:t>
            </a:r>
            <a:r>
              <a:rPr lang="en-US" altLang="zh-CN" sz="1200" b="1" i="1" dirty="0">
                <a:latin typeface="Times New Roman" panose="02020603050405020304" pitchFamily="18" charset="0"/>
              </a:rPr>
              <a:t>f</a:t>
            </a:r>
            <a:r>
              <a:rPr lang="en-US" altLang="zh-CN" sz="1200" b="1" dirty="0">
                <a:latin typeface="Times New Roman" panose="02020603050405020304" pitchFamily="18" charset="0"/>
              </a:rPr>
              <a:t> </a:t>
            </a:r>
            <a:r>
              <a:rPr lang="en-US" altLang="zh-CN" sz="1200" b="1" i="1" u="sng" dirty="0">
                <a:latin typeface="Times New Roman" panose="02020603050405020304" pitchFamily="18" charset="0"/>
              </a:rPr>
              <a:t>d</a:t>
            </a:r>
            <a:r>
              <a:rPr lang="en-US" altLang="zh-CN" sz="1200" b="1" dirty="0">
                <a:latin typeface="Times New Roman" panose="02020603050405020304" pitchFamily="18" charset="0"/>
              </a:rPr>
              <a:t> </a:t>
            </a:r>
            <a:r>
              <a:rPr lang="en-US" altLang="zh-CN" sz="1200" b="1" i="1" dirty="0">
                <a:latin typeface="Times New Roman" panose="02020603050405020304" pitchFamily="18" charset="0"/>
              </a:rPr>
              <a:t>g</a:t>
            </a:r>
            <a:r>
              <a:rPr lang="en-US" altLang="zh-CN" sz="1200" b="1" dirty="0">
                <a:latin typeface="Times New Roman" panose="02020603050405020304" pitchFamily="18" charset="0"/>
              </a:rPr>
              <a:t>) </a:t>
            </a:r>
            <a:r>
              <a:rPr lang="en-US" altLang="zh-CN" sz="1200" b="1" i="1" u="sng" dirty="0">
                <a:latin typeface="Times New Roman" panose="02020603050405020304" pitchFamily="18" charset="0"/>
              </a:rPr>
              <a:t>c</a:t>
            </a:r>
            <a:r>
              <a:rPr lang="en-US" altLang="zh-CN" sz="1200" b="1" dirty="0">
                <a:latin typeface="Times New Roman" panose="02020603050405020304" pitchFamily="18" charset="0"/>
              </a:rPr>
              <a:t> </a:t>
            </a:r>
            <a:r>
              <a:rPr lang="en-US" altLang="zh-CN" sz="1200" b="1" i="1" dirty="0">
                <a:latin typeface="Times New Roman" panose="02020603050405020304" pitchFamily="18" charset="0"/>
              </a:rPr>
              <a:t>e </a:t>
            </a:r>
          </a:p>
          <a:p>
            <a:pPr algn="just" eaLnBrk="1" hangingPunct="1">
              <a:buFont typeface="Wingdings" panose="05000000000000000000" pitchFamily="2" charset="2"/>
              <a:buNone/>
            </a:pPr>
            <a:r>
              <a:rPr lang="zh-CN" altLang="en-US" sz="1200" b="1" dirty="0">
                <a:latin typeface="Times New Roman" panose="02020603050405020304" pitchFamily="18" charset="0"/>
              </a:rPr>
              <a:t> 前序行遍</a:t>
            </a:r>
            <a:r>
              <a:rPr lang="en-US" altLang="zh-CN" sz="1200" b="1" dirty="0">
                <a:latin typeface="Times New Roman" panose="02020603050405020304" pitchFamily="18" charset="0"/>
              </a:rPr>
              <a:t>: </a:t>
            </a:r>
            <a:r>
              <a:rPr lang="en-US" altLang="zh-CN" sz="1200" b="1" i="1" u="sng" dirty="0">
                <a:latin typeface="Times New Roman" panose="02020603050405020304" pitchFamily="18" charset="0"/>
              </a:rPr>
              <a:t>a</a:t>
            </a:r>
            <a:r>
              <a:rPr lang="en-US" altLang="zh-CN" sz="1200" b="1" dirty="0">
                <a:latin typeface="Times New Roman" panose="02020603050405020304" pitchFamily="18" charset="0"/>
              </a:rPr>
              <a:t> </a:t>
            </a:r>
            <a:r>
              <a:rPr lang="en-US" altLang="zh-CN" sz="1200" b="1" i="1" dirty="0">
                <a:latin typeface="Times New Roman" panose="02020603050405020304" pitchFamily="18" charset="0"/>
              </a:rPr>
              <a:t>b</a:t>
            </a:r>
            <a:r>
              <a:rPr lang="en-US" altLang="zh-CN" sz="1200" b="1" dirty="0">
                <a:latin typeface="Times New Roman" panose="02020603050405020304" pitchFamily="18" charset="0"/>
              </a:rPr>
              <a:t> (</a:t>
            </a:r>
            <a:r>
              <a:rPr lang="en-US" altLang="zh-CN" sz="1200" b="1" i="1" u="sng" dirty="0">
                <a:latin typeface="Times New Roman" panose="02020603050405020304" pitchFamily="18" charset="0"/>
              </a:rPr>
              <a:t>c</a:t>
            </a:r>
            <a:r>
              <a:rPr lang="en-US" altLang="zh-CN" sz="1200" b="1" dirty="0">
                <a:latin typeface="Times New Roman" panose="02020603050405020304" pitchFamily="18" charset="0"/>
              </a:rPr>
              <a:t> (</a:t>
            </a:r>
            <a:r>
              <a:rPr lang="en-US" altLang="zh-CN" sz="1200" b="1" i="1" u="sng" dirty="0">
                <a:latin typeface="Times New Roman" panose="02020603050405020304" pitchFamily="18" charset="0"/>
              </a:rPr>
              <a:t>d</a:t>
            </a:r>
            <a:r>
              <a:rPr lang="en-US" altLang="zh-CN" sz="1200" b="1" dirty="0">
                <a:latin typeface="Times New Roman" panose="02020603050405020304" pitchFamily="18" charset="0"/>
              </a:rPr>
              <a:t> </a:t>
            </a:r>
            <a:r>
              <a:rPr lang="en-US" altLang="zh-CN" sz="1200" b="1" i="1" dirty="0">
                <a:latin typeface="Times New Roman" panose="02020603050405020304" pitchFamily="18" charset="0"/>
              </a:rPr>
              <a:t>f</a:t>
            </a:r>
            <a:r>
              <a:rPr lang="en-US" altLang="zh-CN" sz="1200" b="1" dirty="0">
                <a:latin typeface="Times New Roman" panose="02020603050405020304" pitchFamily="18" charset="0"/>
              </a:rPr>
              <a:t> </a:t>
            </a:r>
            <a:r>
              <a:rPr lang="en-US" altLang="zh-CN" sz="1200" b="1" i="1" dirty="0">
                <a:latin typeface="Times New Roman" panose="02020603050405020304" pitchFamily="18" charset="0"/>
              </a:rPr>
              <a:t>g</a:t>
            </a:r>
            <a:r>
              <a:rPr lang="en-US" altLang="zh-CN" sz="1200" b="1" dirty="0">
                <a:latin typeface="Times New Roman" panose="02020603050405020304" pitchFamily="18" charset="0"/>
              </a:rPr>
              <a:t>) </a:t>
            </a:r>
            <a:r>
              <a:rPr lang="en-US" altLang="zh-CN" sz="1200" b="1" i="1" dirty="0">
                <a:latin typeface="Times New Roman" panose="02020603050405020304" pitchFamily="18" charset="0"/>
              </a:rPr>
              <a:t>e</a:t>
            </a:r>
            <a:r>
              <a:rPr lang="en-US" altLang="zh-CN" sz="1200" b="1" dirty="0">
                <a:latin typeface="Times New Roman" panose="02020603050405020304" pitchFamily="18" charset="0"/>
              </a:rPr>
              <a:t>) </a:t>
            </a:r>
            <a:endParaRPr lang="zh-CN" altLang="en-US" sz="1200" b="1" dirty="0">
              <a:latin typeface="Times New Roman" panose="02020603050405020304" pitchFamily="18" charset="0"/>
            </a:endParaRPr>
          </a:p>
          <a:p>
            <a:pPr algn="just" eaLnBrk="1" hangingPunct="1">
              <a:buFont typeface="Wingdings" panose="05000000000000000000" pitchFamily="2" charset="2"/>
              <a:buNone/>
            </a:pPr>
            <a:r>
              <a:rPr lang="zh-CN" altLang="en-US" sz="1200" b="1" dirty="0">
                <a:latin typeface="Times New Roman" panose="02020603050405020304" pitchFamily="18" charset="0"/>
              </a:rPr>
              <a:t>后序行遍</a:t>
            </a:r>
            <a:r>
              <a:rPr lang="en-US" altLang="zh-CN" sz="1200" b="1" dirty="0">
                <a:latin typeface="Times New Roman" panose="02020603050405020304" pitchFamily="18" charset="0"/>
              </a:rPr>
              <a:t>: </a:t>
            </a:r>
            <a:r>
              <a:rPr lang="en-US" altLang="zh-CN" sz="1200" b="1" i="1" dirty="0">
                <a:latin typeface="Times New Roman" panose="02020603050405020304" pitchFamily="18" charset="0"/>
              </a:rPr>
              <a:t>b</a:t>
            </a:r>
            <a:r>
              <a:rPr lang="en-US" altLang="zh-CN" sz="1200" b="1" dirty="0">
                <a:latin typeface="Times New Roman" panose="02020603050405020304" pitchFamily="18" charset="0"/>
              </a:rPr>
              <a:t> ((</a:t>
            </a:r>
            <a:r>
              <a:rPr lang="en-US" altLang="zh-CN" sz="1200" b="1" i="1" dirty="0">
                <a:latin typeface="Times New Roman" panose="02020603050405020304" pitchFamily="18" charset="0"/>
              </a:rPr>
              <a:t>f</a:t>
            </a:r>
            <a:r>
              <a:rPr lang="en-US" altLang="zh-CN" sz="1200" b="1" dirty="0">
                <a:latin typeface="Times New Roman" panose="02020603050405020304" pitchFamily="18" charset="0"/>
              </a:rPr>
              <a:t> </a:t>
            </a:r>
            <a:r>
              <a:rPr lang="en-US" altLang="zh-CN" sz="1200" b="1" i="1" dirty="0">
                <a:latin typeface="Times New Roman" panose="02020603050405020304" pitchFamily="18" charset="0"/>
              </a:rPr>
              <a:t>g</a:t>
            </a:r>
            <a:r>
              <a:rPr lang="en-US" altLang="zh-CN" sz="1200" b="1" dirty="0">
                <a:latin typeface="Times New Roman" panose="02020603050405020304" pitchFamily="18" charset="0"/>
              </a:rPr>
              <a:t> </a:t>
            </a:r>
            <a:r>
              <a:rPr lang="en-US" altLang="zh-CN" sz="1200" b="1" i="1" u="sng" dirty="0">
                <a:latin typeface="Times New Roman" panose="02020603050405020304" pitchFamily="18" charset="0"/>
              </a:rPr>
              <a:t>d</a:t>
            </a:r>
            <a:r>
              <a:rPr lang="en-US" altLang="zh-CN" sz="1200" b="1" dirty="0">
                <a:latin typeface="Times New Roman" panose="02020603050405020304" pitchFamily="18" charset="0"/>
              </a:rPr>
              <a:t>) </a:t>
            </a:r>
            <a:r>
              <a:rPr lang="en-US" altLang="zh-CN" sz="1200" b="1" i="1" dirty="0">
                <a:latin typeface="Times New Roman" panose="02020603050405020304" pitchFamily="18" charset="0"/>
              </a:rPr>
              <a:t>e</a:t>
            </a:r>
            <a:r>
              <a:rPr lang="en-US" altLang="zh-CN" sz="1200" b="1" dirty="0">
                <a:latin typeface="Times New Roman" panose="02020603050405020304" pitchFamily="18" charset="0"/>
              </a:rPr>
              <a:t> </a:t>
            </a:r>
            <a:r>
              <a:rPr lang="en-US" altLang="zh-CN" sz="1200" b="1" i="1" u="sng" dirty="0">
                <a:latin typeface="Times New Roman" panose="02020603050405020304" pitchFamily="18" charset="0"/>
              </a:rPr>
              <a:t>c</a:t>
            </a:r>
            <a:r>
              <a:rPr lang="en-US" altLang="zh-CN" sz="1200" b="1" dirty="0">
                <a:latin typeface="Times New Roman" panose="02020603050405020304" pitchFamily="18" charset="0"/>
              </a:rPr>
              <a:t>) </a:t>
            </a:r>
            <a:r>
              <a:rPr lang="en-US" altLang="zh-CN" sz="1200" b="1" i="1" u="sng" dirty="0">
                <a:latin typeface="Times New Roman" panose="02020603050405020304" pitchFamily="18" charset="0"/>
              </a:rPr>
              <a:t>a</a:t>
            </a:r>
          </a:p>
          <a:p>
            <a:pPr algn="just" eaLnBrk="1" hangingPunct="1">
              <a:buFont typeface="Wingdings" panose="05000000000000000000" pitchFamily="2" charset="2"/>
              <a:buNone/>
            </a:pPr>
            <a:r>
              <a:rPr lang="zh-CN" altLang="en-US" sz="1200" b="1" i="1" dirty="0">
                <a:solidFill>
                  <a:srgbClr val="00B0F0"/>
                </a:solidFill>
                <a:latin typeface="Times New Roman" panose="02020603050405020304" pitchFamily="18" charset="0"/>
              </a:rPr>
              <a:t>*</a:t>
            </a:r>
            <a:r>
              <a:rPr lang="zh-CN" altLang="en-US" sz="1200" b="1" dirty="0"/>
              <a:t>带下划线的是(子)树根, 一对括号内是一棵子树</a:t>
            </a:r>
            <a:endParaRPr lang="en-US" altLang="zh-CN" sz="1200" b="1" i="1" u="sng" dirty="0">
              <a:latin typeface="Times New Roman" panose="02020603050405020304" pitchFamily="18" charset="0"/>
            </a:endParaRPr>
          </a:p>
          <a:p>
            <a:pPr algn="just" eaLnBrk="1" hangingPunct="1">
              <a:buFont typeface="Wingdings" panose="05000000000000000000" pitchFamily="2" charset="2"/>
              <a:buNone/>
            </a:pPr>
            <a:endParaRPr lang="zh-CN" altLang="en-US" dirty="0"/>
          </a:p>
        </p:txBody>
      </p:sp>
      <p:sp>
        <p:nvSpPr>
          <p:cNvPr id="4" name="灯片编号占位符 3"/>
          <p:cNvSpPr>
            <a:spLocks noGrp="1"/>
          </p:cNvSpPr>
          <p:nvPr>
            <p:ph type="sldNum" sz="quarter" idx="10"/>
          </p:nvPr>
        </p:nvSpPr>
        <p:spPr/>
        <p:txBody>
          <a:bodyPr/>
          <a:lstStyle/>
          <a:p>
            <a:fld id="{CAFE74B6-F93C-4D90-BE1A-7EFEDB35C0D4}" type="slidenum">
              <a:rPr lang="zh-CN" altLang="en-US" smtClean="0"/>
              <a:t>61</a:t>
            </a:fld>
            <a:endParaRPr lang="zh-CN" altLang="en-US"/>
          </a:p>
        </p:txBody>
      </p:sp>
    </p:spTree>
    <p:extLst>
      <p:ext uri="{BB962C8B-B14F-4D97-AF65-F5344CB8AC3E}">
        <p14:creationId xmlns:p14="http://schemas.microsoft.com/office/powerpoint/2010/main" val="1409303964"/>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gn="just" eaLnBrk="1" hangingPunct="1">
              <a:buFontTx/>
              <a:buNone/>
            </a:pPr>
            <a:r>
              <a:rPr lang="zh-CN" altLang="en-US" sz="1200" b="1" dirty="0">
                <a:solidFill>
                  <a:srgbClr val="FF3300"/>
                </a:solidFill>
                <a:latin typeface="Times New Roman" panose="02020603050405020304" pitchFamily="18" charset="0"/>
              </a:rPr>
              <a:t>行遍</a:t>
            </a:r>
            <a:r>
              <a:rPr lang="en-US" altLang="zh-CN" sz="1200" b="1" dirty="0">
                <a:solidFill>
                  <a:srgbClr val="FF3300"/>
                </a:solidFill>
                <a:latin typeface="Times New Roman" panose="02020603050405020304" pitchFamily="18" charset="0"/>
              </a:rPr>
              <a:t>(</a:t>
            </a:r>
            <a:r>
              <a:rPr lang="zh-CN" altLang="en-US" sz="1200" b="1" dirty="0">
                <a:solidFill>
                  <a:srgbClr val="FF3300"/>
                </a:solidFill>
                <a:latin typeface="Times New Roman" panose="02020603050405020304" pitchFamily="18" charset="0"/>
              </a:rPr>
              <a:t>周游</a:t>
            </a:r>
            <a:r>
              <a:rPr lang="en-US" altLang="zh-CN" sz="1200" b="1" dirty="0">
                <a:solidFill>
                  <a:srgbClr val="FF3300"/>
                </a:solidFill>
                <a:latin typeface="Times New Roman" panose="02020603050405020304" pitchFamily="18" charset="0"/>
              </a:rPr>
              <a:t>)</a:t>
            </a:r>
            <a:r>
              <a:rPr lang="zh-CN" altLang="en-US" sz="1200" b="1" dirty="0">
                <a:solidFill>
                  <a:srgbClr val="FF3300"/>
                </a:solidFill>
                <a:latin typeface="Times New Roman" panose="02020603050405020304" pitchFamily="18" charset="0"/>
              </a:rPr>
              <a:t>根树</a:t>
            </a:r>
            <a:r>
              <a:rPr lang="en-US" altLang="zh-CN" sz="1200" b="1" dirty="0"/>
              <a:t>: </a:t>
            </a:r>
            <a:r>
              <a:rPr lang="zh-CN" altLang="en-US" sz="1200" b="1" dirty="0"/>
              <a:t>对根树每个顶点访问一次且仅访问一次</a:t>
            </a:r>
            <a:r>
              <a:rPr lang="en-US" altLang="zh-CN" sz="1200" b="1" dirty="0"/>
              <a:t>.</a:t>
            </a:r>
            <a:endParaRPr lang="zh-CN" altLang="en-US" sz="1200" b="1" dirty="0"/>
          </a:p>
          <a:p>
            <a:pPr algn="just" eaLnBrk="1" hangingPunct="1">
              <a:buFont typeface="Wingdings" panose="05000000000000000000" pitchFamily="2" charset="2"/>
              <a:buNone/>
            </a:pPr>
            <a:r>
              <a:rPr lang="zh-CN" altLang="en-US" sz="1200" b="1" dirty="0">
                <a:solidFill>
                  <a:srgbClr val="FF0000"/>
                </a:solidFill>
                <a:latin typeface="Times New Roman" panose="02020603050405020304" pitchFamily="18" charset="0"/>
              </a:rPr>
              <a:t>行遍</a:t>
            </a:r>
            <a:r>
              <a:rPr lang="en-US" altLang="zh-CN" sz="1200" b="1" dirty="0">
                <a:solidFill>
                  <a:srgbClr val="FF0000"/>
                </a:solidFill>
                <a:latin typeface="Times New Roman" panose="02020603050405020304" pitchFamily="18" charset="0"/>
              </a:rPr>
              <a:t>2</a:t>
            </a:r>
            <a:r>
              <a:rPr lang="zh-CN" altLang="en-US" sz="1200" b="1" dirty="0">
                <a:solidFill>
                  <a:srgbClr val="FF0000"/>
                </a:solidFill>
                <a:latin typeface="Times New Roman" panose="02020603050405020304" pitchFamily="18" charset="0"/>
              </a:rPr>
              <a:t>叉有序树的方式</a:t>
            </a:r>
            <a:r>
              <a:rPr lang="zh-CN" altLang="en-US" sz="1200" b="1" dirty="0">
                <a:latin typeface="Times New Roman" panose="02020603050405020304" pitchFamily="18" charset="0"/>
              </a:rPr>
              <a:t>：</a:t>
            </a:r>
          </a:p>
          <a:p>
            <a:pPr algn="just" eaLnBrk="1" hangingPunct="1">
              <a:buFont typeface="Wingdings" panose="05000000000000000000" pitchFamily="2" charset="2"/>
              <a:buNone/>
            </a:pPr>
            <a:r>
              <a:rPr lang="zh-CN" altLang="en-US" sz="1200" b="1" dirty="0">
                <a:latin typeface="Times New Roman" panose="02020603050405020304" pitchFamily="18" charset="0"/>
              </a:rPr>
              <a:t>    ① </a:t>
            </a:r>
            <a:r>
              <a:rPr lang="zh-CN" altLang="en-US" sz="1200" b="1" dirty="0">
                <a:solidFill>
                  <a:srgbClr val="FF0000"/>
                </a:solidFill>
                <a:latin typeface="Times New Roman" panose="02020603050405020304" pitchFamily="18" charset="0"/>
              </a:rPr>
              <a:t>中序</a:t>
            </a:r>
            <a:r>
              <a:rPr lang="zh-CN" altLang="en-US" sz="1200" b="1" dirty="0">
                <a:latin typeface="Times New Roman" panose="02020603050405020304" pitchFamily="18" charset="0"/>
              </a:rPr>
              <a:t>行遍法</a:t>
            </a:r>
            <a:r>
              <a:rPr lang="en-US" altLang="zh-CN" sz="1200" b="1" dirty="0">
                <a:latin typeface="Times New Roman" panose="02020603050405020304" pitchFamily="18" charset="0"/>
              </a:rPr>
              <a:t>: </a:t>
            </a:r>
            <a:r>
              <a:rPr lang="zh-CN" altLang="en-US" sz="1200" b="1" dirty="0">
                <a:latin typeface="Times New Roman" panose="02020603050405020304" pitchFamily="18" charset="0"/>
              </a:rPr>
              <a:t>左子树、根、右子树</a:t>
            </a:r>
          </a:p>
          <a:p>
            <a:pPr algn="just" eaLnBrk="1" hangingPunct="1">
              <a:buFont typeface="Wingdings" panose="05000000000000000000" pitchFamily="2" charset="2"/>
              <a:buNone/>
            </a:pPr>
            <a:r>
              <a:rPr lang="zh-CN" altLang="en-US" sz="1200" b="1" dirty="0">
                <a:latin typeface="Times New Roman" panose="02020603050405020304" pitchFamily="18" charset="0"/>
              </a:rPr>
              <a:t>    ② </a:t>
            </a:r>
            <a:r>
              <a:rPr lang="zh-CN" altLang="en-US" sz="1200" b="1" dirty="0">
                <a:solidFill>
                  <a:srgbClr val="FF0000"/>
                </a:solidFill>
                <a:latin typeface="Times New Roman" panose="02020603050405020304" pitchFamily="18" charset="0"/>
              </a:rPr>
              <a:t>前序</a:t>
            </a:r>
            <a:r>
              <a:rPr lang="zh-CN" altLang="en-US" sz="1200" b="1" dirty="0">
                <a:latin typeface="Times New Roman" panose="02020603050405020304" pitchFamily="18" charset="0"/>
              </a:rPr>
              <a:t>行遍法</a:t>
            </a:r>
            <a:r>
              <a:rPr lang="en-US" altLang="zh-CN" sz="1200" b="1" dirty="0">
                <a:latin typeface="Times New Roman" panose="02020603050405020304" pitchFamily="18" charset="0"/>
              </a:rPr>
              <a:t>: </a:t>
            </a:r>
            <a:r>
              <a:rPr lang="zh-CN" altLang="en-US" sz="1200" b="1" dirty="0">
                <a:latin typeface="Times New Roman" panose="02020603050405020304" pitchFamily="18" charset="0"/>
              </a:rPr>
              <a:t>根、左子树、右子树</a:t>
            </a:r>
          </a:p>
          <a:p>
            <a:pPr eaLnBrk="1" hangingPunct="1">
              <a:buFont typeface="Wingdings" panose="05000000000000000000" pitchFamily="2" charset="2"/>
              <a:buNone/>
            </a:pPr>
            <a:r>
              <a:rPr lang="zh-CN" altLang="en-US" sz="1200" b="1" dirty="0">
                <a:latin typeface="Times New Roman" panose="02020603050405020304" pitchFamily="18" charset="0"/>
              </a:rPr>
              <a:t>    ③ </a:t>
            </a:r>
            <a:r>
              <a:rPr lang="zh-CN" altLang="en-US" sz="1200" b="1" dirty="0">
                <a:solidFill>
                  <a:srgbClr val="FF0000"/>
                </a:solidFill>
                <a:latin typeface="Times New Roman" panose="02020603050405020304" pitchFamily="18" charset="0"/>
              </a:rPr>
              <a:t>后序</a:t>
            </a:r>
            <a:r>
              <a:rPr lang="zh-CN" altLang="en-US" sz="1200" b="1" dirty="0">
                <a:latin typeface="Times New Roman" panose="02020603050405020304" pitchFamily="18" charset="0"/>
              </a:rPr>
              <a:t>行遍法</a:t>
            </a:r>
            <a:r>
              <a:rPr lang="en-US" altLang="zh-CN" sz="1200" b="1" dirty="0">
                <a:latin typeface="Times New Roman" panose="02020603050405020304" pitchFamily="18" charset="0"/>
              </a:rPr>
              <a:t>: </a:t>
            </a:r>
            <a:r>
              <a:rPr lang="zh-CN" altLang="en-US" sz="1200" b="1" dirty="0">
                <a:latin typeface="Times New Roman" panose="02020603050405020304" pitchFamily="18" charset="0"/>
              </a:rPr>
              <a:t>左子树、右子树、根 </a:t>
            </a:r>
          </a:p>
          <a:p>
            <a:pPr algn="just" eaLnBrk="1" hangingPunct="1">
              <a:buFont typeface="Wingdings" panose="05000000000000000000" pitchFamily="2" charset="2"/>
              <a:buNone/>
            </a:pPr>
            <a:r>
              <a:rPr lang="zh-CN" altLang="zh-CN" sz="1200" b="1" dirty="0"/>
              <a:t>当</a:t>
            </a:r>
            <a:r>
              <a:rPr lang="en-US" altLang="zh-CN" b="1" dirty="0"/>
              <a:t>2</a:t>
            </a:r>
            <a:r>
              <a:rPr lang="zh-CN" altLang="en-US" b="1" dirty="0"/>
              <a:t>叉有序树</a:t>
            </a:r>
            <a:r>
              <a:rPr lang="zh-CN" altLang="zh-CN" sz="1200" b="1" dirty="0"/>
              <a:t>不是正则树时</a:t>
            </a:r>
            <a:r>
              <a:rPr lang="en-US" altLang="zh-CN" sz="1200" b="1" dirty="0"/>
              <a:t>, </a:t>
            </a:r>
            <a:r>
              <a:rPr lang="zh-CN" altLang="zh-CN" sz="1200" b="1" dirty="0"/>
              <a:t>左子树或右子树可缺省</a:t>
            </a:r>
            <a:endParaRPr lang="en-US" altLang="zh-CN" sz="1200" b="1" dirty="0"/>
          </a:p>
          <a:p>
            <a:pPr algn="just" eaLnBrk="1" hangingPunct="1">
              <a:buFont typeface="Wingdings" panose="05000000000000000000" pitchFamily="2" charset="2"/>
              <a:buNone/>
            </a:pPr>
            <a:endParaRPr lang="en-US" altLang="zh-CN" sz="1200" b="1" dirty="0"/>
          </a:p>
          <a:p>
            <a:pPr algn="just" eaLnBrk="1" hangingPunct="1">
              <a:buFont typeface="Wingdings" panose="05000000000000000000" pitchFamily="2" charset="2"/>
              <a:buNone/>
            </a:pPr>
            <a:r>
              <a:rPr lang="zh-CN" altLang="en-US" sz="1200" b="1" dirty="0">
                <a:solidFill>
                  <a:srgbClr val="00B0F0"/>
                </a:solidFill>
                <a:latin typeface="Times New Roman" panose="02020603050405020304" pitchFamily="18" charset="0"/>
              </a:rPr>
              <a:t>例</a:t>
            </a:r>
            <a:r>
              <a:rPr lang="en-US" altLang="zh-CN" sz="1200" b="1" dirty="0">
                <a:solidFill>
                  <a:srgbClr val="00B0F0"/>
                </a:solidFill>
                <a:latin typeface="Times New Roman" panose="02020603050405020304" pitchFamily="18" charset="0"/>
              </a:rPr>
              <a:t>:  </a:t>
            </a:r>
            <a:r>
              <a:rPr lang="zh-CN" altLang="en-US" sz="1200" b="1" dirty="0">
                <a:latin typeface="Times New Roman" panose="02020603050405020304" pitchFamily="18" charset="0"/>
              </a:rPr>
              <a:t>右图的行遍结果为：</a:t>
            </a:r>
            <a:r>
              <a:rPr lang="en-US" altLang="zh-CN" sz="1200" b="1" dirty="0">
                <a:latin typeface="Times New Roman" panose="02020603050405020304" pitchFamily="18" charset="0"/>
              </a:rPr>
              <a:t> </a:t>
            </a:r>
          </a:p>
          <a:p>
            <a:pPr algn="just" eaLnBrk="1" hangingPunct="1">
              <a:buFont typeface="Wingdings" panose="05000000000000000000" pitchFamily="2" charset="2"/>
              <a:buNone/>
            </a:pPr>
            <a:r>
              <a:rPr lang="en-US" altLang="zh-CN" sz="1200" b="1" dirty="0">
                <a:latin typeface="Times New Roman" panose="02020603050405020304" pitchFamily="18" charset="0"/>
              </a:rPr>
              <a:t> </a:t>
            </a:r>
            <a:r>
              <a:rPr lang="zh-CN" altLang="en-US" sz="1200" b="1" dirty="0">
                <a:latin typeface="Times New Roman" panose="02020603050405020304" pitchFamily="18" charset="0"/>
              </a:rPr>
              <a:t>中序行遍</a:t>
            </a:r>
            <a:r>
              <a:rPr lang="en-US" altLang="zh-CN" sz="1200" b="1" dirty="0">
                <a:latin typeface="Times New Roman" panose="02020603050405020304" pitchFamily="18" charset="0"/>
              </a:rPr>
              <a:t>: </a:t>
            </a:r>
            <a:r>
              <a:rPr lang="en-US" altLang="zh-CN" sz="1200" b="1" i="1" dirty="0">
                <a:latin typeface="Times New Roman" panose="02020603050405020304" pitchFamily="18" charset="0"/>
              </a:rPr>
              <a:t>b</a:t>
            </a:r>
            <a:r>
              <a:rPr lang="en-US" altLang="zh-CN" sz="1200" b="1" dirty="0">
                <a:latin typeface="Times New Roman" panose="02020603050405020304" pitchFamily="18" charset="0"/>
              </a:rPr>
              <a:t> </a:t>
            </a:r>
            <a:r>
              <a:rPr lang="en-US" altLang="zh-CN" sz="1200" b="1" i="1" u="sng" dirty="0">
                <a:latin typeface="Times New Roman" panose="02020603050405020304" pitchFamily="18" charset="0"/>
              </a:rPr>
              <a:t>a</a:t>
            </a:r>
            <a:r>
              <a:rPr lang="en-US" altLang="zh-CN" sz="1200" b="1" dirty="0">
                <a:latin typeface="Times New Roman" panose="02020603050405020304" pitchFamily="18" charset="0"/>
              </a:rPr>
              <a:t> (</a:t>
            </a:r>
            <a:r>
              <a:rPr lang="en-US" altLang="zh-CN" sz="1200" b="1" i="1" dirty="0">
                <a:latin typeface="Times New Roman" panose="02020603050405020304" pitchFamily="18" charset="0"/>
              </a:rPr>
              <a:t>f</a:t>
            </a:r>
            <a:r>
              <a:rPr lang="en-US" altLang="zh-CN" sz="1200" b="1" dirty="0">
                <a:latin typeface="Times New Roman" panose="02020603050405020304" pitchFamily="18" charset="0"/>
              </a:rPr>
              <a:t> </a:t>
            </a:r>
            <a:r>
              <a:rPr lang="en-US" altLang="zh-CN" sz="1200" b="1" i="1" u="sng" dirty="0">
                <a:latin typeface="Times New Roman" panose="02020603050405020304" pitchFamily="18" charset="0"/>
              </a:rPr>
              <a:t>d</a:t>
            </a:r>
            <a:r>
              <a:rPr lang="en-US" altLang="zh-CN" sz="1200" b="1" dirty="0">
                <a:latin typeface="Times New Roman" panose="02020603050405020304" pitchFamily="18" charset="0"/>
              </a:rPr>
              <a:t> </a:t>
            </a:r>
            <a:r>
              <a:rPr lang="en-US" altLang="zh-CN" sz="1200" b="1" i="1" dirty="0">
                <a:latin typeface="Times New Roman" panose="02020603050405020304" pitchFamily="18" charset="0"/>
              </a:rPr>
              <a:t>g</a:t>
            </a:r>
            <a:r>
              <a:rPr lang="en-US" altLang="zh-CN" sz="1200" b="1" dirty="0">
                <a:latin typeface="Times New Roman" panose="02020603050405020304" pitchFamily="18" charset="0"/>
              </a:rPr>
              <a:t>) </a:t>
            </a:r>
            <a:r>
              <a:rPr lang="en-US" altLang="zh-CN" sz="1200" b="1" i="1" u="sng" dirty="0">
                <a:latin typeface="Times New Roman" panose="02020603050405020304" pitchFamily="18" charset="0"/>
              </a:rPr>
              <a:t>c</a:t>
            </a:r>
            <a:r>
              <a:rPr lang="en-US" altLang="zh-CN" sz="1200" b="1" dirty="0">
                <a:latin typeface="Times New Roman" panose="02020603050405020304" pitchFamily="18" charset="0"/>
              </a:rPr>
              <a:t> </a:t>
            </a:r>
            <a:r>
              <a:rPr lang="en-US" altLang="zh-CN" sz="1200" b="1" i="1" dirty="0">
                <a:latin typeface="Times New Roman" panose="02020603050405020304" pitchFamily="18" charset="0"/>
              </a:rPr>
              <a:t>e </a:t>
            </a:r>
          </a:p>
          <a:p>
            <a:pPr algn="just" eaLnBrk="1" hangingPunct="1">
              <a:buFont typeface="Wingdings" panose="05000000000000000000" pitchFamily="2" charset="2"/>
              <a:buNone/>
            </a:pPr>
            <a:r>
              <a:rPr lang="zh-CN" altLang="en-US" sz="1200" b="1" dirty="0">
                <a:latin typeface="Times New Roman" panose="02020603050405020304" pitchFamily="18" charset="0"/>
              </a:rPr>
              <a:t> 前序行遍</a:t>
            </a:r>
            <a:r>
              <a:rPr lang="en-US" altLang="zh-CN" sz="1200" b="1" dirty="0">
                <a:latin typeface="Times New Roman" panose="02020603050405020304" pitchFamily="18" charset="0"/>
              </a:rPr>
              <a:t>: </a:t>
            </a:r>
            <a:r>
              <a:rPr lang="en-US" altLang="zh-CN" sz="1200" b="1" i="1" u="sng" dirty="0">
                <a:latin typeface="Times New Roman" panose="02020603050405020304" pitchFamily="18" charset="0"/>
              </a:rPr>
              <a:t>a</a:t>
            </a:r>
            <a:r>
              <a:rPr lang="en-US" altLang="zh-CN" sz="1200" b="1" dirty="0">
                <a:latin typeface="Times New Roman" panose="02020603050405020304" pitchFamily="18" charset="0"/>
              </a:rPr>
              <a:t> </a:t>
            </a:r>
            <a:r>
              <a:rPr lang="en-US" altLang="zh-CN" sz="1200" b="1" i="1" dirty="0">
                <a:latin typeface="Times New Roman" panose="02020603050405020304" pitchFamily="18" charset="0"/>
              </a:rPr>
              <a:t>b</a:t>
            </a:r>
            <a:r>
              <a:rPr lang="en-US" altLang="zh-CN" sz="1200" b="1" dirty="0">
                <a:latin typeface="Times New Roman" panose="02020603050405020304" pitchFamily="18" charset="0"/>
              </a:rPr>
              <a:t> (</a:t>
            </a:r>
            <a:r>
              <a:rPr lang="en-US" altLang="zh-CN" sz="1200" b="1" i="1" u="sng" dirty="0">
                <a:latin typeface="Times New Roman" panose="02020603050405020304" pitchFamily="18" charset="0"/>
              </a:rPr>
              <a:t>c</a:t>
            </a:r>
            <a:r>
              <a:rPr lang="en-US" altLang="zh-CN" sz="1200" b="1" dirty="0">
                <a:latin typeface="Times New Roman" panose="02020603050405020304" pitchFamily="18" charset="0"/>
              </a:rPr>
              <a:t> (</a:t>
            </a:r>
            <a:r>
              <a:rPr lang="en-US" altLang="zh-CN" sz="1200" b="1" i="1" u="sng" dirty="0">
                <a:latin typeface="Times New Roman" panose="02020603050405020304" pitchFamily="18" charset="0"/>
              </a:rPr>
              <a:t>d</a:t>
            </a:r>
            <a:r>
              <a:rPr lang="en-US" altLang="zh-CN" sz="1200" b="1" dirty="0">
                <a:latin typeface="Times New Roman" panose="02020603050405020304" pitchFamily="18" charset="0"/>
              </a:rPr>
              <a:t> </a:t>
            </a:r>
            <a:r>
              <a:rPr lang="en-US" altLang="zh-CN" sz="1200" b="1" i="1" dirty="0">
                <a:latin typeface="Times New Roman" panose="02020603050405020304" pitchFamily="18" charset="0"/>
              </a:rPr>
              <a:t>f</a:t>
            </a:r>
            <a:r>
              <a:rPr lang="en-US" altLang="zh-CN" sz="1200" b="1" dirty="0">
                <a:latin typeface="Times New Roman" panose="02020603050405020304" pitchFamily="18" charset="0"/>
              </a:rPr>
              <a:t> </a:t>
            </a:r>
            <a:r>
              <a:rPr lang="en-US" altLang="zh-CN" sz="1200" b="1" i="1" dirty="0">
                <a:latin typeface="Times New Roman" panose="02020603050405020304" pitchFamily="18" charset="0"/>
              </a:rPr>
              <a:t>g</a:t>
            </a:r>
            <a:r>
              <a:rPr lang="en-US" altLang="zh-CN" sz="1200" b="1" dirty="0">
                <a:latin typeface="Times New Roman" panose="02020603050405020304" pitchFamily="18" charset="0"/>
              </a:rPr>
              <a:t>) </a:t>
            </a:r>
            <a:r>
              <a:rPr lang="en-US" altLang="zh-CN" sz="1200" b="1" i="1" dirty="0">
                <a:latin typeface="Times New Roman" panose="02020603050405020304" pitchFamily="18" charset="0"/>
              </a:rPr>
              <a:t>e</a:t>
            </a:r>
            <a:r>
              <a:rPr lang="en-US" altLang="zh-CN" sz="1200" b="1" dirty="0">
                <a:latin typeface="Times New Roman" panose="02020603050405020304" pitchFamily="18" charset="0"/>
              </a:rPr>
              <a:t>) </a:t>
            </a:r>
            <a:endParaRPr lang="zh-CN" altLang="en-US" sz="1200" b="1" dirty="0">
              <a:latin typeface="Times New Roman" panose="02020603050405020304" pitchFamily="18" charset="0"/>
            </a:endParaRPr>
          </a:p>
          <a:p>
            <a:pPr algn="just" eaLnBrk="1" hangingPunct="1">
              <a:buFont typeface="Wingdings" panose="05000000000000000000" pitchFamily="2" charset="2"/>
              <a:buNone/>
            </a:pPr>
            <a:r>
              <a:rPr lang="zh-CN" altLang="en-US" sz="1200" b="1" dirty="0">
                <a:latin typeface="Times New Roman" panose="02020603050405020304" pitchFamily="18" charset="0"/>
              </a:rPr>
              <a:t>后序行遍</a:t>
            </a:r>
            <a:r>
              <a:rPr lang="en-US" altLang="zh-CN" sz="1200" b="1" dirty="0">
                <a:latin typeface="Times New Roman" panose="02020603050405020304" pitchFamily="18" charset="0"/>
              </a:rPr>
              <a:t>: </a:t>
            </a:r>
            <a:r>
              <a:rPr lang="en-US" altLang="zh-CN" sz="1200" b="1" i="1" dirty="0">
                <a:latin typeface="Times New Roman" panose="02020603050405020304" pitchFamily="18" charset="0"/>
              </a:rPr>
              <a:t>b</a:t>
            </a:r>
            <a:r>
              <a:rPr lang="en-US" altLang="zh-CN" sz="1200" b="1" dirty="0">
                <a:latin typeface="Times New Roman" panose="02020603050405020304" pitchFamily="18" charset="0"/>
              </a:rPr>
              <a:t> ((</a:t>
            </a:r>
            <a:r>
              <a:rPr lang="en-US" altLang="zh-CN" sz="1200" b="1" i="1" dirty="0">
                <a:latin typeface="Times New Roman" panose="02020603050405020304" pitchFamily="18" charset="0"/>
              </a:rPr>
              <a:t>f</a:t>
            </a:r>
            <a:r>
              <a:rPr lang="en-US" altLang="zh-CN" sz="1200" b="1" dirty="0">
                <a:latin typeface="Times New Roman" panose="02020603050405020304" pitchFamily="18" charset="0"/>
              </a:rPr>
              <a:t> </a:t>
            </a:r>
            <a:r>
              <a:rPr lang="en-US" altLang="zh-CN" sz="1200" b="1" i="1" dirty="0">
                <a:latin typeface="Times New Roman" panose="02020603050405020304" pitchFamily="18" charset="0"/>
              </a:rPr>
              <a:t>g</a:t>
            </a:r>
            <a:r>
              <a:rPr lang="en-US" altLang="zh-CN" sz="1200" b="1" dirty="0">
                <a:latin typeface="Times New Roman" panose="02020603050405020304" pitchFamily="18" charset="0"/>
              </a:rPr>
              <a:t> </a:t>
            </a:r>
            <a:r>
              <a:rPr lang="en-US" altLang="zh-CN" sz="1200" b="1" i="1" u="sng" dirty="0">
                <a:latin typeface="Times New Roman" panose="02020603050405020304" pitchFamily="18" charset="0"/>
              </a:rPr>
              <a:t>d</a:t>
            </a:r>
            <a:r>
              <a:rPr lang="en-US" altLang="zh-CN" sz="1200" b="1" dirty="0">
                <a:latin typeface="Times New Roman" panose="02020603050405020304" pitchFamily="18" charset="0"/>
              </a:rPr>
              <a:t>) </a:t>
            </a:r>
            <a:r>
              <a:rPr lang="en-US" altLang="zh-CN" sz="1200" b="1" i="1" dirty="0">
                <a:latin typeface="Times New Roman" panose="02020603050405020304" pitchFamily="18" charset="0"/>
              </a:rPr>
              <a:t>e</a:t>
            </a:r>
            <a:r>
              <a:rPr lang="en-US" altLang="zh-CN" sz="1200" b="1" dirty="0">
                <a:latin typeface="Times New Roman" panose="02020603050405020304" pitchFamily="18" charset="0"/>
              </a:rPr>
              <a:t> </a:t>
            </a:r>
            <a:r>
              <a:rPr lang="en-US" altLang="zh-CN" sz="1200" b="1" i="1" u="sng" dirty="0">
                <a:latin typeface="Times New Roman" panose="02020603050405020304" pitchFamily="18" charset="0"/>
              </a:rPr>
              <a:t>c</a:t>
            </a:r>
            <a:r>
              <a:rPr lang="en-US" altLang="zh-CN" sz="1200" b="1" dirty="0">
                <a:latin typeface="Times New Roman" panose="02020603050405020304" pitchFamily="18" charset="0"/>
              </a:rPr>
              <a:t>) </a:t>
            </a:r>
            <a:r>
              <a:rPr lang="en-US" altLang="zh-CN" sz="1200" b="1" i="1" u="sng" dirty="0">
                <a:latin typeface="Times New Roman" panose="02020603050405020304" pitchFamily="18" charset="0"/>
              </a:rPr>
              <a:t>a</a:t>
            </a:r>
          </a:p>
          <a:p>
            <a:pPr algn="just" eaLnBrk="1" hangingPunct="1">
              <a:buFont typeface="Wingdings" panose="05000000000000000000" pitchFamily="2" charset="2"/>
              <a:buNone/>
            </a:pPr>
            <a:r>
              <a:rPr lang="zh-CN" altLang="en-US" sz="1200" b="1" i="1" dirty="0">
                <a:solidFill>
                  <a:srgbClr val="00B0F0"/>
                </a:solidFill>
                <a:latin typeface="Times New Roman" panose="02020603050405020304" pitchFamily="18" charset="0"/>
              </a:rPr>
              <a:t>*</a:t>
            </a:r>
            <a:r>
              <a:rPr lang="zh-CN" altLang="en-US" sz="1200" b="1" dirty="0"/>
              <a:t>带下划线的是(子)树根, 一对括号内是一棵子树</a:t>
            </a:r>
            <a:endParaRPr lang="en-US" altLang="zh-CN" sz="1200" b="1" i="1" u="sng" dirty="0">
              <a:latin typeface="Times New Roman" panose="02020603050405020304" pitchFamily="18" charset="0"/>
            </a:endParaRPr>
          </a:p>
          <a:p>
            <a:pPr algn="just" eaLnBrk="1" hangingPunct="1">
              <a:buFont typeface="Wingdings" panose="05000000000000000000" pitchFamily="2" charset="2"/>
              <a:buNone/>
            </a:pPr>
            <a:endParaRPr lang="zh-CN" altLang="en-US" dirty="0"/>
          </a:p>
        </p:txBody>
      </p:sp>
      <p:sp>
        <p:nvSpPr>
          <p:cNvPr id="4" name="灯片编号占位符 3"/>
          <p:cNvSpPr>
            <a:spLocks noGrp="1"/>
          </p:cNvSpPr>
          <p:nvPr>
            <p:ph type="sldNum" sz="quarter" idx="10"/>
          </p:nvPr>
        </p:nvSpPr>
        <p:spPr/>
        <p:txBody>
          <a:bodyPr/>
          <a:lstStyle/>
          <a:p>
            <a:fld id="{CAFE74B6-F93C-4D90-BE1A-7EFEDB35C0D4}" type="slidenum">
              <a:rPr lang="zh-CN" altLang="en-US" smtClean="0"/>
              <a:t>62</a:t>
            </a:fld>
            <a:endParaRPr lang="zh-CN" altLang="en-US"/>
          </a:p>
        </p:txBody>
      </p:sp>
    </p:spTree>
    <p:extLst>
      <p:ext uri="{BB962C8B-B14F-4D97-AF65-F5344CB8AC3E}">
        <p14:creationId xmlns:p14="http://schemas.microsoft.com/office/powerpoint/2010/main" val="3890875769"/>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gn="just" eaLnBrk="1" hangingPunct="1">
              <a:buFont typeface="Wingdings" panose="05000000000000000000" pitchFamily="2" charset="2"/>
              <a:buNone/>
            </a:pPr>
            <a:r>
              <a:rPr lang="zh-CN" altLang="en-US" sz="1200" b="1" dirty="0">
                <a:latin typeface="Times New Roman" panose="02020603050405020304" pitchFamily="18" charset="0"/>
                <a:cs typeface="Times New Roman" panose="02020603050405020304" pitchFamily="18" charset="0"/>
              </a:rPr>
              <a:t>①</a:t>
            </a:r>
            <a:r>
              <a:rPr lang="zh-CN" altLang="zh-CN" sz="1200" b="1" dirty="0">
                <a:latin typeface="Times New Roman" panose="02020603050405020304" pitchFamily="18" charset="0"/>
                <a:cs typeface="Times New Roman" panose="02020603050405020304" pitchFamily="18" charset="0"/>
              </a:rPr>
              <a:t>每一个分支点放一个运算符</a:t>
            </a:r>
            <a:r>
              <a:rPr lang="en-US" altLang="zh-CN" sz="1200" b="1" dirty="0">
                <a:latin typeface="Times New Roman" panose="02020603050405020304" pitchFamily="18" charset="0"/>
                <a:cs typeface="Times New Roman" panose="02020603050405020304" pitchFamily="18" charset="0"/>
              </a:rPr>
              <a:t>. </a:t>
            </a:r>
          </a:p>
          <a:p>
            <a:pPr algn="just" eaLnBrk="1" hangingPunct="1">
              <a:buFont typeface="Wingdings" panose="05000000000000000000" pitchFamily="2" charset="2"/>
              <a:buNone/>
            </a:pPr>
            <a:r>
              <a:rPr lang="zh-CN" altLang="en-US" sz="1200" b="1" dirty="0">
                <a:latin typeface="Times New Roman" panose="02020603050405020304" pitchFamily="18" charset="0"/>
                <a:cs typeface="Times New Roman" panose="02020603050405020304" pitchFamily="18" charset="0"/>
              </a:rPr>
              <a:t>②</a:t>
            </a:r>
            <a:r>
              <a:rPr lang="zh-CN" altLang="zh-CN" sz="1200" b="1" dirty="0">
                <a:latin typeface="Times New Roman" panose="02020603050405020304" pitchFamily="18" charset="0"/>
                <a:cs typeface="Times New Roman" panose="02020603050405020304" pitchFamily="18" charset="0"/>
              </a:rPr>
              <a:t>二元运算符</a:t>
            </a:r>
            <a:r>
              <a:rPr lang="zh-CN" altLang="en-US" sz="1200" b="1" dirty="0">
                <a:latin typeface="Times New Roman" panose="02020603050405020304" pitchFamily="18" charset="0"/>
                <a:cs typeface="Times New Roman" panose="02020603050405020304" pitchFamily="18" charset="0"/>
              </a:rPr>
              <a:t>所在</a:t>
            </a:r>
            <a:r>
              <a:rPr lang="zh-CN" altLang="zh-CN" sz="1200" b="1" dirty="0">
                <a:latin typeface="Times New Roman" panose="02020603050405020304" pitchFamily="18" charset="0"/>
                <a:cs typeface="Times New Roman" panose="02020603050405020304" pitchFamily="18" charset="0"/>
              </a:rPr>
              <a:t>的分支点有</a:t>
            </a:r>
            <a:r>
              <a:rPr lang="en-US" altLang="zh-CN" sz="1200" b="1" dirty="0">
                <a:latin typeface="Times New Roman" panose="02020603050405020304" pitchFamily="18" charset="0"/>
                <a:cs typeface="Times New Roman" panose="02020603050405020304" pitchFamily="18" charset="0"/>
              </a:rPr>
              <a:t>2</a:t>
            </a:r>
            <a:r>
              <a:rPr lang="zh-CN" altLang="zh-CN" sz="1200" b="1" dirty="0">
                <a:latin typeface="Times New Roman" panose="02020603050405020304" pitchFamily="18" charset="0"/>
                <a:cs typeface="Times New Roman" panose="02020603050405020304" pitchFamily="18" charset="0"/>
              </a:rPr>
              <a:t>个儿子</a:t>
            </a:r>
            <a:r>
              <a:rPr lang="en-US" altLang="zh-CN" sz="1200" b="1" dirty="0">
                <a:latin typeface="Times New Roman" panose="02020603050405020304" pitchFamily="18" charset="0"/>
                <a:cs typeface="Times New Roman" panose="02020603050405020304" pitchFamily="18" charset="0"/>
              </a:rPr>
              <a:t>, </a:t>
            </a:r>
            <a:r>
              <a:rPr lang="zh-CN" altLang="zh-CN" sz="1200" b="1" dirty="0">
                <a:latin typeface="Times New Roman" panose="02020603050405020304" pitchFamily="18" charset="0"/>
                <a:cs typeface="Times New Roman" panose="02020603050405020304" pitchFamily="18" charset="0"/>
              </a:rPr>
              <a:t>运算对象是以这</a:t>
            </a:r>
            <a:r>
              <a:rPr lang="en-US" altLang="zh-CN" sz="1200" b="1" dirty="0">
                <a:latin typeface="Times New Roman" panose="02020603050405020304" pitchFamily="18" charset="0"/>
                <a:cs typeface="Times New Roman" panose="02020603050405020304" pitchFamily="18" charset="0"/>
              </a:rPr>
              <a:t>2</a:t>
            </a:r>
            <a:r>
              <a:rPr lang="zh-CN" altLang="zh-CN" sz="1200" b="1" dirty="0">
                <a:latin typeface="Times New Roman" panose="02020603050405020304" pitchFamily="18" charset="0"/>
                <a:cs typeface="Times New Roman" panose="02020603050405020304" pitchFamily="18" charset="0"/>
              </a:rPr>
              <a:t>个儿子为根的根子树表示的子表达式</a:t>
            </a:r>
            <a:r>
              <a:rPr lang="en-US" altLang="zh-CN" sz="1200" b="1" dirty="0">
                <a:latin typeface="Times New Roman" panose="02020603050405020304" pitchFamily="18" charset="0"/>
                <a:cs typeface="Times New Roman" panose="02020603050405020304" pitchFamily="18" charset="0"/>
              </a:rPr>
              <a:t>, </a:t>
            </a:r>
            <a:r>
              <a:rPr lang="zh-CN" altLang="zh-CN" sz="1200" b="1" dirty="0">
                <a:latin typeface="Times New Roman" panose="02020603050405020304" pitchFamily="18" charset="0"/>
                <a:cs typeface="Times New Roman" panose="02020603050405020304" pitchFamily="18" charset="0"/>
              </a:rPr>
              <a:t>并规定被减数和被除数放在左子树上</a:t>
            </a:r>
            <a:r>
              <a:rPr lang="en-US" altLang="zh-CN" sz="1200" b="1" dirty="0">
                <a:latin typeface="Times New Roman" panose="02020603050405020304" pitchFamily="18" charset="0"/>
                <a:cs typeface="Times New Roman" panose="02020603050405020304" pitchFamily="18" charset="0"/>
              </a:rPr>
              <a:t>; </a:t>
            </a:r>
          </a:p>
          <a:p>
            <a:pPr algn="just" eaLnBrk="1" hangingPunct="1">
              <a:buFont typeface="Wingdings" panose="05000000000000000000" pitchFamily="2" charset="2"/>
              <a:buNone/>
            </a:pPr>
            <a:r>
              <a:rPr lang="en-US" altLang="zh-CN" sz="1200" b="1" dirty="0">
                <a:latin typeface="Times New Roman" panose="02020603050405020304" pitchFamily="18" charset="0"/>
                <a:cs typeface="Times New Roman" panose="02020603050405020304" pitchFamily="18" charset="0"/>
              </a:rPr>
              <a:t>③</a:t>
            </a:r>
            <a:r>
              <a:rPr lang="zh-CN" altLang="zh-CN" sz="1200" b="1" dirty="0">
                <a:latin typeface="Times New Roman" panose="02020603050405020304" pitchFamily="18" charset="0"/>
                <a:cs typeface="Times New Roman" panose="02020603050405020304" pitchFamily="18" charset="0"/>
              </a:rPr>
              <a:t>一元运算符</a:t>
            </a:r>
            <a:r>
              <a:rPr lang="zh-CN" altLang="en-US" sz="1200" b="1" dirty="0">
                <a:latin typeface="Times New Roman" panose="02020603050405020304" pitchFamily="18" charset="0"/>
                <a:cs typeface="Times New Roman" panose="02020603050405020304" pitchFamily="18" charset="0"/>
              </a:rPr>
              <a:t>所在</a:t>
            </a:r>
            <a:r>
              <a:rPr lang="zh-CN" altLang="zh-CN" sz="1200" b="1" dirty="0">
                <a:latin typeface="Times New Roman" panose="02020603050405020304" pitchFamily="18" charset="0"/>
                <a:cs typeface="Times New Roman" panose="02020603050405020304" pitchFamily="18" charset="0"/>
              </a:rPr>
              <a:t>的分支点只有一个儿子</a:t>
            </a:r>
            <a:r>
              <a:rPr lang="en-US" altLang="zh-CN" sz="1200" b="1" dirty="0">
                <a:latin typeface="Times New Roman" panose="02020603050405020304" pitchFamily="18" charset="0"/>
                <a:cs typeface="Times New Roman" panose="02020603050405020304" pitchFamily="18" charset="0"/>
              </a:rPr>
              <a:t>, </a:t>
            </a:r>
            <a:r>
              <a:rPr lang="zh-CN" altLang="zh-CN" sz="1200" b="1" dirty="0">
                <a:latin typeface="Times New Roman" panose="02020603050405020304" pitchFamily="18" charset="0"/>
                <a:cs typeface="Times New Roman" panose="02020603050405020304" pitchFamily="18" charset="0"/>
              </a:rPr>
              <a:t>运算对象是以这个儿子为根的根子树表示的子表达式</a:t>
            </a:r>
            <a:r>
              <a:rPr lang="en-US" altLang="zh-CN" sz="1200" b="1" dirty="0">
                <a:latin typeface="Times New Roman" panose="02020603050405020304" pitchFamily="18" charset="0"/>
                <a:cs typeface="Times New Roman" panose="02020603050405020304" pitchFamily="18" charset="0"/>
              </a:rPr>
              <a:t>.</a:t>
            </a:r>
          </a:p>
          <a:p>
            <a:pPr algn="just" eaLnBrk="1" hangingPunct="1">
              <a:buFont typeface="Wingdings" panose="05000000000000000000" pitchFamily="2" charset="2"/>
              <a:buNone/>
            </a:pPr>
            <a:r>
              <a:rPr lang="en-US" altLang="zh-CN" sz="1200" b="1" dirty="0">
                <a:latin typeface="Times New Roman" panose="02020603050405020304" pitchFamily="18" charset="0"/>
                <a:cs typeface="Times New Roman" panose="02020603050405020304" pitchFamily="18" charset="0"/>
              </a:rPr>
              <a:t>④</a:t>
            </a:r>
            <a:r>
              <a:rPr lang="zh-CN" altLang="zh-CN" sz="1200" b="1" dirty="0">
                <a:latin typeface="Times New Roman" panose="02020603050405020304" pitchFamily="18" charset="0"/>
                <a:cs typeface="Times New Roman" panose="02020603050405020304" pitchFamily="18" charset="0"/>
              </a:rPr>
              <a:t>数字和变量放在树叶上</a:t>
            </a:r>
            <a:r>
              <a:rPr lang="en-US" altLang="zh-CN" sz="1200" b="1" dirty="0">
                <a:latin typeface="Times New Roman" panose="02020603050405020304" pitchFamily="18" charset="0"/>
                <a:cs typeface="Times New Roman" panose="02020603050405020304" pitchFamily="18" charset="0"/>
              </a:rPr>
              <a:t>.</a:t>
            </a:r>
            <a:endParaRPr lang="en-US" altLang="zh-CN" sz="1200" b="1" dirty="0">
              <a:latin typeface="Times New Roman" panose="02020603050405020304" pitchFamily="18" charset="0"/>
            </a:endParaRPr>
          </a:p>
          <a:p>
            <a:endParaRPr lang="en-US" altLang="zh-CN" dirty="0"/>
          </a:p>
          <a:p>
            <a:r>
              <a:rPr lang="zh-CN" altLang="en-US" dirty="0"/>
              <a:t>二叉有序正则树：“平衡的二叉搜索树”（如</a:t>
            </a:r>
            <a:r>
              <a:rPr lang="en-US" altLang="zh-CN" dirty="0"/>
              <a:t>AVL</a:t>
            </a:r>
            <a:r>
              <a:rPr lang="zh-CN" altLang="en-US" dirty="0"/>
              <a:t>树或红黑树）</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1200" b="1" dirty="0">
                <a:solidFill>
                  <a:srgbClr val="00B0F0"/>
                </a:solidFill>
              </a:rPr>
              <a:t>例：</a:t>
            </a:r>
            <a:r>
              <a:rPr kumimoji="0" lang="zh-CN" altLang="en-US" sz="1200" b="1" dirty="0"/>
              <a:t>右图是表示算式</a:t>
            </a:r>
            <a:r>
              <a:rPr lang="zh-CN" altLang="en-US" sz="1200" b="1" dirty="0">
                <a:latin typeface="Times New Roman" panose="02020603050405020304" pitchFamily="18" charset="0"/>
                <a:cs typeface="Times New Roman" panose="02020603050405020304" pitchFamily="18" charset="0"/>
              </a:rPr>
              <a:t> </a:t>
            </a:r>
            <a:r>
              <a:rPr lang="en-US" altLang="zh-CN" sz="1200" b="1" dirty="0">
                <a:latin typeface="Times New Roman" panose="02020603050405020304" pitchFamily="18" charset="0"/>
                <a:cs typeface="Times New Roman" panose="02020603050405020304" pitchFamily="18" charset="0"/>
              </a:rPr>
              <a:t>((</a:t>
            </a:r>
            <a:r>
              <a:rPr lang="en-US" altLang="zh-CN" sz="1200" b="1" i="1" dirty="0">
                <a:latin typeface="Times New Roman" panose="02020603050405020304" pitchFamily="18" charset="0"/>
                <a:cs typeface="Times New Roman" panose="02020603050405020304" pitchFamily="18" charset="0"/>
              </a:rPr>
              <a:t>b</a:t>
            </a:r>
            <a:r>
              <a:rPr lang="en-US" altLang="zh-CN" sz="1200" b="1" dirty="0">
                <a:latin typeface="Times New Roman" panose="02020603050405020304" pitchFamily="18" charset="0"/>
                <a:cs typeface="Times New Roman" panose="02020603050405020304" pitchFamily="18" charset="0"/>
              </a:rPr>
              <a:t>+(</a:t>
            </a:r>
            <a:r>
              <a:rPr lang="en-US" altLang="zh-CN" sz="1200" b="1" i="1" dirty="0" err="1">
                <a:latin typeface="Times New Roman" panose="02020603050405020304" pitchFamily="18" charset="0"/>
                <a:cs typeface="Times New Roman" panose="02020603050405020304" pitchFamily="18" charset="0"/>
              </a:rPr>
              <a:t>c</a:t>
            </a:r>
            <a:r>
              <a:rPr lang="en-US" altLang="zh-CN" sz="1200" b="1" dirty="0" err="1">
                <a:latin typeface="Times New Roman" panose="02020603050405020304" pitchFamily="18" charset="0"/>
                <a:cs typeface="Times New Roman" panose="02020603050405020304" pitchFamily="18" charset="0"/>
              </a:rPr>
              <a:t>+</a:t>
            </a:r>
            <a:r>
              <a:rPr lang="en-US" altLang="zh-CN" sz="1200" b="1" i="1" dirty="0" err="1">
                <a:latin typeface="Times New Roman" panose="02020603050405020304" pitchFamily="18" charset="0"/>
                <a:cs typeface="Times New Roman" panose="02020603050405020304" pitchFamily="18" charset="0"/>
              </a:rPr>
              <a:t>d</a:t>
            </a:r>
            <a:r>
              <a:rPr lang="en-US" altLang="zh-CN" sz="1200" b="1" dirty="0">
                <a:latin typeface="Times New Roman" panose="02020603050405020304" pitchFamily="18" charset="0"/>
                <a:cs typeface="Times New Roman" panose="02020603050405020304" pitchFamily="18" charset="0"/>
              </a:rPr>
              <a:t>))</a:t>
            </a:r>
            <a:r>
              <a:rPr lang="en-US" altLang="zh-CN" sz="1200" b="1" dirty="0">
                <a:latin typeface="Times New Roman" panose="02020603050405020304" pitchFamily="18" charset="0"/>
                <a:cs typeface="Times New Roman" panose="02020603050405020304" pitchFamily="18" charset="0"/>
                <a:sym typeface="Symbol" panose="05050102010706020507" pitchFamily="18" charset="2"/>
              </a:rPr>
              <a:t></a:t>
            </a:r>
            <a:r>
              <a:rPr lang="en-US" altLang="zh-CN" sz="1200" b="1" i="1" dirty="0">
                <a:latin typeface="Times New Roman" panose="02020603050405020304" pitchFamily="18" charset="0"/>
                <a:cs typeface="Times New Roman" panose="02020603050405020304" pitchFamily="18" charset="0"/>
              </a:rPr>
              <a:t>a</a:t>
            </a:r>
            <a:r>
              <a:rPr lang="en-US" altLang="zh-CN" sz="1200" b="1" dirty="0">
                <a:latin typeface="Times New Roman" panose="02020603050405020304" pitchFamily="18" charset="0"/>
                <a:cs typeface="Times New Roman" panose="02020603050405020304" pitchFamily="18" charset="0"/>
              </a:rPr>
              <a:t>)</a:t>
            </a:r>
            <a:r>
              <a:rPr lang="en-US" altLang="zh-CN" sz="1200" b="1" dirty="0">
                <a:latin typeface="Times New Roman" panose="02020603050405020304" pitchFamily="18" charset="0"/>
                <a:cs typeface="Times New Roman" panose="02020603050405020304" pitchFamily="18" charset="0"/>
                <a:sym typeface="Symbol" panose="05050102010706020507" pitchFamily="18" charset="2"/>
              </a:rPr>
              <a:t></a:t>
            </a:r>
            <a:r>
              <a:rPr lang="en-US" altLang="zh-CN" sz="1200" b="1" dirty="0">
                <a:latin typeface="Times New Roman" panose="02020603050405020304" pitchFamily="18" charset="0"/>
                <a:cs typeface="Times New Roman" panose="02020603050405020304" pitchFamily="18" charset="0"/>
              </a:rPr>
              <a:t>((</a:t>
            </a:r>
            <a:r>
              <a:rPr lang="en-US" altLang="zh-CN" sz="1200" b="1" i="1" dirty="0" err="1">
                <a:latin typeface="Times New Roman" panose="02020603050405020304" pitchFamily="18" charset="0"/>
                <a:cs typeface="Times New Roman" panose="02020603050405020304" pitchFamily="18" charset="0"/>
              </a:rPr>
              <a:t>e</a:t>
            </a:r>
            <a:r>
              <a:rPr lang="en-US" altLang="zh-CN" sz="1200" b="1" dirty="0" err="1">
                <a:latin typeface="Times New Roman" panose="02020603050405020304" pitchFamily="18" charset="0"/>
                <a:cs typeface="Times New Roman" panose="02020603050405020304" pitchFamily="18" charset="0"/>
                <a:sym typeface="Symbol" panose="05050102010706020507" pitchFamily="18" charset="2"/>
              </a:rPr>
              <a:t></a:t>
            </a:r>
            <a:r>
              <a:rPr lang="en-US" altLang="zh-CN" sz="1200" b="1" i="1" dirty="0" err="1">
                <a:latin typeface="Times New Roman" panose="02020603050405020304" pitchFamily="18" charset="0"/>
                <a:cs typeface="Times New Roman" panose="02020603050405020304" pitchFamily="18" charset="0"/>
              </a:rPr>
              <a:t>f</a:t>
            </a:r>
            <a:r>
              <a:rPr lang="en-US" altLang="zh-CN" sz="1200" b="1" dirty="0">
                <a:latin typeface="Times New Roman" panose="02020603050405020304" pitchFamily="18" charset="0"/>
                <a:cs typeface="Times New Roman" panose="02020603050405020304" pitchFamily="18" charset="0"/>
              </a:rPr>
              <a:t>)</a:t>
            </a:r>
            <a:r>
              <a:rPr lang="en-US" altLang="zh-CN" sz="1200" b="1" dirty="0">
                <a:latin typeface="Times New Roman" panose="02020603050405020304" pitchFamily="18" charset="0"/>
                <a:cs typeface="Times New Roman" panose="02020603050405020304" pitchFamily="18" charset="0"/>
                <a:sym typeface="Symbol" panose="05050102010706020507" pitchFamily="18" charset="2"/>
              </a:rPr>
              <a:t></a:t>
            </a:r>
            <a:r>
              <a:rPr lang="en-US" altLang="zh-CN" sz="1200" b="1" dirty="0">
                <a:latin typeface="Times New Roman" panose="02020603050405020304" pitchFamily="18" charset="0"/>
                <a:cs typeface="Times New Roman" panose="02020603050405020304" pitchFamily="18" charset="0"/>
              </a:rPr>
              <a:t>(</a:t>
            </a:r>
            <a:r>
              <a:rPr lang="en-US" altLang="zh-CN" sz="1200" b="1" i="1" dirty="0" err="1">
                <a:latin typeface="Times New Roman" panose="02020603050405020304" pitchFamily="18" charset="0"/>
                <a:cs typeface="Times New Roman" panose="02020603050405020304" pitchFamily="18" charset="0"/>
              </a:rPr>
              <a:t>g</a:t>
            </a:r>
            <a:r>
              <a:rPr lang="en-US" altLang="zh-CN" sz="1200" b="1" dirty="0" err="1">
                <a:latin typeface="Times New Roman" panose="02020603050405020304" pitchFamily="18" charset="0"/>
                <a:cs typeface="Times New Roman" panose="02020603050405020304" pitchFamily="18" charset="0"/>
              </a:rPr>
              <a:t>+</a:t>
            </a:r>
            <a:r>
              <a:rPr lang="en-US" altLang="zh-CN" sz="1200" b="1" i="1" dirty="0" err="1">
                <a:latin typeface="Times New Roman" panose="02020603050405020304" pitchFamily="18" charset="0"/>
                <a:cs typeface="Times New Roman" panose="02020603050405020304" pitchFamily="18" charset="0"/>
              </a:rPr>
              <a:t>h</a:t>
            </a:r>
            <a:r>
              <a:rPr lang="en-US" altLang="zh-CN" sz="1200" b="1" dirty="0">
                <a:latin typeface="Times New Roman" panose="02020603050405020304" pitchFamily="18" charset="0"/>
                <a:cs typeface="Times New Roman" panose="02020603050405020304" pitchFamily="18" charset="0"/>
              </a:rPr>
              <a:t>)</a:t>
            </a:r>
            <a:r>
              <a:rPr lang="en-US" altLang="zh-CN" sz="1200" b="1" dirty="0">
                <a:latin typeface="Times New Roman" panose="02020603050405020304" pitchFamily="18" charset="0"/>
                <a:cs typeface="Times New Roman" panose="02020603050405020304" pitchFamily="18" charset="0"/>
                <a:sym typeface="Symbol" panose="05050102010706020507" pitchFamily="18" charset="2"/>
              </a:rPr>
              <a:t></a:t>
            </a:r>
            <a:r>
              <a:rPr lang="en-US" altLang="zh-CN" sz="1200" b="1" dirty="0">
                <a:latin typeface="Times New Roman" panose="02020603050405020304" pitchFamily="18" charset="0"/>
                <a:cs typeface="Times New Roman" panose="02020603050405020304" pitchFamily="18" charset="0"/>
              </a:rPr>
              <a:t>(</a:t>
            </a:r>
            <a:r>
              <a:rPr lang="en-US" altLang="zh-CN" sz="1200" b="1" i="1" dirty="0" err="1">
                <a:latin typeface="Times New Roman" panose="02020603050405020304" pitchFamily="18" charset="0"/>
                <a:cs typeface="Times New Roman" panose="02020603050405020304" pitchFamily="18" charset="0"/>
              </a:rPr>
              <a:t>i</a:t>
            </a:r>
            <a:r>
              <a:rPr lang="en-US" altLang="zh-CN" sz="1200" b="1" dirty="0" err="1">
                <a:latin typeface="Times New Roman" panose="02020603050405020304" pitchFamily="18" charset="0"/>
                <a:cs typeface="Times New Roman" panose="02020603050405020304" pitchFamily="18" charset="0"/>
                <a:sym typeface="Symbol" panose="05050102010706020507" pitchFamily="18" charset="2"/>
              </a:rPr>
              <a:t></a:t>
            </a:r>
            <a:r>
              <a:rPr lang="en-US" altLang="zh-CN" sz="1200" b="1" i="1" dirty="0" err="1">
                <a:latin typeface="Times New Roman" panose="02020603050405020304" pitchFamily="18" charset="0"/>
                <a:cs typeface="Times New Roman" panose="02020603050405020304" pitchFamily="18" charset="0"/>
              </a:rPr>
              <a:t>j</a:t>
            </a:r>
            <a:r>
              <a:rPr lang="en-US" altLang="zh-CN" sz="1200" b="1" dirty="0">
                <a:latin typeface="Times New Roman" panose="02020603050405020304" pitchFamily="18" charset="0"/>
                <a:cs typeface="Times New Roman" panose="02020603050405020304" pitchFamily="18" charset="0"/>
              </a:rPr>
              <a:t>))</a:t>
            </a:r>
            <a:r>
              <a:rPr lang="zh-CN" altLang="en-US" sz="1200" b="1" dirty="0">
                <a:latin typeface="Times New Roman" panose="02020603050405020304" pitchFamily="18" charset="0"/>
                <a:cs typeface="Times New Roman" panose="02020603050405020304" pitchFamily="18" charset="0"/>
              </a:rPr>
              <a:t>的</a:t>
            </a:r>
            <a:r>
              <a:rPr lang="en-US" altLang="zh-CN" sz="1200" b="1" dirty="0">
                <a:latin typeface="Times New Roman" panose="02020603050405020304" pitchFamily="18" charset="0"/>
                <a:cs typeface="Times New Roman" panose="02020603050405020304" pitchFamily="18" charset="0"/>
              </a:rPr>
              <a:t>2</a:t>
            </a:r>
            <a:r>
              <a:rPr lang="zh-CN" altLang="en-US" sz="1200" b="1" dirty="0">
                <a:latin typeface="Times New Roman" panose="02020603050405020304" pitchFamily="18" charset="0"/>
                <a:cs typeface="Times New Roman" panose="02020603050405020304" pitchFamily="18" charset="0"/>
              </a:rPr>
              <a:t>叉有序树</a:t>
            </a:r>
            <a:endParaRPr lang="en-US" altLang="zh-CN" sz="1200" b="1" dirty="0">
              <a:latin typeface="Times New Roman" panose="02020603050405020304" pitchFamily="18" charset="0"/>
              <a:cs typeface="Times New Roman" panose="02020603050405020304" pitchFamily="18"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200" b="1" dirty="0">
                <a:latin typeface="Times New Roman" panose="02020603050405020304" pitchFamily="18" charset="0"/>
                <a:cs typeface="Times New Roman" panose="02020603050405020304" pitchFamily="18" charset="0"/>
              </a:rPr>
              <a:t>该</a:t>
            </a:r>
            <a:r>
              <a:rPr lang="en-US" altLang="zh-CN" sz="1200" b="1" dirty="0">
                <a:latin typeface="Times New Roman" panose="02020603050405020304" pitchFamily="18" charset="0"/>
                <a:cs typeface="Times New Roman" panose="02020603050405020304" pitchFamily="18" charset="0"/>
              </a:rPr>
              <a:t>2</a:t>
            </a:r>
            <a:r>
              <a:rPr lang="zh-CN" altLang="en-US" sz="1200" b="1" dirty="0">
                <a:latin typeface="Times New Roman" panose="02020603050405020304" pitchFamily="18" charset="0"/>
                <a:cs typeface="Times New Roman" panose="02020603050405020304" pitchFamily="18" charset="0"/>
              </a:rPr>
              <a:t>叉有序树的中序行遍结果是原算式</a:t>
            </a:r>
            <a:endParaRPr kumimoji="0" lang="zh-CN" altLang="en-US" sz="1200" b="1" dirty="0"/>
          </a:p>
          <a:p>
            <a:endParaRPr lang="zh-CN" altLang="en-US" dirty="0"/>
          </a:p>
        </p:txBody>
      </p:sp>
      <p:sp>
        <p:nvSpPr>
          <p:cNvPr id="4" name="灯片编号占位符 3"/>
          <p:cNvSpPr>
            <a:spLocks noGrp="1"/>
          </p:cNvSpPr>
          <p:nvPr>
            <p:ph type="sldNum" sz="quarter" idx="10"/>
          </p:nvPr>
        </p:nvSpPr>
        <p:spPr/>
        <p:txBody>
          <a:bodyPr/>
          <a:lstStyle/>
          <a:p>
            <a:fld id="{CAFE74B6-F93C-4D90-BE1A-7EFEDB35C0D4}" type="slidenum">
              <a:rPr lang="zh-CN" altLang="en-US" smtClean="0"/>
              <a:t>63</a:t>
            </a:fld>
            <a:endParaRPr lang="zh-CN" altLang="en-US"/>
          </a:p>
        </p:txBody>
      </p:sp>
    </p:spTree>
    <p:extLst>
      <p:ext uri="{BB962C8B-B14F-4D97-AF65-F5344CB8AC3E}">
        <p14:creationId xmlns:p14="http://schemas.microsoft.com/office/powerpoint/2010/main" val="4015510199"/>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gn="just" eaLnBrk="1" hangingPunct="1">
              <a:buFont typeface="Wingdings" panose="05000000000000000000" pitchFamily="2" charset="2"/>
              <a:buNone/>
            </a:pPr>
            <a:r>
              <a:rPr lang="zh-CN" altLang="en-US" sz="1200" b="1" dirty="0">
                <a:latin typeface="Times New Roman" panose="02020603050405020304" pitchFamily="18" charset="0"/>
                <a:cs typeface="Times New Roman" panose="02020603050405020304" pitchFamily="18" charset="0"/>
              </a:rPr>
              <a:t>①</a:t>
            </a:r>
            <a:r>
              <a:rPr lang="zh-CN" altLang="zh-CN" sz="1200" b="1" dirty="0">
                <a:latin typeface="Times New Roman" panose="02020603050405020304" pitchFamily="18" charset="0"/>
                <a:cs typeface="Times New Roman" panose="02020603050405020304" pitchFamily="18" charset="0"/>
              </a:rPr>
              <a:t>每一个分支点放一个运算符</a:t>
            </a:r>
            <a:r>
              <a:rPr lang="en-US" altLang="zh-CN" sz="1200" b="1" dirty="0">
                <a:latin typeface="Times New Roman" panose="02020603050405020304" pitchFamily="18" charset="0"/>
                <a:cs typeface="Times New Roman" panose="02020603050405020304" pitchFamily="18" charset="0"/>
              </a:rPr>
              <a:t>. </a:t>
            </a:r>
          </a:p>
          <a:p>
            <a:pPr algn="just" eaLnBrk="1" hangingPunct="1">
              <a:buFont typeface="Wingdings" panose="05000000000000000000" pitchFamily="2" charset="2"/>
              <a:buNone/>
            </a:pPr>
            <a:r>
              <a:rPr lang="zh-CN" altLang="en-US" sz="1200" b="1" dirty="0">
                <a:latin typeface="Times New Roman" panose="02020603050405020304" pitchFamily="18" charset="0"/>
                <a:cs typeface="Times New Roman" panose="02020603050405020304" pitchFamily="18" charset="0"/>
              </a:rPr>
              <a:t>②</a:t>
            </a:r>
            <a:r>
              <a:rPr lang="zh-CN" altLang="zh-CN" sz="1200" b="1" dirty="0">
                <a:latin typeface="Times New Roman" panose="02020603050405020304" pitchFamily="18" charset="0"/>
                <a:cs typeface="Times New Roman" panose="02020603050405020304" pitchFamily="18" charset="0"/>
              </a:rPr>
              <a:t>二元运算符</a:t>
            </a:r>
            <a:r>
              <a:rPr lang="zh-CN" altLang="en-US" sz="1200" b="1" dirty="0">
                <a:latin typeface="Times New Roman" panose="02020603050405020304" pitchFamily="18" charset="0"/>
                <a:cs typeface="Times New Roman" panose="02020603050405020304" pitchFamily="18" charset="0"/>
              </a:rPr>
              <a:t>所在</a:t>
            </a:r>
            <a:r>
              <a:rPr lang="zh-CN" altLang="zh-CN" sz="1200" b="1" dirty="0">
                <a:latin typeface="Times New Roman" panose="02020603050405020304" pitchFamily="18" charset="0"/>
                <a:cs typeface="Times New Roman" panose="02020603050405020304" pitchFamily="18" charset="0"/>
              </a:rPr>
              <a:t>的分支点有</a:t>
            </a:r>
            <a:r>
              <a:rPr lang="en-US" altLang="zh-CN" sz="1200" b="1" dirty="0">
                <a:latin typeface="Times New Roman" panose="02020603050405020304" pitchFamily="18" charset="0"/>
                <a:cs typeface="Times New Roman" panose="02020603050405020304" pitchFamily="18" charset="0"/>
              </a:rPr>
              <a:t>2</a:t>
            </a:r>
            <a:r>
              <a:rPr lang="zh-CN" altLang="zh-CN" sz="1200" b="1" dirty="0">
                <a:latin typeface="Times New Roman" panose="02020603050405020304" pitchFamily="18" charset="0"/>
                <a:cs typeface="Times New Roman" panose="02020603050405020304" pitchFamily="18" charset="0"/>
              </a:rPr>
              <a:t>个儿子</a:t>
            </a:r>
            <a:r>
              <a:rPr lang="en-US" altLang="zh-CN" sz="1200" b="1" dirty="0">
                <a:latin typeface="Times New Roman" panose="02020603050405020304" pitchFamily="18" charset="0"/>
                <a:cs typeface="Times New Roman" panose="02020603050405020304" pitchFamily="18" charset="0"/>
              </a:rPr>
              <a:t>, </a:t>
            </a:r>
            <a:r>
              <a:rPr lang="zh-CN" altLang="zh-CN" sz="1200" b="1" dirty="0">
                <a:latin typeface="Times New Roman" panose="02020603050405020304" pitchFamily="18" charset="0"/>
                <a:cs typeface="Times New Roman" panose="02020603050405020304" pitchFamily="18" charset="0"/>
              </a:rPr>
              <a:t>运算对象是以这</a:t>
            </a:r>
            <a:r>
              <a:rPr lang="en-US" altLang="zh-CN" sz="1200" b="1" dirty="0">
                <a:latin typeface="Times New Roman" panose="02020603050405020304" pitchFamily="18" charset="0"/>
                <a:cs typeface="Times New Roman" panose="02020603050405020304" pitchFamily="18" charset="0"/>
              </a:rPr>
              <a:t>2</a:t>
            </a:r>
            <a:r>
              <a:rPr lang="zh-CN" altLang="zh-CN" sz="1200" b="1" dirty="0">
                <a:latin typeface="Times New Roman" panose="02020603050405020304" pitchFamily="18" charset="0"/>
                <a:cs typeface="Times New Roman" panose="02020603050405020304" pitchFamily="18" charset="0"/>
              </a:rPr>
              <a:t>个儿子为根的根子树表示的子表达式</a:t>
            </a:r>
            <a:r>
              <a:rPr lang="en-US" altLang="zh-CN" sz="1200" b="1" dirty="0">
                <a:latin typeface="Times New Roman" panose="02020603050405020304" pitchFamily="18" charset="0"/>
                <a:cs typeface="Times New Roman" panose="02020603050405020304" pitchFamily="18" charset="0"/>
              </a:rPr>
              <a:t>, </a:t>
            </a:r>
            <a:r>
              <a:rPr lang="zh-CN" altLang="zh-CN" sz="1200" b="1" dirty="0">
                <a:latin typeface="Times New Roman" panose="02020603050405020304" pitchFamily="18" charset="0"/>
                <a:cs typeface="Times New Roman" panose="02020603050405020304" pitchFamily="18" charset="0"/>
              </a:rPr>
              <a:t>并规定被减数和被除数放在左子树上</a:t>
            </a:r>
            <a:r>
              <a:rPr lang="en-US" altLang="zh-CN" sz="1200" b="1" dirty="0">
                <a:latin typeface="Times New Roman" panose="02020603050405020304" pitchFamily="18" charset="0"/>
                <a:cs typeface="Times New Roman" panose="02020603050405020304" pitchFamily="18" charset="0"/>
              </a:rPr>
              <a:t>; </a:t>
            </a:r>
          </a:p>
          <a:p>
            <a:pPr algn="just" eaLnBrk="1" hangingPunct="1">
              <a:buFont typeface="Wingdings" panose="05000000000000000000" pitchFamily="2" charset="2"/>
              <a:buNone/>
            </a:pPr>
            <a:r>
              <a:rPr lang="en-US" altLang="zh-CN" sz="1200" b="1" dirty="0">
                <a:latin typeface="Times New Roman" panose="02020603050405020304" pitchFamily="18" charset="0"/>
                <a:cs typeface="Times New Roman" panose="02020603050405020304" pitchFamily="18" charset="0"/>
              </a:rPr>
              <a:t>③</a:t>
            </a:r>
            <a:r>
              <a:rPr lang="zh-CN" altLang="zh-CN" sz="1200" b="1" dirty="0">
                <a:latin typeface="Times New Roman" panose="02020603050405020304" pitchFamily="18" charset="0"/>
                <a:cs typeface="Times New Roman" panose="02020603050405020304" pitchFamily="18" charset="0"/>
              </a:rPr>
              <a:t>一元运算符</a:t>
            </a:r>
            <a:r>
              <a:rPr lang="zh-CN" altLang="en-US" sz="1200" b="1" dirty="0">
                <a:latin typeface="Times New Roman" panose="02020603050405020304" pitchFamily="18" charset="0"/>
                <a:cs typeface="Times New Roman" panose="02020603050405020304" pitchFamily="18" charset="0"/>
              </a:rPr>
              <a:t>所在</a:t>
            </a:r>
            <a:r>
              <a:rPr lang="zh-CN" altLang="zh-CN" sz="1200" b="1" dirty="0">
                <a:latin typeface="Times New Roman" panose="02020603050405020304" pitchFamily="18" charset="0"/>
                <a:cs typeface="Times New Roman" panose="02020603050405020304" pitchFamily="18" charset="0"/>
              </a:rPr>
              <a:t>的分支点只有一个儿子</a:t>
            </a:r>
            <a:r>
              <a:rPr lang="en-US" altLang="zh-CN" sz="1200" b="1" dirty="0">
                <a:latin typeface="Times New Roman" panose="02020603050405020304" pitchFamily="18" charset="0"/>
                <a:cs typeface="Times New Roman" panose="02020603050405020304" pitchFamily="18" charset="0"/>
              </a:rPr>
              <a:t>, </a:t>
            </a:r>
            <a:r>
              <a:rPr lang="zh-CN" altLang="zh-CN" sz="1200" b="1" dirty="0">
                <a:latin typeface="Times New Roman" panose="02020603050405020304" pitchFamily="18" charset="0"/>
                <a:cs typeface="Times New Roman" panose="02020603050405020304" pitchFamily="18" charset="0"/>
              </a:rPr>
              <a:t>运算对象是以这个儿子为根的根子树表示的子表达式</a:t>
            </a:r>
            <a:r>
              <a:rPr lang="en-US" altLang="zh-CN" sz="1200" b="1" dirty="0">
                <a:latin typeface="Times New Roman" panose="02020603050405020304" pitchFamily="18" charset="0"/>
                <a:cs typeface="Times New Roman" panose="02020603050405020304" pitchFamily="18" charset="0"/>
              </a:rPr>
              <a:t>.</a:t>
            </a:r>
          </a:p>
          <a:p>
            <a:pPr algn="just" eaLnBrk="1" hangingPunct="1">
              <a:buFont typeface="Wingdings" panose="05000000000000000000" pitchFamily="2" charset="2"/>
              <a:buNone/>
            </a:pPr>
            <a:r>
              <a:rPr lang="en-US" altLang="zh-CN" sz="1200" b="1" dirty="0">
                <a:latin typeface="Times New Roman" panose="02020603050405020304" pitchFamily="18" charset="0"/>
                <a:cs typeface="Times New Roman" panose="02020603050405020304" pitchFamily="18" charset="0"/>
              </a:rPr>
              <a:t>④</a:t>
            </a:r>
            <a:r>
              <a:rPr lang="zh-CN" altLang="zh-CN" sz="1200" b="1" dirty="0">
                <a:latin typeface="Times New Roman" panose="02020603050405020304" pitchFamily="18" charset="0"/>
                <a:cs typeface="Times New Roman" panose="02020603050405020304" pitchFamily="18" charset="0"/>
              </a:rPr>
              <a:t>数字和变量放在树叶上</a:t>
            </a:r>
            <a:r>
              <a:rPr lang="en-US" altLang="zh-CN" sz="1200" b="1" dirty="0">
                <a:latin typeface="Times New Roman" panose="02020603050405020304" pitchFamily="18" charset="0"/>
                <a:cs typeface="Times New Roman" panose="02020603050405020304" pitchFamily="18" charset="0"/>
              </a:rPr>
              <a:t>.</a:t>
            </a:r>
            <a:endParaRPr lang="en-US" altLang="zh-CN" sz="1200" b="1" dirty="0">
              <a:latin typeface="Times New Roman" panose="02020603050405020304" pitchFamily="18" charset="0"/>
            </a:endParaRPr>
          </a:p>
          <a:p>
            <a:endParaRPr lang="en-US" altLang="zh-CN" dirty="0"/>
          </a:p>
          <a:p>
            <a:r>
              <a:rPr lang="zh-CN" altLang="en-US" dirty="0"/>
              <a:t>二叉有序正则树：“平衡的二叉搜索树”（如</a:t>
            </a:r>
            <a:r>
              <a:rPr lang="en-US" altLang="zh-CN" dirty="0"/>
              <a:t>AVL</a:t>
            </a:r>
            <a:r>
              <a:rPr lang="zh-CN" altLang="en-US" dirty="0"/>
              <a:t>树或红黑树）</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1200" b="1" dirty="0">
                <a:solidFill>
                  <a:srgbClr val="00B0F0"/>
                </a:solidFill>
              </a:rPr>
              <a:t>例：</a:t>
            </a:r>
            <a:r>
              <a:rPr kumimoji="0" lang="zh-CN" altLang="en-US" sz="1200" b="1" dirty="0"/>
              <a:t>右图是表示算式</a:t>
            </a:r>
            <a:r>
              <a:rPr lang="zh-CN" altLang="en-US" sz="1200" b="1" dirty="0">
                <a:latin typeface="Times New Roman" panose="02020603050405020304" pitchFamily="18" charset="0"/>
                <a:cs typeface="Times New Roman" panose="02020603050405020304" pitchFamily="18" charset="0"/>
              </a:rPr>
              <a:t> </a:t>
            </a:r>
            <a:r>
              <a:rPr lang="en-US" altLang="zh-CN" sz="1200" b="1" dirty="0">
                <a:latin typeface="Times New Roman" panose="02020603050405020304" pitchFamily="18" charset="0"/>
                <a:cs typeface="Times New Roman" panose="02020603050405020304" pitchFamily="18" charset="0"/>
              </a:rPr>
              <a:t>((</a:t>
            </a:r>
            <a:r>
              <a:rPr lang="en-US" altLang="zh-CN" sz="1200" b="1" i="1" dirty="0">
                <a:latin typeface="Times New Roman" panose="02020603050405020304" pitchFamily="18" charset="0"/>
                <a:cs typeface="Times New Roman" panose="02020603050405020304" pitchFamily="18" charset="0"/>
              </a:rPr>
              <a:t>b</a:t>
            </a:r>
            <a:r>
              <a:rPr lang="en-US" altLang="zh-CN" sz="1200" b="1" dirty="0">
                <a:latin typeface="Times New Roman" panose="02020603050405020304" pitchFamily="18" charset="0"/>
                <a:cs typeface="Times New Roman" panose="02020603050405020304" pitchFamily="18" charset="0"/>
              </a:rPr>
              <a:t>+(</a:t>
            </a:r>
            <a:r>
              <a:rPr lang="en-US" altLang="zh-CN" sz="1200" b="1" i="1" dirty="0" err="1">
                <a:latin typeface="Times New Roman" panose="02020603050405020304" pitchFamily="18" charset="0"/>
                <a:cs typeface="Times New Roman" panose="02020603050405020304" pitchFamily="18" charset="0"/>
              </a:rPr>
              <a:t>c</a:t>
            </a:r>
            <a:r>
              <a:rPr lang="en-US" altLang="zh-CN" sz="1200" b="1" dirty="0" err="1">
                <a:latin typeface="Times New Roman" panose="02020603050405020304" pitchFamily="18" charset="0"/>
                <a:cs typeface="Times New Roman" panose="02020603050405020304" pitchFamily="18" charset="0"/>
              </a:rPr>
              <a:t>+</a:t>
            </a:r>
            <a:r>
              <a:rPr lang="en-US" altLang="zh-CN" sz="1200" b="1" i="1" dirty="0" err="1">
                <a:latin typeface="Times New Roman" panose="02020603050405020304" pitchFamily="18" charset="0"/>
                <a:cs typeface="Times New Roman" panose="02020603050405020304" pitchFamily="18" charset="0"/>
              </a:rPr>
              <a:t>d</a:t>
            </a:r>
            <a:r>
              <a:rPr lang="en-US" altLang="zh-CN" sz="1200" b="1" dirty="0">
                <a:latin typeface="Times New Roman" panose="02020603050405020304" pitchFamily="18" charset="0"/>
                <a:cs typeface="Times New Roman" panose="02020603050405020304" pitchFamily="18" charset="0"/>
              </a:rPr>
              <a:t>))</a:t>
            </a:r>
            <a:r>
              <a:rPr lang="en-US" altLang="zh-CN" sz="1200" b="1" dirty="0">
                <a:latin typeface="Times New Roman" panose="02020603050405020304" pitchFamily="18" charset="0"/>
                <a:cs typeface="Times New Roman" panose="02020603050405020304" pitchFamily="18" charset="0"/>
                <a:sym typeface="Symbol" panose="05050102010706020507" pitchFamily="18" charset="2"/>
              </a:rPr>
              <a:t></a:t>
            </a:r>
            <a:r>
              <a:rPr lang="en-US" altLang="zh-CN" sz="1200" b="1" i="1" dirty="0">
                <a:latin typeface="Times New Roman" panose="02020603050405020304" pitchFamily="18" charset="0"/>
                <a:cs typeface="Times New Roman" panose="02020603050405020304" pitchFamily="18" charset="0"/>
              </a:rPr>
              <a:t>a</a:t>
            </a:r>
            <a:r>
              <a:rPr lang="en-US" altLang="zh-CN" sz="1200" b="1" dirty="0">
                <a:latin typeface="Times New Roman" panose="02020603050405020304" pitchFamily="18" charset="0"/>
                <a:cs typeface="Times New Roman" panose="02020603050405020304" pitchFamily="18" charset="0"/>
              </a:rPr>
              <a:t>)</a:t>
            </a:r>
            <a:r>
              <a:rPr lang="en-US" altLang="zh-CN" sz="1200" b="1" dirty="0">
                <a:latin typeface="Times New Roman" panose="02020603050405020304" pitchFamily="18" charset="0"/>
                <a:cs typeface="Times New Roman" panose="02020603050405020304" pitchFamily="18" charset="0"/>
                <a:sym typeface="Symbol" panose="05050102010706020507" pitchFamily="18" charset="2"/>
              </a:rPr>
              <a:t></a:t>
            </a:r>
            <a:r>
              <a:rPr lang="en-US" altLang="zh-CN" sz="1200" b="1" dirty="0">
                <a:latin typeface="Times New Roman" panose="02020603050405020304" pitchFamily="18" charset="0"/>
                <a:cs typeface="Times New Roman" panose="02020603050405020304" pitchFamily="18" charset="0"/>
              </a:rPr>
              <a:t>((</a:t>
            </a:r>
            <a:r>
              <a:rPr lang="en-US" altLang="zh-CN" sz="1200" b="1" i="1" dirty="0" err="1">
                <a:latin typeface="Times New Roman" panose="02020603050405020304" pitchFamily="18" charset="0"/>
                <a:cs typeface="Times New Roman" panose="02020603050405020304" pitchFamily="18" charset="0"/>
              </a:rPr>
              <a:t>e</a:t>
            </a:r>
            <a:r>
              <a:rPr lang="en-US" altLang="zh-CN" sz="1200" b="1" dirty="0" err="1">
                <a:latin typeface="Times New Roman" panose="02020603050405020304" pitchFamily="18" charset="0"/>
                <a:cs typeface="Times New Roman" panose="02020603050405020304" pitchFamily="18" charset="0"/>
                <a:sym typeface="Symbol" panose="05050102010706020507" pitchFamily="18" charset="2"/>
              </a:rPr>
              <a:t></a:t>
            </a:r>
            <a:r>
              <a:rPr lang="en-US" altLang="zh-CN" sz="1200" b="1" i="1" dirty="0" err="1">
                <a:latin typeface="Times New Roman" panose="02020603050405020304" pitchFamily="18" charset="0"/>
                <a:cs typeface="Times New Roman" panose="02020603050405020304" pitchFamily="18" charset="0"/>
              </a:rPr>
              <a:t>f</a:t>
            </a:r>
            <a:r>
              <a:rPr lang="en-US" altLang="zh-CN" sz="1200" b="1" dirty="0">
                <a:latin typeface="Times New Roman" panose="02020603050405020304" pitchFamily="18" charset="0"/>
                <a:cs typeface="Times New Roman" panose="02020603050405020304" pitchFamily="18" charset="0"/>
              </a:rPr>
              <a:t>)</a:t>
            </a:r>
            <a:r>
              <a:rPr lang="en-US" altLang="zh-CN" sz="1200" b="1" dirty="0">
                <a:latin typeface="Times New Roman" panose="02020603050405020304" pitchFamily="18" charset="0"/>
                <a:cs typeface="Times New Roman" panose="02020603050405020304" pitchFamily="18" charset="0"/>
                <a:sym typeface="Symbol" panose="05050102010706020507" pitchFamily="18" charset="2"/>
              </a:rPr>
              <a:t></a:t>
            </a:r>
            <a:r>
              <a:rPr lang="en-US" altLang="zh-CN" sz="1200" b="1" dirty="0">
                <a:latin typeface="Times New Roman" panose="02020603050405020304" pitchFamily="18" charset="0"/>
                <a:cs typeface="Times New Roman" panose="02020603050405020304" pitchFamily="18" charset="0"/>
              </a:rPr>
              <a:t>(</a:t>
            </a:r>
            <a:r>
              <a:rPr lang="en-US" altLang="zh-CN" sz="1200" b="1" i="1" dirty="0" err="1">
                <a:latin typeface="Times New Roman" panose="02020603050405020304" pitchFamily="18" charset="0"/>
                <a:cs typeface="Times New Roman" panose="02020603050405020304" pitchFamily="18" charset="0"/>
              </a:rPr>
              <a:t>g</a:t>
            </a:r>
            <a:r>
              <a:rPr lang="en-US" altLang="zh-CN" sz="1200" b="1" dirty="0" err="1">
                <a:latin typeface="Times New Roman" panose="02020603050405020304" pitchFamily="18" charset="0"/>
                <a:cs typeface="Times New Roman" panose="02020603050405020304" pitchFamily="18" charset="0"/>
              </a:rPr>
              <a:t>+</a:t>
            </a:r>
            <a:r>
              <a:rPr lang="en-US" altLang="zh-CN" sz="1200" b="1" i="1" dirty="0" err="1">
                <a:latin typeface="Times New Roman" panose="02020603050405020304" pitchFamily="18" charset="0"/>
                <a:cs typeface="Times New Roman" panose="02020603050405020304" pitchFamily="18" charset="0"/>
              </a:rPr>
              <a:t>h</a:t>
            </a:r>
            <a:r>
              <a:rPr lang="en-US" altLang="zh-CN" sz="1200" b="1" dirty="0">
                <a:latin typeface="Times New Roman" panose="02020603050405020304" pitchFamily="18" charset="0"/>
                <a:cs typeface="Times New Roman" panose="02020603050405020304" pitchFamily="18" charset="0"/>
              </a:rPr>
              <a:t>)</a:t>
            </a:r>
            <a:r>
              <a:rPr lang="en-US" altLang="zh-CN" sz="1200" b="1" dirty="0">
                <a:latin typeface="Times New Roman" panose="02020603050405020304" pitchFamily="18" charset="0"/>
                <a:cs typeface="Times New Roman" panose="02020603050405020304" pitchFamily="18" charset="0"/>
                <a:sym typeface="Symbol" panose="05050102010706020507" pitchFamily="18" charset="2"/>
              </a:rPr>
              <a:t></a:t>
            </a:r>
            <a:r>
              <a:rPr lang="en-US" altLang="zh-CN" sz="1200" b="1" dirty="0">
                <a:latin typeface="Times New Roman" panose="02020603050405020304" pitchFamily="18" charset="0"/>
                <a:cs typeface="Times New Roman" panose="02020603050405020304" pitchFamily="18" charset="0"/>
              </a:rPr>
              <a:t>(</a:t>
            </a:r>
            <a:r>
              <a:rPr lang="en-US" altLang="zh-CN" sz="1200" b="1" i="1" dirty="0" err="1">
                <a:latin typeface="Times New Roman" panose="02020603050405020304" pitchFamily="18" charset="0"/>
                <a:cs typeface="Times New Roman" panose="02020603050405020304" pitchFamily="18" charset="0"/>
              </a:rPr>
              <a:t>i</a:t>
            </a:r>
            <a:r>
              <a:rPr lang="en-US" altLang="zh-CN" sz="1200" b="1" dirty="0" err="1">
                <a:latin typeface="Times New Roman" panose="02020603050405020304" pitchFamily="18" charset="0"/>
                <a:cs typeface="Times New Roman" panose="02020603050405020304" pitchFamily="18" charset="0"/>
                <a:sym typeface="Symbol" panose="05050102010706020507" pitchFamily="18" charset="2"/>
              </a:rPr>
              <a:t></a:t>
            </a:r>
            <a:r>
              <a:rPr lang="en-US" altLang="zh-CN" sz="1200" b="1" i="1" dirty="0" err="1">
                <a:latin typeface="Times New Roman" panose="02020603050405020304" pitchFamily="18" charset="0"/>
                <a:cs typeface="Times New Roman" panose="02020603050405020304" pitchFamily="18" charset="0"/>
              </a:rPr>
              <a:t>j</a:t>
            </a:r>
            <a:r>
              <a:rPr lang="en-US" altLang="zh-CN" sz="1200" b="1" dirty="0">
                <a:latin typeface="Times New Roman" panose="02020603050405020304" pitchFamily="18" charset="0"/>
                <a:cs typeface="Times New Roman" panose="02020603050405020304" pitchFamily="18" charset="0"/>
              </a:rPr>
              <a:t>))</a:t>
            </a:r>
            <a:r>
              <a:rPr lang="zh-CN" altLang="en-US" sz="1200" b="1" dirty="0">
                <a:latin typeface="Times New Roman" panose="02020603050405020304" pitchFamily="18" charset="0"/>
                <a:cs typeface="Times New Roman" panose="02020603050405020304" pitchFamily="18" charset="0"/>
              </a:rPr>
              <a:t>的</a:t>
            </a:r>
            <a:r>
              <a:rPr lang="en-US" altLang="zh-CN" sz="1200" b="1" dirty="0">
                <a:latin typeface="Times New Roman" panose="02020603050405020304" pitchFamily="18" charset="0"/>
                <a:cs typeface="Times New Roman" panose="02020603050405020304" pitchFamily="18" charset="0"/>
              </a:rPr>
              <a:t>2</a:t>
            </a:r>
            <a:r>
              <a:rPr lang="zh-CN" altLang="en-US" sz="1200" b="1" dirty="0">
                <a:latin typeface="Times New Roman" panose="02020603050405020304" pitchFamily="18" charset="0"/>
                <a:cs typeface="Times New Roman" panose="02020603050405020304" pitchFamily="18" charset="0"/>
              </a:rPr>
              <a:t>叉有序树</a:t>
            </a:r>
            <a:endParaRPr lang="en-US" altLang="zh-CN" sz="1200" b="1" dirty="0">
              <a:latin typeface="Times New Roman" panose="02020603050405020304" pitchFamily="18" charset="0"/>
              <a:cs typeface="Times New Roman" panose="02020603050405020304" pitchFamily="18"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200" b="1" dirty="0">
                <a:latin typeface="Times New Roman" panose="02020603050405020304" pitchFamily="18" charset="0"/>
                <a:cs typeface="Times New Roman" panose="02020603050405020304" pitchFamily="18" charset="0"/>
              </a:rPr>
              <a:t>该</a:t>
            </a:r>
            <a:r>
              <a:rPr lang="en-US" altLang="zh-CN" sz="1200" b="1" dirty="0">
                <a:latin typeface="Times New Roman" panose="02020603050405020304" pitchFamily="18" charset="0"/>
                <a:cs typeface="Times New Roman" panose="02020603050405020304" pitchFamily="18" charset="0"/>
              </a:rPr>
              <a:t>2</a:t>
            </a:r>
            <a:r>
              <a:rPr lang="zh-CN" altLang="en-US" sz="1200" b="1" dirty="0">
                <a:latin typeface="Times New Roman" panose="02020603050405020304" pitchFamily="18" charset="0"/>
                <a:cs typeface="Times New Roman" panose="02020603050405020304" pitchFamily="18" charset="0"/>
              </a:rPr>
              <a:t>叉有序树的中序行遍结果是原算式</a:t>
            </a:r>
            <a:endParaRPr kumimoji="0" lang="zh-CN" altLang="en-US" sz="1200" b="1" dirty="0"/>
          </a:p>
          <a:p>
            <a:endParaRPr lang="zh-CN" altLang="en-US" dirty="0"/>
          </a:p>
        </p:txBody>
      </p:sp>
      <p:sp>
        <p:nvSpPr>
          <p:cNvPr id="4" name="灯片编号占位符 3"/>
          <p:cNvSpPr>
            <a:spLocks noGrp="1"/>
          </p:cNvSpPr>
          <p:nvPr>
            <p:ph type="sldNum" sz="quarter" idx="10"/>
          </p:nvPr>
        </p:nvSpPr>
        <p:spPr/>
        <p:txBody>
          <a:bodyPr/>
          <a:lstStyle/>
          <a:p>
            <a:fld id="{CAFE74B6-F93C-4D90-BE1A-7EFEDB35C0D4}" type="slidenum">
              <a:rPr lang="zh-CN" altLang="en-US" smtClean="0"/>
              <a:t>64</a:t>
            </a:fld>
            <a:endParaRPr lang="zh-CN" altLang="en-US"/>
          </a:p>
        </p:txBody>
      </p:sp>
    </p:spTree>
    <p:extLst>
      <p:ext uri="{BB962C8B-B14F-4D97-AF65-F5344CB8AC3E}">
        <p14:creationId xmlns:p14="http://schemas.microsoft.com/office/powerpoint/2010/main" val="1273002217"/>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indent="266700" algn="just"/>
            <a:r>
              <a:rPr lang="zh-CN"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波兰符号法和逆波兰符号法都能清晰地表示节点之间的父子关系和操作顺序，使得树的构建和遍历变得更加直观和简单。</a:t>
            </a:r>
          </a:p>
          <a:p>
            <a:pPr indent="266700" algn="l"/>
            <a:r>
              <a:rPr lang="zh-CN"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两种符号法广泛应用于表达式求值、编译器设计、以及算法实现等领域，因为它们提供了一种简洁、高效的方式来处理和计算表达式。</a:t>
            </a:r>
          </a:p>
          <a:p>
            <a:pPr algn="just">
              <a:buNone/>
            </a:pPr>
            <a:r>
              <a:rPr lang="zh-CN" altLang="en-US" sz="1200" b="1" dirty="0">
                <a:solidFill>
                  <a:srgbClr val="FF3300"/>
                </a:solidFill>
              </a:rPr>
              <a:t>波兰符号法(前缀符号法)</a:t>
            </a:r>
            <a:r>
              <a:rPr lang="zh-CN" altLang="en-US" sz="1200" b="1" dirty="0"/>
              <a:t>:</a:t>
            </a:r>
            <a:r>
              <a:rPr lang="zh-CN" altLang="en-US" sz="1200" b="1" dirty="0">
                <a:latin typeface="Times New Roman" panose="02020603050405020304" pitchFamily="18" charset="0"/>
              </a:rPr>
              <a:t>按前序行遍法访问表示算式的</a:t>
            </a:r>
            <a:r>
              <a:rPr lang="en-US" altLang="zh-CN" sz="1200" b="1" dirty="0">
                <a:latin typeface="Times New Roman" panose="02020603050405020304" pitchFamily="18" charset="0"/>
              </a:rPr>
              <a:t>2</a:t>
            </a:r>
            <a:r>
              <a:rPr lang="zh-CN" altLang="en-US" sz="1200" b="1" dirty="0">
                <a:latin typeface="Times New Roman" panose="02020603050405020304" pitchFamily="18" charset="0"/>
              </a:rPr>
              <a:t>叉有序树</a:t>
            </a:r>
            <a:r>
              <a:rPr lang="en-US" altLang="zh-CN" sz="1200" b="1" dirty="0">
                <a:latin typeface="Times New Roman" panose="02020603050405020304" pitchFamily="18" charset="0"/>
              </a:rPr>
              <a:t>, </a:t>
            </a:r>
            <a:r>
              <a:rPr lang="zh-CN" altLang="en-US" sz="1200" b="1" dirty="0">
                <a:latin typeface="Times New Roman" panose="02020603050405020304" pitchFamily="18" charset="0"/>
              </a:rPr>
              <a:t>并舍去所有括号</a:t>
            </a:r>
            <a:r>
              <a:rPr lang="en-US" altLang="zh-CN" sz="1200" b="1" dirty="0">
                <a:latin typeface="Times New Roman" panose="02020603050405020304" pitchFamily="18" charset="0"/>
              </a:rPr>
              <a:t>.</a:t>
            </a:r>
            <a:r>
              <a:rPr lang="zh-CN" altLang="en-US" sz="1200" b="1" dirty="0"/>
              <a:t> </a:t>
            </a:r>
          </a:p>
          <a:p>
            <a:pPr algn="just">
              <a:buFontTx/>
              <a:buNone/>
            </a:pPr>
            <a:r>
              <a:rPr lang="zh-CN" altLang="en-US" sz="1200" b="1" dirty="0">
                <a:solidFill>
                  <a:srgbClr val="FF3300"/>
                </a:solidFill>
              </a:rPr>
              <a:t>逆波兰符号法(后缀符号法)</a:t>
            </a:r>
            <a:r>
              <a:rPr lang="zh-CN" altLang="en-US" sz="1200" b="1" dirty="0"/>
              <a:t>: 按后序行遍法访问</a:t>
            </a:r>
            <a:r>
              <a:rPr lang="zh-CN" altLang="en-US" sz="1200" b="1" dirty="0">
                <a:latin typeface="Times New Roman" panose="02020603050405020304" pitchFamily="18" charset="0"/>
              </a:rPr>
              <a:t>表示算式的</a:t>
            </a:r>
            <a:r>
              <a:rPr lang="en-US" altLang="zh-CN" sz="1200" b="1" dirty="0">
                <a:latin typeface="Times New Roman" panose="02020603050405020304" pitchFamily="18" charset="0"/>
              </a:rPr>
              <a:t>2</a:t>
            </a:r>
            <a:r>
              <a:rPr lang="zh-CN" altLang="en-US" sz="1200" b="1" dirty="0">
                <a:latin typeface="Times New Roman" panose="02020603050405020304" pitchFamily="18" charset="0"/>
              </a:rPr>
              <a:t>叉有序树</a:t>
            </a:r>
            <a:r>
              <a:rPr lang="en-US" altLang="zh-CN" sz="1200" b="1" dirty="0">
                <a:latin typeface="Times New Roman" panose="02020603050405020304" pitchFamily="18" charset="0"/>
              </a:rPr>
              <a:t>,</a:t>
            </a:r>
            <a:r>
              <a:rPr lang="zh-CN" altLang="en-US" sz="1200" b="1" dirty="0">
                <a:latin typeface="Times New Roman" panose="02020603050405020304" pitchFamily="18" charset="0"/>
              </a:rPr>
              <a:t>并舍去所有括号</a:t>
            </a:r>
            <a:endParaRPr lang="en-US" altLang="zh-CN" sz="1200" b="1" dirty="0">
              <a:latin typeface="Times New Roman" panose="02020603050405020304" pitchFamily="18" charset="0"/>
            </a:endParaRPr>
          </a:p>
          <a:p>
            <a:r>
              <a:rPr kumimoji="0" lang="zh-CN" altLang="en-US" sz="1200" b="1" dirty="0">
                <a:solidFill>
                  <a:srgbClr val="00B0F0"/>
                </a:solidFill>
              </a:rPr>
              <a:t>例：</a:t>
            </a:r>
            <a:r>
              <a:rPr kumimoji="0" lang="zh-CN" altLang="en-US" sz="1200" b="1" dirty="0"/>
              <a:t>右图的波兰符号法和逆波兰符号法表示结果为：</a:t>
            </a:r>
            <a:endParaRPr kumimoji="0" lang="en-US" altLang="zh-CN" sz="1200" b="1" dirty="0"/>
          </a:p>
          <a:p>
            <a:r>
              <a:rPr kumimoji="0" lang="zh-CN" altLang="en-US" sz="1200" b="1" dirty="0"/>
              <a:t>波兰符号法：</a:t>
            </a:r>
            <a:r>
              <a:rPr lang="zh-CN" altLang="en-US" sz="1600" b="1" dirty="0">
                <a:solidFill>
                  <a:srgbClr val="FF0000"/>
                </a:solidFill>
                <a:latin typeface="Times New Roman" panose="02020603050405020304" pitchFamily="18" charset="0"/>
                <a:cs typeface="Times New Roman" panose="02020603050405020304" pitchFamily="18" charset="0"/>
                <a:sym typeface="Symbol" panose="05050102010706020507" pitchFamily="18" charset="2"/>
              </a:rPr>
              <a:t></a:t>
            </a:r>
            <a:r>
              <a:rPr lang="en-US" altLang="zh-CN" sz="1600" b="1" i="1" dirty="0" err="1">
                <a:solidFill>
                  <a:srgbClr val="FF0000"/>
                </a:solidFill>
                <a:latin typeface="Times New Roman" panose="02020603050405020304" pitchFamily="18" charset="0"/>
                <a:cs typeface="Times New Roman" panose="02020603050405020304" pitchFamily="18" charset="0"/>
              </a:rPr>
              <a:t>b</a:t>
            </a:r>
            <a:r>
              <a:rPr lang="en-US" altLang="zh-CN" sz="1600" b="1" dirty="0" err="1">
                <a:solidFill>
                  <a:srgbClr val="FF0000"/>
                </a:solidFill>
                <a:latin typeface="Times New Roman" panose="02020603050405020304" pitchFamily="18" charset="0"/>
                <a:cs typeface="Times New Roman" panose="02020603050405020304" pitchFamily="18" charset="0"/>
              </a:rPr>
              <a:t>+</a:t>
            </a:r>
            <a:r>
              <a:rPr lang="en-US" altLang="zh-CN" sz="1600" b="1" i="1" dirty="0" err="1">
                <a:solidFill>
                  <a:srgbClr val="FF0000"/>
                </a:solidFill>
                <a:latin typeface="Times New Roman" panose="02020603050405020304" pitchFamily="18" charset="0"/>
                <a:cs typeface="Times New Roman" panose="02020603050405020304" pitchFamily="18" charset="0"/>
              </a:rPr>
              <a:t>cda</a:t>
            </a:r>
            <a:r>
              <a:rPr lang="en-US" altLang="zh-CN" sz="1600" b="1" dirty="0">
                <a:solidFill>
                  <a:srgbClr val="FF0000"/>
                </a:solidFill>
                <a:latin typeface="Times New Roman" panose="02020603050405020304" pitchFamily="18" charset="0"/>
                <a:cs typeface="Times New Roman" panose="02020603050405020304" pitchFamily="18" charset="0"/>
                <a:sym typeface="Symbol" panose="05050102010706020507" pitchFamily="18" charset="2"/>
              </a:rPr>
              <a:t></a:t>
            </a:r>
            <a:r>
              <a:rPr lang="en-US" altLang="zh-CN" sz="1600" b="1" i="1" dirty="0" err="1">
                <a:solidFill>
                  <a:srgbClr val="FF0000"/>
                </a:solidFill>
                <a:latin typeface="Times New Roman" panose="02020603050405020304" pitchFamily="18" charset="0"/>
                <a:cs typeface="Times New Roman" panose="02020603050405020304" pitchFamily="18" charset="0"/>
              </a:rPr>
              <a:t>ef</a:t>
            </a:r>
            <a:r>
              <a:rPr lang="en-US" altLang="zh-CN" sz="1600" b="1" dirty="0">
                <a:solidFill>
                  <a:srgbClr val="FF0000"/>
                </a:solidFill>
                <a:latin typeface="Times New Roman" panose="02020603050405020304" pitchFamily="18" charset="0"/>
                <a:cs typeface="Times New Roman" panose="02020603050405020304" pitchFamily="18" charset="0"/>
                <a:sym typeface="Symbol" panose="05050102010706020507" pitchFamily="18" charset="2"/>
              </a:rPr>
              <a:t></a:t>
            </a:r>
            <a:r>
              <a:rPr lang="en-US" altLang="zh-CN" sz="1600" b="1" dirty="0">
                <a:solidFill>
                  <a:srgbClr val="FF0000"/>
                </a:solidFill>
                <a:latin typeface="Times New Roman" panose="02020603050405020304" pitchFamily="18" charset="0"/>
                <a:cs typeface="Times New Roman" panose="02020603050405020304" pitchFamily="18" charset="0"/>
              </a:rPr>
              <a:t>+</a:t>
            </a:r>
            <a:r>
              <a:rPr lang="en-US" altLang="zh-CN" sz="1600" b="1" i="1" dirty="0" err="1">
                <a:solidFill>
                  <a:srgbClr val="FF0000"/>
                </a:solidFill>
                <a:latin typeface="Times New Roman" panose="02020603050405020304" pitchFamily="18" charset="0"/>
                <a:cs typeface="Times New Roman" panose="02020603050405020304" pitchFamily="18" charset="0"/>
              </a:rPr>
              <a:t>gh</a:t>
            </a:r>
            <a:r>
              <a:rPr lang="en-US" altLang="zh-CN" sz="1600" b="1" dirty="0" err="1">
                <a:solidFill>
                  <a:srgbClr val="FF0000"/>
                </a:solidFill>
                <a:latin typeface="Times New Roman" panose="02020603050405020304" pitchFamily="18" charset="0"/>
                <a:cs typeface="Times New Roman" panose="02020603050405020304" pitchFamily="18" charset="0"/>
                <a:sym typeface="Symbol" panose="05050102010706020507" pitchFamily="18" charset="2"/>
              </a:rPr>
              <a:t></a:t>
            </a:r>
            <a:r>
              <a:rPr lang="en-US" altLang="zh-CN" sz="1600" b="1" i="1" dirty="0" err="1">
                <a:solidFill>
                  <a:srgbClr val="FF0000"/>
                </a:solidFill>
                <a:latin typeface="Times New Roman" panose="02020603050405020304" pitchFamily="18" charset="0"/>
                <a:cs typeface="Times New Roman" panose="02020603050405020304" pitchFamily="18" charset="0"/>
              </a:rPr>
              <a:t>ij</a:t>
            </a:r>
            <a:endParaRPr kumimoji="0" lang="en-US" altLang="zh-CN" sz="1600" b="1" dirty="0">
              <a:solidFill>
                <a:srgbClr val="FF0000"/>
              </a:solidFill>
              <a:latin typeface="Times New Roman" panose="02020603050405020304" pitchFamily="18" charset="0"/>
              <a:cs typeface="Times New Roman" panose="02020603050405020304" pitchFamily="18" charset="0"/>
            </a:endParaRPr>
          </a:p>
          <a:p>
            <a:r>
              <a:rPr lang="zh-CN" altLang="en-US" sz="1200" b="1" dirty="0"/>
              <a:t>逆波兰符号法：</a:t>
            </a:r>
            <a:r>
              <a:rPr lang="en-US" altLang="zh-CN" sz="1600" b="1" i="1" dirty="0" err="1">
                <a:solidFill>
                  <a:srgbClr val="FF0000"/>
                </a:solidFill>
                <a:latin typeface="Times New Roman" panose="02020603050405020304" pitchFamily="18" charset="0"/>
                <a:cs typeface="Times New Roman" panose="02020603050405020304" pitchFamily="18" charset="0"/>
              </a:rPr>
              <a:t>bcd</a:t>
            </a:r>
            <a:r>
              <a:rPr lang="en-US" altLang="zh-CN" sz="1600" b="1" dirty="0">
                <a:solidFill>
                  <a:srgbClr val="FF0000"/>
                </a:solidFill>
                <a:latin typeface="Times New Roman" panose="02020603050405020304" pitchFamily="18" charset="0"/>
                <a:cs typeface="Times New Roman" panose="02020603050405020304" pitchFamily="18" charset="0"/>
              </a:rPr>
              <a:t>++</a:t>
            </a:r>
            <a:r>
              <a:rPr lang="en-US" altLang="zh-CN" sz="1600" b="1" i="1" dirty="0" err="1">
                <a:solidFill>
                  <a:srgbClr val="FF0000"/>
                </a:solidFill>
                <a:latin typeface="Times New Roman" panose="02020603050405020304" pitchFamily="18" charset="0"/>
                <a:cs typeface="Times New Roman" panose="02020603050405020304" pitchFamily="18" charset="0"/>
              </a:rPr>
              <a:t>a</a:t>
            </a:r>
            <a:r>
              <a:rPr lang="en-US" altLang="zh-CN" sz="1600" b="1" i="1" dirty="0" err="1">
                <a:solidFill>
                  <a:srgbClr val="FF0000"/>
                </a:solidFill>
                <a:latin typeface="Times New Roman" panose="02020603050405020304" pitchFamily="18" charset="0"/>
                <a:cs typeface="Times New Roman" panose="02020603050405020304" pitchFamily="18" charset="0"/>
                <a:sym typeface="Symbol" panose="05050102010706020507" pitchFamily="18" charset="2"/>
              </a:rPr>
              <a:t></a:t>
            </a:r>
            <a:r>
              <a:rPr lang="en-US" altLang="zh-CN" sz="1600" b="1" i="1" dirty="0" err="1">
                <a:solidFill>
                  <a:srgbClr val="FF0000"/>
                </a:solidFill>
                <a:latin typeface="Times New Roman" panose="02020603050405020304" pitchFamily="18" charset="0"/>
                <a:cs typeface="Times New Roman" panose="02020603050405020304" pitchFamily="18" charset="0"/>
              </a:rPr>
              <a:t>ef</a:t>
            </a:r>
            <a:r>
              <a:rPr lang="en-US" altLang="zh-CN" sz="1600" b="1" dirty="0" err="1">
                <a:solidFill>
                  <a:srgbClr val="FF0000"/>
                </a:solidFill>
                <a:latin typeface="Times New Roman" panose="02020603050405020304" pitchFamily="18" charset="0"/>
                <a:cs typeface="Times New Roman" panose="02020603050405020304" pitchFamily="18" charset="0"/>
                <a:sym typeface="Symbol" panose="05050102010706020507" pitchFamily="18" charset="2"/>
              </a:rPr>
              <a:t></a:t>
            </a:r>
            <a:r>
              <a:rPr lang="en-US" altLang="zh-CN" sz="1600" b="1" i="1" dirty="0" err="1">
                <a:solidFill>
                  <a:srgbClr val="FF0000"/>
                </a:solidFill>
                <a:latin typeface="Times New Roman" panose="02020603050405020304" pitchFamily="18" charset="0"/>
                <a:cs typeface="Times New Roman" panose="02020603050405020304" pitchFamily="18" charset="0"/>
              </a:rPr>
              <a:t>gh</a:t>
            </a:r>
            <a:r>
              <a:rPr lang="en-US" altLang="zh-CN" sz="1600" b="1" dirty="0" err="1">
                <a:solidFill>
                  <a:srgbClr val="FF0000"/>
                </a:solidFill>
                <a:latin typeface="Times New Roman" panose="02020603050405020304" pitchFamily="18" charset="0"/>
                <a:cs typeface="Times New Roman" panose="02020603050405020304" pitchFamily="18" charset="0"/>
              </a:rPr>
              <a:t>+</a:t>
            </a:r>
            <a:r>
              <a:rPr lang="en-US" altLang="zh-CN" sz="1600" b="1" i="1" dirty="0" err="1">
                <a:solidFill>
                  <a:srgbClr val="FF0000"/>
                </a:solidFill>
                <a:latin typeface="Times New Roman" panose="02020603050405020304" pitchFamily="18" charset="0"/>
                <a:cs typeface="Times New Roman" panose="02020603050405020304" pitchFamily="18" charset="0"/>
              </a:rPr>
              <a:t>ij</a:t>
            </a:r>
            <a:r>
              <a:rPr lang="en-US" altLang="zh-CN" sz="1600" b="1" dirty="0">
                <a:solidFill>
                  <a:srgbClr val="FF0000"/>
                </a:solidFill>
                <a:latin typeface="Times New Roman" panose="02020603050405020304" pitchFamily="18" charset="0"/>
                <a:cs typeface="Times New Roman" panose="02020603050405020304" pitchFamily="18" charset="0"/>
                <a:sym typeface="Symbol" panose="05050102010706020507" pitchFamily="18" charset="2"/>
              </a:rPr>
              <a:t> </a:t>
            </a:r>
            <a:r>
              <a:rPr lang="en-US" altLang="zh-CN" sz="1600" b="1" dirty="0">
                <a:solidFill>
                  <a:srgbClr val="FF0000"/>
                </a:solidFill>
                <a:latin typeface="Times New Roman" panose="02020603050405020304" pitchFamily="18" charset="0"/>
                <a:cs typeface="Times New Roman" panose="02020603050405020304" pitchFamily="18" charset="0"/>
              </a:rPr>
              <a:t> </a:t>
            </a:r>
          </a:p>
          <a:p>
            <a:pPr algn="just">
              <a:buFontTx/>
              <a:buNone/>
            </a:pPr>
            <a:endParaRPr lang="en-US" altLang="zh-CN" dirty="0"/>
          </a:p>
          <a:p>
            <a:pPr marL="0" marR="0" lvl="0" indent="0" algn="just" defTabSz="914400" rtl="0" eaLnBrk="1" fontAlgn="auto" latinLnBrk="0" hangingPunct="1">
              <a:lnSpc>
                <a:spcPct val="100000"/>
              </a:lnSpc>
              <a:spcBef>
                <a:spcPts val="0"/>
              </a:spcBef>
              <a:spcAft>
                <a:spcPts val="0"/>
              </a:spcAft>
              <a:buClrTx/>
              <a:buSzTx/>
              <a:buFontTx/>
              <a:buNone/>
              <a:tabLst/>
              <a:defRPr/>
            </a:pPr>
            <a:r>
              <a:rPr lang="en-US" altLang="zh-CN" sz="1200" b="1" dirty="0">
                <a:solidFill>
                  <a:srgbClr val="00B0F0"/>
                </a:solidFill>
                <a:latin typeface="Times New Roman" panose="02020603050405020304" pitchFamily="18" charset="0"/>
                <a:cs typeface="Times New Roman" panose="02020603050405020304" pitchFamily="18" charset="0"/>
              </a:rPr>
              <a:t>*</a:t>
            </a:r>
            <a:r>
              <a:rPr lang="zh-CN" altLang="en-US" sz="1200" b="1" dirty="0">
                <a:latin typeface="Times New Roman" panose="02020603050405020304" pitchFamily="18" charset="0"/>
                <a:cs typeface="Times New Roman" panose="02020603050405020304" pitchFamily="18" charset="0"/>
              </a:rPr>
              <a:t>计算机处理方式：对波兰符号法表示的算式，从根节点开始，首先遇到操作符，然后是其操作数。对逆波兰符号法表示的算式，从叶节点开始计算，逐步向上直至根节点</a:t>
            </a:r>
            <a:r>
              <a:rPr lang="en-US" altLang="zh-CN" sz="1200" b="1" dirty="0">
                <a:latin typeface="Times New Roman" panose="02020603050405020304" pitchFamily="18" charset="0"/>
                <a:cs typeface="Times New Roman" panose="02020603050405020304" pitchFamily="18" charset="0"/>
              </a:rPr>
              <a:t>.</a:t>
            </a:r>
            <a:endParaRPr lang="zh-CN" altLang="en-US" sz="1200" dirty="0"/>
          </a:p>
          <a:p>
            <a:pPr algn="just">
              <a:buFontTx/>
              <a:buNone/>
            </a:pPr>
            <a:endParaRPr lang="zh-CN" altLang="en-US" dirty="0"/>
          </a:p>
        </p:txBody>
      </p:sp>
      <p:sp>
        <p:nvSpPr>
          <p:cNvPr id="4" name="灯片编号占位符 3"/>
          <p:cNvSpPr>
            <a:spLocks noGrp="1"/>
          </p:cNvSpPr>
          <p:nvPr>
            <p:ph type="sldNum" sz="quarter" idx="10"/>
          </p:nvPr>
        </p:nvSpPr>
        <p:spPr/>
        <p:txBody>
          <a:bodyPr/>
          <a:lstStyle/>
          <a:p>
            <a:fld id="{CAFE74B6-F93C-4D90-BE1A-7EFEDB35C0D4}" type="slidenum">
              <a:rPr lang="zh-CN" altLang="en-US" smtClean="0"/>
              <a:t>65</a:t>
            </a:fld>
            <a:endParaRPr lang="zh-CN" altLang="en-US"/>
          </a:p>
        </p:txBody>
      </p:sp>
    </p:spTree>
    <p:extLst>
      <p:ext uri="{BB962C8B-B14F-4D97-AF65-F5344CB8AC3E}">
        <p14:creationId xmlns:p14="http://schemas.microsoft.com/office/powerpoint/2010/main" val="765446624"/>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indent="266700" algn="just"/>
            <a:r>
              <a:rPr lang="zh-CN"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波兰符号法和逆波兰符号法都能清晰地表示节点之间的父子关系和操作顺序，使得树的构建和遍历变得更加直观和简单。</a:t>
            </a:r>
          </a:p>
          <a:p>
            <a:pPr indent="266700" algn="l"/>
            <a:r>
              <a:rPr lang="zh-CN"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两种符号法广泛应用于表达式求值、编译器设计、以及算法实现等领域，因为它们提供了一种简洁、高效的方式来处理和计算表达式。</a:t>
            </a:r>
          </a:p>
          <a:p>
            <a:pPr algn="just">
              <a:buNone/>
            </a:pPr>
            <a:r>
              <a:rPr lang="zh-CN" altLang="en-US" sz="1200" b="1" dirty="0">
                <a:solidFill>
                  <a:srgbClr val="FF3300"/>
                </a:solidFill>
              </a:rPr>
              <a:t>波兰符号法(前缀符号法)</a:t>
            </a:r>
            <a:r>
              <a:rPr lang="zh-CN" altLang="en-US" sz="1200" b="1" dirty="0"/>
              <a:t>:</a:t>
            </a:r>
            <a:r>
              <a:rPr lang="zh-CN" altLang="en-US" sz="1200" b="1" dirty="0">
                <a:latin typeface="Times New Roman" panose="02020603050405020304" pitchFamily="18" charset="0"/>
              </a:rPr>
              <a:t>按前序行遍法访问表示算式的</a:t>
            </a:r>
            <a:r>
              <a:rPr lang="en-US" altLang="zh-CN" sz="1200" b="1" dirty="0">
                <a:latin typeface="Times New Roman" panose="02020603050405020304" pitchFamily="18" charset="0"/>
              </a:rPr>
              <a:t>2</a:t>
            </a:r>
            <a:r>
              <a:rPr lang="zh-CN" altLang="en-US" sz="1200" b="1" dirty="0">
                <a:latin typeface="Times New Roman" panose="02020603050405020304" pitchFamily="18" charset="0"/>
              </a:rPr>
              <a:t>叉有序树</a:t>
            </a:r>
            <a:r>
              <a:rPr lang="en-US" altLang="zh-CN" sz="1200" b="1" dirty="0">
                <a:latin typeface="Times New Roman" panose="02020603050405020304" pitchFamily="18" charset="0"/>
              </a:rPr>
              <a:t>, </a:t>
            </a:r>
            <a:r>
              <a:rPr lang="zh-CN" altLang="en-US" sz="1200" b="1" dirty="0">
                <a:latin typeface="Times New Roman" panose="02020603050405020304" pitchFamily="18" charset="0"/>
              </a:rPr>
              <a:t>并舍去所有括号</a:t>
            </a:r>
            <a:r>
              <a:rPr lang="en-US" altLang="zh-CN" sz="1200" b="1" dirty="0">
                <a:latin typeface="Times New Roman" panose="02020603050405020304" pitchFamily="18" charset="0"/>
              </a:rPr>
              <a:t>.</a:t>
            </a:r>
            <a:r>
              <a:rPr lang="zh-CN" altLang="en-US" sz="1200" b="1" dirty="0"/>
              <a:t> </a:t>
            </a:r>
          </a:p>
          <a:p>
            <a:pPr algn="just">
              <a:buFontTx/>
              <a:buNone/>
            </a:pPr>
            <a:r>
              <a:rPr lang="zh-CN" altLang="en-US" sz="1200" b="1" dirty="0">
                <a:solidFill>
                  <a:srgbClr val="FF3300"/>
                </a:solidFill>
              </a:rPr>
              <a:t>逆波兰符号法(后缀符号法)</a:t>
            </a:r>
            <a:r>
              <a:rPr lang="zh-CN" altLang="en-US" sz="1200" b="1" dirty="0"/>
              <a:t>: 按后序行遍法访问</a:t>
            </a:r>
            <a:r>
              <a:rPr lang="zh-CN" altLang="en-US" sz="1200" b="1" dirty="0">
                <a:latin typeface="Times New Roman" panose="02020603050405020304" pitchFamily="18" charset="0"/>
              </a:rPr>
              <a:t>表示算式的</a:t>
            </a:r>
            <a:r>
              <a:rPr lang="en-US" altLang="zh-CN" sz="1200" b="1" dirty="0">
                <a:latin typeface="Times New Roman" panose="02020603050405020304" pitchFamily="18" charset="0"/>
              </a:rPr>
              <a:t>2</a:t>
            </a:r>
            <a:r>
              <a:rPr lang="zh-CN" altLang="en-US" sz="1200" b="1" dirty="0">
                <a:latin typeface="Times New Roman" panose="02020603050405020304" pitchFamily="18" charset="0"/>
              </a:rPr>
              <a:t>叉有序树</a:t>
            </a:r>
            <a:r>
              <a:rPr lang="en-US" altLang="zh-CN" sz="1200" b="1" dirty="0">
                <a:latin typeface="Times New Roman" panose="02020603050405020304" pitchFamily="18" charset="0"/>
              </a:rPr>
              <a:t>,</a:t>
            </a:r>
            <a:r>
              <a:rPr lang="zh-CN" altLang="en-US" sz="1200" b="1" dirty="0">
                <a:latin typeface="Times New Roman" panose="02020603050405020304" pitchFamily="18" charset="0"/>
              </a:rPr>
              <a:t>并舍去所有括号</a:t>
            </a:r>
            <a:endParaRPr lang="en-US" altLang="zh-CN" sz="1200" b="1" dirty="0">
              <a:latin typeface="Times New Roman" panose="02020603050405020304" pitchFamily="18" charset="0"/>
            </a:endParaRPr>
          </a:p>
          <a:p>
            <a:r>
              <a:rPr kumimoji="0" lang="zh-CN" altLang="en-US" sz="1200" b="1" dirty="0">
                <a:solidFill>
                  <a:srgbClr val="00B0F0"/>
                </a:solidFill>
              </a:rPr>
              <a:t>例：</a:t>
            </a:r>
            <a:r>
              <a:rPr kumimoji="0" lang="zh-CN" altLang="en-US" sz="1200" b="1" dirty="0"/>
              <a:t>右图的波兰符号法和逆波兰符号法表示结果为：</a:t>
            </a:r>
            <a:endParaRPr kumimoji="0" lang="en-US" altLang="zh-CN" sz="1200" b="1" dirty="0"/>
          </a:p>
          <a:p>
            <a:r>
              <a:rPr kumimoji="0" lang="zh-CN" altLang="en-US" sz="1200" b="1" dirty="0"/>
              <a:t>波兰符号法：</a:t>
            </a:r>
            <a:r>
              <a:rPr lang="zh-CN" altLang="en-US" sz="1600" b="1" dirty="0">
                <a:solidFill>
                  <a:srgbClr val="FF0000"/>
                </a:solidFill>
                <a:latin typeface="Times New Roman" panose="02020603050405020304" pitchFamily="18" charset="0"/>
                <a:cs typeface="Times New Roman" panose="02020603050405020304" pitchFamily="18" charset="0"/>
                <a:sym typeface="Symbol" panose="05050102010706020507" pitchFamily="18" charset="2"/>
              </a:rPr>
              <a:t></a:t>
            </a:r>
            <a:r>
              <a:rPr lang="en-US" altLang="zh-CN" sz="1600" b="1" i="1" dirty="0" err="1">
                <a:solidFill>
                  <a:srgbClr val="FF0000"/>
                </a:solidFill>
                <a:latin typeface="Times New Roman" panose="02020603050405020304" pitchFamily="18" charset="0"/>
                <a:cs typeface="Times New Roman" panose="02020603050405020304" pitchFamily="18" charset="0"/>
              </a:rPr>
              <a:t>b</a:t>
            </a:r>
            <a:r>
              <a:rPr lang="en-US" altLang="zh-CN" sz="1600" b="1" dirty="0" err="1">
                <a:solidFill>
                  <a:srgbClr val="FF0000"/>
                </a:solidFill>
                <a:latin typeface="Times New Roman" panose="02020603050405020304" pitchFamily="18" charset="0"/>
                <a:cs typeface="Times New Roman" panose="02020603050405020304" pitchFamily="18" charset="0"/>
              </a:rPr>
              <a:t>+</a:t>
            </a:r>
            <a:r>
              <a:rPr lang="en-US" altLang="zh-CN" sz="1600" b="1" i="1" dirty="0" err="1">
                <a:solidFill>
                  <a:srgbClr val="FF0000"/>
                </a:solidFill>
                <a:latin typeface="Times New Roman" panose="02020603050405020304" pitchFamily="18" charset="0"/>
                <a:cs typeface="Times New Roman" panose="02020603050405020304" pitchFamily="18" charset="0"/>
              </a:rPr>
              <a:t>cda</a:t>
            </a:r>
            <a:r>
              <a:rPr lang="en-US" altLang="zh-CN" sz="1600" b="1" dirty="0">
                <a:solidFill>
                  <a:srgbClr val="FF0000"/>
                </a:solidFill>
                <a:latin typeface="Times New Roman" panose="02020603050405020304" pitchFamily="18" charset="0"/>
                <a:cs typeface="Times New Roman" panose="02020603050405020304" pitchFamily="18" charset="0"/>
                <a:sym typeface="Symbol" panose="05050102010706020507" pitchFamily="18" charset="2"/>
              </a:rPr>
              <a:t></a:t>
            </a:r>
            <a:r>
              <a:rPr lang="en-US" altLang="zh-CN" sz="1600" b="1" i="1" dirty="0" err="1">
                <a:solidFill>
                  <a:srgbClr val="FF0000"/>
                </a:solidFill>
                <a:latin typeface="Times New Roman" panose="02020603050405020304" pitchFamily="18" charset="0"/>
                <a:cs typeface="Times New Roman" panose="02020603050405020304" pitchFamily="18" charset="0"/>
              </a:rPr>
              <a:t>ef</a:t>
            </a:r>
            <a:r>
              <a:rPr lang="en-US" altLang="zh-CN" sz="1600" b="1" dirty="0">
                <a:solidFill>
                  <a:srgbClr val="FF0000"/>
                </a:solidFill>
                <a:latin typeface="Times New Roman" panose="02020603050405020304" pitchFamily="18" charset="0"/>
                <a:cs typeface="Times New Roman" panose="02020603050405020304" pitchFamily="18" charset="0"/>
                <a:sym typeface="Symbol" panose="05050102010706020507" pitchFamily="18" charset="2"/>
              </a:rPr>
              <a:t></a:t>
            </a:r>
            <a:r>
              <a:rPr lang="en-US" altLang="zh-CN" sz="1600" b="1" dirty="0">
                <a:solidFill>
                  <a:srgbClr val="FF0000"/>
                </a:solidFill>
                <a:latin typeface="Times New Roman" panose="02020603050405020304" pitchFamily="18" charset="0"/>
                <a:cs typeface="Times New Roman" panose="02020603050405020304" pitchFamily="18" charset="0"/>
              </a:rPr>
              <a:t>+</a:t>
            </a:r>
            <a:r>
              <a:rPr lang="en-US" altLang="zh-CN" sz="1600" b="1" i="1" dirty="0" err="1">
                <a:solidFill>
                  <a:srgbClr val="FF0000"/>
                </a:solidFill>
                <a:latin typeface="Times New Roman" panose="02020603050405020304" pitchFamily="18" charset="0"/>
                <a:cs typeface="Times New Roman" panose="02020603050405020304" pitchFamily="18" charset="0"/>
              </a:rPr>
              <a:t>gh</a:t>
            </a:r>
            <a:r>
              <a:rPr lang="en-US" altLang="zh-CN" sz="1600" b="1" dirty="0" err="1">
                <a:solidFill>
                  <a:srgbClr val="FF0000"/>
                </a:solidFill>
                <a:latin typeface="Times New Roman" panose="02020603050405020304" pitchFamily="18" charset="0"/>
                <a:cs typeface="Times New Roman" panose="02020603050405020304" pitchFamily="18" charset="0"/>
                <a:sym typeface="Symbol" panose="05050102010706020507" pitchFamily="18" charset="2"/>
              </a:rPr>
              <a:t></a:t>
            </a:r>
            <a:r>
              <a:rPr lang="en-US" altLang="zh-CN" sz="1600" b="1" i="1" dirty="0" err="1">
                <a:solidFill>
                  <a:srgbClr val="FF0000"/>
                </a:solidFill>
                <a:latin typeface="Times New Roman" panose="02020603050405020304" pitchFamily="18" charset="0"/>
                <a:cs typeface="Times New Roman" panose="02020603050405020304" pitchFamily="18" charset="0"/>
              </a:rPr>
              <a:t>ij</a:t>
            </a:r>
            <a:endParaRPr kumimoji="0" lang="en-US" altLang="zh-CN" sz="1600" b="1" dirty="0">
              <a:solidFill>
                <a:srgbClr val="FF0000"/>
              </a:solidFill>
              <a:latin typeface="Times New Roman" panose="02020603050405020304" pitchFamily="18" charset="0"/>
              <a:cs typeface="Times New Roman" panose="02020603050405020304" pitchFamily="18" charset="0"/>
            </a:endParaRPr>
          </a:p>
          <a:p>
            <a:r>
              <a:rPr lang="zh-CN" altLang="en-US" sz="1200" b="1" dirty="0"/>
              <a:t>逆波兰符号法：</a:t>
            </a:r>
            <a:r>
              <a:rPr lang="en-US" altLang="zh-CN" sz="1600" b="1" i="1" dirty="0" err="1">
                <a:solidFill>
                  <a:srgbClr val="FF0000"/>
                </a:solidFill>
                <a:latin typeface="Times New Roman" panose="02020603050405020304" pitchFamily="18" charset="0"/>
                <a:cs typeface="Times New Roman" panose="02020603050405020304" pitchFamily="18" charset="0"/>
              </a:rPr>
              <a:t>bcd</a:t>
            </a:r>
            <a:r>
              <a:rPr lang="en-US" altLang="zh-CN" sz="1600" b="1" dirty="0">
                <a:solidFill>
                  <a:srgbClr val="FF0000"/>
                </a:solidFill>
                <a:latin typeface="Times New Roman" panose="02020603050405020304" pitchFamily="18" charset="0"/>
                <a:cs typeface="Times New Roman" panose="02020603050405020304" pitchFamily="18" charset="0"/>
              </a:rPr>
              <a:t>++</a:t>
            </a:r>
            <a:r>
              <a:rPr lang="en-US" altLang="zh-CN" sz="1600" b="1" i="1" dirty="0" err="1">
                <a:solidFill>
                  <a:srgbClr val="FF0000"/>
                </a:solidFill>
                <a:latin typeface="Times New Roman" panose="02020603050405020304" pitchFamily="18" charset="0"/>
                <a:cs typeface="Times New Roman" panose="02020603050405020304" pitchFamily="18" charset="0"/>
              </a:rPr>
              <a:t>a</a:t>
            </a:r>
            <a:r>
              <a:rPr lang="en-US" altLang="zh-CN" sz="1600" b="1" i="1" dirty="0" err="1">
                <a:solidFill>
                  <a:srgbClr val="FF0000"/>
                </a:solidFill>
                <a:latin typeface="Times New Roman" panose="02020603050405020304" pitchFamily="18" charset="0"/>
                <a:cs typeface="Times New Roman" panose="02020603050405020304" pitchFamily="18" charset="0"/>
                <a:sym typeface="Symbol" panose="05050102010706020507" pitchFamily="18" charset="2"/>
              </a:rPr>
              <a:t></a:t>
            </a:r>
            <a:r>
              <a:rPr lang="en-US" altLang="zh-CN" sz="1600" b="1" i="1" dirty="0" err="1">
                <a:solidFill>
                  <a:srgbClr val="FF0000"/>
                </a:solidFill>
                <a:latin typeface="Times New Roman" panose="02020603050405020304" pitchFamily="18" charset="0"/>
                <a:cs typeface="Times New Roman" panose="02020603050405020304" pitchFamily="18" charset="0"/>
              </a:rPr>
              <a:t>ef</a:t>
            </a:r>
            <a:r>
              <a:rPr lang="en-US" altLang="zh-CN" sz="1600" b="1" dirty="0" err="1">
                <a:solidFill>
                  <a:srgbClr val="FF0000"/>
                </a:solidFill>
                <a:latin typeface="Times New Roman" panose="02020603050405020304" pitchFamily="18" charset="0"/>
                <a:cs typeface="Times New Roman" panose="02020603050405020304" pitchFamily="18" charset="0"/>
                <a:sym typeface="Symbol" panose="05050102010706020507" pitchFamily="18" charset="2"/>
              </a:rPr>
              <a:t></a:t>
            </a:r>
            <a:r>
              <a:rPr lang="en-US" altLang="zh-CN" sz="1600" b="1" i="1" dirty="0" err="1">
                <a:solidFill>
                  <a:srgbClr val="FF0000"/>
                </a:solidFill>
                <a:latin typeface="Times New Roman" panose="02020603050405020304" pitchFamily="18" charset="0"/>
                <a:cs typeface="Times New Roman" panose="02020603050405020304" pitchFamily="18" charset="0"/>
              </a:rPr>
              <a:t>gh</a:t>
            </a:r>
            <a:r>
              <a:rPr lang="en-US" altLang="zh-CN" sz="1600" b="1" dirty="0" err="1">
                <a:solidFill>
                  <a:srgbClr val="FF0000"/>
                </a:solidFill>
                <a:latin typeface="Times New Roman" panose="02020603050405020304" pitchFamily="18" charset="0"/>
                <a:cs typeface="Times New Roman" panose="02020603050405020304" pitchFamily="18" charset="0"/>
              </a:rPr>
              <a:t>+</a:t>
            </a:r>
            <a:r>
              <a:rPr lang="en-US" altLang="zh-CN" sz="1600" b="1" i="1" dirty="0" err="1">
                <a:solidFill>
                  <a:srgbClr val="FF0000"/>
                </a:solidFill>
                <a:latin typeface="Times New Roman" panose="02020603050405020304" pitchFamily="18" charset="0"/>
                <a:cs typeface="Times New Roman" panose="02020603050405020304" pitchFamily="18" charset="0"/>
              </a:rPr>
              <a:t>ij</a:t>
            </a:r>
            <a:r>
              <a:rPr lang="en-US" altLang="zh-CN" sz="1600" b="1" dirty="0">
                <a:solidFill>
                  <a:srgbClr val="FF0000"/>
                </a:solidFill>
                <a:latin typeface="Times New Roman" panose="02020603050405020304" pitchFamily="18" charset="0"/>
                <a:cs typeface="Times New Roman" panose="02020603050405020304" pitchFamily="18" charset="0"/>
                <a:sym typeface="Symbol" panose="05050102010706020507" pitchFamily="18" charset="2"/>
              </a:rPr>
              <a:t> </a:t>
            </a:r>
            <a:r>
              <a:rPr lang="en-US" altLang="zh-CN" sz="1600" b="1" dirty="0">
                <a:solidFill>
                  <a:srgbClr val="FF0000"/>
                </a:solidFill>
                <a:latin typeface="Times New Roman" panose="02020603050405020304" pitchFamily="18" charset="0"/>
                <a:cs typeface="Times New Roman" panose="02020603050405020304" pitchFamily="18" charset="0"/>
              </a:rPr>
              <a:t> </a:t>
            </a:r>
          </a:p>
          <a:p>
            <a:pPr algn="just">
              <a:buFontTx/>
              <a:buNone/>
            </a:pPr>
            <a:endParaRPr lang="en-US" altLang="zh-CN" dirty="0"/>
          </a:p>
          <a:p>
            <a:pPr marL="0" marR="0" lvl="0" indent="0" algn="just" defTabSz="914400" rtl="0" eaLnBrk="1" fontAlgn="auto" latinLnBrk="0" hangingPunct="1">
              <a:lnSpc>
                <a:spcPct val="100000"/>
              </a:lnSpc>
              <a:spcBef>
                <a:spcPts val="0"/>
              </a:spcBef>
              <a:spcAft>
                <a:spcPts val="0"/>
              </a:spcAft>
              <a:buClrTx/>
              <a:buSzTx/>
              <a:buFontTx/>
              <a:buNone/>
              <a:tabLst/>
              <a:defRPr/>
            </a:pPr>
            <a:r>
              <a:rPr lang="en-US" altLang="zh-CN" sz="1200" b="1" dirty="0">
                <a:solidFill>
                  <a:srgbClr val="00B0F0"/>
                </a:solidFill>
                <a:latin typeface="Times New Roman" panose="02020603050405020304" pitchFamily="18" charset="0"/>
                <a:cs typeface="Times New Roman" panose="02020603050405020304" pitchFamily="18" charset="0"/>
              </a:rPr>
              <a:t>*</a:t>
            </a:r>
            <a:r>
              <a:rPr lang="zh-CN" altLang="en-US" sz="1200" b="1" dirty="0">
                <a:latin typeface="Times New Roman" panose="02020603050405020304" pitchFamily="18" charset="0"/>
                <a:cs typeface="Times New Roman" panose="02020603050405020304" pitchFamily="18" charset="0"/>
              </a:rPr>
              <a:t>计算机处理方式：对波兰符号法表示的算式，从根节点开始，首先遇到操作符，然后是其操作数。对逆波兰符号法表示的算式，从叶节点开始计算，逐步向上直至根节点</a:t>
            </a:r>
            <a:r>
              <a:rPr lang="en-US" altLang="zh-CN" sz="1200" b="1" dirty="0">
                <a:latin typeface="Times New Roman" panose="02020603050405020304" pitchFamily="18" charset="0"/>
                <a:cs typeface="Times New Roman" panose="02020603050405020304" pitchFamily="18" charset="0"/>
              </a:rPr>
              <a:t>.</a:t>
            </a:r>
            <a:endParaRPr lang="zh-CN" altLang="en-US" sz="1200" dirty="0"/>
          </a:p>
          <a:p>
            <a:pPr algn="just">
              <a:buFontTx/>
              <a:buNone/>
            </a:pPr>
            <a:endParaRPr lang="zh-CN" altLang="en-US" dirty="0"/>
          </a:p>
        </p:txBody>
      </p:sp>
      <p:sp>
        <p:nvSpPr>
          <p:cNvPr id="4" name="灯片编号占位符 3"/>
          <p:cNvSpPr>
            <a:spLocks noGrp="1"/>
          </p:cNvSpPr>
          <p:nvPr>
            <p:ph type="sldNum" sz="quarter" idx="10"/>
          </p:nvPr>
        </p:nvSpPr>
        <p:spPr/>
        <p:txBody>
          <a:bodyPr/>
          <a:lstStyle/>
          <a:p>
            <a:fld id="{CAFE74B6-F93C-4D90-BE1A-7EFEDB35C0D4}" type="slidenum">
              <a:rPr lang="zh-CN" altLang="en-US" smtClean="0"/>
              <a:t>66</a:t>
            </a:fld>
            <a:endParaRPr lang="zh-CN" altLang="en-US"/>
          </a:p>
        </p:txBody>
      </p:sp>
    </p:spTree>
    <p:extLst>
      <p:ext uri="{BB962C8B-B14F-4D97-AF65-F5344CB8AC3E}">
        <p14:creationId xmlns:p14="http://schemas.microsoft.com/office/powerpoint/2010/main" val="1875647469"/>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CAFE74B6-F93C-4D90-BE1A-7EFEDB35C0D4}" type="slidenum">
              <a:rPr lang="zh-CN" altLang="en-US" smtClean="0"/>
              <a:t>67</a:t>
            </a:fld>
            <a:endParaRPr lang="zh-CN" altLang="en-US"/>
          </a:p>
        </p:txBody>
      </p:sp>
    </p:spTree>
    <p:extLst>
      <p:ext uri="{BB962C8B-B14F-4D97-AF65-F5344CB8AC3E}">
        <p14:creationId xmlns:p14="http://schemas.microsoft.com/office/powerpoint/2010/main" val="1956199972"/>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rPr>
              <a:t>图论树主要关注顶点的连接性和无环性，而数据结构树则更侧重于数据的组织、管理和操作效率。</a:t>
            </a:r>
            <a:endParaRPr lang="en-US" altLang="zh-CN" sz="1800" dirty="0">
              <a:effectLst/>
              <a:latin typeface="Times New Roman" panose="02020603050405020304" pitchFamily="18" charset="0"/>
              <a:ea typeface="宋体" panose="02010600030101010101" pitchFamily="2" charset="-122"/>
              <a:cs typeface="Times New Roman" panose="02020603050405020304" pitchFamily="18" charset="0"/>
            </a:endParaRPr>
          </a:p>
          <a:p>
            <a:pPr marL="0" indent="892175" eaLnBrk="1" hangingPunct="1">
              <a:spcBef>
                <a:spcPct val="60000"/>
              </a:spcBef>
              <a:buNone/>
            </a:pPr>
            <a:r>
              <a:rPr lang="en-US" altLang="zh-CN" b="1" dirty="0">
                <a:solidFill>
                  <a:srgbClr val="FF0000"/>
                </a:solidFill>
              </a:rPr>
              <a:t>7.1 </a:t>
            </a:r>
            <a:r>
              <a:rPr lang="zh-CN" altLang="en-US" b="1" dirty="0">
                <a:solidFill>
                  <a:srgbClr val="FF0000"/>
                </a:solidFill>
              </a:rPr>
              <a:t>无向树</a:t>
            </a:r>
            <a:endParaRPr lang="en-US" altLang="zh-CN" b="1" dirty="0">
              <a:solidFill>
                <a:srgbClr val="FF0000"/>
              </a:solidFill>
            </a:endParaRPr>
          </a:p>
          <a:p>
            <a:pPr marL="0" indent="892175" eaLnBrk="1" hangingPunct="1">
              <a:spcBef>
                <a:spcPct val="60000"/>
              </a:spcBef>
              <a:buNone/>
            </a:pPr>
            <a:endParaRPr lang="zh-CN" altLang="en-US" b="1" dirty="0"/>
          </a:p>
          <a:p>
            <a:pPr marL="0" indent="892175" eaLnBrk="1" hangingPunct="1">
              <a:spcBef>
                <a:spcPct val="60000"/>
              </a:spcBef>
              <a:buNone/>
            </a:pPr>
            <a:r>
              <a:rPr lang="en-US" altLang="zh-CN" b="1" dirty="0"/>
              <a:t>7.2 </a:t>
            </a:r>
            <a:r>
              <a:rPr lang="zh-CN" altLang="en-US" b="1" dirty="0"/>
              <a:t>根树及其应用</a:t>
            </a:r>
            <a:endParaRPr lang="zh-CN" altLang="en-US" sz="1800" b="1" dirty="0">
              <a:solidFill>
                <a:srgbClr val="FF0000"/>
              </a:solidFill>
            </a:endParaRPr>
          </a:p>
          <a:p>
            <a:endParaRPr lang="zh-CN" altLang="en-US" dirty="0"/>
          </a:p>
        </p:txBody>
      </p:sp>
      <p:sp>
        <p:nvSpPr>
          <p:cNvPr id="4" name="灯片编号占位符 3"/>
          <p:cNvSpPr>
            <a:spLocks noGrp="1"/>
          </p:cNvSpPr>
          <p:nvPr>
            <p:ph type="sldNum" sz="quarter" idx="10"/>
          </p:nvPr>
        </p:nvSpPr>
        <p:spPr/>
        <p:txBody>
          <a:bodyPr/>
          <a:lstStyle/>
          <a:p>
            <a:fld id="{CAFE74B6-F93C-4D90-BE1A-7EFEDB35C0D4}" type="slidenum">
              <a:rPr lang="zh-CN" altLang="en-US" smtClean="0"/>
              <a:t>68</a:t>
            </a:fld>
            <a:endParaRPr lang="zh-CN" altLang="en-US"/>
          </a:p>
        </p:txBody>
      </p:sp>
    </p:spTree>
    <p:extLst>
      <p:ext uri="{BB962C8B-B14F-4D97-AF65-F5344CB8AC3E}">
        <p14:creationId xmlns:p14="http://schemas.microsoft.com/office/powerpoint/2010/main" val="67899094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p>
        </p:txBody>
      </p:sp>
      <p:sp>
        <p:nvSpPr>
          <p:cNvPr id="3" name="副标题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p>
        </p:txBody>
      </p:sp>
      <p:sp>
        <p:nvSpPr>
          <p:cNvPr id="4" name="日期占位符 3"/>
          <p:cNvSpPr>
            <a:spLocks noGrp="1"/>
          </p:cNvSpPr>
          <p:nvPr>
            <p:ph type="dt" sz="half" idx="10"/>
          </p:nvPr>
        </p:nvSpPr>
        <p:spPr/>
        <p:txBody>
          <a:bodyPr/>
          <a:lstStyle/>
          <a:p>
            <a:fld id="{82F288E0-7875-42C4-84C8-98DBBD3BF4D2}" type="datetimeFigureOut">
              <a:rPr lang="zh-CN" altLang="en-US" smtClean="0"/>
              <a:t>2025/8/12</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7D9BB5D0-35E4-459D-AEF3-FE4D7C45CC19}" type="slidenum">
              <a:rPr lang="zh-CN" altLang="en-US" smtClean="0"/>
              <a:t>‹#›</a:t>
            </a:fld>
            <a:endParaRPr lang="zh-CN" altLang="en-US"/>
          </a:p>
        </p:txBody>
      </p:sp>
    </p:spTree>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82F288E0-7875-42C4-84C8-98DBBD3BF4D2}" type="datetimeFigureOut">
              <a:rPr lang="zh-CN" altLang="en-US" smtClean="0"/>
              <a:t>2025/8/12</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7D9BB5D0-35E4-459D-AEF3-FE4D7C45CC19}" type="slidenum">
              <a:rPr lang="zh-CN" altLang="en-US" smtClean="0"/>
              <a:t>‹#›</a:t>
            </a:fld>
            <a:endParaRPr lang="zh-CN" altLang="en-US"/>
          </a:p>
        </p:txBody>
      </p:sp>
    </p:spTree>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p>
        </p:txBody>
      </p:sp>
      <p:sp>
        <p:nvSpPr>
          <p:cNvPr id="3" name="文本占位符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p>
        </p:txBody>
      </p:sp>
      <p:sp>
        <p:nvSpPr>
          <p:cNvPr id="4" name="日期占位符 3"/>
          <p:cNvSpPr>
            <a:spLocks noGrp="1"/>
          </p:cNvSpPr>
          <p:nvPr>
            <p:ph type="dt" sz="half" idx="10"/>
          </p:nvPr>
        </p:nvSpPr>
        <p:spPr/>
        <p:txBody>
          <a:bodyPr/>
          <a:lstStyle/>
          <a:p>
            <a:fld id="{82F288E0-7875-42C4-84C8-98DBBD3BF4D2}" type="datetimeFigureOut">
              <a:rPr lang="zh-CN" altLang="en-US" smtClean="0"/>
              <a:t>2025/8/12</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7D9BB5D0-35E4-459D-AEF3-FE4D7C45CC19}" type="slidenum">
              <a:rPr lang="zh-CN" altLang="en-US" smtClean="0"/>
              <a:t>‹#›</a:t>
            </a:fld>
            <a:endParaRPr lang="zh-CN" altLang="en-US"/>
          </a:p>
        </p:txBody>
      </p:sp>
    </p:spTree>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838200" y="1825625"/>
            <a:ext cx="5181600" cy="435133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6172200" y="1825625"/>
            <a:ext cx="5181600" cy="435133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日期占位符 4"/>
          <p:cNvSpPr>
            <a:spLocks noGrp="1"/>
          </p:cNvSpPr>
          <p:nvPr>
            <p:ph type="dt" sz="half" idx="10"/>
          </p:nvPr>
        </p:nvSpPr>
        <p:spPr/>
        <p:txBody>
          <a:bodyPr/>
          <a:lstStyle/>
          <a:p>
            <a:fld id="{82F288E0-7875-42C4-84C8-98DBBD3BF4D2}" type="datetimeFigureOut">
              <a:rPr lang="zh-CN" altLang="en-US" smtClean="0"/>
              <a:t>2025/8/12</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7D9BB5D0-35E4-459D-AEF3-FE4D7C45CC19}" type="slidenum">
              <a:rPr lang="zh-CN" altLang="en-US" smtClean="0"/>
              <a:t>‹#›</a:t>
            </a:fld>
            <a:endParaRPr lang="zh-CN" altLang="en-US"/>
          </a:p>
        </p:txBody>
      </p:sp>
    </p:spTree>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a:t>单击此处编辑母版标题样式</a:t>
            </a:r>
          </a:p>
        </p:txBody>
      </p:sp>
      <p:sp>
        <p:nvSpPr>
          <p:cNvPr id="3" name="文本占位符 2"/>
          <p:cNvSpPr>
            <a:spLocks noGrp="1"/>
          </p:cNvSpPr>
          <p:nvPr>
            <p:ph type="body" idx="1"/>
          </p:nvPr>
        </p:nvSpPr>
        <p:spPr>
          <a:xfrm>
            <a:off x="1186774" y="1778438"/>
            <a:ext cx="4873574" cy="823912"/>
          </a:xfrm>
        </p:spPr>
        <p:txBody>
          <a:bodyPr anchor="ctr" anchorCtr="0"/>
          <a:lstStyle>
            <a:lvl1pPr marL="0" indent="0">
              <a:buNone/>
              <a:defRPr sz="2800"/>
            </a:lvl1pPr>
            <a:lvl2pPr marL="457200" indent="0">
              <a:buNone/>
              <a:defRPr sz="2400"/>
            </a:lvl2pPr>
            <a:lvl3pPr marL="914400" indent="0">
              <a:buNone/>
              <a:defRPr sz="2000"/>
            </a:lvl3pPr>
            <a:lvl4pPr marL="1371600" indent="0">
              <a:buNone/>
              <a:defRPr sz="1800"/>
            </a:lvl4pPr>
            <a:lvl5pPr marL="1828800" indent="0">
              <a:buNone/>
              <a:defRPr sz="1800"/>
            </a:lvl5pPr>
            <a:lvl6pPr marL="2286000" indent="0">
              <a:buNone/>
              <a:defRPr sz="1800"/>
            </a:lvl6pPr>
            <a:lvl7pPr marL="2743200" indent="0">
              <a:buNone/>
              <a:defRPr sz="1800"/>
            </a:lvl7pPr>
            <a:lvl8pPr marL="3200400" indent="0">
              <a:buNone/>
              <a:defRPr sz="1800"/>
            </a:lvl8pPr>
            <a:lvl9pPr marL="3657600" indent="0">
              <a:buNone/>
              <a:defRPr sz="1800"/>
            </a:lvl9pPr>
          </a:lstStyle>
          <a:p>
            <a:pPr lvl="0"/>
            <a:r>
              <a:rPr lang="zh-CN" altLang="en-US"/>
              <a:t>单击此处编辑母版文本样式</a:t>
            </a:r>
          </a:p>
        </p:txBody>
      </p:sp>
      <p:sp>
        <p:nvSpPr>
          <p:cNvPr id="4" name="内容占位符 3"/>
          <p:cNvSpPr>
            <a:spLocks noGrp="1"/>
          </p:cNvSpPr>
          <p:nvPr>
            <p:ph sz="half" idx="2"/>
          </p:nvPr>
        </p:nvSpPr>
        <p:spPr>
          <a:xfrm>
            <a:off x="1186774" y="2665379"/>
            <a:ext cx="4873574" cy="3524284"/>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6256938" y="1778438"/>
            <a:ext cx="4897576" cy="823912"/>
          </a:xfrm>
        </p:spPr>
        <p:txBody>
          <a:bodyPr anchor="ctr" anchorCtr="0"/>
          <a:lstStyle>
            <a:lvl1pPr marL="0" indent="0">
              <a:buNone/>
              <a:defRPr sz="2800"/>
            </a:lvl1pPr>
            <a:lvl2pPr marL="457200" indent="0">
              <a:buNone/>
              <a:defRPr sz="2400"/>
            </a:lvl2pPr>
            <a:lvl3pPr marL="914400" indent="0">
              <a:buNone/>
              <a:defRPr sz="2000"/>
            </a:lvl3pPr>
            <a:lvl4pPr marL="1371600" indent="0">
              <a:buNone/>
              <a:defRPr sz="1800"/>
            </a:lvl4pPr>
            <a:lvl5pPr marL="1828800" indent="0">
              <a:buNone/>
              <a:defRPr sz="1800"/>
            </a:lvl5pPr>
            <a:lvl6pPr marL="2286000" indent="0">
              <a:buNone/>
              <a:defRPr sz="1800"/>
            </a:lvl6pPr>
            <a:lvl7pPr marL="2743200" indent="0">
              <a:buNone/>
              <a:defRPr sz="1800"/>
            </a:lvl7pPr>
            <a:lvl8pPr marL="3200400" indent="0">
              <a:buNone/>
              <a:defRPr sz="1800"/>
            </a:lvl8pPr>
            <a:lvl9pPr marL="3657600" indent="0">
              <a:buNone/>
              <a:defRPr sz="1800"/>
            </a:lvl9pPr>
          </a:lstStyle>
          <a:p>
            <a:pPr lvl="0"/>
            <a:r>
              <a:rPr lang="zh-CN" altLang="en-US"/>
              <a:t>单击此处编辑母版文本样式</a:t>
            </a:r>
          </a:p>
        </p:txBody>
      </p:sp>
      <p:sp>
        <p:nvSpPr>
          <p:cNvPr id="6" name="内容占位符 5"/>
          <p:cNvSpPr>
            <a:spLocks noGrp="1"/>
          </p:cNvSpPr>
          <p:nvPr>
            <p:ph sz="quarter" idx="4"/>
          </p:nvPr>
        </p:nvSpPr>
        <p:spPr>
          <a:xfrm>
            <a:off x="6256938" y="2665379"/>
            <a:ext cx="4897576" cy="3524284"/>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6"/>
          <p:cNvSpPr>
            <a:spLocks noGrp="1"/>
          </p:cNvSpPr>
          <p:nvPr>
            <p:ph type="dt" sz="half" idx="10"/>
          </p:nvPr>
        </p:nvSpPr>
        <p:spPr/>
        <p:txBody>
          <a:bodyPr/>
          <a:lstStyle/>
          <a:p>
            <a:fld id="{82F288E0-7875-42C4-84C8-98DBBD3BF4D2}" type="datetimeFigureOut">
              <a:rPr lang="zh-CN" altLang="en-US" smtClean="0"/>
              <a:t>2025/8/12</a:t>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7D9BB5D0-35E4-459D-AEF3-FE4D7C45CC19}" type="slidenum">
              <a:rPr lang="zh-CN" altLang="en-US" smtClean="0"/>
              <a:t>‹#›</a:t>
            </a:fld>
            <a:endParaRPr lang="zh-CN" altLang="en-US"/>
          </a:p>
        </p:txBody>
      </p:sp>
    </p:spTree>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fld id="{82F288E0-7875-42C4-84C8-98DBBD3BF4D2}" type="datetimeFigureOut">
              <a:rPr lang="zh-CN" altLang="en-US" smtClean="0"/>
              <a:t>2025/8/12</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7D9BB5D0-35E4-459D-AEF3-FE4D7C45CC19}" type="slidenum">
              <a:rPr lang="zh-CN" altLang="en-US" smtClean="0"/>
              <a:t>‹#›</a:t>
            </a:fld>
            <a:endParaRPr lang="zh-CN" altLang="en-US"/>
          </a:p>
        </p:txBody>
      </p:sp>
    </p:spTree>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82F288E0-7875-42C4-84C8-98DBBD3BF4D2}" type="datetimeFigureOut">
              <a:rPr lang="zh-CN" altLang="en-US" smtClean="0"/>
              <a:t>2025/8/12</a:t>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7D9BB5D0-35E4-459D-AEF3-FE4D7C45CC19}" type="slidenum">
              <a:rPr lang="zh-CN" altLang="en-US" smtClean="0"/>
              <a:t>‹#›</a:t>
            </a:fld>
            <a:endParaRPr lang="zh-CN" altLang="en-US"/>
          </a:p>
        </p:txBody>
      </p:sp>
    </p:spTree>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4165349" cy="1600200"/>
          </a:xfrm>
        </p:spPr>
        <p:txBody>
          <a:bodyPr anchor="b"/>
          <a:lstStyle>
            <a:lvl1pPr>
              <a:defRPr sz="3200"/>
            </a:lvl1pPr>
          </a:lstStyle>
          <a:p>
            <a:r>
              <a:rPr lang="zh-CN" altLang="en-US"/>
              <a:t>单击此处编辑母版标题样式</a:t>
            </a:r>
          </a:p>
        </p:txBody>
      </p:sp>
      <p:sp>
        <p:nvSpPr>
          <p:cNvPr id="3" name="图片占位符 2"/>
          <p:cNvSpPr>
            <a:spLocks noGrp="1"/>
          </p:cNvSpPr>
          <p:nvPr>
            <p:ph type="pic" idx="1"/>
          </p:nvPr>
        </p:nvSpPr>
        <p:spPr>
          <a:xfrm>
            <a:off x="5183188" y="457201"/>
            <a:ext cx="6172200" cy="540385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839788" y="2057400"/>
            <a:ext cx="4165349" cy="3811588"/>
          </a:xfrm>
        </p:spPr>
        <p:txBody>
          <a:bodyPr/>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fld id="{82F288E0-7875-42C4-84C8-98DBBD3BF4D2}" type="datetimeFigureOut">
              <a:rPr lang="zh-CN" altLang="en-US" smtClean="0"/>
              <a:t>2025/8/12</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7D9BB5D0-35E4-459D-AEF3-FE4D7C45CC19}" type="slidenum">
              <a:rPr lang="zh-CN" altLang="en-US" smtClean="0"/>
              <a:t>‹#›</a:t>
            </a:fld>
            <a:endParaRPr lang="zh-CN" altLang="en-US"/>
          </a:p>
        </p:txBody>
      </p:sp>
    </p:spTree>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type="vertTitleAndTx" preserve="1">
  <p:cSld name="竖版">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838200" y="365125"/>
            <a:ext cx="7734300" cy="5811838"/>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82F288E0-7875-42C4-84C8-98DBBD3BF4D2}" type="datetimeFigureOut">
              <a:rPr lang="zh-CN" altLang="en-US" smtClean="0"/>
              <a:t>2025/8/12</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7D9BB5D0-35E4-459D-AEF3-FE4D7C45CC19}" type="slidenum">
              <a:rPr lang="zh-CN" altLang="en-US" smtClean="0"/>
              <a:t>‹#›</a:t>
            </a:fld>
            <a:endParaRPr lang="zh-CN" altLang="en-US"/>
          </a:p>
        </p:txBody>
      </p:sp>
    </p:spTree>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type="objOnly" preserve="1">
  <p:cSld name="内容">
    <p:spTree>
      <p:nvGrpSpPr>
        <p:cNvPr id="1" name=""/>
        <p:cNvGrpSpPr/>
        <p:nvPr/>
      </p:nvGrpSpPr>
      <p:grpSpPr>
        <a:xfrm>
          <a:off x="0" y="0"/>
          <a:ext cx="0" cy="0"/>
          <a:chOff x="0" y="0"/>
          <a:chExt cx="0" cy="0"/>
        </a:xfrm>
      </p:grpSpPr>
      <p:sp>
        <p:nvSpPr>
          <p:cNvPr id="2" name="内容占位符 1"/>
          <p:cNvSpPr>
            <a:spLocks noGrp="1"/>
          </p:cNvSpPr>
          <p:nvPr>
            <p:ph/>
          </p:nvPr>
        </p:nvSpPr>
        <p:spPr>
          <a:xfrm>
            <a:off x="838200" y="365125"/>
            <a:ext cx="10515600" cy="581183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3" name="日期占位符 2"/>
          <p:cNvSpPr>
            <a:spLocks noGrp="1"/>
          </p:cNvSpPr>
          <p:nvPr>
            <p:ph type="dt" sz="half" idx="10"/>
          </p:nvPr>
        </p:nvSpPr>
        <p:spPr/>
        <p:txBody>
          <a:bodyPr/>
          <a:lstStyle/>
          <a:p>
            <a:fld id="{82F288E0-7875-42C4-84C8-98DBBD3BF4D2}" type="datetimeFigureOut">
              <a:rPr lang="zh-CN" altLang="en-US" smtClean="0"/>
              <a:t>2025/8/12</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7D9BB5D0-35E4-459D-AEF3-FE4D7C45CC19}" type="slidenum">
              <a:rPr lang="zh-CN" altLang="en-US" smtClean="0"/>
              <a:t>‹#›</a:t>
            </a:fld>
            <a:endParaRPr lang="zh-CN" altLang="en-US"/>
          </a:p>
        </p:txBody>
      </p:sp>
    </p:spTree>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userDrawn="1">
  <p:cSld name="1_标题幻灯片">
    <p:spTree>
      <p:nvGrpSpPr>
        <p:cNvPr id="1" name=""/>
        <p:cNvGrpSpPr/>
        <p:nvPr/>
      </p:nvGrpSpPr>
      <p:grpSpPr>
        <a:xfrm>
          <a:off x="0" y="0"/>
          <a:ext cx="0" cy="0"/>
          <a:chOff x="0" y="0"/>
          <a:chExt cx="0" cy="0"/>
        </a:xfrm>
      </p:grpSpPr>
      <p:sp>
        <p:nvSpPr>
          <p:cNvPr id="3" name="图片占位符 2"/>
          <p:cNvSpPr>
            <a:spLocks noGrp="1"/>
          </p:cNvSpPr>
          <p:nvPr>
            <p:ph type="pic" sz="quarter" idx="10"/>
          </p:nvPr>
        </p:nvSpPr>
        <p:spPr>
          <a:xfrm>
            <a:off x="0" y="0"/>
            <a:ext cx="12192000" cy="4403725"/>
          </a:xfrm>
          <a:prstGeom prst="rect">
            <a:avLst/>
          </a:prstGeom>
        </p:spPr>
        <p:txBody>
          <a:bodyPr/>
          <a:lstStyle/>
          <a:p>
            <a:endParaRPr lang="zh-CN" altLang="en-US"/>
          </a:p>
        </p:txBody>
      </p:sp>
      <p:sp>
        <p:nvSpPr>
          <p:cNvPr id="5" name="文本占位符 4"/>
          <p:cNvSpPr>
            <a:spLocks noGrp="1"/>
          </p:cNvSpPr>
          <p:nvPr>
            <p:ph type="body" sz="quarter" idx="11"/>
          </p:nvPr>
        </p:nvSpPr>
        <p:spPr>
          <a:xfrm>
            <a:off x="0" y="3075709"/>
            <a:ext cx="12192000" cy="1328016"/>
          </a:xfrm>
          <a:prstGeom prst="rect">
            <a:avLst/>
          </a:prstGeom>
          <a:solidFill>
            <a:schemeClr val="accent1">
              <a:lumMod val="75000"/>
              <a:alpha val="74000"/>
            </a:schemeClr>
          </a:solidFill>
          <a:ln>
            <a:noFill/>
          </a:ln>
        </p:spPr>
        <p:txBody>
          <a:bodyPr/>
          <a:lstStyle>
            <a:lvl1pPr>
              <a:defRPr>
                <a:solidFill>
                  <a:schemeClr val="tx1">
                    <a:alpha val="0"/>
                  </a:schemeClr>
                </a:solidFill>
              </a:defRPr>
            </a:lvl1pPr>
          </a:lstStyle>
          <a:p>
            <a:pPr lvl="0"/>
            <a:endParaRPr lang="zh-CN" altLang="en-US" dirty="0"/>
          </a:p>
        </p:txBody>
      </p:sp>
      <p:sp>
        <p:nvSpPr>
          <p:cNvPr id="6" name="副标题 2"/>
          <p:cNvSpPr>
            <a:spLocks noGrp="1"/>
          </p:cNvSpPr>
          <p:nvPr>
            <p:ph type="subTitle" idx="1"/>
          </p:nvPr>
        </p:nvSpPr>
        <p:spPr>
          <a:xfrm>
            <a:off x="1851024" y="2809284"/>
            <a:ext cx="7855511" cy="558799"/>
          </a:xfrm>
          <a:prstGeom prst="rect">
            <a:avLst/>
          </a:prstGeom>
        </p:spPr>
        <p:txBody>
          <a:bodyPr anchor="ctr">
            <a:normAutofit/>
          </a:bodyPr>
          <a:lstStyle>
            <a:lvl1pPr marL="0" indent="0" algn="l">
              <a:buNone/>
              <a:defRPr sz="200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p>
        </p:txBody>
      </p:sp>
      <p:sp>
        <p:nvSpPr>
          <p:cNvPr id="7" name="标题 1"/>
          <p:cNvSpPr>
            <a:spLocks noGrp="1"/>
          </p:cNvSpPr>
          <p:nvPr>
            <p:ph type="ctrTitle"/>
          </p:nvPr>
        </p:nvSpPr>
        <p:spPr>
          <a:xfrm>
            <a:off x="1851024" y="2110693"/>
            <a:ext cx="7855511" cy="698591"/>
          </a:xfrm>
          <a:prstGeom prst="rect">
            <a:avLst/>
          </a:prstGeom>
        </p:spPr>
        <p:txBody>
          <a:bodyPr anchor="ctr">
            <a:normAutofit/>
          </a:bodyPr>
          <a:lstStyle>
            <a:lvl1pPr algn="l">
              <a:defRPr sz="4000">
                <a:solidFill>
                  <a:schemeClr val="tx1"/>
                </a:solidFill>
              </a:defRPr>
            </a:lvl1pPr>
          </a:lstStyle>
          <a:p>
            <a:r>
              <a:rPr lang="en-US" dirty="0"/>
              <a:t>Click to edit Master title style</a:t>
            </a:r>
            <a:endParaRPr lang="zh-CN" altLang="en-US" dirty="0"/>
          </a:p>
        </p:txBody>
      </p:sp>
      <p:sp>
        <p:nvSpPr>
          <p:cNvPr id="8" name="文本占位符 13"/>
          <p:cNvSpPr>
            <a:spLocks noGrp="1"/>
          </p:cNvSpPr>
          <p:nvPr>
            <p:ph type="body" sz="quarter" idx="12" hasCustomPrompt="1"/>
          </p:nvPr>
        </p:nvSpPr>
        <p:spPr>
          <a:xfrm>
            <a:off x="1851024" y="4572592"/>
            <a:ext cx="7855511" cy="296271"/>
          </a:xfrm>
          <a:prstGeom prst="rect">
            <a:avLst/>
          </a:prstGeom>
        </p:spPr>
        <p:txBody>
          <a:bodyPr vert="horz" anchor="ctr">
            <a:noAutofit/>
          </a:bodyPr>
          <a:lstStyle>
            <a:lvl1pPr marL="0" indent="0" algn="l">
              <a:buNone/>
              <a:defRPr sz="1500" b="0">
                <a:solidFill>
                  <a:schemeClr val="tx1"/>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altLang="zh-CN" dirty="0"/>
              <a:t>Signature</a:t>
            </a:r>
          </a:p>
        </p:txBody>
      </p:sp>
      <p:sp>
        <p:nvSpPr>
          <p:cNvPr id="9" name="文本占位符 13"/>
          <p:cNvSpPr>
            <a:spLocks noGrp="1"/>
          </p:cNvSpPr>
          <p:nvPr>
            <p:ph type="body" sz="quarter" idx="13" hasCustomPrompt="1"/>
          </p:nvPr>
        </p:nvSpPr>
        <p:spPr>
          <a:xfrm>
            <a:off x="1851024" y="4868863"/>
            <a:ext cx="7855511" cy="296271"/>
          </a:xfrm>
          <a:prstGeom prst="rect">
            <a:avLst/>
          </a:prstGeom>
        </p:spPr>
        <p:txBody>
          <a:bodyPr vert="horz" anchor="ctr">
            <a:noAutofit/>
          </a:bodyPr>
          <a:lstStyle>
            <a:lvl1pPr marL="0" indent="0" algn="l">
              <a:buNone/>
              <a:defRPr sz="1500" b="0">
                <a:solidFill>
                  <a:schemeClr val="tx1"/>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altLang="zh-CN" dirty="0"/>
              <a:t>Date</a:t>
            </a:r>
            <a:endParaRPr lang="zh-CN" altLang="en-US" dirty="0"/>
          </a:p>
        </p:txBody>
      </p:sp>
    </p:spTree>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accent1">
            <a:lumMod val="20000"/>
            <a:lumOff val="80000"/>
          </a:schemeClr>
        </a:solidFill>
        <a:effectLst/>
      </p:bgPr>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2F288E0-7875-42C4-84C8-98DBBD3BF4D2}" type="datetimeFigureOut">
              <a:rPr lang="zh-CN" altLang="en-US" smtClean="0"/>
              <a:t>2025/8/12</a:t>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7D9BB5D0-35E4-459D-AEF3-FE4D7C45CC19}" type="slidenum">
              <a:rPr lang="zh-CN" altLang="en-US" smtClean="0"/>
              <a:t>‹#›</a:t>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mc:AlternateContent xmlns:mc="http://schemas.openxmlformats.org/markup-compatibility/2006" xmlns:p14="http://schemas.microsoft.com/office/powerpoint/2010/main">
    <mc:Choice Requires="p14">
      <p:transition p14:dur="10"/>
    </mc:Choice>
    <mc:Fallback xmlns="">
      <p:transition/>
    </mc:Fallback>
  </mc:AlternateConten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1.xml"/><Relationship Id="rId5" Type="http://schemas.openxmlformats.org/officeDocument/2006/relationships/image" Target="../media/image3.pn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2.xml"/><Relationship Id="rId5" Type="http://schemas.openxmlformats.org/officeDocument/2006/relationships/image" Target="../media/image4.jpeg"/><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7" Type="http://schemas.openxmlformats.org/officeDocument/2006/relationships/hyperlink" Target="https://www.cs.hmc.edu/~cs5grad/cs5/LectureSlides/class07-black-16-functional5.pptx" TargetMode="External"/><Relationship Id="rId2" Type="http://schemas.openxmlformats.org/officeDocument/2006/relationships/notesSlide" Target="../notesSlides/notesSlide4.xml"/><Relationship Id="rId1" Type="http://schemas.openxmlformats.org/officeDocument/2006/relationships/slideLayout" Target="../slideLayouts/slideLayout2.xml"/><Relationship Id="rId6" Type="http://schemas.openxmlformats.org/officeDocument/2006/relationships/image" Target="../media/image6.jpeg"/><Relationship Id="rId5" Type="http://schemas.openxmlformats.org/officeDocument/2006/relationships/image" Target="../media/image5.png"/><Relationship Id="rId4" Type="http://schemas.openxmlformats.org/officeDocument/2006/relationships/image" Target="../media/image3.png"/></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7.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8.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9.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1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0.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1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1.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1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2.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1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3.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1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4.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1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5.xml"/><Relationship Id="rId1" Type="http://schemas.openxmlformats.org/officeDocument/2006/relationships/slideLayout" Target="../slideLayouts/slideLayout2.xml"/><Relationship Id="rId5" Type="http://schemas.openxmlformats.org/officeDocument/2006/relationships/image" Target="../media/image7.png"/><Relationship Id="rId4" Type="http://schemas.openxmlformats.org/officeDocument/2006/relationships/image" Target="../media/image3.png"/></Relationships>
</file>

<file path=ppt/slides/_rels/slide1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6.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1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7.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1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8.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1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9.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2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0.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2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1.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2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2.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2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3.xml"/><Relationship Id="rId1" Type="http://schemas.openxmlformats.org/officeDocument/2006/relationships/slideLayout" Target="../slideLayouts/slideLayout2.xml"/><Relationship Id="rId5" Type="http://schemas.openxmlformats.org/officeDocument/2006/relationships/image" Target="../media/image8.png"/><Relationship Id="rId4" Type="http://schemas.openxmlformats.org/officeDocument/2006/relationships/image" Target="../media/image3.png"/></Relationships>
</file>

<file path=ppt/slides/_rels/slide2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4.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25.xml.rels><?xml version="1.0" encoding="UTF-8" standalone="yes"?>
<Relationships xmlns="http://schemas.openxmlformats.org/package/2006/relationships"><Relationship Id="rId3" Type="http://schemas.openxmlformats.org/officeDocument/2006/relationships/hyperlink" Target="https://upload.wikimedia.org/wikipedia/commons/a/a0/P_np_np-complete_np-hard.svg" TargetMode="External"/><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hyperlink" Target="https://upload.wikimedia.org/wikipedia/commons/a/a0/P_np_np-complete_np-hard.svg" TargetMode="External"/><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5.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2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6.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2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7.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3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8.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3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9.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3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0.xml"/><Relationship Id="rId1" Type="http://schemas.openxmlformats.org/officeDocument/2006/relationships/slideLayout" Target="../slideLayouts/slideLayout2.xml"/><Relationship Id="rId6" Type="http://schemas.openxmlformats.org/officeDocument/2006/relationships/image" Target="../media/image11.png"/><Relationship Id="rId5" Type="http://schemas.openxmlformats.org/officeDocument/2006/relationships/image" Target="../media/image10.png"/><Relationship Id="rId4" Type="http://schemas.openxmlformats.org/officeDocument/2006/relationships/image" Target="../media/image3.png"/></Relationships>
</file>

<file path=ppt/slides/_rels/slide33.xml.rels><?xml version="1.0" encoding="UTF-8" standalone="yes"?>
<Relationships xmlns="http://schemas.openxmlformats.org/package/2006/relationships"><Relationship Id="rId8" Type="http://schemas.openxmlformats.org/officeDocument/2006/relationships/image" Target="../media/image15.png"/><Relationship Id="rId3" Type="http://schemas.openxmlformats.org/officeDocument/2006/relationships/image" Target="../media/image2.png"/><Relationship Id="rId7" Type="http://schemas.openxmlformats.org/officeDocument/2006/relationships/image" Target="../media/image14.png"/><Relationship Id="rId2" Type="http://schemas.openxmlformats.org/officeDocument/2006/relationships/notesSlide" Target="../notesSlides/notesSlide31.xml"/><Relationship Id="rId1" Type="http://schemas.openxmlformats.org/officeDocument/2006/relationships/slideLayout" Target="../slideLayouts/slideLayout2.xml"/><Relationship Id="rId6" Type="http://schemas.openxmlformats.org/officeDocument/2006/relationships/image" Target="../media/image13.png"/><Relationship Id="rId5" Type="http://schemas.openxmlformats.org/officeDocument/2006/relationships/image" Target="../media/image12.png"/><Relationship Id="rId10" Type="http://schemas.openxmlformats.org/officeDocument/2006/relationships/image" Target="../media/image17.png"/><Relationship Id="rId4" Type="http://schemas.openxmlformats.org/officeDocument/2006/relationships/image" Target="../media/image3.png"/><Relationship Id="rId9" Type="http://schemas.openxmlformats.org/officeDocument/2006/relationships/image" Target="../media/image16.png"/></Relationships>
</file>

<file path=ppt/slides/_rels/slide3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2.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35.xml.rels><?xml version="1.0" encoding="UTF-8" standalone="yes"?>
<Relationships xmlns="http://schemas.openxmlformats.org/package/2006/relationships"><Relationship Id="rId3" Type="http://schemas.openxmlformats.org/officeDocument/2006/relationships/image" Target="../media/image140.png"/><Relationship Id="rId7" Type="http://schemas.openxmlformats.org/officeDocument/2006/relationships/image" Target="../media/image18.png"/><Relationship Id="rId2" Type="http://schemas.openxmlformats.org/officeDocument/2006/relationships/notesSlide" Target="../notesSlides/notesSlide33.xml"/><Relationship Id="rId1" Type="http://schemas.openxmlformats.org/officeDocument/2006/relationships/slideLayout" Target="../slideLayouts/slideLayout2.xml"/><Relationship Id="rId6" Type="http://schemas.openxmlformats.org/officeDocument/2006/relationships/image" Target="../media/image150.png"/><Relationship Id="rId5" Type="http://schemas.openxmlformats.org/officeDocument/2006/relationships/image" Target="../media/image3.png"/><Relationship Id="rId4" Type="http://schemas.openxmlformats.org/officeDocument/2006/relationships/image" Target="../media/image2.png"/></Relationships>
</file>

<file path=ppt/slides/_rels/slide3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4.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3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5.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3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6.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39.xml.rels><?xml version="1.0" encoding="UTF-8" standalone="yes"?>
<Relationships xmlns="http://schemas.openxmlformats.org/package/2006/relationships"><Relationship Id="rId8" Type="http://schemas.openxmlformats.org/officeDocument/2006/relationships/image" Target="../media/image22.png"/><Relationship Id="rId3" Type="http://schemas.openxmlformats.org/officeDocument/2006/relationships/image" Target="../media/image2.png"/><Relationship Id="rId7" Type="http://schemas.openxmlformats.org/officeDocument/2006/relationships/image" Target="../media/image21.png"/><Relationship Id="rId12" Type="http://schemas.openxmlformats.org/officeDocument/2006/relationships/image" Target="../media/image26.png"/><Relationship Id="rId2" Type="http://schemas.openxmlformats.org/officeDocument/2006/relationships/notesSlide" Target="../notesSlides/notesSlide37.xml"/><Relationship Id="rId1" Type="http://schemas.openxmlformats.org/officeDocument/2006/relationships/slideLayout" Target="../slideLayouts/slideLayout2.xml"/><Relationship Id="rId6" Type="http://schemas.openxmlformats.org/officeDocument/2006/relationships/image" Target="../media/image20.png"/><Relationship Id="rId11" Type="http://schemas.openxmlformats.org/officeDocument/2006/relationships/image" Target="../media/image25.png"/><Relationship Id="rId5" Type="http://schemas.openxmlformats.org/officeDocument/2006/relationships/image" Target="../media/image19.png"/><Relationship Id="rId10" Type="http://schemas.openxmlformats.org/officeDocument/2006/relationships/image" Target="../media/image24.png"/><Relationship Id="rId4" Type="http://schemas.openxmlformats.org/officeDocument/2006/relationships/image" Target="../media/image3.png"/><Relationship Id="rId9" Type="http://schemas.openxmlformats.org/officeDocument/2006/relationships/image" Target="../media/image23.png"/></Relationships>
</file>

<file path=ppt/slides/_rels/slide4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8.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4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9.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42.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40.xml"/><Relationship Id="rId1" Type="http://schemas.openxmlformats.org/officeDocument/2006/relationships/slideLayout" Target="../slideLayouts/slideLayout11.xml"/><Relationship Id="rId5" Type="http://schemas.openxmlformats.org/officeDocument/2006/relationships/image" Target="../media/image3.png"/><Relationship Id="rId4" Type="http://schemas.openxmlformats.org/officeDocument/2006/relationships/image" Target="../media/image2.png"/></Relationships>
</file>

<file path=ppt/slides/_rels/slide4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1.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4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2.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4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3.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4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4.xml"/><Relationship Id="rId1" Type="http://schemas.openxmlformats.org/officeDocument/2006/relationships/slideLayout" Target="../slideLayouts/slideLayout2.xml"/><Relationship Id="rId5" Type="http://schemas.openxmlformats.org/officeDocument/2006/relationships/image" Target="../media/image27.png"/><Relationship Id="rId4" Type="http://schemas.openxmlformats.org/officeDocument/2006/relationships/image" Target="../media/image3.png"/></Relationships>
</file>

<file path=ppt/slides/_rels/slide4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5.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4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6.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4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7.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50.xml.rels><?xml version="1.0" encoding="UTF-8" standalone="yes"?>
<Relationships xmlns="http://schemas.openxmlformats.org/package/2006/relationships"><Relationship Id="rId8" Type="http://schemas.openxmlformats.org/officeDocument/2006/relationships/image" Target="../media/image30.png"/><Relationship Id="rId3" Type="http://schemas.openxmlformats.org/officeDocument/2006/relationships/image" Target="../media/image2.png"/><Relationship Id="rId7" Type="http://schemas.openxmlformats.org/officeDocument/2006/relationships/image" Target="../media/image29.png"/><Relationship Id="rId2" Type="http://schemas.openxmlformats.org/officeDocument/2006/relationships/notesSlide" Target="../notesSlides/notesSlide48.xml"/><Relationship Id="rId1" Type="http://schemas.openxmlformats.org/officeDocument/2006/relationships/slideLayout" Target="../slideLayouts/slideLayout2.xml"/><Relationship Id="rId6" Type="http://schemas.openxmlformats.org/officeDocument/2006/relationships/image" Target="../media/image28.wmf"/><Relationship Id="rId5" Type="http://schemas.openxmlformats.org/officeDocument/2006/relationships/oleObject" Target="../embeddings/oleObject1.bin"/><Relationship Id="rId4" Type="http://schemas.openxmlformats.org/officeDocument/2006/relationships/image" Target="../media/image3.png"/><Relationship Id="rId9" Type="http://schemas.openxmlformats.org/officeDocument/2006/relationships/image" Target="../media/image31.png"/></Relationships>
</file>

<file path=ppt/slides/_rels/slide5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9.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52.xml.rels><?xml version="1.0" encoding="UTF-8" standalone="yes"?>
<Relationships xmlns="http://schemas.openxmlformats.org/package/2006/relationships"><Relationship Id="rId8" Type="http://schemas.openxmlformats.org/officeDocument/2006/relationships/image" Target="../media/image35.png"/><Relationship Id="rId3" Type="http://schemas.openxmlformats.org/officeDocument/2006/relationships/image" Target="../media/image2.png"/><Relationship Id="rId7" Type="http://schemas.openxmlformats.org/officeDocument/2006/relationships/image" Target="../media/image34.png"/><Relationship Id="rId2" Type="http://schemas.openxmlformats.org/officeDocument/2006/relationships/notesSlide" Target="../notesSlides/notesSlide50.xml"/><Relationship Id="rId1" Type="http://schemas.openxmlformats.org/officeDocument/2006/relationships/slideLayout" Target="../slideLayouts/slideLayout2.xml"/><Relationship Id="rId6" Type="http://schemas.openxmlformats.org/officeDocument/2006/relationships/image" Target="../media/image33.png"/><Relationship Id="rId5" Type="http://schemas.openxmlformats.org/officeDocument/2006/relationships/image" Target="../media/image32.png"/><Relationship Id="rId4" Type="http://schemas.openxmlformats.org/officeDocument/2006/relationships/image" Target="../media/image3.png"/><Relationship Id="rId9" Type="http://schemas.openxmlformats.org/officeDocument/2006/relationships/image" Target="../media/image36.png"/></Relationships>
</file>

<file path=ppt/slides/_rels/slide5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1.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5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2.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5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3.xml"/><Relationship Id="rId1" Type="http://schemas.openxmlformats.org/officeDocument/2006/relationships/slideLayout" Target="../slideLayouts/slideLayout2.xml"/><Relationship Id="rId5" Type="http://schemas.openxmlformats.org/officeDocument/2006/relationships/image" Target="../media/image37.png"/><Relationship Id="rId4" Type="http://schemas.openxmlformats.org/officeDocument/2006/relationships/image" Target="../media/image3.png"/></Relationships>
</file>

<file path=ppt/slides/_rels/slide5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4.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5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5.xml"/><Relationship Id="rId1" Type="http://schemas.openxmlformats.org/officeDocument/2006/relationships/slideLayout" Target="../slideLayouts/slideLayout2.xml"/><Relationship Id="rId5" Type="http://schemas.openxmlformats.org/officeDocument/2006/relationships/image" Target="../media/image38.emf"/><Relationship Id="rId4" Type="http://schemas.openxmlformats.org/officeDocument/2006/relationships/image" Target="../media/image3.png"/></Relationships>
</file>

<file path=ppt/slides/_rels/slide5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6.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5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7.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6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8.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6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9.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6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0.xml"/><Relationship Id="rId1" Type="http://schemas.openxmlformats.org/officeDocument/2006/relationships/slideLayout" Target="../slideLayouts/slideLayout2.xml"/><Relationship Id="rId5" Type="http://schemas.openxmlformats.org/officeDocument/2006/relationships/image" Target="../media/image39.png"/><Relationship Id="rId4" Type="http://schemas.openxmlformats.org/officeDocument/2006/relationships/image" Target="../media/image3.png"/></Relationships>
</file>

<file path=ppt/slides/_rels/slide6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1.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6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2.xml"/><Relationship Id="rId1" Type="http://schemas.openxmlformats.org/officeDocument/2006/relationships/slideLayout" Target="../slideLayouts/slideLayout2.xml"/><Relationship Id="rId5" Type="http://schemas.openxmlformats.org/officeDocument/2006/relationships/image" Target="../media/image40.png"/><Relationship Id="rId4" Type="http://schemas.openxmlformats.org/officeDocument/2006/relationships/image" Target="../media/image3.png"/></Relationships>
</file>

<file path=ppt/slides/_rels/slide6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3.xml"/><Relationship Id="rId1" Type="http://schemas.openxmlformats.org/officeDocument/2006/relationships/slideLayout" Target="../slideLayouts/slideLayout2.xml"/><Relationship Id="rId5" Type="http://schemas.openxmlformats.org/officeDocument/2006/relationships/image" Target="../media/image40.png"/><Relationship Id="rId4" Type="http://schemas.openxmlformats.org/officeDocument/2006/relationships/image" Target="../media/image3.png"/></Relationships>
</file>

<file path=ppt/slides/_rels/slide6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4.xml"/><Relationship Id="rId1" Type="http://schemas.openxmlformats.org/officeDocument/2006/relationships/slideLayout" Target="../slideLayouts/slideLayout2.xml"/><Relationship Id="rId5" Type="http://schemas.openxmlformats.org/officeDocument/2006/relationships/image" Target="../media/image40.png"/><Relationship Id="rId4" Type="http://schemas.openxmlformats.org/officeDocument/2006/relationships/image" Target="../media/image3.png"/></Relationships>
</file>

<file path=ppt/slides/_rels/slide6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5.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6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6.xml"/><Relationship Id="rId1" Type="http://schemas.openxmlformats.org/officeDocument/2006/relationships/slideLayout" Target="../slideLayouts/slideLayout2.xml"/><Relationship Id="rId4" Type="http://schemas.openxmlformats.org/officeDocument/2006/relationships/image" Target="../media/image3.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 name="图片 11"/>
          <p:cNvPicPr>
            <a:picLocks noChangeAspect="1"/>
          </p:cNvPicPr>
          <p:nvPr/>
        </p:nvPicPr>
        <p:blipFill rotWithShape="1">
          <a:blip r:embed="rId3" cstate="print">
            <a:extLst>
              <a:ext uri="{28A0092B-C50C-407E-A947-70E740481C1C}">
                <a14:useLocalDpi xmlns:a14="http://schemas.microsoft.com/office/drawing/2010/main" val="0"/>
              </a:ext>
            </a:extLst>
          </a:blip>
          <a:srcRect t="5418" b="-5557"/>
          <a:stretch>
            <a:fillRect/>
          </a:stretch>
        </p:blipFill>
        <p:spPr>
          <a:xfrm>
            <a:off x="0" y="0"/>
            <a:ext cx="12192000" cy="5105399"/>
          </a:xfrm>
          <a:prstGeom prst="rect">
            <a:avLst/>
          </a:prstGeom>
        </p:spPr>
      </p:pic>
      <p:sp>
        <p:nvSpPr>
          <p:cNvPr id="15" name="文本占位符 14"/>
          <p:cNvSpPr>
            <a:spLocks noGrp="1"/>
          </p:cNvSpPr>
          <p:nvPr>
            <p:ph type="body" sz="quarter" idx="11"/>
          </p:nvPr>
        </p:nvSpPr>
        <p:spPr>
          <a:xfrm>
            <a:off x="0" y="4379558"/>
            <a:ext cx="12192000" cy="1191229"/>
          </a:xfrm>
          <a:solidFill>
            <a:srgbClr val="002060"/>
          </a:solidFill>
        </p:spPr>
        <p:txBody>
          <a:bodyPr/>
          <a:lstStyle/>
          <a:p>
            <a:endParaRPr lang="zh-CN" altLang="en-US" dirty="0">
              <a:solidFill>
                <a:srgbClr val="0070C0">
                  <a:alpha val="0"/>
                </a:srgbClr>
              </a:solidFill>
            </a:endParaRPr>
          </a:p>
        </p:txBody>
      </p:sp>
      <p:sp>
        <p:nvSpPr>
          <p:cNvPr id="21" name="标题 3"/>
          <p:cNvSpPr>
            <a:spLocks noGrp="1"/>
          </p:cNvSpPr>
          <p:nvPr>
            <p:ph type="ctrTitle"/>
          </p:nvPr>
        </p:nvSpPr>
        <p:spPr>
          <a:xfrm>
            <a:off x="357734" y="4571653"/>
            <a:ext cx="9955189" cy="949255"/>
          </a:xfrm>
        </p:spPr>
        <p:txBody>
          <a:bodyPr>
            <a:noAutofit/>
          </a:bodyPr>
          <a:lstStyle/>
          <a:p>
            <a:br>
              <a:rPr lang="en-US" altLang="zh-CN" b="1" dirty="0">
                <a:solidFill>
                  <a:schemeClr val="bg1"/>
                </a:solidFill>
                <a:effectLst>
                  <a:outerShdw blurRad="38100" dist="38100" dir="2700000" algn="tl">
                    <a:srgbClr val="000000">
                      <a:alpha val="43137"/>
                    </a:srgbClr>
                  </a:outerShdw>
                </a:effectLst>
              </a:rPr>
            </a:br>
            <a:r>
              <a:rPr lang="en-US" altLang="zh-CN" b="1" dirty="0">
                <a:solidFill>
                  <a:schemeClr val="bg1"/>
                </a:solidFill>
                <a:latin typeface="Trebuchet MS" panose="020B0603020202020204" pitchFamily="34" charset="0"/>
              </a:rPr>
              <a:t>Discrete Mathematics</a:t>
            </a:r>
            <a:r>
              <a:rPr lang="zh-CN" altLang="en-US" b="1" dirty="0">
                <a:solidFill>
                  <a:schemeClr val="bg1"/>
                </a:solidFill>
                <a:latin typeface="Trebuchet MS" panose="020B0603020202020204" pitchFamily="34" charset="0"/>
              </a:rPr>
              <a:t> </a:t>
            </a:r>
            <a:r>
              <a:rPr lang="en-US" altLang="zh-CN" b="1" dirty="0">
                <a:solidFill>
                  <a:schemeClr val="bg1"/>
                </a:solidFill>
                <a:latin typeface="Trebuchet MS" panose="020B0603020202020204" pitchFamily="34" charset="0"/>
              </a:rPr>
              <a:t>2025 Spring</a:t>
            </a:r>
            <a:br>
              <a:rPr lang="en-US" altLang="zh-CN" b="1" dirty="0">
                <a:solidFill>
                  <a:schemeClr val="bg1"/>
                </a:solidFill>
                <a:effectLst>
                  <a:outerShdw blurRad="38100" dist="38100" dir="2700000" algn="tl">
                    <a:srgbClr val="000000">
                      <a:alpha val="43137"/>
                    </a:srgbClr>
                  </a:outerShdw>
                </a:effectLst>
              </a:rPr>
            </a:br>
            <a:endParaRPr lang="en-US" altLang="zh-CN" b="1" dirty="0">
              <a:solidFill>
                <a:schemeClr val="bg1"/>
              </a:solidFill>
              <a:effectLst>
                <a:outerShdw blurRad="38100" dist="38100" dir="2700000" algn="tl">
                  <a:srgbClr val="000000">
                    <a:alpha val="43137"/>
                  </a:srgbClr>
                </a:outerShdw>
              </a:effectLst>
            </a:endParaRPr>
          </a:p>
        </p:txBody>
      </p:sp>
      <p:sp>
        <p:nvSpPr>
          <p:cNvPr id="6" name="文本框 5"/>
          <p:cNvSpPr txBox="1"/>
          <p:nvPr/>
        </p:nvSpPr>
        <p:spPr>
          <a:xfrm>
            <a:off x="935135" y="5797109"/>
            <a:ext cx="7262777" cy="523220"/>
          </a:xfrm>
          <a:prstGeom prst="rect">
            <a:avLst/>
          </a:prstGeom>
          <a:noFill/>
        </p:spPr>
        <p:txBody>
          <a:bodyPr wrap="square" rtlCol="0">
            <a:spAutoFit/>
          </a:bodyPr>
          <a:lstStyle/>
          <a:p>
            <a:pPr algn="ctr" fontAlgn="base">
              <a:spcBef>
                <a:spcPct val="10000"/>
              </a:spcBef>
              <a:spcAft>
                <a:spcPct val="0"/>
              </a:spcAft>
              <a:buClr>
                <a:srgbClr val="39BBF0"/>
              </a:buClr>
              <a:buSzPct val="60000"/>
            </a:pPr>
            <a:r>
              <a:rPr kumimoji="1" lang="zh-CN" altLang="en-US" sz="2800" b="1" dirty="0">
                <a:latin typeface="Trebuchet MS" panose="020B0603020202020204" pitchFamily="34" charset="0"/>
                <a:ea typeface="宋体" panose="02010600030101010101" pitchFamily="2" charset="-122"/>
              </a:rPr>
              <a:t>魏可佶</a:t>
            </a:r>
            <a:r>
              <a:rPr kumimoji="1" lang="zh-CN" altLang="en-US" sz="2400" b="1" dirty="0">
                <a:latin typeface="Trebuchet MS" panose="020B0603020202020204" pitchFamily="34" charset="0"/>
                <a:ea typeface="宋体" panose="02010600030101010101" pitchFamily="2" charset="-122"/>
              </a:rPr>
              <a:t> </a:t>
            </a:r>
            <a:r>
              <a:rPr kumimoji="1" lang="zh-CN" altLang="en-US" sz="2400" b="1" dirty="0">
                <a:latin typeface="Trebuchet MS" panose="020B0603020202020204" pitchFamily="34" charset="0"/>
                <a:ea typeface="微软雅黑" pitchFamily="34" charset="-122"/>
              </a:rPr>
              <a:t>    </a:t>
            </a:r>
            <a:r>
              <a:rPr lang="en-US" altLang="zh-CN" sz="2800" b="1" dirty="0">
                <a:latin typeface="Trebuchet MS" panose="020B0603020202020204" pitchFamily="34" charset="0"/>
                <a:cs typeface="Times New Roman" panose="02020603050405020304" pitchFamily="18" charset="0"/>
              </a:rPr>
              <a:t>kejiwei@tongji.edu.cn</a:t>
            </a:r>
            <a:r>
              <a:rPr lang="en-US" altLang="zh-CN" sz="2800" dirty="0">
                <a:cs typeface="Times New Roman" panose="02020603050405020304" pitchFamily="18" charset="0"/>
              </a:rPr>
              <a:t>		</a:t>
            </a:r>
          </a:p>
        </p:txBody>
      </p:sp>
      <p:pic>
        <p:nvPicPr>
          <p:cNvPr id="13" name="Picture 6" descr="D:\MBA工作\LOGO\同济经管LOGO反白.png"/>
          <p:cNvPicPr>
            <a:picLocks noChangeAspect="1" noChangeArrowheads="1"/>
          </p:cNvPicPr>
          <p:nvPr/>
        </p:nvPicPr>
        <p:blipFill>
          <a:blip r:embed="rId4" cstate="email">
            <a:extLst>
              <a:ext uri="{28A0092B-C50C-407E-A947-70E740481C1C}">
                <a14:useLocalDpi xmlns:a14="http://schemas.microsoft.com/office/drawing/2010/main" val="0"/>
              </a:ext>
            </a:extLst>
          </a:blip>
          <a:srcRect/>
          <a:stretch>
            <a:fillRect/>
          </a:stretch>
        </p:blipFill>
        <p:spPr bwMode="auto">
          <a:xfrm>
            <a:off x="9960847" y="4691952"/>
            <a:ext cx="1696528" cy="566440"/>
          </a:xfrm>
          <a:prstGeom prst="rect">
            <a:avLst/>
          </a:prstGeom>
          <a:noFill/>
          <a:extLst>
            <a:ext uri="{909E8E84-426E-40DD-AFC4-6F175D3DCCD1}">
              <a14:hiddenFill xmlns:a14="http://schemas.microsoft.com/office/drawing/2010/main">
                <a:solidFill>
                  <a:srgbClr val="FFFFFF"/>
                </a:solidFill>
              </a14:hiddenFill>
            </a:ext>
          </a:extLst>
        </p:spPr>
      </p:pic>
      <p:pic>
        <p:nvPicPr>
          <p:cNvPr id="3" name="图片 2" descr="微信图片_20220318113523"/>
          <p:cNvPicPr>
            <a:picLocks noChangeAspect="1"/>
          </p:cNvPicPr>
          <p:nvPr userDrawn="1"/>
        </p:nvPicPr>
        <p:blipFill>
          <a:blip r:embed="rId5"/>
          <a:stretch>
            <a:fillRect/>
          </a:stretch>
        </p:blipFill>
        <p:spPr>
          <a:xfrm>
            <a:off x="9291877" y="6115050"/>
            <a:ext cx="2244725" cy="361315"/>
          </a:xfrm>
          <a:prstGeom prst="rect">
            <a:avLst/>
          </a:prstGeom>
        </p:spPr>
      </p:pic>
    </p:spTree>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0" y="-20295"/>
            <a:ext cx="12192000" cy="762000"/>
          </a:xfrm>
          <a:prstGeom prst="rect">
            <a:avLst/>
          </a:prstGeom>
          <a:solidFill>
            <a:srgbClr val="002F7C"/>
          </a:solidFill>
        </p:spPr>
        <p:style>
          <a:lnRef idx="2">
            <a:schemeClr val="dk1">
              <a:shade val="50000"/>
            </a:schemeClr>
          </a:lnRef>
          <a:fillRef idx="1">
            <a:schemeClr val="dk1"/>
          </a:fillRef>
          <a:effectRef idx="0">
            <a:schemeClr val="dk1"/>
          </a:effectRef>
          <a:fontRef idx="minor">
            <a:schemeClr val="lt1"/>
          </a:fontRef>
        </p:style>
        <p:txBody>
          <a:bodyPr rtlCol="0" anchor="ctr"/>
          <a:lstStyle/>
          <a:p>
            <a:r>
              <a:rPr lang="zh-CN" altLang="en-US" sz="2000" b="1" dirty="0">
                <a:latin typeface="Times New Roman" panose="02020603050405020304" pitchFamily="18" charset="0"/>
                <a:ea typeface="宋体" panose="02010600030101010101" pitchFamily="2" charset="-122"/>
                <a:cs typeface="Times New Roman" panose="02020603050405020304" pitchFamily="18" charset="0"/>
              </a:rPr>
              <a:t>                </a:t>
            </a:r>
            <a:r>
              <a:rPr lang="en-US" altLang="zh-CN" sz="2400" b="1" dirty="0">
                <a:solidFill>
                  <a:schemeClr val="bg1"/>
                </a:solidFill>
                <a:latin typeface="Trebuchet MS" panose="020B0603020202020204" pitchFamily="34" charset="0"/>
              </a:rPr>
              <a:t>7.1 Undirected Trees</a:t>
            </a:r>
            <a:r>
              <a:rPr lang="en-US" altLang="zh-CN" sz="2400" b="1" dirty="0">
                <a:solidFill>
                  <a:schemeClr val="bg1"/>
                </a:solidFill>
                <a:latin typeface="Trebuchet MS" panose="020B0603020202020204" pitchFamily="34" charset="0"/>
                <a:ea typeface="宋体" panose="02010600030101010101" pitchFamily="2" charset="-122"/>
                <a:cs typeface="Times New Roman" panose="02020603050405020304" pitchFamily="18" charset="0"/>
              </a:rPr>
              <a:t>          </a:t>
            </a:r>
            <a:endParaRPr lang="zh-CN" altLang="en-US" sz="2400" b="1" dirty="0">
              <a:solidFill>
                <a:schemeClr val="bg1"/>
              </a:solidFill>
              <a:highlight>
                <a:srgbClr val="FF0000"/>
              </a:highlight>
              <a:latin typeface="Trebuchet MS" panose="020B0603020202020204" pitchFamily="34" charset="0"/>
            </a:endParaRPr>
          </a:p>
        </p:txBody>
      </p:sp>
      <p:sp>
        <p:nvSpPr>
          <p:cNvPr id="13" name="矩形 12"/>
          <p:cNvSpPr/>
          <p:nvPr/>
        </p:nvSpPr>
        <p:spPr>
          <a:xfrm>
            <a:off x="824682" y="0"/>
            <a:ext cx="175443" cy="628650"/>
          </a:xfrm>
          <a:prstGeom prst="rect">
            <a:avLst/>
          </a:prstGeom>
          <a:solidFill>
            <a:srgbClr val="CFA57C"/>
          </a:solidFill>
          <a:ln cmpd="sng">
            <a:gradFill flip="none" rotWithShape="1">
              <a:gsLst>
                <a:gs pos="50000">
                  <a:schemeClr val="accent2">
                    <a:lumMod val="60000"/>
                    <a:lumOff val="40000"/>
                  </a:schemeClr>
                </a:gs>
                <a:gs pos="0">
                  <a:schemeClr val="accent2">
                    <a:lumMod val="20000"/>
                    <a:lumOff val="80000"/>
                  </a:schemeClr>
                </a:gs>
                <a:gs pos="95000">
                  <a:schemeClr val="accent2"/>
                </a:gs>
              </a:gsLst>
              <a:path path="circle">
                <a:fillToRect l="50000" t="-80000" r="50000" b="180000"/>
              </a:path>
              <a:tileRect/>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22" name="Picture 6" descr="D:\MBA工作\LOGO\同济经管LOGO反白.png"/>
          <p:cNvPicPr>
            <a:picLocks noChangeAspect="1" noChangeArrowheads="1"/>
          </p:cNvPicPr>
          <p:nvPr/>
        </p:nvPicPr>
        <p:blipFill>
          <a:blip r:embed="rId3" cstate="email">
            <a:extLst>
              <a:ext uri="{28A0092B-C50C-407E-A947-70E740481C1C}">
                <a14:useLocalDpi xmlns:a14="http://schemas.microsoft.com/office/drawing/2010/main" val="0"/>
              </a:ext>
            </a:extLst>
          </a:blip>
          <a:srcRect/>
          <a:stretch>
            <a:fillRect/>
          </a:stretch>
        </p:blipFill>
        <p:spPr bwMode="auto">
          <a:xfrm>
            <a:off x="10267423" y="165688"/>
            <a:ext cx="1386605" cy="462962"/>
          </a:xfrm>
          <a:prstGeom prst="rect">
            <a:avLst/>
          </a:prstGeom>
          <a:noFill/>
          <a:extLst>
            <a:ext uri="{909E8E84-426E-40DD-AFC4-6F175D3DCCD1}">
              <a14:hiddenFill xmlns:a14="http://schemas.microsoft.com/office/drawing/2010/main">
                <a:solidFill>
                  <a:srgbClr val="FFFFFF"/>
                </a:solidFill>
              </a14:hiddenFill>
            </a:ext>
          </a:extLst>
        </p:spPr>
      </p:pic>
      <p:pic>
        <p:nvPicPr>
          <p:cNvPr id="2" name="图片 1" descr="微信图片_20220318113523"/>
          <p:cNvPicPr>
            <a:picLocks noChangeAspect="1"/>
          </p:cNvPicPr>
          <p:nvPr userDrawn="1"/>
        </p:nvPicPr>
        <p:blipFill>
          <a:blip r:embed="rId4"/>
          <a:stretch>
            <a:fillRect/>
          </a:stretch>
        </p:blipFill>
        <p:spPr>
          <a:xfrm>
            <a:off x="9291877" y="6115050"/>
            <a:ext cx="2244725" cy="361315"/>
          </a:xfrm>
          <a:prstGeom prst="rect">
            <a:avLst/>
          </a:prstGeom>
        </p:spPr>
      </p:pic>
      <p:sp>
        <p:nvSpPr>
          <p:cNvPr id="18" name="Rectangle 2">
            <a:extLst>
              <a:ext uri="{FF2B5EF4-FFF2-40B4-BE49-F238E27FC236}">
                <a16:creationId xmlns:a16="http://schemas.microsoft.com/office/drawing/2014/main" id="{E217C615-1D49-4D07-B850-D36106D7AA9A}"/>
              </a:ext>
            </a:extLst>
          </p:cNvPr>
          <p:cNvSpPr>
            <a:spLocks noChangeArrowheads="1"/>
          </p:cNvSpPr>
          <p:nvPr/>
        </p:nvSpPr>
        <p:spPr bwMode="auto">
          <a:xfrm>
            <a:off x="1000125" y="815365"/>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8" name="Rectangle 3">
            <a:extLst>
              <a:ext uri="{FF2B5EF4-FFF2-40B4-BE49-F238E27FC236}">
                <a16:creationId xmlns:a16="http://schemas.microsoft.com/office/drawing/2014/main" id="{97F08C45-3D15-45C1-A5A3-D1EB58DC91FE}"/>
              </a:ext>
            </a:extLst>
          </p:cNvPr>
          <p:cNvSpPr txBox="1">
            <a:spLocks noChangeArrowheads="1"/>
          </p:cNvSpPr>
          <p:nvPr/>
        </p:nvSpPr>
        <p:spPr>
          <a:xfrm>
            <a:off x="1008378" y="762001"/>
            <a:ext cx="9877336" cy="2666998"/>
          </a:xfrm>
          <a:prstGeom prst="rect">
            <a:avLst/>
          </a:prstGeom>
        </p:spPr>
        <p:txBody>
          <a:bodyPr vert="horz" lIns="91440" tIns="45720" rIns="91440" bIns="45720" rtlCol="0">
            <a:normAutofit fontScale="92500"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990600" eaLnBrk="1" hangingPunct="1">
              <a:buNone/>
            </a:pPr>
            <a:endParaRPr lang="en-US" altLang="zh-CN" b="1" dirty="0"/>
          </a:p>
          <a:p>
            <a:r>
              <a:rPr lang="en-US" altLang="zh-CN" sz="4000" dirty="0"/>
              <a:t>f(n)= O(g(n)) </a:t>
            </a:r>
            <a:r>
              <a:rPr lang="en-US" altLang="zh-CN" sz="4000" i="1" dirty="0" err="1">
                <a:solidFill>
                  <a:srgbClr val="FF0000"/>
                </a:solidFill>
              </a:rPr>
              <a:t>iff</a:t>
            </a:r>
            <a:r>
              <a:rPr lang="en-US" altLang="zh-CN" sz="4000" i="1" dirty="0">
                <a:solidFill>
                  <a:srgbClr val="FF0000"/>
                </a:solidFill>
              </a:rPr>
              <a:t> </a:t>
            </a:r>
            <a:r>
              <a:rPr lang="en-US" altLang="zh-CN" sz="4000" dirty="0"/>
              <a:t>there exist positive constants c and n0 such that f(n) ≤ cg(n) for all n ≥ n0</a:t>
            </a:r>
          </a:p>
          <a:p>
            <a:endParaRPr lang="en-US" altLang="zh-CN" sz="4000" dirty="0"/>
          </a:p>
          <a:p>
            <a:r>
              <a:rPr lang="en-US" altLang="zh-CN" sz="4000" dirty="0"/>
              <a:t>O-notation to give an </a:t>
            </a:r>
            <a:r>
              <a:rPr lang="en-US" altLang="zh-CN" sz="4000" dirty="0">
                <a:solidFill>
                  <a:srgbClr val="FF0000"/>
                </a:solidFill>
              </a:rPr>
              <a:t>upper bound </a:t>
            </a:r>
            <a:r>
              <a:rPr lang="en-US" altLang="zh-CN" sz="4000" dirty="0"/>
              <a:t>on a function</a:t>
            </a:r>
          </a:p>
        </p:txBody>
      </p:sp>
      <p:pic>
        <p:nvPicPr>
          <p:cNvPr id="3" name="Picture 3" descr="C:\Documents and Settings\Litao\Desktop\12.jpg">
            <a:extLst>
              <a:ext uri="{FF2B5EF4-FFF2-40B4-BE49-F238E27FC236}">
                <a16:creationId xmlns:a16="http://schemas.microsoft.com/office/drawing/2014/main" id="{3CAFAC92-F9FB-3D8E-A782-783CE1FA56A3}"/>
              </a:ext>
            </a:extLst>
          </p:cNvPr>
          <p:cNvPicPr>
            <a:picLocks noChangeAspect="1" noChangeArrowheads="1"/>
          </p:cNvPicPr>
          <p:nvPr/>
        </p:nvPicPr>
        <p:blipFill>
          <a:blip r:embed="rId5"/>
          <a:srcRect/>
          <a:stretch>
            <a:fillRect/>
          </a:stretch>
        </p:blipFill>
        <p:spPr bwMode="auto">
          <a:xfrm>
            <a:off x="2896905" y="3598951"/>
            <a:ext cx="2897967" cy="2877414"/>
          </a:xfrm>
          <a:prstGeom prst="rect">
            <a:avLst/>
          </a:prstGeom>
          <a:noFill/>
        </p:spPr>
      </p:pic>
    </p:spTree>
    <p:extLst>
      <p:ext uri="{BB962C8B-B14F-4D97-AF65-F5344CB8AC3E}">
        <p14:creationId xmlns:p14="http://schemas.microsoft.com/office/powerpoint/2010/main" val="4288781407"/>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0" y="0"/>
            <a:ext cx="12192000" cy="762000"/>
          </a:xfrm>
          <a:prstGeom prst="rect">
            <a:avLst/>
          </a:prstGeom>
          <a:solidFill>
            <a:srgbClr val="002F7C"/>
          </a:solidFill>
        </p:spPr>
        <p:style>
          <a:lnRef idx="2">
            <a:schemeClr val="dk1">
              <a:shade val="50000"/>
            </a:schemeClr>
          </a:lnRef>
          <a:fillRef idx="1">
            <a:schemeClr val="dk1"/>
          </a:fillRef>
          <a:effectRef idx="0">
            <a:schemeClr val="dk1"/>
          </a:effectRef>
          <a:fontRef idx="minor">
            <a:schemeClr val="lt1"/>
          </a:fontRef>
        </p:style>
        <p:txBody>
          <a:bodyPr rtlCol="0" anchor="ctr"/>
          <a:lstStyle/>
          <a:p>
            <a:r>
              <a:rPr lang="zh-CN" altLang="en-US" sz="2000" b="1" dirty="0">
                <a:latin typeface="Times New Roman" panose="02020603050405020304" pitchFamily="18" charset="0"/>
                <a:ea typeface="宋体" panose="02010600030101010101" pitchFamily="2" charset="-122"/>
                <a:cs typeface="Times New Roman" panose="02020603050405020304" pitchFamily="18" charset="0"/>
              </a:rPr>
              <a:t>                </a:t>
            </a:r>
            <a:r>
              <a:rPr lang="en-US" altLang="zh-CN" sz="2400" b="1" dirty="0">
                <a:latin typeface="Trebuchet MS" panose="020B0603020202020204" pitchFamily="34" charset="0"/>
              </a:rPr>
              <a:t>Chapter 8: </a:t>
            </a:r>
            <a:r>
              <a:rPr lang="en-US" altLang="zh-CN" sz="2400" dirty="0"/>
              <a:t>INTRACTABILITY</a:t>
            </a:r>
            <a:endParaRPr lang="zh-CN" altLang="en-US" sz="2400" b="1" dirty="0">
              <a:solidFill>
                <a:srgbClr val="3D557A"/>
              </a:solidFill>
              <a:latin typeface="Trebuchet MS" panose="020B0603020202020204" pitchFamily="34" charset="0"/>
            </a:endParaRPr>
          </a:p>
        </p:txBody>
      </p:sp>
      <p:sp>
        <p:nvSpPr>
          <p:cNvPr id="13" name="矩形 12"/>
          <p:cNvSpPr/>
          <p:nvPr/>
        </p:nvSpPr>
        <p:spPr>
          <a:xfrm>
            <a:off x="824682" y="0"/>
            <a:ext cx="175443" cy="628650"/>
          </a:xfrm>
          <a:prstGeom prst="rect">
            <a:avLst/>
          </a:prstGeom>
          <a:solidFill>
            <a:srgbClr val="CFA57C"/>
          </a:solidFill>
          <a:ln cmpd="sng">
            <a:gradFill flip="none" rotWithShape="1">
              <a:gsLst>
                <a:gs pos="50000">
                  <a:schemeClr val="accent2">
                    <a:lumMod val="60000"/>
                    <a:lumOff val="40000"/>
                  </a:schemeClr>
                </a:gs>
                <a:gs pos="0">
                  <a:schemeClr val="accent2">
                    <a:lumMod val="20000"/>
                    <a:lumOff val="80000"/>
                  </a:schemeClr>
                </a:gs>
                <a:gs pos="95000">
                  <a:schemeClr val="accent2"/>
                </a:gs>
              </a:gsLst>
              <a:path path="circle">
                <a:fillToRect l="50000" t="-80000" r="50000" b="180000"/>
              </a:path>
              <a:tileRect/>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22" name="Picture 6" descr="D:\MBA工作\LOGO\同济经管LOGO反白.png"/>
          <p:cNvPicPr>
            <a:picLocks noChangeAspect="1" noChangeArrowheads="1"/>
          </p:cNvPicPr>
          <p:nvPr/>
        </p:nvPicPr>
        <p:blipFill>
          <a:blip r:embed="rId3" cstate="email">
            <a:extLst>
              <a:ext uri="{28A0092B-C50C-407E-A947-70E740481C1C}">
                <a14:useLocalDpi xmlns:a14="http://schemas.microsoft.com/office/drawing/2010/main" val="0"/>
              </a:ext>
            </a:extLst>
          </a:blip>
          <a:srcRect/>
          <a:stretch>
            <a:fillRect/>
          </a:stretch>
        </p:blipFill>
        <p:spPr bwMode="auto">
          <a:xfrm>
            <a:off x="10267423" y="165688"/>
            <a:ext cx="1386605" cy="462962"/>
          </a:xfrm>
          <a:prstGeom prst="rect">
            <a:avLst/>
          </a:prstGeom>
          <a:noFill/>
          <a:extLst>
            <a:ext uri="{909E8E84-426E-40DD-AFC4-6F175D3DCCD1}">
              <a14:hiddenFill xmlns:a14="http://schemas.microsoft.com/office/drawing/2010/main">
                <a:solidFill>
                  <a:srgbClr val="FFFFFF"/>
                </a:solidFill>
              </a14:hiddenFill>
            </a:ext>
          </a:extLst>
        </p:spPr>
      </p:pic>
      <p:pic>
        <p:nvPicPr>
          <p:cNvPr id="2" name="图片 1" descr="微信图片_20220318113523"/>
          <p:cNvPicPr>
            <a:picLocks noChangeAspect="1"/>
          </p:cNvPicPr>
          <p:nvPr userDrawn="1"/>
        </p:nvPicPr>
        <p:blipFill>
          <a:blip r:embed="rId4"/>
          <a:stretch>
            <a:fillRect/>
          </a:stretch>
        </p:blipFill>
        <p:spPr>
          <a:xfrm>
            <a:off x="9291877" y="6115050"/>
            <a:ext cx="2244725" cy="361315"/>
          </a:xfrm>
          <a:prstGeom prst="rect">
            <a:avLst/>
          </a:prstGeom>
        </p:spPr>
      </p:pic>
      <p:sp>
        <p:nvSpPr>
          <p:cNvPr id="18" name="Rectangle 2">
            <a:extLst>
              <a:ext uri="{FF2B5EF4-FFF2-40B4-BE49-F238E27FC236}">
                <a16:creationId xmlns:a16="http://schemas.microsoft.com/office/drawing/2014/main" id="{E217C615-1D49-4D07-B850-D36106D7AA9A}"/>
              </a:ext>
            </a:extLst>
          </p:cNvPr>
          <p:cNvSpPr>
            <a:spLocks noChangeArrowheads="1"/>
          </p:cNvSpPr>
          <p:nvPr/>
        </p:nvSpPr>
        <p:spPr bwMode="auto">
          <a:xfrm>
            <a:off x="1000125" y="815365"/>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8" name="Rectangle 3">
            <a:extLst>
              <a:ext uri="{FF2B5EF4-FFF2-40B4-BE49-F238E27FC236}">
                <a16:creationId xmlns:a16="http://schemas.microsoft.com/office/drawing/2014/main" id="{97F08C45-3D15-45C1-A5A3-D1EB58DC91FE}"/>
              </a:ext>
            </a:extLst>
          </p:cNvPr>
          <p:cNvSpPr txBox="1">
            <a:spLocks noChangeArrowheads="1"/>
          </p:cNvSpPr>
          <p:nvPr/>
        </p:nvSpPr>
        <p:spPr>
          <a:xfrm>
            <a:off x="824681" y="765175"/>
            <a:ext cx="8798289" cy="5788025"/>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indent="1828800">
              <a:lnSpc>
                <a:spcPct val="130000"/>
              </a:lnSpc>
              <a:spcBef>
                <a:spcPts val="600"/>
              </a:spcBef>
              <a:buNone/>
            </a:pPr>
            <a:endParaRPr lang="en-US" altLang="zh-CN" sz="2400" b="1" dirty="0">
              <a:latin typeface="Trebuchet MS" panose="020B0603020202020204" pitchFamily="34" charset="0"/>
            </a:endParaRPr>
          </a:p>
        </p:txBody>
      </p:sp>
      <p:sp>
        <p:nvSpPr>
          <p:cNvPr id="4" name="文本框 3">
            <a:extLst>
              <a:ext uri="{FF2B5EF4-FFF2-40B4-BE49-F238E27FC236}">
                <a16:creationId xmlns:a16="http://schemas.microsoft.com/office/drawing/2014/main" id="{4506817E-0E19-E614-7BC6-63A9C854F63D}"/>
              </a:ext>
            </a:extLst>
          </p:cNvPr>
          <p:cNvSpPr txBox="1"/>
          <p:nvPr/>
        </p:nvSpPr>
        <p:spPr>
          <a:xfrm>
            <a:off x="1619480" y="1517440"/>
            <a:ext cx="6103344" cy="369332"/>
          </a:xfrm>
          <a:prstGeom prst="rect">
            <a:avLst/>
          </a:prstGeom>
          <a:noFill/>
        </p:spPr>
        <p:txBody>
          <a:bodyPr wrap="square">
            <a:spAutoFit/>
          </a:bodyPr>
          <a:lstStyle/>
          <a:p>
            <a:pPr>
              <a:spcBef>
                <a:spcPct val="0"/>
              </a:spcBef>
              <a:buFontTx/>
              <a:buNone/>
            </a:pPr>
            <a:r>
              <a:rPr lang="ja-JP" altLang="en-US" dirty="0"/>
              <a:t>“</a:t>
            </a:r>
            <a:r>
              <a:rPr lang="en-US" altLang="ja-JP" dirty="0"/>
              <a:t>Easy</a:t>
            </a:r>
            <a:r>
              <a:rPr lang="ja-JP" altLang="en-US" dirty="0"/>
              <a:t>”</a:t>
            </a:r>
            <a:r>
              <a:rPr lang="en-US" altLang="ja-JP" dirty="0"/>
              <a:t> Problems</a:t>
            </a:r>
            <a:endParaRPr lang="en-US" altLang="en-US" dirty="0">
              <a:latin typeface="Calibri" pitchFamily="34" charset="0"/>
            </a:endParaRPr>
          </a:p>
        </p:txBody>
      </p:sp>
      <p:sp>
        <p:nvSpPr>
          <p:cNvPr id="5" name="Text Box 16">
            <a:extLst>
              <a:ext uri="{FF2B5EF4-FFF2-40B4-BE49-F238E27FC236}">
                <a16:creationId xmlns:a16="http://schemas.microsoft.com/office/drawing/2014/main" id="{0A707E52-90E9-1EAF-9DC1-11540B32490B}"/>
              </a:ext>
            </a:extLst>
          </p:cNvPr>
          <p:cNvSpPr txBox="1">
            <a:spLocks noChangeArrowheads="1"/>
          </p:cNvSpPr>
          <p:nvPr/>
        </p:nvSpPr>
        <p:spPr bwMode="auto">
          <a:xfrm>
            <a:off x="1893250" y="2299127"/>
            <a:ext cx="4887748"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spcBef>
                <a:spcPct val="0"/>
              </a:spcBef>
              <a:buFontTx/>
              <a:buNone/>
            </a:pPr>
            <a:r>
              <a:rPr lang="en-US" altLang="en-US" sz="1800" dirty="0">
                <a:solidFill>
                  <a:srgbClr val="07621A"/>
                </a:solidFill>
                <a:latin typeface="Calibri" pitchFamily="34" charset="0"/>
              </a:rPr>
              <a:t>Sorting a list of n numbers:</a:t>
            </a:r>
            <a:r>
              <a:rPr lang="en-US" altLang="en-US" sz="1800" dirty="0">
                <a:latin typeface="Calibri" pitchFamily="34" charset="0"/>
              </a:rPr>
              <a:t>  [42, 3, 17, 26, … , 100]</a:t>
            </a:r>
          </a:p>
        </p:txBody>
      </p:sp>
      <p:sp>
        <p:nvSpPr>
          <p:cNvPr id="9" name="Text Box 8">
            <a:extLst>
              <a:ext uri="{FF2B5EF4-FFF2-40B4-BE49-F238E27FC236}">
                <a16:creationId xmlns:a16="http://schemas.microsoft.com/office/drawing/2014/main" id="{2F09E66F-A76A-D3EE-57DD-15CB9BCEE961}"/>
              </a:ext>
            </a:extLst>
          </p:cNvPr>
          <p:cNvSpPr txBox="1">
            <a:spLocks noChangeArrowheads="1"/>
          </p:cNvSpPr>
          <p:nvPr/>
        </p:nvSpPr>
        <p:spPr bwMode="auto">
          <a:xfrm>
            <a:off x="1311007" y="3762786"/>
            <a:ext cx="407987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spcBef>
                <a:spcPct val="0"/>
              </a:spcBef>
              <a:buFontTx/>
              <a:buNone/>
            </a:pPr>
            <a:r>
              <a:rPr lang="en-US" altLang="en-US" sz="2400" dirty="0">
                <a:solidFill>
                  <a:srgbClr val="07621A"/>
                </a:solidFill>
                <a:latin typeface="Calibri" pitchFamily="34" charset="0"/>
              </a:rPr>
              <a:t>Multiplying two n x n matrices:</a:t>
            </a:r>
            <a:endParaRPr lang="en-US" altLang="en-US" sz="2400" dirty="0">
              <a:latin typeface="Calibri" pitchFamily="34" charset="0"/>
            </a:endParaRPr>
          </a:p>
        </p:txBody>
      </p:sp>
      <p:sp>
        <p:nvSpPr>
          <p:cNvPr id="10" name="Text Box 9">
            <a:extLst>
              <a:ext uri="{FF2B5EF4-FFF2-40B4-BE49-F238E27FC236}">
                <a16:creationId xmlns:a16="http://schemas.microsoft.com/office/drawing/2014/main" id="{68DD1EF6-7853-2E84-C549-1542A0CB5AE6}"/>
              </a:ext>
            </a:extLst>
          </p:cNvPr>
          <p:cNvSpPr txBox="1">
            <a:spLocks noChangeArrowheads="1"/>
          </p:cNvSpPr>
          <p:nvPr/>
        </p:nvSpPr>
        <p:spPr bwMode="auto">
          <a:xfrm>
            <a:off x="1584325" y="4438650"/>
            <a:ext cx="1243013" cy="1311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itchFamily="34" charset="0"/>
                <a:ea typeface="ＭＳ Ｐゴシック" pitchFamily="-65" charset="-128"/>
              </a:defRPr>
            </a:lvl1pPr>
            <a:lvl2pPr marL="742950" indent="-285750">
              <a:spcBef>
                <a:spcPct val="20000"/>
              </a:spcBef>
              <a:buChar char="–"/>
              <a:defRPr sz="2800">
                <a:solidFill>
                  <a:schemeClr val="tx1"/>
                </a:solidFill>
                <a:latin typeface="Arial" pitchFamily="34" charset="0"/>
                <a:ea typeface="ＭＳ Ｐゴシック" pitchFamily="-65" charset="-128"/>
              </a:defRPr>
            </a:lvl2pPr>
            <a:lvl3pPr marL="1143000" indent="-228600">
              <a:spcBef>
                <a:spcPct val="20000"/>
              </a:spcBef>
              <a:buChar char="•"/>
              <a:defRPr sz="2400">
                <a:solidFill>
                  <a:schemeClr val="tx1"/>
                </a:solidFill>
                <a:latin typeface="Arial" pitchFamily="34" charset="0"/>
                <a:ea typeface="ＭＳ Ｐゴシック" pitchFamily="-65" charset="-128"/>
              </a:defRPr>
            </a:lvl3pPr>
            <a:lvl4pPr marL="1600200" indent="-228600">
              <a:spcBef>
                <a:spcPct val="20000"/>
              </a:spcBef>
              <a:buChar char="–"/>
              <a:defRPr sz="2000">
                <a:solidFill>
                  <a:schemeClr val="tx1"/>
                </a:solidFill>
                <a:latin typeface="Arial" pitchFamily="34" charset="0"/>
                <a:ea typeface="ＭＳ Ｐゴシック" pitchFamily="-65" charset="-128"/>
              </a:defRPr>
            </a:lvl4pPr>
            <a:lvl5pPr marL="2057400" indent="-228600">
              <a:spcBef>
                <a:spcPct val="20000"/>
              </a:spcBef>
              <a:buChar char="»"/>
              <a:defRPr sz="2000">
                <a:solidFill>
                  <a:schemeClr val="tx1"/>
                </a:solidFill>
                <a:latin typeface="Arial" pitchFamily="34" charset="0"/>
                <a:ea typeface="ＭＳ Ｐゴシック" pitchFamily="-65" charset="-128"/>
              </a:defRPr>
            </a:lvl5pPr>
            <a:lvl6pPr marL="2514600" indent="-228600" eaLnBrk="0" fontAlgn="base" hangingPunct="0">
              <a:spcBef>
                <a:spcPct val="20000"/>
              </a:spcBef>
              <a:spcAft>
                <a:spcPct val="0"/>
              </a:spcAft>
              <a:buChar char="»"/>
              <a:defRPr sz="2000">
                <a:solidFill>
                  <a:schemeClr val="tx1"/>
                </a:solidFill>
                <a:latin typeface="Arial" pitchFamily="34" charset="0"/>
                <a:ea typeface="ＭＳ Ｐゴシック" pitchFamily="-65" charset="-128"/>
              </a:defRPr>
            </a:lvl6pPr>
            <a:lvl7pPr marL="2971800" indent="-228600" eaLnBrk="0" fontAlgn="base" hangingPunct="0">
              <a:spcBef>
                <a:spcPct val="20000"/>
              </a:spcBef>
              <a:spcAft>
                <a:spcPct val="0"/>
              </a:spcAft>
              <a:buChar char="»"/>
              <a:defRPr sz="2000">
                <a:solidFill>
                  <a:schemeClr val="tx1"/>
                </a:solidFill>
                <a:latin typeface="Arial" pitchFamily="34" charset="0"/>
                <a:ea typeface="ＭＳ Ｐゴシック" pitchFamily="-65" charset="-128"/>
              </a:defRPr>
            </a:lvl7pPr>
            <a:lvl8pPr marL="3429000" indent="-228600" eaLnBrk="0" fontAlgn="base" hangingPunct="0">
              <a:spcBef>
                <a:spcPct val="20000"/>
              </a:spcBef>
              <a:spcAft>
                <a:spcPct val="0"/>
              </a:spcAft>
              <a:buChar char="»"/>
              <a:defRPr sz="2000">
                <a:solidFill>
                  <a:schemeClr val="tx1"/>
                </a:solidFill>
                <a:latin typeface="Arial" pitchFamily="34" charset="0"/>
                <a:ea typeface="ＭＳ Ｐゴシック" pitchFamily="-65" charset="-128"/>
              </a:defRPr>
            </a:lvl8pPr>
            <a:lvl9pPr marL="3886200" indent="-228600" eaLnBrk="0" fontAlgn="base" hangingPunct="0">
              <a:spcBef>
                <a:spcPct val="20000"/>
              </a:spcBef>
              <a:spcAft>
                <a:spcPct val="0"/>
              </a:spcAft>
              <a:buChar char="»"/>
              <a:defRPr sz="2000">
                <a:solidFill>
                  <a:schemeClr val="tx1"/>
                </a:solidFill>
                <a:latin typeface="Arial" pitchFamily="34" charset="0"/>
                <a:ea typeface="ＭＳ Ｐゴシック" pitchFamily="-65" charset="-128"/>
              </a:defRPr>
            </a:lvl9pPr>
          </a:lstStyle>
          <a:p>
            <a:pPr>
              <a:spcBef>
                <a:spcPct val="0"/>
              </a:spcBef>
              <a:buFontTx/>
              <a:buNone/>
            </a:pPr>
            <a:r>
              <a:rPr lang="en-US" altLang="en-US" sz="2000" dirty="0">
                <a:latin typeface="Calibri" pitchFamily="34" charset="0"/>
              </a:rPr>
              <a:t>3  5  2  7</a:t>
            </a:r>
          </a:p>
          <a:p>
            <a:pPr>
              <a:spcBef>
                <a:spcPct val="0"/>
              </a:spcBef>
              <a:buFontTx/>
              <a:buNone/>
            </a:pPr>
            <a:r>
              <a:rPr lang="en-US" altLang="en-US" sz="2000" dirty="0">
                <a:latin typeface="Calibri" pitchFamily="34" charset="0"/>
              </a:rPr>
              <a:t>1  6  8  9</a:t>
            </a:r>
          </a:p>
          <a:p>
            <a:pPr>
              <a:spcBef>
                <a:spcPct val="0"/>
              </a:spcBef>
              <a:buFontTx/>
              <a:buNone/>
            </a:pPr>
            <a:r>
              <a:rPr lang="en-US" altLang="en-US" sz="2000" dirty="0">
                <a:latin typeface="Calibri" pitchFamily="34" charset="0"/>
              </a:rPr>
              <a:t>2  4  6 10</a:t>
            </a:r>
          </a:p>
          <a:p>
            <a:pPr>
              <a:spcBef>
                <a:spcPct val="0"/>
              </a:spcBef>
              <a:buFontTx/>
              <a:buNone/>
            </a:pPr>
            <a:r>
              <a:rPr lang="en-US" altLang="en-US" sz="2000" dirty="0">
                <a:latin typeface="Calibri" pitchFamily="34" charset="0"/>
              </a:rPr>
              <a:t>9  3  2 12</a:t>
            </a:r>
            <a:endParaRPr lang="en-US" altLang="en-US" sz="2400" dirty="0">
              <a:latin typeface="Calibri" pitchFamily="34" charset="0"/>
            </a:endParaRPr>
          </a:p>
        </p:txBody>
      </p:sp>
      <p:sp>
        <p:nvSpPr>
          <p:cNvPr id="11" name="Text Box 10">
            <a:extLst>
              <a:ext uri="{FF2B5EF4-FFF2-40B4-BE49-F238E27FC236}">
                <a16:creationId xmlns:a16="http://schemas.microsoft.com/office/drawing/2014/main" id="{5E95E2E3-97AE-C8B5-2B2C-E32E6CAEFF30}"/>
              </a:ext>
            </a:extLst>
          </p:cNvPr>
          <p:cNvSpPr txBox="1">
            <a:spLocks noChangeArrowheads="1"/>
          </p:cNvSpPr>
          <p:nvPr/>
        </p:nvSpPr>
        <p:spPr bwMode="auto">
          <a:xfrm>
            <a:off x="1066800" y="4235450"/>
            <a:ext cx="762000" cy="1555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itchFamily="34" charset="0"/>
                <a:ea typeface="ＭＳ Ｐゴシック" pitchFamily="-65" charset="-128"/>
              </a:defRPr>
            </a:lvl1pPr>
            <a:lvl2pPr marL="742950" indent="-285750">
              <a:spcBef>
                <a:spcPct val="20000"/>
              </a:spcBef>
              <a:buChar char="–"/>
              <a:defRPr sz="2800">
                <a:solidFill>
                  <a:schemeClr val="tx1"/>
                </a:solidFill>
                <a:latin typeface="Arial" pitchFamily="34" charset="0"/>
                <a:ea typeface="ＭＳ Ｐゴシック" pitchFamily="-65" charset="-128"/>
              </a:defRPr>
            </a:lvl2pPr>
            <a:lvl3pPr marL="1143000" indent="-228600">
              <a:spcBef>
                <a:spcPct val="20000"/>
              </a:spcBef>
              <a:buChar char="•"/>
              <a:defRPr sz="2400">
                <a:solidFill>
                  <a:schemeClr val="tx1"/>
                </a:solidFill>
                <a:latin typeface="Arial" pitchFamily="34" charset="0"/>
                <a:ea typeface="ＭＳ Ｐゴシック" pitchFamily="-65" charset="-128"/>
              </a:defRPr>
            </a:lvl3pPr>
            <a:lvl4pPr marL="1600200" indent="-228600">
              <a:spcBef>
                <a:spcPct val="20000"/>
              </a:spcBef>
              <a:buChar char="–"/>
              <a:defRPr sz="2000">
                <a:solidFill>
                  <a:schemeClr val="tx1"/>
                </a:solidFill>
                <a:latin typeface="Arial" pitchFamily="34" charset="0"/>
                <a:ea typeface="ＭＳ Ｐゴシック" pitchFamily="-65" charset="-128"/>
              </a:defRPr>
            </a:lvl4pPr>
            <a:lvl5pPr marL="2057400" indent="-228600">
              <a:spcBef>
                <a:spcPct val="20000"/>
              </a:spcBef>
              <a:buChar char="»"/>
              <a:defRPr sz="2000">
                <a:solidFill>
                  <a:schemeClr val="tx1"/>
                </a:solidFill>
                <a:latin typeface="Arial" pitchFamily="34" charset="0"/>
                <a:ea typeface="ＭＳ Ｐゴシック" pitchFamily="-65" charset="-128"/>
              </a:defRPr>
            </a:lvl5pPr>
            <a:lvl6pPr marL="2514600" indent="-228600" eaLnBrk="0" fontAlgn="base" hangingPunct="0">
              <a:spcBef>
                <a:spcPct val="20000"/>
              </a:spcBef>
              <a:spcAft>
                <a:spcPct val="0"/>
              </a:spcAft>
              <a:buChar char="»"/>
              <a:defRPr sz="2000">
                <a:solidFill>
                  <a:schemeClr val="tx1"/>
                </a:solidFill>
                <a:latin typeface="Arial" pitchFamily="34" charset="0"/>
                <a:ea typeface="ＭＳ Ｐゴシック" pitchFamily="-65" charset="-128"/>
              </a:defRPr>
            </a:lvl6pPr>
            <a:lvl7pPr marL="2971800" indent="-228600" eaLnBrk="0" fontAlgn="base" hangingPunct="0">
              <a:spcBef>
                <a:spcPct val="20000"/>
              </a:spcBef>
              <a:spcAft>
                <a:spcPct val="0"/>
              </a:spcAft>
              <a:buChar char="»"/>
              <a:defRPr sz="2000">
                <a:solidFill>
                  <a:schemeClr val="tx1"/>
                </a:solidFill>
                <a:latin typeface="Arial" pitchFamily="34" charset="0"/>
                <a:ea typeface="ＭＳ Ｐゴシック" pitchFamily="-65" charset="-128"/>
              </a:defRPr>
            </a:lvl7pPr>
            <a:lvl8pPr marL="3429000" indent="-228600" eaLnBrk="0" fontAlgn="base" hangingPunct="0">
              <a:spcBef>
                <a:spcPct val="20000"/>
              </a:spcBef>
              <a:spcAft>
                <a:spcPct val="0"/>
              </a:spcAft>
              <a:buChar char="»"/>
              <a:defRPr sz="2000">
                <a:solidFill>
                  <a:schemeClr val="tx1"/>
                </a:solidFill>
                <a:latin typeface="Arial" pitchFamily="34" charset="0"/>
                <a:ea typeface="ＭＳ Ｐゴシック" pitchFamily="-65" charset="-128"/>
              </a:defRPr>
            </a:lvl8pPr>
            <a:lvl9pPr marL="3886200" indent="-228600" eaLnBrk="0" fontAlgn="base" hangingPunct="0">
              <a:spcBef>
                <a:spcPct val="20000"/>
              </a:spcBef>
              <a:spcAft>
                <a:spcPct val="0"/>
              </a:spcAft>
              <a:buChar char="»"/>
              <a:defRPr sz="2000">
                <a:solidFill>
                  <a:schemeClr val="tx1"/>
                </a:solidFill>
                <a:latin typeface="Arial" pitchFamily="34" charset="0"/>
                <a:ea typeface="ＭＳ Ｐゴシック" pitchFamily="-65" charset="-128"/>
              </a:defRPr>
            </a:lvl9pPr>
          </a:lstStyle>
          <a:p>
            <a:pPr>
              <a:spcBef>
                <a:spcPct val="50000"/>
              </a:spcBef>
              <a:buFontTx/>
              <a:buNone/>
            </a:pPr>
            <a:r>
              <a:rPr lang="en-US" altLang="en-US" sz="9600" dirty="0">
                <a:latin typeface="Calibri" pitchFamily="34" charset="0"/>
              </a:rPr>
              <a:t>(</a:t>
            </a:r>
          </a:p>
        </p:txBody>
      </p:sp>
      <p:sp>
        <p:nvSpPr>
          <p:cNvPr id="12" name="Text Box 11">
            <a:extLst>
              <a:ext uri="{FF2B5EF4-FFF2-40B4-BE49-F238E27FC236}">
                <a16:creationId xmlns:a16="http://schemas.microsoft.com/office/drawing/2014/main" id="{A8AE3369-34CC-1729-7A40-6507E7265163}"/>
              </a:ext>
            </a:extLst>
          </p:cNvPr>
          <p:cNvSpPr txBox="1">
            <a:spLocks noChangeArrowheads="1"/>
          </p:cNvSpPr>
          <p:nvPr/>
        </p:nvSpPr>
        <p:spPr bwMode="auto">
          <a:xfrm>
            <a:off x="2667000" y="4235450"/>
            <a:ext cx="184150" cy="1555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itchFamily="34" charset="0"/>
                <a:ea typeface="ＭＳ Ｐゴシック" pitchFamily="-65" charset="-128"/>
              </a:defRPr>
            </a:lvl1pPr>
            <a:lvl2pPr marL="742950" indent="-285750">
              <a:spcBef>
                <a:spcPct val="20000"/>
              </a:spcBef>
              <a:buChar char="–"/>
              <a:defRPr sz="2800">
                <a:solidFill>
                  <a:schemeClr val="tx1"/>
                </a:solidFill>
                <a:latin typeface="Arial" pitchFamily="34" charset="0"/>
                <a:ea typeface="ＭＳ Ｐゴシック" pitchFamily="-65" charset="-128"/>
              </a:defRPr>
            </a:lvl2pPr>
            <a:lvl3pPr marL="1143000" indent="-228600">
              <a:spcBef>
                <a:spcPct val="20000"/>
              </a:spcBef>
              <a:buChar char="•"/>
              <a:defRPr sz="2400">
                <a:solidFill>
                  <a:schemeClr val="tx1"/>
                </a:solidFill>
                <a:latin typeface="Arial" pitchFamily="34" charset="0"/>
                <a:ea typeface="ＭＳ Ｐゴシック" pitchFamily="-65" charset="-128"/>
              </a:defRPr>
            </a:lvl3pPr>
            <a:lvl4pPr marL="1600200" indent="-228600">
              <a:spcBef>
                <a:spcPct val="20000"/>
              </a:spcBef>
              <a:buChar char="–"/>
              <a:defRPr sz="2000">
                <a:solidFill>
                  <a:schemeClr val="tx1"/>
                </a:solidFill>
                <a:latin typeface="Arial" pitchFamily="34" charset="0"/>
                <a:ea typeface="ＭＳ Ｐゴシック" pitchFamily="-65" charset="-128"/>
              </a:defRPr>
            </a:lvl4pPr>
            <a:lvl5pPr marL="2057400" indent="-228600">
              <a:spcBef>
                <a:spcPct val="20000"/>
              </a:spcBef>
              <a:buChar char="»"/>
              <a:defRPr sz="2000">
                <a:solidFill>
                  <a:schemeClr val="tx1"/>
                </a:solidFill>
                <a:latin typeface="Arial" pitchFamily="34" charset="0"/>
                <a:ea typeface="ＭＳ Ｐゴシック" pitchFamily="-65" charset="-128"/>
              </a:defRPr>
            </a:lvl5pPr>
            <a:lvl6pPr marL="2514600" indent="-228600" eaLnBrk="0" fontAlgn="base" hangingPunct="0">
              <a:spcBef>
                <a:spcPct val="20000"/>
              </a:spcBef>
              <a:spcAft>
                <a:spcPct val="0"/>
              </a:spcAft>
              <a:buChar char="»"/>
              <a:defRPr sz="2000">
                <a:solidFill>
                  <a:schemeClr val="tx1"/>
                </a:solidFill>
                <a:latin typeface="Arial" pitchFamily="34" charset="0"/>
                <a:ea typeface="ＭＳ Ｐゴシック" pitchFamily="-65" charset="-128"/>
              </a:defRPr>
            </a:lvl6pPr>
            <a:lvl7pPr marL="2971800" indent="-228600" eaLnBrk="0" fontAlgn="base" hangingPunct="0">
              <a:spcBef>
                <a:spcPct val="20000"/>
              </a:spcBef>
              <a:spcAft>
                <a:spcPct val="0"/>
              </a:spcAft>
              <a:buChar char="»"/>
              <a:defRPr sz="2000">
                <a:solidFill>
                  <a:schemeClr val="tx1"/>
                </a:solidFill>
                <a:latin typeface="Arial" pitchFamily="34" charset="0"/>
                <a:ea typeface="ＭＳ Ｐゴシック" pitchFamily="-65" charset="-128"/>
              </a:defRPr>
            </a:lvl7pPr>
            <a:lvl8pPr marL="3429000" indent="-228600" eaLnBrk="0" fontAlgn="base" hangingPunct="0">
              <a:spcBef>
                <a:spcPct val="20000"/>
              </a:spcBef>
              <a:spcAft>
                <a:spcPct val="0"/>
              </a:spcAft>
              <a:buChar char="»"/>
              <a:defRPr sz="2000">
                <a:solidFill>
                  <a:schemeClr val="tx1"/>
                </a:solidFill>
                <a:latin typeface="Arial" pitchFamily="34" charset="0"/>
                <a:ea typeface="ＭＳ Ｐゴシック" pitchFamily="-65" charset="-128"/>
              </a:defRPr>
            </a:lvl8pPr>
            <a:lvl9pPr marL="3886200" indent="-228600" eaLnBrk="0" fontAlgn="base" hangingPunct="0">
              <a:spcBef>
                <a:spcPct val="20000"/>
              </a:spcBef>
              <a:spcAft>
                <a:spcPct val="0"/>
              </a:spcAft>
              <a:buChar char="»"/>
              <a:defRPr sz="2000">
                <a:solidFill>
                  <a:schemeClr val="tx1"/>
                </a:solidFill>
                <a:latin typeface="Arial" pitchFamily="34" charset="0"/>
                <a:ea typeface="ＭＳ Ｐゴシック" pitchFamily="-65" charset="-128"/>
              </a:defRPr>
            </a:lvl9pPr>
          </a:lstStyle>
          <a:p>
            <a:pPr>
              <a:spcBef>
                <a:spcPct val="50000"/>
              </a:spcBef>
              <a:buFontTx/>
              <a:buNone/>
            </a:pPr>
            <a:r>
              <a:rPr lang="en-US" altLang="en-US" sz="9600" dirty="0">
                <a:latin typeface="Calibri" pitchFamily="34" charset="0"/>
              </a:rPr>
              <a:t>)</a:t>
            </a:r>
          </a:p>
        </p:txBody>
      </p:sp>
      <p:sp>
        <p:nvSpPr>
          <p:cNvPr id="14" name="Text Box 12">
            <a:extLst>
              <a:ext uri="{FF2B5EF4-FFF2-40B4-BE49-F238E27FC236}">
                <a16:creationId xmlns:a16="http://schemas.microsoft.com/office/drawing/2014/main" id="{D7C99B27-2C14-C2D7-6DF6-7B4533C7779D}"/>
              </a:ext>
            </a:extLst>
          </p:cNvPr>
          <p:cNvSpPr txBox="1">
            <a:spLocks noChangeArrowheads="1"/>
          </p:cNvSpPr>
          <p:nvPr/>
        </p:nvSpPr>
        <p:spPr bwMode="auto">
          <a:xfrm>
            <a:off x="3686175" y="4438650"/>
            <a:ext cx="1173163" cy="1311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itchFamily="34" charset="0"/>
                <a:ea typeface="ＭＳ Ｐゴシック" pitchFamily="-65" charset="-128"/>
              </a:defRPr>
            </a:lvl1pPr>
            <a:lvl2pPr marL="742950" indent="-285750">
              <a:spcBef>
                <a:spcPct val="20000"/>
              </a:spcBef>
              <a:buChar char="–"/>
              <a:defRPr sz="2800">
                <a:solidFill>
                  <a:schemeClr val="tx1"/>
                </a:solidFill>
                <a:latin typeface="Arial" pitchFamily="34" charset="0"/>
                <a:ea typeface="ＭＳ Ｐゴシック" pitchFamily="-65" charset="-128"/>
              </a:defRPr>
            </a:lvl2pPr>
            <a:lvl3pPr marL="1143000" indent="-228600">
              <a:spcBef>
                <a:spcPct val="20000"/>
              </a:spcBef>
              <a:buChar char="•"/>
              <a:defRPr sz="2400">
                <a:solidFill>
                  <a:schemeClr val="tx1"/>
                </a:solidFill>
                <a:latin typeface="Arial" pitchFamily="34" charset="0"/>
                <a:ea typeface="ＭＳ Ｐゴシック" pitchFamily="-65" charset="-128"/>
              </a:defRPr>
            </a:lvl3pPr>
            <a:lvl4pPr marL="1600200" indent="-228600">
              <a:spcBef>
                <a:spcPct val="20000"/>
              </a:spcBef>
              <a:buChar char="–"/>
              <a:defRPr sz="2000">
                <a:solidFill>
                  <a:schemeClr val="tx1"/>
                </a:solidFill>
                <a:latin typeface="Arial" pitchFamily="34" charset="0"/>
                <a:ea typeface="ＭＳ Ｐゴシック" pitchFamily="-65" charset="-128"/>
              </a:defRPr>
            </a:lvl4pPr>
            <a:lvl5pPr marL="2057400" indent="-228600">
              <a:spcBef>
                <a:spcPct val="20000"/>
              </a:spcBef>
              <a:buChar char="»"/>
              <a:defRPr sz="2000">
                <a:solidFill>
                  <a:schemeClr val="tx1"/>
                </a:solidFill>
                <a:latin typeface="Arial" pitchFamily="34" charset="0"/>
                <a:ea typeface="ＭＳ Ｐゴシック" pitchFamily="-65" charset="-128"/>
              </a:defRPr>
            </a:lvl5pPr>
            <a:lvl6pPr marL="2514600" indent="-228600" eaLnBrk="0" fontAlgn="base" hangingPunct="0">
              <a:spcBef>
                <a:spcPct val="20000"/>
              </a:spcBef>
              <a:spcAft>
                <a:spcPct val="0"/>
              </a:spcAft>
              <a:buChar char="»"/>
              <a:defRPr sz="2000">
                <a:solidFill>
                  <a:schemeClr val="tx1"/>
                </a:solidFill>
                <a:latin typeface="Arial" pitchFamily="34" charset="0"/>
                <a:ea typeface="ＭＳ Ｐゴシック" pitchFamily="-65" charset="-128"/>
              </a:defRPr>
            </a:lvl6pPr>
            <a:lvl7pPr marL="2971800" indent="-228600" eaLnBrk="0" fontAlgn="base" hangingPunct="0">
              <a:spcBef>
                <a:spcPct val="20000"/>
              </a:spcBef>
              <a:spcAft>
                <a:spcPct val="0"/>
              </a:spcAft>
              <a:buChar char="»"/>
              <a:defRPr sz="2000">
                <a:solidFill>
                  <a:schemeClr val="tx1"/>
                </a:solidFill>
                <a:latin typeface="Arial" pitchFamily="34" charset="0"/>
                <a:ea typeface="ＭＳ Ｐゴシック" pitchFamily="-65" charset="-128"/>
              </a:defRPr>
            </a:lvl7pPr>
            <a:lvl8pPr marL="3429000" indent="-228600" eaLnBrk="0" fontAlgn="base" hangingPunct="0">
              <a:spcBef>
                <a:spcPct val="20000"/>
              </a:spcBef>
              <a:spcAft>
                <a:spcPct val="0"/>
              </a:spcAft>
              <a:buChar char="»"/>
              <a:defRPr sz="2000">
                <a:solidFill>
                  <a:schemeClr val="tx1"/>
                </a:solidFill>
                <a:latin typeface="Arial" pitchFamily="34" charset="0"/>
                <a:ea typeface="ＭＳ Ｐゴシック" pitchFamily="-65" charset="-128"/>
              </a:defRPr>
            </a:lvl8pPr>
            <a:lvl9pPr marL="3886200" indent="-228600" eaLnBrk="0" fontAlgn="base" hangingPunct="0">
              <a:spcBef>
                <a:spcPct val="20000"/>
              </a:spcBef>
              <a:spcAft>
                <a:spcPct val="0"/>
              </a:spcAft>
              <a:buChar char="»"/>
              <a:defRPr sz="2000">
                <a:solidFill>
                  <a:schemeClr val="tx1"/>
                </a:solidFill>
                <a:latin typeface="Arial" pitchFamily="34" charset="0"/>
                <a:ea typeface="ＭＳ Ｐゴシック" pitchFamily="-65" charset="-128"/>
              </a:defRPr>
            </a:lvl9pPr>
          </a:lstStyle>
          <a:p>
            <a:pPr>
              <a:spcBef>
                <a:spcPct val="0"/>
              </a:spcBef>
              <a:buFontTx/>
              <a:buNone/>
            </a:pPr>
            <a:r>
              <a:rPr lang="en-US" altLang="en-US" sz="2000" dirty="0">
                <a:latin typeface="Calibri" pitchFamily="34" charset="0"/>
              </a:rPr>
              <a:t>1  5  5  4</a:t>
            </a:r>
          </a:p>
          <a:p>
            <a:pPr>
              <a:spcBef>
                <a:spcPct val="0"/>
              </a:spcBef>
              <a:buFontTx/>
              <a:buNone/>
            </a:pPr>
            <a:r>
              <a:rPr lang="en-US" altLang="en-US" sz="2000" dirty="0">
                <a:latin typeface="Calibri" pitchFamily="34" charset="0"/>
              </a:rPr>
              <a:t>5 12 8  6</a:t>
            </a:r>
          </a:p>
          <a:p>
            <a:pPr>
              <a:spcBef>
                <a:spcPct val="0"/>
              </a:spcBef>
              <a:buFontTx/>
              <a:buNone/>
            </a:pPr>
            <a:r>
              <a:rPr lang="en-US" altLang="en-US" sz="2000" dirty="0">
                <a:latin typeface="Calibri" pitchFamily="34" charset="0"/>
              </a:rPr>
              <a:t>7  6  1  5</a:t>
            </a:r>
          </a:p>
          <a:p>
            <a:pPr>
              <a:spcBef>
                <a:spcPct val="0"/>
              </a:spcBef>
              <a:buFontTx/>
              <a:buNone/>
            </a:pPr>
            <a:r>
              <a:rPr lang="en-US" altLang="en-US" sz="2000" dirty="0">
                <a:latin typeface="Calibri" pitchFamily="34" charset="0"/>
              </a:rPr>
              <a:t>9 23 5  8</a:t>
            </a:r>
            <a:endParaRPr lang="en-US" altLang="en-US" sz="2400" dirty="0">
              <a:latin typeface="Calibri" pitchFamily="34" charset="0"/>
            </a:endParaRPr>
          </a:p>
        </p:txBody>
      </p:sp>
      <p:sp>
        <p:nvSpPr>
          <p:cNvPr id="15" name="Text Box 13">
            <a:extLst>
              <a:ext uri="{FF2B5EF4-FFF2-40B4-BE49-F238E27FC236}">
                <a16:creationId xmlns:a16="http://schemas.microsoft.com/office/drawing/2014/main" id="{49897606-CB3B-E28C-5795-5537D3617165}"/>
              </a:ext>
            </a:extLst>
          </p:cNvPr>
          <p:cNvSpPr txBox="1">
            <a:spLocks noChangeArrowheads="1"/>
          </p:cNvSpPr>
          <p:nvPr/>
        </p:nvSpPr>
        <p:spPr bwMode="auto">
          <a:xfrm>
            <a:off x="3124200" y="4235450"/>
            <a:ext cx="762000" cy="1555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itchFamily="34" charset="0"/>
                <a:ea typeface="ＭＳ Ｐゴシック" pitchFamily="-65" charset="-128"/>
              </a:defRPr>
            </a:lvl1pPr>
            <a:lvl2pPr marL="742950" indent="-285750">
              <a:spcBef>
                <a:spcPct val="20000"/>
              </a:spcBef>
              <a:buChar char="–"/>
              <a:defRPr sz="2800">
                <a:solidFill>
                  <a:schemeClr val="tx1"/>
                </a:solidFill>
                <a:latin typeface="Arial" pitchFamily="34" charset="0"/>
                <a:ea typeface="ＭＳ Ｐゴシック" pitchFamily="-65" charset="-128"/>
              </a:defRPr>
            </a:lvl2pPr>
            <a:lvl3pPr marL="1143000" indent="-228600">
              <a:spcBef>
                <a:spcPct val="20000"/>
              </a:spcBef>
              <a:buChar char="•"/>
              <a:defRPr sz="2400">
                <a:solidFill>
                  <a:schemeClr val="tx1"/>
                </a:solidFill>
                <a:latin typeface="Arial" pitchFamily="34" charset="0"/>
                <a:ea typeface="ＭＳ Ｐゴシック" pitchFamily="-65" charset="-128"/>
              </a:defRPr>
            </a:lvl3pPr>
            <a:lvl4pPr marL="1600200" indent="-228600">
              <a:spcBef>
                <a:spcPct val="20000"/>
              </a:spcBef>
              <a:buChar char="–"/>
              <a:defRPr sz="2000">
                <a:solidFill>
                  <a:schemeClr val="tx1"/>
                </a:solidFill>
                <a:latin typeface="Arial" pitchFamily="34" charset="0"/>
                <a:ea typeface="ＭＳ Ｐゴシック" pitchFamily="-65" charset="-128"/>
              </a:defRPr>
            </a:lvl4pPr>
            <a:lvl5pPr marL="2057400" indent="-228600">
              <a:spcBef>
                <a:spcPct val="20000"/>
              </a:spcBef>
              <a:buChar char="»"/>
              <a:defRPr sz="2000">
                <a:solidFill>
                  <a:schemeClr val="tx1"/>
                </a:solidFill>
                <a:latin typeface="Arial" pitchFamily="34" charset="0"/>
                <a:ea typeface="ＭＳ Ｐゴシック" pitchFamily="-65" charset="-128"/>
              </a:defRPr>
            </a:lvl5pPr>
            <a:lvl6pPr marL="2514600" indent="-228600" eaLnBrk="0" fontAlgn="base" hangingPunct="0">
              <a:spcBef>
                <a:spcPct val="20000"/>
              </a:spcBef>
              <a:spcAft>
                <a:spcPct val="0"/>
              </a:spcAft>
              <a:buChar char="»"/>
              <a:defRPr sz="2000">
                <a:solidFill>
                  <a:schemeClr val="tx1"/>
                </a:solidFill>
                <a:latin typeface="Arial" pitchFamily="34" charset="0"/>
                <a:ea typeface="ＭＳ Ｐゴシック" pitchFamily="-65" charset="-128"/>
              </a:defRPr>
            </a:lvl6pPr>
            <a:lvl7pPr marL="2971800" indent="-228600" eaLnBrk="0" fontAlgn="base" hangingPunct="0">
              <a:spcBef>
                <a:spcPct val="20000"/>
              </a:spcBef>
              <a:spcAft>
                <a:spcPct val="0"/>
              </a:spcAft>
              <a:buChar char="»"/>
              <a:defRPr sz="2000">
                <a:solidFill>
                  <a:schemeClr val="tx1"/>
                </a:solidFill>
                <a:latin typeface="Arial" pitchFamily="34" charset="0"/>
                <a:ea typeface="ＭＳ Ｐゴシック" pitchFamily="-65" charset="-128"/>
              </a:defRPr>
            </a:lvl7pPr>
            <a:lvl8pPr marL="3429000" indent="-228600" eaLnBrk="0" fontAlgn="base" hangingPunct="0">
              <a:spcBef>
                <a:spcPct val="20000"/>
              </a:spcBef>
              <a:spcAft>
                <a:spcPct val="0"/>
              </a:spcAft>
              <a:buChar char="»"/>
              <a:defRPr sz="2000">
                <a:solidFill>
                  <a:schemeClr val="tx1"/>
                </a:solidFill>
                <a:latin typeface="Arial" pitchFamily="34" charset="0"/>
                <a:ea typeface="ＭＳ Ｐゴシック" pitchFamily="-65" charset="-128"/>
              </a:defRPr>
            </a:lvl8pPr>
            <a:lvl9pPr marL="3886200" indent="-228600" eaLnBrk="0" fontAlgn="base" hangingPunct="0">
              <a:spcBef>
                <a:spcPct val="20000"/>
              </a:spcBef>
              <a:spcAft>
                <a:spcPct val="0"/>
              </a:spcAft>
              <a:buChar char="»"/>
              <a:defRPr sz="2000">
                <a:solidFill>
                  <a:schemeClr val="tx1"/>
                </a:solidFill>
                <a:latin typeface="Arial" pitchFamily="34" charset="0"/>
                <a:ea typeface="ＭＳ Ｐゴシック" pitchFamily="-65" charset="-128"/>
              </a:defRPr>
            </a:lvl9pPr>
          </a:lstStyle>
          <a:p>
            <a:pPr>
              <a:spcBef>
                <a:spcPct val="50000"/>
              </a:spcBef>
              <a:buFontTx/>
              <a:buNone/>
            </a:pPr>
            <a:r>
              <a:rPr lang="en-US" altLang="en-US" sz="9600" dirty="0">
                <a:latin typeface="Calibri" pitchFamily="34" charset="0"/>
              </a:rPr>
              <a:t>(</a:t>
            </a:r>
          </a:p>
        </p:txBody>
      </p:sp>
      <p:sp>
        <p:nvSpPr>
          <p:cNvPr id="16" name="Text Box 14">
            <a:extLst>
              <a:ext uri="{FF2B5EF4-FFF2-40B4-BE49-F238E27FC236}">
                <a16:creationId xmlns:a16="http://schemas.microsoft.com/office/drawing/2014/main" id="{DDB07099-2212-0310-8302-463FD262F419}"/>
              </a:ext>
            </a:extLst>
          </p:cNvPr>
          <p:cNvSpPr txBox="1">
            <a:spLocks noChangeArrowheads="1"/>
          </p:cNvSpPr>
          <p:nvPr/>
        </p:nvSpPr>
        <p:spPr bwMode="auto">
          <a:xfrm>
            <a:off x="4724400" y="4235450"/>
            <a:ext cx="184150" cy="1555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itchFamily="34" charset="0"/>
                <a:ea typeface="ＭＳ Ｐゴシック" pitchFamily="-65" charset="-128"/>
              </a:defRPr>
            </a:lvl1pPr>
            <a:lvl2pPr marL="742950" indent="-285750">
              <a:spcBef>
                <a:spcPct val="20000"/>
              </a:spcBef>
              <a:buChar char="–"/>
              <a:defRPr sz="2800">
                <a:solidFill>
                  <a:schemeClr val="tx1"/>
                </a:solidFill>
                <a:latin typeface="Arial" pitchFamily="34" charset="0"/>
                <a:ea typeface="ＭＳ Ｐゴシック" pitchFamily="-65" charset="-128"/>
              </a:defRPr>
            </a:lvl2pPr>
            <a:lvl3pPr marL="1143000" indent="-228600">
              <a:spcBef>
                <a:spcPct val="20000"/>
              </a:spcBef>
              <a:buChar char="•"/>
              <a:defRPr sz="2400">
                <a:solidFill>
                  <a:schemeClr val="tx1"/>
                </a:solidFill>
                <a:latin typeface="Arial" pitchFamily="34" charset="0"/>
                <a:ea typeface="ＭＳ Ｐゴシック" pitchFamily="-65" charset="-128"/>
              </a:defRPr>
            </a:lvl3pPr>
            <a:lvl4pPr marL="1600200" indent="-228600">
              <a:spcBef>
                <a:spcPct val="20000"/>
              </a:spcBef>
              <a:buChar char="–"/>
              <a:defRPr sz="2000">
                <a:solidFill>
                  <a:schemeClr val="tx1"/>
                </a:solidFill>
                <a:latin typeface="Arial" pitchFamily="34" charset="0"/>
                <a:ea typeface="ＭＳ Ｐゴシック" pitchFamily="-65" charset="-128"/>
              </a:defRPr>
            </a:lvl4pPr>
            <a:lvl5pPr marL="2057400" indent="-228600">
              <a:spcBef>
                <a:spcPct val="20000"/>
              </a:spcBef>
              <a:buChar char="»"/>
              <a:defRPr sz="2000">
                <a:solidFill>
                  <a:schemeClr val="tx1"/>
                </a:solidFill>
                <a:latin typeface="Arial" pitchFamily="34" charset="0"/>
                <a:ea typeface="ＭＳ Ｐゴシック" pitchFamily="-65" charset="-128"/>
              </a:defRPr>
            </a:lvl5pPr>
            <a:lvl6pPr marL="2514600" indent="-228600" eaLnBrk="0" fontAlgn="base" hangingPunct="0">
              <a:spcBef>
                <a:spcPct val="20000"/>
              </a:spcBef>
              <a:spcAft>
                <a:spcPct val="0"/>
              </a:spcAft>
              <a:buChar char="»"/>
              <a:defRPr sz="2000">
                <a:solidFill>
                  <a:schemeClr val="tx1"/>
                </a:solidFill>
                <a:latin typeface="Arial" pitchFamily="34" charset="0"/>
                <a:ea typeface="ＭＳ Ｐゴシック" pitchFamily="-65" charset="-128"/>
              </a:defRPr>
            </a:lvl6pPr>
            <a:lvl7pPr marL="2971800" indent="-228600" eaLnBrk="0" fontAlgn="base" hangingPunct="0">
              <a:spcBef>
                <a:spcPct val="20000"/>
              </a:spcBef>
              <a:spcAft>
                <a:spcPct val="0"/>
              </a:spcAft>
              <a:buChar char="»"/>
              <a:defRPr sz="2000">
                <a:solidFill>
                  <a:schemeClr val="tx1"/>
                </a:solidFill>
                <a:latin typeface="Arial" pitchFamily="34" charset="0"/>
                <a:ea typeface="ＭＳ Ｐゴシック" pitchFamily="-65" charset="-128"/>
              </a:defRPr>
            </a:lvl7pPr>
            <a:lvl8pPr marL="3429000" indent="-228600" eaLnBrk="0" fontAlgn="base" hangingPunct="0">
              <a:spcBef>
                <a:spcPct val="20000"/>
              </a:spcBef>
              <a:spcAft>
                <a:spcPct val="0"/>
              </a:spcAft>
              <a:buChar char="»"/>
              <a:defRPr sz="2000">
                <a:solidFill>
                  <a:schemeClr val="tx1"/>
                </a:solidFill>
                <a:latin typeface="Arial" pitchFamily="34" charset="0"/>
                <a:ea typeface="ＭＳ Ｐゴシック" pitchFamily="-65" charset="-128"/>
              </a:defRPr>
            </a:lvl8pPr>
            <a:lvl9pPr marL="3886200" indent="-228600" eaLnBrk="0" fontAlgn="base" hangingPunct="0">
              <a:spcBef>
                <a:spcPct val="20000"/>
              </a:spcBef>
              <a:spcAft>
                <a:spcPct val="0"/>
              </a:spcAft>
              <a:buChar char="»"/>
              <a:defRPr sz="2000">
                <a:solidFill>
                  <a:schemeClr val="tx1"/>
                </a:solidFill>
                <a:latin typeface="Arial" pitchFamily="34" charset="0"/>
                <a:ea typeface="ＭＳ Ｐゴシック" pitchFamily="-65" charset="-128"/>
              </a:defRPr>
            </a:lvl9pPr>
          </a:lstStyle>
          <a:p>
            <a:pPr>
              <a:spcBef>
                <a:spcPct val="50000"/>
              </a:spcBef>
              <a:buFontTx/>
              <a:buNone/>
            </a:pPr>
            <a:r>
              <a:rPr lang="en-US" altLang="en-US" sz="9600" dirty="0">
                <a:latin typeface="Calibri" pitchFamily="34" charset="0"/>
              </a:rPr>
              <a:t>)</a:t>
            </a:r>
          </a:p>
        </p:txBody>
      </p:sp>
      <p:sp>
        <p:nvSpPr>
          <p:cNvPr id="17" name="Text Box 15">
            <a:extLst>
              <a:ext uri="{FF2B5EF4-FFF2-40B4-BE49-F238E27FC236}">
                <a16:creationId xmlns:a16="http://schemas.microsoft.com/office/drawing/2014/main" id="{2562F0CB-ED42-3FF9-F5E9-94EAD6144C81}"/>
              </a:ext>
            </a:extLst>
          </p:cNvPr>
          <p:cNvSpPr txBox="1">
            <a:spLocks noChangeArrowheads="1"/>
          </p:cNvSpPr>
          <p:nvPr/>
        </p:nvSpPr>
        <p:spPr bwMode="auto">
          <a:xfrm>
            <a:off x="5334000" y="4876800"/>
            <a:ext cx="1841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itchFamily="34" charset="0"/>
                <a:ea typeface="ＭＳ Ｐゴシック" pitchFamily="-65" charset="-128"/>
              </a:defRPr>
            </a:lvl1pPr>
            <a:lvl2pPr marL="742950" indent="-285750">
              <a:spcBef>
                <a:spcPct val="20000"/>
              </a:spcBef>
              <a:buChar char="–"/>
              <a:defRPr sz="2800">
                <a:solidFill>
                  <a:schemeClr val="tx1"/>
                </a:solidFill>
                <a:latin typeface="Arial" pitchFamily="34" charset="0"/>
                <a:ea typeface="ＭＳ Ｐゴシック" pitchFamily="-65" charset="-128"/>
              </a:defRPr>
            </a:lvl2pPr>
            <a:lvl3pPr marL="1143000" indent="-228600">
              <a:spcBef>
                <a:spcPct val="20000"/>
              </a:spcBef>
              <a:buChar char="•"/>
              <a:defRPr sz="2400">
                <a:solidFill>
                  <a:schemeClr val="tx1"/>
                </a:solidFill>
                <a:latin typeface="Arial" pitchFamily="34" charset="0"/>
                <a:ea typeface="ＭＳ Ｐゴシック" pitchFamily="-65" charset="-128"/>
              </a:defRPr>
            </a:lvl3pPr>
            <a:lvl4pPr marL="1600200" indent="-228600">
              <a:spcBef>
                <a:spcPct val="20000"/>
              </a:spcBef>
              <a:buChar char="–"/>
              <a:defRPr sz="2000">
                <a:solidFill>
                  <a:schemeClr val="tx1"/>
                </a:solidFill>
                <a:latin typeface="Arial" pitchFamily="34" charset="0"/>
                <a:ea typeface="ＭＳ Ｐゴシック" pitchFamily="-65" charset="-128"/>
              </a:defRPr>
            </a:lvl4pPr>
            <a:lvl5pPr marL="2057400" indent="-228600">
              <a:spcBef>
                <a:spcPct val="20000"/>
              </a:spcBef>
              <a:buChar char="»"/>
              <a:defRPr sz="2000">
                <a:solidFill>
                  <a:schemeClr val="tx1"/>
                </a:solidFill>
                <a:latin typeface="Arial" pitchFamily="34" charset="0"/>
                <a:ea typeface="ＭＳ Ｐゴシック" pitchFamily="-65" charset="-128"/>
              </a:defRPr>
            </a:lvl5pPr>
            <a:lvl6pPr marL="2514600" indent="-228600" eaLnBrk="0" fontAlgn="base" hangingPunct="0">
              <a:spcBef>
                <a:spcPct val="20000"/>
              </a:spcBef>
              <a:spcAft>
                <a:spcPct val="0"/>
              </a:spcAft>
              <a:buChar char="»"/>
              <a:defRPr sz="2000">
                <a:solidFill>
                  <a:schemeClr val="tx1"/>
                </a:solidFill>
                <a:latin typeface="Arial" pitchFamily="34" charset="0"/>
                <a:ea typeface="ＭＳ Ｐゴシック" pitchFamily="-65" charset="-128"/>
              </a:defRPr>
            </a:lvl6pPr>
            <a:lvl7pPr marL="2971800" indent="-228600" eaLnBrk="0" fontAlgn="base" hangingPunct="0">
              <a:spcBef>
                <a:spcPct val="20000"/>
              </a:spcBef>
              <a:spcAft>
                <a:spcPct val="0"/>
              </a:spcAft>
              <a:buChar char="»"/>
              <a:defRPr sz="2000">
                <a:solidFill>
                  <a:schemeClr val="tx1"/>
                </a:solidFill>
                <a:latin typeface="Arial" pitchFamily="34" charset="0"/>
                <a:ea typeface="ＭＳ Ｐゴシック" pitchFamily="-65" charset="-128"/>
              </a:defRPr>
            </a:lvl7pPr>
            <a:lvl8pPr marL="3429000" indent="-228600" eaLnBrk="0" fontAlgn="base" hangingPunct="0">
              <a:spcBef>
                <a:spcPct val="20000"/>
              </a:spcBef>
              <a:spcAft>
                <a:spcPct val="0"/>
              </a:spcAft>
              <a:buChar char="»"/>
              <a:defRPr sz="2000">
                <a:solidFill>
                  <a:schemeClr val="tx1"/>
                </a:solidFill>
                <a:latin typeface="Arial" pitchFamily="34" charset="0"/>
                <a:ea typeface="ＭＳ Ｐゴシック" pitchFamily="-65" charset="-128"/>
              </a:defRPr>
            </a:lvl8pPr>
            <a:lvl9pPr marL="3886200" indent="-228600" eaLnBrk="0" fontAlgn="base" hangingPunct="0">
              <a:spcBef>
                <a:spcPct val="20000"/>
              </a:spcBef>
              <a:spcAft>
                <a:spcPct val="0"/>
              </a:spcAft>
              <a:buChar char="»"/>
              <a:defRPr sz="2000">
                <a:solidFill>
                  <a:schemeClr val="tx1"/>
                </a:solidFill>
                <a:latin typeface="Arial" pitchFamily="34" charset="0"/>
                <a:ea typeface="ＭＳ Ｐゴシック" pitchFamily="-65" charset="-128"/>
              </a:defRPr>
            </a:lvl9pPr>
          </a:lstStyle>
          <a:p>
            <a:pPr>
              <a:spcBef>
                <a:spcPct val="50000"/>
              </a:spcBef>
              <a:buFontTx/>
              <a:buNone/>
            </a:pPr>
            <a:r>
              <a:rPr lang="en-US" altLang="en-US" sz="2400" dirty="0">
                <a:latin typeface="Calibri" pitchFamily="34" charset="0"/>
              </a:rPr>
              <a:t>=</a:t>
            </a:r>
          </a:p>
        </p:txBody>
      </p:sp>
      <p:sp>
        <p:nvSpPr>
          <p:cNvPr id="19" name="Text Box 16">
            <a:extLst>
              <a:ext uri="{FF2B5EF4-FFF2-40B4-BE49-F238E27FC236}">
                <a16:creationId xmlns:a16="http://schemas.microsoft.com/office/drawing/2014/main" id="{3BA5BE44-7148-82EE-8191-7366E0FCA874}"/>
              </a:ext>
            </a:extLst>
          </p:cNvPr>
          <p:cNvSpPr txBox="1">
            <a:spLocks noChangeArrowheads="1"/>
          </p:cNvSpPr>
          <p:nvPr/>
        </p:nvSpPr>
        <p:spPr bwMode="auto">
          <a:xfrm>
            <a:off x="5638800" y="4235450"/>
            <a:ext cx="762000" cy="1555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itchFamily="34" charset="0"/>
                <a:ea typeface="ＭＳ Ｐゴシック" pitchFamily="-65" charset="-128"/>
              </a:defRPr>
            </a:lvl1pPr>
            <a:lvl2pPr marL="742950" indent="-285750">
              <a:spcBef>
                <a:spcPct val="20000"/>
              </a:spcBef>
              <a:buChar char="–"/>
              <a:defRPr sz="2800">
                <a:solidFill>
                  <a:schemeClr val="tx1"/>
                </a:solidFill>
                <a:latin typeface="Arial" pitchFamily="34" charset="0"/>
                <a:ea typeface="ＭＳ Ｐゴシック" pitchFamily="-65" charset="-128"/>
              </a:defRPr>
            </a:lvl2pPr>
            <a:lvl3pPr marL="1143000" indent="-228600">
              <a:spcBef>
                <a:spcPct val="20000"/>
              </a:spcBef>
              <a:buChar char="•"/>
              <a:defRPr sz="2400">
                <a:solidFill>
                  <a:schemeClr val="tx1"/>
                </a:solidFill>
                <a:latin typeface="Arial" pitchFamily="34" charset="0"/>
                <a:ea typeface="ＭＳ Ｐゴシック" pitchFamily="-65" charset="-128"/>
              </a:defRPr>
            </a:lvl3pPr>
            <a:lvl4pPr marL="1600200" indent="-228600">
              <a:spcBef>
                <a:spcPct val="20000"/>
              </a:spcBef>
              <a:buChar char="–"/>
              <a:defRPr sz="2000">
                <a:solidFill>
                  <a:schemeClr val="tx1"/>
                </a:solidFill>
                <a:latin typeface="Arial" pitchFamily="34" charset="0"/>
                <a:ea typeface="ＭＳ Ｐゴシック" pitchFamily="-65" charset="-128"/>
              </a:defRPr>
            </a:lvl4pPr>
            <a:lvl5pPr marL="2057400" indent="-228600">
              <a:spcBef>
                <a:spcPct val="20000"/>
              </a:spcBef>
              <a:buChar char="»"/>
              <a:defRPr sz="2000">
                <a:solidFill>
                  <a:schemeClr val="tx1"/>
                </a:solidFill>
                <a:latin typeface="Arial" pitchFamily="34" charset="0"/>
                <a:ea typeface="ＭＳ Ｐゴシック" pitchFamily="-65" charset="-128"/>
              </a:defRPr>
            </a:lvl5pPr>
            <a:lvl6pPr marL="2514600" indent="-228600" eaLnBrk="0" fontAlgn="base" hangingPunct="0">
              <a:spcBef>
                <a:spcPct val="20000"/>
              </a:spcBef>
              <a:spcAft>
                <a:spcPct val="0"/>
              </a:spcAft>
              <a:buChar char="»"/>
              <a:defRPr sz="2000">
                <a:solidFill>
                  <a:schemeClr val="tx1"/>
                </a:solidFill>
                <a:latin typeface="Arial" pitchFamily="34" charset="0"/>
                <a:ea typeface="ＭＳ Ｐゴシック" pitchFamily="-65" charset="-128"/>
              </a:defRPr>
            </a:lvl6pPr>
            <a:lvl7pPr marL="2971800" indent="-228600" eaLnBrk="0" fontAlgn="base" hangingPunct="0">
              <a:spcBef>
                <a:spcPct val="20000"/>
              </a:spcBef>
              <a:spcAft>
                <a:spcPct val="0"/>
              </a:spcAft>
              <a:buChar char="»"/>
              <a:defRPr sz="2000">
                <a:solidFill>
                  <a:schemeClr val="tx1"/>
                </a:solidFill>
                <a:latin typeface="Arial" pitchFamily="34" charset="0"/>
                <a:ea typeface="ＭＳ Ｐゴシック" pitchFamily="-65" charset="-128"/>
              </a:defRPr>
            </a:lvl7pPr>
            <a:lvl8pPr marL="3429000" indent="-228600" eaLnBrk="0" fontAlgn="base" hangingPunct="0">
              <a:spcBef>
                <a:spcPct val="20000"/>
              </a:spcBef>
              <a:spcAft>
                <a:spcPct val="0"/>
              </a:spcAft>
              <a:buChar char="»"/>
              <a:defRPr sz="2000">
                <a:solidFill>
                  <a:schemeClr val="tx1"/>
                </a:solidFill>
                <a:latin typeface="Arial" pitchFamily="34" charset="0"/>
                <a:ea typeface="ＭＳ Ｐゴシック" pitchFamily="-65" charset="-128"/>
              </a:defRPr>
            </a:lvl8pPr>
            <a:lvl9pPr marL="3886200" indent="-228600" eaLnBrk="0" fontAlgn="base" hangingPunct="0">
              <a:spcBef>
                <a:spcPct val="20000"/>
              </a:spcBef>
              <a:spcAft>
                <a:spcPct val="0"/>
              </a:spcAft>
              <a:buChar char="»"/>
              <a:defRPr sz="2000">
                <a:solidFill>
                  <a:schemeClr val="tx1"/>
                </a:solidFill>
                <a:latin typeface="Arial" pitchFamily="34" charset="0"/>
                <a:ea typeface="ＭＳ Ｐゴシック" pitchFamily="-65" charset="-128"/>
              </a:defRPr>
            </a:lvl9pPr>
          </a:lstStyle>
          <a:p>
            <a:pPr>
              <a:spcBef>
                <a:spcPct val="50000"/>
              </a:spcBef>
              <a:buFontTx/>
              <a:buNone/>
            </a:pPr>
            <a:r>
              <a:rPr lang="en-US" altLang="en-US" sz="9600" dirty="0">
                <a:latin typeface="Calibri" pitchFamily="34" charset="0"/>
              </a:rPr>
              <a:t>(</a:t>
            </a:r>
          </a:p>
        </p:txBody>
      </p:sp>
      <p:sp>
        <p:nvSpPr>
          <p:cNvPr id="21" name="Text Box 17">
            <a:extLst>
              <a:ext uri="{FF2B5EF4-FFF2-40B4-BE49-F238E27FC236}">
                <a16:creationId xmlns:a16="http://schemas.microsoft.com/office/drawing/2014/main" id="{F1DD8390-D0BA-98E7-00B6-5A3D5ACCEA8A}"/>
              </a:ext>
            </a:extLst>
          </p:cNvPr>
          <p:cNvSpPr txBox="1">
            <a:spLocks noChangeArrowheads="1"/>
          </p:cNvSpPr>
          <p:nvPr/>
        </p:nvSpPr>
        <p:spPr bwMode="auto">
          <a:xfrm>
            <a:off x="7239000" y="4235450"/>
            <a:ext cx="184150" cy="1555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itchFamily="34" charset="0"/>
                <a:ea typeface="ＭＳ Ｐゴシック" pitchFamily="-65" charset="-128"/>
              </a:defRPr>
            </a:lvl1pPr>
            <a:lvl2pPr marL="742950" indent="-285750">
              <a:spcBef>
                <a:spcPct val="20000"/>
              </a:spcBef>
              <a:buChar char="–"/>
              <a:defRPr sz="2800">
                <a:solidFill>
                  <a:schemeClr val="tx1"/>
                </a:solidFill>
                <a:latin typeface="Arial" pitchFamily="34" charset="0"/>
                <a:ea typeface="ＭＳ Ｐゴシック" pitchFamily="-65" charset="-128"/>
              </a:defRPr>
            </a:lvl2pPr>
            <a:lvl3pPr marL="1143000" indent="-228600">
              <a:spcBef>
                <a:spcPct val="20000"/>
              </a:spcBef>
              <a:buChar char="•"/>
              <a:defRPr sz="2400">
                <a:solidFill>
                  <a:schemeClr val="tx1"/>
                </a:solidFill>
                <a:latin typeface="Arial" pitchFamily="34" charset="0"/>
                <a:ea typeface="ＭＳ Ｐゴシック" pitchFamily="-65" charset="-128"/>
              </a:defRPr>
            </a:lvl3pPr>
            <a:lvl4pPr marL="1600200" indent="-228600">
              <a:spcBef>
                <a:spcPct val="20000"/>
              </a:spcBef>
              <a:buChar char="–"/>
              <a:defRPr sz="2000">
                <a:solidFill>
                  <a:schemeClr val="tx1"/>
                </a:solidFill>
                <a:latin typeface="Arial" pitchFamily="34" charset="0"/>
                <a:ea typeface="ＭＳ Ｐゴシック" pitchFamily="-65" charset="-128"/>
              </a:defRPr>
            </a:lvl4pPr>
            <a:lvl5pPr marL="2057400" indent="-228600">
              <a:spcBef>
                <a:spcPct val="20000"/>
              </a:spcBef>
              <a:buChar char="»"/>
              <a:defRPr sz="2000">
                <a:solidFill>
                  <a:schemeClr val="tx1"/>
                </a:solidFill>
                <a:latin typeface="Arial" pitchFamily="34" charset="0"/>
                <a:ea typeface="ＭＳ Ｐゴシック" pitchFamily="-65" charset="-128"/>
              </a:defRPr>
            </a:lvl5pPr>
            <a:lvl6pPr marL="2514600" indent="-228600" eaLnBrk="0" fontAlgn="base" hangingPunct="0">
              <a:spcBef>
                <a:spcPct val="20000"/>
              </a:spcBef>
              <a:spcAft>
                <a:spcPct val="0"/>
              </a:spcAft>
              <a:buChar char="»"/>
              <a:defRPr sz="2000">
                <a:solidFill>
                  <a:schemeClr val="tx1"/>
                </a:solidFill>
                <a:latin typeface="Arial" pitchFamily="34" charset="0"/>
                <a:ea typeface="ＭＳ Ｐゴシック" pitchFamily="-65" charset="-128"/>
              </a:defRPr>
            </a:lvl6pPr>
            <a:lvl7pPr marL="2971800" indent="-228600" eaLnBrk="0" fontAlgn="base" hangingPunct="0">
              <a:spcBef>
                <a:spcPct val="20000"/>
              </a:spcBef>
              <a:spcAft>
                <a:spcPct val="0"/>
              </a:spcAft>
              <a:buChar char="»"/>
              <a:defRPr sz="2000">
                <a:solidFill>
                  <a:schemeClr val="tx1"/>
                </a:solidFill>
                <a:latin typeface="Arial" pitchFamily="34" charset="0"/>
                <a:ea typeface="ＭＳ Ｐゴシック" pitchFamily="-65" charset="-128"/>
              </a:defRPr>
            </a:lvl7pPr>
            <a:lvl8pPr marL="3429000" indent="-228600" eaLnBrk="0" fontAlgn="base" hangingPunct="0">
              <a:spcBef>
                <a:spcPct val="20000"/>
              </a:spcBef>
              <a:spcAft>
                <a:spcPct val="0"/>
              </a:spcAft>
              <a:buChar char="»"/>
              <a:defRPr sz="2000">
                <a:solidFill>
                  <a:schemeClr val="tx1"/>
                </a:solidFill>
                <a:latin typeface="Arial" pitchFamily="34" charset="0"/>
                <a:ea typeface="ＭＳ Ｐゴシック" pitchFamily="-65" charset="-128"/>
              </a:defRPr>
            </a:lvl8pPr>
            <a:lvl9pPr marL="3886200" indent="-228600" eaLnBrk="0" fontAlgn="base" hangingPunct="0">
              <a:spcBef>
                <a:spcPct val="20000"/>
              </a:spcBef>
              <a:spcAft>
                <a:spcPct val="0"/>
              </a:spcAft>
              <a:buChar char="»"/>
              <a:defRPr sz="2000">
                <a:solidFill>
                  <a:schemeClr val="tx1"/>
                </a:solidFill>
                <a:latin typeface="Arial" pitchFamily="34" charset="0"/>
                <a:ea typeface="ＭＳ Ｐゴシック" pitchFamily="-65" charset="-128"/>
              </a:defRPr>
            </a:lvl9pPr>
          </a:lstStyle>
          <a:p>
            <a:pPr>
              <a:spcBef>
                <a:spcPct val="50000"/>
              </a:spcBef>
              <a:buFontTx/>
              <a:buNone/>
            </a:pPr>
            <a:r>
              <a:rPr lang="en-US" altLang="en-US" sz="9600" dirty="0">
                <a:latin typeface="Calibri" pitchFamily="34" charset="0"/>
              </a:rPr>
              <a:t>)</a:t>
            </a:r>
          </a:p>
        </p:txBody>
      </p:sp>
      <p:sp>
        <p:nvSpPr>
          <p:cNvPr id="23" name="Text Box 21">
            <a:extLst>
              <a:ext uri="{FF2B5EF4-FFF2-40B4-BE49-F238E27FC236}">
                <a16:creationId xmlns:a16="http://schemas.microsoft.com/office/drawing/2014/main" id="{BEDD9213-3DDB-EC7F-E30F-1E1C85F04EE1}"/>
              </a:ext>
            </a:extLst>
          </p:cNvPr>
          <p:cNvSpPr txBox="1">
            <a:spLocks noChangeArrowheads="1"/>
          </p:cNvSpPr>
          <p:nvPr/>
        </p:nvSpPr>
        <p:spPr bwMode="auto">
          <a:xfrm>
            <a:off x="2008188" y="5791200"/>
            <a:ext cx="354012"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itchFamily="34" charset="0"/>
                <a:ea typeface="ＭＳ Ｐゴシック" pitchFamily="-65" charset="-128"/>
              </a:defRPr>
            </a:lvl1pPr>
            <a:lvl2pPr marL="742950" indent="-285750">
              <a:spcBef>
                <a:spcPct val="20000"/>
              </a:spcBef>
              <a:buChar char="–"/>
              <a:defRPr sz="2800">
                <a:solidFill>
                  <a:schemeClr val="tx1"/>
                </a:solidFill>
                <a:latin typeface="Arial" pitchFamily="34" charset="0"/>
                <a:ea typeface="ＭＳ Ｐゴシック" pitchFamily="-65" charset="-128"/>
              </a:defRPr>
            </a:lvl2pPr>
            <a:lvl3pPr marL="1143000" indent="-228600">
              <a:spcBef>
                <a:spcPct val="20000"/>
              </a:spcBef>
              <a:buChar char="•"/>
              <a:defRPr sz="2400">
                <a:solidFill>
                  <a:schemeClr val="tx1"/>
                </a:solidFill>
                <a:latin typeface="Arial" pitchFamily="34" charset="0"/>
                <a:ea typeface="ＭＳ Ｐゴシック" pitchFamily="-65" charset="-128"/>
              </a:defRPr>
            </a:lvl3pPr>
            <a:lvl4pPr marL="1600200" indent="-228600">
              <a:spcBef>
                <a:spcPct val="20000"/>
              </a:spcBef>
              <a:buChar char="–"/>
              <a:defRPr sz="2000">
                <a:solidFill>
                  <a:schemeClr val="tx1"/>
                </a:solidFill>
                <a:latin typeface="Arial" pitchFamily="34" charset="0"/>
                <a:ea typeface="ＭＳ Ｐゴシック" pitchFamily="-65" charset="-128"/>
              </a:defRPr>
            </a:lvl4pPr>
            <a:lvl5pPr marL="2057400" indent="-228600">
              <a:spcBef>
                <a:spcPct val="20000"/>
              </a:spcBef>
              <a:buChar char="»"/>
              <a:defRPr sz="2000">
                <a:solidFill>
                  <a:schemeClr val="tx1"/>
                </a:solidFill>
                <a:latin typeface="Arial" pitchFamily="34" charset="0"/>
                <a:ea typeface="ＭＳ Ｐゴシック" pitchFamily="-65" charset="-128"/>
              </a:defRPr>
            </a:lvl5pPr>
            <a:lvl6pPr marL="2514600" indent="-228600" eaLnBrk="0" fontAlgn="base" hangingPunct="0">
              <a:spcBef>
                <a:spcPct val="20000"/>
              </a:spcBef>
              <a:spcAft>
                <a:spcPct val="0"/>
              </a:spcAft>
              <a:buChar char="»"/>
              <a:defRPr sz="2000">
                <a:solidFill>
                  <a:schemeClr val="tx1"/>
                </a:solidFill>
                <a:latin typeface="Arial" pitchFamily="34" charset="0"/>
                <a:ea typeface="ＭＳ Ｐゴシック" pitchFamily="-65" charset="-128"/>
              </a:defRPr>
            </a:lvl6pPr>
            <a:lvl7pPr marL="2971800" indent="-228600" eaLnBrk="0" fontAlgn="base" hangingPunct="0">
              <a:spcBef>
                <a:spcPct val="20000"/>
              </a:spcBef>
              <a:spcAft>
                <a:spcPct val="0"/>
              </a:spcAft>
              <a:buChar char="»"/>
              <a:defRPr sz="2000">
                <a:solidFill>
                  <a:schemeClr val="tx1"/>
                </a:solidFill>
                <a:latin typeface="Arial" pitchFamily="34" charset="0"/>
                <a:ea typeface="ＭＳ Ｐゴシック" pitchFamily="-65" charset="-128"/>
              </a:defRPr>
            </a:lvl7pPr>
            <a:lvl8pPr marL="3429000" indent="-228600" eaLnBrk="0" fontAlgn="base" hangingPunct="0">
              <a:spcBef>
                <a:spcPct val="20000"/>
              </a:spcBef>
              <a:spcAft>
                <a:spcPct val="0"/>
              </a:spcAft>
              <a:buChar char="»"/>
              <a:defRPr sz="2000">
                <a:solidFill>
                  <a:schemeClr val="tx1"/>
                </a:solidFill>
                <a:latin typeface="Arial" pitchFamily="34" charset="0"/>
                <a:ea typeface="ＭＳ Ｐゴシック" pitchFamily="-65" charset="-128"/>
              </a:defRPr>
            </a:lvl8pPr>
            <a:lvl9pPr marL="3886200" indent="-228600" eaLnBrk="0" fontAlgn="base" hangingPunct="0">
              <a:spcBef>
                <a:spcPct val="20000"/>
              </a:spcBef>
              <a:spcAft>
                <a:spcPct val="0"/>
              </a:spcAft>
              <a:buChar char="»"/>
              <a:defRPr sz="2000">
                <a:solidFill>
                  <a:schemeClr val="tx1"/>
                </a:solidFill>
                <a:latin typeface="Arial" pitchFamily="34" charset="0"/>
                <a:ea typeface="ＭＳ Ｐゴシック" pitchFamily="-65" charset="-128"/>
              </a:defRPr>
            </a:lvl9pPr>
          </a:lstStyle>
          <a:p>
            <a:pPr>
              <a:spcBef>
                <a:spcPct val="0"/>
              </a:spcBef>
              <a:buFontTx/>
              <a:buNone/>
            </a:pPr>
            <a:r>
              <a:rPr lang="en-US" altLang="en-US" sz="2400" dirty="0">
                <a:latin typeface="Calibri" pitchFamily="34" charset="0"/>
              </a:rPr>
              <a:t>n</a:t>
            </a:r>
          </a:p>
        </p:txBody>
      </p:sp>
      <p:sp>
        <p:nvSpPr>
          <p:cNvPr id="24" name="Text Box 22">
            <a:extLst>
              <a:ext uri="{FF2B5EF4-FFF2-40B4-BE49-F238E27FC236}">
                <a16:creationId xmlns:a16="http://schemas.microsoft.com/office/drawing/2014/main" id="{071288BD-EDF5-A3B5-B80A-61F2292CC687}"/>
              </a:ext>
            </a:extLst>
          </p:cNvPr>
          <p:cNvSpPr txBox="1">
            <a:spLocks noChangeArrowheads="1"/>
          </p:cNvSpPr>
          <p:nvPr/>
        </p:nvSpPr>
        <p:spPr bwMode="auto">
          <a:xfrm>
            <a:off x="641131" y="4876800"/>
            <a:ext cx="354012"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itchFamily="34" charset="0"/>
                <a:ea typeface="ＭＳ Ｐゴシック" pitchFamily="-65" charset="-128"/>
              </a:defRPr>
            </a:lvl1pPr>
            <a:lvl2pPr marL="742950" indent="-285750">
              <a:spcBef>
                <a:spcPct val="20000"/>
              </a:spcBef>
              <a:buChar char="–"/>
              <a:defRPr sz="2800">
                <a:solidFill>
                  <a:schemeClr val="tx1"/>
                </a:solidFill>
                <a:latin typeface="Arial" pitchFamily="34" charset="0"/>
                <a:ea typeface="ＭＳ Ｐゴシック" pitchFamily="-65" charset="-128"/>
              </a:defRPr>
            </a:lvl2pPr>
            <a:lvl3pPr marL="1143000" indent="-228600">
              <a:spcBef>
                <a:spcPct val="20000"/>
              </a:spcBef>
              <a:buChar char="•"/>
              <a:defRPr sz="2400">
                <a:solidFill>
                  <a:schemeClr val="tx1"/>
                </a:solidFill>
                <a:latin typeface="Arial" pitchFamily="34" charset="0"/>
                <a:ea typeface="ＭＳ Ｐゴシック" pitchFamily="-65" charset="-128"/>
              </a:defRPr>
            </a:lvl3pPr>
            <a:lvl4pPr marL="1600200" indent="-228600">
              <a:spcBef>
                <a:spcPct val="20000"/>
              </a:spcBef>
              <a:buChar char="–"/>
              <a:defRPr sz="2000">
                <a:solidFill>
                  <a:schemeClr val="tx1"/>
                </a:solidFill>
                <a:latin typeface="Arial" pitchFamily="34" charset="0"/>
                <a:ea typeface="ＭＳ Ｐゴシック" pitchFamily="-65" charset="-128"/>
              </a:defRPr>
            </a:lvl4pPr>
            <a:lvl5pPr marL="2057400" indent="-228600">
              <a:spcBef>
                <a:spcPct val="20000"/>
              </a:spcBef>
              <a:buChar char="»"/>
              <a:defRPr sz="2000">
                <a:solidFill>
                  <a:schemeClr val="tx1"/>
                </a:solidFill>
                <a:latin typeface="Arial" pitchFamily="34" charset="0"/>
                <a:ea typeface="ＭＳ Ｐゴシック" pitchFamily="-65" charset="-128"/>
              </a:defRPr>
            </a:lvl5pPr>
            <a:lvl6pPr marL="2514600" indent="-228600" eaLnBrk="0" fontAlgn="base" hangingPunct="0">
              <a:spcBef>
                <a:spcPct val="20000"/>
              </a:spcBef>
              <a:spcAft>
                <a:spcPct val="0"/>
              </a:spcAft>
              <a:buChar char="»"/>
              <a:defRPr sz="2000">
                <a:solidFill>
                  <a:schemeClr val="tx1"/>
                </a:solidFill>
                <a:latin typeface="Arial" pitchFamily="34" charset="0"/>
                <a:ea typeface="ＭＳ Ｐゴシック" pitchFamily="-65" charset="-128"/>
              </a:defRPr>
            </a:lvl6pPr>
            <a:lvl7pPr marL="2971800" indent="-228600" eaLnBrk="0" fontAlgn="base" hangingPunct="0">
              <a:spcBef>
                <a:spcPct val="20000"/>
              </a:spcBef>
              <a:spcAft>
                <a:spcPct val="0"/>
              </a:spcAft>
              <a:buChar char="»"/>
              <a:defRPr sz="2000">
                <a:solidFill>
                  <a:schemeClr val="tx1"/>
                </a:solidFill>
                <a:latin typeface="Arial" pitchFamily="34" charset="0"/>
                <a:ea typeface="ＭＳ Ｐゴシック" pitchFamily="-65" charset="-128"/>
              </a:defRPr>
            </a:lvl7pPr>
            <a:lvl8pPr marL="3429000" indent="-228600" eaLnBrk="0" fontAlgn="base" hangingPunct="0">
              <a:spcBef>
                <a:spcPct val="20000"/>
              </a:spcBef>
              <a:spcAft>
                <a:spcPct val="0"/>
              </a:spcAft>
              <a:buChar char="»"/>
              <a:defRPr sz="2000">
                <a:solidFill>
                  <a:schemeClr val="tx1"/>
                </a:solidFill>
                <a:latin typeface="Arial" pitchFamily="34" charset="0"/>
                <a:ea typeface="ＭＳ Ｐゴシック" pitchFamily="-65" charset="-128"/>
              </a:defRPr>
            </a:lvl8pPr>
            <a:lvl9pPr marL="3886200" indent="-228600" eaLnBrk="0" fontAlgn="base" hangingPunct="0">
              <a:spcBef>
                <a:spcPct val="20000"/>
              </a:spcBef>
              <a:spcAft>
                <a:spcPct val="0"/>
              </a:spcAft>
              <a:buChar char="»"/>
              <a:defRPr sz="2000">
                <a:solidFill>
                  <a:schemeClr val="tx1"/>
                </a:solidFill>
                <a:latin typeface="Arial" pitchFamily="34" charset="0"/>
                <a:ea typeface="ＭＳ Ｐゴシック" pitchFamily="-65" charset="-128"/>
              </a:defRPr>
            </a:lvl9pPr>
          </a:lstStyle>
          <a:p>
            <a:pPr>
              <a:spcBef>
                <a:spcPct val="0"/>
              </a:spcBef>
              <a:buFontTx/>
              <a:buNone/>
            </a:pPr>
            <a:r>
              <a:rPr lang="en-US" altLang="en-US" sz="2400" dirty="0">
                <a:latin typeface="Calibri" pitchFamily="34" charset="0"/>
              </a:rPr>
              <a:t>n</a:t>
            </a:r>
          </a:p>
        </p:txBody>
      </p:sp>
      <p:sp>
        <p:nvSpPr>
          <p:cNvPr id="25" name="Text Box 23">
            <a:extLst>
              <a:ext uri="{FF2B5EF4-FFF2-40B4-BE49-F238E27FC236}">
                <a16:creationId xmlns:a16="http://schemas.microsoft.com/office/drawing/2014/main" id="{1CF8AB9E-568B-55C7-4F03-141E2EEF193B}"/>
              </a:ext>
            </a:extLst>
          </p:cNvPr>
          <p:cNvSpPr txBox="1">
            <a:spLocks noChangeArrowheads="1"/>
          </p:cNvSpPr>
          <p:nvPr/>
        </p:nvSpPr>
        <p:spPr bwMode="auto">
          <a:xfrm>
            <a:off x="4065588" y="5791200"/>
            <a:ext cx="354012"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itchFamily="34" charset="0"/>
                <a:ea typeface="ＭＳ Ｐゴシック" pitchFamily="-65" charset="-128"/>
              </a:defRPr>
            </a:lvl1pPr>
            <a:lvl2pPr marL="742950" indent="-285750">
              <a:spcBef>
                <a:spcPct val="20000"/>
              </a:spcBef>
              <a:buChar char="–"/>
              <a:defRPr sz="2800">
                <a:solidFill>
                  <a:schemeClr val="tx1"/>
                </a:solidFill>
                <a:latin typeface="Arial" pitchFamily="34" charset="0"/>
                <a:ea typeface="ＭＳ Ｐゴシック" pitchFamily="-65" charset="-128"/>
              </a:defRPr>
            </a:lvl2pPr>
            <a:lvl3pPr marL="1143000" indent="-228600">
              <a:spcBef>
                <a:spcPct val="20000"/>
              </a:spcBef>
              <a:buChar char="•"/>
              <a:defRPr sz="2400">
                <a:solidFill>
                  <a:schemeClr val="tx1"/>
                </a:solidFill>
                <a:latin typeface="Arial" pitchFamily="34" charset="0"/>
                <a:ea typeface="ＭＳ Ｐゴシック" pitchFamily="-65" charset="-128"/>
              </a:defRPr>
            </a:lvl3pPr>
            <a:lvl4pPr marL="1600200" indent="-228600">
              <a:spcBef>
                <a:spcPct val="20000"/>
              </a:spcBef>
              <a:buChar char="–"/>
              <a:defRPr sz="2000">
                <a:solidFill>
                  <a:schemeClr val="tx1"/>
                </a:solidFill>
                <a:latin typeface="Arial" pitchFamily="34" charset="0"/>
                <a:ea typeface="ＭＳ Ｐゴシック" pitchFamily="-65" charset="-128"/>
              </a:defRPr>
            </a:lvl4pPr>
            <a:lvl5pPr marL="2057400" indent="-228600">
              <a:spcBef>
                <a:spcPct val="20000"/>
              </a:spcBef>
              <a:buChar char="»"/>
              <a:defRPr sz="2000">
                <a:solidFill>
                  <a:schemeClr val="tx1"/>
                </a:solidFill>
                <a:latin typeface="Arial" pitchFamily="34" charset="0"/>
                <a:ea typeface="ＭＳ Ｐゴシック" pitchFamily="-65" charset="-128"/>
              </a:defRPr>
            </a:lvl5pPr>
            <a:lvl6pPr marL="2514600" indent="-228600" eaLnBrk="0" fontAlgn="base" hangingPunct="0">
              <a:spcBef>
                <a:spcPct val="20000"/>
              </a:spcBef>
              <a:spcAft>
                <a:spcPct val="0"/>
              </a:spcAft>
              <a:buChar char="»"/>
              <a:defRPr sz="2000">
                <a:solidFill>
                  <a:schemeClr val="tx1"/>
                </a:solidFill>
                <a:latin typeface="Arial" pitchFamily="34" charset="0"/>
                <a:ea typeface="ＭＳ Ｐゴシック" pitchFamily="-65" charset="-128"/>
              </a:defRPr>
            </a:lvl6pPr>
            <a:lvl7pPr marL="2971800" indent="-228600" eaLnBrk="0" fontAlgn="base" hangingPunct="0">
              <a:spcBef>
                <a:spcPct val="20000"/>
              </a:spcBef>
              <a:spcAft>
                <a:spcPct val="0"/>
              </a:spcAft>
              <a:buChar char="»"/>
              <a:defRPr sz="2000">
                <a:solidFill>
                  <a:schemeClr val="tx1"/>
                </a:solidFill>
                <a:latin typeface="Arial" pitchFamily="34" charset="0"/>
                <a:ea typeface="ＭＳ Ｐゴシック" pitchFamily="-65" charset="-128"/>
              </a:defRPr>
            </a:lvl7pPr>
            <a:lvl8pPr marL="3429000" indent="-228600" eaLnBrk="0" fontAlgn="base" hangingPunct="0">
              <a:spcBef>
                <a:spcPct val="20000"/>
              </a:spcBef>
              <a:spcAft>
                <a:spcPct val="0"/>
              </a:spcAft>
              <a:buChar char="»"/>
              <a:defRPr sz="2000">
                <a:solidFill>
                  <a:schemeClr val="tx1"/>
                </a:solidFill>
                <a:latin typeface="Arial" pitchFamily="34" charset="0"/>
                <a:ea typeface="ＭＳ Ｐゴシック" pitchFamily="-65" charset="-128"/>
              </a:defRPr>
            </a:lvl8pPr>
            <a:lvl9pPr marL="3886200" indent="-228600" eaLnBrk="0" fontAlgn="base" hangingPunct="0">
              <a:spcBef>
                <a:spcPct val="20000"/>
              </a:spcBef>
              <a:spcAft>
                <a:spcPct val="0"/>
              </a:spcAft>
              <a:buChar char="»"/>
              <a:defRPr sz="2000">
                <a:solidFill>
                  <a:schemeClr val="tx1"/>
                </a:solidFill>
                <a:latin typeface="Arial" pitchFamily="34" charset="0"/>
                <a:ea typeface="ＭＳ Ｐゴシック" pitchFamily="-65" charset="-128"/>
              </a:defRPr>
            </a:lvl9pPr>
          </a:lstStyle>
          <a:p>
            <a:pPr>
              <a:spcBef>
                <a:spcPct val="0"/>
              </a:spcBef>
              <a:buFontTx/>
              <a:buNone/>
            </a:pPr>
            <a:r>
              <a:rPr lang="en-US" altLang="en-US" sz="2400" dirty="0">
                <a:latin typeface="Calibri" pitchFamily="34" charset="0"/>
              </a:rPr>
              <a:t>n</a:t>
            </a:r>
          </a:p>
        </p:txBody>
      </p:sp>
      <p:sp>
        <p:nvSpPr>
          <p:cNvPr id="26" name="Text Box 27">
            <a:extLst>
              <a:ext uri="{FF2B5EF4-FFF2-40B4-BE49-F238E27FC236}">
                <a16:creationId xmlns:a16="http://schemas.microsoft.com/office/drawing/2014/main" id="{D87C1023-3C33-1C0D-E8E0-1D214977A7AE}"/>
              </a:ext>
            </a:extLst>
          </p:cNvPr>
          <p:cNvSpPr txBox="1">
            <a:spLocks noChangeArrowheads="1"/>
          </p:cNvSpPr>
          <p:nvPr/>
        </p:nvSpPr>
        <p:spPr bwMode="auto">
          <a:xfrm>
            <a:off x="6656388" y="5791200"/>
            <a:ext cx="354012"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itchFamily="34" charset="0"/>
                <a:ea typeface="ＭＳ Ｐゴシック" pitchFamily="-65" charset="-128"/>
              </a:defRPr>
            </a:lvl1pPr>
            <a:lvl2pPr marL="742950" indent="-285750">
              <a:spcBef>
                <a:spcPct val="20000"/>
              </a:spcBef>
              <a:buChar char="–"/>
              <a:defRPr sz="2800">
                <a:solidFill>
                  <a:schemeClr val="tx1"/>
                </a:solidFill>
                <a:latin typeface="Arial" pitchFamily="34" charset="0"/>
                <a:ea typeface="ＭＳ Ｐゴシック" pitchFamily="-65" charset="-128"/>
              </a:defRPr>
            </a:lvl2pPr>
            <a:lvl3pPr marL="1143000" indent="-228600">
              <a:spcBef>
                <a:spcPct val="20000"/>
              </a:spcBef>
              <a:buChar char="•"/>
              <a:defRPr sz="2400">
                <a:solidFill>
                  <a:schemeClr val="tx1"/>
                </a:solidFill>
                <a:latin typeface="Arial" pitchFamily="34" charset="0"/>
                <a:ea typeface="ＭＳ Ｐゴシック" pitchFamily="-65" charset="-128"/>
              </a:defRPr>
            </a:lvl3pPr>
            <a:lvl4pPr marL="1600200" indent="-228600">
              <a:spcBef>
                <a:spcPct val="20000"/>
              </a:spcBef>
              <a:buChar char="–"/>
              <a:defRPr sz="2000">
                <a:solidFill>
                  <a:schemeClr val="tx1"/>
                </a:solidFill>
                <a:latin typeface="Arial" pitchFamily="34" charset="0"/>
                <a:ea typeface="ＭＳ Ｐゴシック" pitchFamily="-65" charset="-128"/>
              </a:defRPr>
            </a:lvl4pPr>
            <a:lvl5pPr marL="2057400" indent="-228600">
              <a:spcBef>
                <a:spcPct val="20000"/>
              </a:spcBef>
              <a:buChar char="»"/>
              <a:defRPr sz="2000">
                <a:solidFill>
                  <a:schemeClr val="tx1"/>
                </a:solidFill>
                <a:latin typeface="Arial" pitchFamily="34" charset="0"/>
                <a:ea typeface="ＭＳ Ｐゴシック" pitchFamily="-65" charset="-128"/>
              </a:defRPr>
            </a:lvl5pPr>
            <a:lvl6pPr marL="2514600" indent="-228600" eaLnBrk="0" fontAlgn="base" hangingPunct="0">
              <a:spcBef>
                <a:spcPct val="20000"/>
              </a:spcBef>
              <a:spcAft>
                <a:spcPct val="0"/>
              </a:spcAft>
              <a:buChar char="»"/>
              <a:defRPr sz="2000">
                <a:solidFill>
                  <a:schemeClr val="tx1"/>
                </a:solidFill>
                <a:latin typeface="Arial" pitchFamily="34" charset="0"/>
                <a:ea typeface="ＭＳ Ｐゴシック" pitchFamily="-65" charset="-128"/>
              </a:defRPr>
            </a:lvl6pPr>
            <a:lvl7pPr marL="2971800" indent="-228600" eaLnBrk="0" fontAlgn="base" hangingPunct="0">
              <a:spcBef>
                <a:spcPct val="20000"/>
              </a:spcBef>
              <a:spcAft>
                <a:spcPct val="0"/>
              </a:spcAft>
              <a:buChar char="»"/>
              <a:defRPr sz="2000">
                <a:solidFill>
                  <a:schemeClr val="tx1"/>
                </a:solidFill>
                <a:latin typeface="Arial" pitchFamily="34" charset="0"/>
                <a:ea typeface="ＭＳ Ｐゴシック" pitchFamily="-65" charset="-128"/>
              </a:defRPr>
            </a:lvl7pPr>
            <a:lvl8pPr marL="3429000" indent="-228600" eaLnBrk="0" fontAlgn="base" hangingPunct="0">
              <a:spcBef>
                <a:spcPct val="20000"/>
              </a:spcBef>
              <a:spcAft>
                <a:spcPct val="0"/>
              </a:spcAft>
              <a:buChar char="»"/>
              <a:defRPr sz="2000">
                <a:solidFill>
                  <a:schemeClr val="tx1"/>
                </a:solidFill>
                <a:latin typeface="Arial" pitchFamily="34" charset="0"/>
                <a:ea typeface="ＭＳ Ｐゴシック" pitchFamily="-65" charset="-128"/>
              </a:defRPr>
            </a:lvl8pPr>
            <a:lvl9pPr marL="3886200" indent="-228600" eaLnBrk="0" fontAlgn="base" hangingPunct="0">
              <a:spcBef>
                <a:spcPct val="20000"/>
              </a:spcBef>
              <a:spcAft>
                <a:spcPct val="0"/>
              </a:spcAft>
              <a:buChar char="»"/>
              <a:defRPr sz="2000">
                <a:solidFill>
                  <a:schemeClr val="tx1"/>
                </a:solidFill>
                <a:latin typeface="Arial" pitchFamily="34" charset="0"/>
                <a:ea typeface="ＭＳ Ｐゴシック" pitchFamily="-65" charset="-128"/>
              </a:defRPr>
            </a:lvl9pPr>
          </a:lstStyle>
          <a:p>
            <a:pPr>
              <a:spcBef>
                <a:spcPct val="0"/>
              </a:spcBef>
              <a:buFontTx/>
              <a:buNone/>
            </a:pPr>
            <a:r>
              <a:rPr lang="en-US" altLang="en-US" sz="2400" dirty="0">
                <a:latin typeface="Calibri" pitchFamily="34" charset="0"/>
              </a:rPr>
              <a:t>n</a:t>
            </a:r>
          </a:p>
        </p:txBody>
      </p:sp>
      <p:sp>
        <p:nvSpPr>
          <p:cNvPr id="27" name="Text Box 28">
            <a:extLst>
              <a:ext uri="{FF2B5EF4-FFF2-40B4-BE49-F238E27FC236}">
                <a16:creationId xmlns:a16="http://schemas.microsoft.com/office/drawing/2014/main" id="{C9BE3CE5-FB3A-777D-4B82-A44915981644}"/>
              </a:ext>
            </a:extLst>
          </p:cNvPr>
          <p:cNvSpPr txBox="1">
            <a:spLocks noChangeArrowheads="1"/>
          </p:cNvSpPr>
          <p:nvPr/>
        </p:nvSpPr>
        <p:spPr bwMode="auto">
          <a:xfrm>
            <a:off x="7848600" y="4953000"/>
            <a:ext cx="354013"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itchFamily="34" charset="0"/>
                <a:ea typeface="ＭＳ Ｐゴシック" pitchFamily="-65" charset="-128"/>
              </a:defRPr>
            </a:lvl1pPr>
            <a:lvl2pPr marL="742950" indent="-285750">
              <a:spcBef>
                <a:spcPct val="20000"/>
              </a:spcBef>
              <a:buChar char="–"/>
              <a:defRPr sz="2800">
                <a:solidFill>
                  <a:schemeClr val="tx1"/>
                </a:solidFill>
                <a:latin typeface="Arial" pitchFamily="34" charset="0"/>
                <a:ea typeface="ＭＳ Ｐゴシック" pitchFamily="-65" charset="-128"/>
              </a:defRPr>
            </a:lvl2pPr>
            <a:lvl3pPr marL="1143000" indent="-228600">
              <a:spcBef>
                <a:spcPct val="20000"/>
              </a:spcBef>
              <a:buChar char="•"/>
              <a:defRPr sz="2400">
                <a:solidFill>
                  <a:schemeClr val="tx1"/>
                </a:solidFill>
                <a:latin typeface="Arial" pitchFamily="34" charset="0"/>
                <a:ea typeface="ＭＳ Ｐゴシック" pitchFamily="-65" charset="-128"/>
              </a:defRPr>
            </a:lvl3pPr>
            <a:lvl4pPr marL="1600200" indent="-228600">
              <a:spcBef>
                <a:spcPct val="20000"/>
              </a:spcBef>
              <a:buChar char="–"/>
              <a:defRPr sz="2000">
                <a:solidFill>
                  <a:schemeClr val="tx1"/>
                </a:solidFill>
                <a:latin typeface="Arial" pitchFamily="34" charset="0"/>
                <a:ea typeface="ＭＳ Ｐゴシック" pitchFamily="-65" charset="-128"/>
              </a:defRPr>
            </a:lvl4pPr>
            <a:lvl5pPr marL="2057400" indent="-228600">
              <a:spcBef>
                <a:spcPct val="20000"/>
              </a:spcBef>
              <a:buChar char="»"/>
              <a:defRPr sz="2000">
                <a:solidFill>
                  <a:schemeClr val="tx1"/>
                </a:solidFill>
                <a:latin typeface="Arial" pitchFamily="34" charset="0"/>
                <a:ea typeface="ＭＳ Ｐゴシック" pitchFamily="-65" charset="-128"/>
              </a:defRPr>
            </a:lvl5pPr>
            <a:lvl6pPr marL="2514600" indent="-228600" eaLnBrk="0" fontAlgn="base" hangingPunct="0">
              <a:spcBef>
                <a:spcPct val="20000"/>
              </a:spcBef>
              <a:spcAft>
                <a:spcPct val="0"/>
              </a:spcAft>
              <a:buChar char="»"/>
              <a:defRPr sz="2000">
                <a:solidFill>
                  <a:schemeClr val="tx1"/>
                </a:solidFill>
                <a:latin typeface="Arial" pitchFamily="34" charset="0"/>
                <a:ea typeface="ＭＳ Ｐゴシック" pitchFamily="-65" charset="-128"/>
              </a:defRPr>
            </a:lvl6pPr>
            <a:lvl7pPr marL="2971800" indent="-228600" eaLnBrk="0" fontAlgn="base" hangingPunct="0">
              <a:spcBef>
                <a:spcPct val="20000"/>
              </a:spcBef>
              <a:spcAft>
                <a:spcPct val="0"/>
              </a:spcAft>
              <a:buChar char="»"/>
              <a:defRPr sz="2000">
                <a:solidFill>
                  <a:schemeClr val="tx1"/>
                </a:solidFill>
                <a:latin typeface="Arial" pitchFamily="34" charset="0"/>
                <a:ea typeface="ＭＳ Ｐゴシック" pitchFamily="-65" charset="-128"/>
              </a:defRPr>
            </a:lvl7pPr>
            <a:lvl8pPr marL="3429000" indent="-228600" eaLnBrk="0" fontAlgn="base" hangingPunct="0">
              <a:spcBef>
                <a:spcPct val="20000"/>
              </a:spcBef>
              <a:spcAft>
                <a:spcPct val="0"/>
              </a:spcAft>
              <a:buChar char="»"/>
              <a:defRPr sz="2000">
                <a:solidFill>
                  <a:schemeClr val="tx1"/>
                </a:solidFill>
                <a:latin typeface="Arial" pitchFamily="34" charset="0"/>
                <a:ea typeface="ＭＳ Ｐゴシック" pitchFamily="-65" charset="-128"/>
              </a:defRPr>
            </a:lvl8pPr>
            <a:lvl9pPr marL="3886200" indent="-228600" eaLnBrk="0" fontAlgn="base" hangingPunct="0">
              <a:spcBef>
                <a:spcPct val="20000"/>
              </a:spcBef>
              <a:spcAft>
                <a:spcPct val="0"/>
              </a:spcAft>
              <a:buChar char="»"/>
              <a:defRPr sz="2000">
                <a:solidFill>
                  <a:schemeClr val="tx1"/>
                </a:solidFill>
                <a:latin typeface="Arial" pitchFamily="34" charset="0"/>
                <a:ea typeface="ＭＳ Ｐゴシック" pitchFamily="-65" charset="-128"/>
              </a:defRPr>
            </a:lvl9pPr>
          </a:lstStyle>
          <a:p>
            <a:pPr>
              <a:spcBef>
                <a:spcPct val="0"/>
              </a:spcBef>
              <a:buFontTx/>
              <a:buNone/>
            </a:pPr>
            <a:r>
              <a:rPr lang="en-US" altLang="en-US" sz="2400" dirty="0">
                <a:latin typeface="Calibri" pitchFamily="34" charset="0"/>
              </a:rPr>
              <a:t>n</a:t>
            </a:r>
          </a:p>
        </p:txBody>
      </p:sp>
      <p:sp>
        <p:nvSpPr>
          <p:cNvPr id="28" name="Text Box 29">
            <a:extLst>
              <a:ext uri="{FF2B5EF4-FFF2-40B4-BE49-F238E27FC236}">
                <a16:creationId xmlns:a16="http://schemas.microsoft.com/office/drawing/2014/main" id="{756036FF-0B51-9708-89A0-F98E554BF1CA}"/>
              </a:ext>
            </a:extLst>
          </p:cNvPr>
          <p:cNvSpPr txBox="1">
            <a:spLocks noChangeArrowheads="1"/>
          </p:cNvSpPr>
          <p:nvPr/>
        </p:nvSpPr>
        <p:spPr bwMode="auto">
          <a:xfrm>
            <a:off x="3429000" y="2743200"/>
            <a:ext cx="1354138"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itchFamily="34" charset="0"/>
                <a:ea typeface="ＭＳ Ｐゴシック" pitchFamily="-65" charset="-128"/>
              </a:defRPr>
            </a:lvl1pPr>
            <a:lvl2pPr marL="742950" indent="-285750">
              <a:spcBef>
                <a:spcPct val="20000"/>
              </a:spcBef>
              <a:buChar char="–"/>
              <a:defRPr sz="2800">
                <a:solidFill>
                  <a:schemeClr val="tx1"/>
                </a:solidFill>
                <a:latin typeface="Arial" pitchFamily="34" charset="0"/>
                <a:ea typeface="ＭＳ Ｐゴシック" pitchFamily="-65" charset="-128"/>
              </a:defRPr>
            </a:lvl2pPr>
            <a:lvl3pPr marL="1143000" indent="-228600">
              <a:spcBef>
                <a:spcPct val="20000"/>
              </a:spcBef>
              <a:buChar char="•"/>
              <a:defRPr sz="2400">
                <a:solidFill>
                  <a:schemeClr val="tx1"/>
                </a:solidFill>
                <a:latin typeface="Arial" pitchFamily="34" charset="0"/>
                <a:ea typeface="ＭＳ Ｐゴシック" pitchFamily="-65" charset="-128"/>
              </a:defRPr>
            </a:lvl3pPr>
            <a:lvl4pPr marL="1600200" indent="-228600">
              <a:spcBef>
                <a:spcPct val="20000"/>
              </a:spcBef>
              <a:buChar char="–"/>
              <a:defRPr sz="2000">
                <a:solidFill>
                  <a:schemeClr val="tx1"/>
                </a:solidFill>
                <a:latin typeface="Arial" pitchFamily="34" charset="0"/>
                <a:ea typeface="ＭＳ Ｐゴシック" pitchFamily="-65" charset="-128"/>
              </a:defRPr>
            </a:lvl4pPr>
            <a:lvl5pPr marL="2057400" indent="-228600">
              <a:spcBef>
                <a:spcPct val="20000"/>
              </a:spcBef>
              <a:buChar char="»"/>
              <a:defRPr sz="2000">
                <a:solidFill>
                  <a:schemeClr val="tx1"/>
                </a:solidFill>
                <a:latin typeface="Arial" pitchFamily="34" charset="0"/>
                <a:ea typeface="ＭＳ Ｐゴシック" pitchFamily="-65" charset="-128"/>
              </a:defRPr>
            </a:lvl5pPr>
            <a:lvl6pPr marL="2514600" indent="-228600" eaLnBrk="0" fontAlgn="base" hangingPunct="0">
              <a:spcBef>
                <a:spcPct val="20000"/>
              </a:spcBef>
              <a:spcAft>
                <a:spcPct val="0"/>
              </a:spcAft>
              <a:buChar char="»"/>
              <a:defRPr sz="2000">
                <a:solidFill>
                  <a:schemeClr val="tx1"/>
                </a:solidFill>
                <a:latin typeface="Arial" pitchFamily="34" charset="0"/>
                <a:ea typeface="ＭＳ Ｐゴシック" pitchFamily="-65" charset="-128"/>
              </a:defRPr>
            </a:lvl6pPr>
            <a:lvl7pPr marL="2971800" indent="-228600" eaLnBrk="0" fontAlgn="base" hangingPunct="0">
              <a:spcBef>
                <a:spcPct val="20000"/>
              </a:spcBef>
              <a:spcAft>
                <a:spcPct val="0"/>
              </a:spcAft>
              <a:buChar char="»"/>
              <a:defRPr sz="2000">
                <a:solidFill>
                  <a:schemeClr val="tx1"/>
                </a:solidFill>
                <a:latin typeface="Arial" pitchFamily="34" charset="0"/>
                <a:ea typeface="ＭＳ Ｐゴシック" pitchFamily="-65" charset="-128"/>
              </a:defRPr>
            </a:lvl7pPr>
            <a:lvl8pPr marL="3429000" indent="-228600" eaLnBrk="0" fontAlgn="base" hangingPunct="0">
              <a:spcBef>
                <a:spcPct val="20000"/>
              </a:spcBef>
              <a:spcAft>
                <a:spcPct val="0"/>
              </a:spcAft>
              <a:buChar char="»"/>
              <a:defRPr sz="2000">
                <a:solidFill>
                  <a:schemeClr val="tx1"/>
                </a:solidFill>
                <a:latin typeface="Arial" pitchFamily="34" charset="0"/>
                <a:ea typeface="ＭＳ Ｐゴシック" pitchFamily="-65" charset="-128"/>
              </a:defRPr>
            </a:lvl8pPr>
            <a:lvl9pPr marL="3886200" indent="-228600" eaLnBrk="0" fontAlgn="base" hangingPunct="0">
              <a:spcBef>
                <a:spcPct val="20000"/>
              </a:spcBef>
              <a:spcAft>
                <a:spcPct val="0"/>
              </a:spcAft>
              <a:buChar char="»"/>
              <a:defRPr sz="2000">
                <a:solidFill>
                  <a:schemeClr val="tx1"/>
                </a:solidFill>
                <a:latin typeface="Arial" pitchFamily="34" charset="0"/>
                <a:ea typeface="ＭＳ Ｐゴシック" pitchFamily="-65" charset="-128"/>
              </a:defRPr>
            </a:lvl9pPr>
          </a:lstStyle>
          <a:p>
            <a:pPr>
              <a:spcBef>
                <a:spcPct val="0"/>
              </a:spcBef>
              <a:buFontTx/>
              <a:buNone/>
            </a:pPr>
            <a:r>
              <a:rPr lang="en-US" altLang="en-US" sz="2800" i="1" dirty="0">
                <a:latin typeface="Calibri" pitchFamily="34" charset="0"/>
              </a:rPr>
              <a:t>n log</a:t>
            </a:r>
            <a:r>
              <a:rPr lang="en-US" altLang="en-US" sz="2800" i="1" baseline="-25000" dirty="0">
                <a:latin typeface="Calibri" pitchFamily="34" charset="0"/>
              </a:rPr>
              <a:t>2 </a:t>
            </a:r>
            <a:r>
              <a:rPr lang="en-US" altLang="en-US" sz="2800" i="1" dirty="0">
                <a:latin typeface="Calibri" pitchFamily="34" charset="0"/>
              </a:rPr>
              <a:t>n</a:t>
            </a:r>
          </a:p>
        </p:txBody>
      </p:sp>
    </p:spTree>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0" y="0"/>
            <a:ext cx="12192000" cy="762000"/>
          </a:xfrm>
          <a:prstGeom prst="rect">
            <a:avLst/>
          </a:prstGeom>
          <a:solidFill>
            <a:srgbClr val="002F7C"/>
          </a:solidFill>
        </p:spPr>
        <p:style>
          <a:lnRef idx="2">
            <a:schemeClr val="dk1">
              <a:shade val="50000"/>
            </a:schemeClr>
          </a:lnRef>
          <a:fillRef idx="1">
            <a:schemeClr val="dk1"/>
          </a:fillRef>
          <a:effectRef idx="0">
            <a:schemeClr val="dk1"/>
          </a:effectRef>
          <a:fontRef idx="minor">
            <a:schemeClr val="lt1"/>
          </a:fontRef>
        </p:style>
        <p:txBody>
          <a:bodyPr rtlCol="0" anchor="ctr"/>
          <a:lstStyle/>
          <a:p>
            <a:r>
              <a:rPr lang="zh-CN" altLang="en-US" sz="2000" b="1" dirty="0">
                <a:latin typeface="Times New Roman" panose="02020603050405020304" pitchFamily="18" charset="0"/>
                <a:ea typeface="宋体" panose="02010600030101010101" pitchFamily="2" charset="-122"/>
                <a:cs typeface="Times New Roman" panose="02020603050405020304" pitchFamily="18" charset="0"/>
              </a:rPr>
              <a:t>                </a:t>
            </a:r>
            <a:r>
              <a:rPr lang="en-US" altLang="zh-CN" sz="2400" b="1" dirty="0">
                <a:latin typeface="Trebuchet MS" panose="020B0603020202020204" pitchFamily="34" charset="0"/>
              </a:rPr>
              <a:t>Chapter 8: </a:t>
            </a:r>
            <a:r>
              <a:rPr lang="en-US" altLang="zh-CN" sz="2400" dirty="0"/>
              <a:t>INTRACTABILITY</a:t>
            </a:r>
            <a:endParaRPr lang="zh-CN" altLang="en-US" sz="2400" b="1" dirty="0">
              <a:solidFill>
                <a:srgbClr val="3D557A"/>
              </a:solidFill>
              <a:latin typeface="Trebuchet MS" panose="020B0603020202020204" pitchFamily="34" charset="0"/>
            </a:endParaRPr>
          </a:p>
        </p:txBody>
      </p:sp>
      <p:sp>
        <p:nvSpPr>
          <p:cNvPr id="13" name="矩形 12"/>
          <p:cNvSpPr/>
          <p:nvPr/>
        </p:nvSpPr>
        <p:spPr>
          <a:xfrm>
            <a:off x="824682" y="0"/>
            <a:ext cx="175443" cy="628650"/>
          </a:xfrm>
          <a:prstGeom prst="rect">
            <a:avLst/>
          </a:prstGeom>
          <a:solidFill>
            <a:srgbClr val="CFA57C"/>
          </a:solidFill>
          <a:ln cmpd="sng">
            <a:gradFill flip="none" rotWithShape="1">
              <a:gsLst>
                <a:gs pos="50000">
                  <a:schemeClr val="accent2">
                    <a:lumMod val="60000"/>
                    <a:lumOff val="40000"/>
                  </a:schemeClr>
                </a:gs>
                <a:gs pos="0">
                  <a:schemeClr val="accent2">
                    <a:lumMod val="20000"/>
                    <a:lumOff val="80000"/>
                  </a:schemeClr>
                </a:gs>
                <a:gs pos="95000">
                  <a:schemeClr val="accent2"/>
                </a:gs>
              </a:gsLst>
              <a:path path="circle">
                <a:fillToRect l="50000" t="-80000" r="50000" b="180000"/>
              </a:path>
              <a:tileRect/>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22" name="Picture 6" descr="D:\MBA工作\LOGO\同济经管LOGO反白.png"/>
          <p:cNvPicPr>
            <a:picLocks noChangeAspect="1" noChangeArrowheads="1"/>
          </p:cNvPicPr>
          <p:nvPr/>
        </p:nvPicPr>
        <p:blipFill>
          <a:blip r:embed="rId3" cstate="email">
            <a:extLst>
              <a:ext uri="{28A0092B-C50C-407E-A947-70E740481C1C}">
                <a14:useLocalDpi xmlns:a14="http://schemas.microsoft.com/office/drawing/2010/main" val="0"/>
              </a:ext>
            </a:extLst>
          </a:blip>
          <a:srcRect/>
          <a:stretch>
            <a:fillRect/>
          </a:stretch>
        </p:blipFill>
        <p:spPr bwMode="auto">
          <a:xfrm>
            <a:off x="10267423" y="165688"/>
            <a:ext cx="1386605" cy="462962"/>
          </a:xfrm>
          <a:prstGeom prst="rect">
            <a:avLst/>
          </a:prstGeom>
          <a:noFill/>
          <a:extLst>
            <a:ext uri="{909E8E84-426E-40DD-AFC4-6F175D3DCCD1}">
              <a14:hiddenFill xmlns:a14="http://schemas.microsoft.com/office/drawing/2010/main">
                <a:solidFill>
                  <a:srgbClr val="FFFFFF"/>
                </a:solidFill>
              </a14:hiddenFill>
            </a:ext>
          </a:extLst>
        </p:spPr>
      </p:pic>
      <p:pic>
        <p:nvPicPr>
          <p:cNvPr id="2" name="图片 1" descr="微信图片_20220318113523"/>
          <p:cNvPicPr>
            <a:picLocks noChangeAspect="1"/>
          </p:cNvPicPr>
          <p:nvPr userDrawn="1"/>
        </p:nvPicPr>
        <p:blipFill>
          <a:blip r:embed="rId4"/>
          <a:stretch>
            <a:fillRect/>
          </a:stretch>
        </p:blipFill>
        <p:spPr>
          <a:xfrm>
            <a:off x="9291877" y="6115050"/>
            <a:ext cx="2244725" cy="361315"/>
          </a:xfrm>
          <a:prstGeom prst="rect">
            <a:avLst/>
          </a:prstGeom>
        </p:spPr>
      </p:pic>
      <p:sp>
        <p:nvSpPr>
          <p:cNvPr id="18" name="Rectangle 2">
            <a:extLst>
              <a:ext uri="{FF2B5EF4-FFF2-40B4-BE49-F238E27FC236}">
                <a16:creationId xmlns:a16="http://schemas.microsoft.com/office/drawing/2014/main" id="{E217C615-1D49-4D07-B850-D36106D7AA9A}"/>
              </a:ext>
            </a:extLst>
          </p:cNvPr>
          <p:cNvSpPr>
            <a:spLocks noChangeArrowheads="1"/>
          </p:cNvSpPr>
          <p:nvPr/>
        </p:nvSpPr>
        <p:spPr bwMode="auto">
          <a:xfrm>
            <a:off x="1000125" y="815365"/>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8" name="Rectangle 3">
            <a:extLst>
              <a:ext uri="{FF2B5EF4-FFF2-40B4-BE49-F238E27FC236}">
                <a16:creationId xmlns:a16="http://schemas.microsoft.com/office/drawing/2014/main" id="{97F08C45-3D15-45C1-A5A3-D1EB58DC91FE}"/>
              </a:ext>
            </a:extLst>
          </p:cNvPr>
          <p:cNvSpPr txBox="1">
            <a:spLocks noChangeArrowheads="1"/>
          </p:cNvSpPr>
          <p:nvPr/>
        </p:nvSpPr>
        <p:spPr>
          <a:xfrm>
            <a:off x="824681" y="765175"/>
            <a:ext cx="8798289" cy="5788025"/>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indent="1828800">
              <a:lnSpc>
                <a:spcPct val="130000"/>
              </a:lnSpc>
              <a:spcBef>
                <a:spcPts val="600"/>
              </a:spcBef>
              <a:buNone/>
            </a:pPr>
            <a:endParaRPr lang="en-US" altLang="zh-CN" sz="2400" b="1" dirty="0">
              <a:latin typeface="Trebuchet MS" panose="020B0603020202020204" pitchFamily="34" charset="0"/>
            </a:endParaRPr>
          </a:p>
        </p:txBody>
      </p:sp>
      <p:sp>
        <p:nvSpPr>
          <p:cNvPr id="4" name="文本框 3">
            <a:extLst>
              <a:ext uri="{FF2B5EF4-FFF2-40B4-BE49-F238E27FC236}">
                <a16:creationId xmlns:a16="http://schemas.microsoft.com/office/drawing/2014/main" id="{B94D7816-9361-9710-53A5-054D548539A2}"/>
              </a:ext>
            </a:extLst>
          </p:cNvPr>
          <p:cNvSpPr txBox="1"/>
          <p:nvPr/>
        </p:nvSpPr>
        <p:spPr>
          <a:xfrm>
            <a:off x="1222872" y="1374904"/>
            <a:ext cx="6103344" cy="369332"/>
          </a:xfrm>
          <a:prstGeom prst="rect">
            <a:avLst/>
          </a:prstGeom>
          <a:noFill/>
        </p:spPr>
        <p:txBody>
          <a:bodyPr wrap="square">
            <a:spAutoFit/>
          </a:bodyPr>
          <a:lstStyle/>
          <a:p>
            <a:r>
              <a:rPr lang="ja-JP" altLang="en-US" dirty="0"/>
              <a:t>“</a:t>
            </a:r>
            <a:r>
              <a:rPr lang="en-US" altLang="ja-JP" dirty="0"/>
              <a:t>Easy</a:t>
            </a:r>
            <a:r>
              <a:rPr lang="ja-JP" altLang="en-US" dirty="0"/>
              <a:t>”</a:t>
            </a:r>
            <a:r>
              <a:rPr lang="en-US" altLang="ja-JP" dirty="0"/>
              <a:t> Problems</a:t>
            </a:r>
            <a:endParaRPr lang="zh-CN" altLang="en-US" dirty="0"/>
          </a:p>
        </p:txBody>
      </p:sp>
      <p:pic>
        <p:nvPicPr>
          <p:cNvPr id="5" name="Picture 6" descr="shortestpath">
            <a:extLst>
              <a:ext uri="{FF2B5EF4-FFF2-40B4-BE49-F238E27FC236}">
                <a16:creationId xmlns:a16="http://schemas.microsoft.com/office/drawing/2014/main" id="{248F5F08-07F2-3427-F4C2-7AF490D6083A}"/>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667000" y="2819400"/>
            <a:ext cx="3811588" cy="30495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Text Box 7">
            <a:extLst>
              <a:ext uri="{FF2B5EF4-FFF2-40B4-BE49-F238E27FC236}">
                <a16:creationId xmlns:a16="http://schemas.microsoft.com/office/drawing/2014/main" id="{760722FA-98A5-7440-EDB8-F4CCBAA06154}"/>
              </a:ext>
            </a:extLst>
          </p:cNvPr>
          <p:cNvSpPr txBox="1">
            <a:spLocks noChangeArrowheads="1"/>
          </p:cNvSpPr>
          <p:nvPr/>
        </p:nvSpPr>
        <p:spPr bwMode="auto">
          <a:xfrm>
            <a:off x="822325" y="2028825"/>
            <a:ext cx="6094104"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itchFamily="34" charset="0"/>
                <a:ea typeface="ＭＳ Ｐゴシック" pitchFamily="-65" charset="-128"/>
              </a:defRPr>
            </a:lvl1pPr>
            <a:lvl2pPr marL="742950" indent="-285750">
              <a:spcBef>
                <a:spcPct val="20000"/>
              </a:spcBef>
              <a:buChar char="–"/>
              <a:defRPr sz="2800">
                <a:solidFill>
                  <a:schemeClr val="tx1"/>
                </a:solidFill>
                <a:latin typeface="Arial" pitchFamily="34" charset="0"/>
                <a:ea typeface="ＭＳ Ｐゴシック" pitchFamily="-65" charset="-128"/>
              </a:defRPr>
            </a:lvl2pPr>
            <a:lvl3pPr marL="1143000" indent="-228600">
              <a:spcBef>
                <a:spcPct val="20000"/>
              </a:spcBef>
              <a:buChar char="•"/>
              <a:defRPr sz="2400">
                <a:solidFill>
                  <a:schemeClr val="tx1"/>
                </a:solidFill>
                <a:latin typeface="Arial" pitchFamily="34" charset="0"/>
                <a:ea typeface="ＭＳ Ｐゴシック" pitchFamily="-65" charset="-128"/>
              </a:defRPr>
            </a:lvl3pPr>
            <a:lvl4pPr marL="1600200" indent="-228600">
              <a:spcBef>
                <a:spcPct val="20000"/>
              </a:spcBef>
              <a:buChar char="–"/>
              <a:defRPr sz="2000">
                <a:solidFill>
                  <a:schemeClr val="tx1"/>
                </a:solidFill>
                <a:latin typeface="Arial" pitchFamily="34" charset="0"/>
                <a:ea typeface="ＭＳ Ｐゴシック" pitchFamily="-65" charset="-128"/>
              </a:defRPr>
            </a:lvl4pPr>
            <a:lvl5pPr marL="2057400" indent="-228600">
              <a:spcBef>
                <a:spcPct val="20000"/>
              </a:spcBef>
              <a:buChar char="»"/>
              <a:defRPr sz="2000">
                <a:solidFill>
                  <a:schemeClr val="tx1"/>
                </a:solidFill>
                <a:latin typeface="Arial" pitchFamily="34" charset="0"/>
                <a:ea typeface="ＭＳ Ｐゴシック" pitchFamily="-65" charset="-128"/>
              </a:defRPr>
            </a:lvl5pPr>
            <a:lvl6pPr marL="2514600" indent="-228600" eaLnBrk="0" fontAlgn="base" hangingPunct="0">
              <a:spcBef>
                <a:spcPct val="20000"/>
              </a:spcBef>
              <a:spcAft>
                <a:spcPct val="0"/>
              </a:spcAft>
              <a:buChar char="»"/>
              <a:defRPr sz="2000">
                <a:solidFill>
                  <a:schemeClr val="tx1"/>
                </a:solidFill>
                <a:latin typeface="Arial" pitchFamily="34" charset="0"/>
                <a:ea typeface="ＭＳ Ｐゴシック" pitchFamily="-65" charset="-128"/>
              </a:defRPr>
            </a:lvl6pPr>
            <a:lvl7pPr marL="2971800" indent="-228600" eaLnBrk="0" fontAlgn="base" hangingPunct="0">
              <a:spcBef>
                <a:spcPct val="20000"/>
              </a:spcBef>
              <a:spcAft>
                <a:spcPct val="0"/>
              </a:spcAft>
              <a:buChar char="»"/>
              <a:defRPr sz="2000">
                <a:solidFill>
                  <a:schemeClr val="tx1"/>
                </a:solidFill>
                <a:latin typeface="Arial" pitchFamily="34" charset="0"/>
                <a:ea typeface="ＭＳ Ｐゴシック" pitchFamily="-65" charset="-128"/>
              </a:defRPr>
            </a:lvl7pPr>
            <a:lvl8pPr marL="3429000" indent="-228600" eaLnBrk="0" fontAlgn="base" hangingPunct="0">
              <a:spcBef>
                <a:spcPct val="20000"/>
              </a:spcBef>
              <a:spcAft>
                <a:spcPct val="0"/>
              </a:spcAft>
              <a:buChar char="»"/>
              <a:defRPr sz="2000">
                <a:solidFill>
                  <a:schemeClr val="tx1"/>
                </a:solidFill>
                <a:latin typeface="Arial" pitchFamily="34" charset="0"/>
                <a:ea typeface="ＭＳ Ｐゴシック" pitchFamily="-65" charset="-128"/>
              </a:defRPr>
            </a:lvl8pPr>
            <a:lvl9pPr marL="3886200" indent="-228600" eaLnBrk="0" fontAlgn="base" hangingPunct="0">
              <a:spcBef>
                <a:spcPct val="20000"/>
              </a:spcBef>
              <a:spcAft>
                <a:spcPct val="0"/>
              </a:spcAft>
              <a:buChar char="»"/>
              <a:defRPr sz="2000">
                <a:solidFill>
                  <a:schemeClr val="tx1"/>
                </a:solidFill>
                <a:latin typeface="Arial" pitchFamily="34" charset="0"/>
                <a:ea typeface="ＭＳ Ｐゴシック" pitchFamily="-65" charset="-128"/>
              </a:defRPr>
            </a:lvl9pPr>
          </a:lstStyle>
          <a:p>
            <a:pPr>
              <a:spcBef>
                <a:spcPct val="0"/>
              </a:spcBef>
              <a:buFontTx/>
              <a:buNone/>
            </a:pPr>
            <a:r>
              <a:rPr lang="en-US" altLang="en-US" sz="2400" dirty="0">
                <a:solidFill>
                  <a:srgbClr val="07621A"/>
                </a:solidFill>
                <a:latin typeface="Calibri" pitchFamily="34" charset="0"/>
              </a:rPr>
              <a:t>The Shortest Path Problem (i.e. “Google Maps</a:t>
            </a:r>
            <a:r>
              <a:rPr lang="en-US" altLang="ja-JP" sz="2400" dirty="0">
                <a:solidFill>
                  <a:srgbClr val="07621A"/>
                </a:solidFill>
                <a:latin typeface="Calibri" pitchFamily="34" charset="0"/>
              </a:rPr>
              <a:t>” </a:t>
            </a:r>
            <a:endParaRPr lang="en-US" altLang="en-US" sz="2400" dirty="0">
              <a:solidFill>
                <a:srgbClr val="07621A"/>
              </a:solidFill>
              <a:latin typeface="Calibri" pitchFamily="34" charset="0"/>
            </a:endParaRPr>
          </a:p>
        </p:txBody>
      </p:sp>
      <p:pic>
        <p:nvPicPr>
          <p:cNvPr id="7" name="Picture 13" descr="dijkstra">
            <a:extLst>
              <a:ext uri="{FF2B5EF4-FFF2-40B4-BE49-F238E27FC236}">
                <a16:creationId xmlns:a16="http://schemas.microsoft.com/office/drawing/2014/main" id="{628C3D30-8B51-446D-D32B-5D0EF8440809}"/>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858000" y="3429000"/>
            <a:ext cx="1792288" cy="23129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 name="Text Box 14">
            <a:extLst>
              <a:ext uri="{FF2B5EF4-FFF2-40B4-BE49-F238E27FC236}">
                <a16:creationId xmlns:a16="http://schemas.microsoft.com/office/drawing/2014/main" id="{875312BA-4D23-B6C3-A19C-4EA9F37256F4}"/>
              </a:ext>
            </a:extLst>
          </p:cNvPr>
          <p:cNvSpPr txBox="1">
            <a:spLocks noChangeArrowheads="1"/>
          </p:cNvSpPr>
          <p:nvPr/>
        </p:nvSpPr>
        <p:spPr bwMode="auto">
          <a:xfrm>
            <a:off x="6629400" y="5791200"/>
            <a:ext cx="264477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itchFamily="34" charset="0"/>
                <a:ea typeface="ＭＳ Ｐゴシック" pitchFamily="-65" charset="-128"/>
              </a:defRPr>
            </a:lvl1pPr>
            <a:lvl2pPr marL="742950" indent="-285750">
              <a:spcBef>
                <a:spcPct val="20000"/>
              </a:spcBef>
              <a:buChar char="–"/>
              <a:defRPr sz="2800">
                <a:solidFill>
                  <a:schemeClr val="tx1"/>
                </a:solidFill>
                <a:latin typeface="Arial" pitchFamily="34" charset="0"/>
                <a:ea typeface="ＭＳ Ｐゴシック" pitchFamily="-65" charset="-128"/>
              </a:defRPr>
            </a:lvl2pPr>
            <a:lvl3pPr marL="1143000" indent="-228600">
              <a:spcBef>
                <a:spcPct val="20000"/>
              </a:spcBef>
              <a:buChar char="•"/>
              <a:defRPr sz="2400">
                <a:solidFill>
                  <a:schemeClr val="tx1"/>
                </a:solidFill>
                <a:latin typeface="Arial" pitchFamily="34" charset="0"/>
                <a:ea typeface="ＭＳ Ｐゴシック" pitchFamily="-65" charset="-128"/>
              </a:defRPr>
            </a:lvl3pPr>
            <a:lvl4pPr marL="1600200" indent="-228600">
              <a:spcBef>
                <a:spcPct val="20000"/>
              </a:spcBef>
              <a:buChar char="–"/>
              <a:defRPr sz="2000">
                <a:solidFill>
                  <a:schemeClr val="tx1"/>
                </a:solidFill>
                <a:latin typeface="Arial" pitchFamily="34" charset="0"/>
                <a:ea typeface="ＭＳ Ｐゴシック" pitchFamily="-65" charset="-128"/>
              </a:defRPr>
            </a:lvl4pPr>
            <a:lvl5pPr marL="2057400" indent="-228600">
              <a:spcBef>
                <a:spcPct val="20000"/>
              </a:spcBef>
              <a:buChar char="»"/>
              <a:defRPr sz="2000">
                <a:solidFill>
                  <a:schemeClr val="tx1"/>
                </a:solidFill>
                <a:latin typeface="Arial" pitchFamily="34" charset="0"/>
                <a:ea typeface="ＭＳ Ｐゴシック" pitchFamily="-65" charset="-128"/>
              </a:defRPr>
            </a:lvl5pPr>
            <a:lvl6pPr marL="2514600" indent="-228600" eaLnBrk="0" fontAlgn="base" hangingPunct="0">
              <a:spcBef>
                <a:spcPct val="20000"/>
              </a:spcBef>
              <a:spcAft>
                <a:spcPct val="0"/>
              </a:spcAft>
              <a:buChar char="»"/>
              <a:defRPr sz="2000">
                <a:solidFill>
                  <a:schemeClr val="tx1"/>
                </a:solidFill>
                <a:latin typeface="Arial" pitchFamily="34" charset="0"/>
                <a:ea typeface="ＭＳ Ｐゴシック" pitchFamily="-65" charset="-128"/>
              </a:defRPr>
            </a:lvl6pPr>
            <a:lvl7pPr marL="2971800" indent="-228600" eaLnBrk="0" fontAlgn="base" hangingPunct="0">
              <a:spcBef>
                <a:spcPct val="20000"/>
              </a:spcBef>
              <a:spcAft>
                <a:spcPct val="0"/>
              </a:spcAft>
              <a:buChar char="»"/>
              <a:defRPr sz="2000">
                <a:solidFill>
                  <a:schemeClr val="tx1"/>
                </a:solidFill>
                <a:latin typeface="Arial" pitchFamily="34" charset="0"/>
                <a:ea typeface="ＭＳ Ｐゴシック" pitchFamily="-65" charset="-128"/>
              </a:defRPr>
            </a:lvl7pPr>
            <a:lvl8pPr marL="3429000" indent="-228600" eaLnBrk="0" fontAlgn="base" hangingPunct="0">
              <a:spcBef>
                <a:spcPct val="20000"/>
              </a:spcBef>
              <a:spcAft>
                <a:spcPct val="0"/>
              </a:spcAft>
              <a:buChar char="»"/>
              <a:defRPr sz="2000">
                <a:solidFill>
                  <a:schemeClr val="tx1"/>
                </a:solidFill>
                <a:latin typeface="Arial" pitchFamily="34" charset="0"/>
                <a:ea typeface="ＭＳ Ｐゴシック" pitchFamily="-65" charset="-128"/>
              </a:defRPr>
            </a:lvl8pPr>
            <a:lvl9pPr marL="3886200" indent="-228600" eaLnBrk="0" fontAlgn="base" hangingPunct="0">
              <a:spcBef>
                <a:spcPct val="20000"/>
              </a:spcBef>
              <a:spcAft>
                <a:spcPct val="0"/>
              </a:spcAft>
              <a:buChar char="»"/>
              <a:defRPr sz="2000">
                <a:solidFill>
                  <a:schemeClr val="tx1"/>
                </a:solidFill>
                <a:latin typeface="Arial" pitchFamily="34" charset="0"/>
                <a:ea typeface="ＭＳ Ｐゴシック" pitchFamily="-65" charset="-128"/>
              </a:defRPr>
            </a:lvl9pPr>
          </a:lstStyle>
          <a:p>
            <a:pPr>
              <a:spcBef>
                <a:spcPct val="50000"/>
              </a:spcBef>
              <a:buFontTx/>
              <a:buNone/>
            </a:pPr>
            <a:r>
              <a:rPr lang="en-US" altLang="en-US" sz="2400" dirty="0" err="1">
                <a:latin typeface="Calibri" pitchFamily="34" charset="0"/>
              </a:rPr>
              <a:t>Edsgar</a:t>
            </a:r>
            <a:r>
              <a:rPr lang="en-US" altLang="en-US" sz="2400" dirty="0">
                <a:latin typeface="Calibri" pitchFamily="34" charset="0"/>
              </a:rPr>
              <a:t> Dijkstra</a:t>
            </a:r>
          </a:p>
        </p:txBody>
      </p:sp>
      <p:sp>
        <p:nvSpPr>
          <p:cNvPr id="10" name="Rectangle 9">
            <a:extLst>
              <a:ext uri="{FF2B5EF4-FFF2-40B4-BE49-F238E27FC236}">
                <a16:creationId xmlns:a16="http://schemas.microsoft.com/office/drawing/2014/main" id="{70B6C008-B5C6-408A-7E40-B8A24067E3A7}"/>
              </a:ext>
            </a:extLst>
          </p:cNvPr>
          <p:cNvSpPr/>
          <p:nvPr/>
        </p:nvSpPr>
        <p:spPr>
          <a:xfrm>
            <a:off x="152400" y="6488668"/>
            <a:ext cx="8991600" cy="369332"/>
          </a:xfrm>
          <a:prstGeom prst="rect">
            <a:avLst/>
          </a:prstGeom>
        </p:spPr>
        <p:txBody>
          <a:bodyPr wrap="square">
            <a:spAutoFit/>
          </a:bodyPr>
          <a:lstStyle/>
          <a:p>
            <a:r>
              <a:rPr lang="en-US" sz="1800" dirty="0">
                <a:hlinkClick r:id="rId7"/>
              </a:rPr>
              <a:t>https://www.cs.hmc.edu/~cs5grad/cs5/LectureSlides/class07-black-16-functional5.pptx</a:t>
            </a:r>
            <a:r>
              <a:rPr lang="en-US" sz="1800" dirty="0"/>
              <a:t> </a:t>
            </a:r>
          </a:p>
        </p:txBody>
      </p:sp>
      <p:sp>
        <p:nvSpPr>
          <p:cNvPr id="11" name="TextBox 1">
            <a:extLst>
              <a:ext uri="{FF2B5EF4-FFF2-40B4-BE49-F238E27FC236}">
                <a16:creationId xmlns:a16="http://schemas.microsoft.com/office/drawing/2014/main" id="{B4DFC7AF-7B23-08F8-8AAC-5D0726B6A804}"/>
              </a:ext>
            </a:extLst>
          </p:cNvPr>
          <p:cNvSpPr txBox="1"/>
          <p:nvPr/>
        </p:nvSpPr>
        <p:spPr>
          <a:xfrm>
            <a:off x="314603" y="3451781"/>
            <a:ext cx="2592388" cy="1569660"/>
          </a:xfrm>
          <a:prstGeom prst="rect">
            <a:avLst/>
          </a:prstGeom>
          <a:solidFill>
            <a:srgbClr val="FFE9A3"/>
          </a:solidFill>
        </p:spPr>
        <p:txBody>
          <a:bodyPr wrap="square" rtlCol="0">
            <a:spAutoFit/>
          </a:bodyPr>
          <a:lstStyle/>
          <a:p>
            <a:r>
              <a:rPr lang="en-US" dirty="0"/>
              <a:t>Depending on implementation:</a:t>
            </a:r>
          </a:p>
          <a:p>
            <a:r>
              <a:rPr lang="en-US" dirty="0"/>
              <a:t>O(|V|</a:t>
            </a:r>
            <a:r>
              <a:rPr lang="en-US" baseline="30000" dirty="0"/>
              <a:t>2</a:t>
            </a:r>
            <a:r>
              <a:rPr lang="en-US" dirty="0"/>
              <a:t>) or</a:t>
            </a:r>
          </a:p>
          <a:p>
            <a:r>
              <a:rPr lang="en-US" dirty="0"/>
              <a:t>O(|E| + |</a:t>
            </a:r>
            <a:r>
              <a:rPr lang="en-US" dirty="0" err="1"/>
              <a:t>V|Log|V</a:t>
            </a:r>
            <a:r>
              <a:rPr lang="en-US" dirty="0"/>
              <a:t>|) </a:t>
            </a:r>
          </a:p>
        </p:txBody>
      </p:sp>
      <p:sp>
        <p:nvSpPr>
          <p:cNvPr id="12" name="AutoShape 2" descr="O(|V|^{2})">
            <a:extLst>
              <a:ext uri="{FF2B5EF4-FFF2-40B4-BE49-F238E27FC236}">
                <a16:creationId xmlns:a16="http://schemas.microsoft.com/office/drawing/2014/main" id="{FAFC22B0-B061-B8AA-9C22-21DC53918FAE}"/>
              </a:ext>
            </a:extLst>
          </p:cNvPr>
          <p:cNvSpPr>
            <a:spLocks noChangeAspect="1" noChangeArrowheads="1"/>
          </p:cNvSpPr>
          <p:nvPr/>
        </p:nvSpPr>
        <p:spPr bwMode="auto">
          <a:xfrm>
            <a:off x="4419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Tree>
    <p:extLst>
      <p:ext uri="{BB962C8B-B14F-4D97-AF65-F5344CB8AC3E}">
        <p14:creationId xmlns:p14="http://schemas.microsoft.com/office/powerpoint/2010/main" val="1710227132"/>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0" y="0"/>
            <a:ext cx="12192000" cy="762000"/>
          </a:xfrm>
          <a:prstGeom prst="rect">
            <a:avLst/>
          </a:prstGeom>
          <a:solidFill>
            <a:srgbClr val="002F7C"/>
          </a:solidFill>
        </p:spPr>
        <p:style>
          <a:lnRef idx="2">
            <a:schemeClr val="dk1">
              <a:shade val="50000"/>
            </a:schemeClr>
          </a:lnRef>
          <a:fillRef idx="1">
            <a:schemeClr val="dk1"/>
          </a:fillRef>
          <a:effectRef idx="0">
            <a:schemeClr val="dk1"/>
          </a:effectRef>
          <a:fontRef idx="minor">
            <a:schemeClr val="lt1"/>
          </a:fontRef>
        </p:style>
        <p:txBody>
          <a:bodyPr rtlCol="0" anchor="ctr"/>
          <a:lstStyle/>
          <a:p>
            <a:r>
              <a:rPr lang="zh-CN" altLang="en-US" sz="2000" b="1" dirty="0">
                <a:latin typeface="Times New Roman" panose="02020603050405020304" pitchFamily="18" charset="0"/>
                <a:ea typeface="宋体" panose="02010600030101010101" pitchFamily="2" charset="-122"/>
                <a:cs typeface="Times New Roman" panose="02020603050405020304" pitchFamily="18" charset="0"/>
              </a:rPr>
              <a:t>                </a:t>
            </a:r>
            <a:r>
              <a:rPr lang="en-US" altLang="zh-CN" sz="2400" b="1" dirty="0">
                <a:latin typeface="Trebuchet MS" panose="020B0603020202020204" pitchFamily="34" charset="0"/>
              </a:rPr>
              <a:t>Chapter 8: </a:t>
            </a:r>
            <a:r>
              <a:rPr lang="en-US" altLang="zh-CN" sz="2400" dirty="0"/>
              <a:t>INTRACTABILITY</a:t>
            </a:r>
            <a:endParaRPr lang="zh-CN" altLang="en-US" sz="2400" b="1" dirty="0">
              <a:solidFill>
                <a:srgbClr val="3D557A"/>
              </a:solidFill>
              <a:latin typeface="Trebuchet MS" panose="020B0603020202020204" pitchFamily="34" charset="0"/>
            </a:endParaRPr>
          </a:p>
        </p:txBody>
      </p:sp>
      <p:sp>
        <p:nvSpPr>
          <p:cNvPr id="13" name="矩形 12"/>
          <p:cNvSpPr/>
          <p:nvPr/>
        </p:nvSpPr>
        <p:spPr>
          <a:xfrm>
            <a:off x="824682" y="0"/>
            <a:ext cx="175443" cy="628650"/>
          </a:xfrm>
          <a:prstGeom prst="rect">
            <a:avLst/>
          </a:prstGeom>
          <a:solidFill>
            <a:srgbClr val="CFA57C"/>
          </a:solidFill>
          <a:ln cmpd="sng">
            <a:gradFill flip="none" rotWithShape="1">
              <a:gsLst>
                <a:gs pos="50000">
                  <a:schemeClr val="accent2">
                    <a:lumMod val="60000"/>
                    <a:lumOff val="40000"/>
                  </a:schemeClr>
                </a:gs>
                <a:gs pos="0">
                  <a:schemeClr val="accent2">
                    <a:lumMod val="20000"/>
                    <a:lumOff val="80000"/>
                  </a:schemeClr>
                </a:gs>
                <a:gs pos="95000">
                  <a:schemeClr val="accent2"/>
                </a:gs>
              </a:gsLst>
              <a:path path="circle">
                <a:fillToRect l="50000" t="-80000" r="50000" b="180000"/>
              </a:path>
              <a:tileRect/>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22" name="Picture 6" descr="D:\MBA工作\LOGO\同济经管LOGO反白.png"/>
          <p:cNvPicPr>
            <a:picLocks noChangeAspect="1" noChangeArrowheads="1"/>
          </p:cNvPicPr>
          <p:nvPr/>
        </p:nvPicPr>
        <p:blipFill>
          <a:blip r:embed="rId3" cstate="email">
            <a:extLst>
              <a:ext uri="{28A0092B-C50C-407E-A947-70E740481C1C}">
                <a14:useLocalDpi xmlns:a14="http://schemas.microsoft.com/office/drawing/2010/main" val="0"/>
              </a:ext>
            </a:extLst>
          </a:blip>
          <a:srcRect/>
          <a:stretch>
            <a:fillRect/>
          </a:stretch>
        </p:blipFill>
        <p:spPr bwMode="auto">
          <a:xfrm>
            <a:off x="10267423" y="165688"/>
            <a:ext cx="1386605" cy="462962"/>
          </a:xfrm>
          <a:prstGeom prst="rect">
            <a:avLst/>
          </a:prstGeom>
          <a:noFill/>
          <a:extLst>
            <a:ext uri="{909E8E84-426E-40DD-AFC4-6F175D3DCCD1}">
              <a14:hiddenFill xmlns:a14="http://schemas.microsoft.com/office/drawing/2010/main">
                <a:solidFill>
                  <a:srgbClr val="FFFFFF"/>
                </a:solidFill>
              </a14:hiddenFill>
            </a:ext>
          </a:extLst>
        </p:spPr>
      </p:pic>
      <p:pic>
        <p:nvPicPr>
          <p:cNvPr id="2" name="图片 1" descr="微信图片_20220318113523"/>
          <p:cNvPicPr>
            <a:picLocks noChangeAspect="1"/>
          </p:cNvPicPr>
          <p:nvPr userDrawn="1"/>
        </p:nvPicPr>
        <p:blipFill>
          <a:blip r:embed="rId4"/>
          <a:stretch>
            <a:fillRect/>
          </a:stretch>
        </p:blipFill>
        <p:spPr>
          <a:xfrm>
            <a:off x="9291877" y="6115050"/>
            <a:ext cx="2244725" cy="361315"/>
          </a:xfrm>
          <a:prstGeom prst="rect">
            <a:avLst/>
          </a:prstGeom>
        </p:spPr>
      </p:pic>
      <p:sp>
        <p:nvSpPr>
          <p:cNvPr id="18" name="Rectangle 2">
            <a:extLst>
              <a:ext uri="{FF2B5EF4-FFF2-40B4-BE49-F238E27FC236}">
                <a16:creationId xmlns:a16="http://schemas.microsoft.com/office/drawing/2014/main" id="{E217C615-1D49-4D07-B850-D36106D7AA9A}"/>
              </a:ext>
            </a:extLst>
          </p:cNvPr>
          <p:cNvSpPr>
            <a:spLocks noChangeArrowheads="1"/>
          </p:cNvSpPr>
          <p:nvPr/>
        </p:nvSpPr>
        <p:spPr bwMode="auto">
          <a:xfrm>
            <a:off x="1000125" y="815365"/>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8" name="Rectangle 3">
            <a:extLst>
              <a:ext uri="{FF2B5EF4-FFF2-40B4-BE49-F238E27FC236}">
                <a16:creationId xmlns:a16="http://schemas.microsoft.com/office/drawing/2014/main" id="{97F08C45-3D15-45C1-A5A3-D1EB58DC91FE}"/>
              </a:ext>
            </a:extLst>
          </p:cNvPr>
          <p:cNvSpPr txBox="1">
            <a:spLocks noChangeArrowheads="1"/>
          </p:cNvSpPr>
          <p:nvPr/>
        </p:nvSpPr>
        <p:spPr>
          <a:xfrm>
            <a:off x="824681" y="765175"/>
            <a:ext cx="8798289" cy="5788025"/>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indent="1828800">
              <a:lnSpc>
                <a:spcPct val="130000"/>
              </a:lnSpc>
              <a:spcBef>
                <a:spcPts val="600"/>
              </a:spcBef>
              <a:buNone/>
            </a:pPr>
            <a:endParaRPr lang="en-US" altLang="zh-CN" sz="2400" b="1" dirty="0">
              <a:latin typeface="Trebuchet MS" panose="020B0603020202020204" pitchFamily="34" charset="0"/>
            </a:endParaRPr>
          </a:p>
        </p:txBody>
      </p:sp>
      <p:sp>
        <p:nvSpPr>
          <p:cNvPr id="4" name="文本框 3">
            <a:extLst>
              <a:ext uri="{FF2B5EF4-FFF2-40B4-BE49-F238E27FC236}">
                <a16:creationId xmlns:a16="http://schemas.microsoft.com/office/drawing/2014/main" id="{648C34E3-8B50-401F-5EE3-6A4A9700C463}"/>
              </a:ext>
            </a:extLst>
          </p:cNvPr>
          <p:cNvSpPr txBox="1"/>
          <p:nvPr/>
        </p:nvSpPr>
        <p:spPr>
          <a:xfrm>
            <a:off x="1872867" y="1109816"/>
            <a:ext cx="6103344" cy="369332"/>
          </a:xfrm>
          <a:prstGeom prst="rect">
            <a:avLst/>
          </a:prstGeom>
          <a:noFill/>
        </p:spPr>
        <p:txBody>
          <a:bodyPr wrap="square">
            <a:spAutoFit/>
          </a:bodyPr>
          <a:lstStyle/>
          <a:p>
            <a:r>
              <a:rPr lang="ja-JP" altLang="en-US" dirty="0"/>
              <a:t>“</a:t>
            </a:r>
            <a:r>
              <a:rPr lang="en-US" altLang="ja-JP" dirty="0"/>
              <a:t>Easy</a:t>
            </a:r>
            <a:r>
              <a:rPr lang="ja-JP" altLang="en-US" dirty="0"/>
              <a:t>”</a:t>
            </a:r>
            <a:r>
              <a:rPr lang="en-US" altLang="ja-JP" dirty="0"/>
              <a:t> Problems</a:t>
            </a:r>
            <a:endParaRPr lang="zh-CN" altLang="en-US" dirty="0"/>
          </a:p>
        </p:txBody>
      </p:sp>
      <p:sp>
        <p:nvSpPr>
          <p:cNvPr id="5" name="Text Box 15">
            <a:extLst>
              <a:ext uri="{FF2B5EF4-FFF2-40B4-BE49-F238E27FC236}">
                <a16:creationId xmlns:a16="http://schemas.microsoft.com/office/drawing/2014/main" id="{F569C8F5-7C20-2F55-F4EF-7F973FFF75B6}"/>
              </a:ext>
            </a:extLst>
          </p:cNvPr>
          <p:cNvSpPr txBox="1">
            <a:spLocks noChangeArrowheads="1"/>
          </p:cNvSpPr>
          <p:nvPr/>
        </p:nvSpPr>
        <p:spPr bwMode="auto">
          <a:xfrm>
            <a:off x="1844675" y="1905000"/>
            <a:ext cx="5638800"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itchFamily="34" charset="0"/>
                <a:ea typeface="ＭＳ Ｐゴシック" pitchFamily="-65" charset="-128"/>
              </a:defRPr>
            </a:lvl1pPr>
            <a:lvl2pPr marL="742950" indent="-285750">
              <a:spcBef>
                <a:spcPct val="20000"/>
              </a:spcBef>
              <a:buChar char="–"/>
              <a:defRPr sz="2800">
                <a:solidFill>
                  <a:schemeClr val="tx1"/>
                </a:solidFill>
                <a:latin typeface="Arial" pitchFamily="34" charset="0"/>
                <a:ea typeface="ＭＳ Ｐゴシック" pitchFamily="-65" charset="-128"/>
              </a:defRPr>
            </a:lvl2pPr>
            <a:lvl3pPr marL="1143000" indent="-228600">
              <a:spcBef>
                <a:spcPct val="20000"/>
              </a:spcBef>
              <a:buChar char="•"/>
              <a:defRPr sz="2400">
                <a:solidFill>
                  <a:schemeClr val="tx1"/>
                </a:solidFill>
                <a:latin typeface="Arial" pitchFamily="34" charset="0"/>
                <a:ea typeface="ＭＳ Ｐゴシック" pitchFamily="-65" charset="-128"/>
              </a:defRPr>
            </a:lvl3pPr>
            <a:lvl4pPr marL="1600200" indent="-228600">
              <a:spcBef>
                <a:spcPct val="20000"/>
              </a:spcBef>
              <a:buChar char="–"/>
              <a:defRPr sz="2000">
                <a:solidFill>
                  <a:schemeClr val="tx1"/>
                </a:solidFill>
                <a:latin typeface="Arial" pitchFamily="34" charset="0"/>
                <a:ea typeface="ＭＳ Ｐゴシック" pitchFamily="-65" charset="-128"/>
              </a:defRPr>
            </a:lvl4pPr>
            <a:lvl5pPr marL="2057400" indent="-228600">
              <a:spcBef>
                <a:spcPct val="20000"/>
              </a:spcBef>
              <a:buChar char="»"/>
              <a:defRPr sz="2000">
                <a:solidFill>
                  <a:schemeClr val="tx1"/>
                </a:solidFill>
                <a:latin typeface="Arial" pitchFamily="34" charset="0"/>
                <a:ea typeface="ＭＳ Ｐゴシック" pitchFamily="-65" charset="-128"/>
              </a:defRPr>
            </a:lvl5pPr>
            <a:lvl6pPr marL="2514600" indent="-228600" eaLnBrk="0" fontAlgn="base" hangingPunct="0">
              <a:spcBef>
                <a:spcPct val="20000"/>
              </a:spcBef>
              <a:spcAft>
                <a:spcPct val="0"/>
              </a:spcAft>
              <a:buChar char="»"/>
              <a:defRPr sz="2000">
                <a:solidFill>
                  <a:schemeClr val="tx1"/>
                </a:solidFill>
                <a:latin typeface="Arial" pitchFamily="34" charset="0"/>
                <a:ea typeface="ＭＳ Ｐゴシック" pitchFamily="-65" charset="-128"/>
              </a:defRPr>
            </a:lvl6pPr>
            <a:lvl7pPr marL="2971800" indent="-228600" eaLnBrk="0" fontAlgn="base" hangingPunct="0">
              <a:spcBef>
                <a:spcPct val="20000"/>
              </a:spcBef>
              <a:spcAft>
                <a:spcPct val="0"/>
              </a:spcAft>
              <a:buChar char="»"/>
              <a:defRPr sz="2000">
                <a:solidFill>
                  <a:schemeClr val="tx1"/>
                </a:solidFill>
                <a:latin typeface="Arial" pitchFamily="34" charset="0"/>
                <a:ea typeface="ＭＳ Ｐゴシック" pitchFamily="-65" charset="-128"/>
              </a:defRPr>
            </a:lvl7pPr>
            <a:lvl8pPr marL="3429000" indent="-228600" eaLnBrk="0" fontAlgn="base" hangingPunct="0">
              <a:spcBef>
                <a:spcPct val="20000"/>
              </a:spcBef>
              <a:spcAft>
                <a:spcPct val="0"/>
              </a:spcAft>
              <a:buChar char="»"/>
              <a:defRPr sz="2000">
                <a:solidFill>
                  <a:schemeClr val="tx1"/>
                </a:solidFill>
                <a:latin typeface="Arial" pitchFamily="34" charset="0"/>
                <a:ea typeface="ＭＳ Ｐゴシック" pitchFamily="-65" charset="-128"/>
              </a:defRPr>
            </a:lvl8pPr>
            <a:lvl9pPr marL="3886200" indent="-228600" eaLnBrk="0" fontAlgn="base" hangingPunct="0">
              <a:spcBef>
                <a:spcPct val="20000"/>
              </a:spcBef>
              <a:spcAft>
                <a:spcPct val="0"/>
              </a:spcAft>
              <a:buChar char="»"/>
              <a:defRPr sz="2000">
                <a:solidFill>
                  <a:schemeClr val="tx1"/>
                </a:solidFill>
                <a:latin typeface="Arial" pitchFamily="34" charset="0"/>
                <a:ea typeface="ＭＳ Ｐゴシック" pitchFamily="-65" charset="-128"/>
              </a:defRPr>
            </a:lvl9pPr>
          </a:lstStyle>
          <a:p>
            <a:pPr>
              <a:spcBef>
                <a:spcPct val="0"/>
              </a:spcBef>
              <a:buFontTx/>
              <a:buNone/>
            </a:pPr>
            <a:r>
              <a:rPr lang="ja-JP" altLang="en-US" dirty="0">
                <a:latin typeface="Calibri" pitchFamily="34" charset="0"/>
              </a:rPr>
              <a:t>“</a:t>
            </a:r>
            <a:r>
              <a:rPr lang="en-US" altLang="ja-JP" dirty="0">
                <a:latin typeface="Calibri" pitchFamily="34" charset="0"/>
              </a:rPr>
              <a:t>Polynomial Time</a:t>
            </a:r>
            <a:r>
              <a:rPr lang="ja-JP" altLang="en-US" dirty="0">
                <a:latin typeface="Calibri" pitchFamily="34" charset="0"/>
              </a:rPr>
              <a:t>”</a:t>
            </a:r>
            <a:r>
              <a:rPr lang="en-US" altLang="ja-JP" dirty="0">
                <a:latin typeface="Calibri" pitchFamily="34" charset="0"/>
              </a:rPr>
              <a:t> = </a:t>
            </a:r>
            <a:r>
              <a:rPr lang="ja-JP" altLang="en-US" dirty="0">
                <a:latin typeface="Calibri" pitchFamily="34" charset="0"/>
              </a:rPr>
              <a:t>“</a:t>
            </a:r>
            <a:r>
              <a:rPr lang="en-US" altLang="ja-JP" dirty="0">
                <a:latin typeface="Calibri" pitchFamily="34" charset="0"/>
              </a:rPr>
              <a:t>Efficient</a:t>
            </a:r>
            <a:r>
              <a:rPr lang="ja-JP" altLang="en-US" dirty="0">
                <a:latin typeface="Calibri" pitchFamily="34" charset="0"/>
              </a:rPr>
              <a:t>”</a:t>
            </a:r>
            <a:endParaRPr lang="en-US" altLang="en-US" dirty="0">
              <a:latin typeface="Calibri" pitchFamily="34" charset="0"/>
            </a:endParaRPr>
          </a:p>
        </p:txBody>
      </p:sp>
      <p:sp>
        <p:nvSpPr>
          <p:cNvPr id="6" name="Text Box 16">
            <a:extLst>
              <a:ext uri="{FF2B5EF4-FFF2-40B4-BE49-F238E27FC236}">
                <a16:creationId xmlns:a16="http://schemas.microsoft.com/office/drawing/2014/main" id="{C0A69432-3B29-B5F3-3B9B-9B4F04AEEC12}"/>
              </a:ext>
            </a:extLst>
          </p:cNvPr>
          <p:cNvSpPr txBox="1">
            <a:spLocks noChangeArrowheads="1"/>
          </p:cNvSpPr>
          <p:nvPr/>
        </p:nvSpPr>
        <p:spPr bwMode="auto">
          <a:xfrm>
            <a:off x="2133600" y="2847975"/>
            <a:ext cx="3330575"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itchFamily="34" charset="0"/>
                <a:ea typeface="ＭＳ Ｐゴシック" pitchFamily="-65" charset="-128"/>
              </a:defRPr>
            </a:lvl1pPr>
            <a:lvl2pPr marL="742950" indent="-285750">
              <a:spcBef>
                <a:spcPct val="20000"/>
              </a:spcBef>
              <a:buChar char="–"/>
              <a:defRPr sz="2800">
                <a:solidFill>
                  <a:schemeClr val="tx1"/>
                </a:solidFill>
                <a:latin typeface="Arial" pitchFamily="34" charset="0"/>
                <a:ea typeface="ＭＳ Ｐゴシック" pitchFamily="-65" charset="-128"/>
              </a:defRPr>
            </a:lvl2pPr>
            <a:lvl3pPr marL="1143000" indent="-228600">
              <a:spcBef>
                <a:spcPct val="20000"/>
              </a:spcBef>
              <a:buChar char="•"/>
              <a:defRPr sz="2400">
                <a:solidFill>
                  <a:schemeClr val="tx1"/>
                </a:solidFill>
                <a:latin typeface="Arial" pitchFamily="34" charset="0"/>
                <a:ea typeface="ＭＳ Ｐゴシック" pitchFamily="-65" charset="-128"/>
              </a:defRPr>
            </a:lvl3pPr>
            <a:lvl4pPr marL="1600200" indent="-228600">
              <a:spcBef>
                <a:spcPct val="20000"/>
              </a:spcBef>
              <a:buChar char="–"/>
              <a:defRPr sz="2000">
                <a:solidFill>
                  <a:schemeClr val="tx1"/>
                </a:solidFill>
                <a:latin typeface="Arial" pitchFamily="34" charset="0"/>
                <a:ea typeface="ＭＳ Ｐゴシック" pitchFamily="-65" charset="-128"/>
              </a:defRPr>
            </a:lvl4pPr>
            <a:lvl5pPr marL="2057400" indent="-228600">
              <a:spcBef>
                <a:spcPct val="20000"/>
              </a:spcBef>
              <a:buChar char="»"/>
              <a:defRPr sz="2000">
                <a:solidFill>
                  <a:schemeClr val="tx1"/>
                </a:solidFill>
                <a:latin typeface="Arial" pitchFamily="34" charset="0"/>
                <a:ea typeface="ＭＳ Ｐゴシック" pitchFamily="-65" charset="-128"/>
              </a:defRPr>
            </a:lvl5pPr>
            <a:lvl6pPr marL="2514600" indent="-228600" eaLnBrk="0" fontAlgn="base" hangingPunct="0">
              <a:spcBef>
                <a:spcPct val="20000"/>
              </a:spcBef>
              <a:spcAft>
                <a:spcPct val="0"/>
              </a:spcAft>
              <a:buChar char="»"/>
              <a:defRPr sz="2000">
                <a:solidFill>
                  <a:schemeClr val="tx1"/>
                </a:solidFill>
                <a:latin typeface="Arial" pitchFamily="34" charset="0"/>
                <a:ea typeface="ＭＳ Ｐゴシック" pitchFamily="-65" charset="-128"/>
              </a:defRPr>
            </a:lvl6pPr>
            <a:lvl7pPr marL="2971800" indent="-228600" eaLnBrk="0" fontAlgn="base" hangingPunct="0">
              <a:spcBef>
                <a:spcPct val="20000"/>
              </a:spcBef>
              <a:spcAft>
                <a:spcPct val="0"/>
              </a:spcAft>
              <a:buChar char="»"/>
              <a:defRPr sz="2000">
                <a:solidFill>
                  <a:schemeClr val="tx1"/>
                </a:solidFill>
                <a:latin typeface="Arial" pitchFamily="34" charset="0"/>
                <a:ea typeface="ＭＳ Ｐゴシック" pitchFamily="-65" charset="-128"/>
              </a:defRPr>
            </a:lvl7pPr>
            <a:lvl8pPr marL="3429000" indent="-228600" eaLnBrk="0" fontAlgn="base" hangingPunct="0">
              <a:spcBef>
                <a:spcPct val="20000"/>
              </a:spcBef>
              <a:spcAft>
                <a:spcPct val="0"/>
              </a:spcAft>
              <a:buChar char="»"/>
              <a:defRPr sz="2000">
                <a:solidFill>
                  <a:schemeClr val="tx1"/>
                </a:solidFill>
                <a:latin typeface="Arial" pitchFamily="34" charset="0"/>
                <a:ea typeface="ＭＳ Ｐゴシック" pitchFamily="-65" charset="-128"/>
              </a:defRPr>
            </a:lvl8pPr>
            <a:lvl9pPr marL="3886200" indent="-228600" eaLnBrk="0" fontAlgn="base" hangingPunct="0">
              <a:spcBef>
                <a:spcPct val="20000"/>
              </a:spcBef>
              <a:spcAft>
                <a:spcPct val="0"/>
              </a:spcAft>
              <a:buChar char="»"/>
              <a:defRPr sz="2000">
                <a:solidFill>
                  <a:schemeClr val="tx1"/>
                </a:solidFill>
                <a:latin typeface="Arial" pitchFamily="34" charset="0"/>
                <a:ea typeface="ＭＳ Ｐゴシック" pitchFamily="-65" charset="-128"/>
              </a:defRPr>
            </a:lvl9pPr>
          </a:lstStyle>
          <a:p>
            <a:pPr>
              <a:spcBef>
                <a:spcPct val="0"/>
              </a:spcBef>
              <a:buFontTx/>
              <a:buNone/>
            </a:pPr>
            <a:r>
              <a:rPr lang="en-US" altLang="en-US" i="1" dirty="0">
                <a:latin typeface="Calibri" pitchFamily="34" charset="0"/>
              </a:rPr>
              <a:t>n, n</a:t>
            </a:r>
            <a:r>
              <a:rPr lang="en-US" altLang="en-US" i="1" baseline="30000" dirty="0">
                <a:latin typeface="Calibri" pitchFamily="34" charset="0"/>
              </a:rPr>
              <a:t>2</a:t>
            </a:r>
            <a:r>
              <a:rPr lang="en-US" altLang="en-US" i="1" dirty="0">
                <a:latin typeface="Calibri" pitchFamily="34" charset="0"/>
              </a:rPr>
              <a:t>, n</a:t>
            </a:r>
            <a:r>
              <a:rPr lang="en-US" altLang="en-US" i="1" baseline="30000" dirty="0">
                <a:latin typeface="Calibri" pitchFamily="34" charset="0"/>
              </a:rPr>
              <a:t>3</a:t>
            </a:r>
            <a:r>
              <a:rPr lang="en-US" altLang="en-US" i="1" dirty="0">
                <a:latin typeface="Calibri" pitchFamily="34" charset="0"/>
              </a:rPr>
              <a:t>, n</a:t>
            </a:r>
            <a:r>
              <a:rPr lang="en-US" altLang="en-US" i="1" baseline="30000" dirty="0">
                <a:latin typeface="Calibri" pitchFamily="34" charset="0"/>
              </a:rPr>
              <a:t>4</a:t>
            </a:r>
            <a:r>
              <a:rPr lang="en-US" altLang="en-US" i="1" dirty="0">
                <a:latin typeface="Calibri" pitchFamily="34" charset="0"/>
              </a:rPr>
              <a:t>, n</a:t>
            </a:r>
            <a:r>
              <a:rPr lang="en-US" altLang="en-US" i="1" baseline="30000" dirty="0">
                <a:latin typeface="Calibri" pitchFamily="34" charset="0"/>
              </a:rPr>
              <a:t>5</a:t>
            </a:r>
            <a:r>
              <a:rPr lang="en-US" altLang="en-US" i="1" dirty="0">
                <a:latin typeface="Calibri" pitchFamily="34" charset="0"/>
              </a:rPr>
              <a:t>,…</a:t>
            </a:r>
          </a:p>
        </p:txBody>
      </p:sp>
      <p:sp>
        <p:nvSpPr>
          <p:cNvPr id="7" name="AutoShape 18">
            <a:extLst>
              <a:ext uri="{FF2B5EF4-FFF2-40B4-BE49-F238E27FC236}">
                <a16:creationId xmlns:a16="http://schemas.microsoft.com/office/drawing/2014/main" id="{2C891793-B617-2CAF-177C-87A1F717D354}"/>
              </a:ext>
            </a:extLst>
          </p:cNvPr>
          <p:cNvSpPr>
            <a:spLocks noChangeArrowheads="1"/>
          </p:cNvSpPr>
          <p:nvPr/>
        </p:nvSpPr>
        <p:spPr bwMode="auto">
          <a:xfrm>
            <a:off x="1539875" y="3581400"/>
            <a:ext cx="3429000" cy="838200"/>
          </a:xfrm>
          <a:prstGeom prst="wedgeRectCallout">
            <a:avLst>
              <a:gd name="adj1" fmla="val -48333"/>
              <a:gd name="adj2" fmla="val 64583"/>
            </a:avLst>
          </a:prstGeom>
          <a:solidFill>
            <a:srgbClr val="FFFFFF"/>
          </a:solidFill>
          <a:ln w="9525">
            <a:solidFill>
              <a:srgbClr val="000000"/>
            </a:solidFill>
            <a:miter lim="800000"/>
            <a:headEnd/>
            <a:tailEnd/>
          </a:ln>
        </p:spPr>
        <p:txBody>
          <a:bodyPr/>
          <a:lstStyle>
            <a:lvl1pPr>
              <a:spcBef>
                <a:spcPct val="20000"/>
              </a:spcBef>
              <a:buChar char="•"/>
              <a:defRPr sz="3200">
                <a:solidFill>
                  <a:schemeClr val="tx1"/>
                </a:solidFill>
                <a:latin typeface="Arial" pitchFamily="34" charset="0"/>
                <a:ea typeface="ＭＳ Ｐゴシック" pitchFamily="-65" charset="-128"/>
              </a:defRPr>
            </a:lvl1pPr>
            <a:lvl2pPr marL="742950" indent="-285750">
              <a:spcBef>
                <a:spcPct val="20000"/>
              </a:spcBef>
              <a:buChar char="–"/>
              <a:defRPr sz="2800">
                <a:solidFill>
                  <a:schemeClr val="tx1"/>
                </a:solidFill>
                <a:latin typeface="Arial" pitchFamily="34" charset="0"/>
                <a:ea typeface="ＭＳ Ｐゴシック" pitchFamily="-65" charset="-128"/>
              </a:defRPr>
            </a:lvl2pPr>
            <a:lvl3pPr marL="1143000" indent="-228600">
              <a:spcBef>
                <a:spcPct val="20000"/>
              </a:spcBef>
              <a:buChar char="•"/>
              <a:defRPr sz="2400">
                <a:solidFill>
                  <a:schemeClr val="tx1"/>
                </a:solidFill>
                <a:latin typeface="Arial" pitchFamily="34" charset="0"/>
                <a:ea typeface="ＭＳ Ｐゴシック" pitchFamily="-65" charset="-128"/>
              </a:defRPr>
            </a:lvl3pPr>
            <a:lvl4pPr marL="1600200" indent="-228600">
              <a:spcBef>
                <a:spcPct val="20000"/>
              </a:spcBef>
              <a:buChar char="–"/>
              <a:defRPr sz="2000">
                <a:solidFill>
                  <a:schemeClr val="tx1"/>
                </a:solidFill>
                <a:latin typeface="Arial" pitchFamily="34" charset="0"/>
                <a:ea typeface="ＭＳ Ｐゴシック" pitchFamily="-65" charset="-128"/>
              </a:defRPr>
            </a:lvl4pPr>
            <a:lvl5pPr marL="2057400" indent="-228600">
              <a:spcBef>
                <a:spcPct val="20000"/>
              </a:spcBef>
              <a:buChar char="»"/>
              <a:defRPr sz="2000">
                <a:solidFill>
                  <a:schemeClr val="tx1"/>
                </a:solidFill>
                <a:latin typeface="Arial" pitchFamily="34" charset="0"/>
                <a:ea typeface="ＭＳ Ｐゴシック" pitchFamily="-65" charset="-128"/>
              </a:defRPr>
            </a:lvl5pPr>
            <a:lvl6pPr marL="2514600" indent="-228600" eaLnBrk="0" fontAlgn="base" hangingPunct="0">
              <a:spcBef>
                <a:spcPct val="20000"/>
              </a:spcBef>
              <a:spcAft>
                <a:spcPct val="0"/>
              </a:spcAft>
              <a:buChar char="»"/>
              <a:defRPr sz="2000">
                <a:solidFill>
                  <a:schemeClr val="tx1"/>
                </a:solidFill>
                <a:latin typeface="Arial" pitchFamily="34" charset="0"/>
                <a:ea typeface="ＭＳ Ｐゴシック" pitchFamily="-65" charset="-128"/>
              </a:defRPr>
            </a:lvl6pPr>
            <a:lvl7pPr marL="2971800" indent="-228600" eaLnBrk="0" fontAlgn="base" hangingPunct="0">
              <a:spcBef>
                <a:spcPct val="20000"/>
              </a:spcBef>
              <a:spcAft>
                <a:spcPct val="0"/>
              </a:spcAft>
              <a:buChar char="»"/>
              <a:defRPr sz="2000">
                <a:solidFill>
                  <a:schemeClr val="tx1"/>
                </a:solidFill>
                <a:latin typeface="Arial" pitchFamily="34" charset="0"/>
                <a:ea typeface="ＭＳ Ｐゴシック" pitchFamily="-65" charset="-128"/>
              </a:defRPr>
            </a:lvl7pPr>
            <a:lvl8pPr marL="3429000" indent="-228600" eaLnBrk="0" fontAlgn="base" hangingPunct="0">
              <a:spcBef>
                <a:spcPct val="20000"/>
              </a:spcBef>
              <a:spcAft>
                <a:spcPct val="0"/>
              </a:spcAft>
              <a:buChar char="»"/>
              <a:defRPr sz="2000">
                <a:solidFill>
                  <a:schemeClr val="tx1"/>
                </a:solidFill>
                <a:latin typeface="Arial" pitchFamily="34" charset="0"/>
                <a:ea typeface="ＭＳ Ｐゴシック" pitchFamily="-65" charset="-128"/>
              </a:defRPr>
            </a:lvl8pPr>
            <a:lvl9pPr marL="3886200" indent="-228600" eaLnBrk="0" fontAlgn="base" hangingPunct="0">
              <a:spcBef>
                <a:spcPct val="20000"/>
              </a:spcBef>
              <a:spcAft>
                <a:spcPct val="0"/>
              </a:spcAft>
              <a:buChar char="»"/>
              <a:defRPr sz="2000">
                <a:solidFill>
                  <a:schemeClr val="tx1"/>
                </a:solidFill>
                <a:latin typeface="Arial" pitchFamily="34" charset="0"/>
                <a:ea typeface="ＭＳ Ｐゴシック" pitchFamily="-65" charset="-128"/>
              </a:defRPr>
            </a:lvl9pPr>
          </a:lstStyle>
          <a:p>
            <a:pPr>
              <a:spcBef>
                <a:spcPct val="0"/>
              </a:spcBef>
              <a:buFontTx/>
              <a:buNone/>
            </a:pPr>
            <a:r>
              <a:rPr lang="en-US" altLang="en-US" sz="2400" dirty="0">
                <a:latin typeface="Times New Roman" pitchFamily="18" charset="0"/>
              </a:rPr>
              <a:t>How about something like </a:t>
            </a:r>
            <a:r>
              <a:rPr lang="en-US" altLang="en-US" sz="2400" i="1" dirty="0">
                <a:latin typeface="Times New Roman" pitchFamily="18" charset="0"/>
              </a:rPr>
              <a:t>n log</a:t>
            </a:r>
            <a:r>
              <a:rPr lang="en-US" altLang="en-US" sz="2400" i="1" baseline="-25000" dirty="0">
                <a:latin typeface="Times New Roman" pitchFamily="18" charset="0"/>
              </a:rPr>
              <a:t>2 </a:t>
            </a:r>
            <a:r>
              <a:rPr lang="en-US" altLang="en-US" sz="2400" i="1" dirty="0">
                <a:latin typeface="Times New Roman" pitchFamily="18" charset="0"/>
              </a:rPr>
              <a:t>n </a:t>
            </a:r>
            <a:r>
              <a:rPr lang="en-US" altLang="en-US" sz="2400" dirty="0">
                <a:latin typeface="Times New Roman" pitchFamily="18" charset="0"/>
              </a:rPr>
              <a:t>?</a:t>
            </a:r>
          </a:p>
        </p:txBody>
      </p:sp>
      <p:sp>
        <p:nvSpPr>
          <p:cNvPr id="9" name="Oval 20">
            <a:extLst>
              <a:ext uri="{FF2B5EF4-FFF2-40B4-BE49-F238E27FC236}">
                <a16:creationId xmlns:a16="http://schemas.microsoft.com/office/drawing/2014/main" id="{BCCB3524-E300-A41B-87E5-BAC8081B97E9}"/>
              </a:ext>
            </a:extLst>
          </p:cNvPr>
          <p:cNvSpPr>
            <a:spLocks noChangeArrowheads="1"/>
          </p:cNvSpPr>
          <p:nvPr/>
        </p:nvSpPr>
        <p:spPr bwMode="auto">
          <a:xfrm>
            <a:off x="6019800" y="3124200"/>
            <a:ext cx="2860675" cy="2971800"/>
          </a:xfrm>
          <a:prstGeom prst="ellipse">
            <a:avLst/>
          </a:prstGeom>
          <a:solidFill>
            <a:schemeClr val="accent1"/>
          </a:solidFill>
          <a:ln w="9525">
            <a:solidFill>
              <a:schemeClr val="tx1"/>
            </a:solidFill>
            <a:round/>
            <a:headEnd/>
            <a:tailEnd/>
          </a:ln>
        </p:spPr>
        <p:txBody>
          <a:bodyPr wrap="none" anchor="ctr"/>
          <a:lstStyle>
            <a:lvl1pPr>
              <a:spcBef>
                <a:spcPct val="20000"/>
              </a:spcBef>
              <a:buChar char="•"/>
              <a:defRPr sz="3200">
                <a:solidFill>
                  <a:schemeClr val="tx1"/>
                </a:solidFill>
                <a:latin typeface="Arial" pitchFamily="34" charset="0"/>
                <a:ea typeface="ＭＳ Ｐゴシック" pitchFamily="-65" charset="-128"/>
              </a:defRPr>
            </a:lvl1pPr>
            <a:lvl2pPr marL="742950" indent="-285750">
              <a:spcBef>
                <a:spcPct val="20000"/>
              </a:spcBef>
              <a:buChar char="–"/>
              <a:defRPr sz="2800">
                <a:solidFill>
                  <a:schemeClr val="tx1"/>
                </a:solidFill>
                <a:latin typeface="Arial" pitchFamily="34" charset="0"/>
                <a:ea typeface="ＭＳ Ｐゴシック" pitchFamily="-65" charset="-128"/>
              </a:defRPr>
            </a:lvl2pPr>
            <a:lvl3pPr marL="1143000" indent="-228600">
              <a:spcBef>
                <a:spcPct val="20000"/>
              </a:spcBef>
              <a:buChar char="•"/>
              <a:defRPr sz="2400">
                <a:solidFill>
                  <a:schemeClr val="tx1"/>
                </a:solidFill>
                <a:latin typeface="Arial" pitchFamily="34" charset="0"/>
                <a:ea typeface="ＭＳ Ｐゴシック" pitchFamily="-65" charset="-128"/>
              </a:defRPr>
            </a:lvl3pPr>
            <a:lvl4pPr marL="1600200" indent="-228600">
              <a:spcBef>
                <a:spcPct val="20000"/>
              </a:spcBef>
              <a:buChar char="–"/>
              <a:defRPr sz="2000">
                <a:solidFill>
                  <a:schemeClr val="tx1"/>
                </a:solidFill>
                <a:latin typeface="Arial" pitchFamily="34" charset="0"/>
                <a:ea typeface="ＭＳ Ｐゴシック" pitchFamily="-65" charset="-128"/>
              </a:defRPr>
            </a:lvl4pPr>
            <a:lvl5pPr marL="2057400" indent="-228600">
              <a:spcBef>
                <a:spcPct val="20000"/>
              </a:spcBef>
              <a:buChar char="»"/>
              <a:defRPr sz="2000">
                <a:solidFill>
                  <a:schemeClr val="tx1"/>
                </a:solidFill>
                <a:latin typeface="Arial" pitchFamily="34" charset="0"/>
                <a:ea typeface="ＭＳ Ｐゴシック" pitchFamily="-65" charset="-128"/>
              </a:defRPr>
            </a:lvl5pPr>
            <a:lvl6pPr marL="2514600" indent="-228600" eaLnBrk="0" fontAlgn="base" hangingPunct="0">
              <a:spcBef>
                <a:spcPct val="20000"/>
              </a:spcBef>
              <a:spcAft>
                <a:spcPct val="0"/>
              </a:spcAft>
              <a:buChar char="»"/>
              <a:defRPr sz="2000">
                <a:solidFill>
                  <a:schemeClr val="tx1"/>
                </a:solidFill>
                <a:latin typeface="Arial" pitchFamily="34" charset="0"/>
                <a:ea typeface="ＭＳ Ｐゴシック" pitchFamily="-65" charset="-128"/>
              </a:defRPr>
            </a:lvl6pPr>
            <a:lvl7pPr marL="2971800" indent="-228600" eaLnBrk="0" fontAlgn="base" hangingPunct="0">
              <a:spcBef>
                <a:spcPct val="20000"/>
              </a:spcBef>
              <a:spcAft>
                <a:spcPct val="0"/>
              </a:spcAft>
              <a:buChar char="»"/>
              <a:defRPr sz="2000">
                <a:solidFill>
                  <a:schemeClr val="tx1"/>
                </a:solidFill>
                <a:latin typeface="Arial" pitchFamily="34" charset="0"/>
                <a:ea typeface="ＭＳ Ｐゴシック" pitchFamily="-65" charset="-128"/>
              </a:defRPr>
            </a:lvl7pPr>
            <a:lvl8pPr marL="3429000" indent="-228600" eaLnBrk="0" fontAlgn="base" hangingPunct="0">
              <a:spcBef>
                <a:spcPct val="20000"/>
              </a:spcBef>
              <a:spcAft>
                <a:spcPct val="0"/>
              </a:spcAft>
              <a:buChar char="»"/>
              <a:defRPr sz="2000">
                <a:solidFill>
                  <a:schemeClr val="tx1"/>
                </a:solidFill>
                <a:latin typeface="Arial" pitchFamily="34" charset="0"/>
                <a:ea typeface="ＭＳ Ｐゴシック" pitchFamily="-65" charset="-128"/>
              </a:defRPr>
            </a:lvl8pPr>
            <a:lvl9pPr marL="3886200" indent="-228600" eaLnBrk="0" fontAlgn="base" hangingPunct="0">
              <a:spcBef>
                <a:spcPct val="20000"/>
              </a:spcBef>
              <a:spcAft>
                <a:spcPct val="0"/>
              </a:spcAft>
              <a:buChar char="»"/>
              <a:defRPr sz="2000">
                <a:solidFill>
                  <a:schemeClr val="tx1"/>
                </a:solidFill>
                <a:latin typeface="Arial" pitchFamily="34" charset="0"/>
                <a:ea typeface="ＭＳ Ｐゴシック" pitchFamily="-65" charset="-128"/>
              </a:defRPr>
            </a:lvl9pPr>
          </a:lstStyle>
          <a:p>
            <a:pPr algn="ctr">
              <a:spcBef>
                <a:spcPct val="0"/>
              </a:spcBef>
              <a:buFontTx/>
              <a:buNone/>
            </a:pPr>
            <a:endParaRPr lang="en-US" altLang="en-US" sz="2400">
              <a:latin typeface="Calibri" pitchFamily="34" charset="0"/>
            </a:endParaRPr>
          </a:p>
        </p:txBody>
      </p:sp>
      <p:sp>
        <p:nvSpPr>
          <p:cNvPr id="10" name="Text Box 22">
            <a:extLst>
              <a:ext uri="{FF2B5EF4-FFF2-40B4-BE49-F238E27FC236}">
                <a16:creationId xmlns:a16="http://schemas.microsoft.com/office/drawing/2014/main" id="{73E8F319-6319-4A4B-CC01-F4559FBAC7C7}"/>
              </a:ext>
            </a:extLst>
          </p:cNvPr>
          <p:cNvSpPr txBox="1">
            <a:spLocks noChangeArrowheads="1"/>
          </p:cNvSpPr>
          <p:nvPr/>
        </p:nvSpPr>
        <p:spPr bwMode="auto">
          <a:xfrm>
            <a:off x="6249988" y="6143625"/>
            <a:ext cx="1979612"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itchFamily="34" charset="0"/>
                <a:ea typeface="ＭＳ Ｐゴシック" pitchFamily="-65" charset="-128"/>
              </a:defRPr>
            </a:lvl1pPr>
            <a:lvl2pPr marL="742950" indent="-285750">
              <a:spcBef>
                <a:spcPct val="20000"/>
              </a:spcBef>
              <a:buChar char="–"/>
              <a:defRPr sz="2800">
                <a:solidFill>
                  <a:schemeClr val="tx1"/>
                </a:solidFill>
                <a:latin typeface="Arial" pitchFamily="34" charset="0"/>
                <a:ea typeface="ＭＳ Ｐゴシック" pitchFamily="-65" charset="-128"/>
              </a:defRPr>
            </a:lvl2pPr>
            <a:lvl3pPr marL="1143000" indent="-228600">
              <a:spcBef>
                <a:spcPct val="20000"/>
              </a:spcBef>
              <a:buChar char="•"/>
              <a:defRPr sz="2400">
                <a:solidFill>
                  <a:schemeClr val="tx1"/>
                </a:solidFill>
                <a:latin typeface="Arial" pitchFamily="34" charset="0"/>
                <a:ea typeface="ＭＳ Ｐゴシック" pitchFamily="-65" charset="-128"/>
              </a:defRPr>
            </a:lvl3pPr>
            <a:lvl4pPr marL="1600200" indent="-228600">
              <a:spcBef>
                <a:spcPct val="20000"/>
              </a:spcBef>
              <a:buChar char="–"/>
              <a:defRPr sz="2000">
                <a:solidFill>
                  <a:schemeClr val="tx1"/>
                </a:solidFill>
                <a:latin typeface="Arial" pitchFamily="34" charset="0"/>
                <a:ea typeface="ＭＳ Ｐゴシック" pitchFamily="-65" charset="-128"/>
              </a:defRPr>
            </a:lvl4pPr>
            <a:lvl5pPr marL="2057400" indent="-228600">
              <a:spcBef>
                <a:spcPct val="20000"/>
              </a:spcBef>
              <a:buChar char="»"/>
              <a:defRPr sz="2000">
                <a:solidFill>
                  <a:schemeClr val="tx1"/>
                </a:solidFill>
                <a:latin typeface="Arial" pitchFamily="34" charset="0"/>
                <a:ea typeface="ＭＳ Ｐゴシック" pitchFamily="-65" charset="-128"/>
              </a:defRPr>
            </a:lvl5pPr>
            <a:lvl6pPr marL="2514600" indent="-228600" eaLnBrk="0" fontAlgn="base" hangingPunct="0">
              <a:spcBef>
                <a:spcPct val="20000"/>
              </a:spcBef>
              <a:spcAft>
                <a:spcPct val="0"/>
              </a:spcAft>
              <a:buChar char="»"/>
              <a:defRPr sz="2000">
                <a:solidFill>
                  <a:schemeClr val="tx1"/>
                </a:solidFill>
                <a:latin typeface="Arial" pitchFamily="34" charset="0"/>
                <a:ea typeface="ＭＳ Ｐゴシック" pitchFamily="-65" charset="-128"/>
              </a:defRPr>
            </a:lvl6pPr>
            <a:lvl7pPr marL="2971800" indent="-228600" eaLnBrk="0" fontAlgn="base" hangingPunct="0">
              <a:spcBef>
                <a:spcPct val="20000"/>
              </a:spcBef>
              <a:spcAft>
                <a:spcPct val="0"/>
              </a:spcAft>
              <a:buChar char="»"/>
              <a:defRPr sz="2000">
                <a:solidFill>
                  <a:schemeClr val="tx1"/>
                </a:solidFill>
                <a:latin typeface="Arial" pitchFamily="34" charset="0"/>
                <a:ea typeface="ＭＳ Ｐゴシック" pitchFamily="-65" charset="-128"/>
              </a:defRPr>
            </a:lvl7pPr>
            <a:lvl8pPr marL="3429000" indent="-228600" eaLnBrk="0" fontAlgn="base" hangingPunct="0">
              <a:spcBef>
                <a:spcPct val="20000"/>
              </a:spcBef>
              <a:spcAft>
                <a:spcPct val="0"/>
              </a:spcAft>
              <a:buChar char="»"/>
              <a:defRPr sz="2000">
                <a:solidFill>
                  <a:schemeClr val="tx1"/>
                </a:solidFill>
                <a:latin typeface="Arial" pitchFamily="34" charset="0"/>
                <a:ea typeface="ＭＳ Ｐゴシック" pitchFamily="-65" charset="-128"/>
              </a:defRPr>
            </a:lvl8pPr>
            <a:lvl9pPr marL="3886200" indent="-228600" eaLnBrk="0" fontAlgn="base" hangingPunct="0">
              <a:spcBef>
                <a:spcPct val="20000"/>
              </a:spcBef>
              <a:spcAft>
                <a:spcPct val="0"/>
              </a:spcAft>
              <a:buChar char="»"/>
              <a:defRPr sz="2000">
                <a:solidFill>
                  <a:schemeClr val="tx1"/>
                </a:solidFill>
                <a:latin typeface="Arial" pitchFamily="34" charset="0"/>
                <a:ea typeface="ＭＳ Ｐゴシック" pitchFamily="-65" charset="-128"/>
              </a:defRPr>
            </a:lvl9pPr>
          </a:lstStyle>
          <a:p>
            <a:pPr>
              <a:spcBef>
                <a:spcPct val="0"/>
              </a:spcBef>
              <a:buFontTx/>
              <a:buNone/>
            </a:pPr>
            <a:r>
              <a:rPr lang="en-US" altLang="en-US" sz="2400">
                <a:latin typeface="Calibri" pitchFamily="34" charset="0"/>
              </a:rPr>
              <a:t>The </a:t>
            </a:r>
            <a:r>
              <a:rPr lang="ja-JP" altLang="en-US" sz="2400">
                <a:latin typeface="Calibri" pitchFamily="34" charset="0"/>
              </a:rPr>
              <a:t>“</a:t>
            </a:r>
            <a:r>
              <a:rPr lang="en-US" altLang="ja-JP" sz="2400">
                <a:latin typeface="Calibri" pitchFamily="34" charset="0"/>
              </a:rPr>
              <a:t>class</a:t>
            </a:r>
            <a:r>
              <a:rPr lang="ja-JP" altLang="en-US" sz="2400">
                <a:latin typeface="Calibri" pitchFamily="34" charset="0"/>
              </a:rPr>
              <a:t>”</a:t>
            </a:r>
            <a:r>
              <a:rPr lang="en-US" altLang="ja-JP" sz="2400">
                <a:latin typeface="Calibri" pitchFamily="34" charset="0"/>
              </a:rPr>
              <a:t> </a:t>
            </a:r>
            <a:r>
              <a:rPr lang="en-US" altLang="ja-JP" sz="2400" b="1">
                <a:latin typeface="Calibri" pitchFamily="34" charset="0"/>
              </a:rPr>
              <a:t>P</a:t>
            </a:r>
            <a:endParaRPr lang="en-US" altLang="en-US" sz="2400">
              <a:latin typeface="Calibri" pitchFamily="34" charset="0"/>
            </a:endParaRPr>
          </a:p>
        </p:txBody>
      </p:sp>
      <p:sp>
        <p:nvSpPr>
          <p:cNvPr id="11" name="Text Box 23">
            <a:extLst>
              <a:ext uri="{FF2B5EF4-FFF2-40B4-BE49-F238E27FC236}">
                <a16:creationId xmlns:a16="http://schemas.microsoft.com/office/drawing/2014/main" id="{2C10860B-4253-7263-6757-ECF5C2311902}"/>
              </a:ext>
            </a:extLst>
          </p:cNvPr>
          <p:cNvSpPr txBox="1">
            <a:spLocks noChangeArrowheads="1"/>
          </p:cNvSpPr>
          <p:nvPr/>
        </p:nvSpPr>
        <p:spPr bwMode="auto">
          <a:xfrm>
            <a:off x="6575425" y="3352800"/>
            <a:ext cx="150177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itchFamily="34" charset="0"/>
                <a:ea typeface="ＭＳ Ｐゴシック" pitchFamily="-65" charset="-128"/>
              </a:defRPr>
            </a:lvl1pPr>
            <a:lvl2pPr marL="742950" indent="-285750">
              <a:spcBef>
                <a:spcPct val="20000"/>
              </a:spcBef>
              <a:buChar char="–"/>
              <a:defRPr sz="2800">
                <a:solidFill>
                  <a:schemeClr val="tx1"/>
                </a:solidFill>
                <a:latin typeface="Arial" pitchFamily="34" charset="0"/>
                <a:ea typeface="ＭＳ Ｐゴシック" pitchFamily="-65" charset="-128"/>
              </a:defRPr>
            </a:lvl2pPr>
            <a:lvl3pPr marL="1143000" indent="-228600">
              <a:spcBef>
                <a:spcPct val="20000"/>
              </a:spcBef>
              <a:buChar char="•"/>
              <a:defRPr sz="2400">
                <a:solidFill>
                  <a:schemeClr val="tx1"/>
                </a:solidFill>
                <a:latin typeface="Arial" pitchFamily="34" charset="0"/>
                <a:ea typeface="ＭＳ Ｐゴシック" pitchFamily="-65" charset="-128"/>
              </a:defRPr>
            </a:lvl3pPr>
            <a:lvl4pPr marL="1600200" indent="-228600">
              <a:spcBef>
                <a:spcPct val="20000"/>
              </a:spcBef>
              <a:buChar char="–"/>
              <a:defRPr sz="2000">
                <a:solidFill>
                  <a:schemeClr val="tx1"/>
                </a:solidFill>
                <a:latin typeface="Arial" pitchFamily="34" charset="0"/>
                <a:ea typeface="ＭＳ Ｐゴシック" pitchFamily="-65" charset="-128"/>
              </a:defRPr>
            </a:lvl4pPr>
            <a:lvl5pPr marL="2057400" indent="-228600">
              <a:spcBef>
                <a:spcPct val="20000"/>
              </a:spcBef>
              <a:buChar char="»"/>
              <a:defRPr sz="2000">
                <a:solidFill>
                  <a:schemeClr val="tx1"/>
                </a:solidFill>
                <a:latin typeface="Arial" pitchFamily="34" charset="0"/>
                <a:ea typeface="ＭＳ Ｐゴシック" pitchFamily="-65" charset="-128"/>
              </a:defRPr>
            </a:lvl5pPr>
            <a:lvl6pPr marL="2514600" indent="-228600" eaLnBrk="0" fontAlgn="base" hangingPunct="0">
              <a:spcBef>
                <a:spcPct val="20000"/>
              </a:spcBef>
              <a:spcAft>
                <a:spcPct val="0"/>
              </a:spcAft>
              <a:buChar char="»"/>
              <a:defRPr sz="2000">
                <a:solidFill>
                  <a:schemeClr val="tx1"/>
                </a:solidFill>
                <a:latin typeface="Arial" pitchFamily="34" charset="0"/>
                <a:ea typeface="ＭＳ Ｐゴシック" pitchFamily="-65" charset="-128"/>
              </a:defRPr>
            </a:lvl6pPr>
            <a:lvl7pPr marL="2971800" indent="-228600" eaLnBrk="0" fontAlgn="base" hangingPunct="0">
              <a:spcBef>
                <a:spcPct val="20000"/>
              </a:spcBef>
              <a:spcAft>
                <a:spcPct val="0"/>
              </a:spcAft>
              <a:buChar char="»"/>
              <a:defRPr sz="2000">
                <a:solidFill>
                  <a:schemeClr val="tx1"/>
                </a:solidFill>
                <a:latin typeface="Arial" pitchFamily="34" charset="0"/>
                <a:ea typeface="ＭＳ Ｐゴシック" pitchFamily="-65" charset="-128"/>
              </a:defRPr>
            </a:lvl7pPr>
            <a:lvl8pPr marL="3429000" indent="-228600" eaLnBrk="0" fontAlgn="base" hangingPunct="0">
              <a:spcBef>
                <a:spcPct val="20000"/>
              </a:spcBef>
              <a:spcAft>
                <a:spcPct val="0"/>
              </a:spcAft>
              <a:buChar char="»"/>
              <a:defRPr sz="2000">
                <a:solidFill>
                  <a:schemeClr val="tx1"/>
                </a:solidFill>
                <a:latin typeface="Arial" pitchFamily="34" charset="0"/>
                <a:ea typeface="ＭＳ Ｐゴシック" pitchFamily="-65" charset="-128"/>
              </a:defRPr>
            </a:lvl8pPr>
            <a:lvl9pPr marL="3886200" indent="-228600" eaLnBrk="0" fontAlgn="base" hangingPunct="0">
              <a:spcBef>
                <a:spcPct val="20000"/>
              </a:spcBef>
              <a:spcAft>
                <a:spcPct val="0"/>
              </a:spcAft>
              <a:buChar char="»"/>
              <a:defRPr sz="2000">
                <a:solidFill>
                  <a:schemeClr val="tx1"/>
                </a:solidFill>
                <a:latin typeface="Arial" pitchFamily="34" charset="0"/>
                <a:ea typeface="ＭＳ Ｐゴシック" pitchFamily="-65" charset="-128"/>
              </a:defRPr>
            </a:lvl9pPr>
          </a:lstStyle>
          <a:p>
            <a:pPr>
              <a:spcBef>
                <a:spcPct val="50000"/>
              </a:spcBef>
              <a:buFontTx/>
              <a:buNone/>
            </a:pPr>
            <a:r>
              <a:rPr lang="en-US" altLang="en-US" sz="2400">
                <a:latin typeface="Calibri" pitchFamily="34" charset="0"/>
              </a:rPr>
              <a:t>sorting</a:t>
            </a:r>
          </a:p>
        </p:txBody>
      </p:sp>
      <p:sp>
        <p:nvSpPr>
          <p:cNvPr id="12" name="Text Box 24">
            <a:extLst>
              <a:ext uri="{FF2B5EF4-FFF2-40B4-BE49-F238E27FC236}">
                <a16:creationId xmlns:a16="http://schemas.microsoft.com/office/drawing/2014/main" id="{D3653490-39EA-DEAE-6CBD-D3D6E0DB8CDF}"/>
              </a:ext>
            </a:extLst>
          </p:cNvPr>
          <p:cNvSpPr txBox="1">
            <a:spLocks noChangeArrowheads="1"/>
          </p:cNvSpPr>
          <p:nvPr/>
        </p:nvSpPr>
        <p:spPr bwMode="auto">
          <a:xfrm>
            <a:off x="6096000" y="3821113"/>
            <a:ext cx="2133600" cy="1384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itchFamily="34" charset="0"/>
                <a:ea typeface="ＭＳ Ｐゴシック" pitchFamily="-65" charset="-128"/>
              </a:defRPr>
            </a:lvl1pPr>
            <a:lvl2pPr marL="742950" indent="-285750">
              <a:spcBef>
                <a:spcPct val="20000"/>
              </a:spcBef>
              <a:buChar char="–"/>
              <a:defRPr sz="2800">
                <a:solidFill>
                  <a:schemeClr val="tx1"/>
                </a:solidFill>
                <a:latin typeface="Arial" pitchFamily="34" charset="0"/>
                <a:ea typeface="ＭＳ Ｐゴシック" pitchFamily="-65" charset="-128"/>
              </a:defRPr>
            </a:lvl2pPr>
            <a:lvl3pPr marL="1143000" indent="-228600">
              <a:spcBef>
                <a:spcPct val="20000"/>
              </a:spcBef>
              <a:buChar char="•"/>
              <a:defRPr sz="2400">
                <a:solidFill>
                  <a:schemeClr val="tx1"/>
                </a:solidFill>
                <a:latin typeface="Arial" pitchFamily="34" charset="0"/>
                <a:ea typeface="ＭＳ Ｐゴシック" pitchFamily="-65" charset="-128"/>
              </a:defRPr>
            </a:lvl3pPr>
            <a:lvl4pPr marL="1600200" indent="-228600">
              <a:spcBef>
                <a:spcPct val="20000"/>
              </a:spcBef>
              <a:buChar char="–"/>
              <a:defRPr sz="2000">
                <a:solidFill>
                  <a:schemeClr val="tx1"/>
                </a:solidFill>
                <a:latin typeface="Arial" pitchFamily="34" charset="0"/>
                <a:ea typeface="ＭＳ Ｐゴシック" pitchFamily="-65" charset="-128"/>
              </a:defRPr>
            </a:lvl4pPr>
            <a:lvl5pPr marL="2057400" indent="-228600">
              <a:spcBef>
                <a:spcPct val="20000"/>
              </a:spcBef>
              <a:buChar char="»"/>
              <a:defRPr sz="2000">
                <a:solidFill>
                  <a:schemeClr val="tx1"/>
                </a:solidFill>
                <a:latin typeface="Arial" pitchFamily="34" charset="0"/>
                <a:ea typeface="ＭＳ Ｐゴシック" pitchFamily="-65" charset="-128"/>
              </a:defRPr>
            </a:lvl5pPr>
            <a:lvl6pPr marL="2514600" indent="-228600" eaLnBrk="0" fontAlgn="base" hangingPunct="0">
              <a:spcBef>
                <a:spcPct val="20000"/>
              </a:spcBef>
              <a:spcAft>
                <a:spcPct val="0"/>
              </a:spcAft>
              <a:buChar char="»"/>
              <a:defRPr sz="2000">
                <a:solidFill>
                  <a:schemeClr val="tx1"/>
                </a:solidFill>
                <a:latin typeface="Arial" pitchFamily="34" charset="0"/>
                <a:ea typeface="ＭＳ Ｐゴシック" pitchFamily="-65" charset="-128"/>
              </a:defRPr>
            </a:lvl6pPr>
            <a:lvl7pPr marL="2971800" indent="-228600" eaLnBrk="0" fontAlgn="base" hangingPunct="0">
              <a:spcBef>
                <a:spcPct val="20000"/>
              </a:spcBef>
              <a:spcAft>
                <a:spcPct val="0"/>
              </a:spcAft>
              <a:buChar char="»"/>
              <a:defRPr sz="2000">
                <a:solidFill>
                  <a:schemeClr val="tx1"/>
                </a:solidFill>
                <a:latin typeface="Arial" pitchFamily="34" charset="0"/>
                <a:ea typeface="ＭＳ Ｐゴシック" pitchFamily="-65" charset="-128"/>
              </a:defRPr>
            </a:lvl7pPr>
            <a:lvl8pPr marL="3429000" indent="-228600" eaLnBrk="0" fontAlgn="base" hangingPunct="0">
              <a:spcBef>
                <a:spcPct val="20000"/>
              </a:spcBef>
              <a:spcAft>
                <a:spcPct val="0"/>
              </a:spcAft>
              <a:buChar char="»"/>
              <a:defRPr sz="2000">
                <a:solidFill>
                  <a:schemeClr val="tx1"/>
                </a:solidFill>
                <a:latin typeface="Arial" pitchFamily="34" charset="0"/>
                <a:ea typeface="ＭＳ Ｐゴシック" pitchFamily="-65" charset="-128"/>
              </a:defRPr>
            </a:lvl8pPr>
            <a:lvl9pPr marL="3886200" indent="-228600" eaLnBrk="0" fontAlgn="base" hangingPunct="0">
              <a:spcBef>
                <a:spcPct val="20000"/>
              </a:spcBef>
              <a:spcAft>
                <a:spcPct val="0"/>
              </a:spcAft>
              <a:buChar char="»"/>
              <a:defRPr sz="2000">
                <a:solidFill>
                  <a:schemeClr val="tx1"/>
                </a:solidFill>
                <a:latin typeface="Arial" pitchFamily="34" charset="0"/>
                <a:ea typeface="ＭＳ Ｐゴシック" pitchFamily="-65" charset="-128"/>
              </a:defRPr>
            </a:lvl9pPr>
          </a:lstStyle>
          <a:p>
            <a:pPr>
              <a:spcBef>
                <a:spcPct val="50000"/>
              </a:spcBef>
              <a:buFontTx/>
              <a:buNone/>
            </a:pPr>
            <a:r>
              <a:rPr lang="en-US" altLang="en-US" sz="2400">
                <a:latin typeface="Calibri" pitchFamily="34" charset="0"/>
              </a:rPr>
              <a:t>matrix multiplication</a:t>
            </a:r>
          </a:p>
          <a:p>
            <a:pPr>
              <a:spcBef>
                <a:spcPct val="50000"/>
              </a:spcBef>
              <a:buFontTx/>
              <a:buNone/>
            </a:pPr>
            <a:r>
              <a:rPr lang="en-US" altLang="en-US" sz="2400">
                <a:latin typeface="Calibri" pitchFamily="34" charset="0"/>
              </a:rPr>
              <a:t>shortest paths</a:t>
            </a:r>
          </a:p>
        </p:txBody>
      </p:sp>
    </p:spTree>
    <p:extLst>
      <p:ext uri="{BB962C8B-B14F-4D97-AF65-F5344CB8AC3E}">
        <p14:creationId xmlns:p14="http://schemas.microsoft.com/office/powerpoint/2010/main" val="1900761999"/>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0" y="0"/>
            <a:ext cx="12192000" cy="762000"/>
          </a:xfrm>
          <a:prstGeom prst="rect">
            <a:avLst/>
          </a:prstGeom>
          <a:solidFill>
            <a:srgbClr val="002F7C"/>
          </a:solidFill>
        </p:spPr>
        <p:style>
          <a:lnRef idx="2">
            <a:schemeClr val="dk1">
              <a:shade val="50000"/>
            </a:schemeClr>
          </a:lnRef>
          <a:fillRef idx="1">
            <a:schemeClr val="dk1"/>
          </a:fillRef>
          <a:effectRef idx="0">
            <a:schemeClr val="dk1"/>
          </a:effectRef>
          <a:fontRef idx="minor">
            <a:schemeClr val="lt1"/>
          </a:fontRef>
        </p:style>
        <p:txBody>
          <a:bodyPr rtlCol="0" anchor="ctr"/>
          <a:lstStyle/>
          <a:p>
            <a:r>
              <a:rPr lang="zh-CN" altLang="en-US" sz="2000" b="1" dirty="0">
                <a:latin typeface="Times New Roman" panose="02020603050405020304" pitchFamily="18" charset="0"/>
                <a:ea typeface="宋体" panose="02010600030101010101" pitchFamily="2" charset="-122"/>
                <a:cs typeface="Times New Roman" panose="02020603050405020304" pitchFamily="18" charset="0"/>
              </a:rPr>
              <a:t>                </a:t>
            </a:r>
            <a:r>
              <a:rPr lang="en-US" altLang="zh-CN" sz="2400" b="1" dirty="0">
                <a:latin typeface="Trebuchet MS" panose="020B0603020202020204" pitchFamily="34" charset="0"/>
              </a:rPr>
              <a:t>Chapter 8: </a:t>
            </a:r>
            <a:r>
              <a:rPr lang="en-US" altLang="zh-CN" sz="2400" dirty="0"/>
              <a:t>INTRACTABILITY</a:t>
            </a:r>
            <a:endParaRPr lang="zh-CN" altLang="en-US" sz="2400" b="1" dirty="0">
              <a:solidFill>
                <a:srgbClr val="3D557A"/>
              </a:solidFill>
              <a:latin typeface="Trebuchet MS" panose="020B0603020202020204" pitchFamily="34" charset="0"/>
            </a:endParaRPr>
          </a:p>
        </p:txBody>
      </p:sp>
      <p:sp>
        <p:nvSpPr>
          <p:cNvPr id="13" name="矩形 12"/>
          <p:cNvSpPr/>
          <p:nvPr/>
        </p:nvSpPr>
        <p:spPr>
          <a:xfrm>
            <a:off x="824682" y="0"/>
            <a:ext cx="175443" cy="628650"/>
          </a:xfrm>
          <a:prstGeom prst="rect">
            <a:avLst/>
          </a:prstGeom>
          <a:solidFill>
            <a:srgbClr val="CFA57C"/>
          </a:solidFill>
          <a:ln cmpd="sng">
            <a:gradFill flip="none" rotWithShape="1">
              <a:gsLst>
                <a:gs pos="50000">
                  <a:schemeClr val="accent2">
                    <a:lumMod val="60000"/>
                    <a:lumOff val="40000"/>
                  </a:schemeClr>
                </a:gs>
                <a:gs pos="0">
                  <a:schemeClr val="accent2">
                    <a:lumMod val="20000"/>
                    <a:lumOff val="80000"/>
                  </a:schemeClr>
                </a:gs>
                <a:gs pos="95000">
                  <a:schemeClr val="accent2"/>
                </a:gs>
              </a:gsLst>
              <a:path path="circle">
                <a:fillToRect l="50000" t="-80000" r="50000" b="180000"/>
              </a:path>
              <a:tileRect/>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22" name="Picture 6" descr="D:\MBA工作\LOGO\同济经管LOGO反白.png"/>
          <p:cNvPicPr>
            <a:picLocks noChangeAspect="1" noChangeArrowheads="1"/>
          </p:cNvPicPr>
          <p:nvPr/>
        </p:nvPicPr>
        <p:blipFill>
          <a:blip r:embed="rId3" cstate="email">
            <a:extLst>
              <a:ext uri="{28A0092B-C50C-407E-A947-70E740481C1C}">
                <a14:useLocalDpi xmlns:a14="http://schemas.microsoft.com/office/drawing/2010/main" val="0"/>
              </a:ext>
            </a:extLst>
          </a:blip>
          <a:srcRect/>
          <a:stretch>
            <a:fillRect/>
          </a:stretch>
        </p:blipFill>
        <p:spPr bwMode="auto">
          <a:xfrm>
            <a:off x="10267423" y="165688"/>
            <a:ext cx="1386605" cy="462962"/>
          </a:xfrm>
          <a:prstGeom prst="rect">
            <a:avLst/>
          </a:prstGeom>
          <a:noFill/>
          <a:extLst>
            <a:ext uri="{909E8E84-426E-40DD-AFC4-6F175D3DCCD1}">
              <a14:hiddenFill xmlns:a14="http://schemas.microsoft.com/office/drawing/2010/main">
                <a:solidFill>
                  <a:srgbClr val="FFFFFF"/>
                </a:solidFill>
              </a14:hiddenFill>
            </a:ext>
          </a:extLst>
        </p:spPr>
      </p:pic>
      <p:pic>
        <p:nvPicPr>
          <p:cNvPr id="2" name="图片 1" descr="微信图片_20220318113523"/>
          <p:cNvPicPr>
            <a:picLocks noChangeAspect="1"/>
          </p:cNvPicPr>
          <p:nvPr userDrawn="1"/>
        </p:nvPicPr>
        <p:blipFill>
          <a:blip r:embed="rId4"/>
          <a:stretch>
            <a:fillRect/>
          </a:stretch>
        </p:blipFill>
        <p:spPr>
          <a:xfrm>
            <a:off x="9291877" y="6115050"/>
            <a:ext cx="2244725" cy="361315"/>
          </a:xfrm>
          <a:prstGeom prst="rect">
            <a:avLst/>
          </a:prstGeom>
        </p:spPr>
      </p:pic>
      <p:sp>
        <p:nvSpPr>
          <p:cNvPr id="18" name="Rectangle 2">
            <a:extLst>
              <a:ext uri="{FF2B5EF4-FFF2-40B4-BE49-F238E27FC236}">
                <a16:creationId xmlns:a16="http://schemas.microsoft.com/office/drawing/2014/main" id="{E217C615-1D49-4D07-B850-D36106D7AA9A}"/>
              </a:ext>
            </a:extLst>
          </p:cNvPr>
          <p:cNvSpPr>
            <a:spLocks noChangeArrowheads="1"/>
          </p:cNvSpPr>
          <p:nvPr/>
        </p:nvSpPr>
        <p:spPr bwMode="auto">
          <a:xfrm>
            <a:off x="1000125" y="815365"/>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8" name="Rectangle 3">
            <a:extLst>
              <a:ext uri="{FF2B5EF4-FFF2-40B4-BE49-F238E27FC236}">
                <a16:creationId xmlns:a16="http://schemas.microsoft.com/office/drawing/2014/main" id="{97F08C45-3D15-45C1-A5A3-D1EB58DC91FE}"/>
              </a:ext>
            </a:extLst>
          </p:cNvPr>
          <p:cNvSpPr txBox="1">
            <a:spLocks noChangeArrowheads="1"/>
          </p:cNvSpPr>
          <p:nvPr/>
        </p:nvSpPr>
        <p:spPr>
          <a:xfrm>
            <a:off x="824681" y="765175"/>
            <a:ext cx="8798289" cy="5788025"/>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indent="1828800">
              <a:lnSpc>
                <a:spcPct val="130000"/>
              </a:lnSpc>
              <a:spcBef>
                <a:spcPts val="600"/>
              </a:spcBef>
              <a:buNone/>
            </a:pPr>
            <a:endParaRPr lang="en-US" altLang="zh-CN" sz="2400" b="1" dirty="0">
              <a:latin typeface="Trebuchet MS" panose="020B0603020202020204" pitchFamily="34" charset="0"/>
            </a:endParaRPr>
          </a:p>
        </p:txBody>
      </p:sp>
      <p:sp>
        <p:nvSpPr>
          <p:cNvPr id="4" name="文本框 3">
            <a:extLst>
              <a:ext uri="{FF2B5EF4-FFF2-40B4-BE49-F238E27FC236}">
                <a16:creationId xmlns:a16="http://schemas.microsoft.com/office/drawing/2014/main" id="{7B6F1D06-4206-72E2-5338-47CB8172AA94}"/>
              </a:ext>
            </a:extLst>
          </p:cNvPr>
          <p:cNvSpPr txBox="1"/>
          <p:nvPr/>
        </p:nvSpPr>
        <p:spPr>
          <a:xfrm>
            <a:off x="1424770" y="1098799"/>
            <a:ext cx="6103344" cy="369332"/>
          </a:xfrm>
          <a:prstGeom prst="rect">
            <a:avLst/>
          </a:prstGeom>
          <a:noFill/>
        </p:spPr>
        <p:txBody>
          <a:bodyPr wrap="square">
            <a:spAutoFit/>
          </a:bodyPr>
          <a:lstStyle/>
          <a:p>
            <a:r>
              <a:rPr lang="ja-JP" altLang="en-US" dirty="0"/>
              <a:t>“</a:t>
            </a:r>
            <a:r>
              <a:rPr lang="en-US" altLang="ja-JP" dirty="0"/>
              <a:t>Hard</a:t>
            </a:r>
            <a:r>
              <a:rPr lang="ja-JP" altLang="en-US" dirty="0"/>
              <a:t>”</a:t>
            </a:r>
            <a:r>
              <a:rPr lang="en-US" altLang="ja-JP" dirty="0"/>
              <a:t> Problems</a:t>
            </a:r>
            <a:endParaRPr lang="zh-CN" altLang="en-US" dirty="0"/>
          </a:p>
        </p:txBody>
      </p:sp>
      <p:sp>
        <p:nvSpPr>
          <p:cNvPr id="5" name="Text Box 30">
            <a:extLst>
              <a:ext uri="{FF2B5EF4-FFF2-40B4-BE49-F238E27FC236}">
                <a16:creationId xmlns:a16="http://schemas.microsoft.com/office/drawing/2014/main" id="{95A85B08-9C7E-038B-0AB3-3D0D7CC8DF9A}"/>
              </a:ext>
            </a:extLst>
          </p:cNvPr>
          <p:cNvSpPr txBox="1">
            <a:spLocks noChangeArrowheads="1"/>
          </p:cNvSpPr>
          <p:nvPr/>
        </p:nvSpPr>
        <p:spPr bwMode="auto">
          <a:xfrm>
            <a:off x="479425" y="2057400"/>
            <a:ext cx="523557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itchFamily="34" charset="0"/>
                <a:ea typeface="ＭＳ Ｐゴシック" pitchFamily="-65" charset="-128"/>
              </a:defRPr>
            </a:lvl1pPr>
            <a:lvl2pPr marL="742950" indent="-285750">
              <a:spcBef>
                <a:spcPct val="20000"/>
              </a:spcBef>
              <a:buChar char="–"/>
              <a:defRPr sz="2800">
                <a:solidFill>
                  <a:schemeClr val="tx1"/>
                </a:solidFill>
                <a:latin typeface="Arial" pitchFamily="34" charset="0"/>
                <a:ea typeface="ＭＳ Ｐゴシック" pitchFamily="-65" charset="-128"/>
              </a:defRPr>
            </a:lvl2pPr>
            <a:lvl3pPr marL="1143000" indent="-228600">
              <a:spcBef>
                <a:spcPct val="20000"/>
              </a:spcBef>
              <a:buChar char="•"/>
              <a:defRPr sz="2400">
                <a:solidFill>
                  <a:schemeClr val="tx1"/>
                </a:solidFill>
                <a:latin typeface="Arial" pitchFamily="34" charset="0"/>
                <a:ea typeface="ＭＳ Ｐゴシック" pitchFamily="-65" charset="-128"/>
              </a:defRPr>
            </a:lvl3pPr>
            <a:lvl4pPr marL="1600200" indent="-228600">
              <a:spcBef>
                <a:spcPct val="20000"/>
              </a:spcBef>
              <a:buChar char="–"/>
              <a:defRPr sz="2000">
                <a:solidFill>
                  <a:schemeClr val="tx1"/>
                </a:solidFill>
                <a:latin typeface="Arial" pitchFamily="34" charset="0"/>
                <a:ea typeface="ＭＳ Ｐゴシック" pitchFamily="-65" charset="-128"/>
              </a:defRPr>
            </a:lvl4pPr>
            <a:lvl5pPr marL="2057400" indent="-228600">
              <a:spcBef>
                <a:spcPct val="20000"/>
              </a:spcBef>
              <a:buChar char="»"/>
              <a:defRPr sz="2000">
                <a:solidFill>
                  <a:schemeClr val="tx1"/>
                </a:solidFill>
                <a:latin typeface="Arial" pitchFamily="34" charset="0"/>
                <a:ea typeface="ＭＳ Ｐゴシック" pitchFamily="-65" charset="-128"/>
              </a:defRPr>
            </a:lvl5pPr>
            <a:lvl6pPr marL="2514600" indent="-228600" eaLnBrk="0" fontAlgn="base" hangingPunct="0">
              <a:spcBef>
                <a:spcPct val="20000"/>
              </a:spcBef>
              <a:spcAft>
                <a:spcPct val="0"/>
              </a:spcAft>
              <a:buChar char="»"/>
              <a:defRPr sz="2000">
                <a:solidFill>
                  <a:schemeClr val="tx1"/>
                </a:solidFill>
                <a:latin typeface="Arial" pitchFamily="34" charset="0"/>
                <a:ea typeface="ＭＳ Ｐゴシック" pitchFamily="-65" charset="-128"/>
              </a:defRPr>
            </a:lvl6pPr>
            <a:lvl7pPr marL="2971800" indent="-228600" eaLnBrk="0" fontAlgn="base" hangingPunct="0">
              <a:spcBef>
                <a:spcPct val="20000"/>
              </a:spcBef>
              <a:spcAft>
                <a:spcPct val="0"/>
              </a:spcAft>
              <a:buChar char="»"/>
              <a:defRPr sz="2000">
                <a:solidFill>
                  <a:schemeClr val="tx1"/>
                </a:solidFill>
                <a:latin typeface="Arial" pitchFamily="34" charset="0"/>
                <a:ea typeface="ＭＳ Ｐゴシック" pitchFamily="-65" charset="-128"/>
              </a:defRPr>
            </a:lvl7pPr>
            <a:lvl8pPr marL="3429000" indent="-228600" eaLnBrk="0" fontAlgn="base" hangingPunct="0">
              <a:spcBef>
                <a:spcPct val="20000"/>
              </a:spcBef>
              <a:spcAft>
                <a:spcPct val="0"/>
              </a:spcAft>
              <a:buChar char="»"/>
              <a:defRPr sz="2000">
                <a:solidFill>
                  <a:schemeClr val="tx1"/>
                </a:solidFill>
                <a:latin typeface="Arial" pitchFamily="34" charset="0"/>
                <a:ea typeface="ＭＳ Ｐゴシック" pitchFamily="-65" charset="-128"/>
              </a:defRPr>
            </a:lvl8pPr>
            <a:lvl9pPr marL="3886200" indent="-228600" eaLnBrk="0" fontAlgn="base" hangingPunct="0">
              <a:spcBef>
                <a:spcPct val="20000"/>
              </a:spcBef>
              <a:spcAft>
                <a:spcPct val="0"/>
              </a:spcAft>
              <a:buChar char="»"/>
              <a:defRPr sz="2000">
                <a:solidFill>
                  <a:schemeClr val="tx1"/>
                </a:solidFill>
                <a:latin typeface="Arial" pitchFamily="34" charset="0"/>
                <a:ea typeface="ＭＳ Ｐゴシック" pitchFamily="-65" charset="-128"/>
              </a:defRPr>
            </a:lvl9pPr>
          </a:lstStyle>
          <a:p>
            <a:pPr>
              <a:spcBef>
                <a:spcPct val="50000"/>
              </a:spcBef>
              <a:buFontTx/>
              <a:buNone/>
            </a:pPr>
            <a:r>
              <a:rPr lang="en-US" altLang="en-US" sz="2400">
                <a:solidFill>
                  <a:srgbClr val="720816"/>
                </a:solidFill>
                <a:latin typeface="Calibri" pitchFamily="34" charset="0"/>
              </a:rPr>
              <a:t>The Travelling Salesperson Problem</a:t>
            </a:r>
            <a:endParaRPr lang="en-US" altLang="en-US" sz="2400">
              <a:latin typeface="Calibri" pitchFamily="34" charset="0"/>
            </a:endParaRPr>
          </a:p>
        </p:txBody>
      </p:sp>
      <p:sp>
        <p:nvSpPr>
          <p:cNvPr id="6" name="Oval 31">
            <a:extLst>
              <a:ext uri="{FF2B5EF4-FFF2-40B4-BE49-F238E27FC236}">
                <a16:creationId xmlns:a16="http://schemas.microsoft.com/office/drawing/2014/main" id="{E8F4B425-FEA3-ACC0-DC3B-57E877D4436E}"/>
              </a:ext>
            </a:extLst>
          </p:cNvPr>
          <p:cNvSpPr>
            <a:spLocks noChangeArrowheads="1"/>
          </p:cNvSpPr>
          <p:nvPr/>
        </p:nvSpPr>
        <p:spPr bwMode="auto">
          <a:xfrm>
            <a:off x="4033838" y="3200400"/>
            <a:ext cx="228600" cy="228600"/>
          </a:xfrm>
          <a:prstGeom prst="ellipse">
            <a:avLst/>
          </a:prstGeom>
          <a:solidFill>
            <a:schemeClr val="accent1"/>
          </a:solidFill>
          <a:ln w="9525">
            <a:solidFill>
              <a:schemeClr val="tx1"/>
            </a:solidFill>
            <a:round/>
            <a:headEnd/>
            <a:tailEnd/>
          </a:ln>
        </p:spPr>
        <p:txBody>
          <a:bodyPr/>
          <a:lstStyle>
            <a:lvl1pPr>
              <a:spcBef>
                <a:spcPct val="20000"/>
              </a:spcBef>
              <a:buChar char="•"/>
              <a:defRPr sz="3200">
                <a:solidFill>
                  <a:schemeClr val="tx1"/>
                </a:solidFill>
                <a:latin typeface="Arial" pitchFamily="34" charset="0"/>
                <a:ea typeface="ＭＳ Ｐゴシック" pitchFamily="-65" charset="-128"/>
              </a:defRPr>
            </a:lvl1pPr>
            <a:lvl2pPr marL="742950" indent="-285750">
              <a:spcBef>
                <a:spcPct val="20000"/>
              </a:spcBef>
              <a:buChar char="–"/>
              <a:defRPr sz="2800">
                <a:solidFill>
                  <a:schemeClr val="tx1"/>
                </a:solidFill>
                <a:latin typeface="Arial" pitchFamily="34" charset="0"/>
                <a:ea typeface="ＭＳ Ｐゴシック" pitchFamily="-65" charset="-128"/>
              </a:defRPr>
            </a:lvl2pPr>
            <a:lvl3pPr marL="1143000" indent="-228600">
              <a:spcBef>
                <a:spcPct val="20000"/>
              </a:spcBef>
              <a:buChar char="•"/>
              <a:defRPr sz="2400">
                <a:solidFill>
                  <a:schemeClr val="tx1"/>
                </a:solidFill>
                <a:latin typeface="Arial" pitchFamily="34" charset="0"/>
                <a:ea typeface="ＭＳ Ｐゴシック" pitchFamily="-65" charset="-128"/>
              </a:defRPr>
            </a:lvl3pPr>
            <a:lvl4pPr marL="1600200" indent="-228600">
              <a:spcBef>
                <a:spcPct val="20000"/>
              </a:spcBef>
              <a:buChar char="–"/>
              <a:defRPr sz="2000">
                <a:solidFill>
                  <a:schemeClr val="tx1"/>
                </a:solidFill>
                <a:latin typeface="Arial" pitchFamily="34" charset="0"/>
                <a:ea typeface="ＭＳ Ｐゴシック" pitchFamily="-65" charset="-128"/>
              </a:defRPr>
            </a:lvl4pPr>
            <a:lvl5pPr marL="2057400" indent="-228600">
              <a:spcBef>
                <a:spcPct val="20000"/>
              </a:spcBef>
              <a:buChar char="»"/>
              <a:defRPr sz="2000">
                <a:solidFill>
                  <a:schemeClr val="tx1"/>
                </a:solidFill>
                <a:latin typeface="Arial" pitchFamily="34" charset="0"/>
                <a:ea typeface="ＭＳ Ｐゴシック" pitchFamily="-65" charset="-128"/>
              </a:defRPr>
            </a:lvl5pPr>
            <a:lvl6pPr marL="2514600" indent="-228600" eaLnBrk="0" fontAlgn="base" hangingPunct="0">
              <a:spcBef>
                <a:spcPct val="20000"/>
              </a:spcBef>
              <a:spcAft>
                <a:spcPct val="0"/>
              </a:spcAft>
              <a:buChar char="»"/>
              <a:defRPr sz="2000">
                <a:solidFill>
                  <a:schemeClr val="tx1"/>
                </a:solidFill>
                <a:latin typeface="Arial" pitchFamily="34" charset="0"/>
                <a:ea typeface="ＭＳ Ｐゴシック" pitchFamily="-65" charset="-128"/>
              </a:defRPr>
            </a:lvl6pPr>
            <a:lvl7pPr marL="2971800" indent="-228600" eaLnBrk="0" fontAlgn="base" hangingPunct="0">
              <a:spcBef>
                <a:spcPct val="20000"/>
              </a:spcBef>
              <a:spcAft>
                <a:spcPct val="0"/>
              </a:spcAft>
              <a:buChar char="»"/>
              <a:defRPr sz="2000">
                <a:solidFill>
                  <a:schemeClr val="tx1"/>
                </a:solidFill>
                <a:latin typeface="Arial" pitchFamily="34" charset="0"/>
                <a:ea typeface="ＭＳ Ｐゴシック" pitchFamily="-65" charset="-128"/>
              </a:defRPr>
            </a:lvl7pPr>
            <a:lvl8pPr marL="3429000" indent="-228600" eaLnBrk="0" fontAlgn="base" hangingPunct="0">
              <a:spcBef>
                <a:spcPct val="20000"/>
              </a:spcBef>
              <a:spcAft>
                <a:spcPct val="0"/>
              </a:spcAft>
              <a:buChar char="»"/>
              <a:defRPr sz="2000">
                <a:solidFill>
                  <a:schemeClr val="tx1"/>
                </a:solidFill>
                <a:latin typeface="Arial" pitchFamily="34" charset="0"/>
                <a:ea typeface="ＭＳ Ｐゴシック" pitchFamily="-65" charset="-128"/>
              </a:defRPr>
            </a:lvl8pPr>
            <a:lvl9pPr marL="3886200" indent="-228600" eaLnBrk="0" fontAlgn="base" hangingPunct="0">
              <a:spcBef>
                <a:spcPct val="20000"/>
              </a:spcBef>
              <a:spcAft>
                <a:spcPct val="0"/>
              </a:spcAft>
              <a:buChar char="»"/>
              <a:defRPr sz="2000">
                <a:solidFill>
                  <a:schemeClr val="tx1"/>
                </a:solidFill>
                <a:latin typeface="Arial" pitchFamily="34" charset="0"/>
                <a:ea typeface="ＭＳ Ｐゴシック" pitchFamily="-65" charset="-128"/>
              </a:defRPr>
            </a:lvl9pPr>
          </a:lstStyle>
          <a:p>
            <a:pPr>
              <a:spcBef>
                <a:spcPct val="0"/>
              </a:spcBef>
              <a:buFontTx/>
              <a:buNone/>
            </a:pPr>
            <a:endParaRPr lang="en-US" altLang="en-US" sz="2400">
              <a:latin typeface="Calibri" pitchFamily="34" charset="0"/>
            </a:endParaRPr>
          </a:p>
        </p:txBody>
      </p:sp>
      <p:sp>
        <p:nvSpPr>
          <p:cNvPr id="7" name="Oval 32">
            <a:extLst>
              <a:ext uri="{FF2B5EF4-FFF2-40B4-BE49-F238E27FC236}">
                <a16:creationId xmlns:a16="http://schemas.microsoft.com/office/drawing/2014/main" id="{3FDA3C36-91BA-BCAD-69CA-5C37D3CB3012}"/>
              </a:ext>
            </a:extLst>
          </p:cNvPr>
          <p:cNvSpPr>
            <a:spLocks noChangeArrowheads="1"/>
          </p:cNvSpPr>
          <p:nvPr/>
        </p:nvSpPr>
        <p:spPr bwMode="auto">
          <a:xfrm>
            <a:off x="2281238" y="4038600"/>
            <a:ext cx="228600" cy="228600"/>
          </a:xfrm>
          <a:prstGeom prst="ellipse">
            <a:avLst/>
          </a:prstGeom>
          <a:solidFill>
            <a:schemeClr val="accent1"/>
          </a:solidFill>
          <a:ln w="9525">
            <a:solidFill>
              <a:schemeClr val="tx1"/>
            </a:solidFill>
            <a:round/>
            <a:headEnd/>
            <a:tailEnd/>
          </a:ln>
        </p:spPr>
        <p:txBody>
          <a:bodyPr/>
          <a:lstStyle>
            <a:lvl1pPr>
              <a:spcBef>
                <a:spcPct val="20000"/>
              </a:spcBef>
              <a:buChar char="•"/>
              <a:defRPr sz="3200">
                <a:solidFill>
                  <a:schemeClr val="tx1"/>
                </a:solidFill>
                <a:latin typeface="Arial" pitchFamily="34" charset="0"/>
                <a:ea typeface="ＭＳ Ｐゴシック" pitchFamily="-65" charset="-128"/>
              </a:defRPr>
            </a:lvl1pPr>
            <a:lvl2pPr marL="742950" indent="-285750">
              <a:spcBef>
                <a:spcPct val="20000"/>
              </a:spcBef>
              <a:buChar char="–"/>
              <a:defRPr sz="2800">
                <a:solidFill>
                  <a:schemeClr val="tx1"/>
                </a:solidFill>
                <a:latin typeface="Arial" pitchFamily="34" charset="0"/>
                <a:ea typeface="ＭＳ Ｐゴシック" pitchFamily="-65" charset="-128"/>
              </a:defRPr>
            </a:lvl2pPr>
            <a:lvl3pPr marL="1143000" indent="-228600">
              <a:spcBef>
                <a:spcPct val="20000"/>
              </a:spcBef>
              <a:buChar char="•"/>
              <a:defRPr sz="2400">
                <a:solidFill>
                  <a:schemeClr val="tx1"/>
                </a:solidFill>
                <a:latin typeface="Arial" pitchFamily="34" charset="0"/>
                <a:ea typeface="ＭＳ Ｐゴシック" pitchFamily="-65" charset="-128"/>
              </a:defRPr>
            </a:lvl3pPr>
            <a:lvl4pPr marL="1600200" indent="-228600">
              <a:spcBef>
                <a:spcPct val="20000"/>
              </a:spcBef>
              <a:buChar char="–"/>
              <a:defRPr sz="2000">
                <a:solidFill>
                  <a:schemeClr val="tx1"/>
                </a:solidFill>
                <a:latin typeface="Arial" pitchFamily="34" charset="0"/>
                <a:ea typeface="ＭＳ Ｐゴシック" pitchFamily="-65" charset="-128"/>
              </a:defRPr>
            </a:lvl4pPr>
            <a:lvl5pPr marL="2057400" indent="-228600">
              <a:spcBef>
                <a:spcPct val="20000"/>
              </a:spcBef>
              <a:buChar char="»"/>
              <a:defRPr sz="2000">
                <a:solidFill>
                  <a:schemeClr val="tx1"/>
                </a:solidFill>
                <a:latin typeface="Arial" pitchFamily="34" charset="0"/>
                <a:ea typeface="ＭＳ Ｐゴシック" pitchFamily="-65" charset="-128"/>
              </a:defRPr>
            </a:lvl5pPr>
            <a:lvl6pPr marL="2514600" indent="-228600" eaLnBrk="0" fontAlgn="base" hangingPunct="0">
              <a:spcBef>
                <a:spcPct val="20000"/>
              </a:spcBef>
              <a:spcAft>
                <a:spcPct val="0"/>
              </a:spcAft>
              <a:buChar char="»"/>
              <a:defRPr sz="2000">
                <a:solidFill>
                  <a:schemeClr val="tx1"/>
                </a:solidFill>
                <a:latin typeface="Arial" pitchFamily="34" charset="0"/>
                <a:ea typeface="ＭＳ Ｐゴシック" pitchFamily="-65" charset="-128"/>
              </a:defRPr>
            </a:lvl6pPr>
            <a:lvl7pPr marL="2971800" indent="-228600" eaLnBrk="0" fontAlgn="base" hangingPunct="0">
              <a:spcBef>
                <a:spcPct val="20000"/>
              </a:spcBef>
              <a:spcAft>
                <a:spcPct val="0"/>
              </a:spcAft>
              <a:buChar char="»"/>
              <a:defRPr sz="2000">
                <a:solidFill>
                  <a:schemeClr val="tx1"/>
                </a:solidFill>
                <a:latin typeface="Arial" pitchFamily="34" charset="0"/>
                <a:ea typeface="ＭＳ Ｐゴシック" pitchFamily="-65" charset="-128"/>
              </a:defRPr>
            </a:lvl7pPr>
            <a:lvl8pPr marL="3429000" indent="-228600" eaLnBrk="0" fontAlgn="base" hangingPunct="0">
              <a:spcBef>
                <a:spcPct val="20000"/>
              </a:spcBef>
              <a:spcAft>
                <a:spcPct val="0"/>
              </a:spcAft>
              <a:buChar char="»"/>
              <a:defRPr sz="2000">
                <a:solidFill>
                  <a:schemeClr val="tx1"/>
                </a:solidFill>
                <a:latin typeface="Arial" pitchFamily="34" charset="0"/>
                <a:ea typeface="ＭＳ Ｐゴシック" pitchFamily="-65" charset="-128"/>
              </a:defRPr>
            </a:lvl8pPr>
            <a:lvl9pPr marL="3886200" indent="-228600" eaLnBrk="0" fontAlgn="base" hangingPunct="0">
              <a:spcBef>
                <a:spcPct val="20000"/>
              </a:spcBef>
              <a:spcAft>
                <a:spcPct val="0"/>
              </a:spcAft>
              <a:buChar char="»"/>
              <a:defRPr sz="2000">
                <a:solidFill>
                  <a:schemeClr val="tx1"/>
                </a:solidFill>
                <a:latin typeface="Arial" pitchFamily="34" charset="0"/>
                <a:ea typeface="ＭＳ Ｐゴシック" pitchFamily="-65" charset="-128"/>
              </a:defRPr>
            </a:lvl9pPr>
          </a:lstStyle>
          <a:p>
            <a:pPr>
              <a:spcBef>
                <a:spcPct val="0"/>
              </a:spcBef>
              <a:buFontTx/>
              <a:buNone/>
            </a:pPr>
            <a:endParaRPr lang="en-US" altLang="en-US" sz="2400">
              <a:latin typeface="Calibri" pitchFamily="34" charset="0"/>
            </a:endParaRPr>
          </a:p>
        </p:txBody>
      </p:sp>
      <p:sp>
        <p:nvSpPr>
          <p:cNvPr id="9" name="Oval 33">
            <a:extLst>
              <a:ext uri="{FF2B5EF4-FFF2-40B4-BE49-F238E27FC236}">
                <a16:creationId xmlns:a16="http://schemas.microsoft.com/office/drawing/2014/main" id="{825ED215-6EC6-6E90-487D-47956E2BC506}"/>
              </a:ext>
            </a:extLst>
          </p:cNvPr>
          <p:cNvSpPr>
            <a:spLocks noChangeArrowheads="1"/>
          </p:cNvSpPr>
          <p:nvPr/>
        </p:nvSpPr>
        <p:spPr bwMode="auto">
          <a:xfrm>
            <a:off x="2433638" y="5791200"/>
            <a:ext cx="228600" cy="228600"/>
          </a:xfrm>
          <a:prstGeom prst="ellipse">
            <a:avLst/>
          </a:prstGeom>
          <a:solidFill>
            <a:schemeClr val="accent1"/>
          </a:solidFill>
          <a:ln w="9525">
            <a:solidFill>
              <a:schemeClr val="tx1"/>
            </a:solidFill>
            <a:round/>
            <a:headEnd/>
            <a:tailEnd/>
          </a:ln>
        </p:spPr>
        <p:txBody>
          <a:bodyPr/>
          <a:lstStyle>
            <a:lvl1pPr>
              <a:spcBef>
                <a:spcPct val="20000"/>
              </a:spcBef>
              <a:buChar char="•"/>
              <a:defRPr sz="3200">
                <a:solidFill>
                  <a:schemeClr val="tx1"/>
                </a:solidFill>
                <a:latin typeface="Arial" pitchFamily="34" charset="0"/>
                <a:ea typeface="ＭＳ Ｐゴシック" pitchFamily="-65" charset="-128"/>
              </a:defRPr>
            </a:lvl1pPr>
            <a:lvl2pPr marL="742950" indent="-285750">
              <a:spcBef>
                <a:spcPct val="20000"/>
              </a:spcBef>
              <a:buChar char="–"/>
              <a:defRPr sz="2800">
                <a:solidFill>
                  <a:schemeClr val="tx1"/>
                </a:solidFill>
                <a:latin typeface="Arial" pitchFamily="34" charset="0"/>
                <a:ea typeface="ＭＳ Ｐゴシック" pitchFamily="-65" charset="-128"/>
              </a:defRPr>
            </a:lvl2pPr>
            <a:lvl3pPr marL="1143000" indent="-228600">
              <a:spcBef>
                <a:spcPct val="20000"/>
              </a:spcBef>
              <a:buChar char="•"/>
              <a:defRPr sz="2400">
                <a:solidFill>
                  <a:schemeClr val="tx1"/>
                </a:solidFill>
                <a:latin typeface="Arial" pitchFamily="34" charset="0"/>
                <a:ea typeface="ＭＳ Ｐゴシック" pitchFamily="-65" charset="-128"/>
              </a:defRPr>
            </a:lvl3pPr>
            <a:lvl4pPr marL="1600200" indent="-228600">
              <a:spcBef>
                <a:spcPct val="20000"/>
              </a:spcBef>
              <a:buChar char="–"/>
              <a:defRPr sz="2000">
                <a:solidFill>
                  <a:schemeClr val="tx1"/>
                </a:solidFill>
                <a:latin typeface="Arial" pitchFamily="34" charset="0"/>
                <a:ea typeface="ＭＳ Ｐゴシック" pitchFamily="-65" charset="-128"/>
              </a:defRPr>
            </a:lvl4pPr>
            <a:lvl5pPr marL="2057400" indent="-228600">
              <a:spcBef>
                <a:spcPct val="20000"/>
              </a:spcBef>
              <a:buChar char="»"/>
              <a:defRPr sz="2000">
                <a:solidFill>
                  <a:schemeClr val="tx1"/>
                </a:solidFill>
                <a:latin typeface="Arial" pitchFamily="34" charset="0"/>
                <a:ea typeface="ＭＳ Ｐゴシック" pitchFamily="-65" charset="-128"/>
              </a:defRPr>
            </a:lvl5pPr>
            <a:lvl6pPr marL="2514600" indent="-228600" eaLnBrk="0" fontAlgn="base" hangingPunct="0">
              <a:spcBef>
                <a:spcPct val="20000"/>
              </a:spcBef>
              <a:spcAft>
                <a:spcPct val="0"/>
              </a:spcAft>
              <a:buChar char="»"/>
              <a:defRPr sz="2000">
                <a:solidFill>
                  <a:schemeClr val="tx1"/>
                </a:solidFill>
                <a:latin typeface="Arial" pitchFamily="34" charset="0"/>
                <a:ea typeface="ＭＳ Ｐゴシック" pitchFamily="-65" charset="-128"/>
              </a:defRPr>
            </a:lvl6pPr>
            <a:lvl7pPr marL="2971800" indent="-228600" eaLnBrk="0" fontAlgn="base" hangingPunct="0">
              <a:spcBef>
                <a:spcPct val="20000"/>
              </a:spcBef>
              <a:spcAft>
                <a:spcPct val="0"/>
              </a:spcAft>
              <a:buChar char="»"/>
              <a:defRPr sz="2000">
                <a:solidFill>
                  <a:schemeClr val="tx1"/>
                </a:solidFill>
                <a:latin typeface="Arial" pitchFamily="34" charset="0"/>
                <a:ea typeface="ＭＳ Ｐゴシック" pitchFamily="-65" charset="-128"/>
              </a:defRPr>
            </a:lvl7pPr>
            <a:lvl8pPr marL="3429000" indent="-228600" eaLnBrk="0" fontAlgn="base" hangingPunct="0">
              <a:spcBef>
                <a:spcPct val="20000"/>
              </a:spcBef>
              <a:spcAft>
                <a:spcPct val="0"/>
              </a:spcAft>
              <a:buChar char="»"/>
              <a:defRPr sz="2000">
                <a:solidFill>
                  <a:schemeClr val="tx1"/>
                </a:solidFill>
                <a:latin typeface="Arial" pitchFamily="34" charset="0"/>
                <a:ea typeface="ＭＳ Ｐゴシック" pitchFamily="-65" charset="-128"/>
              </a:defRPr>
            </a:lvl8pPr>
            <a:lvl9pPr marL="3886200" indent="-228600" eaLnBrk="0" fontAlgn="base" hangingPunct="0">
              <a:spcBef>
                <a:spcPct val="20000"/>
              </a:spcBef>
              <a:spcAft>
                <a:spcPct val="0"/>
              </a:spcAft>
              <a:buChar char="»"/>
              <a:defRPr sz="2000">
                <a:solidFill>
                  <a:schemeClr val="tx1"/>
                </a:solidFill>
                <a:latin typeface="Arial" pitchFamily="34" charset="0"/>
                <a:ea typeface="ＭＳ Ｐゴシック" pitchFamily="-65" charset="-128"/>
              </a:defRPr>
            </a:lvl9pPr>
          </a:lstStyle>
          <a:p>
            <a:pPr>
              <a:spcBef>
                <a:spcPct val="0"/>
              </a:spcBef>
              <a:buFontTx/>
              <a:buNone/>
            </a:pPr>
            <a:endParaRPr lang="en-US" altLang="en-US" sz="2400">
              <a:latin typeface="Calibri" pitchFamily="34" charset="0"/>
            </a:endParaRPr>
          </a:p>
        </p:txBody>
      </p:sp>
      <p:sp>
        <p:nvSpPr>
          <p:cNvPr id="10" name="Oval 34">
            <a:extLst>
              <a:ext uri="{FF2B5EF4-FFF2-40B4-BE49-F238E27FC236}">
                <a16:creationId xmlns:a16="http://schemas.microsoft.com/office/drawing/2014/main" id="{9970AF49-64E4-C5DC-F303-E8C904B12483}"/>
              </a:ext>
            </a:extLst>
          </p:cNvPr>
          <p:cNvSpPr>
            <a:spLocks noChangeArrowheads="1"/>
          </p:cNvSpPr>
          <p:nvPr/>
        </p:nvSpPr>
        <p:spPr bwMode="auto">
          <a:xfrm>
            <a:off x="5862638" y="4114800"/>
            <a:ext cx="228600" cy="228600"/>
          </a:xfrm>
          <a:prstGeom prst="ellipse">
            <a:avLst/>
          </a:prstGeom>
          <a:solidFill>
            <a:schemeClr val="accent1"/>
          </a:solidFill>
          <a:ln w="9525">
            <a:solidFill>
              <a:schemeClr val="tx1"/>
            </a:solidFill>
            <a:round/>
            <a:headEnd/>
            <a:tailEnd/>
          </a:ln>
        </p:spPr>
        <p:txBody>
          <a:bodyPr/>
          <a:lstStyle>
            <a:lvl1pPr>
              <a:spcBef>
                <a:spcPct val="20000"/>
              </a:spcBef>
              <a:buChar char="•"/>
              <a:defRPr sz="3200">
                <a:solidFill>
                  <a:schemeClr val="tx1"/>
                </a:solidFill>
                <a:latin typeface="Arial" pitchFamily="34" charset="0"/>
                <a:ea typeface="ＭＳ Ｐゴシック" pitchFamily="-65" charset="-128"/>
              </a:defRPr>
            </a:lvl1pPr>
            <a:lvl2pPr marL="742950" indent="-285750">
              <a:spcBef>
                <a:spcPct val="20000"/>
              </a:spcBef>
              <a:buChar char="–"/>
              <a:defRPr sz="2800">
                <a:solidFill>
                  <a:schemeClr val="tx1"/>
                </a:solidFill>
                <a:latin typeface="Arial" pitchFamily="34" charset="0"/>
                <a:ea typeface="ＭＳ Ｐゴシック" pitchFamily="-65" charset="-128"/>
              </a:defRPr>
            </a:lvl2pPr>
            <a:lvl3pPr marL="1143000" indent="-228600">
              <a:spcBef>
                <a:spcPct val="20000"/>
              </a:spcBef>
              <a:buChar char="•"/>
              <a:defRPr sz="2400">
                <a:solidFill>
                  <a:schemeClr val="tx1"/>
                </a:solidFill>
                <a:latin typeface="Arial" pitchFamily="34" charset="0"/>
                <a:ea typeface="ＭＳ Ｐゴシック" pitchFamily="-65" charset="-128"/>
              </a:defRPr>
            </a:lvl3pPr>
            <a:lvl4pPr marL="1600200" indent="-228600">
              <a:spcBef>
                <a:spcPct val="20000"/>
              </a:spcBef>
              <a:buChar char="–"/>
              <a:defRPr sz="2000">
                <a:solidFill>
                  <a:schemeClr val="tx1"/>
                </a:solidFill>
                <a:latin typeface="Arial" pitchFamily="34" charset="0"/>
                <a:ea typeface="ＭＳ Ｐゴシック" pitchFamily="-65" charset="-128"/>
              </a:defRPr>
            </a:lvl4pPr>
            <a:lvl5pPr marL="2057400" indent="-228600">
              <a:spcBef>
                <a:spcPct val="20000"/>
              </a:spcBef>
              <a:buChar char="»"/>
              <a:defRPr sz="2000">
                <a:solidFill>
                  <a:schemeClr val="tx1"/>
                </a:solidFill>
                <a:latin typeface="Arial" pitchFamily="34" charset="0"/>
                <a:ea typeface="ＭＳ Ｐゴシック" pitchFamily="-65" charset="-128"/>
              </a:defRPr>
            </a:lvl5pPr>
            <a:lvl6pPr marL="2514600" indent="-228600" eaLnBrk="0" fontAlgn="base" hangingPunct="0">
              <a:spcBef>
                <a:spcPct val="20000"/>
              </a:spcBef>
              <a:spcAft>
                <a:spcPct val="0"/>
              </a:spcAft>
              <a:buChar char="»"/>
              <a:defRPr sz="2000">
                <a:solidFill>
                  <a:schemeClr val="tx1"/>
                </a:solidFill>
                <a:latin typeface="Arial" pitchFamily="34" charset="0"/>
                <a:ea typeface="ＭＳ Ｐゴシック" pitchFamily="-65" charset="-128"/>
              </a:defRPr>
            </a:lvl6pPr>
            <a:lvl7pPr marL="2971800" indent="-228600" eaLnBrk="0" fontAlgn="base" hangingPunct="0">
              <a:spcBef>
                <a:spcPct val="20000"/>
              </a:spcBef>
              <a:spcAft>
                <a:spcPct val="0"/>
              </a:spcAft>
              <a:buChar char="»"/>
              <a:defRPr sz="2000">
                <a:solidFill>
                  <a:schemeClr val="tx1"/>
                </a:solidFill>
                <a:latin typeface="Arial" pitchFamily="34" charset="0"/>
                <a:ea typeface="ＭＳ Ｐゴシック" pitchFamily="-65" charset="-128"/>
              </a:defRPr>
            </a:lvl7pPr>
            <a:lvl8pPr marL="3429000" indent="-228600" eaLnBrk="0" fontAlgn="base" hangingPunct="0">
              <a:spcBef>
                <a:spcPct val="20000"/>
              </a:spcBef>
              <a:spcAft>
                <a:spcPct val="0"/>
              </a:spcAft>
              <a:buChar char="»"/>
              <a:defRPr sz="2000">
                <a:solidFill>
                  <a:schemeClr val="tx1"/>
                </a:solidFill>
                <a:latin typeface="Arial" pitchFamily="34" charset="0"/>
                <a:ea typeface="ＭＳ Ｐゴシック" pitchFamily="-65" charset="-128"/>
              </a:defRPr>
            </a:lvl8pPr>
            <a:lvl9pPr marL="3886200" indent="-228600" eaLnBrk="0" fontAlgn="base" hangingPunct="0">
              <a:spcBef>
                <a:spcPct val="20000"/>
              </a:spcBef>
              <a:spcAft>
                <a:spcPct val="0"/>
              </a:spcAft>
              <a:buChar char="»"/>
              <a:defRPr sz="2000">
                <a:solidFill>
                  <a:schemeClr val="tx1"/>
                </a:solidFill>
                <a:latin typeface="Arial" pitchFamily="34" charset="0"/>
                <a:ea typeface="ＭＳ Ｐゴシック" pitchFamily="-65" charset="-128"/>
              </a:defRPr>
            </a:lvl9pPr>
          </a:lstStyle>
          <a:p>
            <a:pPr>
              <a:spcBef>
                <a:spcPct val="0"/>
              </a:spcBef>
              <a:buFontTx/>
              <a:buNone/>
            </a:pPr>
            <a:endParaRPr lang="en-US" altLang="en-US" sz="2400">
              <a:latin typeface="Calibri" pitchFamily="34" charset="0"/>
            </a:endParaRPr>
          </a:p>
        </p:txBody>
      </p:sp>
      <p:sp>
        <p:nvSpPr>
          <p:cNvPr id="11" name="Oval 35">
            <a:extLst>
              <a:ext uri="{FF2B5EF4-FFF2-40B4-BE49-F238E27FC236}">
                <a16:creationId xmlns:a16="http://schemas.microsoft.com/office/drawing/2014/main" id="{3B600724-7667-919C-5344-1D62B82A3EA1}"/>
              </a:ext>
            </a:extLst>
          </p:cNvPr>
          <p:cNvSpPr>
            <a:spLocks noChangeArrowheads="1"/>
          </p:cNvSpPr>
          <p:nvPr/>
        </p:nvSpPr>
        <p:spPr bwMode="auto">
          <a:xfrm>
            <a:off x="5481638" y="5791200"/>
            <a:ext cx="228600" cy="228600"/>
          </a:xfrm>
          <a:prstGeom prst="ellipse">
            <a:avLst/>
          </a:prstGeom>
          <a:solidFill>
            <a:schemeClr val="accent1"/>
          </a:solidFill>
          <a:ln w="9525">
            <a:solidFill>
              <a:schemeClr val="tx1"/>
            </a:solidFill>
            <a:round/>
            <a:headEnd/>
            <a:tailEnd/>
          </a:ln>
        </p:spPr>
        <p:txBody>
          <a:bodyPr/>
          <a:lstStyle>
            <a:lvl1pPr>
              <a:spcBef>
                <a:spcPct val="20000"/>
              </a:spcBef>
              <a:buChar char="•"/>
              <a:defRPr sz="3200">
                <a:solidFill>
                  <a:schemeClr val="tx1"/>
                </a:solidFill>
                <a:latin typeface="Arial" pitchFamily="34" charset="0"/>
                <a:ea typeface="ＭＳ Ｐゴシック" pitchFamily="-65" charset="-128"/>
              </a:defRPr>
            </a:lvl1pPr>
            <a:lvl2pPr marL="742950" indent="-285750">
              <a:spcBef>
                <a:spcPct val="20000"/>
              </a:spcBef>
              <a:buChar char="–"/>
              <a:defRPr sz="2800">
                <a:solidFill>
                  <a:schemeClr val="tx1"/>
                </a:solidFill>
                <a:latin typeface="Arial" pitchFamily="34" charset="0"/>
                <a:ea typeface="ＭＳ Ｐゴシック" pitchFamily="-65" charset="-128"/>
              </a:defRPr>
            </a:lvl2pPr>
            <a:lvl3pPr marL="1143000" indent="-228600">
              <a:spcBef>
                <a:spcPct val="20000"/>
              </a:spcBef>
              <a:buChar char="•"/>
              <a:defRPr sz="2400">
                <a:solidFill>
                  <a:schemeClr val="tx1"/>
                </a:solidFill>
                <a:latin typeface="Arial" pitchFamily="34" charset="0"/>
                <a:ea typeface="ＭＳ Ｐゴシック" pitchFamily="-65" charset="-128"/>
              </a:defRPr>
            </a:lvl3pPr>
            <a:lvl4pPr marL="1600200" indent="-228600">
              <a:spcBef>
                <a:spcPct val="20000"/>
              </a:spcBef>
              <a:buChar char="–"/>
              <a:defRPr sz="2000">
                <a:solidFill>
                  <a:schemeClr val="tx1"/>
                </a:solidFill>
                <a:latin typeface="Arial" pitchFamily="34" charset="0"/>
                <a:ea typeface="ＭＳ Ｐゴシック" pitchFamily="-65" charset="-128"/>
              </a:defRPr>
            </a:lvl4pPr>
            <a:lvl5pPr marL="2057400" indent="-228600">
              <a:spcBef>
                <a:spcPct val="20000"/>
              </a:spcBef>
              <a:buChar char="»"/>
              <a:defRPr sz="2000">
                <a:solidFill>
                  <a:schemeClr val="tx1"/>
                </a:solidFill>
                <a:latin typeface="Arial" pitchFamily="34" charset="0"/>
                <a:ea typeface="ＭＳ Ｐゴシック" pitchFamily="-65" charset="-128"/>
              </a:defRPr>
            </a:lvl5pPr>
            <a:lvl6pPr marL="2514600" indent="-228600" eaLnBrk="0" fontAlgn="base" hangingPunct="0">
              <a:spcBef>
                <a:spcPct val="20000"/>
              </a:spcBef>
              <a:spcAft>
                <a:spcPct val="0"/>
              </a:spcAft>
              <a:buChar char="»"/>
              <a:defRPr sz="2000">
                <a:solidFill>
                  <a:schemeClr val="tx1"/>
                </a:solidFill>
                <a:latin typeface="Arial" pitchFamily="34" charset="0"/>
                <a:ea typeface="ＭＳ Ｐゴシック" pitchFamily="-65" charset="-128"/>
              </a:defRPr>
            </a:lvl6pPr>
            <a:lvl7pPr marL="2971800" indent="-228600" eaLnBrk="0" fontAlgn="base" hangingPunct="0">
              <a:spcBef>
                <a:spcPct val="20000"/>
              </a:spcBef>
              <a:spcAft>
                <a:spcPct val="0"/>
              </a:spcAft>
              <a:buChar char="»"/>
              <a:defRPr sz="2000">
                <a:solidFill>
                  <a:schemeClr val="tx1"/>
                </a:solidFill>
                <a:latin typeface="Arial" pitchFamily="34" charset="0"/>
                <a:ea typeface="ＭＳ Ｐゴシック" pitchFamily="-65" charset="-128"/>
              </a:defRPr>
            </a:lvl7pPr>
            <a:lvl8pPr marL="3429000" indent="-228600" eaLnBrk="0" fontAlgn="base" hangingPunct="0">
              <a:spcBef>
                <a:spcPct val="20000"/>
              </a:spcBef>
              <a:spcAft>
                <a:spcPct val="0"/>
              </a:spcAft>
              <a:buChar char="»"/>
              <a:defRPr sz="2000">
                <a:solidFill>
                  <a:schemeClr val="tx1"/>
                </a:solidFill>
                <a:latin typeface="Arial" pitchFamily="34" charset="0"/>
                <a:ea typeface="ＭＳ Ｐゴシック" pitchFamily="-65" charset="-128"/>
              </a:defRPr>
            </a:lvl8pPr>
            <a:lvl9pPr marL="3886200" indent="-228600" eaLnBrk="0" fontAlgn="base" hangingPunct="0">
              <a:spcBef>
                <a:spcPct val="20000"/>
              </a:spcBef>
              <a:spcAft>
                <a:spcPct val="0"/>
              </a:spcAft>
              <a:buChar char="»"/>
              <a:defRPr sz="2000">
                <a:solidFill>
                  <a:schemeClr val="tx1"/>
                </a:solidFill>
                <a:latin typeface="Arial" pitchFamily="34" charset="0"/>
                <a:ea typeface="ＭＳ Ｐゴシック" pitchFamily="-65" charset="-128"/>
              </a:defRPr>
            </a:lvl9pPr>
          </a:lstStyle>
          <a:p>
            <a:pPr>
              <a:spcBef>
                <a:spcPct val="0"/>
              </a:spcBef>
              <a:buFontTx/>
              <a:buNone/>
            </a:pPr>
            <a:endParaRPr lang="en-US" altLang="en-US" sz="2400">
              <a:latin typeface="Calibri" pitchFamily="34" charset="0"/>
            </a:endParaRPr>
          </a:p>
        </p:txBody>
      </p:sp>
      <p:sp>
        <p:nvSpPr>
          <p:cNvPr id="12" name="Text Box 36">
            <a:extLst>
              <a:ext uri="{FF2B5EF4-FFF2-40B4-BE49-F238E27FC236}">
                <a16:creationId xmlns:a16="http://schemas.microsoft.com/office/drawing/2014/main" id="{0FB50F02-5CDC-8A73-5658-DD3839F630CB}"/>
              </a:ext>
            </a:extLst>
          </p:cNvPr>
          <p:cNvSpPr txBox="1">
            <a:spLocks noChangeArrowheads="1"/>
          </p:cNvSpPr>
          <p:nvPr/>
        </p:nvSpPr>
        <p:spPr bwMode="auto">
          <a:xfrm>
            <a:off x="3636963" y="2714625"/>
            <a:ext cx="15049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itchFamily="34" charset="0"/>
                <a:ea typeface="ＭＳ Ｐゴシック" pitchFamily="-65" charset="-128"/>
              </a:defRPr>
            </a:lvl1pPr>
            <a:lvl2pPr marL="742950" indent="-285750">
              <a:spcBef>
                <a:spcPct val="20000"/>
              </a:spcBef>
              <a:buChar char="–"/>
              <a:defRPr sz="2800">
                <a:solidFill>
                  <a:schemeClr val="tx1"/>
                </a:solidFill>
                <a:latin typeface="Arial" pitchFamily="34" charset="0"/>
                <a:ea typeface="ＭＳ Ｐゴシック" pitchFamily="-65" charset="-128"/>
              </a:defRPr>
            </a:lvl2pPr>
            <a:lvl3pPr marL="1143000" indent="-228600">
              <a:spcBef>
                <a:spcPct val="20000"/>
              </a:spcBef>
              <a:buChar char="•"/>
              <a:defRPr sz="2400">
                <a:solidFill>
                  <a:schemeClr val="tx1"/>
                </a:solidFill>
                <a:latin typeface="Arial" pitchFamily="34" charset="0"/>
                <a:ea typeface="ＭＳ Ｐゴシック" pitchFamily="-65" charset="-128"/>
              </a:defRPr>
            </a:lvl3pPr>
            <a:lvl4pPr marL="1600200" indent="-228600">
              <a:spcBef>
                <a:spcPct val="20000"/>
              </a:spcBef>
              <a:buChar char="–"/>
              <a:defRPr sz="2000">
                <a:solidFill>
                  <a:schemeClr val="tx1"/>
                </a:solidFill>
                <a:latin typeface="Arial" pitchFamily="34" charset="0"/>
                <a:ea typeface="ＭＳ Ｐゴシック" pitchFamily="-65" charset="-128"/>
              </a:defRPr>
            </a:lvl4pPr>
            <a:lvl5pPr marL="2057400" indent="-228600">
              <a:spcBef>
                <a:spcPct val="20000"/>
              </a:spcBef>
              <a:buChar char="»"/>
              <a:defRPr sz="2000">
                <a:solidFill>
                  <a:schemeClr val="tx1"/>
                </a:solidFill>
                <a:latin typeface="Arial" pitchFamily="34" charset="0"/>
                <a:ea typeface="ＭＳ Ｐゴシック" pitchFamily="-65" charset="-128"/>
              </a:defRPr>
            </a:lvl5pPr>
            <a:lvl6pPr marL="2514600" indent="-228600" eaLnBrk="0" fontAlgn="base" hangingPunct="0">
              <a:spcBef>
                <a:spcPct val="20000"/>
              </a:spcBef>
              <a:spcAft>
                <a:spcPct val="0"/>
              </a:spcAft>
              <a:buChar char="»"/>
              <a:defRPr sz="2000">
                <a:solidFill>
                  <a:schemeClr val="tx1"/>
                </a:solidFill>
                <a:latin typeface="Arial" pitchFamily="34" charset="0"/>
                <a:ea typeface="ＭＳ Ｐゴシック" pitchFamily="-65" charset="-128"/>
              </a:defRPr>
            </a:lvl6pPr>
            <a:lvl7pPr marL="2971800" indent="-228600" eaLnBrk="0" fontAlgn="base" hangingPunct="0">
              <a:spcBef>
                <a:spcPct val="20000"/>
              </a:spcBef>
              <a:spcAft>
                <a:spcPct val="0"/>
              </a:spcAft>
              <a:buChar char="»"/>
              <a:defRPr sz="2000">
                <a:solidFill>
                  <a:schemeClr val="tx1"/>
                </a:solidFill>
                <a:latin typeface="Arial" pitchFamily="34" charset="0"/>
                <a:ea typeface="ＭＳ Ｐゴシック" pitchFamily="-65" charset="-128"/>
              </a:defRPr>
            </a:lvl7pPr>
            <a:lvl8pPr marL="3429000" indent="-228600" eaLnBrk="0" fontAlgn="base" hangingPunct="0">
              <a:spcBef>
                <a:spcPct val="20000"/>
              </a:spcBef>
              <a:spcAft>
                <a:spcPct val="0"/>
              </a:spcAft>
              <a:buChar char="»"/>
              <a:defRPr sz="2000">
                <a:solidFill>
                  <a:schemeClr val="tx1"/>
                </a:solidFill>
                <a:latin typeface="Arial" pitchFamily="34" charset="0"/>
                <a:ea typeface="ＭＳ Ｐゴシック" pitchFamily="-65" charset="-128"/>
              </a:defRPr>
            </a:lvl8pPr>
            <a:lvl9pPr marL="3886200" indent="-228600" eaLnBrk="0" fontAlgn="base" hangingPunct="0">
              <a:spcBef>
                <a:spcPct val="20000"/>
              </a:spcBef>
              <a:spcAft>
                <a:spcPct val="0"/>
              </a:spcAft>
              <a:buChar char="»"/>
              <a:defRPr sz="2000">
                <a:solidFill>
                  <a:schemeClr val="tx1"/>
                </a:solidFill>
                <a:latin typeface="Arial" pitchFamily="34" charset="0"/>
                <a:ea typeface="ＭＳ Ｐゴシック" pitchFamily="-65" charset="-128"/>
              </a:defRPr>
            </a:lvl9pPr>
          </a:lstStyle>
          <a:p>
            <a:pPr>
              <a:spcBef>
                <a:spcPct val="0"/>
              </a:spcBef>
              <a:buFontTx/>
              <a:buNone/>
            </a:pPr>
            <a:r>
              <a:rPr lang="en-US" altLang="en-US" sz="2400">
                <a:latin typeface="Calibri" pitchFamily="34" charset="0"/>
              </a:rPr>
              <a:t>New York</a:t>
            </a:r>
          </a:p>
        </p:txBody>
      </p:sp>
      <p:sp>
        <p:nvSpPr>
          <p:cNvPr id="14" name="Text Box 38">
            <a:extLst>
              <a:ext uri="{FF2B5EF4-FFF2-40B4-BE49-F238E27FC236}">
                <a16:creationId xmlns:a16="http://schemas.microsoft.com/office/drawing/2014/main" id="{161659EC-CEB4-582D-A5BA-9428D96363A9}"/>
              </a:ext>
            </a:extLst>
          </p:cNvPr>
          <p:cNvSpPr txBox="1">
            <a:spLocks noChangeArrowheads="1"/>
          </p:cNvSpPr>
          <p:nvPr/>
        </p:nvSpPr>
        <p:spPr bwMode="auto">
          <a:xfrm>
            <a:off x="5813425" y="5715000"/>
            <a:ext cx="877888"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itchFamily="34" charset="0"/>
                <a:ea typeface="ＭＳ Ｐゴシック" pitchFamily="-65" charset="-128"/>
              </a:defRPr>
            </a:lvl1pPr>
            <a:lvl2pPr marL="742950" indent="-285750">
              <a:spcBef>
                <a:spcPct val="20000"/>
              </a:spcBef>
              <a:buChar char="–"/>
              <a:defRPr sz="2800">
                <a:solidFill>
                  <a:schemeClr val="tx1"/>
                </a:solidFill>
                <a:latin typeface="Arial" pitchFamily="34" charset="0"/>
                <a:ea typeface="ＭＳ Ｐゴシック" pitchFamily="-65" charset="-128"/>
              </a:defRPr>
            </a:lvl2pPr>
            <a:lvl3pPr marL="1143000" indent="-228600">
              <a:spcBef>
                <a:spcPct val="20000"/>
              </a:spcBef>
              <a:buChar char="•"/>
              <a:defRPr sz="2400">
                <a:solidFill>
                  <a:schemeClr val="tx1"/>
                </a:solidFill>
                <a:latin typeface="Arial" pitchFamily="34" charset="0"/>
                <a:ea typeface="ＭＳ Ｐゴシック" pitchFamily="-65" charset="-128"/>
              </a:defRPr>
            </a:lvl3pPr>
            <a:lvl4pPr marL="1600200" indent="-228600">
              <a:spcBef>
                <a:spcPct val="20000"/>
              </a:spcBef>
              <a:buChar char="–"/>
              <a:defRPr sz="2000">
                <a:solidFill>
                  <a:schemeClr val="tx1"/>
                </a:solidFill>
                <a:latin typeface="Arial" pitchFamily="34" charset="0"/>
                <a:ea typeface="ＭＳ Ｐゴシック" pitchFamily="-65" charset="-128"/>
              </a:defRPr>
            </a:lvl4pPr>
            <a:lvl5pPr marL="2057400" indent="-228600">
              <a:spcBef>
                <a:spcPct val="20000"/>
              </a:spcBef>
              <a:buChar char="»"/>
              <a:defRPr sz="2000">
                <a:solidFill>
                  <a:schemeClr val="tx1"/>
                </a:solidFill>
                <a:latin typeface="Arial" pitchFamily="34" charset="0"/>
                <a:ea typeface="ＭＳ Ｐゴシック" pitchFamily="-65" charset="-128"/>
              </a:defRPr>
            </a:lvl5pPr>
            <a:lvl6pPr marL="2514600" indent="-228600" eaLnBrk="0" fontAlgn="base" hangingPunct="0">
              <a:spcBef>
                <a:spcPct val="20000"/>
              </a:spcBef>
              <a:spcAft>
                <a:spcPct val="0"/>
              </a:spcAft>
              <a:buChar char="»"/>
              <a:defRPr sz="2000">
                <a:solidFill>
                  <a:schemeClr val="tx1"/>
                </a:solidFill>
                <a:latin typeface="Arial" pitchFamily="34" charset="0"/>
                <a:ea typeface="ＭＳ Ｐゴシック" pitchFamily="-65" charset="-128"/>
              </a:defRPr>
            </a:lvl6pPr>
            <a:lvl7pPr marL="2971800" indent="-228600" eaLnBrk="0" fontAlgn="base" hangingPunct="0">
              <a:spcBef>
                <a:spcPct val="20000"/>
              </a:spcBef>
              <a:spcAft>
                <a:spcPct val="0"/>
              </a:spcAft>
              <a:buChar char="»"/>
              <a:defRPr sz="2000">
                <a:solidFill>
                  <a:schemeClr val="tx1"/>
                </a:solidFill>
                <a:latin typeface="Arial" pitchFamily="34" charset="0"/>
                <a:ea typeface="ＭＳ Ｐゴシック" pitchFamily="-65" charset="-128"/>
              </a:defRPr>
            </a:lvl7pPr>
            <a:lvl8pPr marL="3429000" indent="-228600" eaLnBrk="0" fontAlgn="base" hangingPunct="0">
              <a:spcBef>
                <a:spcPct val="20000"/>
              </a:spcBef>
              <a:spcAft>
                <a:spcPct val="0"/>
              </a:spcAft>
              <a:buChar char="»"/>
              <a:defRPr sz="2000">
                <a:solidFill>
                  <a:schemeClr val="tx1"/>
                </a:solidFill>
                <a:latin typeface="Arial" pitchFamily="34" charset="0"/>
                <a:ea typeface="ＭＳ Ｐゴシック" pitchFamily="-65" charset="-128"/>
              </a:defRPr>
            </a:lvl8pPr>
            <a:lvl9pPr marL="3886200" indent="-228600" eaLnBrk="0" fontAlgn="base" hangingPunct="0">
              <a:spcBef>
                <a:spcPct val="20000"/>
              </a:spcBef>
              <a:spcAft>
                <a:spcPct val="0"/>
              </a:spcAft>
              <a:buChar char="»"/>
              <a:defRPr sz="2000">
                <a:solidFill>
                  <a:schemeClr val="tx1"/>
                </a:solidFill>
                <a:latin typeface="Arial" pitchFamily="34" charset="0"/>
                <a:ea typeface="ＭＳ Ｐゴシック" pitchFamily="-65" charset="-128"/>
              </a:defRPr>
            </a:lvl9pPr>
          </a:lstStyle>
          <a:p>
            <a:pPr>
              <a:spcBef>
                <a:spcPct val="0"/>
              </a:spcBef>
              <a:buFontTx/>
              <a:buNone/>
            </a:pPr>
            <a:r>
              <a:rPr lang="en-US" altLang="en-US" sz="2400">
                <a:latin typeface="Calibri" pitchFamily="34" charset="0"/>
              </a:rPr>
              <a:t>Paris</a:t>
            </a:r>
          </a:p>
        </p:txBody>
      </p:sp>
      <p:sp>
        <p:nvSpPr>
          <p:cNvPr id="15" name="Text Box 39">
            <a:extLst>
              <a:ext uri="{FF2B5EF4-FFF2-40B4-BE49-F238E27FC236}">
                <a16:creationId xmlns:a16="http://schemas.microsoft.com/office/drawing/2014/main" id="{00BFA5D2-BF71-261F-B288-83C7D09CD19A}"/>
              </a:ext>
            </a:extLst>
          </p:cNvPr>
          <p:cNvSpPr txBox="1">
            <a:spLocks noChangeArrowheads="1"/>
          </p:cNvSpPr>
          <p:nvPr/>
        </p:nvSpPr>
        <p:spPr bwMode="auto">
          <a:xfrm>
            <a:off x="152400" y="3657600"/>
            <a:ext cx="2132013"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itchFamily="34" charset="0"/>
                <a:ea typeface="ＭＳ Ｐゴシック" pitchFamily="-65" charset="-128"/>
              </a:defRPr>
            </a:lvl1pPr>
            <a:lvl2pPr marL="742950" indent="-285750">
              <a:spcBef>
                <a:spcPct val="20000"/>
              </a:spcBef>
              <a:buChar char="–"/>
              <a:defRPr sz="2800">
                <a:solidFill>
                  <a:schemeClr val="tx1"/>
                </a:solidFill>
                <a:latin typeface="Arial" pitchFamily="34" charset="0"/>
                <a:ea typeface="ＭＳ Ｐゴシック" pitchFamily="-65" charset="-128"/>
              </a:defRPr>
            </a:lvl2pPr>
            <a:lvl3pPr marL="1143000" indent="-228600">
              <a:spcBef>
                <a:spcPct val="20000"/>
              </a:spcBef>
              <a:buChar char="•"/>
              <a:defRPr sz="2400">
                <a:solidFill>
                  <a:schemeClr val="tx1"/>
                </a:solidFill>
                <a:latin typeface="Arial" pitchFamily="34" charset="0"/>
                <a:ea typeface="ＭＳ Ｐゴシック" pitchFamily="-65" charset="-128"/>
              </a:defRPr>
            </a:lvl3pPr>
            <a:lvl4pPr marL="1600200" indent="-228600">
              <a:spcBef>
                <a:spcPct val="20000"/>
              </a:spcBef>
              <a:buChar char="–"/>
              <a:defRPr sz="2000">
                <a:solidFill>
                  <a:schemeClr val="tx1"/>
                </a:solidFill>
                <a:latin typeface="Arial" pitchFamily="34" charset="0"/>
                <a:ea typeface="ＭＳ Ｐゴシック" pitchFamily="-65" charset="-128"/>
              </a:defRPr>
            </a:lvl4pPr>
            <a:lvl5pPr marL="2057400" indent="-228600">
              <a:spcBef>
                <a:spcPct val="20000"/>
              </a:spcBef>
              <a:buChar char="»"/>
              <a:defRPr sz="2000">
                <a:solidFill>
                  <a:schemeClr val="tx1"/>
                </a:solidFill>
                <a:latin typeface="Arial" pitchFamily="34" charset="0"/>
                <a:ea typeface="ＭＳ Ｐゴシック" pitchFamily="-65" charset="-128"/>
              </a:defRPr>
            </a:lvl5pPr>
            <a:lvl6pPr marL="2514600" indent="-228600" eaLnBrk="0" fontAlgn="base" hangingPunct="0">
              <a:spcBef>
                <a:spcPct val="20000"/>
              </a:spcBef>
              <a:spcAft>
                <a:spcPct val="0"/>
              </a:spcAft>
              <a:buChar char="»"/>
              <a:defRPr sz="2000">
                <a:solidFill>
                  <a:schemeClr val="tx1"/>
                </a:solidFill>
                <a:latin typeface="Arial" pitchFamily="34" charset="0"/>
                <a:ea typeface="ＭＳ Ｐゴシック" pitchFamily="-65" charset="-128"/>
              </a:defRPr>
            </a:lvl6pPr>
            <a:lvl7pPr marL="2971800" indent="-228600" eaLnBrk="0" fontAlgn="base" hangingPunct="0">
              <a:spcBef>
                <a:spcPct val="20000"/>
              </a:spcBef>
              <a:spcAft>
                <a:spcPct val="0"/>
              </a:spcAft>
              <a:buChar char="»"/>
              <a:defRPr sz="2000">
                <a:solidFill>
                  <a:schemeClr val="tx1"/>
                </a:solidFill>
                <a:latin typeface="Arial" pitchFamily="34" charset="0"/>
                <a:ea typeface="ＭＳ Ｐゴシック" pitchFamily="-65" charset="-128"/>
              </a:defRPr>
            </a:lvl7pPr>
            <a:lvl8pPr marL="3429000" indent="-228600" eaLnBrk="0" fontAlgn="base" hangingPunct="0">
              <a:spcBef>
                <a:spcPct val="20000"/>
              </a:spcBef>
              <a:spcAft>
                <a:spcPct val="0"/>
              </a:spcAft>
              <a:buChar char="»"/>
              <a:defRPr sz="2000">
                <a:solidFill>
                  <a:schemeClr val="tx1"/>
                </a:solidFill>
                <a:latin typeface="Arial" pitchFamily="34" charset="0"/>
                <a:ea typeface="ＭＳ Ｐゴシック" pitchFamily="-65" charset="-128"/>
              </a:defRPr>
            </a:lvl8pPr>
            <a:lvl9pPr marL="3886200" indent="-228600" eaLnBrk="0" fontAlgn="base" hangingPunct="0">
              <a:spcBef>
                <a:spcPct val="20000"/>
              </a:spcBef>
              <a:spcAft>
                <a:spcPct val="0"/>
              </a:spcAft>
              <a:buChar char="»"/>
              <a:defRPr sz="2000">
                <a:solidFill>
                  <a:schemeClr val="tx1"/>
                </a:solidFill>
                <a:latin typeface="Arial" pitchFamily="34" charset="0"/>
                <a:ea typeface="ＭＳ Ｐゴシック" pitchFamily="-65" charset="-128"/>
              </a:defRPr>
            </a:lvl9pPr>
          </a:lstStyle>
          <a:p>
            <a:pPr>
              <a:spcBef>
                <a:spcPct val="0"/>
              </a:spcBef>
              <a:buFontTx/>
              <a:buNone/>
            </a:pPr>
            <a:r>
              <a:rPr lang="en-US" altLang="en-US" sz="2400">
                <a:latin typeface="Calibri" pitchFamily="34" charset="0"/>
              </a:rPr>
              <a:t>San Francisco</a:t>
            </a:r>
          </a:p>
        </p:txBody>
      </p:sp>
      <p:sp>
        <p:nvSpPr>
          <p:cNvPr id="16" name="Text Box 40">
            <a:extLst>
              <a:ext uri="{FF2B5EF4-FFF2-40B4-BE49-F238E27FC236}">
                <a16:creationId xmlns:a16="http://schemas.microsoft.com/office/drawing/2014/main" id="{6AC42923-75DA-CAAB-C74A-EB4F4EDA8F02}"/>
              </a:ext>
            </a:extLst>
          </p:cNvPr>
          <p:cNvSpPr txBox="1">
            <a:spLocks noChangeArrowheads="1"/>
          </p:cNvSpPr>
          <p:nvPr/>
        </p:nvSpPr>
        <p:spPr bwMode="auto">
          <a:xfrm>
            <a:off x="452438" y="5943600"/>
            <a:ext cx="159067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itchFamily="34" charset="0"/>
                <a:ea typeface="ＭＳ Ｐゴシック" pitchFamily="-65" charset="-128"/>
              </a:defRPr>
            </a:lvl1pPr>
            <a:lvl2pPr marL="742950" indent="-285750">
              <a:spcBef>
                <a:spcPct val="20000"/>
              </a:spcBef>
              <a:buChar char="–"/>
              <a:defRPr sz="2800">
                <a:solidFill>
                  <a:schemeClr val="tx1"/>
                </a:solidFill>
                <a:latin typeface="Arial" pitchFamily="34" charset="0"/>
                <a:ea typeface="ＭＳ Ｐゴシック" pitchFamily="-65" charset="-128"/>
              </a:defRPr>
            </a:lvl2pPr>
            <a:lvl3pPr marL="1143000" indent="-228600">
              <a:spcBef>
                <a:spcPct val="20000"/>
              </a:spcBef>
              <a:buChar char="•"/>
              <a:defRPr sz="2400">
                <a:solidFill>
                  <a:schemeClr val="tx1"/>
                </a:solidFill>
                <a:latin typeface="Arial" pitchFamily="34" charset="0"/>
                <a:ea typeface="ＭＳ Ｐゴシック" pitchFamily="-65" charset="-128"/>
              </a:defRPr>
            </a:lvl3pPr>
            <a:lvl4pPr marL="1600200" indent="-228600">
              <a:spcBef>
                <a:spcPct val="20000"/>
              </a:spcBef>
              <a:buChar char="–"/>
              <a:defRPr sz="2000">
                <a:solidFill>
                  <a:schemeClr val="tx1"/>
                </a:solidFill>
                <a:latin typeface="Arial" pitchFamily="34" charset="0"/>
                <a:ea typeface="ＭＳ Ｐゴシック" pitchFamily="-65" charset="-128"/>
              </a:defRPr>
            </a:lvl4pPr>
            <a:lvl5pPr marL="2057400" indent="-228600">
              <a:spcBef>
                <a:spcPct val="20000"/>
              </a:spcBef>
              <a:buChar char="»"/>
              <a:defRPr sz="2000">
                <a:solidFill>
                  <a:schemeClr val="tx1"/>
                </a:solidFill>
                <a:latin typeface="Arial" pitchFamily="34" charset="0"/>
                <a:ea typeface="ＭＳ Ｐゴシック" pitchFamily="-65" charset="-128"/>
              </a:defRPr>
            </a:lvl5pPr>
            <a:lvl6pPr marL="2514600" indent="-228600" eaLnBrk="0" fontAlgn="base" hangingPunct="0">
              <a:spcBef>
                <a:spcPct val="20000"/>
              </a:spcBef>
              <a:spcAft>
                <a:spcPct val="0"/>
              </a:spcAft>
              <a:buChar char="»"/>
              <a:defRPr sz="2000">
                <a:solidFill>
                  <a:schemeClr val="tx1"/>
                </a:solidFill>
                <a:latin typeface="Arial" pitchFamily="34" charset="0"/>
                <a:ea typeface="ＭＳ Ｐゴシック" pitchFamily="-65" charset="-128"/>
              </a:defRPr>
            </a:lvl6pPr>
            <a:lvl7pPr marL="2971800" indent="-228600" eaLnBrk="0" fontAlgn="base" hangingPunct="0">
              <a:spcBef>
                <a:spcPct val="20000"/>
              </a:spcBef>
              <a:spcAft>
                <a:spcPct val="0"/>
              </a:spcAft>
              <a:buChar char="»"/>
              <a:defRPr sz="2000">
                <a:solidFill>
                  <a:schemeClr val="tx1"/>
                </a:solidFill>
                <a:latin typeface="Arial" pitchFamily="34" charset="0"/>
                <a:ea typeface="ＭＳ Ｐゴシック" pitchFamily="-65" charset="-128"/>
              </a:defRPr>
            </a:lvl7pPr>
            <a:lvl8pPr marL="3429000" indent="-228600" eaLnBrk="0" fontAlgn="base" hangingPunct="0">
              <a:spcBef>
                <a:spcPct val="20000"/>
              </a:spcBef>
              <a:spcAft>
                <a:spcPct val="0"/>
              </a:spcAft>
              <a:buChar char="»"/>
              <a:defRPr sz="2000">
                <a:solidFill>
                  <a:schemeClr val="tx1"/>
                </a:solidFill>
                <a:latin typeface="Arial" pitchFamily="34" charset="0"/>
                <a:ea typeface="ＭＳ Ｐゴシック" pitchFamily="-65" charset="-128"/>
              </a:defRPr>
            </a:lvl8pPr>
            <a:lvl9pPr marL="3886200" indent="-228600" eaLnBrk="0" fontAlgn="base" hangingPunct="0">
              <a:spcBef>
                <a:spcPct val="20000"/>
              </a:spcBef>
              <a:spcAft>
                <a:spcPct val="0"/>
              </a:spcAft>
              <a:buChar char="»"/>
              <a:defRPr sz="2000">
                <a:solidFill>
                  <a:schemeClr val="tx1"/>
                </a:solidFill>
                <a:latin typeface="Arial" pitchFamily="34" charset="0"/>
                <a:ea typeface="ＭＳ Ｐゴシック" pitchFamily="-65" charset="-128"/>
              </a:defRPr>
            </a:lvl9pPr>
          </a:lstStyle>
          <a:p>
            <a:pPr>
              <a:spcBef>
                <a:spcPct val="0"/>
              </a:spcBef>
              <a:buFontTx/>
              <a:buNone/>
            </a:pPr>
            <a:r>
              <a:rPr lang="en-US" altLang="en-US" sz="2400">
                <a:latin typeface="Calibri" pitchFamily="34" charset="0"/>
              </a:rPr>
              <a:t>Claremont</a:t>
            </a:r>
          </a:p>
        </p:txBody>
      </p:sp>
      <p:sp>
        <p:nvSpPr>
          <p:cNvPr id="17" name="Line 41">
            <a:extLst>
              <a:ext uri="{FF2B5EF4-FFF2-40B4-BE49-F238E27FC236}">
                <a16:creationId xmlns:a16="http://schemas.microsoft.com/office/drawing/2014/main" id="{C9FAB0A3-FEA7-80C8-1CFF-E23A0CC76B14}"/>
              </a:ext>
            </a:extLst>
          </p:cNvPr>
          <p:cNvSpPr>
            <a:spLocks noChangeShapeType="1"/>
          </p:cNvSpPr>
          <p:nvPr/>
        </p:nvSpPr>
        <p:spPr bwMode="auto">
          <a:xfrm flipV="1">
            <a:off x="2433638" y="3352800"/>
            <a:ext cx="1600200" cy="6858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9" name="Line 42">
            <a:extLst>
              <a:ext uri="{FF2B5EF4-FFF2-40B4-BE49-F238E27FC236}">
                <a16:creationId xmlns:a16="http://schemas.microsoft.com/office/drawing/2014/main" id="{54E33426-3CED-A523-5C1E-8729B3717A9B}"/>
              </a:ext>
            </a:extLst>
          </p:cNvPr>
          <p:cNvSpPr>
            <a:spLocks noChangeShapeType="1"/>
          </p:cNvSpPr>
          <p:nvPr/>
        </p:nvSpPr>
        <p:spPr bwMode="auto">
          <a:xfrm>
            <a:off x="4262438" y="3352800"/>
            <a:ext cx="1600200" cy="8382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21" name="Line 43">
            <a:extLst>
              <a:ext uri="{FF2B5EF4-FFF2-40B4-BE49-F238E27FC236}">
                <a16:creationId xmlns:a16="http://schemas.microsoft.com/office/drawing/2014/main" id="{A44F36C7-1E29-3361-7390-81E53AEB8A08}"/>
              </a:ext>
            </a:extLst>
          </p:cNvPr>
          <p:cNvSpPr>
            <a:spLocks noChangeShapeType="1"/>
          </p:cNvSpPr>
          <p:nvPr/>
        </p:nvSpPr>
        <p:spPr bwMode="auto">
          <a:xfrm>
            <a:off x="2509838" y="4191000"/>
            <a:ext cx="335280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23" name="Line 44">
            <a:extLst>
              <a:ext uri="{FF2B5EF4-FFF2-40B4-BE49-F238E27FC236}">
                <a16:creationId xmlns:a16="http://schemas.microsoft.com/office/drawing/2014/main" id="{09A9227C-396E-6019-4D5B-19CA8502DCA9}"/>
              </a:ext>
            </a:extLst>
          </p:cNvPr>
          <p:cNvSpPr>
            <a:spLocks noChangeShapeType="1"/>
          </p:cNvSpPr>
          <p:nvPr/>
        </p:nvSpPr>
        <p:spPr bwMode="auto">
          <a:xfrm>
            <a:off x="2357438" y="4267200"/>
            <a:ext cx="228600" cy="15240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24" name="Line 45">
            <a:extLst>
              <a:ext uri="{FF2B5EF4-FFF2-40B4-BE49-F238E27FC236}">
                <a16:creationId xmlns:a16="http://schemas.microsoft.com/office/drawing/2014/main" id="{572E9B10-D2D3-D711-6344-81011E64631F}"/>
              </a:ext>
            </a:extLst>
          </p:cNvPr>
          <p:cNvSpPr>
            <a:spLocks noChangeShapeType="1"/>
          </p:cNvSpPr>
          <p:nvPr/>
        </p:nvSpPr>
        <p:spPr bwMode="auto">
          <a:xfrm flipH="1">
            <a:off x="5557838" y="4343400"/>
            <a:ext cx="381000" cy="14478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25" name="Line 46">
            <a:extLst>
              <a:ext uri="{FF2B5EF4-FFF2-40B4-BE49-F238E27FC236}">
                <a16:creationId xmlns:a16="http://schemas.microsoft.com/office/drawing/2014/main" id="{995B0FA3-3FC2-28C6-69DC-597E84282273}"/>
              </a:ext>
            </a:extLst>
          </p:cNvPr>
          <p:cNvSpPr>
            <a:spLocks noChangeShapeType="1"/>
          </p:cNvSpPr>
          <p:nvPr/>
        </p:nvSpPr>
        <p:spPr bwMode="auto">
          <a:xfrm>
            <a:off x="2662238" y="5867400"/>
            <a:ext cx="281940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26" name="Line 47">
            <a:extLst>
              <a:ext uri="{FF2B5EF4-FFF2-40B4-BE49-F238E27FC236}">
                <a16:creationId xmlns:a16="http://schemas.microsoft.com/office/drawing/2014/main" id="{456C74B4-3CAB-AA1F-76D5-73FAD6E26E69}"/>
              </a:ext>
            </a:extLst>
          </p:cNvPr>
          <p:cNvSpPr>
            <a:spLocks noChangeShapeType="1"/>
          </p:cNvSpPr>
          <p:nvPr/>
        </p:nvSpPr>
        <p:spPr bwMode="auto">
          <a:xfrm>
            <a:off x="4110038" y="3429000"/>
            <a:ext cx="1447800" cy="23622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27" name="Line 48">
            <a:extLst>
              <a:ext uri="{FF2B5EF4-FFF2-40B4-BE49-F238E27FC236}">
                <a16:creationId xmlns:a16="http://schemas.microsoft.com/office/drawing/2014/main" id="{FACBED35-FC81-3600-177E-4B195451C16D}"/>
              </a:ext>
            </a:extLst>
          </p:cNvPr>
          <p:cNvSpPr>
            <a:spLocks noChangeShapeType="1"/>
          </p:cNvSpPr>
          <p:nvPr/>
        </p:nvSpPr>
        <p:spPr bwMode="auto">
          <a:xfrm>
            <a:off x="2433638" y="4267200"/>
            <a:ext cx="3048000" cy="16002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28" name="Line 49">
            <a:extLst>
              <a:ext uri="{FF2B5EF4-FFF2-40B4-BE49-F238E27FC236}">
                <a16:creationId xmlns:a16="http://schemas.microsoft.com/office/drawing/2014/main" id="{AD865EDF-6651-92B2-A84C-C458CBD9087E}"/>
              </a:ext>
            </a:extLst>
          </p:cNvPr>
          <p:cNvSpPr>
            <a:spLocks noChangeShapeType="1"/>
          </p:cNvSpPr>
          <p:nvPr/>
        </p:nvSpPr>
        <p:spPr bwMode="auto">
          <a:xfrm flipV="1">
            <a:off x="2590800" y="4267200"/>
            <a:ext cx="3276600" cy="15240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29" name="Line 50">
            <a:extLst>
              <a:ext uri="{FF2B5EF4-FFF2-40B4-BE49-F238E27FC236}">
                <a16:creationId xmlns:a16="http://schemas.microsoft.com/office/drawing/2014/main" id="{EBCF08A7-E7A5-4AF6-BE16-FDF2D22EE930}"/>
              </a:ext>
            </a:extLst>
          </p:cNvPr>
          <p:cNvSpPr>
            <a:spLocks noChangeShapeType="1"/>
          </p:cNvSpPr>
          <p:nvPr/>
        </p:nvSpPr>
        <p:spPr bwMode="auto">
          <a:xfrm flipH="1">
            <a:off x="2590800" y="3429000"/>
            <a:ext cx="1524000" cy="23622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30" name="Text Box 51">
            <a:extLst>
              <a:ext uri="{FF2B5EF4-FFF2-40B4-BE49-F238E27FC236}">
                <a16:creationId xmlns:a16="http://schemas.microsoft.com/office/drawing/2014/main" id="{D8331B54-768F-B3A4-AC23-C0FF7285BDC8}"/>
              </a:ext>
            </a:extLst>
          </p:cNvPr>
          <p:cNvSpPr txBox="1">
            <a:spLocks noChangeArrowheads="1"/>
          </p:cNvSpPr>
          <p:nvPr/>
        </p:nvSpPr>
        <p:spPr bwMode="auto">
          <a:xfrm>
            <a:off x="1828800" y="4800600"/>
            <a:ext cx="651140"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itchFamily="34" charset="0"/>
                <a:ea typeface="ＭＳ Ｐゴシック" pitchFamily="-65" charset="-128"/>
              </a:defRPr>
            </a:lvl1pPr>
            <a:lvl2pPr marL="742950" indent="-285750">
              <a:spcBef>
                <a:spcPct val="20000"/>
              </a:spcBef>
              <a:buChar char="–"/>
              <a:defRPr sz="2800">
                <a:solidFill>
                  <a:schemeClr val="tx1"/>
                </a:solidFill>
                <a:latin typeface="Arial" pitchFamily="34" charset="0"/>
                <a:ea typeface="ＭＳ Ｐゴシック" pitchFamily="-65" charset="-128"/>
              </a:defRPr>
            </a:lvl2pPr>
            <a:lvl3pPr marL="1143000" indent="-228600">
              <a:spcBef>
                <a:spcPct val="20000"/>
              </a:spcBef>
              <a:buChar char="•"/>
              <a:defRPr sz="2400">
                <a:solidFill>
                  <a:schemeClr val="tx1"/>
                </a:solidFill>
                <a:latin typeface="Arial" pitchFamily="34" charset="0"/>
                <a:ea typeface="ＭＳ Ｐゴシック" pitchFamily="-65" charset="-128"/>
              </a:defRPr>
            </a:lvl3pPr>
            <a:lvl4pPr marL="1600200" indent="-228600">
              <a:spcBef>
                <a:spcPct val="20000"/>
              </a:spcBef>
              <a:buChar char="–"/>
              <a:defRPr sz="2000">
                <a:solidFill>
                  <a:schemeClr val="tx1"/>
                </a:solidFill>
                <a:latin typeface="Arial" pitchFamily="34" charset="0"/>
                <a:ea typeface="ＭＳ Ｐゴシック" pitchFamily="-65" charset="-128"/>
              </a:defRPr>
            </a:lvl4pPr>
            <a:lvl5pPr marL="2057400" indent="-228600">
              <a:spcBef>
                <a:spcPct val="20000"/>
              </a:spcBef>
              <a:buChar char="»"/>
              <a:defRPr sz="2000">
                <a:solidFill>
                  <a:schemeClr val="tx1"/>
                </a:solidFill>
                <a:latin typeface="Arial" pitchFamily="34" charset="0"/>
                <a:ea typeface="ＭＳ Ｐゴシック" pitchFamily="-65" charset="-128"/>
              </a:defRPr>
            </a:lvl5pPr>
            <a:lvl6pPr marL="2514600" indent="-228600" eaLnBrk="0" fontAlgn="base" hangingPunct="0">
              <a:spcBef>
                <a:spcPct val="20000"/>
              </a:spcBef>
              <a:spcAft>
                <a:spcPct val="0"/>
              </a:spcAft>
              <a:buChar char="»"/>
              <a:defRPr sz="2000">
                <a:solidFill>
                  <a:schemeClr val="tx1"/>
                </a:solidFill>
                <a:latin typeface="Arial" pitchFamily="34" charset="0"/>
                <a:ea typeface="ＭＳ Ｐゴシック" pitchFamily="-65" charset="-128"/>
              </a:defRPr>
            </a:lvl6pPr>
            <a:lvl7pPr marL="2971800" indent="-228600" eaLnBrk="0" fontAlgn="base" hangingPunct="0">
              <a:spcBef>
                <a:spcPct val="20000"/>
              </a:spcBef>
              <a:spcAft>
                <a:spcPct val="0"/>
              </a:spcAft>
              <a:buChar char="»"/>
              <a:defRPr sz="2000">
                <a:solidFill>
                  <a:schemeClr val="tx1"/>
                </a:solidFill>
                <a:latin typeface="Arial" pitchFamily="34" charset="0"/>
                <a:ea typeface="ＭＳ Ｐゴシック" pitchFamily="-65" charset="-128"/>
              </a:defRPr>
            </a:lvl7pPr>
            <a:lvl8pPr marL="3429000" indent="-228600" eaLnBrk="0" fontAlgn="base" hangingPunct="0">
              <a:spcBef>
                <a:spcPct val="20000"/>
              </a:spcBef>
              <a:spcAft>
                <a:spcPct val="0"/>
              </a:spcAft>
              <a:buChar char="»"/>
              <a:defRPr sz="2000">
                <a:solidFill>
                  <a:schemeClr val="tx1"/>
                </a:solidFill>
                <a:latin typeface="Arial" pitchFamily="34" charset="0"/>
                <a:ea typeface="ＭＳ Ｐゴシック" pitchFamily="-65" charset="-128"/>
              </a:defRPr>
            </a:lvl8pPr>
            <a:lvl9pPr marL="3886200" indent="-228600" eaLnBrk="0" fontAlgn="base" hangingPunct="0">
              <a:spcBef>
                <a:spcPct val="20000"/>
              </a:spcBef>
              <a:spcAft>
                <a:spcPct val="0"/>
              </a:spcAft>
              <a:buChar char="»"/>
              <a:defRPr sz="2000">
                <a:solidFill>
                  <a:schemeClr val="tx1"/>
                </a:solidFill>
                <a:latin typeface="Arial" pitchFamily="34" charset="0"/>
                <a:ea typeface="ＭＳ Ｐゴシック" pitchFamily="-65" charset="-128"/>
              </a:defRPr>
            </a:lvl9pPr>
          </a:lstStyle>
          <a:p>
            <a:pPr>
              <a:spcBef>
                <a:spcPct val="0"/>
              </a:spcBef>
              <a:buFontTx/>
              <a:buNone/>
            </a:pPr>
            <a:r>
              <a:rPr lang="en-US" altLang="en-US" sz="2400" dirty="0">
                <a:latin typeface="Calibri" pitchFamily="34" charset="0"/>
              </a:rPr>
              <a:t>366</a:t>
            </a:r>
          </a:p>
        </p:txBody>
      </p:sp>
      <p:sp>
        <p:nvSpPr>
          <p:cNvPr id="31" name="Text Box 52">
            <a:extLst>
              <a:ext uri="{FF2B5EF4-FFF2-40B4-BE49-F238E27FC236}">
                <a16:creationId xmlns:a16="http://schemas.microsoft.com/office/drawing/2014/main" id="{FA253E86-EFB8-5527-9F0C-542D9D0D9533}"/>
              </a:ext>
            </a:extLst>
          </p:cNvPr>
          <p:cNvSpPr txBox="1">
            <a:spLocks noChangeArrowheads="1"/>
          </p:cNvSpPr>
          <p:nvPr/>
        </p:nvSpPr>
        <p:spPr bwMode="auto">
          <a:xfrm>
            <a:off x="3581400" y="5867400"/>
            <a:ext cx="806631"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itchFamily="34" charset="0"/>
                <a:ea typeface="ＭＳ Ｐゴシック" pitchFamily="-65" charset="-128"/>
              </a:defRPr>
            </a:lvl1pPr>
            <a:lvl2pPr marL="742950" indent="-285750">
              <a:spcBef>
                <a:spcPct val="20000"/>
              </a:spcBef>
              <a:buChar char="–"/>
              <a:defRPr sz="2800">
                <a:solidFill>
                  <a:schemeClr val="tx1"/>
                </a:solidFill>
                <a:latin typeface="Arial" pitchFamily="34" charset="0"/>
                <a:ea typeface="ＭＳ Ｐゴシック" pitchFamily="-65" charset="-128"/>
              </a:defRPr>
            </a:lvl2pPr>
            <a:lvl3pPr marL="1143000" indent="-228600">
              <a:spcBef>
                <a:spcPct val="20000"/>
              </a:spcBef>
              <a:buChar char="•"/>
              <a:defRPr sz="2400">
                <a:solidFill>
                  <a:schemeClr val="tx1"/>
                </a:solidFill>
                <a:latin typeface="Arial" pitchFamily="34" charset="0"/>
                <a:ea typeface="ＭＳ Ｐゴシック" pitchFamily="-65" charset="-128"/>
              </a:defRPr>
            </a:lvl3pPr>
            <a:lvl4pPr marL="1600200" indent="-228600">
              <a:spcBef>
                <a:spcPct val="20000"/>
              </a:spcBef>
              <a:buChar char="–"/>
              <a:defRPr sz="2000">
                <a:solidFill>
                  <a:schemeClr val="tx1"/>
                </a:solidFill>
                <a:latin typeface="Arial" pitchFamily="34" charset="0"/>
                <a:ea typeface="ＭＳ Ｐゴシック" pitchFamily="-65" charset="-128"/>
              </a:defRPr>
            </a:lvl4pPr>
            <a:lvl5pPr marL="2057400" indent="-228600">
              <a:spcBef>
                <a:spcPct val="20000"/>
              </a:spcBef>
              <a:buChar char="»"/>
              <a:defRPr sz="2000">
                <a:solidFill>
                  <a:schemeClr val="tx1"/>
                </a:solidFill>
                <a:latin typeface="Arial" pitchFamily="34" charset="0"/>
                <a:ea typeface="ＭＳ Ｐゴシック" pitchFamily="-65" charset="-128"/>
              </a:defRPr>
            </a:lvl5pPr>
            <a:lvl6pPr marL="2514600" indent="-228600" eaLnBrk="0" fontAlgn="base" hangingPunct="0">
              <a:spcBef>
                <a:spcPct val="20000"/>
              </a:spcBef>
              <a:spcAft>
                <a:spcPct val="0"/>
              </a:spcAft>
              <a:buChar char="»"/>
              <a:defRPr sz="2000">
                <a:solidFill>
                  <a:schemeClr val="tx1"/>
                </a:solidFill>
                <a:latin typeface="Arial" pitchFamily="34" charset="0"/>
                <a:ea typeface="ＭＳ Ｐゴシック" pitchFamily="-65" charset="-128"/>
              </a:defRPr>
            </a:lvl6pPr>
            <a:lvl7pPr marL="2971800" indent="-228600" eaLnBrk="0" fontAlgn="base" hangingPunct="0">
              <a:spcBef>
                <a:spcPct val="20000"/>
              </a:spcBef>
              <a:spcAft>
                <a:spcPct val="0"/>
              </a:spcAft>
              <a:buChar char="»"/>
              <a:defRPr sz="2000">
                <a:solidFill>
                  <a:schemeClr val="tx1"/>
                </a:solidFill>
                <a:latin typeface="Arial" pitchFamily="34" charset="0"/>
                <a:ea typeface="ＭＳ Ｐゴシック" pitchFamily="-65" charset="-128"/>
              </a:defRPr>
            </a:lvl7pPr>
            <a:lvl8pPr marL="3429000" indent="-228600" eaLnBrk="0" fontAlgn="base" hangingPunct="0">
              <a:spcBef>
                <a:spcPct val="20000"/>
              </a:spcBef>
              <a:spcAft>
                <a:spcPct val="0"/>
              </a:spcAft>
              <a:buChar char="»"/>
              <a:defRPr sz="2000">
                <a:solidFill>
                  <a:schemeClr val="tx1"/>
                </a:solidFill>
                <a:latin typeface="Arial" pitchFamily="34" charset="0"/>
                <a:ea typeface="ＭＳ Ｐゴシック" pitchFamily="-65" charset="-128"/>
              </a:defRPr>
            </a:lvl8pPr>
            <a:lvl9pPr marL="3886200" indent="-228600" eaLnBrk="0" fontAlgn="base" hangingPunct="0">
              <a:spcBef>
                <a:spcPct val="20000"/>
              </a:spcBef>
              <a:spcAft>
                <a:spcPct val="0"/>
              </a:spcAft>
              <a:buChar char="»"/>
              <a:defRPr sz="2000">
                <a:solidFill>
                  <a:schemeClr val="tx1"/>
                </a:solidFill>
                <a:latin typeface="Arial" pitchFamily="34" charset="0"/>
                <a:ea typeface="ＭＳ Ｐゴシック" pitchFamily="-65" charset="-128"/>
              </a:defRPr>
            </a:lvl9pPr>
          </a:lstStyle>
          <a:p>
            <a:pPr>
              <a:spcBef>
                <a:spcPct val="0"/>
              </a:spcBef>
              <a:buFontTx/>
              <a:buNone/>
            </a:pPr>
            <a:r>
              <a:rPr lang="en-US" altLang="en-US" sz="2400" dirty="0">
                <a:latin typeface="Calibri" pitchFamily="34" charset="0"/>
              </a:rPr>
              <a:t>5625</a:t>
            </a:r>
          </a:p>
        </p:txBody>
      </p:sp>
      <p:sp>
        <p:nvSpPr>
          <p:cNvPr id="32" name="Text Box 53">
            <a:extLst>
              <a:ext uri="{FF2B5EF4-FFF2-40B4-BE49-F238E27FC236}">
                <a16:creationId xmlns:a16="http://schemas.microsoft.com/office/drawing/2014/main" id="{93BAC998-47CF-EF2B-56C0-DC2F4058C592}"/>
              </a:ext>
            </a:extLst>
          </p:cNvPr>
          <p:cNvSpPr txBox="1">
            <a:spLocks noChangeArrowheads="1"/>
          </p:cNvSpPr>
          <p:nvPr/>
        </p:nvSpPr>
        <p:spPr bwMode="auto">
          <a:xfrm>
            <a:off x="5639547" y="5100935"/>
            <a:ext cx="806631"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itchFamily="34" charset="0"/>
                <a:ea typeface="ＭＳ Ｐゴシック" pitchFamily="-65" charset="-128"/>
              </a:defRPr>
            </a:lvl1pPr>
            <a:lvl2pPr marL="742950" indent="-285750">
              <a:spcBef>
                <a:spcPct val="20000"/>
              </a:spcBef>
              <a:buChar char="–"/>
              <a:defRPr sz="2800">
                <a:solidFill>
                  <a:schemeClr val="tx1"/>
                </a:solidFill>
                <a:latin typeface="Arial" pitchFamily="34" charset="0"/>
                <a:ea typeface="ＭＳ Ｐゴシック" pitchFamily="-65" charset="-128"/>
              </a:defRPr>
            </a:lvl2pPr>
            <a:lvl3pPr marL="1143000" indent="-228600">
              <a:spcBef>
                <a:spcPct val="20000"/>
              </a:spcBef>
              <a:buChar char="•"/>
              <a:defRPr sz="2400">
                <a:solidFill>
                  <a:schemeClr val="tx1"/>
                </a:solidFill>
                <a:latin typeface="Arial" pitchFamily="34" charset="0"/>
                <a:ea typeface="ＭＳ Ｐゴシック" pitchFamily="-65" charset="-128"/>
              </a:defRPr>
            </a:lvl3pPr>
            <a:lvl4pPr marL="1600200" indent="-228600">
              <a:spcBef>
                <a:spcPct val="20000"/>
              </a:spcBef>
              <a:buChar char="–"/>
              <a:defRPr sz="2000">
                <a:solidFill>
                  <a:schemeClr val="tx1"/>
                </a:solidFill>
                <a:latin typeface="Arial" pitchFamily="34" charset="0"/>
                <a:ea typeface="ＭＳ Ｐゴシック" pitchFamily="-65" charset="-128"/>
              </a:defRPr>
            </a:lvl4pPr>
            <a:lvl5pPr marL="2057400" indent="-228600">
              <a:spcBef>
                <a:spcPct val="20000"/>
              </a:spcBef>
              <a:buChar char="»"/>
              <a:defRPr sz="2000">
                <a:solidFill>
                  <a:schemeClr val="tx1"/>
                </a:solidFill>
                <a:latin typeface="Arial" pitchFamily="34" charset="0"/>
                <a:ea typeface="ＭＳ Ｐゴシック" pitchFamily="-65" charset="-128"/>
              </a:defRPr>
            </a:lvl5pPr>
            <a:lvl6pPr marL="2514600" indent="-228600" eaLnBrk="0" fontAlgn="base" hangingPunct="0">
              <a:spcBef>
                <a:spcPct val="20000"/>
              </a:spcBef>
              <a:spcAft>
                <a:spcPct val="0"/>
              </a:spcAft>
              <a:buChar char="»"/>
              <a:defRPr sz="2000">
                <a:solidFill>
                  <a:schemeClr val="tx1"/>
                </a:solidFill>
                <a:latin typeface="Arial" pitchFamily="34" charset="0"/>
                <a:ea typeface="ＭＳ Ｐゴシック" pitchFamily="-65" charset="-128"/>
              </a:defRPr>
            </a:lvl6pPr>
            <a:lvl7pPr marL="2971800" indent="-228600" eaLnBrk="0" fontAlgn="base" hangingPunct="0">
              <a:spcBef>
                <a:spcPct val="20000"/>
              </a:spcBef>
              <a:spcAft>
                <a:spcPct val="0"/>
              </a:spcAft>
              <a:buChar char="»"/>
              <a:defRPr sz="2000">
                <a:solidFill>
                  <a:schemeClr val="tx1"/>
                </a:solidFill>
                <a:latin typeface="Arial" pitchFamily="34" charset="0"/>
                <a:ea typeface="ＭＳ Ｐゴシック" pitchFamily="-65" charset="-128"/>
              </a:defRPr>
            </a:lvl7pPr>
            <a:lvl8pPr marL="3429000" indent="-228600" eaLnBrk="0" fontAlgn="base" hangingPunct="0">
              <a:spcBef>
                <a:spcPct val="20000"/>
              </a:spcBef>
              <a:spcAft>
                <a:spcPct val="0"/>
              </a:spcAft>
              <a:buChar char="»"/>
              <a:defRPr sz="2000">
                <a:solidFill>
                  <a:schemeClr val="tx1"/>
                </a:solidFill>
                <a:latin typeface="Arial" pitchFamily="34" charset="0"/>
                <a:ea typeface="ＭＳ Ｐゴシック" pitchFamily="-65" charset="-128"/>
              </a:defRPr>
            </a:lvl8pPr>
            <a:lvl9pPr marL="3886200" indent="-228600" eaLnBrk="0" fontAlgn="base" hangingPunct="0">
              <a:spcBef>
                <a:spcPct val="20000"/>
              </a:spcBef>
              <a:spcAft>
                <a:spcPct val="0"/>
              </a:spcAft>
              <a:buChar char="»"/>
              <a:defRPr sz="2000">
                <a:solidFill>
                  <a:schemeClr val="tx1"/>
                </a:solidFill>
                <a:latin typeface="Arial" pitchFamily="34" charset="0"/>
                <a:ea typeface="ＭＳ Ｐゴシック" pitchFamily="-65" charset="-128"/>
              </a:defRPr>
            </a:lvl9pPr>
          </a:lstStyle>
          <a:p>
            <a:pPr>
              <a:spcBef>
                <a:spcPct val="0"/>
              </a:spcBef>
              <a:buFontTx/>
              <a:buNone/>
            </a:pPr>
            <a:r>
              <a:rPr lang="en-US" altLang="en-US" sz="2400" dirty="0">
                <a:latin typeface="Calibri" pitchFamily="34" charset="0"/>
              </a:rPr>
              <a:t>1545</a:t>
            </a:r>
          </a:p>
        </p:txBody>
      </p:sp>
      <p:sp>
        <p:nvSpPr>
          <p:cNvPr id="33" name="Text Box 54">
            <a:extLst>
              <a:ext uri="{FF2B5EF4-FFF2-40B4-BE49-F238E27FC236}">
                <a16:creationId xmlns:a16="http://schemas.microsoft.com/office/drawing/2014/main" id="{92661A83-8E4B-30EA-261C-6B5A3FDF7C04}"/>
              </a:ext>
            </a:extLst>
          </p:cNvPr>
          <p:cNvSpPr txBox="1">
            <a:spLocks noChangeArrowheads="1"/>
          </p:cNvSpPr>
          <p:nvPr/>
        </p:nvSpPr>
        <p:spPr bwMode="auto">
          <a:xfrm>
            <a:off x="4822825" y="3352800"/>
            <a:ext cx="142557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itchFamily="34" charset="0"/>
                <a:ea typeface="ＭＳ Ｐゴシック" pitchFamily="-65" charset="-128"/>
              </a:defRPr>
            </a:lvl1pPr>
            <a:lvl2pPr marL="742950" indent="-285750">
              <a:spcBef>
                <a:spcPct val="20000"/>
              </a:spcBef>
              <a:buChar char="–"/>
              <a:defRPr sz="2800">
                <a:solidFill>
                  <a:schemeClr val="tx1"/>
                </a:solidFill>
                <a:latin typeface="Arial" pitchFamily="34" charset="0"/>
                <a:ea typeface="ＭＳ Ｐゴシック" pitchFamily="-65" charset="-128"/>
              </a:defRPr>
            </a:lvl2pPr>
            <a:lvl3pPr marL="1143000" indent="-228600">
              <a:spcBef>
                <a:spcPct val="20000"/>
              </a:spcBef>
              <a:buChar char="•"/>
              <a:defRPr sz="2400">
                <a:solidFill>
                  <a:schemeClr val="tx1"/>
                </a:solidFill>
                <a:latin typeface="Arial" pitchFamily="34" charset="0"/>
                <a:ea typeface="ＭＳ Ｐゴシック" pitchFamily="-65" charset="-128"/>
              </a:defRPr>
            </a:lvl3pPr>
            <a:lvl4pPr marL="1600200" indent="-228600">
              <a:spcBef>
                <a:spcPct val="20000"/>
              </a:spcBef>
              <a:buChar char="–"/>
              <a:defRPr sz="2000">
                <a:solidFill>
                  <a:schemeClr val="tx1"/>
                </a:solidFill>
                <a:latin typeface="Arial" pitchFamily="34" charset="0"/>
                <a:ea typeface="ＭＳ Ｐゴシック" pitchFamily="-65" charset="-128"/>
              </a:defRPr>
            </a:lvl4pPr>
            <a:lvl5pPr marL="2057400" indent="-228600">
              <a:spcBef>
                <a:spcPct val="20000"/>
              </a:spcBef>
              <a:buChar char="»"/>
              <a:defRPr sz="2000">
                <a:solidFill>
                  <a:schemeClr val="tx1"/>
                </a:solidFill>
                <a:latin typeface="Arial" pitchFamily="34" charset="0"/>
                <a:ea typeface="ＭＳ Ｐゴシック" pitchFamily="-65" charset="-128"/>
              </a:defRPr>
            </a:lvl5pPr>
            <a:lvl6pPr marL="2514600" indent="-228600" eaLnBrk="0" fontAlgn="base" hangingPunct="0">
              <a:spcBef>
                <a:spcPct val="20000"/>
              </a:spcBef>
              <a:spcAft>
                <a:spcPct val="0"/>
              </a:spcAft>
              <a:buChar char="»"/>
              <a:defRPr sz="2000">
                <a:solidFill>
                  <a:schemeClr val="tx1"/>
                </a:solidFill>
                <a:latin typeface="Arial" pitchFamily="34" charset="0"/>
                <a:ea typeface="ＭＳ Ｐゴシック" pitchFamily="-65" charset="-128"/>
              </a:defRPr>
            </a:lvl6pPr>
            <a:lvl7pPr marL="2971800" indent="-228600" eaLnBrk="0" fontAlgn="base" hangingPunct="0">
              <a:spcBef>
                <a:spcPct val="20000"/>
              </a:spcBef>
              <a:spcAft>
                <a:spcPct val="0"/>
              </a:spcAft>
              <a:buChar char="»"/>
              <a:defRPr sz="2000">
                <a:solidFill>
                  <a:schemeClr val="tx1"/>
                </a:solidFill>
                <a:latin typeface="Arial" pitchFamily="34" charset="0"/>
                <a:ea typeface="ＭＳ Ｐゴシック" pitchFamily="-65" charset="-128"/>
              </a:defRPr>
            </a:lvl7pPr>
            <a:lvl8pPr marL="3429000" indent="-228600" eaLnBrk="0" fontAlgn="base" hangingPunct="0">
              <a:spcBef>
                <a:spcPct val="20000"/>
              </a:spcBef>
              <a:spcAft>
                <a:spcPct val="0"/>
              </a:spcAft>
              <a:buChar char="»"/>
              <a:defRPr sz="2000">
                <a:solidFill>
                  <a:schemeClr val="tx1"/>
                </a:solidFill>
                <a:latin typeface="Arial" pitchFamily="34" charset="0"/>
                <a:ea typeface="ＭＳ Ｐゴシック" pitchFamily="-65" charset="-128"/>
              </a:defRPr>
            </a:lvl8pPr>
            <a:lvl9pPr marL="3886200" indent="-228600" eaLnBrk="0" fontAlgn="base" hangingPunct="0">
              <a:spcBef>
                <a:spcPct val="20000"/>
              </a:spcBef>
              <a:spcAft>
                <a:spcPct val="0"/>
              </a:spcAft>
              <a:buChar char="»"/>
              <a:defRPr sz="2000">
                <a:solidFill>
                  <a:schemeClr val="tx1"/>
                </a:solidFill>
                <a:latin typeface="Arial" pitchFamily="34" charset="0"/>
                <a:ea typeface="ＭＳ Ｐゴシック" pitchFamily="-65" charset="-128"/>
              </a:defRPr>
            </a:lvl9pPr>
          </a:lstStyle>
          <a:p>
            <a:pPr>
              <a:spcBef>
                <a:spcPct val="50000"/>
              </a:spcBef>
              <a:buFontTx/>
              <a:buNone/>
            </a:pPr>
            <a:r>
              <a:rPr lang="en-US" altLang="en-US" sz="2400" dirty="0">
                <a:latin typeface="Calibri" pitchFamily="34" charset="0"/>
              </a:rPr>
              <a:t>4664</a:t>
            </a:r>
          </a:p>
        </p:txBody>
      </p:sp>
      <p:sp>
        <p:nvSpPr>
          <p:cNvPr id="34" name="Text Box 55">
            <a:extLst>
              <a:ext uri="{FF2B5EF4-FFF2-40B4-BE49-F238E27FC236}">
                <a16:creationId xmlns:a16="http://schemas.microsoft.com/office/drawing/2014/main" id="{F5EA6B18-0BF3-59C1-19D3-1872D6D557AE}"/>
              </a:ext>
            </a:extLst>
          </p:cNvPr>
          <p:cNvSpPr txBox="1">
            <a:spLocks noChangeArrowheads="1"/>
          </p:cNvSpPr>
          <p:nvPr/>
        </p:nvSpPr>
        <p:spPr bwMode="auto">
          <a:xfrm>
            <a:off x="3657600" y="4114800"/>
            <a:ext cx="806631"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itchFamily="34" charset="0"/>
                <a:ea typeface="ＭＳ Ｐゴシック" pitchFamily="-65" charset="-128"/>
              </a:defRPr>
            </a:lvl1pPr>
            <a:lvl2pPr marL="742950" indent="-285750">
              <a:spcBef>
                <a:spcPct val="20000"/>
              </a:spcBef>
              <a:buChar char="–"/>
              <a:defRPr sz="2800">
                <a:solidFill>
                  <a:schemeClr val="tx1"/>
                </a:solidFill>
                <a:latin typeface="Arial" pitchFamily="34" charset="0"/>
                <a:ea typeface="ＭＳ Ｐゴシック" pitchFamily="-65" charset="-128"/>
              </a:defRPr>
            </a:lvl2pPr>
            <a:lvl3pPr marL="1143000" indent="-228600">
              <a:spcBef>
                <a:spcPct val="20000"/>
              </a:spcBef>
              <a:buChar char="•"/>
              <a:defRPr sz="2400">
                <a:solidFill>
                  <a:schemeClr val="tx1"/>
                </a:solidFill>
                <a:latin typeface="Arial" pitchFamily="34" charset="0"/>
                <a:ea typeface="ＭＳ Ｐゴシック" pitchFamily="-65" charset="-128"/>
              </a:defRPr>
            </a:lvl3pPr>
            <a:lvl4pPr marL="1600200" indent="-228600">
              <a:spcBef>
                <a:spcPct val="20000"/>
              </a:spcBef>
              <a:buChar char="–"/>
              <a:defRPr sz="2000">
                <a:solidFill>
                  <a:schemeClr val="tx1"/>
                </a:solidFill>
                <a:latin typeface="Arial" pitchFamily="34" charset="0"/>
                <a:ea typeface="ＭＳ Ｐゴシック" pitchFamily="-65" charset="-128"/>
              </a:defRPr>
            </a:lvl4pPr>
            <a:lvl5pPr marL="2057400" indent="-228600">
              <a:spcBef>
                <a:spcPct val="20000"/>
              </a:spcBef>
              <a:buChar char="»"/>
              <a:defRPr sz="2000">
                <a:solidFill>
                  <a:schemeClr val="tx1"/>
                </a:solidFill>
                <a:latin typeface="Arial" pitchFamily="34" charset="0"/>
                <a:ea typeface="ＭＳ Ｐゴシック" pitchFamily="-65" charset="-128"/>
              </a:defRPr>
            </a:lvl5pPr>
            <a:lvl6pPr marL="2514600" indent="-228600" eaLnBrk="0" fontAlgn="base" hangingPunct="0">
              <a:spcBef>
                <a:spcPct val="20000"/>
              </a:spcBef>
              <a:spcAft>
                <a:spcPct val="0"/>
              </a:spcAft>
              <a:buChar char="»"/>
              <a:defRPr sz="2000">
                <a:solidFill>
                  <a:schemeClr val="tx1"/>
                </a:solidFill>
                <a:latin typeface="Arial" pitchFamily="34" charset="0"/>
                <a:ea typeface="ＭＳ Ｐゴシック" pitchFamily="-65" charset="-128"/>
              </a:defRPr>
            </a:lvl6pPr>
            <a:lvl7pPr marL="2971800" indent="-228600" eaLnBrk="0" fontAlgn="base" hangingPunct="0">
              <a:spcBef>
                <a:spcPct val="20000"/>
              </a:spcBef>
              <a:spcAft>
                <a:spcPct val="0"/>
              </a:spcAft>
              <a:buChar char="»"/>
              <a:defRPr sz="2000">
                <a:solidFill>
                  <a:schemeClr val="tx1"/>
                </a:solidFill>
                <a:latin typeface="Arial" pitchFamily="34" charset="0"/>
                <a:ea typeface="ＭＳ Ｐゴシック" pitchFamily="-65" charset="-128"/>
              </a:defRPr>
            </a:lvl7pPr>
            <a:lvl8pPr marL="3429000" indent="-228600" eaLnBrk="0" fontAlgn="base" hangingPunct="0">
              <a:spcBef>
                <a:spcPct val="20000"/>
              </a:spcBef>
              <a:spcAft>
                <a:spcPct val="0"/>
              </a:spcAft>
              <a:buChar char="»"/>
              <a:defRPr sz="2000">
                <a:solidFill>
                  <a:schemeClr val="tx1"/>
                </a:solidFill>
                <a:latin typeface="Arial" pitchFamily="34" charset="0"/>
                <a:ea typeface="ＭＳ Ｐゴシック" pitchFamily="-65" charset="-128"/>
              </a:defRPr>
            </a:lvl8pPr>
            <a:lvl9pPr marL="3886200" indent="-228600" eaLnBrk="0" fontAlgn="base" hangingPunct="0">
              <a:spcBef>
                <a:spcPct val="20000"/>
              </a:spcBef>
              <a:spcAft>
                <a:spcPct val="0"/>
              </a:spcAft>
              <a:buChar char="»"/>
              <a:defRPr sz="2000">
                <a:solidFill>
                  <a:schemeClr val="tx1"/>
                </a:solidFill>
                <a:latin typeface="Arial" pitchFamily="34" charset="0"/>
                <a:ea typeface="ＭＳ Ｐゴシック" pitchFamily="-65" charset="-128"/>
              </a:defRPr>
            </a:lvl9pPr>
          </a:lstStyle>
          <a:p>
            <a:pPr>
              <a:spcBef>
                <a:spcPct val="0"/>
              </a:spcBef>
              <a:buFontTx/>
              <a:buNone/>
            </a:pPr>
            <a:r>
              <a:rPr lang="en-US" altLang="en-US" sz="2400" dirty="0">
                <a:latin typeface="Calibri" pitchFamily="34" charset="0"/>
              </a:rPr>
              <a:t>5868</a:t>
            </a:r>
          </a:p>
        </p:txBody>
      </p:sp>
      <p:sp>
        <p:nvSpPr>
          <p:cNvPr id="35" name="Text Box 56">
            <a:extLst>
              <a:ext uri="{FF2B5EF4-FFF2-40B4-BE49-F238E27FC236}">
                <a16:creationId xmlns:a16="http://schemas.microsoft.com/office/drawing/2014/main" id="{7EAE34A7-EB6C-E006-A386-57FDC3CC32BF}"/>
              </a:ext>
            </a:extLst>
          </p:cNvPr>
          <p:cNvSpPr txBox="1">
            <a:spLocks noChangeArrowheads="1"/>
          </p:cNvSpPr>
          <p:nvPr/>
        </p:nvSpPr>
        <p:spPr bwMode="auto">
          <a:xfrm>
            <a:off x="2590800" y="6324600"/>
            <a:ext cx="3132138"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itchFamily="34" charset="0"/>
                <a:ea typeface="ＭＳ Ｐゴシック" pitchFamily="-65" charset="-128"/>
              </a:defRPr>
            </a:lvl1pPr>
            <a:lvl2pPr marL="742950" indent="-285750">
              <a:spcBef>
                <a:spcPct val="20000"/>
              </a:spcBef>
              <a:buChar char="–"/>
              <a:defRPr sz="2800">
                <a:solidFill>
                  <a:schemeClr val="tx1"/>
                </a:solidFill>
                <a:latin typeface="Arial" pitchFamily="34" charset="0"/>
                <a:ea typeface="ＭＳ Ｐゴシック" pitchFamily="-65" charset="-128"/>
              </a:defRPr>
            </a:lvl2pPr>
            <a:lvl3pPr marL="1143000" indent="-228600">
              <a:spcBef>
                <a:spcPct val="20000"/>
              </a:spcBef>
              <a:buChar char="•"/>
              <a:defRPr sz="2400">
                <a:solidFill>
                  <a:schemeClr val="tx1"/>
                </a:solidFill>
                <a:latin typeface="Arial" pitchFamily="34" charset="0"/>
                <a:ea typeface="ＭＳ Ｐゴシック" pitchFamily="-65" charset="-128"/>
              </a:defRPr>
            </a:lvl3pPr>
            <a:lvl4pPr marL="1600200" indent="-228600">
              <a:spcBef>
                <a:spcPct val="20000"/>
              </a:spcBef>
              <a:buChar char="–"/>
              <a:defRPr sz="2000">
                <a:solidFill>
                  <a:schemeClr val="tx1"/>
                </a:solidFill>
                <a:latin typeface="Arial" pitchFamily="34" charset="0"/>
                <a:ea typeface="ＭＳ Ｐゴシック" pitchFamily="-65" charset="-128"/>
              </a:defRPr>
            </a:lvl4pPr>
            <a:lvl5pPr marL="2057400" indent="-228600">
              <a:spcBef>
                <a:spcPct val="20000"/>
              </a:spcBef>
              <a:buChar char="»"/>
              <a:defRPr sz="2000">
                <a:solidFill>
                  <a:schemeClr val="tx1"/>
                </a:solidFill>
                <a:latin typeface="Arial" pitchFamily="34" charset="0"/>
                <a:ea typeface="ＭＳ Ｐゴシック" pitchFamily="-65" charset="-128"/>
              </a:defRPr>
            </a:lvl5pPr>
            <a:lvl6pPr marL="2514600" indent="-228600" eaLnBrk="0" fontAlgn="base" hangingPunct="0">
              <a:spcBef>
                <a:spcPct val="20000"/>
              </a:spcBef>
              <a:spcAft>
                <a:spcPct val="0"/>
              </a:spcAft>
              <a:buChar char="»"/>
              <a:defRPr sz="2000">
                <a:solidFill>
                  <a:schemeClr val="tx1"/>
                </a:solidFill>
                <a:latin typeface="Arial" pitchFamily="34" charset="0"/>
                <a:ea typeface="ＭＳ Ｐゴシック" pitchFamily="-65" charset="-128"/>
              </a:defRPr>
            </a:lvl6pPr>
            <a:lvl7pPr marL="2971800" indent="-228600" eaLnBrk="0" fontAlgn="base" hangingPunct="0">
              <a:spcBef>
                <a:spcPct val="20000"/>
              </a:spcBef>
              <a:spcAft>
                <a:spcPct val="0"/>
              </a:spcAft>
              <a:buChar char="»"/>
              <a:defRPr sz="2000">
                <a:solidFill>
                  <a:schemeClr val="tx1"/>
                </a:solidFill>
                <a:latin typeface="Arial" pitchFamily="34" charset="0"/>
                <a:ea typeface="ＭＳ Ｐゴシック" pitchFamily="-65" charset="-128"/>
              </a:defRPr>
            </a:lvl7pPr>
            <a:lvl8pPr marL="3429000" indent="-228600" eaLnBrk="0" fontAlgn="base" hangingPunct="0">
              <a:spcBef>
                <a:spcPct val="20000"/>
              </a:spcBef>
              <a:spcAft>
                <a:spcPct val="0"/>
              </a:spcAft>
              <a:buChar char="»"/>
              <a:defRPr sz="2000">
                <a:solidFill>
                  <a:schemeClr val="tx1"/>
                </a:solidFill>
                <a:latin typeface="Arial" pitchFamily="34" charset="0"/>
                <a:ea typeface="ＭＳ Ｐゴシック" pitchFamily="-65" charset="-128"/>
              </a:defRPr>
            </a:lvl8pPr>
            <a:lvl9pPr marL="3886200" indent="-228600" eaLnBrk="0" fontAlgn="base" hangingPunct="0">
              <a:spcBef>
                <a:spcPct val="20000"/>
              </a:spcBef>
              <a:spcAft>
                <a:spcPct val="0"/>
              </a:spcAft>
              <a:buChar char="»"/>
              <a:defRPr sz="2000">
                <a:solidFill>
                  <a:schemeClr val="tx1"/>
                </a:solidFill>
                <a:latin typeface="Arial" pitchFamily="34" charset="0"/>
                <a:ea typeface="ＭＳ Ｐゴシック" pitchFamily="-65" charset="-128"/>
              </a:defRPr>
            </a:lvl9pPr>
          </a:lstStyle>
          <a:p>
            <a:pPr>
              <a:spcBef>
                <a:spcPct val="0"/>
              </a:spcBef>
              <a:buFontTx/>
              <a:buNone/>
            </a:pPr>
            <a:r>
              <a:rPr lang="en-US" altLang="en-US" sz="2400">
                <a:solidFill>
                  <a:srgbClr val="07621A"/>
                </a:solidFill>
                <a:latin typeface="Calibri" pitchFamily="34" charset="0"/>
              </a:rPr>
              <a:t>Brute Force?  Greed?</a:t>
            </a:r>
            <a:endParaRPr lang="en-US" altLang="en-US" sz="2400">
              <a:latin typeface="Calibri" pitchFamily="34" charset="0"/>
            </a:endParaRPr>
          </a:p>
        </p:txBody>
      </p:sp>
      <p:sp>
        <p:nvSpPr>
          <p:cNvPr id="36" name="Text Box 57">
            <a:extLst>
              <a:ext uri="{FF2B5EF4-FFF2-40B4-BE49-F238E27FC236}">
                <a16:creationId xmlns:a16="http://schemas.microsoft.com/office/drawing/2014/main" id="{E720B690-3CC6-2CDB-DA5F-C39A5B34274F}"/>
              </a:ext>
            </a:extLst>
          </p:cNvPr>
          <p:cNvSpPr txBox="1">
            <a:spLocks noChangeArrowheads="1"/>
          </p:cNvSpPr>
          <p:nvPr/>
        </p:nvSpPr>
        <p:spPr bwMode="auto">
          <a:xfrm>
            <a:off x="2438400" y="4648200"/>
            <a:ext cx="806631"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itchFamily="34" charset="0"/>
                <a:ea typeface="ＭＳ Ｐゴシック" pitchFamily="-65" charset="-128"/>
              </a:defRPr>
            </a:lvl1pPr>
            <a:lvl2pPr marL="742950" indent="-285750">
              <a:spcBef>
                <a:spcPct val="20000"/>
              </a:spcBef>
              <a:buChar char="–"/>
              <a:defRPr sz="2800">
                <a:solidFill>
                  <a:schemeClr val="tx1"/>
                </a:solidFill>
                <a:latin typeface="Arial" pitchFamily="34" charset="0"/>
                <a:ea typeface="ＭＳ Ｐゴシック" pitchFamily="-65" charset="-128"/>
              </a:defRPr>
            </a:lvl2pPr>
            <a:lvl3pPr marL="1143000" indent="-228600">
              <a:spcBef>
                <a:spcPct val="20000"/>
              </a:spcBef>
              <a:buChar char="•"/>
              <a:defRPr sz="2400">
                <a:solidFill>
                  <a:schemeClr val="tx1"/>
                </a:solidFill>
                <a:latin typeface="Arial" pitchFamily="34" charset="0"/>
                <a:ea typeface="ＭＳ Ｐゴシック" pitchFamily="-65" charset="-128"/>
              </a:defRPr>
            </a:lvl3pPr>
            <a:lvl4pPr marL="1600200" indent="-228600">
              <a:spcBef>
                <a:spcPct val="20000"/>
              </a:spcBef>
              <a:buChar char="–"/>
              <a:defRPr sz="2000">
                <a:solidFill>
                  <a:schemeClr val="tx1"/>
                </a:solidFill>
                <a:latin typeface="Arial" pitchFamily="34" charset="0"/>
                <a:ea typeface="ＭＳ Ｐゴシック" pitchFamily="-65" charset="-128"/>
              </a:defRPr>
            </a:lvl4pPr>
            <a:lvl5pPr marL="2057400" indent="-228600">
              <a:spcBef>
                <a:spcPct val="20000"/>
              </a:spcBef>
              <a:buChar char="»"/>
              <a:defRPr sz="2000">
                <a:solidFill>
                  <a:schemeClr val="tx1"/>
                </a:solidFill>
                <a:latin typeface="Arial" pitchFamily="34" charset="0"/>
                <a:ea typeface="ＭＳ Ｐゴシック" pitchFamily="-65" charset="-128"/>
              </a:defRPr>
            </a:lvl5pPr>
            <a:lvl6pPr marL="2514600" indent="-228600" eaLnBrk="0" fontAlgn="base" hangingPunct="0">
              <a:spcBef>
                <a:spcPct val="20000"/>
              </a:spcBef>
              <a:spcAft>
                <a:spcPct val="0"/>
              </a:spcAft>
              <a:buChar char="»"/>
              <a:defRPr sz="2000">
                <a:solidFill>
                  <a:schemeClr val="tx1"/>
                </a:solidFill>
                <a:latin typeface="Arial" pitchFamily="34" charset="0"/>
                <a:ea typeface="ＭＳ Ｐゴシック" pitchFamily="-65" charset="-128"/>
              </a:defRPr>
            </a:lvl6pPr>
            <a:lvl7pPr marL="2971800" indent="-228600" eaLnBrk="0" fontAlgn="base" hangingPunct="0">
              <a:spcBef>
                <a:spcPct val="20000"/>
              </a:spcBef>
              <a:spcAft>
                <a:spcPct val="0"/>
              </a:spcAft>
              <a:buChar char="»"/>
              <a:defRPr sz="2000">
                <a:solidFill>
                  <a:schemeClr val="tx1"/>
                </a:solidFill>
                <a:latin typeface="Arial" pitchFamily="34" charset="0"/>
                <a:ea typeface="ＭＳ Ｐゴシック" pitchFamily="-65" charset="-128"/>
              </a:defRPr>
            </a:lvl7pPr>
            <a:lvl8pPr marL="3429000" indent="-228600" eaLnBrk="0" fontAlgn="base" hangingPunct="0">
              <a:spcBef>
                <a:spcPct val="20000"/>
              </a:spcBef>
              <a:spcAft>
                <a:spcPct val="0"/>
              </a:spcAft>
              <a:buChar char="»"/>
              <a:defRPr sz="2000">
                <a:solidFill>
                  <a:schemeClr val="tx1"/>
                </a:solidFill>
                <a:latin typeface="Arial" pitchFamily="34" charset="0"/>
                <a:ea typeface="ＭＳ Ｐゴシック" pitchFamily="-65" charset="-128"/>
              </a:defRPr>
            </a:lvl8pPr>
            <a:lvl9pPr marL="3886200" indent="-228600" eaLnBrk="0" fontAlgn="base" hangingPunct="0">
              <a:spcBef>
                <a:spcPct val="20000"/>
              </a:spcBef>
              <a:spcAft>
                <a:spcPct val="0"/>
              </a:spcAft>
              <a:buChar char="»"/>
              <a:defRPr sz="2000">
                <a:solidFill>
                  <a:schemeClr val="tx1"/>
                </a:solidFill>
                <a:latin typeface="Arial" pitchFamily="34" charset="0"/>
                <a:ea typeface="ＭＳ Ｐゴシック" pitchFamily="-65" charset="-128"/>
              </a:defRPr>
            </a:lvl9pPr>
          </a:lstStyle>
          <a:p>
            <a:pPr>
              <a:spcBef>
                <a:spcPct val="0"/>
              </a:spcBef>
              <a:buFontTx/>
              <a:buNone/>
            </a:pPr>
            <a:r>
              <a:rPr lang="en-US" altLang="en-US" sz="2400" dirty="0">
                <a:latin typeface="Calibri" pitchFamily="34" charset="0"/>
              </a:rPr>
              <a:t>2417</a:t>
            </a:r>
          </a:p>
        </p:txBody>
      </p:sp>
      <p:sp>
        <p:nvSpPr>
          <p:cNvPr id="37" name="Text Box 58">
            <a:extLst>
              <a:ext uri="{FF2B5EF4-FFF2-40B4-BE49-F238E27FC236}">
                <a16:creationId xmlns:a16="http://schemas.microsoft.com/office/drawing/2014/main" id="{3E2AD4ED-8FF6-BAEB-FF12-32FC0D037DBC}"/>
              </a:ext>
            </a:extLst>
          </p:cNvPr>
          <p:cNvSpPr txBox="1">
            <a:spLocks noChangeArrowheads="1"/>
          </p:cNvSpPr>
          <p:nvPr/>
        </p:nvSpPr>
        <p:spPr bwMode="auto">
          <a:xfrm>
            <a:off x="3405187" y="5257800"/>
            <a:ext cx="806631"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itchFamily="34" charset="0"/>
                <a:ea typeface="ＭＳ Ｐゴシック" pitchFamily="-65" charset="-128"/>
              </a:defRPr>
            </a:lvl1pPr>
            <a:lvl2pPr marL="742950" indent="-285750">
              <a:spcBef>
                <a:spcPct val="20000"/>
              </a:spcBef>
              <a:buChar char="–"/>
              <a:defRPr sz="2800">
                <a:solidFill>
                  <a:schemeClr val="tx1"/>
                </a:solidFill>
                <a:latin typeface="Arial" pitchFamily="34" charset="0"/>
                <a:ea typeface="ＭＳ Ｐゴシック" pitchFamily="-65" charset="-128"/>
              </a:defRPr>
            </a:lvl2pPr>
            <a:lvl3pPr marL="1143000" indent="-228600">
              <a:spcBef>
                <a:spcPct val="20000"/>
              </a:spcBef>
              <a:buChar char="•"/>
              <a:defRPr sz="2400">
                <a:solidFill>
                  <a:schemeClr val="tx1"/>
                </a:solidFill>
                <a:latin typeface="Arial" pitchFamily="34" charset="0"/>
                <a:ea typeface="ＭＳ Ｐゴシック" pitchFamily="-65" charset="-128"/>
              </a:defRPr>
            </a:lvl3pPr>
            <a:lvl4pPr marL="1600200" indent="-228600">
              <a:spcBef>
                <a:spcPct val="20000"/>
              </a:spcBef>
              <a:buChar char="–"/>
              <a:defRPr sz="2000">
                <a:solidFill>
                  <a:schemeClr val="tx1"/>
                </a:solidFill>
                <a:latin typeface="Arial" pitchFamily="34" charset="0"/>
                <a:ea typeface="ＭＳ Ｐゴシック" pitchFamily="-65" charset="-128"/>
              </a:defRPr>
            </a:lvl4pPr>
            <a:lvl5pPr marL="2057400" indent="-228600">
              <a:spcBef>
                <a:spcPct val="20000"/>
              </a:spcBef>
              <a:buChar char="»"/>
              <a:defRPr sz="2000">
                <a:solidFill>
                  <a:schemeClr val="tx1"/>
                </a:solidFill>
                <a:latin typeface="Arial" pitchFamily="34" charset="0"/>
                <a:ea typeface="ＭＳ Ｐゴシック" pitchFamily="-65" charset="-128"/>
              </a:defRPr>
            </a:lvl5pPr>
            <a:lvl6pPr marL="2514600" indent="-228600" eaLnBrk="0" fontAlgn="base" hangingPunct="0">
              <a:spcBef>
                <a:spcPct val="20000"/>
              </a:spcBef>
              <a:spcAft>
                <a:spcPct val="0"/>
              </a:spcAft>
              <a:buChar char="»"/>
              <a:defRPr sz="2000">
                <a:solidFill>
                  <a:schemeClr val="tx1"/>
                </a:solidFill>
                <a:latin typeface="Arial" pitchFamily="34" charset="0"/>
                <a:ea typeface="ＭＳ Ｐゴシック" pitchFamily="-65" charset="-128"/>
              </a:defRPr>
            </a:lvl6pPr>
            <a:lvl7pPr marL="2971800" indent="-228600" eaLnBrk="0" fontAlgn="base" hangingPunct="0">
              <a:spcBef>
                <a:spcPct val="20000"/>
              </a:spcBef>
              <a:spcAft>
                <a:spcPct val="0"/>
              </a:spcAft>
              <a:buChar char="»"/>
              <a:defRPr sz="2000">
                <a:solidFill>
                  <a:schemeClr val="tx1"/>
                </a:solidFill>
                <a:latin typeface="Arial" pitchFamily="34" charset="0"/>
                <a:ea typeface="ＭＳ Ｐゴシック" pitchFamily="-65" charset="-128"/>
              </a:defRPr>
            </a:lvl7pPr>
            <a:lvl8pPr marL="3429000" indent="-228600" eaLnBrk="0" fontAlgn="base" hangingPunct="0">
              <a:spcBef>
                <a:spcPct val="20000"/>
              </a:spcBef>
              <a:spcAft>
                <a:spcPct val="0"/>
              </a:spcAft>
              <a:buChar char="»"/>
              <a:defRPr sz="2000">
                <a:solidFill>
                  <a:schemeClr val="tx1"/>
                </a:solidFill>
                <a:latin typeface="Arial" pitchFamily="34" charset="0"/>
                <a:ea typeface="ＭＳ Ｐゴシック" pitchFamily="-65" charset="-128"/>
              </a:defRPr>
            </a:lvl8pPr>
            <a:lvl9pPr marL="3886200" indent="-228600" eaLnBrk="0" fontAlgn="base" hangingPunct="0">
              <a:spcBef>
                <a:spcPct val="20000"/>
              </a:spcBef>
              <a:spcAft>
                <a:spcPct val="0"/>
              </a:spcAft>
              <a:buChar char="»"/>
              <a:defRPr sz="2000">
                <a:solidFill>
                  <a:schemeClr val="tx1"/>
                </a:solidFill>
                <a:latin typeface="Arial" pitchFamily="34" charset="0"/>
                <a:ea typeface="ＭＳ Ｐゴシック" pitchFamily="-65" charset="-128"/>
              </a:defRPr>
            </a:lvl9pPr>
          </a:lstStyle>
          <a:p>
            <a:pPr>
              <a:spcBef>
                <a:spcPct val="0"/>
              </a:spcBef>
              <a:buFontTx/>
              <a:buNone/>
            </a:pPr>
            <a:r>
              <a:rPr lang="en-US" altLang="en-US" sz="2400" dirty="0">
                <a:latin typeface="Calibri" pitchFamily="34" charset="0"/>
              </a:rPr>
              <a:t>6060</a:t>
            </a:r>
          </a:p>
        </p:txBody>
      </p:sp>
      <p:sp>
        <p:nvSpPr>
          <p:cNvPr id="38" name="Text Box 55">
            <a:extLst>
              <a:ext uri="{FF2B5EF4-FFF2-40B4-BE49-F238E27FC236}">
                <a16:creationId xmlns:a16="http://schemas.microsoft.com/office/drawing/2014/main" id="{B5DAC924-F778-1C7A-B786-ACFBF17A6F00}"/>
              </a:ext>
            </a:extLst>
          </p:cNvPr>
          <p:cNvSpPr txBox="1">
            <a:spLocks noChangeArrowheads="1"/>
          </p:cNvSpPr>
          <p:nvPr/>
        </p:nvSpPr>
        <p:spPr bwMode="auto">
          <a:xfrm>
            <a:off x="2542263" y="3272135"/>
            <a:ext cx="806631"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itchFamily="34" charset="0"/>
                <a:ea typeface="ＭＳ Ｐゴシック" pitchFamily="-65" charset="-128"/>
              </a:defRPr>
            </a:lvl1pPr>
            <a:lvl2pPr marL="742950" indent="-285750">
              <a:spcBef>
                <a:spcPct val="20000"/>
              </a:spcBef>
              <a:buChar char="–"/>
              <a:defRPr sz="2800">
                <a:solidFill>
                  <a:schemeClr val="tx1"/>
                </a:solidFill>
                <a:latin typeface="Arial" pitchFamily="34" charset="0"/>
                <a:ea typeface="ＭＳ Ｐゴシック" pitchFamily="-65" charset="-128"/>
              </a:defRPr>
            </a:lvl2pPr>
            <a:lvl3pPr marL="1143000" indent="-228600">
              <a:spcBef>
                <a:spcPct val="20000"/>
              </a:spcBef>
              <a:buChar char="•"/>
              <a:defRPr sz="2400">
                <a:solidFill>
                  <a:schemeClr val="tx1"/>
                </a:solidFill>
                <a:latin typeface="Arial" pitchFamily="34" charset="0"/>
                <a:ea typeface="ＭＳ Ｐゴシック" pitchFamily="-65" charset="-128"/>
              </a:defRPr>
            </a:lvl3pPr>
            <a:lvl4pPr marL="1600200" indent="-228600">
              <a:spcBef>
                <a:spcPct val="20000"/>
              </a:spcBef>
              <a:buChar char="–"/>
              <a:defRPr sz="2000">
                <a:solidFill>
                  <a:schemeClr val="tx1"/>
                </a:solidFill>
                <a:latin typeface="Arial" pitchFamily="34" charset="0"/>
                <a:ea typeface="ＭＳ Ｐゴシック" pitchFamily="-65" charset="-128"/>
              </a:defRPr>
            </a:lvl4pPr>
            <a:lvl5pPr marL="2057400" indent="-228600">
              <a:spcBef>
                <a:spcPct val="20000"/>
              </a:spcBef>
              <a:buChar char="»"/>
              <a:defRPr sz="2000">
                <a:solidFill>
                  <a:schemeClr val="tx1"/>
                </a:solidFill>
                <a:latin typeface="Arial" pitchFamily="34" charset="0"/>
                <a:ea typeface="ＭＳ Ｐゴシック" pitchFamily="-65" charset="-128"/>
              </a:defRPr>
            </a:lvl5pPr>
            <a:lvl6pPr marL="2514600" indent="-228600" eaLnBrk="0" fontAlgn="base" hangingPunct="0">
              <a:spcBef>
                <a:spcPct val="20000"/>
              </a:spcBef>
              <a:spcAft>
                <a:spcPct val="0"/>
              </a:spcAft>
              <a:buChar char="»"/>
              <a:defRPr sz="2000">
                <a:solidFill>
                  <a:schemeClr val="tx1"/>
                </a:solidFill>
                <a:latin typeface="Arial" pitchFamily="34" charset="0"/>
                <a:ea typeface="ＭＳ Ｐゴシック" pitchFamily="-65" charset="-128"/>
              </a:defRPr>
            </a:lvl6pPr>
            <a:lvl7pPr marL="2971800" indent="-228600" eaLnBrk="0" fontAlgn="base" hangingPunct="0">
              <a:spcBef>
                <a:spcPct val="20000"/>
              </a:spcBef>
              <a:spcAft>
                <a:spcPct val="0"/>
              </a:spcAft>
              <a:buChar char="»"/>
              <a:defRPr sz="2000">
                <a:solidFill>
                  <a:schemeClr val="tx1"/>
                </a:solidFill>
                <a:latin typeface="Arial" pitchFamily="34" charset="0"/>
                <a:ea typeface="ＭＳ Ｐゴシック" pitchFamily="-65" charset="-128"/>
              </a:defRPr>
            </a:lvl7pPr>
            <a:lvl8pPr marL="3429000" indent="-228600" eaLnBrk="0" fontAlgn="base" hangingPunct="0">
              <a:spcBef>
                <a:spcPct val="20000"/>
              </a:spcBef>
              <a:spcAft>
                <a:spcPct val="0"/>
              </a:spcAft>
              <a:buChar char="»"/>
              <a:defRPr sz="2000">
                <a:solidFill>
                  <a:schemeClr val="tx1"/>
                </a:solidFill>
                <a:latin typeface="Arial" pitchFamily="34" charset="0"/>
                <a:ea typeface="ＭＳ Ｐゴシック" pitchFamily="-65" charset="-128"/>
              </a:defRPr>
            </a:lvl8pPr>
            <a:lvl9pPr marL="3886200" indent="-228600" eaLnBrk="0" fontAlgn="base" hangingPunct="0">
              <a:spcBef>
                <a:spcPct val="20000"/>
              </a:spcBef>
              <a:spcAft>
                <a:spcPct val="0"/>
              </a:spcAft>
              <a:buChar char="»"/>
              <a:defRPr sz="2000">
                <a:solidFill>
                  <a:schemeClr val="tx1"/>
                </a:solidFill>
                <a:latin typeface="Arial" pitchFamily="34" charset="0"/>
                <a:ea typeface="ＭＳ Ｐゴシック" pitchFamily="-65" charset="-128"/>
              </a:defRPr>
            </a:lvl9pPr>
          </a:lstStyle>
          <a:p>
            <a:pPr>
              <a:spcBef>
                <a:spcPct val="0"/>
              </a:spcBef>
              <a:buFontTx/>
              <a:buNone/>
            </a:pPr>
            <a:r>
              <a:rPr lang="en-US" altLang="en-US" sz="2400" dirty="0">
                <a:latin typeface="Calibri" pitchFamily="34" charset="0"/>
              </a:rPr>
              <a:t>2566</a:t>
            </a:r>
          </a:p>
        </p:txBody>
      </p:sp>
      <p:sp>
        <p:nvSpPr>
          <p:cNvPr id="39" name="Text Box 55">
            <a:extLst>
              <a:ext uri="{FF2B5EF4-FFF2-40B4-BE49-F238E27FC236}">
                <a16:creationId xmlns:a16="http://schemas.microsoft.com/office/drawing/2014/main" id="{C9F8EE07-3C5D-6DB3-7CE1-3044CD4DEE1B}"/>
              </a:ext>
            </a:extLst>
          </p:cNvPr>
          <p:cNvSpPr txBox="1">
            <a:spLocks noChangeArrowheads="1"/>
          </p:cNvSpPr>
          <p:nvPr/>
        </p:nvSpPr>
        <p:spPr bwMode="auto">
          <a:xfrm>
            <a:off x="5014446" y="4719935"/>
            <a:ext cx="806631"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itchFamily="34" charset="0"/>
                <a:ea typeface="ＭＳ Ｐゴシック" pitchFamily="-65" charset="-128"/>
              </a:defRPr>
            </a:lvl1pPr>
            <a:lvl2pPr marL="742950" indent="-285750">
              <a:spcBef>
                <a:spcPct val="20000"/>
              </a:spcBef>
              <a:buChar char="–"/>
              <a:defRPr sz="2800">
                <a:solidFill>
                  <a:schemeClr val="tx1"/>
                </a:solidFill>
                <a:latin typeface="Arial" pitchFamily="34" charset="0"/>
                <a:ea typeface="ＭＳ Ｐゴシック" pitchFamily="-65" charset="-128"/>
              </a:defRPr>
            </a:lvl2pPr>
            <a:lvl3pPr marL="1143000" indent="-228600">
              <a:spcBef>
                <a:spcPct val="20000"/>
              </a:spcBef>
              <a:buChar char="•"/>
              <a:defRPr sz="2400">
                <a:solidFill>
                  <a:schemeClr val="tx1"/>
                </a:solidFill>
                <a:latin typeface="Arial" pitchFamily="34" charset="0"/>
                <a:ea typeface="ＭＳ Ｐゴシック" pitchFamily="-65" charset="-128"/>
              </a:defRPr>
            </a:lvl3pPr>
            <a:lvl4pPr marL="1600200" indent="-228600">
              <a:spcBef>
                <a:spcPct val="20000"/>
              </a:spcBef>
              <a:buChar char="–"/>
              <a:defRPr sz="2000">
                <a:solidFill>
                  <a:schemeClr val="tx1"/>
                </a:solidFill>
                <a:latin typeface="Arial" pitchFamily="34" charset="0"/>
                <a:ea typeface="ＭＳ Ｐゴシック" pitchFamily="-65" charset="-128"/>
              </a:defRPr>
            </a:lvl4pPr>
            <a:lvl5pPr marL="2057400" indent="-228600">
              <a:spcBef>
                <a:spcPct val="20000"/>
              </a:spcBef>
              <a:buChar char="»"/>
              <a:defRPr sz="2000">
                <a:solidFill>
                  <a:schemeClr val="tx1"/>
                </a:solidFill>
                <a:latin typeface="Arial" pitchFamily="34" charset="0"/>
                <a:ea typeface="ＭＳ Ｐゴシック" pitchFamily="-65" charset="-128"/>
              </a:defRPr>
            </a:lvl5pPr>
            <a:lvl6pPr marL="2514600" indent="-228600" eaLnBrk="0" fontAlgn="base" hangingPunct="0">
              <a:spcBef>
                <a:spcPct val="20000"/>
              </a:spcBef>
              <a:spcAft>
                <a:spcPct val="0"/>
              </a:spcAft>
              <a:buChar char="»"/>
              <a:defRPr sz="2000">
                <a:solidFill>
                  <a:schemeClr val="tx1"/>
                </a:solidFill>
                <a:latin typeface="Arial" pitchFamily="34" charset="0"/>
                <a:ea typeface="ＭＳ Ｐゴシック" pitchFamily="-65" charset="-128"/>
              </a:defRPr>
            </a:lvl6pPr>
            <a:lvl7pPr marL="2971800" indent="-228600" eaLnBrk="0" fontAlgn="base" hangingPunct="0">
              <a:spcBef>
                <a:spcPct val="20000"/>
              </a:spcBef>
              <a:spcAft>
                <a:spcPct val="0"/>
              </a:spcAft>
              <a:buChar char="»"/>
              <a:defRPr sz="2000">
                <a:solidFill>
                  <a:schemeClr val="tx1"/>
                </a:solidFill>
                <a:latin typeface="Arial" pitchFamily="34" charset="0"/>
                <a:ea typeface="ＭＳ Ｐゴシック" pitchFamily="-65" charset="-128"/>
              </a:defRPr>
            </a:lvl7pPr>
            <a:lvl8pPr marL="3429000" indent="-228600" eaLnBrk="0" fontAlgn="base" hangingPunct="0">
              <a:spcBef>
                <a:spcPct val="20000"/>
              </a:spcBef>
              <a:spcAft>
                <a:spcPct val="0"/>
              </a:spcAft>
              <a:buChar char="»"/>
              <a:defRPr sz="2000">
                <a:solidFill>
                  <a:schemeClr val="tx1"/>
                </a:solidFill>
                <a:latin typeface="Arial" pitchFamily="34" charset="0"/>
                <a:ea typeface="ＭＳ Ｐゴシック" pitchFamily="-65" charset="-128"/>
              </a:defRPr>
            </a:lvl8pPr>
            <a:lvl9pPr marL="3886200" indent="-228600" eaLnBrk="0" fontAlgn="base" hangingPunct="0">
              <a:spcBef>
                <a:spcPct val="20000"/>
              </a:spcBef>
              <a:spcAft>
                <a:spcPct val="0"/>
              </a:spcAft>
              <a:buChar char="»"/>
              <a:defRPr sz="2000">
                <a:solidFill>
                  <a:schemeClr val="tx1"/>
                </a:solidFill>
                <a:latin typeface="Arial" pitchFamily="34" charset="0"/>
                <a:ea typeface="ＭＳ Ｐゴシック" pitchFamily="-65" charset="-128"/>
              </a:defRPr>
            </a:lvl9pPr>
          </a:lstStyle>
          <a:p>
            <a:pPr>
              <a:spcBef>
                <a:spcPct val="0"/>
              </a:spcBef>
              <a:buFontTx/>
              <a:buNone/>
            </a:pPr>
            <a:r>
              <a:rPr lang="en-US" altLang="en-US" sz="2400" dirty="0">
                <a:latin typeface="Calibri" pitchFamily="34" charset="0"/>
              </a:rPr>
              <a:t>3627</a:t>
            </a:r>
          </a:p>
        </p:txBody>
      </p:sp>
      <p:sp>
        <p:nvSpPr>
          <p:cNvPr id="40" name="Text Box 55">
            <a:extLst>
              <a:ext uri="{FF2B5EF4-FFF2-40B4-BE49-F238E27FC236}">
                <a16:creationId xmlns:a16="http://schemas.microsoft.com/office/drawing/2014/main" id="{00F6D3FE-D537-D344-1862-6E61D3AC503E}"/>
              </a:ext>
            </a:extLst>
          </p:cNvPr>
          <p:cNvSpPr txBox="1">
            <a:spLocks noChangeArrowheads="1"/>
          </p:cNvSpPr>
          <p:nvPr/>
        </p:nvSpPr>
        <p:spPr bwMode="auto">
          <a:xfrm>
            <a:off x="3464104" y="4495800"/>
            <a:ext cx="806631"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itchFamily="34" charset="0"/>
                <a:ea typeface="ＭＳ Ｐゴシック" pitchFamily="-65" charset="-128"/>
              </a:defRPr>
            </a:lvl1pPr>
            <a:lvl2pPr marL="742950" indent="-285750">
              <a:spcBef>
                <a:spcPct val="20000"/>
              </a:spcBef>
              <a:buChar char="–"/>
              <a:defRPr sz="2800">
                <a:solidFill>
                  <a:schemeClr val="tx1"/>
                </a:solidFill>
                <a:latin typeface="Arial" pitchFamily="34" charset="0"/>
                <a:ea typeface="ＭＳ Ｐゴシック" pitchFamily="-65" charset="-128"/>
              </a:defRPr>
            </a:lvl2pPr>
            <a:lvl3pPr marL="1143000" indent="-228600">
              <a:spcBef>
                <a:spcPct val="20000"/>
              </a:spcBef>
              <a:buChar char="•"/>
              <a:defRPr sz="2400">
                <a:solidFill>
                  <a:schemeClr val="tx1"/>
                </a:solidFill>
                <a:latin typeface="Arial" pitchFamily="34" charset="0"/>
                <a:ea typeface="ＭＳ Ｐゴシック" pitchFamily="-65" charset="-128"/>
              </a:defRPr>
            </a:lvl3pPr>
            <a:lvl4pPr marL="1600200" indent="-228600">
              <a:spcBef>
                <a:spcPct val="20000"/>
              </a:spcBef>
              <a:buChar char="–"/>
              <a:defRPr sz="2000">
                <a:solidFill>
                  <a:schemeClr val="tx1"/>
                </a:solidFill>
                <a:latin typeface="Arial" pitchFamily="34" charset="0"/>
                <a:ea typeface="ＭＳ Ｐゴシック" pitchFamily="-65" charset="-128"/>
              </a:defRPr>
            </a:lvl4pPr>
            <a:lvl5pPr marL="2057400" indent="-228600">
              <a:spcBef>
                <a:spcPct val="20000"/>
              </a:spcBef>
              <a:buChar char="»"/>
              <a:defRPr sz="2000">
                <a:solidFill>
                  <a:schemeClr val="tx1"/>
                </a:solidFill>
                <a:latin typeface="Arial" pitchFamily="34" charset="0"/>
                <a:ea typeface="ＭＳ Ｐゴシック" pitchFamily="-65" charset="-128"/>
              </a:defRPr>
            </a:lvl5pPr>
            <a:lvl6pPr marL="2514600" indent="-228600" eaLnBrk="0" fontAlgn="base" hangingPunct="0">
              <a:spcBef>
                <a:spcPct val="20000"/>
              </a:spcBef>
              <a:spcAft>
                <a:spcPct val="0"/>
              </a:spcAft>
              <a:buChar char="»"/>
              <a:defRPr sz="2000">
                <a:solidFill>
                  <a:schemeClr val="tx1"/>
                </a:solidFill>
                <a:latin typeface="Arial" pitchFamily="34" charset="0"/>
                <a:ea typeface="ＭＳ Ｐゴシック" pitchFamily="-65" charset="-128"/>
              </a:defRPr>
            </a:lvl6pPr>
            <a:lvl7pPr marL="2971800" indent="-228600" eaLnBrk="0" fontAlgn="base" hangingPunct="0">
              <a:spcBef>
                <a:spcPct val="20000"/>
              </a:spcBef>
              <a:spcAft>
                <a:spcPct val="0"/>
              </a:spcAft>
              <a:buChar char="»"/>
              <a:defRPr sz="2000">
                <a:solidFill>
                  <a:schemeClr val="tx1"/>
                </a:solidFill>
                <a:latin typeface="Arial" pitchFamily="34" charset="0"/>
                <a:ea typeface="ＭＳ Ｐゴシック" pitchFamily="-65" charset="-128"/>
              </a:defRPr>
            </a:lvl7pPr>
            <a:lvl8pPr marL="3429000" indent="-228600" eaLnBrk="0" fontAlgn="base" hangingPunct="0">
              <a:spcBef>
                <a:spcPct val="20000"/>
              </a:spcBef>
              <a:spcAft>
                <a:spcPct val="0"/>
              </a:spcAft>
              <a:buChar char="»"/>
              <a:defRPr sz="2000">
                <a:solidFill>
                  <a:schemeClr val="tx1"/>
                </a:solidFill>
                <a:latin typeface="Arial" pitchFamily="34" charset="0"/>
                <a:ea typeface="ＭＳ Ｐゴシック" pitchFamily="-65" charset="-128"/>
              </a:defRPr>
            </a:lvl8pPr>
            <a:lvl9pPr marL="3886200" indent="-228600" eaLnBrk="0" fontAlgn="base" hangingPunct="0">
              <a:spcBef>
                <a:spcPct val="20000"/>
              </a:spcBef>
              <a:spcAft>
                <a:spcPct val="0"/>
              </a:spcAft>
              <a:buChar char="»"/>
              <a:defRPr sz="2000">
                <a:solidFill>
                  <a:schemeClr val="tx1"/>
                </a:solidFill>
                <a:latin typeface="Arial" pitchFamily="34" charset="0"/>
                <a:ea typeface="ＭＳ Ｐゴシック" pitchFamily="-65" charset="-128"/>
              </a:defRPr>
            </a:lvl9pPr>
          </a:lstStyle>
          <a:p>
            <a:pPr>
              <a:spcBef>
                <a:spcPct val="0"/>
              </a:spcBef>
              <a:buFontTx/>
              <a:buNone/>
            </a:pPr>
            <a:r>
              <a:rPr lang="en-US" altLang="en-US" sz="2400" dirty="0">
                <a:latin typeface="Calibri" pitchFamily="34" charset="0"/>
              </a:rPr>
              <a:t>5563</a:t>
            </a:r>
          </a:p>
        </p:txBody>
      </p:sp>
    </p:spTree>
    <p:extLst>
      <p:ext uri="{BB962C8B-B14F-4D97-AF65-F5344CB8AC3E}">
        <p14:creationId xmlns:p14="http://schemas.microsoft.com/office/powerpoint/2010/main" val="860747287"/>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0" y="0"/>
            <a:ext cx="12192000" cy="762000"/>
          </a:xfrm>
          <a:prstGeom prst="rect">
            <a:avLst/>
          </a:prstGeom>
          <a:solidFill>
            <a:srgbClr val="002F7C"/>
          </a:solidFill>
        </p:spPr>
        <p:style>
          <a:lnRef idx="2">
            <a:schemeClr val="dk1">
              <a:shade val="50000"/>
            </a:schemeClr>
          </a:lnRef>
          <a:fillRef idx="1">
            <a:schemeClr val="dk1"/>
          </a:fillRef>
          <a:effectRef idx="0">
            <a:schemeClr val="dk1"/>
          </a:effectRef>
          <a:fontRef idx="minor">
            <a:schemeClr val="lt1"/>
          </a:fontRef>
        </p:style>
        <p:txBody>
          <a:bodyPr rtlCol="0" anchor="ctr"/>
          <a:lstStyle/>
          <a:p>
            <a:r>
              <a:rPr lang="zh-CN" altLang="en-US" sz="2000" b="1" dirty="0">
                <a:latin typeface="Times New Roman" panose="02020603050405020304" pitchFamily="18" charset="0"/>
                <a:ea typeface="宋体" panose="02010600030101010101" pitchFamily="2" charset="-122"/>
                <a:cs typeface="Times New Roman" panose="02020603050405020304" pitchFamily="18" charset="0"/>
              </a:rPr>
              <a:t>                </a:t>
            </a:r>
            <a:r>
              <a:rPr lang="en-US" altLang="zh-CN" sz="2400" b="1" dirty="0">
                <a:latin typeface="Trebuchet MS" panose="020B0603020202020204" pitchFamily="34" charset="0"/>
              </a:rPr>
              <a:t>Chapter 8: </a:t>
            </a:r>
            <a:r>
              <a:rPr lang="en-US" altLang="zh-CN" sz="2400" dirty="0"/>
              <a:t>INTRACTABILITY</a:t>
            </a:r>
            <a:endParaRPr lang="zh-CN" altLang="en-US" sz="2400" b="1" dirty="0">
              <a:solidFill>
                <a:srgbClr val="3D557A"/>
              </a:solidFill>
              <a:latin typeface="Trebuchet MS" panose="020B0603020202020204" pitchFamily="34" charset="0"/>
            </a:endParaRPr>
          </a:p>
        </p:txBody>
      </p:sp>
      <p:sp>
        <p:nvSpPr>
          <p:cNvPr id="13" name="矩形 12"/>
          <p:cNvSpPr/>
          <p:nvPr/>
        </p:nvSpPr>
        <p:spPr>
          <a:xfrm>
            <a:off x="824682" y="0"/>
            <a:ext cx="175443" cy="628650"/>
          </a:xfrm>
          <a:prstGeom prst="rect">
            <a:avLst/>
          </a:prstGeom>
          <a:solidFill>
            <a:srgbClr val="CFA57C"/>
          </a:solidFill>
          <a:ln cmpd="sng">
            <a:gradFill flip="none" rotWithShape="1">
              <a:gsLst>
                <a:gs pos="50000">
                  <a:schemeClr val="accent2">
                    <a:lumMod val="60000"/>
                    <a:lumOff val="40000"/>
                  </a:schemeClr>
                </a:gs>
                <a:gs pos="0">
                  <a:schemeClr val="accent2">
                    <a:lumMod val="20000"/>
                    <a:lumOff val="80000"/>
                  </a:schemeClr>
                </a:gs>
                <a:gs pos="95000">
                  <a:schemeClr val="accent2"/>
                </a:gs>
              </a:gsLst>
              <a:path path="circle">
                <a:fillToRect l="50000" t="-80000" r="50000" b="180000"/>
              </a:path>
              <a:tileRect/>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22" name="Picture 6" descr="D:\MBA工作\LOGO\同济经管LOGO反白.png"/>
          <p:cNvPicPr>
            <a:picLocks noChangeAspect="1" noChangeArrowheads="1"/>
          </p:cNvPicPr>
          <p:nvPr/>
        </p:nvPicPr>
        <p:blipFill>
          <a:blip r:embed="rId3" cstate="email">
            <a:extLst>
              <a:ext uri="{28A0092B-C50C-407E-A947-70E740481C1C}">
                <a14:useLocalDpi xmlns:a14="http://schemas.microsoft.com/office/drawing/2010/main" val="0"/>
              </a:ext>
            </a:extLst>
          </a:blip>
          <a:srcRect/>
          <a:stretch>
            <a:fillRect/>
          </a:stretch>
        </p:blipFill>
        <p:spPr bwMode="auto">
          <a:xfrm>
            <a:off x="10267423" y="165688"/>
            <a:ext cx="1386605" cy="462962"/>
          </a:xfrm>
          <a:prstGeom prst="rect">
            <a:avLst/>
          </a:prstGeom>
          <a:noFill/>
          <a:extLst>
            <a:ext uri="{909E8E84-426E-40DD-AFC4-6F175D3DCCD1}">
              <a14:hiddenFill xmlns:a14="http://schemas.microsoft.com/office/drawing/2010/main">
                <a:solidFill>
                  <a:srgbClr val="FFFFFF"/>
                </a:solidFill>
              </a14:hiddenFill>
            </a:ext>
          </a:extLst>
        </p:spPr>
      </p:pic>
      <p:pic>
        <p:nvPicPr>
          <p:cNvPr id="2" name="图片 1" descr="微信图片_20220318113523"/>
          <p:cNvPicPr>
            <a:picLocks noChangeAspect="1"/>
          </p:cNvPicPr>
          <p:nvPr userDrawn="1"/>
        </p:nvPicPr>
        <p:blipFill>
          <a:blip r:embed="rId4"/>
          <a:stretch>
            <a:fillRect/>
          </a:stretch>
        </p:blipFill>
        <p:spPr>
          <a:xfrm>
            <a:off x="9291877" y="6115050"/>
            <a:ext cx="2244725" cy="361315"/>
          </a:xfrm>
          <a:prstGeom prst="rect">
            <a:avLst/>
          </a:prstGeom>
        </p:spPr>
      </p:pic>
      <p:sp>
        <p:nvSpPr>
          <p:cNvPr id="18" name="Rectangle 2">
            <a:extLst>
              <a:ext uri="{FF2B5EF4-FFF2-40B4-BE49-F238E27FC236}">
                <a16:creationId xmlns:a16="http://schemas.microsoft.com/office/drawing/2014/main" id="{E217C615-1D49-4D07-B850-D36106D7AA9A}"/>
              </a:ext>
            </a:extLst>
          </p:cNvPr>
          <p:cNvSpPr>
            <a:spLocks noChangeArrowheads="1"/>
          </p:cNvSpPr>
          <p:nvPr/>
        </p:nvSpPr>
        <p:spPr bwMode="auto">
          <a:xfrm>
            <a:off x="1000125" y="815365"/>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8" name="Rectangle 3">
            <a:extLst>
              <a:ext uri="{FF2B5EF4-FFF2-40B4-BE49-F238E27FC236}">
                <a16:creationId xmlns:a16="http://schemas.microsoft.com/office/drawing/2014/main" id="{97F08C45-3D15-45C1-A5A3-D1EB58DC91FE}"/>
              </a:ext>
            </a:extLst>
          </p:cNvPr>
          <p:cNvSpPr txBox="1">
            <a:spLocks noChangeArrowheads="1"/>
          </p:cNvSpPr>
          <p:nvPr/>
        </p:nvSpPr>
        <p:spPr>
          <a:xfrm>
            <a:off x="824681" y="765175"/>
            <a:ext cx="8798289" cy="5788025"/>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indent="1828800">
              <a:lnSpc>
                <a:spcPct val="130000"/>
              </a:lnSpc>
              <a:spcBef>
                <a:spcPts val="600"/>
              </a:spcBef>
              <a:buNone/>
            </a:pPr>
            <a:endParaRPr lang="en-US" altLang="zh-CN" sz="2400" b="1" dirty="0">
              <a:latin typeface="Trebuchet MS" panose="020B0603020202020204" pitchFamily="34" charset="0"/>
            </a:endParaRPr>
          </a:p>
        </p:txBody>
      </p:sp>
      <p:grpSp>
        <p:nvGrpSpPr>
          <p:cNvPr id="3" name="Group 3">
            <a:extLst>
              <a:ext uri="{FF2B5EF4-FFF2-40B4-BE49-F238E27FC236}">
                <a16:creationId xmlns:a16="http://schemas.microsoft.com/office/drawing/2014/main" id="{ED358844-935F-AE5A-37D6-23A6ACB633C4}"/>
              </a:ext>
            </a:extLst>
          </p:cNvPr>
          <p:cNvGrpSpPr>
            <a:grpSpLocks/>
          </p:cNvGrpSpPr>
          <p:nvPr/>
        </p:nvGrpSpPr>
        <p:grpSpPr bwMode="auto">
          <a:xfrm>
            <a:off x="457200" y="1236663"/>
            <a:ext cx="8218488" cy="180975"/>
            <a:chOff x="295" y="1311"/>
            <a:chExt cx="5177" cy="114"/>
          </a:xfrm>
        </p:grpSpPr>
        <p:sp>
          <p:nvSpPr>
            <p:cNvPr id="4" name="Rectangle 4">
              <a:extLst>
                <a:ext uri="{FF2B5EF4-FFF2-40B4-BE49-F238E27FC236}">
                  <a16:creationId xmlns:a16="http://schemas.microsoft.com/office/drawing/2014/main" id="{C66485DE-C33F-FA7B-A71C-851C19710561}"/>
                </a:ext>
              </a:extLst>
            </p:cNvPr>
            <p:cNvSpPr>
              <a:spLocks noChangeArrowheads="1"/>
            </p:cNvSpPr>
            <p:nvPr/>
          </p:nvSpPr>
          <p:spPr bwMode="auto">
            <a:xfrm>
              <a:off x="295" y="1311"/>
              <a:ext cx="5177" cy="48"/>
            </a:xfrm>
            <a:prstGeom prst="rect">
              <a:avLst/>
            </a:prstGeom>
            <a:solidFill>
              <a:srgbClr val="33CCFF"/>
            </a:solidFill>
            <a:ln w="9525">
              <a:solidFill>
                <a:schemeClr val="tx1"/>
              </a:solidFill>
              <a:miter lim="800000"/>
              <a:headEnd/>
              <a:tailEnd/>
            </a:ln>
          </p:spPr>
          <p:txBody>
            <a:bodyPr wrap="none" anchor="ctr"/>
            <a:lstStyle>
              <a:lvl1pPr defTabSz="457200">
                <a:spcBef>
                  <a:spcPct val="20000"/>
                </a:spcBef>
                <a:buFont typeface="Arial" pitchFamily="34" charset="0"/>
                <a:buChar char="•"/>
                <a:defRPr sz="3200">
                  <a:solidFill>
                    <a:schemeClr val="tx1"/>
                  </a:solidFill>
                  <a:latin typeface="Calibri" pitchFamily="34" charset="0"/>
                  <a:ea typeface="ＭＳ Ｐゴシック" pitchFamily="-65" charset="-128"/>
                </a:defRPr>
              </a:lvl1pPr>
              <a:lvl2pPr marL="742950" indent="-285750" defTabSz="457200">
                <a:spcBef>
                  <a:spcPct val="20000"/>
                </a:spcBef>
                <a:buFont typeface="Arial" pitchFamily="34" charset="0"/>
                <a:buChar char="–"/>
                <a:defRPr sz="2800">
                  <a:solidFill>
                    <a:schemeClr val="tx1"/>
                  </a:solidFill>
                  <a:latin typeface="Calibri" pitchFamily="34" charset="0"/>
                  <a:ea typeface="ＭＳ Ｐゴシック" pitchFamily="-65" charset="-128"/>
                </a:defRPr>
              </a:lvl2pPr>
              <a:lvl3pPr marL="1143000" indent="-228600" defTabSz="457200">
                <a:spcBef>
                  <a:spcPct val="20000"/>
                </a:spcBef>
                <a:buFont typeface="Arial" pitchFamily="34" charset="0"/>
                <a:buChar char="•"/>
                <a:defRPr sz="2400">
                  <a:solidFill>
                    <a:schemeClr val="tx1"/>
                  </a:solidFill>
                  <a:latin typeface="Calibri" pitchFamily="34" charset="0"/>
                  <a:ea typeface="ＭＳ Ｐゴシック" pitchFamily="-65" charset="-128"/>
                </a:defRPr>
              </a:lvl3pPr>
              <a:lvl4pPr marL="1600200" indent="-228600" defTabSz="457200">
                <a:spcBef>
                  <a:spcPct val="20000"/>
                </a:spcBef>
                <a:buFont typeface="Arial" pitchFamily="34" charset="0"/>
                <a:buChar char="–"/>
                <a:defRPr sz="2000">
                  <a:solidFill>
                    <a:schemeClr val="tx1"/>
                  </a:solidFill>
                  <a:latin typeface="Calibri" pitchFamily="34" charset="0"/>
                  <a:ea typeface="ＭＳ Ｐゴシック" pitchFamily="-65" charset="-128"/>
                </a:defRPr>
              </a:lvl4pPr>
              <a:lvl5pPr marL="2057400" indent="-228600" defTabSz="457200">
                <a:spcBef>
                  <a:spcPct val="20000"/>
                </a:spcBef>
                <a:buFont typeface="Arial" pitchFamily="34" charset="0"/>
                <a:buChar char="»"/>
                <a:defRPr sz="2000">
                  <a:solidFill>
                    <a:schemeClr val="tx1"/>
                  </a:solidFill>
                  <a:latin typeface="Calibri" pitchFamily="34" charset="0"/>
                  <a:ea typeface="ＭＳ Ｐゴシック" pitchFamily="-65" charset="-128"/>
                </a:defRPr>
              </a:lvl5pPr>
              <a:lvl6pPr marL="2514600" indent="-228600" defTabSz="457200" eaLnBrk="0" fontAlgn="base" hangingPunct="0">
                <a:spcBef>
                  <a:spcPct val="20000"/>
                </a:spcBef>
                <a:spcAft>
                  <a:spcPct val="0"/>
                </a:spcAft>
                <a:buFont typeface="Arial" pitchFamily="34" charset="0"/>
                <a:buChar char="»"/>
                <a:defRPr sz="2000">
                  <a:solidFill>
                    <a:schemeClr val="tx1"/>
                  </a:solidFill>
                  <a:latin typeface="Calibri" pitchFamily="34" charset="0"/>
                  <a:ea typeface="ＭＳ Ｐゴシック" pitchFamily="-65" charset="-128"/>
                </a:defRPr>
              </a:lvl6pPr>
              <a:lvl7pPr marL="2971800" indent="-228600" defTabSz="457200" eaLnBrk="0" fontAlgn="base" hangingPunct="0">
                <a:spcBef>
                  <a:spcPct val="20000"/>
                </a:spcBef>
                <a:spcAft>
                  <a:spcPct val="0"/>
                </a:spcAft>
                <a:buFont typeface="Arial" pitchFamily="34" charset="0"/>
                <a:buChar char="»"/>
                <a:defRPr sz="2000">
                  <a:solidFill>
                    <a:schemeClr val="tx1"/>
                  </a:solidFill>
                  <a:latin typeface="Calibri" pitchFamily="34" charset="0"/>
                  <a:ea typeface="ＭＳ Ｐゴシック" pitchFamily="-65" charset="-128"/>
                </a:defRPr>
              </a:lvl7pPr>
              <a:lvl8pPr marL="3429000" indent="-228600" defTabSz="457200" eaLnBrk="0" fontAlgn="base" hangingPunct="0">
                <a:spcBef>
                  <a:spcPct val="20000"/>
                </a:spcBef>
                <a:spcAft>
                  <a:spcPct val="0"/>
                </a:spcAft>
                <a:buFont typeface="Arial" pitchFamily="34" charset="0"/>
                <a:buChar char="»"/>
                <a:defRPr sz="2000">
                  <a:solidFill>
                    <a:schemeClr val="tx1"/>
                  </a:solidFill>
                  <a:latin typeface="Calibri" pitchFamily="34" charset="0"/>
                  <a:ea typeface="ＭＳ Ｐゴシック" pitchFamily="-65" charset="-128"/>
                </a:defRPr>
              </a:lvl8pPr>
              <a:lvl9pPr marL="3886200" indent="-228600" defTabSz="457200" eaLnBrk="0" fontAlgn="base" hangingPunct="0">
                <a:spcBef>
                  <a:spcPct val="20000"/>
                </a:spcBef>
                <a:spcAft>
                  <a:spcPct val="0"/>
                </a:spcAft>
                <a:buFont typeface="Arial" pitchFamily="34" charset="0"/>
                <a:buChar char="»"/>
                <a:defRPr sz="2000">
                  <a:solidFill>
                    <a:schemeClr val="tx1"/>
                  </a:solidFill>
                  <a:latin typeface="Calibri" pitchFamily="34" charset="0"/>
                  <a:ea typeface="ＭＳ Ｐゴシック" pitchFamily="-65" charset="-128"/>
                </a:defRPr>
              </a:lvl9pPr>
            </a:lstStyle>
            <a:p>
              <a:pPr eaLnBrk="1" hangingPunct="1">
                <a:spcBef>
                  <a:spcPct val="0"/>
                </a:spcBef>
                <a:buFontTx/>
                <a:buNone/>
              </a:pPr>
              <a:endParaRPr lang="en-US" altLang="en-US" sz="1800">
                <a:solidFill>
                  <a:srgbClr val="000000"/>
                </a:solidFill>
              </a:endParaRPr>
            </a:p>
          </p:txBody>
        </p:sp>
        <p:sp>
          <p:nvSpPr>
            <p:cNvPr id="5" name="Rectangle 5">
              <a:extLst>
                <a:ext uri="{FF2B5EF4-FFF2-40B4-BE49-F238E27FC236}">
                  <a16:creationId xmlns:a16="http://schemas.microsoft.com/office/drawing/2014/main" id="{A279DB9A-B2EF-E506-8EE4-68C14E0D994F}"/>
                </a:ext>
              </a:extLst>
            </p:cNvPr>
            <p:cNvSpPr>
              <a:spLocks noChangeArrowheads="1"/>
            </p:cNvSpPr>
            <p:nvPr/>
          </p:nvSpPr>
          <p:spPr bwMode="auto">
            <a:xfrm>
              <a:off x="295" y="1377"/>
              <a:ext cx="5177" cy="48"/>
            </a:xfrm>
            <a:prstGeom prst="rect">
              <a:avLst/>
            </a:prstGeom>
            <a:solidFill>
              <a:srgbClr val="33CCFF"/>
            </a:solidFill>
            <a:ln w="9525">
              <a:solidFill>
                <a:schemeClr val="tx1"/>
              </a:solidFill>
              <a:miter lim="800000"/>
              <a:headEnd/>
              <a:tailEnd/>
            </a:ln>
          </p:spPr>
          <p:txBody>
            <a:bodyPr wrap="none" anchor="ctr"/>
            <a:lstStyle>
              <a:lvl1pPr defTabSz="457200">
                <a:spcBef>
                  <a:spcPct val="20000"/>
                </a:spcBef>
                <a:buFont typeface="Arial" pitchFamily="34" charset="0"/>
                <a:buChar char="•"/>
                <a:defRPr sz="3200">
                  <a:solidFill>
                    <a:schemeClr val="tx1"/>
                  </a:solidFill>
                  <a:latin typeface="Calibri" pitchFamily="34" charset="0"/>
                  <a:ea typeface="ＭＳ Ｐゴシック" pitchFamily="-65" charset="-128"/>
                </a:defRPr>
              </a:lvl1pPr>
              <a:lvl2pPr marL="742950" indent="-285750" defTabSz="457200">
                <a:spcBef>
                  <a:spcPct val="20000"/>
                </a:spcBef>
                <a:buFont typeface="Arial" pitchFamily="34" charset="0"/>
                <a:buChar char="–"/>
                <a:defRPr sz="2800">
                  <a:solidFill>
                    <a:schemeClr val="tx1"/>
                  </a:solidFill>
                  <a:latin typeface="Calibri" pitchFamily="34" charset="0"/>
                  <a:ea typeface="ＭＳ Ｐゴシック" pitchFamily="-65" charset="-128"/>
                </a:defRPr>
              </a:lvl2pPr>
              <a:lvl3pPr marL="1143000" indent="-228600" defTabSz="457200">
                <a:spcBef>
                  <a:spcPct val="20000"/>
                </a:spcBef>
                <a:buFont typeface="Arial" pitchFamily="34" charset="0"/>
                <a:buChar char="•"/>
                <a:defRPr sz="2400">
                  <a:solidFill>
                    <a:schemeClr val="tx1"/>
                  </a:solidFill>
                  <a:latin typeface="Calibri" pitchFamily="34" charset="0"/>
                  <a:ea typeface="ＭＳ Ｐゴシック" pitchFamily="-65" charset="-128"/>
                </a:defRPr>
              </a:lvl3pPr>
              <a:lvl4pPr marL="1600200" indent="-228600" defTabSz="457200">
                <a:spcBef>
                  <a:spcPct val="20000"/>
                </a:spcBef>
                <a:buFont typeface="Arial" pitchFamily="34" charset="0"/>
                <a:buChar char="–"/>
                <a:defRPr sz="2000">
                  <a:solidFill>
                    <a:schemeClr val="tx1"/>
                  </a:solidFill>
                  <a:latin typeface="Calibri" pitchFamily="34" charset="0"/>
                  <a:ea typeface="ＭＳ Ｐゴシック" pitchFamily="-65" charset="-128"/>
                </a:defRPr>
              </a:lvl4pPr>
              <a:lvl5pPr marL="2057400" indent="-228600" defTabSz="457200">
                <a:spcBef>
                  <a:spcPct val="20000"/>
                </a:spcBef>
                <a:buFont typeface="Arial" pitchFamily="34" charset="0"/>
                <a:buChar char="»"/>
                <a:defRPr sz="2000">
                  <a:solidFill>
                    <a:schemeClr val="tx1"/>
                  </a:solidFill>
                  <a:latin typeface="Calibri" pitchFamily="34" charset="0"/>
                  <a:ea typeface="ＭＳ Ｐゴシック" pitchFamily="-65" charset="-128"/>
                </a:defRPr>
              </a:lvl5pPr>
              <a:lvl6pPr marL="2514600" indent="-228600" defTabSz="457200" eaLnBrk="0" fontAlgn="base" hangingPunct="0">
                <a:spcBef>
                  <a:spcPct val="20000"/>
                </a:spcBef>
                <a:spcAft>
                  <a:spcPct val="0"/>
                </a:spcAft>
                <a:buFont typeface="Arial" pitchFamily="34" charset="0"/>
                <a:buChar char="»"/>
                <a:defRPr sz="2000">
                  <a:solidFill>
                    <a:schemeClr val="tx1"/>
                  </a:solidFill>
                  <a:latin typeface="Calibri" pitchFamily="34" charset="0"/>
                  <a:ea typeface="ＭＳ Ｐゴシック" pitchFamily="-65" charset="-128"/>
                </a:defRPr>
              </a:lvl6pPr>
              <a:lvl7pPr marL="2971800" indent="-228600" defTabSz="457200" eaLnBrk="0" fontAlgn="base" hangingPunct="0">
                <a:spcBef>
                  <a:spcPct val="20000"/>
                </a:spcBef>
                <a:spcAft>
                  <a:spcPct val="0"/>
                </a:spcAft>
                <a:buFont typeface="Arial" pitchFamily="34" charset="0"/>
                <a:buChar char="»"/>
                <a:defRPr sz="2000">
                  <a:solidFill>
                    <a:schemeClr val="tx1"/>
                  </a:solidFill>
                  <a:latin typeface="Calibri" pitchFamily="34" charset="0"/>
                  <a:ea typeface="ＭＳ Ｐゴシック" pitchFamily="-65" charset="-128"/>
                </a:defRPr>
              </a:lvl7pPr>
              <a:lvl8pPr marL="3429000" indent="-228600" defTabSz="457200" eaLnBrk="0" fontAlgn="base" hangingPunct="0">
                <a:spcBef>
                  <a:spcPct val="20000"/>
                </a:spcBef>
                <a:spcAft>
                  <a:spcPct val="0"/>
                </a:spcAft>
                <a:buFont typeface="Arial" pitchFamily="34" charset="0"/>
                <a:buChar char="»"/>
                <a:defRPr sz="2000">
                  <a:solidFill>
                    <a:schemeClr val="tx1"/>
                  </a:solidFill>
                  <a:latin typeface="Calibri" pitchFamily="34" charset="0"/>
                  <a:ea typeface="ＭＳ Ｐゴシック" pitchFamily="-65" charset="-128"/>
                </a:defRPr>
              </a:lvl8pPr>
              <a:lvl9pPr marL="3886200" indent="-228600" defTabSz="457200" eaLnBrk="0" fontAlgn="base" hangingPunct="0">
                <a:spcBef>
                  <a:spcPct val="20000"/>
                </a:spcBef>
                <a:spcAft>
                  <a:spcPct val="0"/>
                </a:spcAft>
                <a:buFont typeface="Arial" pitchFamily="34" charset="0"/>
                <a:buChar char="»"/>
                <a:defRPr sz="2000">
                  <a:solidFill>
                    <a:schemeClr val="tx1"/>
                  </a:solidFill>
                  <a:latin typeface="Calibri" pitchFamily="34" charset="0"/>
                  <a:ea typeface="ＭＳ Ｐゴシック" pitchFamily="-65" charset="-128"/>
                </a:defRPr>
              </a:lvl9pPr>
            </a:lstStyle>
            <a:p>
              <a:pPr eaLnBrk="1" hangingPunct="1">
                <a:spcBef>
                  <a:spcPct val="0"/>
                </a:spcBef>
                <a:buFontTx/>
                <a:buNone/>
              </a:pPr>
              <a:endParaRPr lang="en-US" altLang="en-US" sz="1800">
                <a:solidFill>
                  <a:srgbClr val="000000"/>
                </a:solidFill>
              </a:endParaRPr>
            </a:p>
          </p:txBody>
        </p:sp>
      </p:grpSp>
      <p:sp>
        <p:nvSpPr>
          <p:cNvPr id="6" name="Oval 15">
            <a:extLst>
              <a:ext uri="{FF2B5EF4-FFF2-40B4-BE49-F238E27FC236}">
                <a16:creationId xmlns:a16="http://schemas.microsoft.com/office/drawing/2014/main" id="{872B7052-3BBA-A689-2CD5-DA2A4ED7CE5B}"/>
              </a:ext>
            </a:extLst>
          </p:cNvPr>
          <p:cNvSpPr>
            <a:spLocks noChangeArrowheads="1"/>
          </p:cNvSpPr>
          <p:nvPr/>
        </p:nvSpPr>
        <p:spPr bwMode="auto">
          <a:xfrm>
            <a:off x="2549525" y="3248025"/>
            <a:ext cx="228600" cy="228600"/>
          </a:xfrm>
          <a:prstGeom prst="ellipse">
            <a:avLst/>
          </a:prstGeom>
          <a:solidFill>
            <a:schemeClr val="accent1"/>
          </a:solidFill>
          <a:ln w="9525">
            <a:solidFill>
              <a:schemeClr val="tx1"/>
            </a:solidFill>
            <a:round/>
            <a:headEnd/>
            <a:tailEnd/>
          </a:ln>
        </p:spPr>
        <p:txBody>
          <a:bodyPr/>
          <a:lstStyle>
            <a:lvl1pPr defTabSz="457200">
              <a:spcBef>
                <a:spcPct val="20000"/>
              </a:spcBef>
              <a:buFont typeface="Arial" pitchFamily="34" charset="0"/>
              <a:buChar char="•"/>
              <a:defRPr sz="3200">
                <a:solidFill>
                  <a:schemeClr val="tx1"/>
                </a:solidFill>
                <a:latin typeface="Calibri" pitchFamily="34" charset="0"/>
                <a:ea typeface="ＭＳ Ｐゴシック" pitchFamily="-65" charset="-128"/>
              </a:defRPr>
            </a:lvl1pPr>
            <a:lvl2pPr marL="742950" indent="-285750" defTabSz="457200">
              <a:spcBef>
                <a:spcPct val="20000"/>
              </a:spcBef>
              <a:buFont typeface="Arial" pitchFamily="34" charset="0"/>
              <a:buChar char="–"/>
              <a:defRPr sz="2800">
                <a:solidFill>
                  <a:schemeClr val="tx1"/>
                </a:solidFill>
                <a:latin typeface="Calibri" pitchFamily="34" charset="0"/>
                <a:ea typeface="ＭＳ Ｐゴシック" pitchFamily="-65" charset="-128"/>
              </a:defRPr>
            </a:lvl2pPr>
            <a:lvl3pPr marL="1143000" indent="-228600" defTabSz="457200">
              <a:spcBef>
                <a:spcPct val="20000"/>
              </a:spcBef>
              <a:buFont typeface="Arial" pitchFamily="34" charset="0"/>
              <a:buChar char="•"/>
              <a:defRPr sz="2400">
                <a:solidFill>
                  <a:schemeClr val="tx1"/>
                </a:solidFill>
                <a:latin typeface="Calibri" pitchFamily="34" charset="0"/>
                <a:ea typeface="ＭＳ Ｐゴシック" pitchFamily="-65" charset="-128"/>
              </a:defRPr>
            </a:lvl3pPr>
            <a:lvl4pPr marL="1600200" indent="-228600" defTabSz="457200">
              <a:spcBef>
                <a:spcPct val="20000"/>
              </a:spcBef>
              <a:buFont typeface="Arial" pitchFamily="34" charset="0"/>
              <a:buChar char="–"/>
              <a:defRPr sz="2000">
                <a:solidFill>
                  <a:schemeClr val="tx1"/>
                </a:solidFill>
                <a:latin typeface="Calibri" pitchFamily="34" charset="0"/>
                <a:ea typeface="ＭＳ Ｐゴシック" pitchFamily="-65" charset="-128"/>
              </a:defRPr>
            </a:lvl4pPr>
            <a:lvl5pPr marL="2057400" indent="-228600" defTabSz="457200">
              <a:spcBef>
                <a:spcPct val="20000"/>
              </a:spcBef>
              <a:buFont typeface="Arial" pitchFamily="34" charset="0"/>
              <a:buChar char="»"/>
              <a:defRPr sz="2000">
                <a:solidFill>
                  <a:schemeClr val="tx1"/>
                </a:solidFill>
                <a:latin typeface="Calibri" pitchFamily="34" charset="0"/>
                <a:ea typeface="ＭＳ Ｐゴシック" pitchFamily="-65" charset="-128"/>
              </a:defRPr>
            </a:lvl5pPr>
            <a:lvl6pPr marL="2514600" indent="-228600" defTabSz="457200" eaLnBrk="0" fontAlgn="base" hangingPunct="0">
              <a:spcBef>
                <a:spcPct val="20000"/>
              </a:spcBef>
              <a:spcAft>
                <a:spcPct val="0"/>
              </a:spcAft>
              <a:buFont typeface="Arial" pitchFamily="34" charset="0"/>
              <a:buChar char="»"/>
              <a:defRPr sz="2000">
                <a:solidFill>
                  <a:schemeClr val="tx1"/>
                </a:solidFill>
                <a:latin typeface="Calibri" pitchFamily="34" charset="0"/>
                <a:ea typeface="ＭＳ Ｐゴシック" pitchFamily="-65" charset="-128"/>
              </a:defRPr>
            </a:lvl6pPr>
            <a:lvl7pPr marL="2971800" indent="-228600" defTabSz="457200" eaLnBrk="0" fontAlgn="base" hangingPunct="0">
              <a:spcBef>
                <a:spcPct val="20000"/>
              </a:spcBef>
              <a:spcAft>
                <a:spcPct val="0"/>
              </a:spcAft>
              <a:buFont typeface="Arial" pitchFamily="34" charset="0"/>
              <a:buChar char="»"/>
              <a:defRPr sz="2000">
                <a:solidFill>
                  <a:schemeClr val="tx1"/>
                </a:solidFill>
                <a:latin typeface="Calibri" pitchFamily="34" charset="0"/>
                <a:ea typeface="ＭＳ Ｐゴシック" pitchFamily="-65" charset="-128"/>
              </a:defRPr>
            </a:lvl7pPr>
            <a:lvl8pPr marL="3429000" indent="-228600" defTabSz="457200" eaLnBrk="0" fontAlgn="base" hangingPunct="0">
              <a:spcBef>
                <a:spcPct val="20000"/>
              </a:spcBef>
              <a:spcAft>
                <a:spcPct val="0"/>
              </a:spcAft>
              <a:buFont typeface="Arial" pitchFamily="34" charset="0"/>
              <a:buChar char="»"/>
              <a:defRPr sz="2000">
                <a:solidFill>
                  <a:schemeClr val="tx1"/>
                </a:solidFill>
                <a:latin typeface="Calibri" pitchFamily="34" charset="0"/>
                <a:ea typeface="ＭＳ Ｐゴシック" pitchFamily="-65" charset="-128"/>
              </a:defRPr>
            </a:lvl8pPr>
            <a:lvl9pPr marL="3886200" indent="-228600" defTabSz="457200" eaLnBrk="0" fontAlgn="base" hangingPunct="0">
              <a:spcBef>
                <a:spcPct val="20000"/>
              </a:spcBef>
              <a:spcAft>
                <a:spcPct val="0"/>
              </a:spcAft>
              <a:buFont typeface="Arial" pitchFamily="34" charset="0"/>
              <a:buChar char="»"/>
              <a:defRPr sz="2000">
                <a:solidFill>
                  <a:schemeClr val="tx1"/>
                </a:solidFill>
                <a:latin typeface="Calibri" pitchFamily="34" charset="0"/>
                <a:ea typeface="ＭＳ Ｐゴシック" pitchFamily="-65" charset="-128"/>
              </a:defRPr>
            </a:lvl9pPr>
          </a:lstStyle>
          <a:p>
            <a:pPr eaLnBrk="1" hangingPunct="1">
              <a:spcBef>
                <a:spcPct val="0"/>
              </a:spcBef>
              <a:buFontTx/>
              <a:buNone/>
            </a:pPr>
            <a:endParaRPr lang="en-US" altLang="en-US" sz="1800">
              <a:solidFill>
                <a:srgbClr val="000000"/>
              </a:solidFill>
            </a:endParaRPr>
          </a:p>
        </p:txBody>
      </p:sp>
      <p:sp>
        <p:nvSpPr>
          <p:cNvPr id="7" name="Oval 15">
            <a:extLst>
              <a:ext uri="{FF2B5EF4-FFF2-40B4-BE49-F238E27FC236}">
                <a16:creationId xmlns:a16="http://schemas.microsoft.com/office/drawing/2014/main" id="{6A99C0C4-A28F-61BA-FF99-5E4FAD24777E}"/>
              </a:ext>
            </a:extLst>
          </p:cNvPr>
          <p:cNvSpPr>
            <a:spLocks noChangeArrowheads="1"/>
          </p:cNvSpPr>
          <p:nvPr/>
        </p:nvSpPr>
        <p:spPr bwMode="auto">
          <a:xfrm>
            <a:off x="4510088" y="1874838"/>
            <a:ext cx="228600" cy="228600"/>
          </a:xfrm>
          <a:prstGeom prst="ellipse">
            <a:avLst/>
          </a:prstGeom>
          <a:solidFill>
            <a:schemeClr val="accent1"/>
          </a:solidFill>
          <a:ln w="9525">
            <a:solidFill>
              <a:schemeClr val="tx1"/>
            </a:solidFill>
            <a:round/>
            <a:headEnd/>
            <a:tailEnd/>
          </a:ln>
        </p:spPr>
        <p:txBody>
          <a:bodyPr/>
          <a:lstStyle>
            <a:lvl1pPr defTabSz="457200">
              <a:spcBef>
                <a:spcPct val="20000"/>
              </a:spcBef>
              <a:buFont typeface="Arial" pitchFamily="34" charset="0"/>
              <a:buChar char="•"/>
              <a:defRPr sz="3200">
                <a:solidFill>
                  <a:schemeClr val="tx1"/>
                </a:solidFill>
                <a:latin typeface="Calibri" pitchFamily="34" charset="0"/>
                <a:ea typeface="ＭＳ Ｐゴシック" pitchFamily="-65" charset="-128"/>
              </a:defRPr>
            </a:lvl1pPr>
            <a:lvl2pPr marL="742950" indent="-285750" defTabSz="457200">
              <a:spcBef>
                <a:spcPct val="20000"/>
              </a:spcBef>
              <a:buFont typeface="Arial" pitchFamily="34" charset="0"/>
              <a:buChar char="–"/>
              <a:defRPr sz="2800">
                <a:solidFill>
                  <a:schemeClr val="tx1"/>
                </a:solidFill>
                <a:latin typeface="Calibri" pitchFamily="34" charset="0"/>
                <a:ea typeface="ＭＳ Ｐゴシック" pitchFamily="-65" charset="-128"/>
              </a:defRPr>
            </a:lvl2pPr>
            <a:lvl3pPr marL="1143000" indent="-228600" defTabSz="457200">
              <a:spcBef>
                <a:spcPct val="20000"/>
              </a:spcBef>
              <a:buFont typeface="Arial" pitchFamily="34" charset="0"/>
              <a:buChar char="•"/>
              <a:defRPr sz="2400">
                <a:solidFill>
                  <a:schemeClr val="tx1"/>
                </a:solidFill>
                <a:latin typeface="Calibri" pitchFamily="34" charset="0"/>
                <a:ea typeface="ＭＳ Ｐゴシック" pitchFamily="-65" charset="-128"/>
              </a:defRPr>
            </a:lvl3pPr>
            <a:lvl4pPr marL="1600200" indent="-228600" defTabSz="457200">
              <a:spcBef>
                <a:spcPct val="20000"/>
              </a:spcBef>
              <a:buFont typeface="Arial" pitchFamily="34" charset="0"/>
              <a:buChar char="–"/>
              <a:defRPr sz="2000">
                <a:solidFill>
                  <a:schemeClr val="tx1"/>
                </a:solidFill>
                <a:latin typeface="Calibri" pitchFamily="34" charset="0"/>
                <a:ea typeface="ＭＳ Ｐゴシック" pitchFamily="-65" charset="-128"/>
              </a:defRPr>
            </a:lvl4pPr>
            <a:lvl5pPr marL="2057400" indent="-228600" defTabSz="457200">
              <a:spcBef>
                <a:spcPct val="20000"/>
              </a:spcBef>
              <a:buFont typeface="Arial" pitchFamily="34" charset="0"/>
              <a:buChar char="»"/>
              <a:defRPr sz="2000">
                <a:solidFill>
                  <a:schemeClr val="tx1"/>
                </a:solidFill>
                <a:latin typeface="Calibri" pitchFamily="34" charset="0"/>
                <a:ea typeface="ＭＳ Ｐゴシック" pitchFamily="-65" charset="-128"/>
              </a:defRPr>
            </a:lvl5pPr>
            <a:lvl6pPr marL="2514600" indent="-228600" defTabSz="457200" eaLnBrk="0" fontAlgn="base" hangingPunct="0">
              <a:spcBef>
                <a:spcPct val="20000"/>
              </a:spcBef>
              <a:spcAft>
                <a:spcPct val="0"/>
              </a:spcAft>
              <a:buFont typeface="Arial" pitchFamily="34" charset="0"/>
              <a:buChar char="»"/>
              <a:defRPr sz="2000">
                <a:solidFill>
                  <a:schemeClr val="tx1"/>
                </a:solidFill>
                <a:latin typeface="Calibri" pitchFamily="34" charset="0"/>
                <a:ea typeface="ＭＳ Ｐゴシック" pitchFamily="-65" charset="-128"/>
              </a:defRPr>
            </a:lvl6pPr>
            <a:lvl7pPr marL="2971800" indent="-228600" defTabSz="457200" eaLnBrk="0" fontAlgn="base" hangingPunct="0">
              <a:spcBef>
                <a:spcPct val="20000"/>
              </a:spcBef>
              <a:spcAft>
                <a:spcPct val="0"/>
              </a:spcAft>
              <a:buFont typeface="Arial" pitchFamily="34" charset="0"/>
              <a:buChar char="»"/>
              <a:defRPr sz="2000">
                <a:solidFill>
                  <a:schemeClr val="tx1"/>
                </a:solidFill>
                <a:latin typeface="Calibri" pitchFamily="34" charset="0"/>
                <a:ea typeface="ＭＳ Ｐゴシック" pitchFamily="-65" charset="-128"/>
              </a:defRPr>
            </a:lvl7pPr>
            <a:lvl8pPr marL="3429000" indent="-228600" defTabSz="457200" eaLnBrk="0" fontAlgn="base" hangingPunct="0">
              <a:spcBef>
                <a:spcPct val="20000"/>
              </a:spcBef>
              <a:spcAft>
                <a:spcPct val="0"/>
              </a:spcAft>
              <a:buFont typeface="Arial" pitchFamily="34" charset="0"/>
              <a:buChar char="»"/>
              <a:defRPr sz="2000">
                <a:solidFill>
                  <a:schemeClr val="tx1"/>
                </a:solidFill>
                <a:latin typeface="Calibri" pitchFamily="34" charset="0"/>
                <a:ea typeface="ＭＳ Ｐゴシック" pitchFamily="-65" charset="-128"/>
              </a:defRPr>
            </a:lvl8pPr>
            <a:lvl9pPr marL="3886200" indent="-228600" defTabSz="457200" eaLnBrk="0" fontAlgn="base" hangingPunct="0">
              <a:spcBef>
                <a:spcPct val="20000"/>
              </a:spcBef>
              <a:spcAft>
                <a:spcPct val="0"/>
              </a:spcAft>
              <a:buFont typeface="Arial" pitchFamily="34" charset="0"/>
              <a:buChar char="»"/>
              <a:defRPr sz="2000">
                <a:solidFill>
                  <a:schemeClr val="tx1"/>
                </a:solidFill>
                <a:latin typeface="Calibri" pitchFamily="34" charset="0"/>
                <a:ea typeface="ＭＳ Ｐゴシック" pitchFamily="-65" charset="-128"/>
              </a:defRPr>
            </a:lvl9pPr>
          </a:lstStyle>
          <a:p>
            <a:pPr eaLnBrk="1" hangingPunct="1">
              <a:spcBef>
                <a:spcPct val="0"/>
              </a:spcBef>
              <a:buFontTx/>
              <a:buNone/>
            </a:pPr>
            <a:endParaRPr lang="en-US" altLang="en-US" sz="1800">
              <a:solidFill>
                <a:srgbClr val="000000"/>
              </a:solidFill>
            </a:endParaRPr>
          </a:p>
        </p:txBody>
      </p:sp>
      <p:sp>
        <p:nvSpPr>
          <p:cNvPr id="9" name="Oval 15">
            <a:extLst>
              <a:ext uri="{FF2B5EF4-FFF2-40B4-BE49-F238E27FC236}">
                <a16:creationId xmlns:a16="http://schemas.microsoft.com/office/drawing/2014/main" id="{9E870ADA-EAB0-A037-EDD9-CBF9F3ACB717}"/>
              </a:ext>
            </a:extLst>
          </p:cNvPr>
          <p:cNvSpPr>
            <a:spLocks noChangeArrowheads="1"/>
          </p:cNvSpPr>
          <p:nvPr/>
        </p:nvSpPr>
        <p:spPr bwMode="auto">
          <a:xfrm>
            <a:off x="6415088" y="2841625"/>
            <a:ext cx="228600" cy="228600"/>
          </a:xfrm>
          <a:prstGeom prst="ellipse">
            <a:avLst/>
          </a:prstGeom>
          <a:solidFill>
            <a:schemeClr val="accent1"/>
          </a:solidFill>
          <a:ln w="9525">
            <a:solidFill>
              <a:schemeClr val="tx1"/>
            </a:solidFill>
            <a:round/>
            <a:headEnd/>
            <a:tailEnd/>
          </a:ln>
        </p:spPr>
        <p:txBody>
          <a:bodyPr/>
          <a:lstStyle>
            <a:lvl1pPr defTabSz="457200">
              <a:spcBef>
                <a:spcPct val="20000"/>
              </a:spcBef>
              <a:buFont typeface="Arial" pitchFamily="34" charset="0"/>
              <a:buChar char="•"/>
              <a:defRPr sz="3200">
                <a:solidFill>
                  <a:schemeClr val="tx1"/>
                </a:solidFill>
                <a:latin typeface="Calibri" pitchFamily="34" charset="0"/>
                <a:ea typeface="ＭＳ Ｐゴシック" pitchFamily="-65" charset="-128"/>
              </a:defRPr>
            </a:lvl1pPr>
            <a:lvl2pPr marL="742950" indent="-285750" defTabSz="457200">
              <a:spcBef>
                <a:spcPct val="20000"/>
              </a:spcBef>
              <a:buFont typeface="Arial" pitchFamily="34" charset="0"/>
              <a:buChar char="–"/>
              <a:defRPr sz="2800">
                <a:solidFill>
                  <a:schemeClr val="tx1"/>
                </a:solidFill>
                <a:latin typeface="Calibri" pitchFamily="34" charset="0"/>
                <a:ea typeface="ＭＳ Ｐゴシック" pitchFamily="-65" charset="-128"/>
              </a:defRPr>
            </a:lvl2pPr>
            <a:lvl3pPr marL="1143000" indent="-228600" defTabSz="457200">
              <a:spcBef>
                <a:spcPct val="20000"/>
              </a:spcBef>
              <a:buFont typeface="Arial" pitchFamily="34" charset="0"/>
              <a:buChar char="•"/>
              <a:defRPr sz="2400">
                <a:solidFill>
                  <a:schemeClr val="tx1"/>
                </a:solidFill>
                <a:latin typeface="Calibri" pitchFamily="34" charset="0"/>
                <a:ea typeface="ＭＳ Ｐゴシック" pitchFamily="-65" charset="-128"/>
              </a:defRPr>
            </a:lvl3pPr>
            <a:lvl4pPr marL="1600200" indent="-228600" defTabSz="457200">
              <a:spcBef>
                <a:spcPct val="20000"/>
              </a:spcBef>
              <a:buFont typeface="Arial" pitchFamily="34" charset="0"/>
              <a:buChar char="–"/>
              <a:defRPr sz="2000">
                <a:solidFill>
                  <a:schemeClr val="tx1"/>
                </a:solidFill>
                <a:latin typeface="Calibri" pitchFamily="34" charset="0"/>
                <a:ea typeface="ＭＳ Ｐゴシック" pitchFamily="-65" charset="-128"/>
              </a:defRPr>
            </a:lvl4pPr>
            <a:lvl5pPr marL="2057400" indent="-228600" defTabSz="457200">
              <a:spcBef>
                <a:spcPct val="20000"/>
              </a:spcBef>
              <a:buFont typeface="Arial" pitchFamily="34" charset="0"/>
              <a:buChar char="»"/>
              <a:defRPr sz="2000">
                <a:solidFill>
                  <a:schemeClr val="tx1"/>
                </a:solidFill>
                <a:latin typeface="Calibri" pitchFamily="34" charset="0"/>
                <a:ea typeface="ＭＳ Ｐゴシック" pitchFamily="-65" charset="-128"/>
              </a:defRPr>
            </a:lvl5pPr>
            <a:lvl6pPr marL="2514600" indent="-228600" defTabSz="457200" eaLnBrk="0" fontAlgn="base" hangingPunct="0">
              <a:spcBef>
                <a:spcPct val="20000"/>
              </a:spcBef>
              <a:spcAft>
                <a:spcPct val="0"/>
              </a:spcAft>
              <a:buFont typeface="Arial" pitchFamily="34" charset="0"/>
              <a:buChar char="»"/>
              <a:defRPr sz="2000">
                <a:solidFill>
                  <a:schemeClr val="tx1"/>
                </a:solidFill>
                <a:latin typeface="Calibri" pitchFamily="34" charset="0"/>
                <a:ea typeface="ＭＳ Ｐゴシック" pitchFamily="-65" charset="-128"/>
              </a:defRPr>
            </a:lvl6pPr>
            <a:lvl7pPr marL="2971800" indent="-228600" defTabSz="457200" eaLnBrk="0" fontAlgn="base" hangingPunct="0">
              <a:spcBef>
                <a:spcPct val="20000"/>
              </a:spcBef>
              <a:spcAft>
                <a:spcPct val="0"/>
              </a:spcAft>
              <a:buFont typeface="Arial" pitchFamily="34" charset="0"/>
              <a:buChar char="»"/>
              <a:defRPr sz="2000">
                <a:solidFill>
                  <a:schemeClr val="tx1"/>
                </a:solidFill>
                <a:latin typeface="Calibri" pitchFamily="34" charset="0"/>
                <a:ea typeface="ＭＳ Ｐゴシック" pitchFamily="-65" charset="-128"/>
              </a:defRPr>
            </a:lvl7pPr>
            <a:lvl8pPr marL="3429000" indent="-228600" defTabSz="457200" eaLnBrk="0" fontAlgn="base" hangingPunct="0">
              <a:spcBef>
                <a:spcPct val="20000"/>
              </a:spcBef>
              <a:spcAft>
                <a:spcPct val="0"/>
              </a:spcAft>
              <a:buFont typeface="Arial" pitchFamily="34" charset="0"/>
              <a:buChar char="»"/>
              <a:defRPr sz="2000">
                <a:solidFill>
                  <a:schemeClr val="tx1"/>
                </a:solidFill>
                <a:latin typeface="Calibri" pitchFamily="34" charset="0"/>
                <a:ea typeface="ＭＳ Ｐゴシック" pitchFamily="-65" charset="-128"/>
              </a:defRPr>
            </a:lvl8pPr>
            <a:lvl9pPr marL="3886200" indent="-228600" defTabSz="457200" eaLnBrk="0" fontAlgn="base" hangingPunct="0">
              <a:spcBef>
                <a:spcPct val="20000"/>
              </a:spcBef>
              <a:spcAft>
                <a:spcPct val="0"/>
              </a:spcAft>
              <a:buFont typeface="Arial" pitchFamily="34" charset="0"/>
              <a:buChar char="»"/>
              <a:defRPr sz="2000">
                <a:solidFill>
                  <a:schemeClr val="tx1"/>
                </a:solidFill>
                <a:latin typeface="Calibri" pitchFamily="34" charset="0"/>
                <a:ea typeface="ＭＳ Ｐゴシック" pitchFamily="-65" charset="-128"/>
              </a:defRPr>
            </a:lvl9pPr>
          </a:lstStyle>
          <a:p>
            <a:pPr eaLnBrk="1" hangingPunct="1">
              <a:spcBef>
                <a:spcPct val="0"/>
              </a:spcBef>
              <a:buFontTx/>
              <a:buNone/>
            </a:pPr>
            <a:endParaRPr lang="en-US" altLang="en-US" sz="1800">
              <a:solidFill>
                <a:srgbClr val="000000"/>
              </a:solidFill>
            </a:endParaRPr>
          </a:p>
        </p:txBody>
      </p:sp>
      <p:sp>
        <p:nvSpPr>
          <p:cNvPr id="10" name="Oval 15">
            <a:extLst>
              <a:ext uri="{FF2B5EF4-FFF2-40B4-BE49-F238E27FC236}">
                <a16:creationId xmlns:a16="http://schemas.microsoft.com/office/drawing/2014/main" id="{9A20E58B-1789-D5E3-CC9F-C0B842C26411}"/>
              </a:ext>
            </a:extLst>
          </p:cNvPr>
          <p:cNvSpPr>
            <a:spLocks noChangeArrowheads="1"/>
          </p:cNvSpPr>
          <p:nvPr/>
        </p:nvSpPr>
        <p:spPr bwMode="auto">
          <a:xfrm>
            <a:off x="6067425" y="4794250"/>
            <a:ext cx="228600" cy="228600"/>
          </a:xfrm>
          <a:prstGeom prst="ellipse">
            <a:avLst/>
          </a:prstGeom>
          <a:solidFill>
            <a:schemeClr val="accent1"/>
          </a:solidFill>
          <a:ln w="9525">
            <a:solidFill>
              <a:schemeClr val="tx1"/>
            </a:solidFill>
            <a:round/>
            <a:headEnd/>
            <a:tailEnd/>
          </a:ln>
        </p:spPr>
        <p:txBody>
          <a:bodyPr/>
          <a:lstStyle>
            <a:lvl1pPr defTabSz="457200">
              <a:spcBef>
                <a:spcPct val="20000"/>
              </a:spcBef>
              <a:buFont typeface="Arial" pitchFamily="34" charset="0"/>
              <a:buChar char="•"/>
              <a:defRPr sz="3200">
                <a:solidFill>
                  <a:schemeClr val="tx1"/>
                </a:solidFill>
                <a:latin typeface="Calibri" pitchFamily="34" charset="0"/>
                <a:ea typeface="ＭＳ Ｐゴシック" pitchFamily="-65" charset="-128"/>
              </a:defRPr>
            </a:lvl1pPr>
            <a:lvl2pPr marL="742950" indent="-285750" defTabSz="457200">
              <a:spcBef>
                <a:spcPct val="20000"/>
              </a:spcBef>
              <a:buFont typeface="Arial" pitchFamily="34" charset="0"/>
              <a:buChar char="–"/>
              <a:defRPr sz="2800">
                <a:solidFill>
                  <a:schemeClr val="tx1"/>
                </a:solidFill>
                <a:latin typeface="Calibri" pitchFamily="34" charset="0"/>
                <a:ea typeface="ＭＳ Ｐゴシック" pitchFamily="-65" charset="-128"/>
              </a:defRPr>
            </a:lvl2pPr>
            <a:lvl3pPr marL="1143000" indent="-228600" defTabSz="457200">
              <a:spcBef>
                <a:spcPct val="20000"/>
              </a:spcBef>
              <a:buFont typeface="Arial" pitchFamily="34" charset="0"/>
              <a:buChar char="•"/>
              <a:defRPr sz="2400">
                <a:solidFill>
                  <a:schemeClr val="tx1"/>
                </a:solidFill>
                <a:latin typeface="Calibri" pitchFamily="34" charset="0"/>
                <a:ea typeface="ＭＳ Ｐゴシック" pitchFamily="-65" charset="-128"/>
              </a:defRPr>
            </a:lvl3pPr>
            <a:lvl4pPr marL="1600200" indent="-228600" defTabSz="457200">
              <a:spcBef>
                <a:spcPct val="20000"/>
              </a:spcBef>
              <a:buFont typeface="Arial" pitchFamily="34" charset="0"/>
              <a:buChar char="–"/>
              <a:defRPr sz="2000">
                <a:solidFill>
                  <a:schemeClr val="tx1"/>
                </a:solidFill>
                <a:latin typeface="Calibri" pitchFamily="34" charset="0"/>
                <a:ea typeface="ＭＳ Ｐゴシック" pitchFamily="-65" charset="-128"/>
              </a:defRPr>
            </a:lvl4pPr>
            <a:lvl5pPr marL="2057400" indent="-228600" defTabSz="457200">
              <a:spcBef>
                <a:spcPct val="20000"/>
              </a:spcBef>
              <a:buFont typeface="Arial" pitchFamily="34" charset="0"/>
              <a:buChar char="»"/>
              <a:defRPr sz="2000">
                <a:solidFill>
                  <a:schemeClr val="tx1"/>
                </a:solidFill>
                <a:latin typeface="Calibri" pitchFamily="34" charset="0"/>
                <a:ea typeface="ＭＳ Ｐゴシック" pitchFamily="-65" charset="-128"/>
              </a:defRPr>
            </a:lvl5pPr>
            <a:lvl6pPr marL="2514600" indent="-228600" defTabSz="457200" eaLnBrk="0" fontAlgn="base" hangingPunct="0">
              <a:spcBef>
                <a:spcPct val="20000"/>
              </a:spcBef>
              <a:spcAft>
                <a:spcPct val="0"/>
              </a:spcAft>
              <a:buFont typeface="Arial" pitchFamily="34" charset="0"/>
              <a:buChar char="»"/>
              <a:defRPr sz="2000">
                <a:solidFill>
                  <a:schemeClr val="tx1"/>
                </a:solidFill>
                <a:latin typeface="Calibri" pitchFamily="34" charset="0"/>
                <a:ea typeface="ＭＳ Ｐゴシック" pitchFamily="-65" charset="-128"/>
              </a:defRPr>
            </a:lvl6pPr>
            <a:lvl7pPr marL="2971800" indent="-228600" defTabSz="457200" eaLnBrk="0" fontAlgn="base" hangingPunct="0">
              <a:spcBef>
                <a:spcPct val="20000"/>
              </a:spcBef>
              <a:spcAft>
                <a:spcPct val="0"/>
              </a:spcAft>
              <a:buFont typeface="Arial" pitchFamily="34" charset="0"/>
              <a:buChar char="»"/>
              <a:defRPr sz="2000">
                <a:solidFill>
                  <a:schemeClr val="tx1"/>
                </a:solidFill>
                <a:latin typeface="Calibri" pitchFamily="34" charset="0"/>
                <a:ea typeface="ＭＳ Ｐゴシック" pitchFamily="-65" charset="-128"/>
              </a:defRPr>
            </a:lvl7pPr>
            <a:lvl8pPr marL="3429000" indent="-228600" defTabSz="457200" eaLnBrk="0" fontAlgn="base" hangingPunct="0">
              <a:spcBef>
                <a:spcPct val="20000"/>
              </a:spcBef>
              <a:spcAft>
                <a:spcPct val="0"/>
              </a:spcAft>
              <a:buFont typeface="Arial" pitchFamily="34" charset="0"/>
              <a:buChar char="»"/>
              <a:defRPr sz="2000">
                <a:solidFill>
                  <a:schemeClr val="tx1"/>
                </a:solidFill>
                <a:latin typeface="Calibri" pitchFamily="34" charset="0"/>
                <a:ea typeface="ＭＳ Ｐゴシック" pitchFamily="-65" charset="-128"/>
              </a:defRPr>
            </a:lvl8pPr>
            <a:lvl9pPr marL="3886200" indent="-228600" defTabSz="457200" eaLnBrk="0" fontAlgn="base" hangingPunct="0">
              <a:spcBef>
                <a:spcPct val="20000"/>
              </a:spcBef>
              <a:spcAft>
                <a:spcPct val="0"/>
              </a:spcAft>
              <a:buFont typeface="Arial" pitchFamily="34" charset="0"/>
              <a:buChar char="»"/>
              <a:defRPr sz="2000">
                <a:solidFill>
                  <a:schemeClr val="tx1"/>
                </a:solidFill>
                <a:latin typeface="Calibri" pitchFamily="34" charset="0"/>
                <a:ea typeface="ＭＳ Ｐゴシック" pitchFamily="-65" charset="-128"/>
              </a:defRPr>
            </a:lvl9pPr>
          </a:lstStyle>
          <a:p>
            <a:pPr eaLnBrk="1" hangingPunct="1">
              <a:spcBef>
                <a:spcPct val="0"/>
              </a:spcBef>
              <a:buFontTx/>
              <a:buNone/>
            </a:pPr>
            <a:endParaRPr lang="en-US" altLang="en-US" sz="1800">
              <a:solidFill>
                <a:srgbClr val="000000"/>
              </a:solidFill>
            </a:endParaRPr>
          </a:p>
        </p:txBody>
      </p:sp>
      <p:sp>
        <p:nvSpPr>
          <p:cNvPr id="11" name="Oval 15">
            <a:extLst>
              <a:ext uri="{FF2B5EF4-FFF2-40B4-BE49-F238E27FC236}">
                <a16:creationId xmlns:a16="http://schemas.microsoft.com/office/drawing/2014/main" id="{B27228DE-485A-80D8-732A-E9522CC180B4}"/>
              </a:ext>
            </a:extLst>
          </p:cNvPr>
          <p:cNvSpPr>
            <a:spLocks noChangeArrowheads="1"/>
          </p:cNvSpPr>
          <p:nvPr/>
        </p:nvSpPr>
        <p:spPr bwMode="auto">
          <a:xfrm>
            <a:off x="3506788" y="5022850"/>
            <a:ext cx="228600" cy="228600"/>
          </a:xfrm>
          <a:prstGeom prst="ellipse">
            <a:avLst/>
          </a:prstGeom>
          <a:solidFill>
            <a:schemeClr val="accent1"/>
          </a:solidFill>
          <a:ln w="9525">
            <a:solidFill>
              <a:schemeClr val="tx1"/>
            </a:solidFill>
            <a:round/>
            <a:headEnd/>
            <a:tailEnd/>
          </a:ln>
        </p:spPr>
        <p:txBody>
          <a:bodyPr/>
          <a:lstStyle>
            <a:lvl1pPr defTabSz="457200">
              <a:spcBef>
                <a:spcPct val="20000"/>
              </a:spcBef>
              <a:buFont typeface="Arial" pitchFamily="34" charset="0"/>
              <a:buChar char="•"/>
              <a:defRPr sz="3200">
                <a:solidFill>
                  <a:schemeClr val="tx1"/>
                </a:solidFill>
                <a:latin typeface="Calibri" pitchFamily="34" charset="0"/>
                <a:ea typeface="ＭＳ Ｐゴシック" pitchFamily="-65" charset="-128"/>
              </a:defRPr>
            </a:lvl1pPr>
            <a:lvl2pPr marL="742950" indent="-285750" defTabSz="457200">
              <a:spcBef>
                <a:spcPct val="20000"/>
              </a:spcBef>
              <a:buFont typeface="Arial" pitchFamily="34" charset="0"/>
              <a:buChar char="–"/>
              <a:defRPr sz="2800">
                <a:solidFill>
                  <a:schemeClr val="tx1"/>
                </a:solidFill>
                <a:latin typeface="Calibri" pitchFamily="34" charset="0"/>
                <a:ea typeface="ＭＳ Ｐゴシック" pitchFamily="-65" charset="-128"/>
              </a:defRPr>
            </a:lvl2pPr>
            <a:lvl3pPr marL="1143000" indent="-228600" defTabSz="457200">
              <a:spcBef>
                <a:spcPct val="20000"/>
              </a:spcBef>
              <a:buFont typeface="Arial" pitchFamily="34" charset="0"/>
              <a:buChar char="•"/>
              <a:defRPr sz="2400">
                <a:solidFill>
                  <a:schemeClr val="tx1"/>
                </a:solidFill>
                <a:latin typeface="Calibri" pitchFamily="34" charset="0"/>
                <a:ea typeface="ＭＳ Ｐゴシック" pitchFamily="-65" charset="-128"/>
              </a:defRPr>
            </a:lvl3pPr>
            <a:lvl4pPr marL="1600200" indent="-228600" defTabSz="457200">
              <a:spcBef>
                <a:spcPct val="20000"/>
              </a:spcBef>
              <a:buFont typeface="Arial" pitchFamily="34" charset="0"/>
              <a:buChar char="–"/>
              <a:defRPr sz="2000">
                <a:solidFill>
                  <a:schemeClr val="tx1"/>
                </a:solidFill>
                <a:latin typeface="Calibri" pitchFamily="34" charset="0"/>
                <a:ea typeface="ＭＳ Ｐゴシック" pitchFamily="-65" charset="-128"/>
              </a:defRPr>
            </a:lvl4pPr>
            <a:lvl5pPr marL="2057400" indent="-228600" defTabSz="457200">
              <a:spcBef>
                <a:spcPct val="20000"/>
              </a:spcBef>
              <a:buFont typeface="Arial" pitchFamily="34" charset="0"/>
              <a:buChar char="»"/>
              <a:defRPr sz="2000">
                <a:solidFill>
                  <a:schemeClr val="tx1"/>
                </a:solidFill>
                <a:latin typeface="Calibri" pitchFamily="34" charset="0"/>
                <a:ea typeface="ＭＳ Ｐゴシック" pitchFamily="-65" charset="-128"/>
              </a:defRPr>
            </a:lvl5pPr>
            <a:lvl6pPr marL="2514600" indent="-228600" defTabSz="457200" eaLnBrk="0" fontAlgn="base" hangingPunct="0">
              <a:spcBef>
                <a:spcPct val="20000"/>
              </a:spcBef>
              <a:spcAft>
                <a:spcPct val="0"/>
              </a:spcAft>
              <a:buFont typeface="Arial" pitchFamily="34" charset="0"/>
              <a:buChar char="»"/>
              <a:defRPr sz="2000">
                <a:solidFill>
                  <a:schemeClr val="tx1"/>
                </a:solidFill>
                <a:latin typeface="Calibri" pitchFamily="34" charset="0"/>
                <a:ea typeface="ＭＳ Ｐゴシック" pitchFamily="-65" charset="-128"/>
              </a:defRPr>
            </a:lvl6pPr>
            <a:lvl7pPr marL="2971800" indent="-228600" defTabSz="457200" eaLnBrk="0" fontAlgn="base" hangingPunct="0">
              <a:spcBef>
                <a:spcPct val="20000"/>
              </a:spcBef>
              <a:spcAft>
                <a:spcPct val="0"/>
              </a:spcAft>
              <a:buFont typeface="Arial" pitchFamily="34" charset="0"/>
              <a:buChar char="»"/>
              <a:defRPr sz="2000">
                <a:solidFill>
                  <a:schemeClr val="tx1"/>
                </a:solidFill>
                <a:latin typeface="Calibri" pitchFamily="34" charset="0"/>
                <a:ea typeface="ＭＳ Ｐゴシック" pitchFamily="-65" charset="-128"/>
              </a:defRPr>
            </a:lvl7pPr>
            <a:lvl8pPr marL="3429000" indent="-228600" defTabSz="457200" eaLnBrk="0" fontAlgn="base" hangingPunct="0">
              <a:spcBef>
                <a:spcPct val="20000"/>
              </a:spcBef>
              <a:spcAft>
                <a:spcPct val="0"/>
              </a:spcAft>
              <a:buFont typeface="Arial" pitchFamily="34" charset="0"/>
              <a:buChar char="»"/>
              <a:defRPr sz="2000">
                <a:solidFill>
                  <a:schemeClr val="tx1"/>
                </a:solidFill>
                <a:latin typeface="Calibri" pitchFamily="34" charset="0"/>
                <a:ea typeface="ＭＳ Ｐゴシック" pitchFamily="-65" charset="-128"/>
              </a:defRPr>
            </a:lvl8pPr>
            <a:lvl9pPr marL="3886200" indent="-228600" defTabSz="457200" eaLnBrk="0" fontAlgn="base" hangingPunct="0">
              <a:spcBef>
                <a:spcPct val="20000"/>
              </a:spcBef>
              <a:spcAft>
                <a:spcPct val="0"/>
              </a:spcAft>
              <a:buFont typeface="Arial" pitchFamily="34" charset="0"/>
              <a:buChar char="»"/>
              <a:defRPr sz="2000">
                <a:solidFill>
                  <a:schemeClr val="tx1"/>
                </a:solidFill>
                <a:latin typeface="Calibri" pitchFamily="34" charset="0"/>
                <a:ea typeface="ＭＳ Ｐゴシック" pitchFamily="-65" charset="-128"/>
              </a:defRPr>
            </a:lvl9pPr>
          </a:lstStyle>
          <a:p>
            <a:pPr eaLnBrk="1" hangingPunct="1">
              <a:spcBef>
                <a:spcPct val="0"/>
              </a:spcBef>
              <a:buFontTx/>
              <a:buNone/>
            </a:pPr>
            <a:endParaRPr lang="en-US" altLang="en-US" sz="1800">
              <a:solidFill>
                <a:srgbClr val="000000"/>
              </a:solidFill>
            </a:endParaRPr>
          </a:p>
        </p:txBody>
      </p:sp>
      <p:cxnSp>
        <p:nvCxnSpPr>
          <p:cNvPr id="12" name="Straight Arrow Connector 12">
            <a:extLst>
              <a:ext uri="{FF2B5EF4-FFF2-40B4-BE49-F238E27FC236}">
                <a16:creationId xmlns:a16="http://schemas.microsoft.com/office/drawing/2014/main" id="{CAFD6FE8-3ED8-114A-9E17-4DBDA34972EE}"/>
              </a:ext>
            </a:extLst>
          </p:cNvPr>
          <p:cNvCxnSpPr>
            <a:cxnSpLocks noChangeShapeType="1"/>
            <a:stCxn id="6" idx="7"/>
            <a:endCxn id="7" idx="3"/>
          </p:cNvCxnSpPr>
          <p:nvPr/>
        </p:nvCxnSpPr>
        <p:spPr bwMode="auto">
          <a:xfrm rot="5400000" flipH="1" flipV="1">
            <a:off x="3038475" y="1776413"/>
            <a:ext cx="1211263" cy="1798637"/>
          </a:xfrm>
          <a:prstGeom prst="straightConnector1">
            <a:avLst/>
          </a:prstGeom>
          <a:noFill/>
          <a:ln w="25400">
            <a:solidFill>
              <a:schemeClr val="accent1"/>
            </a:solidFill>
            <a:round/>
            <a:headEnd/>
            <a:tailEnd type="arrow" w="med" len="med"/>
          </a:ln>
          <a:effectLst>
            <a:outerShdw blurRad="40000" dist="20000" dir="5400000" rotWithShape="0">
              <a:srgbClr val="808080">
                <a:alpha val="37999"/>
              </a:srgbClr>
            </a:outerShdw>
          </a:effectLst>
          <a:extLst>
            <a:ext uri="{909E8E84-426E-40DD-AFC4-6F175D3DCCD1}">
              <a14:hiddenFill xmlns:a14="http://schemas.microsoft.com/office/drawing/2010/main">
                <a:noFill/>
              </a14:hiddenFill>
            </a:ext>
          </a:extLst>
        </p:spPr>
      </p:cxnSp>
      <p:cxnSp>
        <p:nvCxnSpPr>
          <p:cNvPr id="14" name="Straight Arrow Connector 14">
            <a:extLst>
              <a:ext uri="{FF2B5EF4-FFF2-40B4-BE49-F238E27FC236}">
                <a16:creationId xmlns:a16="http://schemas.microsoft.com/office/drawing/2014/main" id="{EB69D0C7-6994-1406-9149-4CFCA8D52EC9}"/>
              </a:ext>
            </a:extLst>
          </p:cNvPr>
          <p:cNvCxnSpPr>
            <a:cxnSpLocks noChangeShapeType="1"/>
            <a:stCxn id="7" idx="3"/>
            <a:endCxn id="11" idx="0"/>
          </p:cNvCxnSpPr>
          <p:nvPr/>
        </p:nvCxnSpPr>
        <p:spPr bwMode="auto">
          <a:xfrm rot="5400000">
            <a:off x="2605882" y="3085306"/>
            <a:ext cx="2952750" cy="922337"/>
          </a:xfrm>
          <a:prstGeom prst="straightConnector1">
            <a:avLst/>
          </a:prstGeom>
          <a:noFill/>
          <a:ln w="25400">
            <a:solidFill>
              <a:schemeClr val="accent1"/>
            </a:solidFill>
            <a:round/>
            <a:headEnd/>
            <a:tailEnd type="arrow" w="med" len="med"/>
          </a:ln>
          <a:effectLst>
            <a:outerShdw blurRad="40000" dist="20000" dir="5400000" rotWithShape="0">
              <a:srgbClr val="808080">
                <a:alpha val="37999"/>
              </a:srgbClr>
            </a:outerShdw>
          </a:effectLst>
          <a:extLst>
            <a:ext uri="{909E8E84-426E-40DD-AFC4-6F175D3DCCD1}">
              <a14:hiddenFill xmlns:a14="http://schemas.microsoft.com/office/drawing/2010/main">
                <a:noFill/>
              </a14:hiddenFill>
            </a:ext>
          </a:extLst>
        </p:spPr>
      </p:cxnSp>
      <p:cxnSp>
        <p:nvCxnSpPr>
          <p:cNvPr id="15" name="Straight Arrow Connector 16">
            <a:extLst>
              <a:ext uri="{FF2B5EF4-FFF2-40B4-BE49-F238E27FC236}">
                <a16:creationId xmlns:a16="http://schemas.microsoft.com/office/drawing/2014/main" id="{F2D7CE90-9D9E-EE0A-1C27-93607607ECDF}"/>
              </a:ext>
            </a:extLst>
          </p:cNvPr>
          <p:cNvCxnSpPr>
            <a:cxnSpLocks noChangeShapeType="1"/>
            <a:stCxn id="11" idx="5"/>
            <a:endCxn id="10" idx="2"/>
          </p:cNvCxnSpPr>
          <p:nvPr/>
        </p:nvCxnSpPr>
        <p:spPr bwMode="auto">
          <a:xfrm rot="5400000" flipH="1" flipV="1">
            <a:off x="4729956" y="3880644"/>
            <a:ext cx="309563" cy="2365375"/>
          </a:xfrm>
          <a:prstGeom prst="straightConnector1">
            <a:avLst/>
          </a:prstGeom>
          <a:noFill/>
          <a:ln w="25400">
            <a:solidFill>
              <a:schemeClr val="accent1"/>
            </a:solidFill>
            <a:round/>
            <a:headEnd/>
            <a:tailEnd type="arrow" w="med" len="med"/>
          </a:ln>
          <a:effectLst>
            <a:outerShdw blurRad="40000" dist="20000" dir="5400000" rotWithShape="0">
              <a:srgbClr val="808080">
                <a:alpha val="37999"/>
              </a:srgbClr>
            </a:outerShdw>
          </a:effectLst>
          <a:extLst>
            <a:ext uri="{909E8E84-426E-40DD-AFC4-6F175D3DCCD1}">
              <a14:hiddenFill xmlns:a14="http://schemas.microsoft.com/office/drawing/2010/main">
                <a:noFill/>
              </a14:hiddenFill>
            </a:ext>
          </a:extLst>
        </p:spPr>
      </p:cxnSp>
      <p:cxnSp>
        <p:nvCxnSpPr>
          <p:cNvPr id="16" name="Straight Arrow Connector 18">
            <a:extLst>
              <a:ext uri="{FF2B5EF4-FFF2-40B4-BE49-F238E27FC236}">
                <a16:creationId xmlns:a16="http://schemas.microsoft.com/office/drawing/2014/main" id="{6118022F-E119-3C53-E573-8BD84CFE9754}"/>
              </a:ext>
            </a:extLst>
          </p:cNvPr>
          <p:cNvCxnSpPr>
            <a:cxnSpLocks noChangeShapeType="1"/>
            <a:stCxn id="10" idx="7"/>
            <a:endCxn id="9" idx="4"/>
          </p:cNvCxnSpPr>
          <p:nvPr/>
        </p:nvCxnSpPr>
        <p:spPr bwMode="auto">
          <a:xfrm rot="5400000" flipH="1" flipV="1">
            <a:off x="5516563" y="3816350"/>
            <a:ext cx="1758950" cy="266700"/>
          </a:xfrm>
          <a:prstGeom prst="straightConnector1">
            <a:avLst/>
          </a:prstGeom>
          <a:noFill/>
          <a:ln w="25400">
            <a:solidFill>
              <a:schemeClr val="accent1"/>
            </a:solidFill>
            <a:round/>
            <a:headEnd/>
            <a:tailEnd type="arrow" w="med" len="med"/>
          </a:ln>
          <a:effectLst>
            <a:outerShdw blurRad="40000" dist="20000" dir="5400000" rotWithShape="0">
              <a:srgbClr val="808080">
                <a:alpha val="37999"/>
              </a:srgbClr>
            </a:outerShdw>
          </a:effectLst>
          <a:extLst>
            <a:ext uri="{909E8E84-426E-40DD-AFC4-6F175D3DCCD1}">
              <a14:hiddenFill xmlns:a14="http://schemas.microsoft.com/office/drawing/2010/main">
                <a:noFill/>
              </a14:hiddenFill>
            </a:ext>
          </a:extLst>
        </p:spPr>
      </p:cxnSp>
      <p:cxnSp>
        <p:nvCxnSpPr>
          <p:cNvPr id="17" name="Straight Arrow Connector 20">
            <a:extLst>
              <a:ext uri="{FF2B5EF4-FFF2-40B4-BE49-F238E27FC236}">
                <a16:creationId xmlns:a16="http://schemas.microsoft.com/office/drawing/2014/main" id="{943D0997-A3D2-F3CC-ED3B-E014E0B4C61B}"/>
              </a:ext>
            </a:extLst>
          </p:cNvPr>
          <p:cNvCxnSpPr>
            <a:cxnSpLocks noChangeShapeType="1"/>
            <a:stCxn id="10" idx="1"/>
            <a:endCxn id="7" idx="5"/>
          </p:cNvCxnSpPr>
          <p:nvPr/>
        </p:nvCxnSpPr>
        <p:spPr bwMode="auto">
          <a:xfrm rot="16200000" flipV="1">
            <a:off x="4023519" y="2751931"/>
            <a:ext cx="2759075" cy="1395413"/>
          </a:xfrm>
          <a:prstGeom prst="straightConnector1">
            <a:avLst/>
          </a:prstGeom>
          <a:noFill/>
          <a:ln w="25400">
            <a:solidFill>
              <a:schemeClr val="accent1"/>
            </a:solidFill>
            <a:round/>
            <a:headEnd/>
            <a:tailEnd type="arrow" w="med" len="med"/>
          </a:ln>
          <a:effectLst>
            <a:outerShdw blurRad="40000" dist="20000" dir="5400000" rotWithShape="0">
              <a:srgbClr val="808080">
                <a:alpha val="37999"/>
              </a:srgbClr>
            </a:outerShdw>
          </a:effectLst>
          <a:extLst>
            <a:ext uri="{909E8E84-426E-40DD-AFC4-6F175D3DCCD1}">
              <a14:hiddenFill xmlns:a14="http://schemas.microsoft.com/office/drawing/2010/main">
                <a:noFill/>
              </a14:hiddenFill>
            </a:ext>
          </a:extLst>
        </p:spPr>
      </p:cxnSp>
      <p:cxnSp>
        <p:nvCxnSpPr>
          <p:cNvPr id="19" name="Straight Arrow Connector 22">
            <a:extLst>
              <a:ext uri="{FF2B5EF4-FFF2-40B4-BE49-F238E27FC236}">
                <a16:creationId xmlns:a16="http://schemas.microsoft.com/office/drawing/2014/main" id="{28AE321A-E2F1-34D6-0E9B-95708787A55C}"/>
              </a:ext>
            </a:extLst>
          </p:cNvPr>
          <p:cNvCxnSpPr>
            <a:cxnSpLocks noChangeShapeType="1"/>
            <a:stCxn id="9" idx="3"/>
            <a:endCxn id="11" idx="6"/>
          </p:cNvCxnSpPr>
          <p:nvPr/>
        </p:nvCxnSpPr>
        <p:spPr bwMode="auto">
          <a:xfrm rot="5400000">
            <a:off x="4042570" y="2729706"/>
            <a:ext cx="2100262" cy="2714625"/>
          </a:xfrm>
          <a:prstGeom prst="straightConnector1">
            <a:avLst/>
          </a:prstGeom>
          <a:noFill/>
          <a:ln w="25400">
            <a:solidFill>
              <a:schemeClr val="accent1"/>
            </a:solidFill>
            <a:round/>
            <a:headEnd/>
            <a:tailEnd type="arrow" w="med" len="med"/>
          </a:ln>
          <a:effectLst>
            <a:outerShdw blurRad="40000" dist="20000" dir="5400000" rotWithShape="0">
              <a:srgbClr val="808080">
                <a:alpha val="37999"/>
              </a:srgbClr>
            </a:outerShdw>
          </a:effectLst>
          <a:extLst>
            <a:ext uri="{909E8E84-426E-40DD-AFC4-6F175D3DCCD1}">
              <a14:hiddenFill xmlns:a14="http://schemas.microsoft.com/office/drawing/2010/main">
                <a:noFill/>
              </a14:hiddenFill>
            </a:ext>
          </a:extLst>
        </p:spPr>
      </p:cxnSp>
      <p:cxnSp>
        <p:nvCxnSpPr>
          <p:cNvPr id="21" name="Straight Arrow Connector 24">
            <a:extLst>
              <a:ext uri="{FF2B5EF4-FFF2-40B4-BE49-F238E27FC236}">
                <a16:creationId xmlns:a16="http://schemas.microsoft.com/office/drawing/2014/main" id="{976189B5-F2E2-AA98-3AF8-38B6BF997E5B}"/>
              </a:ext>
            </a:extLst>
          </p:cNvPr>
          <p:cNvCxnSpPr>
            <a:cxnSpLocks noChangeShapeType="1"/>
            <a:stCxn id="11" idx="1"/>
            <a:endCxn id="6" idx="5"/>
          </p:cNvCxnSpPr>
          <p:nvPr/>
        </p:nvCxnSpPr>
        <p:spPr bwMode="auto">
          <a:xfrm rot="16200000" flipV="1">
            <a:off x="2335213" y="3852863"/>
            <a:ext cx="1614487" cy="795337"/>
          </a:xfrm>
          <a:prstGeom prst="straightConnector1">
            <a:avLst/>
          </a:prstGeom>
          <a:noFill/>
          <a:ln w="25400">
            <a:solidFill>
              <a:schemeClr val="accent1"/>
            </a:solidFill>
            <a:round/>
            <a:headEnd/>
            <a:tailEnd type="arrow" w="med" len="med"/>
          </a:ln>
          <a:effectLst>
            <a:outerShdw blurRad="40000" dist="20000" dir="5400000" rotWithShape="0">
              <a:srgbClr val="808080">
                <a:alpha val="37999"/>
              </a:srgbClr>
            </a:outerShdw>
          </a:effectLst>
          <a:extLst>
            <a:ext uri="{909E8E84-426E-40DD-AFC4-6F175D3DCCD1}">
              <a14:hiddenFill xmlns:a14="http://schemas.microsoft.com/office/drawing/2010/main">
                <a:noFill/>
              </a14:hiddenFill>
            </a:ext>
          </a:extLst>
        </p:spPr>
      </p:cxnSp>
      <p:sp>
        <p:nvSpPr>
          <p:cNvPr id="23" name="TextBox 25">
            <a:extLst>
              <a:ext uri="{FF2B5EF4-FFF2-40B4-BE49-F238E27FC236}">
                <a16:creationId xmlns:a16="http://schemas.microsoft.com/office/drawing/2014/main" id="{5ECA9297-11AF-D791-123F-564E752925C1}"/>
              </a:ext>
            </a:extLst>
          </p:cNvPr>
          <p:cNvSpPr txBox="1">
            <a:spLocks noChangeArrowheads="1"/>
          </p:cNvSpPr>
          <p:nvPr/>
        </p:nvSpPr>
        <p:spPr bwMode="auto">
          <a:xfrm>
            <a:off x="1433513" y="3095625"/>
            <a:ext cx="1116012"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defTabSz="457200">
              <a:spcBef>
                <a:spcPct val="20000"/>
              </a:spcBef>
              <a:buFont typeface="Arial" pitchFamily="34" charset="0"/>
              <a:buChar char="•"/>
              <a:defRPr sz="3200">
                <a:solidFill>
                  <a:schemeClr val="tx1"/>
                </a:solidFill>
                <a:latin typeface="Calibri" pitchFamily="34" charset="0"/>
                <a:ea typeface="ＭＳ Ｐゴシック" pitchFamily="-65" charset="-128"/>
              </a:defRPr>
            </a:lvl1pPr>
            <a:lvl2pPr marL="742950" indent="-285750" defTabSz="457200">
              <a:spcBef>
                <a:spcPct val="20000"/>
              </a:spcBef>
              <a:buFont typeface="Arial" pitchFamily="34" charset="0"/>
              <a:buChar char="–"/>
              <a:defRPr sz="2800">
                <a:solidFill>
                  <a:schemeClr val="tx1"/>
                </a:solidFill>
                <a:latin typeface="Calibri" pitchFamily="34" charset="0"/>
                <a:ea typeface="ＭＳ Ｐゴシック" pitchFamily="-65" charset="-128"/>
              </a:defRPr>
            </a:lvl2pPr>
            <a:lvl3pPr marL="1143000" indent="-228600" defTabSz="457200">
              <a:spcBef>
                <a:spcPct val="20000"/>
              </a:spcBef>
              <a:buFont typeface="Arial" pitchFamily="34" charset="0"/>
              <a:buChar char="•"/>
              <a:defRPr sz="2400">
                <a:solidFill>
                  <a:schemeClr val="tx1"/>
                </a:solidFill>
                <a:latin typeface="Calibri" pitchFamily="34" charset="0"/>
                <a:ea typeface="ＭＳ Ｐゴシック" pitchFamily="-65" charset="-128"/>
              </a:defRPr>
            </a:lvl3pPr>
            <a:lvl4pPr marL="1600200" indent="-228600" defTabSz="457200">
              <a:spcBef>
                <a:spcPct val="20000"/>
              </a:spcBef>
              <a:buFont typeface="Arial" pitchFamily="34" charset="0"/>
              <a:buChar char="–"/>
              <a:defRPr sz="2000">
                <a:solidFill>
                  <a:schemeClr val="tx1"/>
                </a:solidFill>
                <a:latin typeface="Calibri" pitchFamily="34" charset="0"/>
                <a:ea typeface="ＭＳ Ｐゴシック" pitchFamily="-65" charset="-128"/>
              </a:defRPr>
            </a:lvl4pPr>
            <a:lvl5pPr marL="2057400" indent="-228600" defTabSz="457200">
              <a:spcBef>
                <a:spcPct val="20000"/>
              </a:spcBef>
              <a:buFont typeface="Arial" pitchFamily="34" charset="0"/>
              <a:buChar char="»"/>
              <a:defRPr sz="2000">
                <a:solidFill>
                  <a:schemeClr val="tx1"/>
                </a:solidFill>
                <a:latin typeface="Calibri" pitchFamily="34" charset="0"/>
                <a:ea typeface="ＭＳ Ｐゴシック" pitchFamily="-65" charset="-128"/>
              </a:defRPr>
            </a:lvl5pPr>
            <a:lvl6pPr marL="2514600" indent="-228600" defTabSz="457200" eaLnBrk="0" fontAlgn="base" hangingPunct="0">
              <a:spcBef>
                <a:spcPct val="20000"/>
              </a:spcBef>
              <a:spcAft>
                <a:spcPct val="0"/>
              </a:spcAft>
              <a:buFont typeface="Arial" pitchFamily="34" charset="0"/>
              <a:buChar char="»"/>
              <a:defRPr sz="2000">
                <a:solidFill>
                  <a:schemeClr val="tx1"/>
                </a:solidFill>
                <a:latin typeface="Calibri" pitchFamily="34" charset="0"/>
                <a:ea typeface="ＭＳ Ｐゴシック" pitchFamily="-65" charset="-128"/>
              </a:defRPr>
            </a:lvl6pPr>
            <a:lvl7pPr marL="2971800" indent="-228600" defTabSz="457200" eaLnBrk="0" fontAlgn="base" hangingPunct="0">
              <a:spcBef>
                <a:spcPct val="20000"/>
              </a:spcBef>
              <a:spcAft>
                <a:spcPct val="0"/>
              </a:spcAft>
              <a:buFont typeface="Arial" pitchFamily="34" charset="0"/>
              <a:buChar char="»"/>
              <a:defRPr sz="2000">
                <a:solidFill>
                  <a:schemeClr val="tx1"/>
                </a:solidFill>
                <a:latin typeface="Calibri" pitchFamily="34" charset="0"/>
                <a:ea typeface="ＭＳ Ｐゴシック" pitchFamily="-65" charset="-128"/>
              </a:defRPr>
            </a:lvl7pPr>
            <a:lvl8pPr marL="3429000" indent="-228600" defTabSz="457200" eaLnBrk="0" fontAlgn="base" hangingPunct="0">
              <a:spcBef>
                <a:spcPct val="20000"/>
              </a:spcBef>
              <a:spcAft>
                <a:spcPct val="0"/>
              </a:spcAft>
              <a:buFont typeface="Arial" pitchFamily="34" charset="0"/>
              <a:buChar char="»"/>
              <a:defRPr sz="2000">
                <a:solidFill>
                  <a:schemeClr val="tx1"/>
                </a:solidFill>
                <a:latin typeface="Calibri" pitchFamily="34" charset="0"/>
                <a:ea typeface="ＭＳ Ｐゴシック" pitchFamily="-65" charset="-128"/>
              </a:defRPr>
            </a:lvl8pPr>
            <a:lvl9pPr marL="3886200" indent="-228600" defTabSz="457200" eaLnBrk="0" fontAlgn="base" hangingPunct="0">
              <a:spcBef>
                <a:spcPct val="20000"/>
              </a:spcBef>
              <a:spcAft>
                <a:spcPct val="0"/>
              </a:spcAft>
              <a:buFont typeface="Arial" pitchFamily="34" charset="0"/>
              <a:buChar char="»"/>
              <a:defRPr sz="2000">
                <a:solidFill>
                  <a:schemeClr val="tx1"/>
                </a:solidFill>
                <a:latin typeface="Calibri" pitchFamily="34" charset="0"/>
                <a:ea typeface="ＭＳ Ｐゴシック" pitchFamily="-65" charset="-128"/>
              </a:defRPr>
            </a:lvl9pPr>
          </a:lstStyle>
          <a:p>
            <a:pPr eaLnBrk="1" hangingPunct="1">
              <a:spcBef>
                <a:spcPct val="0"/>
              </a:spcBef>
              <a:buFontTx/>
              <a:buNone/>
            </a:pPr>
            <a:r>
              <a:rPr lang="en-US" altLang="en-US" sz="1800">
                <a:solidFill>
                  <a:srgbClr val="000000"/>
                </a:solidFill>
              </a:rPr>
              <a:t>Rome, GA</a:t>
            </a:r>
          </a:p>
        </p:txBody>
      </p:sp>
      <p:sp>
        <p:nvSpPr>
          <p:cNvPr id="24" name="TextBox 26">
            <a:extLst>
              <a:ext uri="{FF2B5EF4-FFF2-40B4-BE49-F238E27FC236}">
                <a16:creationId xmlns:a16="http://schemas.microsoft.com/office/drawing/2014/main" id="{7928E51E-E8D8-4F24-3572-B6A64AF9EF9E}"/>
              </a:ext>
            </a:extLst>
          </p:cNvPr>
          <p:cNvSpPr txBox="1">
            <a:spLocks noChangeArrowheads="1"/>
          </p:cNvSpPr>
          <p:nvPr/>
        </p:nvSpPr>
        <p:spPr bwMode="auto">
          <a:xfrm>
            <a:off x="3986213" y="1504950"/>
            <a:ext cx="122555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defTabSz="457200">
              <a:spcBef>
                <a:spcPct val="20000"/>
              </a:spcBef>
              <a:buFont typeface="Arial" pitchFamily="34" charset="0"/>
              <a:buChar char="•"/>
              <a:defRPr sz="3200">
                <a:solidFill>
                  <a:schemeClr val="tx1"/>
                </a:solidFill>
                <a:latin typeface="Calibri" pitchFamily="34" charset="0"/>
                <a:ea typeface="ＭＳ Ｐゴシック" pitchFamily="-65" charset="-128"/>
              </a:defRPr>
            </a:lvl1pPr>
            <a:lvl2pPr marL="742950" indent="-285750" defTabSz="457200">
              <a:spcBef>
                <a:spcPct val="20000"/>
              </a:spcBef>
              <a:buFont typeface="Arial" pitchFamily="34" charset="0"/>
              <a:buChar char="–"/>
              <a:defRPr sz="2800">
                <a:solidFill>
                  <a:schemeClr val="tx1"/>
                </a:solidFill>
                <a:latin typeface="Calibri" pitchFamily="34" charset="0"/>
                <a:ea typeface="ＭＳ Ｐゴシック" pitchFamily="-65" charset="-128"/>
              </a:defRPr>
            </a:lvl2pPr>
            <a:lvl3pPr marL="1143000" indent="-228600" defTabSz="457200">
              <a:spcBef>
                <a:spcPct val="20000"/>
              </a:spcBef>
              <a:buFont typeface="Arial" pitchFamily="34" charset="0"/>
              <a:buChar char="•"/>
              <a:defRPr sz="2400">
                <a:solidFill>
                  <a:schemeClr val="tx1"/>
                </a:solidFill>
                <a:latin typeface="Calibri" pitchFamily="34" charset="0"/>
                <a:ea typeface="ＭＳ Ｐゴシック" pitchFamily="-65" charset="-128"/>
              </a:defRPr>
            </a:lvl3pPr>
            <a:lvl4pPr marL="1600200" indent="-228600" defTabSz="457200">
              <a:spcBef>
                <a:spcPct val="20000"/>
              </a:spcBef>
              <a:buFont typeface="Arial" pitchFamily="34" charset="0"/>
              <a:buChar char="–"/>
              <a:defRPr sz="2000">
                <a:solidFill>
                  <a:schemeClr val="tx1"/>
                </a:solidFill>
                <a:latin typeface="Calibri" pitchFamily="34" charset="0"/>
                <a:ea typeface="ＭＳ Ｐゴシック" pitchFamily="-65" charset="-128"/>
              </a:defRPr>
            </a:lvl4pPr>
            <a:lvl5pPr marL="2057400" indent="-228600" defTabSz="457200">
              <a:spcBef>
                <a:spcPct val="20000"/>
              </a:spcBef>
              <a:buFont typeface="Arial" pitchFamily="34" charset="0"/>
              <a:buChar char="»"/>
              <a:defRPr sz="2000">
                <a:solidFill>
                  <a:schemeClr val="tx1"/>
                </a:solidFill>
                <a:latin typeface="Calibri" pitchFamily="34" charset="0"/>
                <a:ea typeface="ＭＳ Ｐゴシック" pitchFamily="-65" charset="-128"/>
              </a:defRPr>
            </a:lvl5pPr>
            <a:lvl6pPr marL="2514600" indent="-228600" defTabSz="457200" eaLnBrk="0" fontAlgn="base" hangingPunct="0">
              <a:spcBef>
                <a:spcPct val="20000"/>
              </a:spcBef>
              <a:spcAft>
                <a:spcPct val="0"/>
              </a:spcAft>
              <a:buFont typeface="Arial" pitchFamily="34" charset="0"/>
              <a:buChar char="»"/>
              <a:defRPr sz="2000">
                <a:solidFill>
                  <a:schemeClr val="tx1"/>
                </a:solidFill>
                <a:latin typeface="Calibri" pitchFamily="34" charset="0"/>
                <a:ea typeface="ＭＳ Ｐゴシック" pitchFamily="-65" charset="-128"/>
              </a:defRPr>
            </a:lvl6pPr>
            <a:lvl7pPr marL="2971800" indent="-228600" defTabSz="457200" eaLnBrk="0" fontAlgn="base" hangingPunct="0">
              <a:spcBef>
                <a:spcPct val="20000"/>
              </a:spcBef>
              <a:spcAft>
                <a:spcPct val="0"/>
              </a:spcAft>
              <a:buFont typeface="Arial" pitchFamily="34" charset="0"/>
              <a:buChar char="»"/>
              <a:defRPr sz="2000">
                <a:solidFill>
                  <a:schemeClr val="tx1"/>
                </a:solidFill>
                <a:latin typeface="Calibri" pitchFamily="34" charset="0"/>
                <a:ea typeface="ＭＳ Ｐゴシック" pitchFamily="-65" charset="-128"/>
              </a:defRPr>
            </a:lvl7pPr>
            <a:lvl8pPr marL="3429000" indent="-228600" defTabSz="457200" eaLnBrk="0" fontAlgn="base" hangingPunct="0">
              <a:spcBef>
                <a:spcPct val="20000"/>
              </a:spcBef>
              <a:spcAft>
                <a:spcPct val="0"/>
              </a:spcAft>
              <a:buFont typeface="Arial" pitchFamily="34" charset="0"/>
              <a:buChar char="»"/>
              <a:defRPr sz="2000">
                <a:solidFill>
                  <a:schemeClr val="tx1"/>
                </a:solidFill>
                <a:latin typeface="Calibri" pitchFamily="34" charset="0"/>
                <a:ea typeface="ＭＳ Ｐゴシック" pitchFamily="-65" charset="-128"/>
              </a:defRPr>
            </a:lvl8pPr>
            <a:lvl9pPr marL="3886200" indent="-228600" defTabSz="457200" eaLnBrk="0" fontAlgn="base" hangingPunct="0">
              <a:spcBef>
                <a:spcPct val="20000"/>
              </a:spcBef>
              <a:spcAft>
                <a:spcPct val="0"/>
              </a:spcAft>
              <a:buFont typeface="Arial" pitchFamily="34" charset="0"/>
              <a:buChar char="»"/>
              <a:defRPr sz="2000">
                <a:solidFill>
                  <a:schemeClr val="tx1"/>
                </a:solidFill>
                <a:latin typeface="Calibri" pitchFamily="34" charset="0"/>
                <a:ea typeface="ＭＳ Ｐゴシック" pitchFamily="-65" charset="-128"/>
              </a:defRPr>
            </a:lvl9pPr>
          </a:lstStyle>
          <a:p>
            <a:pPr eaLnBrk="1" hangingPunct="1">
              <a:spcBef>
                <a:spcPct val="0"/>
              </a:spcBef>
              <a:buFontTx/>
              <a:buNone/>
            </a:pPr>
            <a:r>
              <a:rPr lang="en-US" altLang="en-US" sz="1800">
                <a:solidFill>
                  <a:srgbClr val="000000"/>
                </a:solidFill>
              </a:rPr>
              <a:t>Athens, GA</a:t>
            </a:r>
          </a:p>
        </p:txBody>
      </p:sp>
      <p:sp>
        <p:nvSpPr>
          <p:cNvPr id="25" name="TextBox 27">
            <a:extLst>
              <a:ext uri="{FF2B5EF4-FFF2-40B4-BE49-F238E27FC236}">
                <a16:creationId xmlns:a16="http://schemas.microsoft.com/office/drawing/2014/main" id="{954A06DE-F525-4A20-B30F-A0EDADB142C5}"/>
              </a:ext>
            </a:extLst>
          </p:cNvPr>
          <p:cNvSpPr txBox="1">
            <a:spLocks noChangeArrowheads="1"/>
          </p:cNvSpPr>
          <p:nvPr/>
        </p:nvSpPr>
        <p:spPr bwMode="auto">
          <a:xfrm>
            <a:off x="6643688" y="2841625"/>
            <a:ext cx="1200150"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defTabSz="457200">
              <a:spcBef>
                <a:spcPct val="20000"/>
              </a:spcBef>
              <a:buFont typeface="Arial" pitchFamily="34" charset="0"/>
              <a:buChar char="•"/>
              <a:defRPr sz="3200">
                <a:solidFill>
                  <a:schemeClr val="tx1"/>
                </a:solidFill>
                <a:latin typeface="Calibri" pitchFamily="34" charset="0"/>
                <a:ea typeface="ＭＳ Ｐゴシック" pitchFamily="-65" charset="-128"/>
              </a:defRPr>
            </a:lvl1pPr>
            <a:lvl2pPr marL="742950" indent="-285750" defTabSz="457200">
              <a:spcBef>
                <a:spcPct val="20000"/>
              </a:spcBef>
              <a:buFont typeface="Arial" pitchFamily="34" charset="0"/>
              <a:buChar char="–"/>
              <a:defRPr sz="2800">
                <a:solidFill>
                  <a:schemeClr val="tx1"/>
                </a:solidFill>
                <a:latin typeface="Calibri" pitchFamily="34" charset="0"/>
                <a:ea typeface="ＭＳ Ｐゴシック" pitchFamily="-65" charset="-128"/>
              </a:defRPr>
            </a:lvl2pPr>
            <a:lvl3pPr marL="1143000" indent="-228600" defTabSz="457200">
              <a:spcBef>
                <a:spcPct val="20000"/>
              </a:spcBef>
              <a:buFont typeface="Arial" pitchFamily="34" charset="0"/>
              <a:buChar char="•"/>
              <a:defRPr sz="2400">
                <a:solidFill>
                  <a:schemeClr val="tx1"/>
                </a:solidFill>
                <a:latin typeface="Calibri" pitchFamily="34" charset="0"/>
                <a:ea typeface="ＭＳ Ｐゴシック" pitchFamily="-65" charset="-128"/>
              </a:defRPr>
            </a:lvl3pPr>
            <a:lvl4pPr marL="1600200" indent="-228600" defTabSz="457200">
              <a:spcBef>
                <a:spcPct val="20000"/>
              </a:spcBef>
              <a:buFont typeface="Arial" pitchFamily="34" charset="0"/>
              <a:buChar char="–"/>
              <a:defRPr sz="2000">
                <a:solidFill>
                  <a:schemeClr val="tx1"/>
                </a:solidFill>
                <a:latin typeface="Calibri" pitchFamily="34" charset="0"/>
                <a:ea typeface="ＭＳ Ｐゴシック" pitchFamily="-65" charset="-128"/>
              </a:defRPr>
            </a:lvl4pPr>
            <a:lvl5pPr marL="2057400" indent="-228600" defTabSz="457200">
              <a:spcBef>
                <a:spcPct val="20000"/>
              </a:spcBef>
              <a:buFont typeface="Arial" pitchFamily="34" charset="0"/>
              <a:buChar char="»"/>
              <a:defRPr sz="2000">
                <a:solidFill>
                  <a:schemeClr val="tx1"/>
                </a:solidFill>
                <a:latin typeface="Calibri" pitchFamily="34" charset="0"/>
                <a:ea typeface="ＭＳ Ｐゴシック" pitchFamily="-65" charset="-128"/>
              </a:defRPr>
            </a:lvl5pPr>
            <a:lvl6pPr marL="2514600" indent="-228600" defTabSz="457200" eaLnBrk="0" fontAlgn="base" hangingPunct="0">
              <a:spcBef>
                <a:spcPct val="20000"/>
              </a:spcBef>
              <a:spcAft>
                <a:spcPct val="0"/>
              </a:spcAft>
              <a:buFont typeface="Arial" pitchFamily="34" charset="0"/>
              <a:buChar char="»"/>
              <a:defRPr sz="2000">
                <a:solidFill>
                  <a:schemeClr val="tx1"/>
                </a:solidFill>
                <a:latin typeface="Calibri" pitchFamily="34" charset="0"/>
                <a:ea typeface="ＭＳ Ｐゴシック" pitchFamily="-65" charset="-128"/>
              </a:defRPr>
            </a:lvl6pPr>
            <a:lvl7pPr marL="2971800" indent="-228600" defTabSz="457200" eaLnBrk="0" fontAlgn="base" hangingPunct="0">
              <a:spcBef>
                <a:spcPct val="20000"/>
              </a:spcBef>
              <a:spcAft>
                <a:spcPct val="0"/>
              </a:spcAft>
              <a:buFont typeface="Arial" pitchFamily="34" charset="0"/>
              <a:buChar char="»"/>
              <a:defRPr sz="2000">
                <a:solidFill>
                  <a:schemeClr val="tx1"/>
                </a:solidFill>
                <a:latin typeface="Calibri" pitchFamily="34" charset="0"/>
                <a:ea typeface="ＭＳ Ｐゴシック" pitchFamily="-65" charset="-128"/>
              </a:defRPr>
            </a:lvl7pPr>
            <a:lvl8pPr marL="3429000" indent="-228600" defTabSz="457200" eaLnBrk="0" fontAlgn="base" hangingPunct="0">
              <a:spcBef>
                <a:spcPct val="20000"/>
              </a:spcBef>
              <a:spcAft>
                <a:spcPct val="0"/>
              </a:spcAft>
              <a:buFont typeface="Arial" pitchFamily="34" charset="0"/>
              <a:buChar char="»"/>
              <a:defRPr sz="2000">
                <a:solidFill>
                  <a:schemeClr val="tx1"/>
                </a:solidFill>
                <a:latin typeface="Calibri" pitchFamily="34" charset="0"/>
                <a:ea typeface="ＭＳ Ｐゴシック" pitchFamily="-65" charset="-128"/>
              </a:defRPr>
            </a:lvl8pPr>
            <a:lvl9pPr marL="3886200" indent="-228600" defTabSz="457200" eaLnBrk="0" fontAlgn="base" hangingPunct="0">
              <a:spcBef>
                <a:spcPct val="20000"/>
              </a:spcBef>
              <a:spcAft>
                <a:spcPct val="0"/>
              </a:spcAft>
              <a:buFont typeface="Arial" pitchFamily="34" charset="0"/>
              <a:buChar char="»"/>
              <a:defRPr sz="2000">
                <a:solidFill>
                  <a:schemeClr val="tx1"/>
                </a:solidFill>
                <a:latin typeface="Calibri" pitchFamily="34" charset="0"/>
                <a:ea typeface="ＭＳ Ｐゴシック" pitchFamily="-65" charset="-128"/>
              </a:defRPr>
            </a:lvl9pPr>
          </a:lstStyle>
          <a:p>
            <a:pPr eaLnBrk="1" hangingPunct="1">
              <a:spcBef>
                <a:spcPct val="0"/>
              </a:spcBef>
              <a:buFontTx/>
              <a:buNone/>
            </a:pPr>
            <a:r>
              <a:rPr lang="en-US" altLang="en-US" sz="1800">
                <a:solidFill>
                  <a:srgbClr val="000000"/>
                </a:solidFill>
              </a:rPr>
              <a:t>Homer, GA</a:t>
            </a:r>
          </a:p>
        </p:txBody>
      </p:sp>
      <p:sp>
        <p:nvSpPr>
          <p:cNvPr id="26" name="TextBox 29">
            <a:extLst>
              <a:ext uri="{FF2B5EF4-FFF2-40B4-BE49-F238E27FC236}">
                <a16:creationId xmlns:a16="http://schemas.microsoft.com/office/drawing/2014/main" id="{742F8A07-2AB9-621C-F98C-4E88AF4954A5}"/>
              </a:ext>
            </a:extLst>
          </p:cNvPr>
          <p:cNvSpPr txBox="1">
            <a:spLocks noChangeArrowheads="1"/>
          </p:cNvSpPr>
          <p:nvPr/>
        </p:nvSpPr>
        <p:spPr bwMode="auto">
          <a:xfrm>
            <a:off x="6415088" y="4908550"/>
            <a:ext cx="1520825"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defTabSz="457200">
              <a:spcBef>
                <a:spcPct val="20000"/>
              </a:spcBef>
              <a:buFont typeface="Arial" pitchFamily="34" charset="0"/>
              <a:buChar char="•"/>
              <a:defRPr sz="3200">
                <a:solidFill>
                  <a:schemeClr val="tx1"/>
                </a:solidFill>
                <a:latin typeface="Calibri" pitchFamily="34" charset="0"/>
                <a:ea typeface="ＭＳ Ｐゴシック" pitchFamily="-65" charset="-128"/>
              </a:defRPr>
            </a:lvl1pPr>
            <a:lvl2pPr marL="742950" indent="-285750" defTabSz="457200">
              <a:spcBef>
                <a:spcPct val="20000"/>
              </a:spcBef>
              <a:buFont typeface="Arial" pitchFamily="34" charset="0"/>
              <a:buChar char="–"/>
              <a:defRPr sz="2800">
                <a:solidFill>
                  <a:schemeClr val="tx1"/>
                </a:solidFill>
                <a:latin typeface="Calibri" pitchFamily="34" charset="0"/>
                <a:ea typeface="ＭＳ Ｐゴシック" pitchFamily="-65" charset="-128"/>
              </a:defRPr>
            </a:lvl2pPr>
            <a:lvl3pPr marL="1143000" indent="-228600" defTabSz="457200">
              <a:spcBef>
                <a:spcPct val="20000"/>
              </a:spcBef>
              <a:buFont typeface="Arial" pitchFamily="34" charset="0"/>
              <a:buChar char="•"/>
              <a:defRPr sz="2400">
                <a:solidFill>
                  <a:schemeClr val="tx1"/>
                </a:solidFill>
                <a:latin typeface="Calibri" pitchFamily="34" charset="0"/>
                <a:ea typeface="ＭＳ Ｐゴシック" pitchFamily="-65" charset="-128"/>
              </a:defRPr>
            </a:lvl3pPr>
            <a:lvl4pPr marL="1600200" indent="-228600" defTabSz="457200">
              <a:spcBef>
                <a:spcPct val="20000"/>
              </a:spcBef>
              <a:buFont typeface="Arial" pitchFamily="34" charset="0"/>
              <a:buChar char="–"/>
              <a:defRPr sz="2000">
                <a:solidFill>
                  <a:schemeClr val="tx1"/>
                </a:solidFill>
                <a:latin typeface="Calibri" pitchFamily="34" charset="0"/>
                <a:ea typeface="ＭＳ Ｐゴシック" pitchFamily="-65" charset="-128"/>
              </a:defRPr>
            </a:lvl4pPr>
            <a:lvl5pPr marL="2057400" indent="-228600" defTabSz="457200">
              <a:spcBef>
                <a:spcPct val="20000"/>
              </a:spcBef>
              <a:buFont typeface="Arial" pitchFamily="34" charset="0"/>
              <a:buChar char="»"/>
              <a:defRPr sz="2000">
                <a:solidFill>
                  <a:schemeClr val="tx1"/>
                </a:solidFill>
                <a:latin typeface="Calibri" pitchFamily="34" charset="0"/>
                <a:ea typeface="ＭＳ Ｐゴシック" pitchFamily="-65" charset="-128"/>
              </a:defRPr>
            </a:lvl5pPr>
            <a:lvl6pPr marL="2514600" indent="-228600" defTabSz="457200" eaLnBrk="0" fontAlgn="base" hangingPunct="0">
              <a:spcBef>
                <a:spcPct val="20000"/>
              </a:spcBef>
              <a:spcAft>
                <a:spcPct val="0"/>
              </a:spcAft>
              <a:buFont typeface="Arial" pitchFamily="34" charset="0"/>
              <a:buChar char="»"/>
              <a:defRPr sz="2000">
                <a:solidFill>
                  <a:schemeClr val="tx1"/>
                </a:solidFill>
                <a:latin typeface="Calibri" pitchFamily="34" charset="0"/>
                <a:ea typeface="ＭＳ Ｐゴシック" pitchFamily="-65" charset="-128"/>
              </a:defRPr>
            </a:lvl6pPr>
            <a:lvl7pPr marL="2971800" indent="-228600" defTabSz="457200" eaLnBrk="0" fontAlgn="base" hangingPunct="0">
              <a:spcBef>
                <a:spcPct val="20000"/>
              </a:spcBef>
              <a:spcAft>
                <a:spcPct val="0"/>
              </a:spcAft>
              <a:buFont typeface="Arial" pitchFamily="34" charset="0"/>
              <a:buChar char="»"/>
              <a:defRPr sz="2000">
                <a:solidFill>
                  <a:schemeClr val="tx1"/>
                </a:solidFill>
                <a:latin typeface="Calibri" pitchFamily="34" charset="0"/>
                <a:ea typeface="ＭＳ Ｐゴシック" pitchFamily="-65" charset="-128"/>
              </a:defRPr>
            </a:lvl7pPr>
            <a:lvl8pPr marL="3429000" indent="-228600" defTabSz="457200" eaLnBrk="0" fontAlgn="base" hangingPunct="0">
              <a:spcBef>
                <a:spcPct val="20000"/>
              </a:spcBef>
              <a:spcAft>
                <a:spcPct val="0"/>
              </a:spcAft>
              <a:buFont typeface="Arial" pitchFamily="34" charset="0"/>
              <a:buChar char="»"/>
              <a:defRPr sz="2000">
                <a:solidFill>
                  <a:schemeClr val="tx1"/>
                </a:solidFill>
                <a:latin typeface="Calibri" pitchFamily="34" charset="0"/>
                <a:ea typeface="ＭＳ Ｐゴシック" pitchFamily="-65" charset="-128"/>
              </a:defRPr>
            </a:lvl8pPr>
            <a:lvl9pPr marL="3886200" indent="-228600" defTabSz="457200" eaLnBrk="0" fontAlgn="base" hangingPunct="0">
              <a:spcBef>
                <a:spcPct val="20000"/>
              </a:spcBef>
              <a:spcAft>
                <a:spcPct val="0"/>
              </a:spcAft>
              <a:buFont typeface="Arial" pitchFamily="34" charset="0"/>
              <a:buChar char="»"/>
              <a:defRPr sz="2000">
                <a:solidFill>
                  <a:schemeClr val="tx1"/>
                </a:solidFill>
                <a:latin typeface="Calibri" pitchFamily="34" charset="0"/>
                <a:ea typeface="ＭＳ Ｐゴシック" pitchFamily="-65" charset="-128"/>
              </a:defRPr>
            </a:lvl9pPr>
          </a:lstStyle>
          <a:p>
            <a:pPr eaLnBrk="1" hangingPunct="1">
              <a:spcBef>
                <a:spcPct val="0"/>
              </a:spcBef>
              <a:buFontTx/>
              <a:buNone/>
            </a:pPr>
            <a:r>
              <a:rPr lang="en-US" altLang="en-US" sz="1800">
                <a:solidFill>
                  <a:srgbClr val="000000"/>
                </a:solidFill>
              </a:rPr>
              <a:t>Damascus, GA</a:t>
            </a:r>
          </a:p>
        </p:txBody>
      </p:sp>
      <p:sp>
        <p:nvSpPr>
          <p:cNvPr id="27" name="TextBox 30">
            <a:extLst>
              <a:ext uri="{FF2B5EF4-FFF2-40B4-BE49-F238E27FC236}">
                <a16:creationId xmlns:a16="http://schemas.microsoft.com/office/drawing/2014/main" id="{2EE0109C-5CDA-A1E5-576B-03EF801329E8}"/>
              </a:ext>
            </a:extLst>
          </p:cNvPr>
          <p:cNvSpPr txBox="1">
            <a:spLocks noChangeArrowheads="1"/>
          </p:cNvSpPr>
          <p:nvPr/>
        </p:nvSpPr>
        <p:spPr bwMode="auto">
          <a:xfrm>
            <a:off x="2214563" y="5416550"/>
            <a:ext cx="1598612"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defTabSz="457200">
              <a:spcBef>
                <a:spcPct val="20000"/>
              </a:spcBef>
              <a:buFont typeface="Arial" pitchFamily="34" charset="0"/>
              <a:buChar char="•"/>
              <a:defRPr sz="3200">
                <a:solidFill>
                  <a:schemeClr val="tx1"/>
                </a:solidFill>
                <a:latin typeface="Calibri" pitchFamily="34" charset="0"/>
                <a:ea typeface="ＭＳ Ｐゴシック" pitchFamily="-65" charset="-128"/>
              </a:defRPr>
            </a:lvl1pPr>
            <a:lvl2pPr marL="742950" indent="-285750" defTabSz="457200">
              <a:spcBef>
                <a:spcPct val="20000"/>
              </a:spcBef>
              <a:buFont typeface="Arial" pitchFamily="34" charset="0"/>
              <a:buChar char="–"/>
              <a:defRPr sz="2800">
                <a:solidFill>
                  <a:schemeClr val="tx1"/>
                </a:solidFill>
                <a:latin typeface="Calibri" pitchFamily="34" charset="0"/>
                <a:ea typeface="ＭＳ Ｐゴシック" pitchFamily="-65" charset="-128"/>
              </a:defRPr>
            </a:lvl2pPr>
            <a:lvl3pPr marL="1143000" indent="-228600" defTabSz="457200">
              <a:spcBef>
                <a:spcPct val="20000"/>
              </a:spcBef>
              <a:buFont typeface="Arial" pitchFamily="34" charset="0"/>
              <a:buChar char="•"/>
              <a:defRPr sz="2400">
                <a:solidFill>
                  <a:schemeClr val="tx1"/>
                </a:solidFill>
                <a:latin typeface="Calibri" pitchFamily="34" charset="0"/>
                <a:ea typeface="ＭＳ Ｐゴシック" pitchFamily="-65" charset="-128"/>
              </a:defRPr>
            </a:lvl3pPr>
            <a:lvl4pPr marL="1600200" indent="-228600" defTabSz="457200">
              <a:spcBef>
                <a:spcPct val="20000"/>
              </a:spcBef>
              <a:buFont typeface="Arial" pitchFamily="34" charset="0"/>
              <a:buChar char="–"/>
              <a:defRPr sz="2000">
                <a:solidFill>
                  <a:schemeClr val="tx1"/>
                </a:solidFill>
                <a:latin typeface="Calibri" pitchFamily="34" charset="0"/>
                <a:ea typeface="ＭＳ Ｐゴシック" pitchFamily="-65" charset="-128"/>
              </a:defRPr>
            </a:lvl4pPr>
            <a:lvl5pPr marL="2057400" indent="-228600" defTabSz="457200">
              <a:spcBef>
                <a:spcPct val="20000"/>
              </a:spcBef>
              <a:buFont typeface="Arial" pitchFamily="34" charset="0"/>
              <a:buChar char="»"/>
              <a:defRPr sz="2000">
                <a:solidFill>
                  <a:schemeClr val="tx1"/>
                </a:solidFill>
                <a:latin typeface="Calibri" pitchFamily="34" charset="0"/>
                <a:ea typeface="ＭＳ Ｐゴシック" pitchFamily="-65" charset="-128"/>
              </a:defRPr>
            </a:lvl5pPr>
            <a:lvl6pPr marL="2514600" indent="-228600" defTabSz="457200" eaLnBrk="0" fontAlgn="base" hangingPunct="0">
              <a:spcBef>
                <a:spcPct val="20000"/>
              </a:spcBef>
              <a:spcAft>
                <a:spcPct val="0"/>
              </a:spcAft>
              <a:buFont typeface="Arial" pitchFamily="34" charset="0"/>
              <a:buChar char="»"/>
              <a:defRPr sz="2000">
                <a:solidFill>
                  <a:schemeClr val="tx1"/>
                </a:solidFill>
                <a:latin typeface="Calibri" pitchFamily="34" charset="0"/>
                <a:ea typeface="ＭＳ Ｐゴシック" pitchFamily="-65" charset="-128"/>
              </a:defRPr>
            </a:lvl6pPr>
            <a:lvl7pPr marL="2971800" indent="-228600" defTabSz="457200" eaLnBrk="0" fontAlgn="base" hangingPunct="0">
              <a:spcBef>
                <a:spcPct val="20000"/>
              </a:spcBef>
              <a:spcAft>
                <a:spcPct val="0"/>
              </a:spcAft>
              <a:buFont typeface="Arial" pitchFamily="34" charset="0"/>
              <a:buChar char="»"/>
              <a:defRPr sz="2000">
                <a:solidFill>
                  <a:schemeClr val="tx1"/>
                </a:solidFill>
                <a:latin typeface="Calibri" pitchFamily="34" charset="0"/>
                <a:ea typeface="ＭＳ Ｐゴシック" pitchFamily="-65" charset="-128"/>
              </a:defRPr>
            </a:lvl7pPr>
            <a:lvl8pPr marL="3429000" indent="-228600" defTabSz="457200" eaLnBrk="0" fontAlgn="base" hangingPunct="0">
              <a:spcBef>
                <a:spcPct val="20000"/>
              </a:spcBef>
              <a:spcAft>
                <a:spcPct val="0"/>
              </a:spcAft>
              <a:buFont typeface="Arial" pitchFamily="34" charset="0"/>
              <a:buChar char="»"/>
              <a:defRPr sz="2000">
                <a:solidFill>
                  <a:schemeClr val="tx1"/>
                </a:solidFill>
                <a:latin typeface="Calibri" pitchFamily="34" charset="0"/>
                <a:ea typeface="ＭＳ Ｐゴシック" pitchFamily="-65" charset="-128"/>
              </a:defRPr>
            </a:lvl8pPr>
            <a:lvl9pPr marL="3886200" indent="-228600" defTabSz="457200" eaLnBrk="0" fontAlgn="base" hangingPunct="0">
              <a:spcBef>
                <a:spcPct val="20000"/>
              </a:spcBef>
              <a:spcAft>
                <a:spcPct val="0"/>
              </a:spcAft>
              <a:buFont typeface="Arial" pitchFamily="34" charset="0"/>
              <a:buChar char="»"/>
              <a:defRPr sz="2000">
                <a:solidFill>
                  <a:schemeClr val="tx1"/>
                </a:solidFill>
                <a:latin typeface="Calibri" pitchFamily="34" charset="0"/>
                <a:ea typeface="ＭＳ Ｐゴシック" pitchFamily="-65" charset="-128"/>
              </a:defRPr>
            </a:lvl9pPr>
          </a:lstStyle>
          <a:p>
            <a:pPr eaLnBrk="1" hangingPunct="1">
              <a:spcBef>
                <a:spcPct val="0"/>
              </a:spcBef>
              <a:buFontTx/>
              <a:buNone/>
            </a:pPr>
            <a:r>
              <a:rPr lang="en-US" altLang="en-US" sz="1800">
                <a:solidFill>
                  <a:srgbClr val="000000"/>
                </a:solidFill>
              </a:rPr>
              <a:t>Bethlehem, GA</a:t>
            </a:r>
          </a:p>
        </p:txBody>
      </p:sp>
      <p:sp>
        <p:nvSpPr>
          <p:cNvPr id="28" name="Rounded Rectangular Callout 45">
            <a:extLst>
              <a:ext uri="{FF2B5EF4-FFF2-40B4-BE49-F238E27FC236}">
                <a16:creationId xmlns:a16="http://schemas.microsoft.com/office/drawing/2014/main" id="{5F205CCD-6FCC-7CA5-02C5-ED3668B064CD}"/>
              </a:ext>
            </a:extLst>
          </p:cNvPr>
          <p:cNvSpPr>
            <a:spLocks noChangeArrowheads="1"/>
          </p:cNvSpPr>
          <p:nvPr/>
        </p:nvSpPr>
        <p:spPr bwMode="auto">
          <a:xfrm>
            <a:off x="5581650" y="5653088"/>
            <a:ext cx="2103438" cy="642937"/>
          </a:xfrm>
          <a:prstGeom prst="wedgeRoundRectCallout">
            <a:avLst>
              <a:gd name="adj1" fmla="val -44074"/>
              <a:gd name="adj2" fmla="val 77139"/>
              <a:gd name="adj3" fmla="val 16667"/>
            </a:avLst>
          </a:prstGeom>
          <a:gradFill rotWithShape="1">
            <a:gsLst>
              <a:gs pos="0">
                <a:srgbClr val="9BC1FF"/>
              </a:gs>
              <a:gs pos="100000">
                <a:srgbClr val="3F80CD"/>
              </a:gs>
            </a:gsLst>
            <a:lin ang="5400000"/>
          </a:gradFill>
          <a:ln w="9525">
            <a:solidFill>
              <a:srgbClr val="4A7EBB"/>
            </a:solidFill>
            <a:miter lim="800000"/>
            <a:headEnd/>
            <a:tailEnd/>
          </a:ln>
          <a:effectLst>
            <a:outerShdw blurRad="40000" dist="23000" dir="5400000" rotWithShape="0">
              <a:srgbClr val="808080">
                <a:alpha val="34999"/>
              </a:srgbClr>
            </a:outerShdw>
          </a:effectLst>
        </p:spPr>
        <p:txBody>
          <a:bodyPr/>
          <a:lstStyle/>
          <a:p>
            <a:pPr defTabSz="457200" eaLnBrk="1" fontAlgn="auto" hangingPunct="1">
              <a:spcBef>
                <a:spcPts val="0"/>
              </a:spcBef>
              <a:spcAft>
                <a:spcPts val="0"/>
              </a:spcAft>
              <a:defRPr/>
            </a:pPr>
            <a:r>
              <a:rPr lang="en-US" sz="1800" dirty="0">
                <a:solidFill>
                  <a:prstClr val="white"/>
                </a:solidFill>
                <a:latin typeface="+mn-lt"/>
                <a:ea typeface="+mn-ea"/>
              </a:rPr>
              <a:t>Those are some peachy names!</a:t>
            </a:r>
          </a:p>
        </p:txBody>
      </p:sp>
      <p:sp>
        <p:nvSpPr>
          <p:cNvPr id="29" name="Title 1">
            <a:extLst>
              <a:ext uri="{FF2B5EF4-FFF2-40B4-BE49-F238E27FC236}">
                <a16:creationId xmlns:a16="http://schemas.microsoft.com/office/drawing/2014/main" id="{EF9D4D13-FE44-1EB0-16DF-7075D30B0824}"/>
              </a:ext>
            </a:extLst>
          </p:cNvPr>
          <p:cNvSpPr txBox="1">
            <a:spLocks/>
          </p:cNvSpPr>
          <p:nvPr/>
        </p:nvSpPr>
        <p:spPr>
          <a:xfrm>
            <a:off x="471488" y="443128"/>
            <a:ext cx="8229600" cy="1143000"/>
          </a:xfrm>
          <a:prstGeom prst="rect">
            <a:avLst/>
          </a:prstGeom>
        </p:spPr>
        <p:txBody>
          <a:bodyPr vert="horz" lIns="91440" tIns="45720" rIns="91440" bIns="45720" rtlCol="0" anchor="ctr">
            <a:norm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n-US" altLang="en-US" dirty="0">
                <a:ea typeface="ＭＳ Ｐゴシック" pitchFamily="-65" charset="-128"/>
              </a:rPr>
              <a:t>The Hamiltonian Path Problem</a:t>
            </a:r>
          </a:p>
        </p:txBody>
      </p:sp>
      <p:cxnSp>
        <p:nvCxnSpPr>
          <p:cNvPr id="30" name="Straight Arrow Connector 14">
            <a:extLst>
              <a:ext uri="{FF2B5EF4-FFF2-40B4-BE49-F238E27FC236}">
                <a16:creationId xmlns:a16="http://schemas.microsoft.com/office/drawing/2014/main" id="{DCC6E8A3-0DE2-02F2-0D58-F7883BE620F7}"/>
              </a:ext>
            </a:extLst>
          </p:cNvPr>
          <p:cNvCxnSpPr>
            <a:cxnSpLocks noChangeShapeType="1"/>
          </p:cNvCxnSpPr>
          <p:nvPr/>
        </p:nvCxnSpPr>
        <p:spPr bwMode="auto">
          <a:xfrm rot="5400000">
            <a:off x="2605881" y="3065382"/>
            <a:ext cx="2952750" cy="922337"/>
          </a:xfrm>
          <a:prstGeom prst="straightConnector1">
            <a:avLst/>
          </a:prstGeom>
          <a:noFill/>
          <a:ln w="25400">
            <a:solidFill>
              <a:schemeClr val="accent1"/>
            </a:solidFill>
            <a:round/>
            <a:headEnd/>
            <a:tailEnd type="arrow" w="med" len="med"/>
          </a:ln>
          <a:effectLst>
            <a:outerShdw blurRad="40000" dist="20000" dir="5400000" rotWithShape="0">
              <a:srgbClr val="808080">
                <a:alpha val="37999"/>
              </a:srgbClr>
            </a:outerShdw>
          </a:effectLst>
          <a:extLst>
            <a:ext uri="{909E8E84-426E-40DD-AFC4-6F175D3DCCD1}">
              <a14:hiddenFill xmlns:a14="http://schemas.microsoft.com/office/drawing/2010/main">
                <a:noFill/>
              </a14:hiddenFill>
            </a:ext>
          </a:extLst>
        </p:spPr>
      </p:cxnSp>
    </p:spTree>
    <p:extLst>
      <p:ext uri="{BB962C8B-B14F-4D97-AF65-F5344CB8AC3E}">
        <p14:creationId xmlns:p14="http://schemas.microsoft.com/office/powerpoint/2010/main" val="770904984"/>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0" y="0"/>
            <a:ext cx="12192000" cy="762000"/>
          </a:xfrm>
          <a:prstGeom prst="rect">
            <a:avLst/>
          </a:prstGeom>
          <a:solidFill>
            <a:srgbClr val="002F7C"/>
          </a:solidFill>
        </p:spPr>
        <p:style>
          <a:lnRef idx="2">
            <a:schemeClr val="dk1">
              <a:shade val="50000"/>
            </a:schemeClr>
          </a:lnRef>
          <a:fillRef idx="1">
            <a:schemeClr val="dk1"/>
          </a:fillRef>
          <a:effectRef idx="0">
            <a:schemeClr val="dk1"/>
          </a:effectRef>
          <a:fontRef idx="minor">
            <a:schemeClr val="lt1"/>
          </a:fontRef>
        </p:style>
        <p:txBody>
          <a:bodyPr rtlCol="0" anchor="ctr"/>
          <a:lstStyle/>
          <a:p>
            <a:r>
              <a:rPr lang="zh-CN" altLang="en-US" sz="2000" b="1" dirty="0">
                <a:latin typeface="Times New Roman" panose="02020603050405020304" pitchFamily="18" charset="0"/>
                <a:ea typeface="宋体" panose="02010600030101010101" pitchFamily="2" charset="-122"/>
                <a:cs typeface="Times New Roman" panose="02020603050405020304" pitchFamily="18" charset="0"/>
              </a:rPr>
              <a:t>                </a:t>
            </a:r>
            <a:r>
              <a:rPr lang="en-US" altLang="zh-CN" sz="2400" b="1" dirty="0">
                <a:latin typeface="Trebuchet MS" panose="020B0603020202020204" pitchFamily="34" charset="0"/>
              </a:rPr>
              <a:t>Chapter 8: </a:t>
            </a:r>
            <a:r>
              <a:rPr lang="en-US" altLang="zh-CN" sz="2400" dirty="0"/>
              <a:t>INTRACTABILITY</a:t>
            </a:r>
            <a:endParaRPr lang="zh-CN" altLang="en-US" sz="2400" b="1" dirty="0">
              <a:solidFill>
                <a:srgbClr val="3D557A"/>
              </a:solidFill>
              <a:latin typeface="Trebuchet MS" panose="020B0603020202020204" pitchFamily="34" charset="0"/>
            </a:endParaRPr>
          </a:p>
        </p:txBody>
      </p:sp>
      <p:sp>
        <p:nvSpPr>
          <p:cNvPr id="13" name="矩形 12"/>
          <p:cNvSpPr/>
          <p:nvPr/>
        </p:nvSpPr>
        <p:spPr>
          <a:xfrm>
            <a:off x="824682" y="0"/>
            <a:ext cx="175443" cy="628650"/>
          </a:xfrm>
          <a:prstGeom prst="rect">
            <a:avLst/>
          </a:prstGeom>
          <a:solidFill>
            <a:srgbClr val="CFA57C"/>
          </a:solidFill>
          <a:ln cmpd="sng">
            <a:gradFill flip="none" rotWithShape="1">
              <a:gsLst>
                <a:gs pos="50000">
                  <a:schemeClr val="accent2">
                    <a:lumMod val="60000"/>
                    <a:lumOff val="40000"/>
                  </a:schemeClr>
                </a:gs>
                <a:gs pos="0">
                  <a:schemeClr val="accent2">
                    <a:lumMod val="20000"/>
                    <a:lumOff val="80000"/>
                  </a:schemeClr>
                </a:gs>
                <a:gs pos="95000">
                  <a:schemeClr val="accent2"/>
                </a:gs>
              </a:gsLst>
              <a:path path="circle">
                <a:fillToRect l="50000" t="-80000" r="50000" b="180000"/>
              </a:path>
              <a:tileRect/>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22" name="Picture 6" descr="D:\MBA工作\LOGO\同济经管LOGO反白.png"/>
          <p:cNvPicPr>
            <a:picLocks noChangeAspect="1" noChangeArrowheads="1"/>
          </p:cNvPicPr>
          <p:nvPr/>
        </p:nvPicPr>
        <p:blipFill>
          <a:blip r:embed="rId3" cstate="email">
            <a:extLst>
              <a:ext uri="{28A0092B-C50C-407E-A947-70E740481C1C}">
                <a14:useLocalDpi xmlns:a14="http://schemas.microsoft.com/office/drawing/2010/main" val="0"/>
              </a:ext>
            </a:extLst>
          </a:blip>
          <a:srcRect/>
          <a:stretch>
            <a:fillRect/>
          </a:stretch>
        </p:blipFill>
        <p:spPr bwMode="auto">
          <a:xfrm>
            <a:off x="10267423" y="165688"/>
            <a:ext cx="1386605" cy="462962"/>
          </a:xfrm>
          <a:prstGeom prst="rect">
            <a:avLst/>
          </a:prstGeom>
          <a:noFill/>
          <a:extLst>
            <a:ext uri="{909E8E84-426E-40DD-AFC4-6F175D3DCCD1}">
              <a14:hiddenFill xmlns:a14="http://schemas.microsoft.com/office/drawing/2010/main">
                <a:solidFill>
                  <a:srgbClr val="FFFFFF"/>
                </a:solidFill>
              </a14:hiddenFill>
            </a:ext>
          </a:extLst>
        </p:spPr>
      </p:pic>
      <p:pic>
        <p:nvPicPr>
          <p:cNvPr id="2" name="图片 1" descr="微信图片_20220318113523"/>
          <p:cNvPicPr>
            <a:picLocks noChangeAspect="1"/>
          </p:cNvPicPr>
          <p:nvPr userDrawn="1"/>
        </p:nvPicPr>
        <p:blipFill>
          <a:blip r:embed="rId4"/>
          <a:stretch>
            <a:fillRect/>
          </a:stretch>
        </p:blipFill>
        <p:spPr>
          <a:xfrm>
            <a:off x="9291877" y="6115050"/>
            <a:ext cx="2244725" cy="361315"/>
          </a:xfrm>
          <a:prstGeom prst="rect">
            <a:avLst/>
          </a:prstGeom>
        </p:spPr>
      </p:pic>
      <p:sp>
        <p:nvSpPr>
          <p:cNvPr id="18" name="Rectangle 2">
            <a:extLst>
              <a:ext uri="{FF2B5EF4-FFF2-40B4-BE49-F238E27FC236}">
                <a16:creationId xmlns:a16="http://schemas.microsoft.com/office/drawing/2014/main" id="{E217C615-1D49-4D07-B850-D36106D7AA9A}"/>
              </a:ext>
            </a:extLst>
          </p:cNvPr>
          <p:cNvSpPr>
            <a:spLocks noChangeArrowheads="1"/>
          </p:cNvSpPr>
          <p:nvPr/>
        </p:nvSpPr>
        <p:spPr bwMode="auto">
          <a:xfrm>
            <a:off x="1000125" y="815365"/>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8" name="Rectangle 3">
            <a:extLst>
              <a:ext uri="{FF2B5EF4-FFF2-40B4-BE49-F238E27FC236}">
                <a16:creationId xmlns:a16="http://schemas.microsoft.com/office/drawing/2014/main" id="{97F08C45-3D15-45C1-A5A3-D1EB58DC91FE}"/>
              </a:ext>
            </a:extLst>
          </p:cNvPr>
          <p:cNvSpPr txBox="1">
            <a:spLocks noChangeArrowheads="1"/>
          </p:cNvSpPr>
          <p:nvPr/>
        </p:nvSpPr>
        <p:spPr>
          <a:xfrm>
            <a:off x="824681" y="765175"/>
            <a:ext cx="8798289" cy="5788025"/>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indent="1828800">
              <a:lnSpc>
                <a:spcPct val="130000"/>
              </a:lnSpc>
              <a:spcBef>
                <a:spcPts val="600"/>
              </a:spcBef>
              <a:buNone/>
            </a:pPr>
            <a:r>
              <a:rPr lang="en-US" altLang="en-US" sz="4000" dirty="0">
                <a:ea typeface="ＭＳ Ｐゴシック" pitchFamily="-65" charset="-128"/>
              </a:rPr>
              <a:t>n</a:t>
            </a:r>
            <a:r>
              <a:rPr lang="en-US" altLang="en-US" sz="4000" baseline="30000" dirty="0">
                <a:ea typeface="ＭＳ Ｐゴシック" pitchFamily="-65" charset="-128"/>
              </a:rPr>
              <a:t>2</a:t>
            </a:r>
            <a:r>
              <a:rPr lang="en-US" altLang="en-US" sz="4000" dirty="0">
                <a:ea typeface="ＭＳ Ｐゴシック" pitchFamily="-65" charset="-128"/>
              </a:rPr>
              <a:t> Versus 2</a:t>
            </a:r>
            <a:r>
              <a:rPr lang="en-US" altLang="en-US" sz="4000" baseline="30000" dirty="0">
                <a:ea typeface="ＭＳ Ｐゴシック" pitchFamily="-65" charset="-128"/>
              </a:rPr>
              <a:t>n</a:t>
            </a:r>
            <a:endParaRPr lang="en-US" altLang="zh-CN" sz="2400" b="1" dirty="0">
              <a:latin typeface="Trebuchet MS" panose="020B0603020202020204" pitchFamily="34" charset="0"/>
            </a:endParaRPr>
          </a:p>
        </p:txBody>
      </p:sp>
      <p:sp>
        <p:nvSpPr>
          <p:cNvPr id="3" name="Content Placeholder 2">
            <a:extLst>
              <a:ext uri="{FF2B5EF4-FFF2-40B4-BE49-F238E27FC236}">
                <a16:creationId xmlns:a16="http://schemas.microsoft.com/office/drawing/2014/main" id="{1CEE0A4B-989B-33C8-5610-9284D54BCB35}"/>
              </a:ext>
            </a:extLst>
          </p:cNvPr>
          <p:cNvSpPr>
            <a:spLocks noGrp="1"/>
          </p:cNvSpPr>
          <p:nvPr>
            <p:ph idx="1"/>
          </p:nvPr>
        </p:nvSpPr>
        <p:spPr>
          <a:xfrm>
            <a:off x="457200" y="1600200"/>
            <a:ext cx="8229600" cy="4525963"/>
          </a:xfrm>
        </p:spPr>
        <p:txBody>
          <a:bodyPr/>
          <a:lstStyle/>
          <a:p>
            <a:pPr eaLnBrk="1" hangingPunct="1">
              <a:buFont typeface="Arial" pitchFamily="34" charset="0"/>
              <a:buNone/>
            </a:pPr>
            <a:r>
              <a:rPr lang="en-US" altLang="en-US" dirty="0">
                <a:ea typeface="ＭＳ Ｐゴシック" pitchFamily="-65" charset="-128"/>
              </a:rPr>
              <a:t>The Geoff-O-Matic performs 10</a:t>
            </a:r>
            <a:r>
              <a:rPr lang="en-US" altLang="en-US" baseline="30000" dirty="0">
                <a:ea typeface="ＭＳ Ｐゴシック" pitchFamily="-65" charset="-128"/>
              </a:rPr>
              <a:t>9</a:t>
            </a:r>
            <a:r>
              <a:rPr lang="en-US" altLang="en-US" dirty="0">
                <a:ea typeface="ＭＳ Ｐゴシック" pitchFamily="-65" charset="-128"/>
              </a:rPr>
              <a:t> operations/sec</a:t>
            </a:r>
          </a:p>
        </p:txBody>
      </p:sp>
      <p:sp>
        <p:nvSpPr>
          <p:cNvPr id="4" name="TextBox 8">
            <a:extLst>
              <a:ext uri="{FF2B5EF4-FFF2-40B4-BE49-F238E27FC236}">
                <a16:creationId xmlns:a16="http://schemas.microsoft.com/office/drawing/2014/main" id="{7F1C031C-CF92-AF59-7F7D-E0FA13E2D9F9}"/>
              </a:ext>
            </a:extLst>
          </p:cNvPr>
          <p:cNvSpPr txBox="1">
            <a:spLocks noChangeArrowheads="1"/>
          </p:cNvSpPr>
          <p:nvPr/>
        </p:nvSpPr>
        <p:spPr bwMode="auto">
          <a:xfrm>
            <a:off x="466233" y="3533941"/>
            <a:ext cx="904875" cy="2862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defTabSz="457200">
              <a:spcBef>
                <a:spcPct val="20000"/>
              </a:spcBef>
              <a:buFont typeface="Arial" pitchFamily="34" charset="0"/>
              <a:buChar char="•"/>
              <a:defRPr sz="3200">
                <a:solidFill>
                  <a:schemeClr val="tx1"/>
                </a:solidFill>
                <a:latin typeface="Calibri" pitchFamily="34" charset="0"/>
                <a:ea typeface="ＭＳ Ｐゴシック" pitchFamily="-65" charset="-128"/>
              </a:defRPr>
            </a:lvl1pPr>
            <a:lvl2pPr marL="742950" indent="-285750" defTabSz="457200">
              <a:spcBef>
                <a:spcPct val="20000"/>
              </a:spcBef>
              <a:buFont typeface="Arial" pitchFamily="34" charset="0"/>
              <a:buChar char="–"/>
              <a:defRPr sz="2800">
                <a:solidFill>
                  <a:schemeClr val="tx1"/>
                </a:solidFill>
                <a:latin typeface="Calibri" pitchFamily="34" charset="0"/>
                <a:ea typeface="ＭＳ Ｐゴシック" pitchFamily="-65" charset="-128"/>
              </a:defRPr>
            </a:lvl2pPr>
            <a:lvl3pPr marL="1143000" indent="-228600" defTabSz="457200">
              <a:spcBef>
                <a:spcPct val="20000"/>
              </a:spcBef>
              <a:buFont typeface="Arial" pitchFamily="34" charset="0"/>
              <a:buChar char="•"/>
              <a:defRPr sz="2400">
                <a:solidFill>
                  <a:schemeClr val="tx1"/>
                </a:solidFill>
                <a:latin typeface="Calibri" pitchFamily="34" charset="0"/>
                <a:ea typeface="ＭＳ Ｐゴシック" pitchFamily="-65" charset="-128"/>
              </a:defRPr>
            </a:lvl3pPr>
            <a:lvl4pPr marL="1600200" indent="-228600" defTabSz="457200">
              <a:spcBef>
                <a:spcPct val="20000"/>
              </a:spcBef>
              <a:buFont typeface="Arial" pitchFamily="34" charset="0"/>
              <a:buChar char="–"/>
              <a:defRPr sz="2000">
                <a:solidFill>
                  <a:schemeClr val="tx1"/>
                </a:solidFill>
                <a:latin typeface="Calibri" pitchFamily="34" charset="0"/>
                <a:ea typeface="ＭＳ Ｐゴシック" pitchFamily="-65" charset="-128"/>
              </a:defRPr>
            </a:lvl4pPr>
            <a:lvl5pPr marL="2057400" indent="-228600" defTabSz="457200">
              <a:spcBef>
                <a:spcPct val="20000"/>
              </a:spcBef>
              <a:buFont typeface="Arial" pitchFamily="34" charset="0"/>
              <a:buChar char="»"/>
              <a:defRPr sz="2000">
                <a:solidFill>
                  <a:schemeClr val="tx1"/>
                </a:solidFill>
                <a:latin typeface="Calibri" pitchFamily="34" charset="0"/>
                <a:ea typeface="ＭＳ Ｐゴシック" pitchFamily="-65" charset="-128"/>
              </a:defRPr>
            </a:lvl5pPr>
            <a:lvl6pPr marL="2514600" indent="-228600" defTabSz="457200" eaLnBrk="0" fontAlgn="base" hangingPunct="0">
              <a:spcBef>
                <a:spcPct val="20000"/>
              </a:spcBef>
              <a:spcAft>
                <a:spcPct val="0"/>
              </a:spcAft>
              <a:buFont typeface="Arial" pitchFamily="34" charset="0"/>
              <a:buChar char="»"/>
              <a:defRPr sz="2000">
                <a:solidFill>
                  <a:schemeClr val="tx1"/>
                </a:solidFill>
                <a:latin typeface="Calibri" pitchFamily="34" charset="0"/>
                <a:ea typeface="ＭＳ Ｐゴシック" pitchFamily="-65" charset="-128"/>
              </a:defRPr>
            </a:lvl6pPr>
            <a:lvl7pPr marL="2971800" indent="-228600" defTabSz="457200" eaLnBrk="0" fontAlgn="base" hangingPunct="0">
              <a:spcBef>
                <a:spcPct val="20000"/>
              </a:spcBef>
              <a:spcAft>
                <a:spcPct val="0"/>
              </a:spcAft>
              <a:buFont typeface="Arial" pitchFamily="34" charset="0"/>
              <a:buChar char="»"/>
              <a:defRPr sz="2000">
                <a:solidFill>
                  <a:schemeClr val="tx1"/>
                </a:solidFill>
                <a:latin typeface="Calibri" pitchFamily="34" charset="0"/>
                <a:ea typeface="ＭＳ Ｐゴシック" pitchFamily="-65" charset="-128"/>
              </a:defRPr>
            </a:lvl7pPr>
            <a:lvl8pPr marL="3429000" indent="-228600" defTabSz="457200" eaLnBrk="0" fontAlgn="base" hangingPunct="0">
              <a:spcBef>
                <a:spcPct val="20000"/>
              </a:spcBef>
              <a:spcAft>
                <a:spcPct val="0"/>
              </a:spcAft>
              <a:buFont typeface="Arial" pitchFamily="34" charset="0"/>
              <a:buChar char="»"/>
              <a:defRPr sz="2000">
                <a:solidFill>
                  <a:schemeClr val="tx1"/>
                </a:solidFill>
                <a:latin typeface="Calibri" pitchFamily="34" charset="0"/>
                <a:ea typeface="ＭＳ Ｐゴシック" pitchFamily="-65" charset="-128"/>
              </a:defRPr>
            </a:lvl8pPr>
            <a:lvl9pPr marL="3886200" indent="-228600" defTabSz="457200" eaLnBrk="0" fontAlgn="base" hangingPunct="0">
              <a:spcBef>
                <a:spcPct val="20000"/>
              </a:spcBef>
              <a:spcAft>
                <a:spcPct val="0"/>
              </a:spcAft>
              <a:buFont typeface="Arial" pitchFamily="34" charset="0"/>
              <a:buChar char="»"/>
              <a:defRPr sz="2000">
                <a:solidFill>
                  <a:schemeClr val="tx1"/>
                </a:solidFill>
                <a:latin typeface="Calibri" pitchFamily="34" charset="0"/>
                <a:ea typeface="ＭＳ Ｐゴシック" pitchFamily="-65" charset="-128"/>
              </a:defRPr>
            </a:lvl9pPr>
          </a:lstStyle>
          <a:p>
            <a:pPr eaLnBrk="1" hangingPunct="1">
              <a:spcBef>
                <a:spcPct val="0"/>
              </a:spcBef>
              <a:buFontTx/>
              <a:buNone/>
            </a:pPr>
            <a:r>
              <a:rPr lang="en-US" altLang="en-US" sz="3600" dirty="0">
                <a:solidFill>
                  <a:srgbClr val="000000"/>
                </a:solidFill>
              </a:rPr>
              <a:t>n</a:t>
            </a:r>
            <a:r>
              <a:rPr lang="en-US" altLang="en-US" sz="3600" baseline="30000" dirty="0">
                <a:solidFill>
                  <a:srgbClr val="000000"/>
                </a:solidFill>
              </a:rPr>
              <a:t>2</a:t>
            </a:r>
          </a:p>
          <a:p>
            <a:pPr eaLnBrk="1" hangingPunct="1">
              <a:spcBef>
                <a:spcPct val="0"/>
              </a:spcBef>
              <a:buFontTx/>
              <a:buNone/>
            </a:pPr>
            <a:endParaRPr lang="en-US" altLang="en-US" sz="3600" baseline="30000" dirty="0">
              <a:solidFill>
                <a:srgbClr val="000000"/>
              </a:solidFill>
            </a:endParaRPr>
          </a:p>
          <a:p>
            <a:pPr eaLnBrk="1" hangingPunct="1">
              <a:spcBef>
                <a:spcPct val="0"/>
              </a:spcBef>
              <a:buFontTx/>
              <a:buNone/>
            </a:pPr>
            <a:endParaRPr lang="en-US" altLang="en-US" sz="3600" baseline="30000" dirty="0">
              <a:solidFill>
                <a:srgbClr val="000000"/>
              </a:solidFill>
            </a:endParaRPr>
          </a:p>
          <a:p>
            <a:pPr eaLnBrk="1" hangingPunct="1">
              <a:spcBef>
                <a:spcPct val="0"/>
              </a:spcBef>
              <a:buFontTx/>
              <a:buNone/>
            </a:pPr>
            <a:r>
              <a:rPr lang="en-US" altLang="en-US" sz="3600" dirty="0">
                <a:solidFill>
                  <a:srgbClr val="000000"/>
                </a:solidFill>
              </a:rPr>
              <a:t>2</a:t>
            </a:r>
            <a:r>
              <a:rPr lang="en-US" altLang="en-US" sz="3600" baseline="30000" dirty="0">
                <a:solidFill>
                  <a:srgbClr val="000000"/>
                </a:solidFill>
              </a:rPr>
              <a:t>n</a:t>
            </a:r>
          </a:p>
          <a:p>
            <a:pPr eaLnBrk="1" hangingPunct="1">
              <a:spcBef>
                <a:spcPct val="0"/>
              </a:spcBef>
              <a:buFontTx/>
              <a:buNone/>
            </a:pPr>
            <a:endParaRPr lang="en-US" altLang="en-US" sz="3600" baseline="30000" dirty="0">
              <a:solidFill>
                <a:srgbClr val="000000"/>
              </a:solidFill>
            </a:endParaRPr>
          </a:p>
          <a:p>
            <a:pPr eaLnBrk="1" hangingPunct="1">
              <a:spcBef>
                <a:spcPct val="0"/>
              </a:spcBef>
              <a:buFontTx/>
              <a:buNone/>
            </a:pPr>
            <a:r>
              <a:rPr lang="en-US" altLang="en-US" sz="3600" dirty="0">
                <a:solidFill>
                  <a:srgbClr val="000000"/>
                </a:solidFill>
              </a:rPr>
              <a:t>n!	</a:t>
            </a:r>
          </a:p>
        </p:txBody>
      </p:sp>
      <p:sp>
        <p:nvSpPr>
          <p:cNvPr id="5" name="TextBox 9">
            <a:extLst>
              <a:ext uri="{FF2B5EF4-FFF2-40B4-BE49-F238E27FC236}">
                <a16:creationId xmlns:a16="http://schemas.microsoft.com/office/drawing/2014/main" id="{6189DCB8-7C0C-A6E2-4BF0-BB39170DB116}"/>
              </a:ext>
            </a:extLst>
          </p:cNvPr>
          <p:cNvSpPr txBox="1">
            <a:spLocks noChangeArrowheads="1"/>
          </p:cNvSpPr>
          <p:nvPr/>
        </p:nvSpPr>
        <p:spPr bwMode="auto">
          <a:xfrm>
            <a:off x="1937845" y="2727491"/>
            <a:ext cx="6972300" cy="5222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defTabSz="457200">
              <a:spcBef>
                <a:spcPct val="20000"/>
              </a:spcBef>
              <a:buFont typeface="Arial" pitchFamily="34" charset="0"/>
              <a:buChar char="•"/>
              <a:defRPr sz="3200">
                <a:solidFill>
                  <a:schemeClr val="tx1"/>
                </a:solidFill>
                <a:latin typeface="Calibri" pitchFamily="34" charset="0"/>
                <a:ea typeface="ＭＳ Ｐゴシック" pitchFamily="-65" charset="-128"/>
              </a:defRPr>
            </a:lvl1pPr>
            <a:lvl2pPr marL="742950" indent="-285750" defTabSz="457200">
              <a:spcBef>
                <a:spcPct val="20000"/>
              </a:spcBef>
              <a:buFont typeface="Arial" pitchFamily="34" charset="0"/>
              <a:buChar char="–"/>
              <a:defRPr sz="2800">
                <a:solidFill>
                  <a:schemeClr val="tx1"/>
                </a:solidFill>
                <a:latin typeface="Calibri" pitchFamily="34" charset="0"/>
                <a:ea typeface="ＭＳ Ｐゴシック" pitchFamily="-65" charset="-128"/>
              </a:defRPr>
            </a:lvl2pPr>
            <a:lvl3pPr marL="1143000" indent="-228600" defTabSz="457200">
              <a:spcBef>
                <a:spcPct val="20000"/>
              </a:spcBef>
              <a:buFont typeface="Arial" pitchFamily="34" charset="0"/>
              <a:buChar char="•"/>
              <a:defRPr sz="2400">
                <a:solidFill>
                  <a:schemeClr val="tx1"/>
                </a:solidFill>
                <a:latin typeface="Calibri" pitchFamily="34" charset="0"/>
                <a:ea typeface="ＭＳ Ｐゴシック" pitchFamily="-65" charset="-128"/>
              </a:defRPr>
            </a:lvl3pPr>
            <a:lvl4pPr marL="1600200" indent="-228600" defTabSz="457200">
              <a:spcBef>
                <a:spcPct val="20000"/>
              </a:spcBef>
              <a:buFont typeface="Arial" pitchFamily="34" charset="0"/>
              <a:buChar char="–"/>
              <a:defRPr sz="2000">
                <a:solidFill>
                  <a:schemeClr val="tx1"/>
                </a:solidFill>
                <a:latin typeface="Calibri" pitchFamily="34" charset="0"/>
                <a:ea typeface="ＭＳ Ｐゴシック" pitchFamily="-65" charset="-128"/>
              </a:defRPr>
            </a:lvl4pPr>
            <a:lvl5pPr marL="2057400" indent="-228600" defTabSz="457200">
              <a:spcBef>
                <a:spcPct val="20000"/>
              </a:spcBef>
              <a:buFont typeface="Arial" pitchFamily="34" charset="0"/>
              <a:buChar char="»"/>
              <a:defRPr sz="2000">
                <a:solidFill>
                  <a:schemeClr val="tx1"/>
                </a:solidFill>
                <a:latin typeface="Calibri" pitchFamily="34" charset="0"/>
                <a:ea typeface="ＭＳ Ｐゴシック" pitchFamily="-65" charset="-128"/>
              </a:defRPr>
            </a:lvl5pPr>
            <a:lvl6pPr marL="2514600" indent="-228600" defTabSz="457200" eaLnBrk="0" fontAlgn="base" hangingPunct="0">
              <a:spcBef>
                <a:spcPct val="20000"/>
              </a:spcBef>
              <a:spcAft>
                <a:spcPct val="0"/>
              </a:spcAft>
              <a:buFont typeface="Arial" pitchFamily="34" charset="0"/>
              <a:buChar char="»"/>
              <a:defRPr sz="2000">
                <a:solidFill>
                  <a:schemeClr val="tx1"/>
                </a:solidFill>
                <a:latin typeface="Calibri" pitchFamily="34" charset="0"/>
                <a:ea typeface="ＭＳ Ｐゴシック" pitchFamily="-65" charset="-128"/>
              </a:defRPr>
            </a:lvl6pPr>
            <a:lvl7pPr marL="2971800" indent="-228600" defTabSz="457200" eaLnBrk="0" fontAlgn="base" hangingPunct="0">
              <a:spcBef>
                <a:spcPct val="20000"/>
              </a:spcBef>
              <a:spcAft>
                <a:spcPct val="0"/>
              </a:spcAft>
              <a:buFont typeface="Arial" pitchFamily="34" charset="0"/>
              <a:buChar char="»"/>
              <a:defRPr sz="2000">
                <a:solidFill>
                  <a:schemeClr val="tx1"/>
                </a:solidFill>
                <a:latin typeface="Calibri" pitchFamily="34" charset="0"/>
                <a:ea typeface="ＭＳ Ｐゴシック" pitchFamily="-65" charset="-128"/>
              </a:defRPr>
            </a:lvl7pPr>
            <a:lvl8pPr marL="3429000" indent="-228600" defTabSz="457200" eaLnBrk="0" fontAlgn="base" hangingPunct="0">
              <a:spcBef>
                <a:spcPct val="20000"/>
              </a:spcBef>
              <a:spcAft>
                <a:spcPct val="0"/>
              </a:spcAft>
              <a:buFont typeface="Arial" pitchFamily="34" charset="0"/>
              <a:buChar char="»"/>
              <a:defRPr sz="2000">
                <a:solidFill>
                  <a:schemeClr val="tx1"/>
                </a:solidFill>
                <a:latin typeface="Calibri" pitchFamily="34" charset="0"/>
                <a:ea typeface="ＭＳ Ｐゴシック" pitchFamily="-65" charset="-128"/>
              </a:defRPr>
            </a:lvl8pPr>
            <a:lvl9pPr marL="3886200" indent="-228600" defTabSz="457200" eaLnBrk="0" fontAlgn="base" hangingPunct="0">
              <a:spcBef>
                <a:spcPct val="20000"/>
              </a:spcBef>
              <a:spcAft>
                <a:spcPct val="0"/>
              </a:spcAft>
              <a:buFont typeface="Arial" pitchFamily="34" charset="0"/>
              <a:buChar char="»"/>
              <a:defRPr sz="2000">
                <a:solidFill>
                  <a:schemeClr val="tx1"/>
                </a:solidFill>
                <a:latin typeface="Calibri" pitchFamily="34" charset="0"/>
                <a:ea typeface="ＭＳ Ｐゴシック" pitchFamily="-65" charset="-128"/>
              </a:defRPr>
            </a:lvl9pPr>
          </a:lstStyle>
          <a:p>
            <a:pPr eaLnBrk="1" hangingPunct="1">
              <a:spcBef>
                <a:spcPct val="0"/>
              </a:spcBef>
              <a:buFontTx/>
              <a:buNone/>
            </a:pPr>
            <a:r>
              <a:rPr lang="en-US" altLang="en-US" sz="2800" dirty="0">
                <a:solidFill>
                  <a:srgbClr val="000000"/>
                </a:solidFill>
              </a:rPr>
              <a:t>n = 10			n = 30			n = 50			n = 70	</a:t>
            </a:r>
          </a:p>
        </p:txBody>
      </p:sp>
      <p:sp>
        <p:nvSpPr>
          <p:cNvPr id="6" name="TextBox 10">
            <a:extLst>
              <a:ext uri="{FF2B5EF4-FFF2-40B4-BE49-F238E27FC236}">
                <a16:creationId xmlns:a16="http://schemas.microsoft.com/office/drawing/2014/main" id="{8AC88595-6881-347E-D1E6-9DC26ABD93F4}"/>
              </a:ext>
            </a:extLst>
          </p:cNvPr>
          <p:cNvSpPr txBox="1">
            <a:spLocks noChangeArrowheads="1"/>
          </p:cNvSpPr>
          <p:nvPr/>
        </p:nvSpPr>
        <p:spPr bwMode="auto">
          <a:xfrm>
            <a:off x="1952133" y="3533941"/>
            <a:ext cx="1319213" cy="646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defTabSz="457200">
              <a:spcBef>
                <a:spcPct val="20000"/>
              </a:spcBef>
              <a:buFont typeface="Arial" pitchFamily="34" charset="0"/>
              <a:buChar char="•"/>
              <a:defRPr sz="3200">
                <a:solidFill>
                  <a:schemeClr val="tx1"/>
                </a:solidFill>
                <a:latin typeface="Calibri" pitchFamily="34" charset="0"/>
                <a:ea typeface="ＭＳ Ｐゴシック" pitchFamily="-65" charset="-128"/>
              </a:defRPr>
            </a:lvl1pPr>
            <a:lvl2pPr marL="742950" indent="-285750" defTabSz="457200">
              <a:spcBef>
                <a:spcPct val="20000"/>
              </a:spcBef>
              <a:buFont typeface="Arial" pitchFamily="34" charset="0"/>
              <a:buChar char="–"/>
              <a:defRPr sz="2800">
                <a:solidFill>
                  <a:schemeClr val="tx1"/>
                </a:solidFill>
                <a:latin typeface="Calibri" pitchFamily="34" charset="0"/>
                <a:ea typeface="ＭＳ Ｐゴシック" pitchFamily="-65" charset="-128"/>
              </a:defRPr>
            </a:lvl2pPr>
            <a:lvl3pPr marL="1143000" indent="-228600" defTabSz="457200">
              <a:spcBef>
                <a:spcPct val="20000"/>
              </a:spcBef>
              <a:buFont typeface="Arial" pitchFamily="34" charset="0"/>
              <a:buChar char="•"/>
              <a:defRPr sz="2400">
                <a:solidFill>
                  <a:schemeClr val="tx1"/>
                </a:solidFill>
                <a:latin typeface="Calibri" pitchFamily="34" charset="0"/>
                <a:ea typeface="ＭＳ Ｐゴシック" pitchFamily="-65" charset="-128"/>
              </a:defRPr>
            </a:lvl3pPr>
            <a:lvl4pPr marL="1600200" indent="-228600" defTabSz="457200">
              <a:spcBef>
                <a:spcPct val="20000"/>
              </a:spcBef>
              <a:buFont typeface="Arial" pitchFamily="34" charset="0"/>
              <a:buChar char="–"/>
              <a:defRPr sz="2000">
                <a:solidFill>
                  <a:schemeClr val="tx1"/>
                </a:solidFill>
                <a:latin typeface="Calibri" pitchFamily="34" charset="0"/>
                <a:ea typeface="ＭＳ Ｐゴシック" pitchFamily="-65" charset="-128"/>
              </a:defRPr>
            </a:lvl4pPr>
            <a:lvl5pPr marL="2057400" indent="-228600" defTabSz="457200">
              <a:spcBef>
                <a:spcPct val="20000"/>
              </a:spcBef>
              <a:buFont typeface="Arial" pitchFamily="34" charset="0"/>
              <a:buChar char="»"/>
              <a:defRPr sz="2000">
                <a:solidFill>
                  <a:schemeClr val="tx1"/>
                </a:solidFill>
                <a:latin typeface="Calibri" pitchFamily="34" charset="0"/>
                <a:ea typeface="ＭＳ Ｐゴシック" pitchFamily="-65" charset="-128"/>
              </a:defRPr>
            </a:lvl5pPr>
            <a:lvl6pPr marL="2514600" indent="-228600" defTabSz="457200" eaLnBrk="0" fontAlgn="base" hangingPunct="0">
              <a:spcBef>
                <a:spcPct val="20000"/>
              </a:spcBef>
              <a:spcAft>
                <a:spcPct val="0"/>
              </a:spcAft>
              <a:buFont typeface="Arial" pitchFamily="34" charset="0"/>
              <a:buChar char="»"/>
              <a:defRPr sz="2000">
                <a:solidFill>
                  <a:schemeClr val="tx1"/>
                </a:solidFill>
                <a:latin typeface="Calibri" pitchFamily="34" charset="0"/>
                <a:ea typeface="ＭＳ Ｐゴシック" pitchFamily="-65" charset="-128"/>
              </a:defRPr>
            </a:lvl6pPr>
            <a:lvl7pPr marL="2971800" indent="-228600" defTabSz="457200" eaLnBrk="0" fontAlgn="base" hangingPunct="0">
              <a:spcBef>
                <a:spcPct val="20000"/>
              </a:spcBef>
              <a:spcAft>
                <a:spcPct val="0"/>
              </a:spcAft>
              <a:buFont typeface="Arial" pitchFamily="34" charset="0"/>
              <a:buChar char="»"/>
              <a:defRPr sz="2000">
                <a:solidFill>
                  <a:schemeClr val="tx1"/>
                </a:solidFill>
                <a:latin typeface="Calibri" pitchFamily="34" charset="0"/>
                <a:ea typeface="ＭＳ Ｐゴシック" pitchFamily="-65" charset="-128"/>
              </a:defRPr>
            </a:lvl7pPr>
            <a:lvl8pPr marL="3429000" indent="-228600" defTabSz="457200" eaLnBrk="0" fontAlgn="base" hangingPunct="0">
              <a:spcBef>
                <a:spcPct val="20000"/>
              </a:spcBef>
              <a:spcAft>
                <a:spcPct val="0"/>
              </a:spcAft>
              <a:buFont typeface="Arial" pitchFamily="34" charset="0"/>
              <a:buChar char="»"/>
              <a:defRPr sz="2000">
                <a:solidFill>
                  <a:schemeClr val="tx1"/>
                </a:solidFill>
                <a:latin typeface="Calibri" pitchFamily="34" charset="0"/>
                <a:ea typeface="ＭＳ Ｐゴシック" pitchFamily="-65" charset="-128"/>
              </a:defRPr>
            </a:lvl8pPr>
            <a:lvl9pPr marL="3886200" indent="-228600" defTabSz="457200" eaLnBrk="0" fontAlgn="base" hangingPunct="0">
              <a:spcBef>
                <a:spcPct val="20000"/>
              </a:spcBef>
              <a:spcAft>
                <a:spcPct val="0"/>
              </a:spcAft>
              <a:buFont typeface="Arial" pitchFamily="34" charset="0"/>
              <a:buChar char="»"/>
              <a:defRPr sz="2000">
                <a:solidFill>
                  <a:schemeClr val="tx1"/>
                </a:solidFill>
                <a:latin typeface="Calibri" pitchFamily="34" charset="0"/>
                <a:ea typeface="ＭＳ Ｐゴシック" pitchFamily="-65" charset="-128"/>
              </a:defRPr>
            </a:lvl9pPr>
          </a:lstStyle>
          <a:p>
            <a:pPr eaLnBrk="1" hangingPunct="1">
              <a:spcBef>
                <a:spcPct val="0"/>
              </a:spcBef>
              <a:buFontTx/>
              <a:buNone/>
            </a:pPr>
            <a:r>
              <a:rPr lang="en-US" altLang="en-US" sz="1800">
                <a:solidFill>
                  <a:srgbClr val="000000"/>
                </a:solidFill>
              </a:rPr>
              <a:t>100</a:t>
            </a:r>
          </a:p>
          <a:p>
            <a:pPr eaLnBrk="1" hangingPunct="1">
              <a:spcBef>
                <a:spcPct val="0"/>
              </a:spcBef>
              <a:buFontTx/>
              <a:buNone/>
            </a:pPr>
            <a:r>
              <a:rPr lang="en-US" altLang="en-US" sz="1800">
                <a:solidFill>
                  <a:srgbClr val="0000FF"/>
                </a:solidFill>
              </a:rPr>
              <a:t>&lt; 1 sec</a:t>
            </a:r>
            <a:r>
              <a:rPr lang="en-US" altLang="en-US" sz="1800">
                <a:solidFill>
                  <a:srgbClr val="000000"/>
                </a:solidFill>
              </a:rPr>
              <a:t>	</a:t>
            </a:r>
          </a:p>
        </p:txBody>
      </p:sp>
      <p:sp>
        <p:nvSpPr>
          <p:cNvPr id="7" name="TextBox 11">
            <a:extLst>
              <a:ext uri="{FF2B5EF4-FFF2-40B4-BE49-F238E27FC236}">
                <a16:creationId xmlns:a16="http://schemas.microsoft.com/office/drawing/2014/main" id="{49D8F2FC-0E7C-A850-2716-5D6BAFA8E3E2}"/>
              </a:ext>
            </a:extLst>
          </p:cNvPr>
          <p:cNvSpPr txBox="1">
            <a:spLocks noChangeArrowheads="1"/>
          </p:cNvSpPr>
          <p:nvPr/>
        </p:nvSpPr>
        <p:spPr bwMode="auto">
          <a:xfrm>
            <a:off x="3873008" y="3532188"/>
            <a:ext cx="1319212" cy="646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defTabSz="457200">
              <a:spcBef>
                <a:spcPct val="20000"/>
              </a:spcBef>
              <a:buFont typeface="Arial" pitchFamily="34" charset="0"/>
              <a:buChar char="•"/>
              <a:defRPr sz="3200">
                <a:solidFill>
                  <a:schemeClr val="tx1"/>
                </a:solidFill>
                <a:latin typeface="Calibri" pitchFamily="34" charset="0"/>
                <a:ea typeface="ＭＳ Ｐゴシック" pitchFamily="-65" charset="-128"/>
              </a:defRPr>
            </a:lvl1pPr>
            <a:lvl2pPr marL="742950" indent="-285750" defTabSz="457200">
              <a:spcBef>
                <a:spcPct val="20000"/>
              </a:spcBef>
              <a:buFont typeface="Arial" pitchFamily="34" charset="0"/>
              <a:buChar char="–"/>
              <a:defRPr sz="2800">
                <a:solidFill>
                  <a:schemeClr val="tx1"/>
                </a:solidFill>
                <a:latin typeface="Calibri" pitchFamily="34" charset="0"/>
                <a:ea typeface="ＭＳ Ｐゴシック" pitchFamily="-65" charset="-128"/>
              </a:defRPr>
            </a:lvl2pPr>
            <a:lvl3pPr marL="1143000" indent="-228600" defTabSz="457200">
              <a:spcBef>
                <a:spcPct val="20000"/>
              </a:spcBef>
              <a:buFont typeface="Arial" pitchFamily="34" charset="0"/>
              <a:buChar char="•"/>
              <a:defRPr sz="2400">
                <a:solidFill>
                  <a:schemeClr val="tx1"/>
                </a:solidFill>
                <a:latin typeface="Calibri" pitchFamily="34" charset="0"/>
                <a:ea typeface="ＭＳ Ｐゴシック" pitchFamily="-65" charset="-128"/>
              </a:defRPr>
            </a:lvl3pPr>
            <a:lvl4pPr marL="1600200" indent="-228600" defTabSz="457200">
              <a:spcBef>
                <a:spcPct val="20000"/>
              </a:spcBef>
              <a:buFont typeface="Arial" pitchFamily="34" charset="0"/>
              <a:buChar char="–"/>
              <a:defRPr sz="2000">
                <a:solidFill>
                  <a:schemeClr val="tx1"/>
                </a:solidFill>
                <a:latin typeface="Calibri" pitchFamily="34" charset="0"/>
                <a:ea typeface="ＭＳ Ｐゴシック" pitchFamily="-65" charset="-128"/>
              </a:defRPr>
            </a:lvl4pPr>
            <a:lvl5pPr marL="2057400" indent="-228600" defTabSz="457200">
              <a:spcBef>
                <a:spcPct val="20000"/>
              </a:spcBef>
              <a:buFont typeface="Arial" pitchFamily="34" charset="0"/>
              <a:buChar char="»"/>
              <a:defRPr sz="2000">
                <a:solidFill>
                  <a:schemeClr val="tx1"/>
                </a:solidFill>
                <a:latin typeface="Calibri" pitchFamily="34" charset="0"/>
                <a:ea typeface="ＭＳ Ｐゴシック" pitchFamily="-65" charset="-128"/>
              </a:defRPr>
            </a:lvl5pPr>
            <a:lvl6pPr marL="2514600" indent="-228600" defTabSz="457200" eaLnBrk="0" fontAlgn="base" hangingPunct="0">
              <a:spcBef>
                <a:spcPct val="20000"/>
              </a:spcBef>
              <a:spcAft>
                <a:spcPct val="0"/>
              </a:spcAft>
              <a:buFont typeface="Arial" pitchFamily="34" charset="0"/>
              <a:buChar char="»"/>
              <a:defRPr sz="2000">
                <a:solidFill>
                  <a:schemeClr val="tx1"/>
                </a:solidFill>
                <a:latin typeface="Calibri" pitchFamily="34" charset="0"/>
                <a:ea typeface="ＭＳ Ｐゴシック" pitchFamily="-65" charset="-128"/>
              </a:defRPr>
            </a:lvl6pPr>
            <a:lvl7pPr marL="2971800" indent="-228600" defTabSz="457200" eaLnBrk="0" fontAlgn="base" hangingPunct="0">
              <a:spcBef>
                <a:spcPct val="20000"/>
              </a:spcBef>
              <a:spcAft>
                <a:spcPct val="0"/>
              </a:spcAft>
              <a:buFont typeface="Arial" pitchFamily="34" charset="0"/>
              <a:buChar char="»"/>
              <a:defRPr sz="2000">
                <a:solidFill>
                  <a:schemeClr val="tx1"/>
                </a:solidFill>
                <a:latin typeface="Calibri" pitchFamily="34" charset="0"/>
                <a:ea typeface="ＭＳ Ｐゴシック" pitchFamily="-65" charset="-128"/>
              </a:defRPr>
            </a:lvl7pPr>
            <a:lvl8pPr marL="3429000" indent="-228600" defTabSz="457200" eaLnBrk="0" fontAlgn="base" hangingPunct="0">
              <a:spcBef>
                <a:spcPct val="20000"/>
              </a:spcBef>
              <a:spcAft>
                <a:spcPct val="0"/>
              </a:spcAft>
              <a:buFont typeface="Arial" pitchFamily="34" charset="0"/>
              <a:buChar char="»"/>
              <a:defRPr sz="2000">
                <a:solidFill>
                  <a:schemeClr val="tx1"/>
                </a:solidFill>
                <a:latin typeface="Calibri" pitchFamily="34" charset="0"/>
                <a:ea typeface="ＭＳ Ｐゴシック" pitchFamily="-65" charset="-128"/>
              </a:defRPr>
            </a:lvl8pPr>
            <a:lvl9pPr marL="3886200" indent="-228600" defTabSz="457200" eaLnBrk="0" fontAlgn="base" hangingPunct="0">
              <a:spcBef>
                <a:spcPct val="20000"/>
              </a:spcBef>
              <a:spcAft>
                <a:spcPct val="0"/>
              </a:spcAft>
              <a:buFont typeface="Arial" pitchFamily="34" charset="0"/>
              <a:buChar char="»"/>
              <a:defRPr sz="2000">
                <a:solidFill>
                  <a:schemeClr val="tx1"/>
                </a:solidFill>
                <a:latin typeface="Calibri" pitchFamily="34" charset="0"/>
                <a:ea typeface="ＭＳ Ｐゴシック" pitchFamily="-65" charset="-128"/>
              </a:defRPr>
            </a:lvl9pPr>
          </a:lstStyle>
          <a:p>
            <a:pPr eaLnBrk="1" hangingPunct="1">
              <a:spcBef>
                <a:spcPct val="0"/>
              </a:spcBef>
              <a:buFontTx/>
              <a:buNone/>
            </a:pPr>
            <a:r>
              <a:rPr lang="en-US" altLang="en-US" sz="1800">
                <a:solidFill>
                  <a:srgbClr val="000000"/>
                </a:solidFill>
              </a:rPr>
              <a:t>900</a:t>
            </a:r>
          </a:p>
          <a:p>
            <a:pPr eaLnBrk="1" hangingPunct="1">
              <a:spcBef>
                <a:spcPct val="0"/>
              </a:spcBef>
              <a:buFontTx/>
              <a:buNone/>
            </a:pPr>
            <a:r>
              <a:rPr lang="en-US" altLang="en-US" sz="1800">
                <a:solidFill>
                  <a:srgbClr val="0000FF"/>
                </a:solidFill>
              </a:rPr>
              <a:t>&lt; 1 sec</a:t>
            </a:r>
            <a:r>
              <a:rPr lang="en-US" altLang="en-US" sz="1800">
                <a:solidFill>
                  <a:srgbClr val="000000"/>
                </a:solidFill>
              </a:rPr>
              <a:t>	 </a:t>
            </a:r>
          </a:p>
        </p:txBody>
      </p:sp>
      <p:sp>
        <p:nvSpPr>
          <p:cNvPr id="9" name="TextBox 12">
            <a:extLst>
              <a:ext uri="{FF2B5EF4-FFF2-40B4-BE49-F238E27FC236}">
                <a16:creationId xmlns:a16="http://schemas.microsoft.com/office/drawing/2014/main" id="{BAEEF9A2-2AE4-2FFC-7B77-FF6F62FD48F3}"/>
              </a:ext>
            </a:extLst>
          </p:cNvPr>
          <p:cNvSpPr txBox="1">
            <a:spLocks noChangeArrowheads="1"/>
          </p:cNvSpPr>
          <p:nvPr/>
        </p:nvSpPr>
        <p:spPr bwMode="auto">
          <a:xfrm>
            <a:off x="5544098" y="3532188"/>
            <a:ext cx="1319212" cy="646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defTabSz="457200">
              <a:spcBef>
                <a:spcPct val="20000"/>
              </a:spcBef>
              <a:buFont typeface="Arial" pitchFamily="34" charset="0"/>
              <a:buChar char="•"/>
              <a:defRPr sz="3200">
                <a:solidFill>
                  <a:schemeClr val="tx1"/>
                </a:solidFill>
                <a:latin typeface="Calibri" pitchFamily="34" charset="0"/>
                <a:ea typeface="ＭＳ Ｐゴシック" pitchFamily="-65" charset="-128"/>
              </a:defRPr>
            </a:lvl1pPr>
            <a:lvl2pPr marL="742950" indent="-285750" defTabSz="457200">
              <a:spcBef>
                <a:spcPct val="20000"/>
              </a:spcBef>
              <a:buFont typeface="Arial" pitchFamily="34" charset="0"/>
              <a:buChar char="–"/>
              <a:defRPr sz="2800">
                <a:solidFill>
                  <a:schemeClr val="tx1"/>
                </a:solidFill>
                <a:latin typeface="Calibri" pitchFamily="34" charset="0"/>
                <a:ea typeface="ＭＳ Ｐゴシック" pitchFamily="-65" charset="-128"/>
              </a:defRPr>
            </a:lvl2pPr>
            <a:lvl3pPr marL="1143000" indent="-228600" defTabSz="457200">
              <a:spcBef>
                <a:spcPct val="20000"/>
              </a:spcBef>
              <a:buFont typeface="Arial" pitchFamily="34" charset="0"/>
              <a:buChar char="•"/>
              <a:defRPr sz="2400">
                <a:solidFill>
                  <a:schemeClr val="tx1"/>
                </a:solidFill>
                <a:latin typeface="Calibri" pitchFamily="34" charset="0"/>
                <a:ea typeface="ＭＳ Ｐゴシック" pitchFamily="-65" charset="-128"/>
              </a:defRPr>
            </a:lvl3pPr>
            <a:lvl4pPr marL="1600200" indent="-228600" defTabSz="457200">
              <a:spcBef>
                <a:spcPct val="20000"/>
              </a:spcBef>
              <a:buFont typeface="Arial" pitchFamily="34" charset="0"/>
              <a:buChar char="–"/>
              <a:defRPr sz="2000">
                <a:solidFill>
                  <a:schemeClr val="tx1"/>
                </a:solidFill>
                <a:latin typeface="Calibri" pitchFamily="34" charset="0"/>
                <a:ea typeface="ＭＳ Ｐゴシック" pitchFamily="-65" charset="-128"/>
              </a:defRPr>
            </a:lvl4pPr>
            <a:lvl5pPr marL="2057400" indent="-228600" defTabSz="457200">
              <a:spcBef>
                <a:spcPct val="20000"/>
              </a:spcBef>
              <a:buFont typeface="Arial" pitchFamily="34" charset="0"/>
              <a:buChar char="»"/>
              <a:defRPr sz="2000">
                <a:solidFill>
                  <a:schemeClr val="tx1"/>
                </a:solidFill>
                <a:latin typeface="Calibri" pitchFamily="34" charset="0"/>
                <a:ea typeface="ＭＳ Ｐゴシック" pitchFamily="-65" charset="-128"/>
              </a:defRPr>
            </a:lvl5pPr>
            <a:lvl6pPr marL="2514600" indent="-228600" defTabSz="457200" eaLnBrk="0" fontAlgn="base" hangingPunct="0">
              <a:spcBef>
                <a:spcPct val="20000"/>
              </a:spcBef>
              <a:spcAft>
                <a:spcPct val="0"/>
              </a:spcAft>
              <a:buFont typeface="Arial" pitchFamily="34" charset="0"/>
              <a:buChar char="»"/>
              <a:defRPr sz="2000">
                <a:solidFill>
                  <a:schemeClr val="tx1"/>
                </a:solidFill>
                <a:latin typeface="Calibri" pitchFamily="34" charset="0"/>
                <a:ea typeface="ＭＳ Ｐゴシック" pitchFamily="-65" charset="-128"/>
              </a:defRPr>
            </a:lvl6pPr>
            <a:lvl7pPr marL="2971800" indent="-228600" defTabSz="457200" eaLnBrk="0" fontAlgn="base" hangingPunct="0">
              <a:spcBef>
                <a:spcPct val="20000"/>
              </a:spcBef>
              <a:spcAft>
                <a:spcPct val="0"/>
              </a:spcAft>
              <a:buFont typeface="Arial" pitchFamily="34" charset="0"/>
              <a:buChar char="»"/>
              <a:defRPr sz="2000">
                <a:solidFill>
                  <a:schemeClr val="tx1"/>
                </a:solidFill>
                <a:latin typeface="Calibri" pitchFamily="34" charset="0"/>
                <a:ea typeface="ＭＳ Ｐゴシック" pitchFamily="-65" charset="-128"/>
              </a:defRPr>
            </a:lvl7pPr>
            <a:lvl8pPr marL="3429000" indent="-228600" defTabSz="457200" eaLnBrk="0" fontAlgn="base" hangingPunct="0">
              <a:spcBef>
                <a:spcPct val="20000"/>
              </a:spcBef>
              <a:spcAft>
                <a:spcPct val="0"/>
              </a:spcAft>
              <a:buFont typeface="Arial" pitchFamily="34" charset="0"/>
              <a:buChar char="»"/>
              <a:defRPr sz="2000">
                <a:solidFill>
                  <a:schemeClr val="tx1"/>
                </a:solidFill>
                <a:latin typeface="Calibri" pitchFamily="34" charset="0"/>
                <a:ea typeface="ＭＳ Ｐゴシック" pitchFamily="-65" charset="-128"/>
              </a:defRPr>
            </a:lvl8pPr>
            <a:lvl9pPr marL="3886200" indent="-228600" defTabSz="457200" eaLnBrk="0" fontAlgn="base" hangingPunct="0">
              <a:spcBef>
                <a:spcPct val="20000"/>
              </a:spcBef>
              <a:spcAft>
                <a:spcPct val="0"/>
              </a:spcAft>
              <a:buFont typeface="Arial" pitchFamily="34" charset="0"/>
              <a:buChar char="»"/>
              <a:defRPr sz="2000">
                <a:solidFill>
                  <a:schemeClr val="tx1"/>
                </a:solidFill>
                <a:latin typeface="Calibri" pitchFamily="34" charset="0"/>
                <a:ea typeface="ＭＳ Ｐゴシック" pitchFamily="-65" charset="-128"/>
              </a:defRPr>
            </a:lvl9pPr>
          </a:lstStyle>
          <a:p>
            <a:pPr eaLnBrk="1" hangingPunct="1">
              <a:spcBef>
                <a:spcPct val="0"/>
              </a:spcBef>
              <a:buFontTx/>
              <a:buNone/>
            </a:pPr>
            <a:r>
              <a:rPr lang="en-US" altLang="en-US" sz="1800">
                <a:solidFill>
                  <a:srgbClr val="000000"/>
                </a:solidFill>
              </a:rPr>
              <a:t>2500</a:t>
            </a:r>
          </a:p>
          <a:p>
            <a:pPr eaLnBrk="1" hangingPunct="1">
              <a:spcBef>
                <a:spcPct val="0"/>
              </a:spcBef>
              <a:buFontTx/>
              <a:buNone/>
            </a:pPr>
            <a:r>
              <a:rPr lang="en-US" altLang="en-US" sz="1800">
                <a:solidFill>
                  <a:srgbClr val="0000FF"/>
                </a:solidFill>
              </a:rPr>
              <a:t>&lt; 1 sec</a:t>
            </a:r>
            <a:r>
              <a:rPr lang="en-US" altLang="en-US" sz="1800">
                <a:solidFill>
                  <a:srgbClr val="000000"/>
                </a:solidFill>
              </a:rPr>
              <a:t>	 </a:t>
            </a:r>
          </a:p>
        </p:txBody>
      </p:sp>
      <p:sp>
        <p:nvSpPr>
          <p:cNvPr id="10" name="TextBox 13">
            <a:extLst>
              <a:ext uri="{FF2B5EF4-FFF2-40B4-BE49-F238E27FC236}">
                <a16:creationId xmlns:a16="http://schemas.microsoft.com/office/drawing/2014/main" id="{F7CFE150-97AB-5EDA-51A9-C720D3722EA0}"/>
              </a:ext>
            </a:extLst>
          </p:cNvPr>
          <p:cNvSpPr txBox="1">
            <a:spLocks noChangeArrowheads="1"/>
          </p:cNvSpPr>
          <p:nvPr/>
        </p:nvSpPr>
        <p:spPr bwMode="auto">
          <a:xfrm>
            <a:off x="1935710" y="4826000"/>
            <a:ext cx="1319213" cy="646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defTabSz="457200">
              <a:spcBef>
                <a:spcPct val="20000"/>
              </a:spcBef>
              <a:buFont typeface="Arial" pitchFamily="34" charset="0"/>
              <a:buChar char="•"/>
              <a:defRPr sz="3200">
                <a:solidFill>
                  <a:schemeClr val="tx1"/>
                </a:solidFill>
                <a:latin typeface="Calibri" pitchFamily="34" charset="0"/>
                <a:ea typeface="ＭＳ Ｐゴシック" pitchFamily="-65" charset="-128"/>
              </a:defRPr>
            </a:lvl1pPr>
            <a:lvl2pPr marL="742950" indent="-285750" defTabSz="457200">
              <a:spcBef>
                <a:spcPct val="20000"/>
              </a:spcBef>
              <a:buFont typeface="Arial" pitchFamily="34" charset="0"/>
              <a:buChar char="–"/>
              <a:defRPr sz="2800">
                <a:solidFill>
                  <a:schemeClr val="tx1"/>
                </a:solidFill>
                <a:latin typeface="Calibri" pitchFamily="34" charset="0"/>
                <a:ea typeface="ＭＳ Ｐゴシック" pitchFamily="-65" charset="-128"/>
              </a:defRPr>
            </a:lvl2pPr>
            <a:lvl3pPr marL="1143000" indent="-228600" defTabSz="457200">
              <a:spcBef>
                <a:spcPct val="20000"/>
              </a:spcBef>
              <a:buFont typeface="Arial" pitchFamily="34" charset="0"/>
              <a:buChar char="•"/>
              <a:defRPr sz="2400">
                <a:solidFill>
                  <a:schemeClr val="tx1"/>
                </a:solidFill>
                <a:latin typeface="Calibri" pitchFamily="34" charset="0"/>
                <a:ea typeface="ＭＳ Ｐゴシック" pitchFamily="-65" charset="-128"/>
              </a:defRPr>
            </a:lvl3pPr>
            <a:lvl4pPr marL="1600200" indent="-228600" defTabSz="457200">
              <a:spcBef>
                <a:spcPct val="20000"/>
              </a:spcBef>
              <a:buFont typeface="Arial" pitchFamily="34" charset="0"/>
              <a:buChar char="–"/>
              <a:defRPr sz="2000">
                <a:solidFill>
                  <a:schemeClr val="tx1"/>
                </a:solidFill>
                <a:latin typeface="Calibri" pitchFamily="34" charset="0"/>
                <a:ea typeface="ＭＳ Ｐゴシック" pitchFamily="-65" charset="-128"/>
              </a:defRPr>
            </a:lvl4pPr>
            <a:lvl5pPr marL="2057400" indent="-228600" defTabSz="457200">
              <a:spcBef>
                <a:spcPct val="20000"/>
              </a:spcBef>
              <a:buFont typeface="Arial" pitchFamily="34" charset="0"/>
              <a:buChar char="»"/>
              <a:defRPr sz="2000">
                <a:solidFill>
                  <a:schemeClr val="tx1"/>
                </a:solidFill>
                <a:latin typeface="Calibri" pitchFamily="34" charset="0"/>
                <a:ea typeface="ＭＳ Ｐゴシック" pitchFamily="-65" charset="-128"/>
              </a:defRPr>
            </a:lvl5pPr>
            <a:lvl6pPr marL="2514600" indent="-228600" defTabSz="457200" eaLnBrk="0" fontAlgn="base" hangingPunct="0">
              <a:spcBef>
                <a:spcPct val="20000"/>
              </a:spcBef>
              <a:spcAft>
                <a:spcPct val="0"/>
              </a:spcAft>
              <a:buFont typeface="Arial" pitchFamily="34" charset="0"/>
              <a:buChar char="»"/>
              <a:defRPr sz="2000">
                <a:solidFill>
                  <a:schemeClr val="tx1"/>
                </a:solidFill>
                <a:latin typeface="Calibri" pitchFamily="34" charset="0"/>
                <a:ea typeface="ＭＳ Ｐゴシック" pitchFamily="-65" charset="-128"/>
              </a:defRPr>
            </a:lvl6pPr>
            <a:lvl7pPr marL="2971800" indent="-228600" defTabSz="457200" eaLnBrk="0" fontAlgn="base" hangingPunct="0">
              <a:spcBef>
                <a:spcPct val="20000"/>
              </a:spcBef>
              <a:spcAft>
                <a:spcPct val="0"/>
              </a:spcAft>
              <a:buFont typeface="Arial" pitchFamily="34" charset="0"/>
              <a:buChar char="»"/>
              <a:defRPr sz="2000">
                <a:solidFill>
                  <a:schemeClr val="tx1"/>
                </a:solidFill>
                <a:latin typeface="Calibri" pitchFamily="34" charset="0"/>
                <a:ea typeface="ＭＳ Ｐゴシック" pitchFamily="-65" charset="-128"/>
              </a:defRPr>
            </a:lvl7pPr>
            <a:lvl8pPr marL="3429000" indent="-228600" defTabSz="457200" eaLnBrk="0" fontAlgn="base" hangingPunct="0">
              <a:spcBef>
                <a:spcPct val="20000"/>
              </a:spcBef>
              <a:spcAft>
                <a:spcPct val="0"/>
              </a:spcAft>
              <a:buFont typeface="Arial" pitchFamily="34" charset="0"/>
              <a:buChar char="»"/>
              <a:defRPr sz="2000">
                <a:solidFill>
                  <a:schemeClr val="tx1"/>
                </a:solidFill>
                <a:latin typeface="Calibri" pitchFamily="34" charset="0"/>
                <a:ea typeface="ＭＳ Ｐゴシック" pitchFamily="-65" charset="-128"/>
              </a:defRPr>
            </a:lvl8pPr>
            <a:lvl9pPr marL="3886200" indent="-228600" defTabSz="457200" eaLnBrk="0" fontAlgn="base" hangingPunct="0">
              <a:spcBef>
                <a:spcPct val="20000"/>
              </a:spcBef>
              <a:spcAft>
                <a:spcPct val="0"/>
              </a:spcAft>
              <a:buFont typeface="Arial" pitchFamily="34" charset="0"/>
              <a:buChar char="»"/>
              <a:defRPr sz="2000">
                <a:solidFill>
                  <a:schemeClr val="tx1"/>
                </a:solidFill>
                <a:latin typeface="Calibri" pitchFamily="34" charset="0"/>
                <a:ea typeface="ＭＳ Ｐゴシック" pitchFamily="-65" charset="-128"/>
              </a:defRPr>
            </a:lvl9pPr>
          </a:lstStyle>
          <a:p>
            <a:pPr eaLnBrk="1" hangingPunct="1">
              <a:spcBef>
                <a:spcPct val="0"/>
              </a:spcBef>
              <a:buFontTx/>
              <a:buNone/>
            </a:pPr>
            <a:r>
              <a:rPr lang="en-US" altLang="en-US" sz="1800">
                <a:solidFill>
                  <a:srgbClr val="000000"/>
                </a:solidFill>
              </a:rPr>
              <a:t>1024</a:t>
            </a:r>
          </a:p>
          <a:p>
            <a:pPr eaLnBrk="1" hangingPunct="1">
              <a:spcBef>
                <a:spcPct val="0"/>
              </a:spcBef>
              <a:buFontTx/>
              <a:buNone/>
            </a:pPr>
            <a:r>
              <a:rPr lang="en-US" altLang="en-US" sz="1800">
                <a:solidFill>
                  <a:srgbClr val="0000FF"/>
                </a:solidFill>
              </a:rPr>
              <a:t>&lt; 1 sec</a:t>
            </a:r>
            <a:r>
              <a:rPr lang="en-US" altLang="en-US" sz="1800">
                <a:solidFill>
                  <a:srgbClr val="000000"/>
                </a:solidFill>
              </a:rPr>
              <a:t>	 </a:t>
            </a:r>
          </a:p>
        </p:txBody>
      </p:sp>
      <p:sp>
        <p:nvSpPr>
          <p:cNvPr id="11" name="TextBox 14">
            <a:extLst>
              <a:ext uri="{FF2B5EF4-FFF2-40B4-BE49-F238E27FC236}">
                <a16:creationId xmlns:a16="http://schemas.microsoft.com/office/drawing/2014/main" id="{6595879A-CFB6-3181-6C7B-3C68D0B8256F}"/>
              </a:ext>
            </a:extLst>
          </p:cNvPr>
          <p:cNvSpPr txBox="1">
            <a:spLocks noChangeArrowheads="1"/>
          </p:cNvSpPr>
          <p:nvPr/>
        </p:nvSpPr>
        <p:spPr bwMode="auto">
          <a:xfrm>
            <a:off x="3870873" y="4826000"/>
            <a:ext cx="1319212" cy="646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defTabSz="457200">
              <a:spcBef>
                <a:spcPct val="20000"/>
              </a:spcBef>
              <a:buFont typeface="Arial" pitchFamily="34" charset="0"/>
              <a:buChar char="•"/>
              <a:defRPr sz="3200">
                <a:solidFill>
                  <a:schemeClr val="tx1"/>
                </a:solidFill>
                <a:latin typeface="Calibri" pitchFamily="34" charset="0"/>
                <a:ea typeface="ＭＳ Ｐゴシック" pitchFamily="-65" charset="-128"/>
              </a:defRPr>
            </a:lvl1pPr>
            <a:lvl2pPr marL="742950" indent="-285750" defTabSz="457200">
              <a:spcBef>
                <a:spcPct val="20000"/>
              </a:spcBef>
              <a:buFont typeface="Arial" pitchFamily="34" charset="0"/>
              <a:buChar char="–"/>
              <a:defRPr sz="2800">
                <a:solidFill>
                  <a:schemeClr val="tx1"/>
                </a:solidFill>
                <a:latin typeface="Calibri" pitchFamily="34" charset="0"/>
                <a:ea typeface="ＭＳ Ｐゴシック" pitchFamily="-65" charset="-128"/>
              </a:defRPr>
            </a:lvl2pPr>
            <a:lvl3pPr marL="1143000" indent="-228600" defTabSz="457200">
              <a:spcBef>
                <a:spcPct val="20000"/>
              </a:spcBef>
              <a:buFont typeface="Arial" pitchFamily="34" charset="0"/>
              <a:buChar char="•"/>
              <a:defRPr sz="2400">
                <a:solidFill>
                  <a:schemeClr val="tx1"/>
                </a:solidFill>
                <a:latin typeface="Calibri" pitchFamily="34" charset="0"/>
                <a:ea typeface="ＭＳ Ｐゴシック" pitchFamily="-65" charset="-128"/>
              </a:defRPr>
            </a:lvl3pPr>
            <a:lvl4pPr marL="1600200" indent="-228600" defTabSz="457200">
              <a:spcBef>
                <a:spcPct val="20000"/>
              </a:spcBef>
              <a:buFont typeface="Arial" pitchFamily="34" charset="0"/>
              <a:buChar char="–"/>
              <a:defRPr sz="2000">
                <a:solidFill>
                  <a:schemeClr val="tx1"/>
                </a:solidFill>
                <a:latin typeface="Calibri" pitchFamily="34" charset="0"/>
                <a:ea typeface="ＭＳ Ｐゴシック" pitchFamily="-65" charset="-128"/>
              </a:defRPr>
            </a:lvl4pPr>
            <a:lvl5pPr marL="2057400" indent="-228600" defTabSz="457200">
              <a:spcBef>
                <a:spcPct val="20000"/>
              </a:spcBef>
              <a:buFont typeface="Arial" pitchFamily="34" charset="0"/>
              <a:buChar char="»"/>
              <a:defRPr sz="2000">
                <a:solidFill>
                  <a:schemeClr val="tx1"/>
                </a:solidFill>
                <a:latin typeface="Calibri" pitchFamily="34" charset="0"/>
                <a:ea typeface="ＭＳ Ｐゴシック" pitchFamily="-65" charset="-128"/>
              </a:defRPr>
            </a:lvl5pPr>
            <a:lvl6pPr marL="2514600" indent="-228600" defTabSz="457200" eaLnBrk="0" fontAlgn="base" hangingPunct="0">
              <a:spcBef>
                <a:spcPct val="20000"/>
              </a:spcBef>
              <a:spcAft>
                <a:spcPct val="0"/>
              </a:spcAft>
              <a:buFont typeface="Arial" pitchFamily="34" charset="0"/>
              <a:buChar char="»"/>
              <a:defRPr sz="2000">
                <a:solidFill>
                  <a:schemeClr val="tx1"/>
                </a:solidFill>
                <a:latin typeface="Calibri" pitchFamily="34" charset="0"/>
                <a:ea typeface="ＭＳ Ｐゴシック" pitchFamily="-65" charset="-128"/>
              </a:defRPr>
            </a:lvl6pPr>
            <a:lvl7pPr marL="2971800" indent="-228600" defTabSz="457200" eaLnBrk="0" fontAlgn="base" hangingPunct="0">
              <a:spcBef>
                <a:spcPct val="20000"/>
              </a:spcBef>
              <a:spcAft>
                <a:spcPct val="0"/>
              </a:spcAft>
              <a:buFont typeface="Arial" pitchFamily="34" charset="0"/>
              <a:buChar char="»"/>
              <a:defRPr sz="2000">
                <a:solidFill>
                  <a:schemeClr val="tx1"/>
                </a:solidFill>
                <a:latin typeface="Calibri" pitchFamily="34" charset="0"/>
                <a:ea typeface="ＭＳ Ｐゴシック" pitchFamily="-65" charset="-128"/>
              </a:defRPr>
            </a:lvl7pPr>
            <a:lvl8pPr marL="3429000" indent="-228600" defTabSz="457200" eaLnBrk="0" fontAlgn="base" hangingPunct="0">
              <a:spcBef>
                <a:spcPct val="20000"/>
              </a:spcBef>
              <a:spcAft>
                <a:spcPct val="0"/>
              </a:spcAft>
              <a:buFont typeface="Arial" pitchFamily="34" charset="0"/>
              <a:buChar char="»"/>
              <a:defRPr sz="2000">
                <a:solidFill>
                  <a:schemeClr val="tx1"/>
                </a:solidFill>
                <a:latin typeface="Calibri" pitchFamily="34" charset="0"/>
                <a:ea typeface="ＭＳ Ｐゴシック" pitchFamily="-65" charset="-128"/>
              </a:defRPr>
            </a:lvl8pPr>
            <a:lvl9pPr marL="3886200" indent="-228600" defTabSz="457200" eaLnBrk="0" fontAlgn="base" hangingPunct="0">
              <a:spcBef>
                <a:spcPct val="20000"/>
              </a:spcBef>
              <a:spcAft>
                <a:spcPct val="0"/>
              </a:spcAft>
              <a:buFont typeface="Arial" pitchFamily="34" charset="0"/>
              <a:buChar char="»"/>
              <a:defRPr sz="2000">
                <a:solidFill>
                  <a:schemeClr val="tx1"/>
                </a:solidFill>
                <a:latin typeface="Calibri" pitchFamily="34" charset="0"/>
                <a:ea typeface="ＭＳ Ｐゴシック" pitchFamily="-65" charset="-128"/>
              </a:defRPr>
            </a:lvl9pPr>
          </a:lstStyle>
          <a:p>
            <a:pPr eaLnBrk="1" hangingPunct="1">
              <a:spcBef>
                <a:spcPct val="0"/>
              </a:spcBef>
              <a:buFontTx/>
              <a:buNone/>
            </a:pPr>
            <a:r>
              <a:rPr lang="en-US" altLang="en-US" sz="1800">
                <a:solidFill>
                  <a:srgbClr val="000000"/>
                </a:solidFill>
              </a:rPr>
              <a:t>10</a:t>
            </a:r>
            <a:r>
              <a:rPr lang="en-US" altLang="en-US" sz="1800" baseline="30000">
                <a:solidFill>
                  <a:srgbClr val="000000"/>
                </a:solidFill>
              </a:rPr>
              <a:t>9</a:t>
            </a:r>
            <a:endParaRPr lang="en-US" altLang="en-US" sz="1800">
              <a:solidFill>
                <a:srgbClr val="000000"/>
              </a:solidFill>
            </a:endParaRPr>
          </a:p>
          <a:p>
            <a:pPr eaLnBrk="1" hangingPunct="1">
              <a:spcBef>
                <a:spcPct val="0"/>
              </a:spcBef>
              <a:buFontTx/>
              <a:buNone/>
            </a:pPr>
            <a:r>
              <a:rPr lang="en-US" altLang="en-US" sz="1800">
                <a:solidFill>
                  <a:srgbClr val="0000FF"/>
                </a:solidFill>
              </a:rPr>
              <a:t>1 sec</a:t>
            </a:r>
            <a:r>
              <a:rPr lang="en-US" altLang="en-US" sz="1800">
                <a:solidFill>
                  <a:srgbClr val="000000"/>
                </a:solidFill>
              </a:rPr>
              <a:t>	 </a:t>
            </a:r>
          </a:p>
        </p:txBody>
      </p:sp>
      <p:sp>
        <p:nvSpPr>
          <p:cNvPr id="12" name="TextBox 15">
            <a:extLst>
              <a:ext uri="{FF2B5EF4-FFF2-40B4-BE49-F238E27FC236}">
                <a16:creationId xmlns:a16="http://schemas.microsoft.com/office/drawing/2014/main" id="{CA21A473-C425-A775-D08D-74067748F9A8}"/>
              </a:ext>
            </a:extLst>
          </p:cNvPr>
          <p:cNvSpPr txBox="1">
            <a:spLocks noChangeArrowheads="1"/>
          </p:cNvSpPr>
          <p:nvPr/>
        </p:nvSpPr>
        <p:spPr bwMode="auto">
          <a:xfrm>
            <a:off x="5544098" y="4826000"/>
            <a:ext cx="1319212" cy="646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defTabSz="457200">
              <a:spcBef>
                <a:spcPct val="20000"/>
              </a:spcBef>
              <a:buFont typeface="Arial" pitchFamily="34" charset="0"/>
              <a:buChar char="•"/>
              <a:defRPr sz="3200">
                <a:solidFill>
                  <a:schemeClr val="tx1"/>
                </a:solidFill>
                <a:latin typeface="Calibri" pitchFamily="34" charset="0"/>
                <a:ea typeface="ＭＳ Ｐゴシック" pitchFamily="-65" charset="-128"/>
              </a:defRPr>
            </a:lvl1pPr>
            <a:lvl2pPr marL="742950" indent="-285750" defTabSz="457200">
              <a:spcBef>
                <a:spcPct val="20000"/>
              </a:spcBef>
              <a:buFont typeface="Arial" pitchFamily="34" charset="0"/>
              <a:buChar char="–"/>
              <a:defRPr sz="2800">
                <a:solidFill>
                  <a:schemeClr val="tx1"/>
                </a:solidFill>
                <a:latin typeface="Calibri" pitchFamily="34" charset="0"/>
                <a:ea typeface="ＭＳ Ｐゴシック" pitchFamily="-65" charset="-128"/>
              </a:defRPr>
            </a:lvl2pPr>
            <a:lvl3pPr marL="1143000" indent="-228600" defTabSz="457200">
              <a:spcBef>
                <a:spcPct val="20000"/>
              </a:spcBef>
              <a:buFont typeface="Arial" pitchFamily="34" charset="0"/>
              <a:buChar char="•"/>
              <a:defRPr sz="2400">
                <a:solidFill>
                  <a:schemeClr val="tx1"/>
                </a:solidFill>
                <a:latin typeface="Calibri" pitchFamily="34" charset="0"/>
                <a:ea typeface="ＭＳ Ｐゴシック" pitchFamily="-65" charset="-128"/>
              </a:defRPr>
            </a:lvl3pPr>
            <a:lvl4pPr marL="1600200" indent="-228600" defTabSz="457200">
              <a:spcBef>
                <a:spcPct val="20000"/>
              </a:spcBef>
              <a:buFont typeface="Arial" pitchFamily="34" charset="0"/>
              <a:buChar char="–"/>
              <a:defRPr sz="2000">
                <a:solidFill>
                  <a:schemeClr val="tx1"/>
                </a:solidFill>
                <a:latin typeface="Calibri" pitchFamily="34" charset="0"/>
                <a:ea typeface="ＭＳ Ｐゴシック" pitchFamily="-65" charset="-128"/>
              </a:defRPr>
            </a:lvl4pPr>
            <a:lvl5pPr marL="2057400" indent="-228600" defTabSz="457200">
              <a:spcBef>
                <a:spcPct val="20000"/>
              </a:spcBef>
              <a:buFont typeface="Arial" pitchFamily="34" charset="0"/>
              <a:buChar char="»"/>
              <a:defRPr sz="2000">
                <a:solidFill>
                  <a:schemeClr val="tx1"/>
                </a:solidFill>
                <a:latin typeface="Calibri" pitchFamily="34" charset="0"/>
                <a:ea typeface="ＭＳ Ｐゴシック" pitchFamily="-65" charset="-128"/>
              </a:defRPr>
            </a:lvl5pPr>
            <a:lvl6pPr marL="2514600" indent="-228600" defTabSz="457200" eaLnBrk="0" fontAlgn="base" hangingPunct="0">
              <a:spcBef>
                <a:spcPct val="20000"/>
              </a:spcBef>
              <a:spcAft>
                <a:spcPct val="0"/>
              </a:spcAft>
              <a:buFont typeface="Arial" pitchFamily="34" charset="0"/>
              <a:buChar char="»"/>
              <a:defRPr sz="2000">
                <a:solidFill>
                  <a:schemeClr val="tx1"/>
                </a:solidFill>
                <a:latin typeface="Calibri" pitchFamily="34" charset="0"/>
                <a:ea typeface="ＭＳ Ｐゴシック" pitchFamily="-65" charset="-128"/>
              </a:defRPr>
            </a:lvl6pPr>
            <a:lvl7pPr marL="2971800" indent="-228600" defTabSz="457200" eaLnBrk="0" fontAlgn="base" hangingPunct="0">
              <a:spcBef>
                <a:spcPct val="20000"/>
              </a:spcBef>
              <a:spcAft>
                <a:spcPct val="0"/>
              </a:spcAft>
              <a:buFont typeface="Arial" pitchFamily="34" charset="0"/>
              <a:buChar char="»"/>
              <a:defRPr sz="2000">
                <a:solidFill>
                  <a:schemeClr val="tx1"/>
                </a:solidFill>
                <a:latin typeface="Calibri" pitchFamily="34" charset="0"/>
                <a:ea typeface="ＭＳ Ｐゴシック" pitchFamily="-65" charset="-128"/>
              </a:defRPr>
            </a:lvl7pPr>
            <a:lvl8pPr marL="3429000" indent="-228600" defTabSz="457200" eaLnBrk="0" fontAlgn="base" hangingPunct="0">
              <a:spcBef>
                <a:spcPct val="20000"/>
              </a:spcBef>
              <a:spcAft>
                <a:spcPct val="0"/>
              </a:spcAft>
              <a:buFont typeface="Arial" pitchFamily="34" charset="0"/>
              <a:buChar char="»"/>
              <a:defRPr sz="2000">
                <a:solidFill>
                  <a:schemeClr val="tx1"/>
                </a:solidFill>
                <a:latin typeface="Calibri" pitchFamily="34" charset="0"/>
                <a:ea typeface="ＭＳ Ｐゴシック" pitchFamily="-65" charset="-128"/>
              </a:defRPr>
            </a:lvl8pPr>
            <a:lvl9pPr marL="3886200" indent="-228600" defTabSz="457200" eaLnBrk="0" fontAlgn="base" hangingPunct="0">
              <a:spcBef>
                <a:spcPct val="20000"/>
              </a:spcBef>
              <a:spcAft>
                <a:spcPct val="0"/>
              </a:spcAft>
              <a:buFont typeface="Arial" pitchFamily="34" charset="0"/>
              <a:buChar char="»"/>
              <a:defRPr sz="2000">
                <a:solidFill>
                  <a:schemeClr val="tx1"/>
                </a:solidFill>
                <a:latin typeface="Calibri" pitchFamily="34" charset="0"/>
                <a:ea typeface="ＭＳ Ｐゴシック" pitchFamily="-65" charset="-128"/>
              </a:defRPr>
            </a:lvl9pPr>
          </a:lstStyle>
          <a:p>
            <a:pPr eaLnBrk="1" hangingPunct="1">
              <a:spcBef>
                <a:spcPct val="0"/>
              </a:spcBef>
              <a:buFontTx/>
              <a:buNone/>
            </a:pPr>
            <a:r>
              <a:rPr lang="en-US" altLang="en-US" sz="1800">
                <a:solidFill>
                  <a:srgbClr val="000000"/>
                </a:solidFill>
              </a:rPr>
              <a:t>10</a:t>
            </a:r>
            <a:r>
              <a:rPr lang="en-US" altLang="en-US" sz="1800" baseline="30000">
                <a:solidFill>
                  <a:srgbClr val="000000"/>
                </a:solidFill>
              </a:rPr>
              <a:t>15</a:t>
            </a:r>
            <a:endParaRPr lang="en-US" altLang="en-US" sz="1800">
              <a:solidFill>
                <a:srgbClr val="000000"/>
              </a:solidFill>
            </a:endParaRPr>
          </a:p>
          <a:p>
            <a:pPr eaLnBrk="1" hangingPunct="1">
              <a:spcBef>
                <a:spcPct val="0"/>
              </a:spcBef>
              <a:buFontTx/>
              <a:buNone/>
            </a:pPr>
            <a:r>
              <a:rPr lang="en-US" altLang="en-US" sz="1800">
                <a:solidFill>
                  <a:srgbClr val="FF0000"/>
                </a:solidFill>
              </a:rPr>
              <a:t>11.6 days</a:t>
            </a:r>
            <a:r>
              <a:rPr lang="en-US" altLang="en-US" sz="1800">
                <a:solidFill>
                  <a:srgbClr val="000000"/>
                </a:solidFill>
              </a:rPr>
              <a:t>	 </a:t>
            </a:r>
          </a:p>
        </p:txBody>
      </p:sp>
      <p:sp>
        <p:nvSpPr>
          <p:cNvPr id="14" name="TextBox 16">
            <a:extLst>
              <a:ext uri="{FF2B5EF4-FFF2-40B4-BE49-F238E27FC236}">
                <a16:creationId xmlns:a16="http://schemas.microsoft.com/office/drawing/2014/main" id="{4FDAECB5-1A56-5CD5-73B2-7D33C581AE21}"/>
              </a:ext>
            </a:extLst>
          </p:cNvPr>
          <p:cNvSpPr txBox="1">
            <a:spLocks noChangeArrowheads="1"/>
          </p:cNvSpPr>
          <p:nvPr/>
        </p:nvSpPr>
        <p:spPr bwMode="auto">
          <a:xfrm>
            <a:off x="7482435" y="3532188"/>
            <a:ext cx="1320800" cy="646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defTabSz="457200">
              <a:spcBef>
                <a:spcPct val="20000"/>
              </a:spcBef>
              <a:buFont typeface="Arial" pitchFamily="34" charset="0"/>
              <a:buChar char="•"/>
              <a:defRPr sz="3200">
                <a:solidFill>
                  <a:schemeClr val="tx1"/>
                </a:solidFill>
                <a:latin typeface="Calibri" pitchFamily="34" charset="0"/>
                <a:ea typeface="ＭＳ Ｐゴシック" pitchFamily="-65" charset="-128"/>
              </a:defRPr>
            </a:lvl1pPr>
            <a:lvl2pPr marL="742950" indent="-285750" defTabSz="457200">
              <a:spcBef>
                <a:spcPct val="20000"/>
              </a:spcBef>
              <a:buFont typeface="Arial" pitchFamily="34" charset="0"/>
              <a:buChar char="–"/>
              <a:defRPr sz="2800">
                <a:solidFill>
                  <a:schemeClr val="tx1"/>
                </a:solidFill>
                <a:latin typeface="Calibri" pitchFamily="34" charset="0"/>
                <a:ea typeface="ＭＳ Ｐゴシック" pitchFamily="-65" charset="-128"/>
              </a:defRPr>
            </a:lvl2pPr>
            <a:lvl3pPr marL="1143000" indent="-228600" defTabSz="457200">
              <a:spcBef>
                <a:spcPct val="20000"/>
              </a:spcBef>
              <a:buFont typeface="Arial" pitchFamily="34" charset="0"/>
              <a:buChar char="•"/>
              <a:defRPr sz="2400">
                <a:solidFill>
                  <a:schemeClr val="tx1"/>
                </a:solidFill>
                <a:latin typeface="Calibri" pitchFamily="34" charset="0"/>
                <a:ea typeface="ＭＳ Ｐゴシック" pitchFamily="-65" charset="-128"/>
              </a:defRPr>
            </a:lvl3pPr>
            <a:lvl4pPr marL="1600200" indent="-228600" defTabSz="457200">
              <a:spcBef>
                <a:spcPct val="20000"/>
              </a:spcBef>
              <a:buFont typeface="Arial" pitchFamily="34" charset="0"/>
              <a:buChar char="–"/>
              <a:defRPr sz="2000">
                <a:solidFill>
                  <a:schemeClr val="tx1"/>
                </a:solidFill>
                <a:latin typeface="Calibri" pitchFamily="34" charset="0"/>
                <a:ea typeface="ＭＳ Ｐゴシック" pitchFamily="-65" charset="-128"/>
              </a:defRPr>
            </a:lvl4pPr>
            <a:lvl5pPr marL="2057400" indent="-228600" defTabSz="457200">
              <a:spcBef>
                <a:spcPct val="20000"/>
              </a:spcBef>
              <a:buFont typeface="Arial" pitchFamily="34" charset="0"/>
              <a:buChar char="»"/>
              <a:defRPr sz="2000">
                <a:solidFill>
                  <a:schemeClr val="tx1"/>
                </a:solidFill>
                <a:latin typeface="Calibri" pitchFamily="34" charset="0"/>
                <a:ea typeface="ＭＳ Ｐゴシック" pitchFamily="-65" charset="-128"/>
              </a:defRPr>
            </a:lvl5pPr>
            <a:lvl6pPr marL="2514600" indent="-228600" defTabSz="457200" eaLnBrk="0" fontAlgn="base" hangingPunct="0">
              <a:spcBef>
                <a:spcPct val="20000"/>
              </a:spcBef>
              <a:spcAft>
                <a:spcPct val="0"/>
              </a:spcAft>
              <a:buFont typeface="Arial" pitchFamily="34" charset="0"/>
              <a:buChar char="»"/>
              <a:defRPr sz="2000">
                <a:solidFill>
                  <a:schemeClr val="tx1"/>
                </a:solidFill>
                <a:latin typeface="Calibri" pitchFamily="34" charset="0"/>
                <a:ea typeface="ＭＳ Ｐゴシック" pitchFamily="-65" charset="-128"/>
              </a:defRPr>
            </a:lvl6pPr>
            <a:lvl7pPr marL="2971800" indent="-228600" defTabSz="457200" eaLnBrk="0" fontAlgn="base" hangingPunct="0">
              <a:spcBef>
                <a:spcPct val="20000"/>
              </a:spcBef>
              <a:spcAft>
                <a:spcPct val="0"/>
              </a:spcAft>
              <a:buFont typeface="Arial" pitchFamily="34" charset="0"/>
              <a:buChar char="»"/>
              <a:defRPr sz="2000">
                <a:solidFill>
                  <a:schemeClr val="tx1"/>
                </a:solidFill>
                <a:latin typeface="Calibri" pitchFamily="34" charset="0"/>
                <a:ea typeface="ＭＳ Ｐゴシック" pitchFamily="-65" charset="-128"/>
              </a:defRPr>
            </a:lvl7pPr>
            <a:lvl8pPr marL="3429000" indent="-228600" defTabSz="457200" eaLnBrk="0" fontAlgn="base" hangingPunct="0">
              <a:spcBef>
                <a:spcPct val="20000"/>
              </a:spcBef>
              <a:spcAft>
                <a:spcPct val="0"/>
              </a:spcAft>
              <a:buFont typeface="Arial" pitchFamily="34" charset="0"/>
              <a:buChar char="»"/>
              <a:defRPr sz="2000">
                <a:solidFill>
                  <a:schemeClr val="tx1"/>
                </a:solidFill>
                <a:latin typeface="Calibri" pitchFamily="34" charset="0"/>
                <a:ea typeface="ＭＳ Ｐゴシック" pitchFamily="-65" charset="-128"/>
              </a:defRPr>
            </a:lvl8pPr>
            <a:lvl9pPr marL="3886200" indent="-228600" defTabSz="457200" eaLnBrk="0" fontAlgn="base" hangingPunct="0">
              <a:spcBef>
                <a:spcPct val="20000"/>
              </a:spcBef>
              <a:spcAft>
                <a:spcPct val="0"/>
              </a:spcAft>
              <a:buFont typeface="Arial" pitchFamily="34" charset="0"/>
              <a:buChar char="»"/>
              <a:defRPr sz="2000">
                <a:solidFill>
                  <a:schemeClr val="tx1"/>
                </a:solidFill>
                <a:latin typeface="Calibri" pitchFamily="34" charset="0"/>
                <a:ea typeface="ＭＳ Ｐゴシック" pitchFamily="-65" charset="-128"/>
              </a:defRPr>
            </a:lvl9pPr>
          </a:lstStyle>
          <a:p>
            <a:pPr eaLnBrk="1" hangingPunct="1">
              <a:spcBef>
                <a:spcPct val="0"/>
              </a:spcBef>
              <a:buFontTx/>
              <a:buNone/>
            </a:pPr>
            <a:r>
              <a:rPr lang="en-US" altLang="en-US" sz="1800">
                <a:solidFill>
                  <a:srgbClr val="000000"/>
                </a:solidFill>
              </a:rPr>
              <a:t>4900</a:t>
            </a:r>
          </a:p>
          <a:p>
            <a:pPr eaLnBrk="1" hangingPunct="1">
              <a:spcBef>
                <a:spcPct val="0"/>
              </a:spcBef>
              <a:buFontTx/>
              <a:buNone/>
            </a:pPr>
            <a:r>
              <a:rPr lang="en-US" altLang="en-US" sz="1800">
                <a:solidFill>
                  <a:srgbClr val="0000FF"/>
                </a:solidFill>
              </a:rPr>
              <a:t>&lt; 1 sec</a:t>
            </a:r>
            <a:r>
              <a:rPr lang="en-US" altLang="en-US" sz="1800">
                <a:solidFill>
                  <a:srgbClr val="000000"/>
                </a:solidFill>
              </a:rPr>
              <a:t>	 </a:t>
            </a:r>
          </a:p>
        </p:txBody>
      </p:sp>
      <p:sp>
        <p:nvSpPr>
          <p:cNvPr id="15" name="TextBox 17">
            <a:extLst>
              <a:ext uri="{FF2B5EF4-FFF2-40B4-BE49-F238E27FC236}">
                <a16:creationId xmlns:a16="http://schemas.microsoft.com/office/drawing/2014/main" id="{4C93B650-4DCF-92B1-9703-D91E560DCB93}"/>
              </a:ext>
            </a:extLst>
          </p:cNvPr>
          <p:cNvSpPr txBox="1">
            <a:spLocks noChangeArrowheads="1"/>
          </p:cNvSpPr>
          <p:nvPr/>
        </p:nvSpPr>
        <p:spPr bwMode="auto">
          <a:xfrm>
            <a:off x="7482435" y="4816475"/>
            <a:ext cx="1320800" cy="1292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defTabSz="457200">
              <a:spcBef>
                <a:spcPct val="20000"/>
              </a:spcBef>
              <a:buFont typeface="Arial" pitchFamily="34" charset="0"/>
              <a:buChar char="•"/>
              <a:defRPr sz="3200">
                <a:solidFill>
                  <a:schemeClr val="tx1"/>
                </a:solidFill>
                <a:latin typeface="Calibri" pitchFamily="34" charset="0"/>
                <a:ea typeface="ＭＳ Ｐゴシック" pitchFamily="-65" charset="-128"/>
              </a:defRPr>
            </a:lvl1pPr>
            <a:lvl2pPr marL="742950" indent="-285750" defTabSz="457200">
              <a:spcBef>
                <a:spcPct val="20000"/>
              </a:spcBef>
              <a:buFont typeface="Arial" pitchFamily="34" charset="0"/>
              <a:buChar char="–"/>
              <a:defRPr sz="2800">
                <a:solidFill>
                  <a:schemeClr val="tx1"/>
                </a:solidFill>
                <a:latin typeface="Calibri" pitchFamily="34" charset="0"/>
                <a:ea typeface="ＭＳ Ｐゴシック" pitchFamily="-65" charset="-128"/>
              </a:defRPr>
            </a:lvl2pPr>
            <a:lvl3pPr marL="1143000" indent="-228600" defTabSz="457200">
              <a:spcBef>
                <a:spcPct val="20000"/>
              </a:spcBef>
              <a:buFont typeface="Arial" pitchFamily="34" charset="0"/>
              <a:buChar char="•"/>
              <a:defRPr sz="2400">
                <a:solidFill>
                  <a:schemeClr val="tx1"/>
                </a:solidFill>
                <a:latin typeface="Calibri" pitchFamily="34" charset="0"/>
                <a:ea typeface="ＭＳ Ｐゴシック" pitchFamily="-65" charset="-128"/>
              </a:defRPr>
            </a:lvl3pPr>
            <a:lvl4pPr marL="1600200" indent="-228600" defTabSz="457200">
              <a:spcBef>
                <a:spcPct val="20000"/>
              </a:spcBef>
              <a:buFont typeface="Arial" pitchFamily="34" charset="0"/>
              <a:buChar char="–"/>
              <a:defRPr sz="2000">
                <a:solidFill>
                  <a:schemeClr val="tx1"/>
                </a:solidFill>
                <a:latin typeface="Calibri" pitchFamily="34" charset="0"/>
                <a:ea typeface="ＭＳ Ｐゴシック" pitchFamily="-65" charset="-128"/>
              </a:defRPr>
            </a:lvl4pPr>
            <a:lvl5pPr marL="2057400" indent="-228600" defTabSz="457200">
              <a:spcBef>
                <a:spcPct val="20000"/>
              </a:spcBef>
              <a:buFont typeface="Arial" pitchFamily="34" charset="0"/>
              <a:buChar char="»"/>
              <a:defRPr sz="2000">
                <a:solidFill>
                  <a:schemeClr val="tx1"/>
                </a:solidFill>
                <a:latin typeface="Calibri" pitchFamily="34" charset="0"/>
                <a:ea typeface="ＭＳ Ｐゴシック" pitchFamily="-65" charset="-128"/>
              </a:defRPr>
            </a:lvl5pPr>
            <a:lvl6pPr marL="2514600" indent="-228600" defTabSz="457200" eaLnBrk="0" fontAlgn="base" hangingPunct="0">
              <a:spcBef>
                <a:spcPct val="20000"/>
              </a:spcBef>
              <a:spcAft>
                <a:spcPct val="0"/>
              </a:spcAft>
              <a:buFont typeface="Arial" pitchFamily="34" charset="0"/>
              <a:buChar char="»"/>
              <a:defRPr sz="2000">
                <a:solidFill>
                  <a:schemeClr val="tx1"/>
                </a:solidFill>
                <a:latin typeface="Calibri" pitchFamily="34" charset="0"/>
                <a:ea typeface="ＭＳ Ｐゴシック" pitchFamily="-65" charset="-128"/>
              </a:defRPr>
            </a:lvl6pPr>
            <a:lvl7pPr marL="2971800" indent="-228600" defTabSz="457200" eaLnBrk="0" fontAlgn="base" hangingPunct="0">
              <a:spcBef>
                <a:spcPct val="20000"/>
              </a:spcBef>
              <a:spcAft>
                <a:spcPct val="0"/>
              </a:spcAft>
              <a:buFont typeface="Arial" pitchFamily="34" charset="0"/>
              <a:buChar char="»"/>
              <a:defRPr sz="2000">
                <a:solidFill>
                  <a:schemeClr val="tx1"/>
                </a:solidFill>
                <a:latin typeface="Calibri" pitchFamily="34" charset="0"/>
                <a:ea typeface="ＭＳ Ｐゴシック" pitchFamily="-65" charset="-128"/>
              </a:defRPr>
            </a:lvl7pPr>
            <a:lvl8pPr marL="3429000" indent="-228600" defTabSz="457200" eaLnBrk="0" fontAlgn="base" hangingPunct="0">
              <a:spcBef>
                <a:spcPct val="20000"/>
              </a:spcBef>
              <a:spcAft>
                <a:spcPct val="0"/>
              </a:spcAft>
              <a:buFont typeface="Arial" pitchFamily="34" charset="0"/>
              <a:buChar char="»"/>
              <a:defRPr sz="2000">
                <a:solidFill>
                  <a:schemeClr val="tx1"/>
                </a:solidFill>
                <a:latin typeface="Calibri" pitchFamily="34" charset="0"/>
                <a:ea typeface="ＭＳ Ｐゴシック" pitchFamily="-65" charset="-128"/>
              </a:defRPr>
            </a:lvl8pPr>
            <a:lvl9pPr marL="3886200" indent="-228600" defTabSz="457200" eaLnBrk="0" fontAlgn="base" hangingPunct="0">
              <a:spcBef>
                <a:spcPct val="20000"/>
              </a:spcBef>
              <a:spcAft>
                <a:spcPct val="0"/>
              </a:spcAft>
              <a:buFont typeface="Arial" pitchFamily="34" charset="0"/>
              <a:buChar char="»"/>
              <a:defRPr sz="2000">
                <a:solidFill>
                  <a:schemeClr val="tx1"/>
                </a:solidFill>
                <a:latin typeface="Calibri" pitchFamily="34" charset="0"/>
                <a:ea typeface="ＭＳ Ｐゴシック" pitchFamily="-65" charset="-128"/>
              </a:defRPr>
            </a:lvl9pPr>
          </a:lstStyle>
          <a:p>
            <a:pPr eaLnBrk="1" hangingPunct="1">
              <a:spcBef>
                <a:spcPct val="0"/>
              </a:spcBef>
              <a:buFontTx/>
              <a:buNone/>
            </a:pPr>
            <a:r>
              <a:rPr lang="en-US" altLang="en-US" sz="2000" b="1">
                <a:solidFill>
                  <a:srgbClr val="000000"/>
                </a:solidFill>
              </a:rPr>
              <a:t>10</a:t>
            </a:r>
            <a:r>
              <a:rPr lang="en-US" altLang="en-US" sz="2000" b="1" baseline="30000">
                <a:solidFill>
                  <a:srgbClr val="000000"/>
                </a:solidFill>
              </a:rPr>
              <a:t>21</a:t>
            </a:r>
          </a:p>
          <a:p>
            <a:pPr eaLnBrk="1" hangingPunct="1">
              <a:spcBef>
                <a:spcPct val="0"/>
              </a:spcBef>
              <a:buFontTx/>
              <a:buNone/>
            </a:pPr>
            <a:r>
              <a:rPr lang="en-US" altLang="en-US" sz="2000" b="1">
                <a:solidFill>
                  <a:srgbClr val="660066"/>
                </a:solidFill>
              </a:rPr>
              <a:t>31,688 years</a:t>
            </a:r>
          </a:p>
          <a:p>
            <a:pPr eaLnBrk="1" hangingPunct="1">
              <a:spcBef>
                <a:spcPct val="0"/>
              </a:spcBef>
              <a:buFontTx/>
              <a:buNone/>
            </a:pPr>
            <a:r>
              <a:rPr lang="en-US" altLang="en-US" sz="1800">
                <a:solidFill>
                  <a:srgbClr val="000000"/>
                </a:solidFill>
              </a:rPr>
              <a:t>	 </a:t>
            </a:r>
          </a:p>
        </p:txBody>
      </p:sp>
      <p:sp>
        <p:nvSpPr>
          <p:cNvPr id="16" name="TextBox 13">
            <a:extLst>
              <a:ext uri="{FF2B5EF4-FFF2-40B4-BE49-F238E27FC236}">
                <a16:creationId xmlns:a16="http://schemas.microsoft.com/office/drawing/2014/main" id="{4997EBF2-6C6C-004D-AFB6-8FC1DF5B90EC}"/>
              </a:ext>
            </a:extLst>
          </p:cNvPr>
          <p:cNvSpPr txBox="1">
            <a:spLocks noChangeArrowheads="1"/>
          </p:cNvSpPr>
          <p:nvPr/>
        </p:nvSpPr>
        <p:spPr bwMode="auto">
          <a:xfrm>
            <a:off x="1949998" y="5602288"/>
            <a:ext cx="1319212" cy="646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defTabSz="457200">
              <a:spcBef>
                <a:spcPct val="20000"/>
              </a:spcBef>
              <a:buFont typeface="Arial" pitchFamily="34" charset="0"/>
              <a:buChar char="•"/>
              <a:defRPr sz="3200">
                <a:solidFill>
                  <a:schemeClr val="tx1"/>
                </a:solidFill>
                <a:latin typeface="Calibri" pitchFamily="34" charset="0"/>
                <a:ea typeface="ＭＳ Ｐゴシック" pitchFamily="-65" charset="-128"/>
              </a:defRPr>
            </a:lvl1pPr>
            <a:lvl2pPr marL="742950" indent="-285750" defTabSz="457200">
              <a:spcBef>
                <a:spcPct val="20000"/>
              </a:spcBef>
              <a:buFont typeface="Arial" pitchFamily="34" charset="0"/>
              <a:buChar char="–"/>
              <a:defRPr sz="2800">
                <a:solidFill>
                  <a:schemeClr val="tx1"/>
                </a:solidFill>
                <a:latin typeface="Calibri" pitchFamily="34" charset="0"/>
                <a:ea typeface="ＭＳ Ｐゴシック" pitchFamily="-65" charset="-128"/>
              </a:defRPr>
            </a:lvl2pPr>
            <a:lvl3pPr marL="1143000" indent="-228600" defTabSz="457200">
              <a:spcBef>
                <a:spcPct val="20000"/>
              </a:spcBef>
              <a:buFont typeface="Arial" pitchFamily="34" charset="0"/>
              <a:buChar char="•"/>
              <a:defRPr sz="2400">
                <a:solidFill>
                  <a:schemeClr val="tx1"/>
                </a:solidFill>
                <a:latin typeface="Calibri" pitchFamily="34" charset="0"/>
                <a:ea typeface="ＭＳ Ｐゴシック" pitchFamily="-65" charset="-128"/>
              </a:defRPr>
            </a:lvl3pPr>
            <a:lvl4pPr marL="1600200" indent="-228600" defTabSz="457200">
              <a:spcBef>
                <a:spcPct val="20000"/>
              </a:spcBef>
              <a:buFont typeface="Arial" pitchFamily="34" charset="0"/>
              <a:buChar char="–"/>
              <a:defRPr sz="2000">
                <a:solidFill>
                  <a:schemeClr val="tx1"/>
                </a:solidFill>
                <a:latin typeface="Calibri" pitchFamily="34" charset="0"/>
                <a:ea typeface="ＭＳ Ｐゴシック" pitchFamily="-65" charset="-128"/>
              </a:defRPr>
            </a:lvl4pPr>
            <a:lvl5pPr marL="2057400" indent="-228600" defTabSz="457200">
              <a:spcBef>
                <a:spcPct val="20000"/>
              </a:spcBef>
              <a:buFont typeface="Arial" pitchFamily="34" charset="0"/>
              <a:buChar char="»"/>
              <a:defRPr sz="2000">
                <a:solidFill>
                  <a:schemeClr val="tx1"/>
                </a:solidFill>
                <a:latin typeface="Calibri" pitchFamily="34" charset="0"/>
                <a:ea typeface="ＭＳ Ｐゴシック" pitchFamily="-65" charset="-128"/>
              </a:defRPr>
            </a:lvl5pPr>
            <a:lvl6pPr marL="2514600" indent="-228600" defTabSz="457200" eaLnBrk="0" fontAlgn="base" hangingPunct="0">
              <a:spcBef>
                <a:spcPct val="20000"/>
              </a:spcBef>
              <a:spcAft>
                <a:spcPct val="0"/>
              </a:spcAft>
              <a:buFont typeface="Arial" pitchFamily="34" charset="0"/>
              <a:buChar char="»"/>
              <a:defRPr sz="2000">
                <a:solidFill>
                  <a:schemeClr val="tx1"/>
                </a:solidFill>
                <a:latin typeface="Calibri" pitchFamily="34" charset="0"/>
                <a:ea typeface="ＭＳ Ｐゴシック" pitchFamily="-65" charset="-128"/>
              </a:defRPr>
            </a:lvl6pPr>
            <a:lvl7pPr marL="2971800" indent="-228600" defTabSz="457200" eaLnBrk="0" fontAlgn="base" hangingPunct="0">
              <a:spcBef>
                <a:spcPct val="20000"/>
              </a:spcBef>
              <a:spcAft>
                <a:spcPct val="0"/>
              </a:spcAft>
              <a:buFont typeface="Arial" pitchFamily="34" charset="0"/>
              <a:buChar char="»"/>
              <a:defRPr sz="2000">
                <a:solidFill>
                  <a:schemeClr val="tx1"/>
                </a:solidFill>
                <a:latin typeface="Calibri" pitchFamily="34" charset="0"/>
                <a:ea typeface="ＭＳ Ｐゴシック" pitchFamily="-65" charset="-128"/>
              </a:defRPr>
            </a:lvl7pPr>
            <a:lvl8pPr marL="3429000" indent="-228600" defTabSz="457200" eaLnBrk="0" fontAlgn="base" hangingPunct="0">
              <a:spcBef>
                <a:spcPct val="20000"/>
              </a:spcBef>
              <a:spcAft>
                <a:spcPct val="0"/>
              </a:spcAft>
              <a:buFont typeface="Arial" pitchFamily="34" charset="0"/>
              <a:buChar char="»"/>
              <a:defRPr sz="2000">
                <a:solidFill>
                  <a:schemeClr val="tx1"/>
                </a:solidFill>
                <a:latin typeface="Calibri" pitchFamily="34" charset="0"/>
                <a:ea typeface="ＭＳ Ｐゴシック" pitchFamily="-65" charset="-128"/>
              </a:defRPr>
            </a:lvl8pPr>
            <a:lvl9pPr marL="3886200" indent="-228600" defTabSz="457200" eaLnBrk="0" fontAlgn="base" hangingPunct="0">
              <a:spcBef>
                <a:spcPct val="20000"/>
              </a:spcBef>
              <a:spcAft>
                <a:spcPct val="0"/>
              </a:spcAft>
              <a:buFont typeface="Arial" pitchFamily="34" charset="0"/>
              <a:buChar char="»"/>
              <a:defRPr sz="2000">
                <a:solidFill>
                  <a:schemeClr val="tx1"/>
                </a:solidFill>
                <a:latin typeface="Calibri" pitchFamily="34" charset="0"/>
                <a:ea typeface="ＭＳ Ｐゴシック" pitchFamily="-65" charset="-128"/>
              </a:defRPr>
            </a:lvl9pPr>
          </a:lstStyle>
          <a:p>
            <a:pPr eaLnBrk="1" hangingPunct="1">
              <a:spcBef>
                <a:spcPct val="0"/>
              </a:spcBef>
              <a:buFontTx/>
              <a:buNone/>
            </a:pPr>
            <a:endParaRPr lang="en-US" altLang="en-US" sz="1800">
              <a:solidFill>
                <a:srgbClr val="000000"/>
              </a:solidFill>
            </a:endParaRPr>
          </a:p>
          <a:p>
            <a:pPr eaLnBrk="1" hangingPunct="1">
              <a:spcBef>
                <a:spcPct val="0"/>
              </a:spcBef>
              <a:buFontTx/>
              <a:buNone/>
            </a:pPr>
            <a:r>
              <a:rPr lang="en-US" altLang="en-US" sz="1800">
                <a:solidFill>
                  <a:srgbClr val="0000FF"/>
                </a:solidFill>
              </a:rPr>
              <a:t>&lt; 1 sec</a:t>
            </a:r>
            <a:r>
              <a:rPr lang="en-US" altLang="en-US" sz="1800">
                <a:solidFill>
                  <a:srgbClr val="000000"/>
                </a:solidFill>
              </a:rPr>
              <a:t>	 </a:t>
            </a:r>
          </a:p>
        </p:txBody>
      </p:sp>
      <p:sp>
        <p:nvSpPr>
          <p:cNvPr id="17" name="TextBox 13">
            <a:extLst>
              <a:ext uri="{FF2B5EF4-FFF2-40B4-BE49-F238E27FC236}">
                <a16:creationId xmlns:a16="http://schemas.microsoft.com/office/drawing/2014/main" id="{2A05F0FC-6992-6CDE-9E5B-EED6BC8C24FD}"/>
              </a:ext>
            </a:extLst>
          </p:cNvPr>
          <p:cNvSpPr txBox="1">
            <a:spLocks noChangeArrowheads="1"/>
          </p:cNvSpPr>
          <p:nvPr/>
        </p:nvSpPr>
        <p:spPr bwMode="auto">
          <a:xfrm>
            <a:off x="3744311" y="5602288"/>
            <a:ext cx="1319213" cy="954087"/>
          </a:xfrm>
          <a:prstGeom prst="rect">
            <a:avLst/>
          </a:prstGeom>
          <a:noFill/>
          <a:ln w="9525">
            <a:noFill/>
            <a:miter lim="800000"/>
            <a:headEnd/>
            <a:tailEnd/>
          </a:ln>
        </p:spPr>
        <p:txBody>
          <a:bodyPr>
            <a:spAutoFit/>
          </a:bodyPr>
          <a:lstStyle/>
          <a:p>
            <a:pPr defTabSz="457200" eaLnBrk="1" hangingPunct="1">
              <a:defRPr/>
            </a:pPr>
            <a:endParaRPr lang="en-US" sz="1800" dirty="0">
              <a:solidFill>
                <a:srgbClr val="000000"/>
              </a:solidFill>
              <a:latin typeface="Calibri" pitchFamily="-109" charset="0"/>
              <a:ea typeface="ＭＳ Ｐゴシック" pitchFamily="-109" charset="-128"/>
              <a:cs typeface="ＭＳ Ｐゴシック" pitchFamily="-109" charset="-128"/>
            </a:endParaRPr>
          </a:p>
          <a:p>
            <a:pPr defTabSz="457200" eaLnBrk="1" hangingPunct="1">
              <a:defRPr/>
            </a:pPr>
            <a:r>
              <a:rPr lang="en-US" sz="2000" dirty="0">
                <a:solidFill>
                  <a:schemeClr val="accent4">
                    <a:lumMod val="50000"/>
                  </a:schemeClr>
                </a:solidFill>
                <a:latin typeface="Calibri" pitchFamily="-109" charset="0"/>
                <a:ea typeface="ＭＳ Ｐゴシック" pitchFamily="-109" charset="-128"/>
                <a:cs typeface="ＭＳ Ｐゴシック" pitchFamily="-109" charset="-128"/>
              </a:rPr>
              <a:t>10</a:t>
            </a:r>
            <a:r>
              <a:rPr lang="en-US" sz="2000" baseline="30000" dirty="0">
                <a:solidFill>
                  <a:schemeClr val="accent4">
                    <a:lumMod val="50000"/>
                  </a:schemeClr>
                </a:solidFill>
                <a:latin typeface="Calibri" pitchFamily="-109" charset="0"/>
                <a:ea typeface="ＭＳ Ｐゴシック" pitchFamily="-109" charset="-128"/>
                <a:cs typeface="ＭＳ Ｐゴシック" pitchFamily="-109" charset="-128"/>
              </a:rPr>
              <a:t>16</a:t>
            </a:r>
            <a:r>
              <a:rPr lang="en-US" sz="2000" dirty="0">
                <a:solidFill>
                  <a:schemeClr val="accent4">
                    <a:lumMod val="50000"/>
                  </a:schemeClr>
                </a:solidFill>
                <a:latin typeface="Calibri" pitchFamily="-109" charset="0"/>
                <a:ea typeface="ＭＳ Ｐゴシック" pitchFamily="-109" charset="-128"/>
                <a:cs typeface="ＭＳ Ｐゴシック" pitchFamily="-109" charset="-128"/>
              </a:rPr>
              <a:t> years</a:t>
            </a:r>
            <a:r>
              <a:rPr lang="en-US" sz="1800" dirty="0">
                <a:solidFill>
                  <a:srgbClr val="000000"/>
                </a:solidFill>
                <a:latin typeface="Calibri" pitchFamily="-109" charset="0"/>
                <a:ea typeface="ＭＳ Ｐゴシック" pitchFamily="-109" charset="-128"/>
                <a:cs typeface="ＭＳ Ｐゴシック" pitchFamily="-109" charset="-128"/>
              </a:rPr>
              <a:t>	 </a:t>
            </a:r>
          </a:p>
        </p:txBody>
      </p:sp>
      <p:sp>
        <p:nvSpPr>
          <p:cNvPr id="19" name="TextBox 13">
            <a:extLst>
              <a:ext uri="{FF2B5EF4-FFF2-40B4-BE49-F238E27FC236}">
                <a16:creationId xmlns:a16="http://schemas.microsoft.com/office/drawing/2014/main" id="{232C1AAB-42CB-279A-8330-BF690640BD68}"/>
              </a:ext>
            </a:extLst>
          </p:cNvPr>
          <p:cNvSpPr txBox="1">
            <a:spLocks noChangeArrowheads="1"/>
          </p:cNvSpPr>
          <p:nvPr/>
        </p:nvSpPr>
        <p:spPr bwMode="auto">
          <a:xfrm>
            <a:off x="5510213" y="5599113"/>
            <a:ext cx="1319212" cy="954087"/>
          </a:xfrm>
          <a:prstGeom prst="rect">
            <a:avLst/>
          </a:prstGeom>
          <a:noFill/>
          <a:ln w="9525">
            <a:noFill/>
            <a:miter lim="800000"/>
            <a:headEnd/>
            <a:tailEnd/>
          </a:ln>
        </p:spPr>
        <p:txBody>
          <a:bodyPr>
            <a:spAutoFit/>
          </a:bodyPr>
          <a:lstStyle/>
          <a:p>
            <a:pPr defTabSz="457200" eaLnBrk="1" hangingPunct="1">
              <a:defRPr/>
            </a:pPr>
            <a:endParaRPr lang="en-US" sz="1800" dirty="0">
              <a:solidFill>
                <a:srgbClr val="000000"/>
              </a:solidFill>
              <a:latin typeface="Calibri" pitchFamily="-109" charset="0"/>
              <a:ea typeface="ＭＳ Ｐゴシック" pitchFamily="-109" charset="-128"/>
              <a:cs typeface="ＭＳ Ｐゴシック" pitchFamily="-109" charset="-128"/>
            </a:endParaRPr>
          </a:p>
          <a:p>
            <a:pPr defTabSz="457200" eaLnBrk="1" hangingPunct="1">
              <a:defRPr/>
            </a:pPr>
            <a:r>
              <a:rPr lang="en-US" sz="2000" dirty="0">
                <a:solidFill>
                  <a:schemeClr val="accent4">
                    <a:lumMod val="50000"/>
                  </a:schemeClr>
                </a:solidFill>
                <a:latin typeface="Calibri" pitchFamily="-109" charset="0"/>
                <a:ea typeface="ＭＳ Ｐゴシック" pitchFamily="-109" charset="-128"/>
                <a:cs typeface="ＭＳ Ｐゴシック" pitchFamily="-109" charset="-128"/>
              </a:rPr>
              <a:t>10</a:t>
            </a:r>
            <a:r>
              <a:rPr lang="en-US" sz="2000" baseline="30000" dirty="0">
                <a:solidFill>
                  <a:schemeClr val="accent4">
                    <a:lumMod val="50000"/>
                  </a:schemeClr>
                </a:solidFill>
                <a:latin typeface="Calibri" pitchFamily="-109" charset="0"/>
                <a:ea typeface="ＭＳ Ｐゴシック" pitchFamily="-109" charset="-128"/>
                <a:cs typeface="ＭＳ Ｐゴシック" pitchFamily="-109" charset="-128"/>
              </a:rPr>
              <a:t>57</a:t>
            </a:r>
            <a:r>
              <a:rPr lang="en-US" sz="2000" dirty="0">
                <a:solidFill>
                  <a:schemeClr val="accent4">
                    <a:lumMod val="50000"/>
                  </a:schemeClr>
                </a:solidFill>
                <a:latin typeface="Calibri" pitchFamily="-109" charset="0"/>
                <a:ea typeface="ＭＳ Ｐゴシック" pitchFamily="-109" charset="-128"/>
                <a:cs typeface="ＭＳ Ｐゴシック" pitchFamily="-109" charset="-128"/>
              </a:rPr>
              <a:t> years</a:t>
            </a:r>
            <a:r>
              <a:rPr lang="en-US" sz="1800" dirty="0">
                <a:solidFill>
                  <a:srgbClr val="000000"/>
                </a:solidFill>
                <a:latin typeface="Calibri" pitchFamily="-109" charset="0"/>
                <a:ea typeface="ＭＳ Ｐゴシック" pitchFamily="-109" charset="-128"/>
                <a:cs typeface="ＭＳ Ｐゴシック" pitchFamily="-109" charset="-128"/>
              </a:rPr>
              <a:t>	 </a:t>
            </a:r>
          </a:p>
        </p:txBody>
      </p:sp>
      <p:sp>
        <p:nvSpPr>
          <p:cNvPr id="21" name="TextBox 13">
            <a:extLst>
              <a:ext uri="{FF2B5EF4-FFF2-40B4-BE49-F238E27FC236}">
                <a16:creationId xmlns:a16="http://schemas.microsoft.com/office/drawing/2014/main" id="{19E20CE5-5C7C-4E26-6A1B-B0896875EE2F}"/>
              </a:ext>
            </a:extLst>
          </p:cNvPr>
          <p:cNvSpPr txBox="1">
            <a:spLocks noChangeArrowheads="1"/>
          </p:cNvSpPr>
          <p:nvPr/>
        </p:nvSpPr>
        <p:spPr bwMode="auto">
          <a:xfrm>
            <a:off x="7467600" y="5599113"/>
            <a:ext cx="1319213" cy="954087"/>
          </a:xfrm>
          <a:prstGeom prst="rect">
            <a:avLst/>
          </a:prstGeom>
          <a:noFill/>
          <a:ln w="9525">
            <a:noFill/>
            <a:miter lim="800000"/>
            <a:headEnd/>
            <a:tailEnd/>
          </a:ln>
        </p:spPr>
        <p:txBody>
          <a:bodyPr>
            <a:spAutoFit/>
          </a:bodyPr>
          <a:lstStyle/>
          <a:p>
            <a:pPr defTabSz="457200" eaLnBrk="1" hangingPunct="1">
              <a:defRPr/>
            </a:pPr>
            <a:endParaRPr lang="en-US" sz="1800" dirty="0">
              <a:solidFill>
                <a:srgbClr val="000000"/>
              </a:solidFill>
              <a:latin typeface="Calibri" pitchFamily="-109" charset="0"/>
              <a:ea typeface="ＭＳ Ｐゴシック" pitchFamily="-109" charset="-128"/>
              <a:cs typeface="ＭＳ Ｐゴシック" pitchFamily="-109" charset="-128"/>
            </a:endParaRPr>
          </a:p>
          <a:p>
            <a:pPr defTabSz="457200" eaLnBrk="1" hangingPunct="1">
              <a:defRPr/>
            </a:pPr>
            <a:r>
              <a:rPr lang="en-US" sz="2000" dirty="0">
                <a:solidFill>
                  <a:schemeClr val="accent4">
                    <a:lumMod val="50000"/>
                  </a:schemeClr>
                </a:solidFill>
                <a:latin typeface="Calibri" pitchFamily="-109" charset="0"/>
                <a:ea typeface="ＭＳ Ｐゴシック" pitchFamily="-109" charset="-128"/>
                <a:cs typeface="ＭＳ Ｐゴシック" pitchFamily="-109" charset="-128"/>
              </a:rPr>
              <a:t>10</a:t>
            </a:r>
            <a:r>
              <a:rPr lang="en-US" sz="2000" baseline="30000" dirty="0">
                <a:solidFill>
                  <a:schemeClr val="accent4">
                    <a:lumMod val="50000"/>
                  </a:schemeClr>
                </a:solidFill>
                <a:latin typeface="Calibri" pitchFamily="-109" charset="0"/>
                <a:ea typeface="ＭＳ Ｐゴシック" pitchFamily="-109" charset="-128"/>
                <a:cs typeface="ＭＳ Ｐゴシック" pitchFamily="-109" charset="-128"/>
              </a:rPr>
              <a:t>93</a:t>
            </a:r>
            <a:r>
              <a:rPr lang="en-US" sz="2000" dirty="0">
                <a:solidFill>
                  <a:schemeClr val="accent4">
                    <a:lumMod val="50000"/>
                  </a:schemeClr>
                </a:solidFill>
                <a:latin typeface="Calibri" pitchFamily="-109" charset="0"/>
                <a:ea typeface="ＭＳ Ｐゴシック" pitchFamily="-109" charset="-128"/>
                <a:cs typeface="ＭＳ Ｐゴシック" pitchFamily="-109" charset="-128"/>
              </a:rPr>
              <a:t> years</a:t>
            </a:r>
            <a:r>
              <a:rPr lang="en-US" sz="1800" dirty="0">
                <a:solidFill>
                  <a:srgbClr val="000000"/>
                </a:solidFill>
                <a:latin typeface="Calibri" pitchFamily="-109" charset="0"/>
                <a:ea typeface="ＭＳ Ｐゴシック" pitchFamily="-109" charset="-128"/>
                <a:cs typeface="ＭＳ Ｐゴシック" pitchFamily="-109" charset="-128"/>
              </a:rPr>
              <a:t>	 </a:t>
            </a:r>
          </a:p>
        </p:txBody>
      </p:sp>
    </p:spTree>
    <p:extLst>
      <p:ext uri="{BB962C8B-B14F-4D97-AF65-F5344CB8AC3E}">
        <p14:creationId xmlns:p14="http://schemas.microsoft.com/office/powerpoint/2010/main" val="3086308866"/>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2"/>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5"/>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7"/>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9"/>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2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P spid="12" grpId="0"/>
      <p:bldP spid="15" grpId="0"/>
      <p:bldP spid="17" grpId="0"/>
      <p:bldP spid="19" grpId="0"/>
      <p:bldP spid="21"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0" y="0"/>
            <a:ext cx="12192000" cy="762000"/>
          </a:xfrm>
          <a:prstGeom prst="rect">
            <a:avLst/>
          </a:prstGeom>
          <a:solidFill>
            <a:srgbClr val="002F7C"/>
          </a:solidFill>
        </p:spPr>
        <p:style>
          <a:lnRef idx="2">
            <a:schemeClr val="dk1">
              <a:shade val="50000"/>
            </a:schemeClr>
          </a:lnRef>
          <a:fillRef idx="1">
            <a:schemeClr val="dk1"/>
          </a:fillRef>
          <a:effectRef idx="0">
            <a:schemeClr val="dk1"/>
          </a:effectRef>
          <a:fontRef idx="minor">
            <a:schemeClr val="lt1"/>
          </a:fontRef>
        </p:style>
        <p:txBody>
          <a:bodyPr rtlCol="0" anchor="ctr"/>
          <a:lstStyle/>
          <a:p>
            <a:r>
              <a:rPr lang="zh-CN" altLang="en-US" sz="2000" b="1" dirty="0">
                <a:latin typeface="Times New Roman" panose="02020603050405020304" pitchFamily="18" charset="0"/>
                <a:ea typeface="宋体" panose="02010600030101010101" pitchFamily="2" charset="-122"/>
                <a:cs typeface="Times New Roman" panose="02020603050405020304" pitchFamily="18" charset="0"/>
              </a:rPr>
              <a:t>                </a:t>
            </a:r>
            <a:r>
              <a:rPr lang="en-US" altLang="zh-CN" sz="2400" b="1" dirty="0">
                <a:latin typeface="Trebuchet MS" panose="020B0603020202020204" pitchFamily="34" charset="0"/>
              </a:rPr>
              <a:t>Chapter 8: </a:t>
            </a:r>
            <a:r>
              <a:rPr lang="en-US" altLang="zh-CN" sz="2400" dirty="0"/>
              <a:t>INTRACTABILITY</a:t>
            </a:r>
            <a:endParaRPr lang="zh-CN" altLang="en-US" sz="2400" b="1" dirty="0">
              <a:solidFill>
                <a:srgbClr val="3D557A"/>
              </a:solidFill>
              <a:latin typeface="Trebuchet MS" panose="020B0603020202020204" pitchFamily="34" charset="0"/>
            </a:endParaRPr>
          </a:p>
        </p:txBody>
      </p:sp>
      <p:sp>
        <p:nvSpPr>
          <p:cNvPr id="13" name="矩形 12"/>
          <p:cNvSpPr/>
          <p:nvPr/>
        </p:nvSpPr>
        <p:spPr>
          <a:xfrm>
            <a:off x="824682" y="0"/>
            <a:ext cx="175443" cy="628650"/>
          </a:xfrm>
          <a:prstGeom prst="rect">
            <a:avLst/>
          </a:prstGeom>
          <a:solidFill>
            <a:srgbClr val="CFA57C"/>
          </a:solidFill>
          <a:ln cmpd="sng">
            <a:gradFill flip="none" rotWithShape="1">
              <a:gsLst>
                <a:gs pos="50000">
                  <a:schemeClr val="accent2">
                    <a:lumMod val="60000"/>
                    <a:lumOff val="40000"/>
                  </a:schemeClr>
                </a:gs>
                <a:gs pos="0">
                  <a:schemeClr val="accent2">
                    <a:lumMod val="20000"/>
                    <a:lumOff val="80000"/>
                  </a:schemeClr>
                </a:gs>
                <a:gs pos="95000">
                  <a:schemeClr val="accent2"/>
                </a:gs>
              </a:gsLst>
              <a:path path="circle">
                <a:fillToRect l="50000" t="-80000" r="50000" b="180000"/>
              </a:path>
              <a:tileRect/>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22" name="Picture 6" descr="D:\MBA工作\LOGO\同济经管LOGO反白.png"/>
          <p:cNvPicPr>
            <a:picLocks noChangeAspect="1" noChangeArrowheads="1"/>
          </p:cNvPicPr>
          <p:nvPr/>
        </p:nvPicPr>
        <p:blipFill>
          <a:blip r:embed="rId3" cstate="email">
            <a:extLst>
              <a:ext uri="{28A0092B-C50C-407E-A947-70E740481C1C}">
                <a14:useLocalDpi xmlns:a14="http://schemas.microsoft.com/office/drawing/2010/main" val="0"/>
              </a:ext>
            </a:extLst>
          </a:blip>
          <a:srcRect/>
          <a:stretch>
            <a:fillRect/>
          </a:stretch>
        </p:blipFill>
        <p:spPr bwMode="auto">
          <a:xfrm>
            <a:off x="10267423" y="165688"/>
            <a:ext cx="1386605" cy="462962"/>
          </a:xfrm>
          <a:prstGeom prst="rect">
            <a:avLst/>
          </a:prstGeom>
          <a:noFill/>
          <a:extLst>
            <a:ext uri="{909E8E84-426E-40DD-AFC4-6F175D3DCCD1}">
              <a14:hiddenFill xmlns:a14="http://schemas.microsoft.com/office/drawing/2010/main">
                <a:solidFill>
                  <a:srgbClr val="FFFFFF"/>
                </a:solidFill>
              </a14:hiddenFill>
            </a:ext>
          </a:extLst>
        </p:spPr>
      </p:pic>
      <p:pic>
        <p:nvPicPr>
          <p:cNvPr id="2" name="图片 1" descr="微信图片_20220318113523"/>
          <p:cNvPicPr>
            <a:picLocks noChangeAspect="1"/>
          </p:cNvPicPr>
          <p:nvPr userDrawn="1"/>
        </p:nvPicPr>
        <p:blipFill>
          <a:blip r:embed="rId4"/>
          <a:stretch>
            <a:fillRect/>
          </a:stretch>
        </p:blipFill>
        <p:spPr>
          <a:xfrm>
            <a:off x="9291877" y="6115050"/>
            <a:ext cx="2244725" cy="361315"/>
          </a:xfrm>
          <a:prstGeom prst="rect">
            <a:avLst/>
          </a:prstGeom>
        </p:spPr>
      </p:pic>
      <p:sp>
        <p:nvSpPr>
          <p:cNvPr id="18" name="Rectangle 2">
            <a:extLst>
              <a:ext uri="{FF2B5EF4-FFF2-40B4-BE49-F238E27FC236}">
                <a16:creationId xmlns:a16="http://schemas.microsoft.com/office/drawing/2014/main" id="{E217C615-1D49-4D07-B850-D36106D7AA9A}"/>
              </a:ext>
            </a:extLst>
          </p:cNvPr>
          <p:cNvSpPr>
            <a:spLocks noChangeArrowheads="1"/>
          </p:cNvSpPr>
          <p:nvPr/>
        </p:nvSpPr>
        <p:spPr bwMode="auto">
          <a:xfrm>
            <a:off x="1000125" y="815365"/>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8" name="Rectangle 3">
            <a:extLst>
              <a:ext uri="{FF2B5EF4-FFF2-40B4-BE49-F238E27FC236}">
                <a16:creationId xmlns:a16="http://schemas.microsoft.com/office/drawing/2014/main" id="{97F08C45-3D15-45C1-A5A3-D1EB58DC91FE}"/>
              </a:ext>
            </a:extLst>
          </p:cNvPr>
          <p:cNvSpPr txBox="1">
            <a:spLocks noChangeArrowheads="1"/>
          </p:cNvSpPr>
          <p:nvPr/>
        </p:nvSpPr>
        <p:spPr>
          <a:xfrm>
            <a:off x="824681" y="765175"/>
            <a:ext cx="8798289" cy="5788025"/>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indent="1828800">
              <a:lnSpc>
                <a:spcPct val="130000"/>
              </a:lnSpc>
              <a:spcBef>
                <a:spcPts val="600"/>
              </a:spcBef>
              <a:buNone/>
            </a:pPr>
            <a:endParaRPr lang="en-US" altLang="zh-CN" sz="2400" b="1" dirty="0">
              <a:latin typeface="Trebuchet MS" panose="020B0603020202020204" pitchFamily="34" charset="0"/>
            </a:endParaRPr>
          </a:p>
        </p:txBody>
      </p:sp>
      <p:sp>
        <p:nvSpPr>
          <p:cNvPr id="3" name="Rectangle 2">
            <a:extLst>
              <a:ext uri="{FF2B5EF4-FFF2-40B4-BE49-F238E27FC236}">
                <a16:creationId xmlns:a16="http://schemas.microsoft.com/office/drawing/2014/main" id="{13749967-9344-15A0-6A8A-8D80F2125A1E}"/>
              </a:ext>
            </a:extLst>
          </p:cNvPr>
          <p:cNvSpPr>
            <a:spLocks noGrp="1" noChangeArrowheads="1"/>
          </p:cNvSpPr>
          <p:nvPr>
            <p:ph type="title"/>
          </p:nvPr>
        </p:nvSpPr>
        <p:spPr>
          <a:xfrm>
            <a:off x="905379" y="669045"/>
            <a:ext cx="8229600" cy="1143000"/>
          </a:xfrm>
        </p:spPr>
        <p:txBody>
          <a:bodyPr/>
          <a:lstStyle/>
          <a:p>
            <a:r>
              <a:rPr lang="en-US" altLang="zh-CN" dirty="0">
                <a:ea typeface="SimSun" panose="02010600030101010101" pitchFamily="2" charset="-122"/>
              </a:rPr>
              <a:t>Tractability</a:t>
            </a:r>
          </a:p>
        </p:txBody>
      </p:sp>
      <p:sp>
        <p:nvSpPr>
          <p:cNvPr id="4" name="Rectangle 3">
            <a:extLst>
              <a:ext uri="{FF2B5EF4-FFF2-40B4-BE49-F238E27FC236}">
                <a16:creationId xmlns:a16="http://schemas.microsoft.com/office/drawing/2014/main" id="{C0BC5B6A-AA1A-4CD3-9FF0-51F6701984AF}"/>
              </a:ext>
            </a:extLst>
          </p:cNvPr>
          <p:cNvSpPr txBox="1">
            <a:spLocks noChangeArrowheads="1"/>
          </p:cNvSpPr>
          <p:nvPr/>
        </p:nvSpPr>
        <p:spPr>
          <a:xfrm>
            <a:off x="1133979" y="2070807"/>
            <a:ext cx="8077200" cy="4114800"/>
          </a:xfrm>
          <a:prstGeom prst="rect">
            <a:avLst/>
          </a:prstGeom>
        </p:spPr>
        <p:txBody>
          <a:bodyPr vert="horz" lIns="91440" tIns="45720" rIns="91440" bIns="45720" rtlCol="0">
            <a:normAutofit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altLang="zh-CN">
                <a:ea typeface="SimSun" panose="02010600030101010101" pitchFamily="2" charset="-122"/>
              </a:rPr>
              <a:t>Some problems are </a:t>
            </a:r>
            <a:r>
              <a:rPr lang="en-US" altLang="zh-CN" i="1">
                <a:solidFill>
                  <a:schemeClr val="tx2"/>
                </a:solidFill>
                <a:ea typeface="SimSun" panose="02010600030101010101" pitchFamily="2" charset="-122"/>
              </a:rPr>
              <a:t>intractable</a:t>
            </a:r>
            <a:r>
              <a:rPr lang="en-US" altLang="zh-CN">
                <a:ea typeface="SimSun" panose="02010600030101010101" pitchFamily="2" charset="-122"/>
              </a:rPr>
              <a:t>: </a:t>
            </a:r>
            <a:br>
              <a:rPr lang="en-US" altLang="zh-CN">
                <a:ea typeface="SimSun" panose="02010600030101010101" pitchFamily="2" charset="-122"/>
              </a:rPr>
            </a:br>
            <a:r>
              <a:rPr lang="en-US" altLang="zh-CN">
                <a:ea typeface="SimSun" panose="02010600030101010101" pitchFamily="2" charset="-122"/>
              </a:rPr>
              <a:t>as they grow large, we are unable to solve them in reasonable time</a:t>
            </a:r>
          </a:p>
          <a:p>
            <a:pPr lvl="1"/>
            <a:r>
              <a:rPr lang="en-US" altLang="zh-CN">
                <a:ea typeface="SimSun" panose="02010600030101010101" pitchFamily="2" charset="-122"/>
              </a:rPr>
              <a:t>Not in polynomial time: O(2</a:t>
            </a:r>
            <a:r>
              <a:rPr lang="en-US" altLang="zh-CN" i="1" baseline="30000">
                <a:ea typeface="SimSun" panose="02010600030101010101" pitchFamily="2" charset="-122"/>
              </a:rPr>
              <a:t>n</a:t>
            </a:r>
            <a:r>
              <a:rPr lang="en-US" altLang="zh-CN">
                <a:ea typeface="SimSun" panose="02010600030101010101" pitchFamily="2" charset="-122"/>
              </a:rPr>
              <a:t>), O(</a:t>
            </a:r>
            <a:r>
              <a:rPr lang="en-US" altLang="zh-CN" i="1">
                <a:ea typeface="SimSun" panose="02010600030101010101" pitchFamily="2" charset="-122"/>
              </a:rPr>
              <a:t>n</a:t>
            </a:r>
            <a:r>
              <a:rPr lang="en-US" altLang="zh-CN">
                <a:ea typeface="SimSun" panose="02010600030101010101" pitchFamily="2" charset="-122"/>
              </a:rPr>
              <a:t>!), O(</a:t>
            </a:r>
            <a:r>
              <a:rPr lang="en-US" altLang="zh-CN" i="1">
                <a:ea typeface="SimSun" panose="02010600030101010101" pitchFamily="2" charset="-122"/>
              </a:rPr>
              <a:t>n</a:t>
            </a:r>
            <a:r>
              <a:rPr lang="en-US" altLang="zh-CN" baseline="30000">
                <a:ea typeface="SimSun" panose="02010600030101010101" pitchFamily="2" charset="-122"/>
              </a:rPr>
              <a:t>n</a:t>
            </a:r>
            <a:r>
              <a:rPr lang="en-US" altLang="zh-CN">
                <a:ea typeface="SimSun" panose="02010600030101010101" pitchFamily="2" charset="-122"/>
              </a:rPr>
              <a:t>), </a:t>
            </a:r>
          </a:p>
          <a:p>
            <a:endParaRPr lang="en-US" altLang="zh-CN">
              <a:ea typeface="SimSun" panose="02010600030101010101" pitchFamily="2" charset="-122"/>
            </a:endParaRPr>
          </a:p>
          <a:p>
            <a:r>
              <a:rPr lang="en-US" altLang="zh-CN">
                <a:ea typeface="SimSun" panose="02010600030101010101" pitchFamily="2" charset="-122"/>
              </a:rPr>
              <a:t>What constitutes reasonable time? </a:t>
            </a:r>
          </a:p>
          <a:p>
            <a:pPr lvl="1"/>
            <a:r>
              <a:rPr lang="en-US" altLang="zh-CN">
                <a:ea typeface="SimSun" panose="02010600030101010101" pitchFamily="2" charset="-122"/>
              </a:rPr>
              <a:t>Standard working definition: </a:t>
            </a:r>
            <a:r>
              <a:rPr lang="en-US" altLang="zh-CN" i="1">
                <a:solidFill>
                  <a:srgbClr val="339966"/>
                </a:solidFill>
                <a:ea typeface="SimSun" panose="02010600030101010101" pitchFamily="2" charset="-122"/>
              </a:rPr>
              <a:t>polynomial time</a:t>
            </a:r>
            <a:endParaRPr lang="en-US" altLang="zh-CN">
              <a:solidFill>
                <a:srgbClr val="339966"/>
              </a:solidFill>
              <a:ea typeface="SimSun" panose="02010600030101010101" pitchFamily="2" charset="-122"/>
            </a:endParaRPr>
          </a:p>
          <a:p>
            <a:pPr lvl="1"/>
            <a:r>
              <a:rPr lang="en-US" altLang="zh-CN">
                <a:ea typeface="SimSun" panose="02010600030101010101" pitchFamily="2" charset="-122"/>
              </a:rPr>
              <a:t>On an input of size </a:t>
            </a:r>
            <a:r>
              <a:rPr lang="en-US" altLang="zh-CN" i="1">
                <a:ea typeface="SimSun" panose="02010600030101010101" pitchFamily="2" charset="-122"/>
              </a:rPr>
              <a:t>n</a:t>
            </a:r>
            <a:r>
              <a:rPr lang="en-US" altLang="zh-CN">
                <a:ea typeface="SimSun" panose="02010600030101010101" pitchFamily="2" charset="-122"/>
              </a:rPr>
              <a:t> the worst-case running time is O(</a:t>
            </a:r>
            <a:r>
              <a:rPr lang="en-US" altLang="zh-CN" i="1">
                <a:ea typeface="SimSun" panose="02010600030101010101" pitchFamily="2" charset="-122"/>
              </a:rPr>
              <a:t>n</a:t>
            </a:r>
            <a:r>
              <a:rPr lang="en-US" altLang="zh-CN" i="1" baseline="30000">
                <a:ea typeface="SimSun" panose="02010600030101010101" pitchFamily="2" charset="-122"/>
              </a:rPr>
              <a:t>k</a:t>
            </a:r>
            <a:r>
              <a:rPr lang="en-US" altLang="zh-CN">
                <a:ea typeface="SimSun" panose="02010600030101010101" pitchFamily="2" charset="-122"/>
              </a:rPr>
              <a:t>) for some constant </a:t>
            </a:r>
            <a:r>
              <a:rPr lang="en-US" altLang="zh-CN" i="1">
                <a:ea typeface="SimSun" panose="02010600030101010101" pitchFamily="2" charset="-122"/>
              </a:rPr>
              <a:t>k</a:t>
            </a:r>
          </a:p>
          <a:p>
            <a:pPr lvl="1"/>
            <a:r>
              <a:rPr lang="en-US" altLang="zh-CN">
                <a:ea typeface="SimSun" panose="02010600030101010101" pitchFamily="2" charset="-122"/>
              </a:rPr>
              <a:t>Polynomial time: O(1), O(n lg n), O(n</a:t>
            </a:r>
            <a:r>
              <a:rPr lang="en-US" altLang="zh-CN" baseline="30000">
                <a:ea typeface="SimSun" panose="02010600030101010101" pitchFamily="2" charset="-122"/>
              </a:rPr>
              <a:t>2</a:t>
            </a:r>
            <a:r>
              <a:rPr lang="en-US" altLang="zh-CN">
                <a:ea typeface="SimSun" panose="02010600030101010101" pitchFamily="2" charset="-122"/>
              </a:rPr>
              <a:t>), O(n</a:t>
            </a:r>
            <a:r>
              <a:rPr lang="en-US" altLang="zh-CN" baseline="30000">
                <a:ea typeface="SimSun" panose="02010600030101010101" pitchFamily="2" charset="-122"/>
              </a:rPr>
              <a:t>3</a:t>
            </a:r>
            <a:r>
              <a:rPr lang="en-US" altLang="zh-CN">
                <a:ea typeface="SimSun" panose="02010600030101010101" pitchFamily="2" charset="-122"/>
              </a:rPr>
              <a:t>), </a:t>
            </a:r>
            <a:endParaRPr lang="en-US" altLang="zh-CN" dirty="0">
              <a:ea typeface="SimSun" panose="02010600030101010101" pitchFamily="2" charset="-122"/>
            </a:endParaRPr>
          </a:p>
        </p:txBody>
      </p:sp>
    </p:spTree>
    <p:extLst>
      <p:ext uri="{BB962C8B-B14F-4D97-AF65-F5344CB8AC3E}">
        <p14:creationId xmlns:p14="http://schemas.microsoft.com/office/powerpoint/2010/main" val="3610905395"/>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0" y="0"/>
            <a:ext cx="12192000" cy="762000"/>
          </a:xfrm>
          <a:prstGeom prst="rect">
            <a:avLst/>
          </a:prstGeom>
          <a:solidFill>
            <a:srgbClr val="002F7C"/>
          </a:solidFill>
        </p:spPr>
        <p:style>
          <a:lnRef idx="2">
            <a:schemeClr val="dk1">
              <a:shade val="50000"/>
            </a:schemeClr>
          </a:lnRef>
          <a:fillRef idx="1">
            <a:schemeClr val="dk1"/>
          </a:fillRef>
          <a:effectRef idx="0">
            <a:schemeClr val="dk1"/>
          </a:effectRef>
          <a:fontRef idx="minor">
            <a:schemeClr val="lt1"/>
          </a:fontRef>
        </p:style>
        <p:txBody>
          <a:bodyPr rtlCol="0" anchor="ctr"/>
          <a:lstStyle/>
          <a:p>
            <a:r>
              <a:rPr lang="zh-CN" altLang="en-US" sz="2000" b="1" dirty="0">
                <a:latin typeface="Times New Roman" panose="02020603050405020304" pitchFamily="18" charset="0"/>
                <a:ea typeface="宋体" panose="02010600030101010101" pitchFamily="2" charset="-122"/>
                <a:cs typeface="Times New Roman" panose="02020603050405020304" pitchFamily="18" charset="0"/>
              </a:rPr>
              <a:t>                </a:t>
            </a:r>
            <a:r>
              <a:rPr lang="en-US" altLang="zh-CN" sz="2400" b="1" dirty="0">
                <a:latin typeface="Trebuchet MS" panose="020B0603020202020204" pitchFamily="34" charset="0"/>
              </a:rPr>
              <a:t>Chapter 8: </a:t>
            </a:r>
            <a:r>
              <a:rPr lang="en-US" altLang="zh-CN" sz="2400" dirty="0"/>
              <a:t>INTRACTABILITY</a:t>
            </a:r>
            <a:endParaRPr lang="zh-CN" altLang="en-US" sz="2400" b="1" dirty="0">
              <a:solidFill>
                <a:srgbClr val="3D557A"/>
              </a:solidFill>
              <a:latin typeface="Trebuchet MS" panose="020B0603020202020204" pitchFamily="34" charset="0"/>
            </a:endParaRPr>
          </a:p>
        </p:txBody>
      </p:sp>
      <p:sp>
        <p:nvSpPr>
          <p:cNvPr id="13" name="矩形 12"/>
          <p:cNvSpPr/>
          <p:nvPr/>
        </p:nvSpPr>
        <p:spPr>
          <a:xfrm>
            <a:off x="824682" y="0"/>
            <a:ext cx="175443" cy="628650"/>
          </a:xfrm>
          <a:prstGeom prst="rect">
            <a:avLst/>
          </a:prstGeom>
          <a:solidFill>
            <a:srgbClr val="CFA57C"/>
          </a:solidFill>
          <a:ln cmpd="sng">
            <a:gradFill flip="none" rotWithShape="1">
              <a:gsLst>
                <a:gs pos="50000">
                  <a:schemeClr val="accent2">
                    <a:lumMod val="60000"/>
                    <a:lumOff val="40000"/>
                  </a:schemeClr>
                </a:gs>
                <a:gs pos="0">
                  <a:schemeClr val="accent2">
                    <a:lumMod val="20000"/>
                    <a:lumOff val="80000"/>
                  </a:schemeClr>
                </a:gs>
                <a:gs pos="95000">
                  <a:schemeClr val="accent2"/>
                </a:gs>
              </a:gsLst>
              <a:path path="circle">
                <a:fillToRect l="50000" t="-80000" r="50000" b="180000"/>
              </a:path>
              <a:tileRect/>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22" name="Picture 6" descr="D:\MBA工作\LOGO\同济经管LOGO反白.png"/>
          <p:cNvPicPr>
            <a:picLocks noChangeAspect="1" noChangeArrowheads="1"/>
          </p:cNvPicPr>
          <p:nvPr/>
        </p:nvPicPr>
        <p:blipFill>
          <a:blip r:embed="rId3" cstate="email">
            <a:extLst>
              <a:ext uri="{28A0092B-C50C-407E-A947-70E740481C1C}">
                <a14:useLocalDpi xmlns:a14="http://schemas.microsoft.com/office/drawing/2010/main" val="0"/>
              </a:ext>
            </a:extLst>
          </a:blip>
          <a:srcRect/>
          <a:stretch>
            <a:fillRect/>
          </a:stretch>
        </p:blipFill>
        <p:spPr bwMode="auto">
          <a:xfrm>
            <a:off x="10267423" y="165688"/>
            <a:ext cx="1386605" cy="462962"/>
          </a:xfrm>
          <a:prstGeom prst="rect">
            <a:avLst/>
          </a:prstGeom>
          <a:noFill/>
          <a:extLst>
            <a:ext uri="{909E8E84-426E-40DD-AFC4-6F175D3DCCD1}">
              <a14:hiddenFill xmlns:a14="http://schemas.microsoft.com/office/drawing/2010/main">
                <a:solidFill>
                  <a:srgbClr val="FFFFFF"/>
                </a:solidFill>
              </a14:hiddenFill>
            </a:ext>
          </a:extLst>
        </p:spPr>
      </p:pic>
      <p:pic>
        <p:nvPicPr>
          <p:cNvPr id="2" name="图片 1" descr="微信图片_20220318113523"/>
          <p:cNvPicPr>
            <a:picLocks noChangeAspect="1"/>
          </p:cNvPicPr>
          <p:nvPr userDrawn="1"/>
        </p:nvPicPr>
        <p:blipFill>
          <a:blip r:embed="rId4"/>
          <a:stretch>
            <a:fillRect/>
          </a:stretch>
        </p:blipFill>
        <p:spPr>
          <a:xfrm>
            <a:off x="9291877" y="6115050"/>
            <a:ext cx="2244725" cy="361315"/>
          </a:xfrm>
          <a:prstGeom prst="rect">
            <a:avLst/>
          </a:prstGeom>
        </p:spPr>
      </p:pic>
      <p:sp>
        <p:nvSpPr>
          <p:cNvPr id="18" name="Rectangle 2">
            <a:extLst>
              <a:ext uri="{FF2B5EF4-FFF2-40B4-BE49-F238E27FC236}">
                <a16:creationId xmlns:a16="http://schemas.microsoft.com/office/drawing/2014/main" id="{E217C615-1D49-4D07-B850-D36106D7AA9A}"/>
              </a:ext>
            </a:extLst>
          </p:cNvPr>
          <p:cNvSpPr>
            <a:spLocks noChangeArrowheads="1"/>
          </p:cNvSpPr>
          <p:nvPr/>
        </p:nvSpPr>
        <p:spPr bwMode="auto">
          <a:xfrm>
            <a:off x="1000125" y="815365"/>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8" name="Rectangle 3">
            <a:extLst>
              <a:ext uri="{FF2B5EF4-FFF2-40B4-BE49-F238E27FC236}">
                <a16:creationId xmlns:a16="http://schemas.microsoft.com/office/drawing/2014/main" id="{97F08C45-3D15-45C1-A5A3-D1EB58DC91FE}"/>
              </a:ext>
            </a:extLst>
          </p:cNvPr>
          <p:cNvSpPr txBox="1">
            <a:spLocks noChangeArrowheads="1"/>
          </p:cNvSpPr>
          <p:nvPr/>
        </p:nvSpPr>
        <p:spPr>
          <a:xfrm>
            <a:off x="824681" y="765175"/>
            <a:ext cx="8798289" cy="5788025"/>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indent="1828800">
              <a:lnSpc>
                <a:spcPct val="130000"/>
              </a:lnSpc>
              <a:spcBef>
                <a:spcPts val="600"/>
              </a:spcBef>
              <a:buNone/>
            </a:pPr>
            <a:endParaRPr lang="en-US" altLang="zh-CN" sz="2400" b="1" dirty="0">
              <a:latin typeface="Trebuchet MS" panose="020B0603020202020204" pitchFamily="34" charset="0"/>
            </a:endParaRPr>
          </a:p>
        </p:txBody>
      </p:sp>
      <p:sp>
        <p:nvSpPr>
          <p:cNvPr id="4" name="文本框 3">
            <a:extLst>
              <a:ext uri="{FF2B5EF4-FFF2-40B4-BE49-F238E27FC236}">
                <a16:creationId xmlns:a16="http://schemas.microsoft.com/office/drawing/2014/main" id="{7E888717-CF53-2F96-50B5-83B0DC63D6B1}"/>
              </a:ext>
            </a:extLst>
          </p:cNvPr>
          <p:cNvSpPr txBox="1"/>
          <p:nvPr/>
        </p:nvSpPr>
        <p:spPr>
          <a:xfrm>
            <a:off x="1424770" y="1164900"/>
            <a:ext cx="6103344" cy="369332"/>
          </a:xfrm>
          <a:prstGeom prst="rect">
            <a:avLst/>
          </a:prstGeom>
          <a:noFill/>
        </p:spPr>
        <p:txBody>
          <a:bodyPr wrap="square">
            <a:spAutoFit/>
          </a:bodyPr>
          <a:lstStyle/>
          <a:p>
            <a:r>
              <a:rPr lang="en-US" altLang="zh-CN" dirty="0">
                <a:ea typeface="SimSun" panose="02010600030101010101" pitchFamily="2" charset="-122"/>
              </a:rPr>
              <a:t>Optimization/Decision Problems</a:t>
            </a:r>
            <a:endParaRPr lang="zh-CN" altLang="en-US" dirty="0"/>
          </a:p>
        </p:txBody>
      </p:sp>
      <p:sp>
        <p:nvSpPr>
          <p:cNvPr id="5" name="Rectangle 1027">
            <a:extLst>
              <a:ext uri="{FF2B5EF4-FFF2-40B4-BE49-F238E27FC236}">
                <a16:creationId xmlns:a16="http://schemas.microsoft.com/office/drawing/2014/main" id="{A0ABA4D9-4295-575C-6577-4CD48E457F0E}"/>
              </a:ext>
            </a:extLst>
          </p:cNvPr>
          <p:cNvSpPr txBox="1">
            <a:spLocks noChangeArrowheads="1"/>
          </p:cNvSpPr>
          <p:nvPr/>
        </p:nvSpPr>
        <p:spPr>
          <a:xfrm>
            <a:off x="990600" y="1676400"/>
            <a:ext cx="7772400" cy="4419600"/>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altLang="zh-CN">
                <a:ea typeface="SimSun" panose="02010600030101010101" pitchFamily="2" charset="-122"/>
              </a:rPr>
              <a:t>Optimization Problems</a:t>
            </a:r>
          </a:p>
          <a:p>
            <a:pPr lvl="1"/>
            <a:r>
              <a:rPr lang="en-US" altLang="zh-CN">
                <a:ea typeface="SimSun" panose="02010600030101010101" pitchFamily="2" charset="-122"/>
              </a:rPr>
              <a:t>An optimization problem is one which asks, “What is the optimal solution to problem X?”</a:t>
            </a:r>
          </a:p>
          <a:p>
            <a:pPr lvl="1"/>
            <a:r>
              <a:rPr lang="en-US" altLang="zh-CN">
                <a:ea typeface="SimSun" panose="02010600030101010101" pitchFamily="2" charset="-122"/>
              </a:rPr>
              <a:t>Examples:</a:t>
            </a:r>
          </a:p>
          <a:p>
            <a:pPr lvl="2"/>
            <a:r>
              <a:rPr lang="en-US" altLang="zh-CN">
                <a:ea typeface="SimSun" panose="02010600030101010101" pitchFamily="2" charset="-122"/>
              </a:rPr>
              <a:t>Maximal Matching</a:t>
            </a:r>
          </a:p>
          <a:p>
            <a:pPr lvl="2"/>
            <a:r>
              <a:rPr lang="en-US" altLang="zh-CN">
                <a:ea typeface="SimSun" panose="02010600030101010101" pitchFamily="2" charset="-122"/>
              </a:rPr>
              <a:t>Traveling Salesperson</a:t>
            </a:r>
          </a:p>
          <a:p>
            <a:pPr lvl="2"/>
            <a:r>
              <a:rPr lang="en-US" altLang="zh-CN">
                <a:ea typeface="SimSun" panose="02010600030101010101" pitchFamily="2" charset="-122"/>
              </a:rPr>
              <a:t>Minimum Spanning Tree</a:t>
            </a:r>
          </a:p>
          <a:p>
            <a:r>
              <a:rPr lang="en-US" altLang="zh-CN">
                <a:ea typeface="SimSun" panose="02010600030101010101" pitchFamily="2" charset="-122"/>
              </a:rPr>
              <a:t>Decision Problems</a:t>
            </a:r>
          </a:p>
          <a:p>
            <a:pPr lvl="1"/>
            <a:r>
              <a:rPr lang="en-US" altLang="zh-CN">
                <a:ea typeface="SimSun" panose="02010600030101010101" pitchFamily="2" charset="-122"/>
              </a:rPr>
              <a:t>An decision problem is one with yes/no answer</a:t>
            </a:r>
          </a:p>
          <a:p>
            <a:pPr lvl="1"/>
            <a:r>
              <a:rPr lang="en-US" altLang="zh-CN">
                <a:ea typeface="SimSun" panose="02010600030101010101" pitchFamily="2" charset="-122"/>
              </a:rPr>
              <a:t>Examples:</a:t>
            </a:r>
          </a:p>
          <a:p>
            <a:pPr lvl="2"/>
            <a:r>
              <a:rPr lang="en-US" altLang="zh-CN">
                <a:ea typeface="SimSun" panose="02010600030101010101" pitchFamily="2" charset="-122"/>
              </a:rPr>
              <a:t>Does a graph G have a MST of weight </a:t>
            </a:r>
            <a:r>
              <a:rPr lang="en-US" altLang="zh-CN">
                <a:ea typeface="SimSun" panose="02010600030101010101" pitchFamily="2" charset="-122"/>
                <a:sym typeface="Symbol" panose="05050102010706020507" pitchFamily="18" charset="2"/>
              </a:rPr>
              <a:t> W?</a:t>
            </a:r>
            <a:endParaRPr lang="en-US" altLang="zh-CN" dirty="0">
              <a:ea typeface="SimSun" panose="02010600030101010101" pitchFamily="2" charset="-122"/>
            </a:endParaRPr>
          </a:p>
        </p:txBody>
      </p:sp>
    </p:spTree>
    <p:extLst>
      <p:ext uri="{BB962C8B-B14F-4D97-AF65-F5344CB8AC3E}">
        <p14:creationId xmlns:p14="http://schemas.microsoft.com/office/powerpoint/2010/main" val="3984174475"/>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0" y="0"/>
            <a:ext cx="12192000" cy="762000"/>
          </a:xfrm>
          <a:prstGeom prst="rect">
            <a:avLst/>
          </a:prstGeom>
          <a:solidFill>
            <a:srgbClr val="002F7C"/>
          </a:solidFill>
        </p:spPr>
        <p:style>
          <a:lnRef idx="2">
            <a:schemeClr val="dk1">
              <a:shade val="50000"/>
            </a:schemeClr>
          </a:lnRef>
          <a:fillRef idx="1">
            <a:schemeClr val="dk1"/>
          </a:fillRef>
          <a:effectRef idx="0">
            <a:schemeClr val="dk1"/>
          </a:effectRef>
          <a:fontRef idx="minor">
            <a:schemeClr val="lt1"/>
          </a:fontRef>
        </p:style>
        <p:txBody>
          <a:bodyPr rtlCol="0" anchor="ctr"/>
          <a:lstStyle/>
          <a:p>
            <a:r>
              <a:rPr lang="zh-CN" altLang="en-US" sz="2000" b="1" dirty="0">
                <a:latin typeface="Times New Roman" panose="02020603050405020304" pitchFamily="18" charset="0"/>
                <a:ea typeface="宋体" panose="02010600030101010101" pitchFamily="2" charset="-122"/>
                <a:cs typeface="Times New Roman" panose="02020603050405020304" pitchFamily="18" charset="0"/>
              </a:rPr>
              <a:t>                </a:t>
            </a:r>
            <a:r>
              <a:rPr lang="en-US" altLang="zh-CN" sz="2400" b="1" dirty="0">
                <a:latin typeface="Trebuchet MS" panose="020B0603020202020204" pitchFamily="34" charset="0"/>
              </a:rPr>
              <a:t>Chapter 8: </a:t>
            </a:r>
            <a:r>
              <a:rPr lang="en-US" altLang="zh-CN" sz="2400" dirty="0"/>
              <a:t>INTRACTABILITY</a:t>
            </a:r>
            <a:endParaRPr lang="zh-CN" altLang="en-US" sz="2400" b="1" dirty="0">
              <a:solidFill>
                <a:srgbClr val="3D557A"/>
              </a:solidFill>
              <a:latin typeface="Trebuchet MS" panose="020B0603020202020204" pitchFamily="34" charset="0"/>
            </a:endParaRPr>
          </a:p>
        </p:txBody>
      </p:sp>
      <p:sp>
        <p:nvSpPr>
          <p:cNvPr id="13" name="矩形 12"/>
          <p:cNvSpPr/>
          <p:nvPr/>
        </p:nvSpPr>
        <p:spPr>
          <a:xfrm>
            <a:off x="824682" y="0"/>
            <a:ext cx="175443" cy="628650"/>
          </a:xfrm>
          <a:prstGeom prst="rect">
            <a:avLst/>
          </a:prstGeom>
          <a:solidFill>
            <a:srgbClr val="CFA57C"/>
          </a:solidFill>
          <a:ln cmpd="sng">
            <a:gradFill flip="none" rotWithShape="1">
              <a:gsLst>
                <a:gs pos="50000">
                  <a:schemeClr val="accent2">
                    <a:lumMod val="60000"/>
                    <a:lumOff val="40000"/>
                  </a:schemeClr>
                </a:gs>
                <a:gs pos="0">
                  <a:schemeClr val="accent2">
                    <a:lumMod val="20000"/>
                    <a:lumOff val="80000"/>
                  </a:schemeClr>
                </a:gs>
                <a:gs pos="95000">
                  <a:schemeClr val="accent2"/>
                </a:gs>
              </a:gsLst>
              <a:path path="circle">
                <a:fillToRect l="50000" t="-80000" r="50000" b="180000"/>
              </a:path>
              <a:tileRect/>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22" name="Picture 6" descr="D:\MBA工作\LOGO\同济经管LOGO反白.png"/>
          <p:cNvPicPr>
            <a:picLocks noChangeAspect="1" noChangeArrowheads="1"/>
          </p:cNvPicPr>
          <p:nvPr/>
        </p:nvPicPr>
        <p:blipFill>
          <a:blip r:embed="rId3" cstate="email">
            <a:extLst>
              <a:ext uri="{28A0092B-C50C-407E-A947-70E740481C1C}">
                <a14:useLocalDpi xmlns:a14="http://schemas.microsoft.com/office/drawing/2010/main" val="0"/>
              </a:ext>
            </a:extLst>
          </a:blip>
          <a:srcRect/>
          <a:stretch>
            <a:fillRect/>
          </a:stretch>
        </p:blipFill>
        <p:spPr bwMode="auto">
          <a:xfrm>
            <a:off x="10267423" y="165688"/>
            <a:ext cx="1386605" cy="462962"/>
          </a:xfrm>
          <a:prstGeom prst="rect">
            <a:avLst/>
          </a:prstGeom>
          <a:noFill/>
          <a:extLst>
            <a:ext uri="{909E8E84-426E-40DD-AFC4-6F175D3DCCD1}">
              <a14:hiddenFill xmlns:a14="http://schemas.microsoft.com/office/drawing/2010/main">
                <a:solidFill>
                  <a:srgbClr val="FFFFFF"/>
                </a:solidFill>
              </a14:hiddenFill>
            </a:ext>
          </a:extLst>
        </p:spPr>
      </p:pic>
      <p:pic>
        <p:nvPicPr>
          <p:cNvPr id="2" name="图片 1" descr="微信图片_20220318113523"/>
          <p:cNvPicPr>
            <a:picLocks noChangeAspect="1"/>
          </p:cNvPicPr>
          <p:nvPr userDrawn="1"/>
        </p:nvPicPr>
        <p:blipFill>
          <a:blip r:embed="rId4"/>
          <a:stretch>
            <a:fillRect/>
          </a:stretch>
        </p:blipFill>
        <p:spPr>
          <a:xfrm>
            <a:off x="9291877" y="6115050"/>
            <a:ext cx="2244725" cy="361315"/>
          </a:xfrm>
          <a:prstGeom prst="rect">
            <a:avLst/>
          </a:prstGeom>
        </p:spPr>
      </p:pic>
      <p:sp>
        <p:nvSpPr>
          <p:cNvPr id="18" name="Rectangle 2">
            <a:extLst>
              <a:ext uri="{FF2B5EF4-FFF2-40B4-BE49-F238E27FC236}">
                <a16:creationId xmlns:a16="http://schemas.microsoft.com/office/drawing/2014/main" id="{E217C615-1D49-4D07-B850-D36106D7AA9A}"/>
              </a:ext>
            </a:extLst>
          </p:cNvPr>
          <p:cNvSpPr>
            <a:spLocks noChangeArrowheads="1"/>
          </p:cNvSpPr>
          <p:nvPr/>
        </p:nvSpPr>
        <p:spPr bwMode="auto">
          <a:xfrm>
            <a:off x="1000125" y="815365"/>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8" name="Rectangle 3">
            <a:extLst>
              <a:ext uri="{FF2B5EF4-FFF2-40B4-BE49-F238E27FC236}">
                <a16:creationId xmlns:a16="http://schemas.microsoft.com/office/drawing/2014/main" id="{97F08C45-3D15-45C1-A5A3-D1EB58DC91FE}"/>
              </a:ext>
            </a:extLst>
          </p:cNvPr>
          <p:cNvSpPr txBox="1">
            <a:spLocks noChangeArrowheads="1"/>
          </p:cNvSpPr>
          <p:nvPr/>
        </p:nvSpPr>
        <p:spPr>
          <a:xfrm>
            <a:off x="824681" y="765175"/>
            <a:ext cx="8798289" cy="5788025"/>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indent="1828800">
              <a:lnSpc>
                <a:spcPct val="130000"/>
              </a:lnSpc>
              <a:spcBef>
                <a:spcPts val="600"/>
              </a:spcBef>
              <a:buNone/>
            </a:pPr>
            <a:endParaRPr lang="en-US" altLang="zh-CN" sz="2400" b="1" dirty="0">
              <a:latin typeface="Trebuchet MS" panose="020B0603020202020204" pitchFamily="34" charset="0"/>
            </a:endParaRPr>
          </a:p>
        </p:txBody>
      </p:sp>
      <p:sp>
        <p:nvSpPr>
          <p:cNvPr id="4" name="文本框 3">
            <a:extLst>
              <a:ext uri="{FF2B5EF4-FFF2-40B4-BE49-F238E27FC236}">
                <a16:creationId xmlns:a16="http://schemas.microsoft.com/office/drawing/2014/main" id="{D642B45C-700D-3152-798E-00B2CA4D4821}"/>
              </a:ext>
            </a:extLst>
          </p:cNvPr>
          <p:cNvSpPr txBox="1"/>
          <p:nvPr/>
        </p:nvSpPr>
        <p:spPr>
          <a:xfrm>
            <a:off x="1266939" y="1076766"/>
            <a:ext cx="6103344" cy="369332"/>
          </a:xfrm>
          <a:prstGeom prst="rect">
            <a:avLst/>
          </a:prstGeom>
          <a:noFill/>
        </p:spPr>
        <p:txBody>
          <a:bodyPr wrap="square">
            <a:spAutoFit/>
          </a:bodyPr>
          <a:lstStyle/>
          <a:p>
            <a:r>
              <a:rPr lang="en-US" altLang="zh-CN" dirty="0">
                <a:ea typeface="SimSun" panose="02010600030101010101" pitchFamily="2" charset="-122"/>
              </a:rPr>
              <a:t>Optimization/Decision Problems</a:t>
            </a:r>
            <a:endParaRPr lang="zh-CN" altLang="en-US" dirty="0"/>
          </a:p>
        </p:txBody>
      </p:sp>
      <p:sp>
        <p:nvSpPr>
          <p:cNvPr id="5" name="Rectangle 1027">
            <a:extLst>
              <a:ext uri="{FF2B5EF4-FFF2-40B4-BE49-F238E27FC236}">
                <a16:creationId xmlns:a16="http://schemas.microsoft.com/office/drawing/2014/main" id="{4267FB1A-D82D-D91C-5DB0-9C2905C7EC5C}"/>
              </a:ext>
            </a:extLst>
          </p:cNvPr>
          <p:cNvSpPr txBox="1">
            <a:spLocks noChangeArrowheads="1"/>
          </p:cNvSpPr>
          <p:nvPr/>
        </p:nvSpPr>
        <p:spPr>
          <a:xfrm>
            <a:off x="990600" y="1676400"/>
            <a:ext cx="7772400" cy="4419600"/>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altLang="zh-CN" sz="2400">
                <a:ea typeface="SimSun" panose="02010600030101010101" pitchFamily="2" charset="-122"/>
              </a:rPr>
              <a:t>An </a:t>
            </a:r>
            <a:r>
              <a:rPr lang="en-US" altLang="zh-CN" sz="2400">
                <a:solidFill>
                  <a:schemeClr val="tx2"/>
                </a:solidFill>
                <a:ea typeface="SimSun" panose="02010600030101010101" pitchFamily="2" charset="-122"/>
              </a:rPr>
              <a:t>optimization</a:t>
            </a:r>
            <a:r>
              <a:rPr lang="en-US" altLang="zh-CN" sz="2400">
                <a:ea typeface="SimSun" panose="02010600030101010101" pitchFamily="2" charset="-122"/>
              </a:rPr>
              <a:t> </a:t>
            </a:r>
            <a:r>
              <a:rPr lang="en-US" altLang="zh-CN" sz="2400">
                <a:solidFill>
                  <a:schemeClr val="tx2"/>
                </a:solidFill>
                <a:ea typeface="SimSun" panose="02010600030101010101" pitchFamily="2" charset="-122"/>
              </a:rPr>
              <a:t>problem</a:t>
            </a:r>
            <a:r>
              <a:rPr lang="en-US" altLang="zh-CN" sz="2400">
                <a:ea typeface="SimSun" panose="02010600030101010101" pitchFamily="2" charset="-122"/>
              </a:rPr>
              <a:t> tries to find an optimal solution</a:t>
            </a:r>
          </a:p>
          <a:p>
            <a:r>
              <a:rPr lang="en-US" altLang="zh-CN" sz="2400">
                <a:ea typeface="SimSun" panose="02010600030101010101" pitchFamily="2" charset="-122"/>
              </a:rPr>
              <a:t>A </a:t>
            </a:r>
            <a:r>
              <a:rPr lang="en-US" altLang="zh-CN" sz="2400">
                <a:solidFill>
                  <a:schemeClr val="tx2"/>
                </a:solidFill>
                <a:ea typeface="SimSun" panose="02010600030101010101" pitchFamily="2" charset="-122"/>
              </a:rPr>
              <a:t>decision</a:t>
            </a:r>
            <a:r>
              <a:rPr lang="en-US" altLang="zh-CN" sz="2400">
                <a:ea typeface="SimSun" panose="02010600030101010101" pitchFamily="2" charset="-122"/>
              </a:rPr>
              <a:t> </a:t>
            </a:r>
            <a:r>
              <a:rPr lang="en-US" altLang="zh-CN" sz="2400">
                <a:solidFill>
                  <a:schemeClr val="tx2"/>
                </a:solidFill>
                <a:ea typeface="SimSun" panose="02010600030101010101" pitchFamily="2" charset="-122"/>
              </a:rPr>
              <a:t>problem</a:t>
            </a:r>
            <a:r>
              <a:rPr lang="en-US" altLang="zh-CN" sz="2400">
                <a:ea typeface="SimSun" panose="02010600030101010101" pitchFamily="2" charset="-122"/>
              </a:rPr>
              <a:t> tries to answer a yes/no question</a:t>
            </a:r>
          </a:p>
          <a:p>
            <a:r>
              <a:rPr lang="en-US" altLang="zh-CN" sz="2400">
                <a:ea typeface="SimSun" panose="02010600030101010101" pitchFamily="2" charset="-122"/>
              </a:rPr>
              <a:t>Many problems will have decision and optimization versions</a:t>
            </a:r>
          </a:p>
          <a:p>
            <a:pPr lvl="1"/>
            <a:r>
              <a:rPr lang="en-US" altLang="zh-CN" sz="2000">
                <a:ea typeface="SimSun" panose="02010600030101010101" pitchFamily="2" charset="-122"/>
              </a:rPr>
              <a:t>Eg: Traveling salesman problem</a:t>
            </a:r>
          </a:p>
          <a:p>
            <a:pPr lvl="2"/>
            <a:r>
              <a:rPr lang="en-US" altLang="zh-CN">
                <a:ea typeface="SimSun" panose="02010600030101010101" pitchFamily="2" charset="-122"/>
              </a:rPr>
              <a:t>optimization: find hamiltonian cycle of minimum weight</a:t>
            </a:r>
          </a:p>
          <a:p>
            <a:pPr lvl="2"/>
            <a:r>
              <a:rPr lang="en-US" altLang="zh-CN">
                <a:ea typeface="SimSun" panose="02010600030101010101" pitchFamily="2" charset="-122"/>
              </a:rPr>
              <a:t>decision: is there a hamiltonian cycle of weight </a:t>
            </a:r>
            <a:r>
              <a:rPr lang="en-US" altLang="zh-CN">
                <a:ea typeface="SimSun" panose="02010600030101010101" pitchFamily="2" charset="-122"/>
                <a:sym typeface="Symbol" panose="05050102010706020507" pitchFamily="18" charset="2"/>
              </a:rPr>
              <a:t></a:t>
            </a:r>
            <a:r>
              <a:rPr lang="en-US" altLang="zh-CN">
                <a:ea typeface="SimSun" panose="02010600030101010101" pitchFamily="2" charset="-122"/>
              </a:rPr>
              <a:t> k</a:t>
            </a:r>
          </a:p>
          <a:p>
            <a:r>
              <a:rPr lang="en-US" altLang="zh-CN" sz="2400">
                <a:ea typeface="SimSun" panose="02010600030101010101" pitchFamily="2" charset="-122"/>
              </a:rPr>
              <a:t>Some problems are decidable, but </a:t>
            </a:r>
            <a:r>
              <a:rPr lang="en-US" altLang="zh-CN" sz="2400" i="1">
                <a:solidFill>
                  <a:schemeClr val="tx2"/>
                </a:solidFill>
                <a:ea typeface="SimSun" panose="02010600030101010101" pitchFamily="2" charset="-122"/>
              </a:rPr>
              <a:t>intractable</a:t>
            </a:r>
            <a:r>
              <a:rPr lang="en-US" altLang="zh-CN" sz="2400">
                <a:ea typeface="SimSun" panose="02010600030101010101" pitchFamily="2" charset="-122"/>
              </a:rPr>
              <a:t>: </a:t>
            </a:r>
            <a:br>
              <a:rPr lang="en-US" altLang="zh-CN" sz="2400">
                <a:ea typeface="SimSun" panose="02010600030101010101" pitchFamily="2" charset="-122"/>
              </a:rPr>
            </a:br>
            <a:r>
              <a:rPr lang="en-US" altLang="zh-CN" sz="2400">
                <a:ea typeface="SimSun" panose="02010600030101010101" pitchFamily="2" charset="-122"/>
              </a:rPr>
              <a:t>as they grow large, we are unable to solve them in reasonable time</a:t>
            </a:r>
            <a:endParaRPr lang="en-US" altLang="zh-CN" sz="2400" i="1">
              <a:ea typeface="SimSun" panose="02010600030101010101" pitchFamily="2" charset="-122"/>
            </a:endParaRPr>
          </a:p>
          <a:p>
            <a:pPr lvl="1"/>
            <a:r>
              <a:rPr lang="en-US" altLang="zh-CN" sz="2000" i="1">
                <a:ea typeface="SimSun" panose="02010600030101010101" pitchFamily="2" charset="-122"/>
              </a:rPr>
              <a:t>Is there a polynomial-time algorithm that solves the problem?</a:t>
            </a:r>
            <a:endParaRPr lang="en-US" altLang="zh-CN" sz="2000" i="1" dirty="0">
              <a:ea typeface="SimSun" panose="02010600030101010101" pitchFamily="2" charset="-122"/>
            </a:endParaRPr>
          </a:p>
        </p:txBody>
      </p:sp>
    </p:spTree>
    <p:extLst>
      <p:ext uri="{BB962C8B-B14F-4D97-AF65-F5344CB8AC3E}">
        <p14:creationId xmlns:p14="http://schemas.microsoft.com/office/powerpoint/2010/main" val="517550618"/>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0" y="0"/>
            <a:ext cx="12192000" cy="762000"/>
          </a:xfrm>
          <a:prstGeom prst="rect">
            <a:avLst/>
          </a:prstGeom>
          <a:solidFill>
            <a:srgbClr val="002F7C"/>
          </a:solidFill>
        </p:spPr>
        <p:style>
          <a:lnRef idx="2">
            <a:schemeClr val="dk1">
              <a:shade val="50000"/>
            </a:schemeClr>
          </a:lnRef>
          <a:fillRef idx="1">
            <a:schemeClr val="dk1"/>
          </a:fillRef>
          <a:effectRef idx="0">
            <a:schemeClr val="dk1"/>
          </a:effectRef>
          <a:fontRef idx="minor">
            <a:schemeClr val="lt1"/>
          </a:fontRef>
        </p:style>
        <p:txBody>
          <a:bodyPr rtlCol="0" anchor="ctr"/>
          <a:lstStyle/>
          <a:p>
            <a:r>
              <a:rPr lang="zh-CN" altLang="en-US" sz="2000" b="1" dirty="0">
                <a:latin typeface="Times New Roman" panose="02020603050405020304" pitchFamily="18" charset="0"/>
                <a:ea typeface="宋体" panose="02010600030101010101" pitchFamily="2" charset="-122"/>
                <a:cs typeface="Times New Roman" panose="02020603050405020304" pitchFamily="18" charset="0"/>
              </a:rPr>
              <a:t>                </a:t>
            </a:r>
            <a:r>
              <a:rPr lang="en-US" altLang="zh-CN" sz="2400" b="1" dirty="0">
                <a:latin typeface="Trebuchet MS" panose="020B0603020202020204" pitchFamily="34" charset="0"/>
              </a:rPr>
              <a:t>Chapter 8: </a:t>
            </a:r>
            <a:r>
              <a:rPr lang="en-US" altLang="zh-CN" sz="2400" dirty="0"/>
              <a:t>INTRACTABILITY</a:t>
            </a:r>
            <a:endParaRPr lang="zh-CN" altLang="en-US" sz="2400" b="1" dirty="0">
              <a:solidFill>
                <a:srgbClr val="3D557A"/>
              </a:solidFill>
              <a:latin typeface="Trebuchet MS" panose="020B0603020202020204" pitchFamily="34" charset="0"/>
            </a:endParaRPr>
          </a:p>
        </p:txBody>
      </p:sp>
      <p:sp>
        <p:nvSpPr>
          <p:cNvPr id="13" name="矩形 12"/>
          <p:cNvSpPr/>
          <p:nvPr/>
        </p:nvSpPr>
        <p:spPr>
          <a:xfrm>
            <a:off x="824682" y="0"/>
            <a:ext cx="175443" cy="628650"/>
          </a:xfrm>
          <a:prstGeom prst="rect">
            <a:avLst/>
          </a:prstGeom>
          <a:solidFill>
            <a:srgbClr val="CFA57C"/>
          </a:solidFill>
          <a:ln cmpd="sng">
            <a:gradFill flip="none" rotWithShape="1">
              <a:gsLst>
                <a:gs pos="50000">
                  <a:schemeClr val="accent2">
                    <a:lumMod val="60000"/>
                    <a:lumOff val="40000"/>
                  </a:schemeClr>
                </a:gs>
                <a:gs pos="0">
                  <a:schemeClr val="accent2">
                    <a:lumMod val="20000"/>
                    <a:lumOff val="80000"/>
                  </a:schemeClr>
                </a:gs>
                <a:gs pos="95000">
                  <a:schemeClr val="accent2"/>
                </a:gs>
              </a:gsLst>
              <a:path path="circle">
                <a:fillToRect l="50000" t="-80000" r="50000" b="180000"/>
              </a:path>
              <a:tileRect/>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22" name="Picture 6" descr="D:\MBA工作\LOGO\同济经管LOGO反白.png"/>
          <p:cNvPicPr>
            <a:picLocks noChangeAspect="1" noChangeArrowheads="1"/>
          </p:cNvPicPr>
          <p:nvPr/>
        </p:nvPicPr>
        <p:blipFill>
          <a:blip r:embed="rId3" cstate="email">
            <a:extLst>
              <a:ext uri="{28A0092B-C50C-407E-A947-70E740481C1C}">
                <a14:useLocalDpi xmlns:a14="http://schemas.microsoft.com/office/drawing/2010/main" val="0"/>
              </a:ext>
            </a:extLst>
          </a:blip>
          <a:srcRect/>
          <a:stretch>
            <a:fillRect/>
          </a:stretch>
        </p:blipFill>
        <p:spPr bwMode="auto">
          <a:xfrm>
            <a:off x="10267423" y="165688"/>
            <a:ext cx="1386605" cy="462962"/>
          </a:xfrm>
          <a:prstGeom prst="rect">
            <a:avLst/>
          </a:prstGeom>
          <a:noFill/>
          <a:extLst>
            <a:ext uri="{909E8E84-426E-40DD-AFC4-6F175D3DCCD1}">
              <a14:hiddenFill xmlns:a14="http://schemas.microsoft.com/office/drawing/2010/main">
                <a:solidFill>
                  <a:srgbClr val="FFFFFF"/>
                </a:solidFill>
              </a14:hiddenFill>
            </a:ext>
          </a:extLst>
        </p:spPr>
      </p:pic>
      <p:pic>
        <p:nvPicPr>
          <p:cNvPr id="2" name="图片 1" descr="微信图片_20220318113523"/>
          <p:cNvPicPr>
            <a:picLocks noChangeAspect="1"/>
          </p:cNvPicPr>
          <p:nvPr userDrawn="1"/>
        </p:nvPicPr>
        <p:blipFill>
          <a:blip r:embed="rId4"/>
          <a:stretch>
            <a:fillRect/>
          </a:stretch>
        </p:blipFill>
        <p:spPr>
          <a:xfrm>
            <a:off x="9291877" y="6115050"/>
            <a:ext cx="2244725" cy="361315"/>
          </a:xfrm>
          <a:prstGeom prst="rect">
            <a:avLst/>
          </a:prstGeom>
        </p:spPr>
      </p:pic>
      <p:sp>
        <p:nvSpPr>
          <p:cNvPr id="18" name="Rectangle 2">
            <a:extLst>
              <a:ext uri="{FF2B5EF4-FFF2-40B4-BE49-F238E27FC236}">
                <a16:creationId xmlns:a16="http://schemas.microsoft.com/office/drawing/2014/main" id="{E217C615-1D49-4D07-B850-D36106D7AA9A}"/>
              </a:ext>
            </a:extLst>
          </p:cNvPr>
          <p:cNvSpPr>
            <a:spLocks noChangeArrowheads="1"/>
          </p:cNvSpPr>
          <p:nvPr/>
        </p:nvSpPr>
        <p:spPr bwMode="auto">
          <a:xfrm>
            <a:off x="1000125" y="815365"/>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8" name="Rectangle 3">
            <a:extLst>
              <a:ext uri="{FF2B5EF4-FFF2-40B4-BE49-F238E27FC236}">
                <a16:creationId xmlns:a16="http://schemas.microsoft.com/office/drawing/2014/main" id="{97F08C45-3D15-45C1-A5A3-D1EB58DC91FE}"/>
              </a:ext>
            </a:extLst>
          </p:cNvPr>
          <p:cNvSpPr txBox="1">
            <a:spLocks noChangeArrowheads="1"/>
          </p:cNvSpPr>
          <p:nvPr/>
        </p:nvSpPr>
        <p:spPr>
          <a:xfrm>
            <a:off x="824681" y="765175"/>
            <a:ext cx="8798289" cy="5788025"/>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indent="1828800">
              <a:lnSpc>
                <a:spcPct val="130000"/>
              </a:lnSpc>
              <a:spcBef>
                <a:spcPts val="600"/>
              </a:spcBef>
              <a:buNone/>
            </a:pPr>
            <a:endParaRPr lang="en-US" altLang="zh-CN" sz="2400" b="1" dirty="0">
              <a:latin typeface="Trebuchet MS" panose="020B0603020202020204" pitchFamily="34" charset="0"/>
            </a:endParaRPr>
          </a:p>
        </p:txBody>
      </p:sp>
      <p:sp>
        <p:nvSpPr>
          <p:cNvPr id="4" name="文本框 3">
            <a:extLst>
              <a:ext uri="{FF2B5EF4-FFF2-40B4-BE49-F238E27FC236}">
                <a16:creationId xmlns:a16="http://schemas.microsoft.com/office/drawing/2014/main" id="{C13E5918-6FF8-23F1-6B00-5960D645CF79}"/>
              </a:ext>
            </a:extLst>
          </p:cNvPr>
          <p:cNvSpPr txBox="1"/>
          <p:nvPr/>
        </p:nvSpPr>
        <p:spPr>
          <a:xfrm>
            <a:off x="1266940" y="1153883"/>
            <a:ext cx="6103344" cy="369332"/>
          </a:xfrm>
          <a:prstGeom prst="rect">
            <a:avLst/>
          </a:prstGeom>
          <a:noFill/>
        </p:spPr>
        <p:txBody>
          <a:bodyPr wrap="square">
            <a:spAutoFit/>
          </a:bodyPr>
          <a:lstStyle/>
          <a:p>
            <a:r>
              <a:rPr lang="en-US" altLang="zh-CN" dirty="0"/>
              <a:t>The class P</a:t>
            </a:r>
            <a:endParaRPr lang="zh-CN" altLang="en-US" dirty="0"/>
          </a:p>
        </p:txBody>
      </p:sp>
      <p:sp>
        <p:nvSpPr>
          <p:cNvPr id="5" name="Content Placeholder 2">
            <a:extLst>
              <a:ext uri="{FF2B5EF4-FFF2-40B4-BE49-F238E27FC236}">
                <a16:creationId xmlns:a16="http://schemas.microsoft.com/office/drawing/2014/main" id="{661B3ED5-C45C-A3E6-B9C5-60478DAE2377}"/>
              </a:ext>
            </a:extLst>
          </p:cNvPr>
          <p:cNvSpPr>
            <a:spLocks noGrp="1"/>
          </p:cNvSpPr>
          <p:nvPr>
            <p:ph idx="1"/>
          </p:nvPr>
        </p:nvSpPr>
        <p:spPr>
          <a:xfrm>
            <a:off x="457200" y="1600200"/>
            <a:ext cx="8229600" cy="4525963"/>
          </a:xfrm>
        </p:spPr>
        <p:txBody>
          <a:bodyPr/>
          <a:lstStyle/>
          <a:p>
            <a:r>
              <a:rPr lang="en-US" dirty="0"/>
              <a:t>The class P consists of those problems that are solvable in polynomial time.</a:t>
            </a:r>
          </a:p>
          <a:p>
            <a:r>
              <a:rPr lang="en-US" dirty="0"/>
              <a:t>More specifically, they are problems that can be solved in time O(</a:t>
            </a:r>
            <a:r>
              <a:rPr lang="en-US" dirty="0" err="1"/>
              <a:t>n</a:t>
            </a:r>
            <a:r>
              <a:rPr lang="en-US" baseline="30000" dirty="0" err="1"/>
              <a:t>k</a:t>
            </a:r>
            <a:r>
              <a:rPr lang="en-US" dirty="0"/>
              <a:t>) for some constant k, where n is the size of the input to the problem</a:t>
            </a:r>
          </a:p>
          <a:p>
            <a:r>
              <a:rPr lang="en-US" dirty="0"/>
              <a:t>The key is that n is the </a:t>
            </a:r>
            <a:r>
              <a:rPr lang="en-US" b="1" dirty="0"/>
              <a:t>size of input</a:t>
            </a:r>
          </a:p>
        </p:txBody>
      </p:sp>
      <p:sp>
        <p:nvSpPr>
          <p:cNvPr id="6" name="Rectangle 2">
            <a:extLst>
              <a:ext uri="{FF2B5EF4-FFF2-40B4-BE49-F238E27FC236}">
                <a16:creationId xmlns:a16="http://schemas.microsoft.com/office/drawing/2014/main" id="{9D6100EE-E6F5-2B8D-23A4-BBA2E10E1068}"/>
              </a:ext>
            </a:extLst>
          </p:cNvPr>
          <p:cNvSpPr txBox="1">
            <a:spLocks noChangeArrowheads="1"/>
          </p:cNvSpPr>
          <p:nvPr/>
        </p:nvSpPr>
        <p:spPr>
          <a:xfrm>
            <a:off x="457200" y="4686300"/>
            <a:ext cx="7772400" cy="1143000"/>
          </a:xfrm>
          <a:prstGeom prst="rect">
            <a:avLst/>
          </a:prstGeom>
          <a:solidFill>
            <a:schemeClr val="accent6">
              <a:lumMod val="20000"/>
              <a:lumOff val="80000"/>
            </a:schemeClr>
          </a:solidFill>
        </p:spPr>
        <p:txBody>
          <a:bodyPr vert="horz" lIns="91440" tIns="45720" rIns="91440" bIns="45720" rtlCol="0" anchor="ctr">
            <a:norm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ja-JP" altLang="en-US"/>
              <a:t>“</a:t>
            </a:r>
            <a:r>
              <a:rPr lang="en-US" altLang="ja-JP"/>
              <a:t>Easy</a:t>
            </a:r>
            <a:r>
              <a:rPr lang="ja-JP" altLang="en-US"/>
              <a:t>”</a:t>
            </a:r>
            <a:r>
              <a:rPr lang="en-US" altLang="ja-JP"/>
              <a:t> Problems</a:t>
            </a:r>
            <a:endParaRPr lang="en-US" altLang="en-US" dirty="0"/>
          </a:p>
        </p:txBody>
      </p:sp>
    </p:spTree>
    <p:extLst>
      <p:ext uri="{BB962C8B-B14F-4D97-AF65-F5344CB8AC3E}">
        <p14:creationId xmlns:p14="http://schemas.microsoft.com/office/powerpoint/2010/main" val="2616261601"/>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0" y="0"/>
            <a:ext cx="12192000" cy="762000"/>
          </a:xfrm>
          <a:prstGeom prst="rect">
            <a:avLst/>
          </a:prstGeom>
          <a:solidFill>
            <a:srgbClr val="002F7C"/>
          </a:solidFill>
        </p:spPr>
        <p:style>
          <a:lnRef idx="2">
            <a:schemeClr val="dk1">
              <a:shade val="50000"/>
            </a:schemeClr>
          </a:lnRef>
          <a:fillRef idx="1">
            <a:schemeClr val="dk1"/>
          </a:fillRef>
          <a:effectRef idx="0">
            <a:schemeClr val="dk1"/>
          </a:effectRef>
          <a:fontRef idx="minor">
            <a:schemeClr val="lt1"/>
          </a:fontRef>
        </p:style>
        <p:txBody>
          <a:bodyPr rtlCol="0" anchor="ctr"/>
          <a:lstStyle/>
          <a:p>
            <a:r>
              <a:rPr lang="zh-CN" altLang="en-US" sz="2000" b="1" dirty="0">
                <a:latin typeface="Times New Roman" panose="02020603050405020304" pitchFamily="18" charset="0"/>
                <a:ea typeface="宋体" panose="02010600030101010101" pitchFamily="2" charset="-122"/>
                <a:cs typeface="Times New Roman" panose="02020603050405020304" pitchFamily="18" charset="0"/>
              </a:rPr>
              <a:t>                </a:t>
            </a:r>
            <a:r>
              <a:rPr lang="en-US" altLang="zh-CN" sz="2400" b="1" dirty="0">
                <a:latin typeface="Trebuchet MS" panose="020B0603020202020204" pitchFamily="34" charset="0"/>
              </a:rPr>
              <a:t>Chapter 8: </a:t>
            </a:r>
            <a:r>
              <a:rPr lang="en-US" altLang="zh-CN" sz="2400" dirty="0"/>
              <a:t>INTRACTABILITY</a:t>
            </a:r>
            <a:endParaRPr lang="zh-CN" altLang="en-US" sz="2400" b="1" dirty="0">
              <a:solidFill>
                <a:srgbClr val="3D557A"/>
              </a:solidFill>
              <a:latin typeface="Trebuchet MS" panose="020B0603020202020204" pitchFamily="34" charset="0"/>
            </a:endParaRPr>
          </a:p>
        </p:txBody>
      </p:sp>
      <p:sp>
        <p:nvSpPr>
          <p:cNvPr id="13" name="矩形 12"/>
          <p:cNvSpPr/>
          <p:nvPr/>
        </p:nvSpPr>
        <p:spPr>
          <a:xfrm>
            <a:off x="824682" y="0"/>
            <a:ext cx="175443" cy="628650"/>
          </a:xfrm>
          <a:prstGeom prst="rect">
            <a:avLst/>
          </a:prstGeom>
          <a:solidFill>
            <a:srgbClr val="CFA57C"/>
          </a:solidFill>
          <a:ln cmpd="sng">
            <a:gradFill flip="none" rotWithShape="1">
              <a:gsLst>
                <a:gs pos="50000">
                  <a:schemeClr val="accent2">
                    <a:lumMod val="60000"/>
                    <a:lumOff val="40000"/>
                  </a:schemeClr>
                </a:gs>
                <a:gs pos="0">
                  <a:schemeClr val="accent2">
                    <a:lumMod val="20000"/>
                    <a:lumOff val="80000"/>
                  </a:schemeClr>
                </a:gs>
                <a:gs pos="95000">
                  <a:schemeClr val="accent2"/>
                </a:gs>
              </a:gsLst>
              <a:path path="circle">
                <a:fillToRect l="50000" t="-80000" r="50000" b="180000"/>
              </a:path>
              <a:tileRect/>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22" name="Picture 6" descr="D:\MBA工作\LOGO\同济经管LOGO反白.png"/>
          <p:cNvPicPr>
            <a:picLocks noChangeAspect="1" noChangeArrowheads="1"/>
          </p:cNvPicPr>
          <p:nvPr/>
        </p:nvPicPr>
        <p:blipFill>
          <a:blip r:embed="rId3" cstate="email">
            <a:extLst>
              <a:ext uri="{28A0092B-C50C-407E-A947-70E740481C1C}">
                <a14:useLocalDpi xmlns:a14="http://schemas.microsoft.com/office/drawing/2010/main" val="0"/>
              </a:ext>
            </a:extLst>
          </a:blip>
          <a:srcRect/>
          <a:stretch>
            <a:fillRect/>
          </a:stretch>
        </p:blipFill>
        <p:spPr bwMode="auto">
          <a:xfrm>
            <a:off x="10267423" y="165688"/>
            <a:ext cx="1386605" cy="462962"/>
          </a:xfrm>
          <a:prstGeom prst="rect">
            <a:avLst/>
          </a:prstGeom>
          <a:noFill/>
          <a:extLst>
            <a:ext uri="{909E8E84-426E-40DD-AFC4-6F175D3DCCD1}">
              <a14:hiddenFill xmlns:a14="http://schemas.microsoft.com/office/drawing/2010/main">
                <a:solidFill>
                  <a:srgbClr val="FFFFFF"/>
                </a:solidFill>
              </a14:hiddenFill>
            </a:ext>
          </a:extLst>
        </p:spPr>
      </p:pic>
      <p:pic>
        <p:nvPicPr>
          <p:cNvPr id="2" name="图片 1" descr="微信图片_20220318113523"/>
          <p:cNvPicPr>
            <a:picLocks noChangeAspect="1"/>
          </p:cNvPicPr>
          <p:nvPr userDrawn="1"/>
        </p:nvPicPr>
        <p:blipFill>
          <a:blip r:embed="rId4"/>
          <a:stretch>
            <a:fillRect/>
          </a:stretch>
        </p:blipFill>
        <p:spPr>
          <a:xfrm>
            <a:off x="9291877" y="6115050"/>
            <a:ext cx="2244725" cy="361315"/>
          </a:xfrm>
          <a:prstGeom prst="rect">
            <a:avLst/>
          </a:prstGeom>
        </p:spPr>
      </p:pic>
      <p:sp>
        <p:nvSpPr>
          <p:cNvPr id="18" name="Rectangle 2">
            <a:extLst>
              <a:ext uri="{FF2B5EF4-FFF2-40B4-BE49-F238E27FC236}">
                <a16:creationId xmlns:a16="http://schemas.microsoft.com/office/drawing/2014/main" id="{E217C615-1D49-4D07-B850-D36106D7AA9A}"/>
              </a:ext>
            </a:extLst>
          </p:cNvPr>
          <p:cNvSpPr>
            <a:spLocks noChangeArrowheads="1"/>
          </p:cNvSpPr>
          <p:nvPr/>
        </p:nvSpPr>
        <p:spPr bwMode="auto">
          <a:xfrm>
            <a:off x="1000125" y="815365"/>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8" name="Rectangle 3">
            <a:extLst>
              <a:ext uri="{FF2B5EF4-FFF2-40B4-BE49-F238E27FC236}">
                <a16:creationId xmlns:a16="http://schemas.microsoft.com/office/drawing/2014/main" id="{97F08C45-3D15-45C1-A5A3-D1EB58DC91FE}"/>
              </a:ext>
            </a:extLst>
          </p:cNvPr>
          <p:cNvSpPr txBox="1">
            <a:spLocks noChangeArrowheads="1"/>
          </p:cNvSpPr>
          <p:nvPr/>
        </p:nvSpPr>
        <p:spPr>
          <a:xfrm>
            <a:off x="824681" y="765175"/>
            <a:ext cx="8798289" cy="5788025"/>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indent="1828800">
              <a:lnSpc>
                <a:spcPct val="130000"/>
              </a:lnSpc>
              <a:spcBef>
                <a:spcPts val="600"/>
              </a:spcBef>
              <a:buNone/>
            </a:pPr>
            <a:endParaRPr lang="en-US" altLang="zh-CN" sz="2400" b="1" dirty="0">
              <a:latin typeface="Trebuchet MS" panose="020B0603020202020204" pitchFamily="34" charset="0"/>
            </a:endParaRPr>
          </a:p>
        </p:txBody>
      </p:sp>
      <p:sp>
        <p:nvSpPr>
          <p:cNvPr id="4" name="文本框 3">
            <a:extLst>
              <a:ext uri="{FF2B5EF4-FFF2-40B4-BE49-F238E27FC236}">
                <a16:creationId xmlns:a16="http://schemas.microsoft.com/office/drawing/2014/main" id="{C13E5918-6FF8-23F1-6B00-5960D645CF79}"/>
              </a:ext>
            </a:extLst>
          </p:cNvPr>
          <p:cNvSpPr txBox="1"/>
          <p:nvPr/>
        </p:nvSpPr>
        <p:spPr>
          <a:xfrm>
            <a:off x="1266940" y="1153883"/>
            <a:ext cx="6103344" cy="369332"/>
          </a:xfrm>
          <a:prstGeom prst="rect">
            <a:avLst/>
          </a:prstGeom>
          <a:noFill/>
        </p:spPr>
        <p:txBody>
          <a:bodyPr wrap="square">
            <a:spAutoFit/>
          </a:bodyPr>
          <a:lstStyle/>
          <a:p>
            <a:r>
              <a:rPr lang="en-US" altLang="zh-CN" dirty="0">
                <a:ea typeface="SimSun" panose="02010600030101010101" pitchFamily="2" charset="-122"/>
              </a:rPr>
              <a:t>The Class </a:t>
            </a:r>
            <a:r>
              <a:rPr lang="en-US" altLang="zh-CN" i="1" dirty="0">
                <a:ea typeface="SimSun" panose="02010600030101010101" pitchFamily="2" charset="-122"/>
              </a:rPr>
              <a:t>P</a:t>
            </a:r>
            <a:endParaRPr lang="zh-CN" altLang="en-US" dirty="0"/>
          </a:p>
        </p:txBody>
      </p:sp>
      <p:sp>
        <p:nvSpPr>
          <p:cNvPr id="5" name="Content Placeholder 2">
            <a:extLst>
              <a:ext uri="{FF2B5EF4-FFF2-40B4-BE49-F238E27FC236}">
                <a16:creationId xmlns:a16="http://schemas.microsoft.com/office/drawing/2014/main" id="{661B3ED5-C45C-A3E6-B9C5-60478DAE2377}"/>
              </a:ext>
            </a:extLst>
          </p:cNvPr>
          <p:cNvSpPr>
            <a:spLocks noGrp="1"/>
          </p:cNvSpPr>
          <p:nvPr>
            <p:ph idx="1"/>
          </p:nvPr>
        </p:nvSpPr>
        <p:spPr>
          <a:xfrm>
            <a:off x="824681" y="1820552"/>
            <a:ext cx="8229600" cy="4525963"/>
          </a:xfrm>
        </p:spPr>
        <p:txBody>
          <a:bodyPr/>
          <a:lstStyle/>
          <a:p>
            <a:pPr>
              <a:buFont typeface="Monotype Sorts" charset="2"/>
              <a:buNone/>
            </a:pPr>
            <a:r>
              <a:rPr lang="en-US" altLang="zh-CN" sz="2400" b="1" i="1" u="sng" dirty="0">
                <a:ea typeface="SimSun" panose="02010600030101010101" pitchFamily="2" charset="-122"/>
              </a:rPr>
              <a:t>P</a:t>
            </a:r>
            <a:r>
              <a:rPr lang="en-US" altLang="zh-CN" sz="2400" dirty="0">
                <a:ea typeface="SimSun" panose="02010600030101010101" pitchFamily="2" charset="-122"/>
              </a:rPr>
              <a:t>: the class of decision problems that have polynomial-time deterministic algorithms.  </a:t>
            </a:r>
          </a:p>
          <a:p>
            <a:pPr lvl="1"/>
            <a:r>
              <a:rPr lang="en-US" altLang="zh-CN" sz="2000" dirty="0">
                <a:ea typeface="SimSun" panose="02010600030101010101" pitchFamily="2" charset="-122"/>
              </a:rPr>
              <a:t>That is, they are solvable in </a:t>
            </a:r>
            <a:r>
              <a:rPr lang="en-US" altLang="zh-CN" sz="2000" i="1" dirty="0">
                <a:ea typeface="SimSun" panose="02010600030101010101" pitchFamily="2" charset="-122"/>
              </a:rPr>
              <a:t>O</a:t>
            </a:r>
            <a:r>
              <a:rPr lang="en-US" altLang="zh-CN" sz="2000" dirty="0">
                <a:ea typeface="SimSun" panose="02010600030101010101" pitchFamily="2" charset="-122"/>
              </a:rPr>
              <a:t>(</a:t>
            </a:r>
            <a:r>
              <a:rPr lang="en-US" altLang="zh-CN" sz="2000" i="1" dirty="0">
                <a:ea typeface="SimSun" panose="02010600030101010101" pitchFamily="2" charset="-122"/>
              </a:rPr>
              <a:t>p</a:t>
            </a:r>
            <a:r>
              <a:rPr lang="en-US" altLang="zh-CN" sz="2000" dirty="0">
                <a:ea typeface="SimSun" panose="02010600030101010101" pitchFamily="2" charset="-122"/>
              </a:rPr>
              <a:t>(</a:t>
            </a:r>
            <a:r>
              <a:rPr lang="en-US" altLang="zh-CN" sz="2000" i="1" dirty="0">
                <a:ea typeface="SimSun" panose="02010600030101010101" pitchFamily="2" charset="-122"/>
              </a:rPr>
              <a:t>n</a:t>
            </a:r>
            <a:r>
              <a:rPr lang="en-US" altLang="zh-CN" sz="2000" dirty="0">
                <a:ea typeface="SimSun" panose="02010600030101010101" pitchFamily="2" charset="-122"/>
              </a:rPr>
              <a:t>)), where </a:t>
            </a:r>
            <a:r>
              <a:rPr lang="en-US" altLang="zh-CN" sz="2000" i="1" dirty="0">
                <a:ea typeface="SimSun" panose="02010600030101010101" pitchFamily="2" charset="-122"/>
              </a:rPr>
              <a:t>p</a:t>
            </a:r>
            <a:r>
              <a:rPr lang="en-US" altLang="zh-CN" sz="2000" dirty="0">
                <a:ea typeface="SimSun" panose="02010600030101010101" pitchFamily="2" charset="-122"/>
              </a:rPr>
              <a:t>(</a:t>
            </a:r>
            <a:r>
              <a:rPr lang="en-US" altLang="zh-CN" sz="2000" i="1" dirty="0">
                <a:ea typeface="SimSun" panose="02010600030101010101" pitchFamily="2" charset="-122"/>
              </a:rPr>
              <a:t>n</a:t>
            </a:r>
            <a:r>
              <a:rPr lang="en-US" altLang="zh-CN" sz="2000" dirty="0">
                <a:ea typeface="SimSun" panose="02010600030101010101" pitchFamily="2" charset="-122"/>
              </a:rPr>
              <a:t>) is a polynomial on </a:t>
            </a:r>
            <a:r>
              <a:rPr lang="en-US" altLang="zh-CN" sz="2000" i="1" dirty="0">
                <a:ea typeface="SimSun" panose="02010600030101010101" pitchFamily="2" charset="-122"/>
              </a:rPr>
              <a:t>n</a:t>
            </a:r>
          </a:p>
          <a:p>
            <a:pPr lvl="1"/>
            <a:r>
              <a:rPr lang="en-US" altLang="zh-CN" sz="2000" dirty="0">
                <a:ea typeface="SimSun" panose="02010600030101010101" pitchFamily="2" charset="-122"/>
              </a:rPr>
              <a:t>A deterministic algorithm is (essentially) one that always computes the correct answer</a:t>
            </a:r>
          </a:p>
          <a:p>
            <a:pPr>
              <a:buFont typeface="Monotype Sorts" charset="2"/>
              <a:buNone/>
            </a:pPr>
            <a:endParaRPr lang="en-US" altLang="zh-CN" sz="2400" dirty="0">
              <a:ea typeface="SimSun" panose="02010600030101010101" pitchFamily="2" charset="-122"/>
            </a:endParaRPr>
          </a:p>
          <a:p>
            <a:pPr>
              <a:buFont typeface="Monotype Sorts" charset="2"/>
              <a:buNone/>
            </a:pPr>
            <a:r>
              <a:rPr lang="en-US" altLang="zh-CN" sz="2400" dirty="0">
                <a:ea typeface="SimSun" panose="02010600030101010101" pitchFamily="2" charset="-122"/>
              </a:rPr>
              <a:t>Why polynomial?</a:t>
            </a:r>
          </a:p>
          <a:p>
            <a:pPr lvl="1"/>
            <a:r>
              <a:rPr lang="en-US" altLang="zh-CN" sz="1800" dirty="0">
                <a:ea typeface="SimSun" panose="02010600030101010101" pitchFamily="2" charset="-122"/>
              </a:rPr>
              <a:t>if not, very inefficient</a:t>
            </a:r>
          </a:p>
          <a:p>
            <a:pPr lvl="1"/>
            <a:r>
              <a:rPr lang="en-US" altLang="zh-CN" sz="1800" dirty="0">
                <a:ea typeface="SimSun" panose="02010600030101010101" pitchFamily="2" charset="-122"/>
              </a:rPr>
              <a:t>nice closure properties </a:t>
            </a:r>
          </a:p>
          <a:p>
            <a:pPr lvl="2"/>
            <a:r>
              <a:rPr lang="en-US" altLang="zh-CN" sz="1600" i="1" dirty="0">
                <a:ea typeface="SimSun" panose="02010600030101010101" pitchFamily="2" charset="-122"/>
              </a:rPr>
              <a:t>the sum and composition of two polynomials are always polynomials too</a:t>
            </a:r>
          </a:p>
        </p:txBody>
      </p:sp>
    </p:spTree>
    <p:extLst>
      <p:ext uri="{BB962C8B-B14F-4D97-AF65-F5344CB8AC3E}">
        <p14:creationId xmlns:p14="http://schemas.microsoft.com/office/powerpoint/2010/main" val="324112027"/>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0" y="0"/>
            <a:ext cx="12192000" cy="762000"/>
          </a:xfrm>
          <a:prstGeom prst="rect">
            <a:avLst/>
          </a:prstGeom>
          <a:solidFill>
            <a:srgbClr val="002F7C"/>
          </a:solidFill>
        </p:spPr>
        <p:style>
          <a:lnRef idx="2">
            <a:schemeClr val="dk1">
              <a:shade val="50000"/>
            </a:schemeClr>
          </a:lnRef>
          <a:fillRef idx="1">
            <a:schemeClr val="dk1"/>
          </a:fillRef>
          <a:effectRef idx="0">
            <a:schemeClr val="dk1"/>
          </a:effectRef>
          <a:fontRef idx="minor">
            <a:schemeClr val="lt1"/>
          </a:fontRef>
        </p:style>
        <p:txBody>
          <a:bodyPr rtlCol="0" anchor="ctr"/>
          <a:lstStyle/>
          <a:p>
            <a:r>
              <a:rPr lang="zh-CN" altLang="en-US" sz="2000" b="1" dirty="0">
                <a:latin typeface="Times New Roman" panose="02020603050405020304" pitchFamily="18" charset="0"/>
                <a:ea typeface="宋体" panose="02010600030101010101" pitchFamily="2" charset="-122"/>
                <a:cs typeface="Times New Roman" panose="02020603050405020304" pitchFamily="18" charset="0"/>
              </a:rPr>
              <a:t>                </a:t>
            </a:r>
            <a:r>
              <a:rPr lang="en-US" altLang="zh-CN" sz="2400" b="1" dirty="0">
                <a:latin typeface="Trebuchet MS" panose="020B0603020202020204" pitchFamily="34" charset="0"/>
              </a:rPr>
              <a:t>Chapter 8: </a:t>
            </a:r>
            <a:r>
              <a:rPr lang="en-US" altLang="zh-CN" sz="2400" dirty="0"/>
              <a:t>INTRACTABILITY</a:t>
            </a:r>
            <a:endParaRPr lang="zh-CN" altLang="en-US" sz="2400" b="1" dirty="0">
              <a:solidFill>
                <a:srgbClr val="3D557A"/>
              </a:solidFill>
              <a:latin typeface="Trebuchet MS" panose="020B0603020202020204" pitchFamily="34" charset="0"/>
            </a:endParaRPr>
          </a:p>
        </p:txBody>
      </p:sp>
      <p:sp>
        <p:nvSpPr>
          <p:cNvPr id="13" name="矩形 12"/>
          <p:cNvSpPr/>
          <p:nvPr/>
        </p:nvSpPr>
        <p:spPr>
          <a:xfrm>
            <a:off x="824682" y="0"/>
            <a:ext cx="175443" cy="628650"/>
          </a:xfrm>
          <a:prstGeom prst="rect">
            <a:avLst/>
          </a:prstGeom>
          <a:solidFill>
            <a:srgbClr val="CFA57C"/>
          </a:solidFill>
          <a:ln cmpd="sng">
            <a:gradFill flip="none" rotWithShape="1">
              <a:gsLst>
                <a:gs pos="50000">
                  <a:schemeClr val="accent2">
                    <a:lumMod val="60000"/>
                    <a:lumOff val="40000"/>
                  </a:schemeClr>
                </a:gs>
                <a:gs pos="0">
                  <a:schemeClr val="accent2">
                    <a:lumMod val="20000"/>
                    <a:lumOff val="80000"/>
                  </a:schemeClr>
                </a:gs>
                <a:gs pos="95000">
                  <a:schemeClr val="accent2"/>
                </a:gs>
              </a:gsLst>
              <a:path path="circle">
                <a:fillToRect l="50000" t="-80000" r="50000" b="180000"/>
              </a:path>
              <a:tileRect/>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22" name="Picture 6" descr="D:\MBA工作\LOGO\同济经管LOGO反白.png"/>
          <p:cNvPicPr>
            <a:picLocks noChangeAspect="1" noChangeArrowheads="1"/>
          </p:cNvPicPr>
          <p:nvPr/>
        </p:nvPicPr>
        <p:blipFill>
          <a:blip r:embed="rId3" cstate="email">
            <a:extLst>
              <a:ext uri="{28A0092B-C50C-407E-A947-70E740481C1C}">
                <a14:useLocalDpi xmlns:a14="http://schemas.microsoft.com/office/drawing/2010/main" val="0"/>
              </a:ext>
            </a:extLst>
          </a:blip>
          <a:srcRect/>
          <a:stretch>
            <a:fillRect/>
          </a:stretch>
        </p:blipFill>
        <p:spPr bwMode="auto">
          <a:xfrm>
            <a:off x="10267423" y="165688"/>
            <a:ext cx="1386605" cy="462962"/>
          </a:xfrm>
          <a:prstGeom prst="rect">
            <a:avLst/>
          </a:prstGeom>
          <a:noFill/>
          <a:extLst>
            <a:ext uri="{909E8E84-426E-40DD-AFC4-6F175D3DCCD1}">
              <a14:hiddenFill xmlns:a14="http://schemas.microsoft.com/office/drawing/2010/main">
                <a:solidFill>
                  <a:srgbClr val="FFFFFF"/>
                </a:solidFill>
              </a14:hiddenFill>
            </a:ext>
          </a:extLst>
        </p:spPr>
      </p:pic>
      <p:pic>
        <p:nvPicPr>
          <p:cNvPr id="2" name="图片 1" descr="微信图片_20220318113523"/>
          <p:cNvPicPr>
            <a:picLocks noChangeAspect="1"/>
          </p:cNvPicPr>
          <p:nvPr userDrawn="1"/>
        </p:nvPicPr>
        <p:blipFill>
          <a:blip r:embed="rId4"/>
          <a:stretch>
            <a:fillRect/>
          </a:stretch>
        </p:blipFill>
        <p:spPr>
          <a:xfrm>
            <a:off x="9291877" y="6115050"/>
            <a:ext cx="2244725" cy="361315"/>
          </a:xfrm>
          <a:prstGeom prst="rect">
            <a:avLst/>
          </a:prstGeom>
        </p:spPr>
      </p:pic>
      <p:sp>
        <p:nvSpPr>
          <p:cNvPr id="18" name="Rectangle 2">
            <a:extLst>
              <a:ext uri="{FF2B5EF4-FFF2-40B4-BE49-F238E27FC236}">
                <a16:creationId xmlns:a16="http://schemas.microsoft.com/office/drawing/2014/main" id="{E217C615-1D49-4D07-B850-D36106D7AA9A}"/>
              </a:ext>
            </a:extLst>
          </p:cNvPr>
          <p:cNvSpPr>
            <a:spLocks noChangeArrowheads="1"/>
          </p:cNvSpPr>
          <p:nvPr/>
        </p:nvSpPr>
        <p:spPr bwMode="auto">
          <a:xfrm>
            <a:off x="1000125" y="815365"/>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8" name="Rectangle 3">
            <a:extLst>
              <a:ext uri="{FF2B5EF4-FFF2-40B4-BE49-F238E27FC236}">
                <a16:creationId xmlns:a16="http://schemas.microsoft.com/office/drawing/2014/main" id="{97F08C45-3D15-45C1-A5A3-D1EB58DC91FE}"/>
              </a:ext>
            </a:extLst>
          </p:cNvPr>
          <p:cNvSpPr txBox="1">
            <a:spLocks noChangeArrowheads="1"/>
          </p:cNvSpPr>
          <p:nvPr/>
        </p:nvSpPr>
        <p:spPr>
          <a:xfrm>
            <a:off x="824681" y="765175"/>
            <a:ext cx="8798289" cy="5788025"/>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indent="1828800">
              <a:lnSpc>
                <a:spcPct val="130000"/>
              </a:lnSpc>
              <a:spcBef>
                <a:spcPts val="600"/>
              </a:spcBef>
              <a:buNone/>
            </a:pPr>
            <a:endParaRPr lang="en-US" altLang="zh-CN" sz="2400" b="1" dirty="0">
              <a:latin typeface="Trebuchet MS" panose="020B0603020202020204" pitchFamily="34" charset="0"/>
            </a:endParaRPr>
          </a:p>
        </p:txBody>
      </p:sp>
      <p:sp>
        <p:nvSpPr>
          <p:cNvPr id="4" name="文本框 3">
            <a:extLst>
              <a:ext uri="{FF2B5EF4-FFF2-40B4-BE49-F238E27FC236}">
                <a16:creationId xmlns:a16="http://schemas.microsoft.com/office/drawing/2014/main" id="{C13E5918-6FF8-23F1-6B00-5960D645CF79}"/>
              </a:ext>
            </a:extLst>
          </p:cNvPr>
          <p:cNvSpPr txBox="1"/>
          <p:nvPr/>
        </p:nvSpPr>
        <p:spPr>
          <a:xfrm>
            <a:off x="1266940" y="1153883"/>
            <a:ext cx="6103344" cy="369332"/>
          </a:xfrm>
          <a:prstGeom prst="rect">
            <a:avLst/>
          </a:prstGeom>
          <a:noFill/>
        </p:spPr>
        <p:txBody>
          <a:bodyPr wrap="square">
            <a:spAutoFit/>
          </a:bodyPr>
          <a:lstStyle/>
          <a:p>
            <a:r>
              <a:rPr lang="en-US" altLang="en-US" dirty="0"/>
              <a:t>Complexity Class P</a:t>
            </a:r>
            <a:endParaRPr lang="zh-CN" altLang="en-US" dirty="0"/>
          </a:p>
        </p:txBody>
      </p:sp>
      <p:sp>
        <p:nvSpPr>
          <p:cNvPr id="5" name="Content Placeholder 2">
            <a:extLst>
              <a:ext uri="{FF2B5EF4-FFF2-40B4-BE49-F238E27FC236}">
                <a16:creationId xmlns:a16="http://schemas.microsoft.com/office/drawing/2014/main" id="{661B3ED5-C45C-A3E6-B9C5-60478DAE2377}"/>
              </a:ext>
            </a:extLst>
          </p:cNvPr>
          <p:cNvSpPr>
            <a:spLocks noGrp="1"/>
          </p:cNvSpPr>
          <p:nvPr>
            <p:ph idx="1"/>
          </p:nvPr>
        </p:nvSpPr>
        <p:spPr>
          <a:xfrm>
            <a:off x="457200" y="1600200"/>
            <a:ext cx="8229600" cy="4525963"/>
          </a:xfrm>
        </p:spPr>
        <p:txBody>
          <a:bodyPr/>
          <a:lstStyle/>
          <a:p>
            <a:pPr>
              <a:lnSpc>
                <a:spcPct val="90000"/>
              </a:lnSpc>
            </a:pPr>
            <a:r>
              <a:rPr lang="en-US" altLang="en-US" dirty="0"/>
              <a:t>Deterministic in nature</a:t>
            </a:r>
          </a:p>
          <a:p>
            <a:pPr>
              <a:lnSpc>
                <a:spcPct val="90000"/>
              </a:lnSpc>
            </a:pPr>
            <a:r>
              <a:rPr lang="en-US" altLang="en-US" dirty="0"/>
              <a:t>Solved by conventional computers in polynomial time</a:t>
            </a:r>
          </a:p>
          <a:p>
            <a:pPr lvl="1">
              <a:lnSpc>
                <a:spcPct val="90000"/>
              </a:lnSpc>
            </a:pPr>
            <a:r>
              <a:rPr lang="en-US" altLang="en-US" dirty="0"/>
              <a:t>O(1)			Constant</a:t>
            </a:r>
          </a:p>
          <a:p>
            <a:pPr lvl="1">
              <a:lnSpc>
                <a:spcPct val="90000"/>
              </a:lnSpc>
            </a:pPr>
            <a:r>
              <a:rPr lang="en-US" altLang="en-US" dirty="0"/>
              <a:t>O(log n)		Sub-linear</a:t>
            </a:r>
          </a:p>
          <a:p>
            <a:pPr lvl="1">
              <a:lnSpc>
                <a:spcPct val="90000"/>
              </a:lnSpc>
            </a:pPr>
            <a:r>
              <a:rPr lang="en-US" altLang="en-US" dirty="0"/>
              <a:t>O(n)			Linear</a:t>
            </a:r>
          </a:p>
          <a:p>
            <a:pPr lvl="1">
              <a:lnSpc>
                <a:spcPct val="90000"/>
              </a:lnSpc>
            </a:pPr>
            <a:r>
              <a:rPr lang="en-US" altLang="en-US" dirty="0"/>
              <a:t>O(n log n)		Nearly Linear</a:t>
            </a:r>
          </a:p>
          <a:p>
            <a:pPr lvl="1">
              <a:lnSpc>
                <a:spcPct val="90000"/>
              </a:lnSpc>
            </a:pPr>
            <a:r>
              <a:rPr lang="en-US" altLang="en-US" dirty="0"/>
              <a:t>O(n</a:t>
            </a:r>
            <a:r>
              <a:rPr lang="en-US" altLang="en-US" baseline="30000" dirty="0"/>
              <a:t>2</a:t>
            </a:r>
            <a:r>
              <a:rPr lang="en-US" altLang="en-US" dirty="0"/>
              <a:t>)			Quadratic</a:t>
            </a:r>
          </a:p>
          <a:p>
            <a:pPr>
              <a:lnSpc>
                <a:spcPct val="90000"/>
              </a:lnSpc>
            </a:pPr>
            <a:r>
              <a:rPr lang="en-US" altLang="en-US" dirty="0"/>
              <a:t>Polynomial upper and lower bounds</a:t>
            </a:r>
            <a:endParaRPr lang="en-US" b="1" dirty="0"/>
          </a:p>
        </p:txBody>
      </p:sp>
    </p:spTree>
    <p:extLst>
      <p:ext uri="{BB962C8B-B14F-4D97-AF65-F5344CB8AC3E}">
        <p14:creationId xmlns:p14="http://schemas.microsoft.com/office/powerpoint/2010/main" val="3244791099"/>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0" y="0"/>
            <a:ext cx="12192000" cy="762000"/>
          </a:xfrm>
          <a:prstGeom prst="rect">
            <a:avLst/>
          </a:prstGeom>
          <a:solidFill>
            <a:srgbClr val="002F7C"/>
          </a:solidFill>
        </p:spPr>
        <p:style>
          <a:lnRef idx="2">
            <a:schemeClr val="dk1">
              <a:shade val="50000"/>
            </a:schemeClr>
          </a:lnRef>
          <a:fillRef idx="1">
            <a:schemeClr val="dk1"/>
          </a:fillRef>
          <a:effectRef idx="0">
            <a:schemeClr val="dk1"/>
          </a:effectRef>
          <a:fontRef idx="minor">
            <a:schemeClr val="lt1"/>
          </a:fontRef>
        </p:style>
        <p:txBody>
          <a:bodyPr rtlCol="0" anchor="ctr"/>
          <a:lstStyle/>
          <a:p>
            <a:r>
              <a:rPr lang="zh-CN" altLang="en-US" sz="2000" b="1" dirty="0">
                <a:latin typeface="Times New Roman" panose="02020603050405020304" pitchFamily="18" charset="0"/>
                <a:ea typeface="宋体" panose="02010600030101010101" pitchFamily="2" charset="-122"/>
                <a:cs typeface="Times New Roman" panose="02020603050405020304" pitchFamily="18" charset="0"/>
              </a:rPr>
              <a:t>                </a:t>
            </a:r>
            <a:r>
              <a:rPr lang="en-US" altLang="zh-CN" sz="2400" b="1" dirty="0">
                <a:latin typeface="Trebuchet MS" panose="020B0603020202020204" pitchFamily="34" charset="0"/>
              </a:rPr>
              <a:t>Chapter 8: </a:t>
            </a:r>
            <a:r>
              <a:rPr lang="en-US" altLang="zh-CN" sz="2400" dirty="0"/>
              <a:t>INTRACTABILITY</a:t>
            </a:r>
            <a:endParaRPr lang="zh-CN" altLang="en-US" sz="2400" b="1" dirty="0">
              <a:solidFill>
                <a:srgbClr val="3D557A"/>
              </a:solidFill>
              <a:latin typeface="Trebuchet MS" panose="020B0603020202020204" pitchFamily="34" charset="0"/>
            </a:endParaRPr>
          </a:p>
        </p:txBody>
      </p:sp>
      <p:sp>
        <p:nvSpPr>
          <p:cNvPr id="13" name="矩形 12"/>
          <p:cNvSpPr/>
          <p:nvPr/>
        </p:nvSpPr>
        <p:spPr>
          <a:xfrm>
            <a:off x="824682" y="0"/>
            <a:ext cx="175443" cy="628650"/>
          </a:xfrm>
          <a:prstGeom prst="rect">
            <a:avLst/>
          </a:prstGeom>
          <a:solidFill>
            <a:srgbClr val="CFA57C"/>
          </a:solidFill>
          <a:ln cmpd="sng">
            <a:gradFill flip="none" rotWithShape="1">
              <a:gsLst>
                <a:gs pos="50000">
                  <a:schemeClr val="accent2">
                    <a:lumMod val="60000"/>
                    <a:lumOff val="40000"/>
                  </a:schemeClr>
                </a:gs>
                <a:gs pos="0">
                  <a:schemeClr val="accent2">
                    <a:lumMod val="20000"/>
                    <a:lumOff val="80000"/>
                  </a:schemeClr>
                </a:gs>
                <a:gs pos="95000">
                  <a:schemeClr val="accent2"/>
                </a:gs>
              </a:gsLst>
              <a:path path="circle">
                <a:fillToRect l="50000" t="-80000" r="50000" b="180000"/>
              </a:path>
              <a:tileRect/>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22" name="Picture 6" descr="D:\MBA工作\LOGO\同济经管LOGO反白.png"/>
          <p:cNvPicPr>
            <a:picLocks noChangeAspect="1" noChangeArrowheads="1"/>
          </p:cNvPicPr>
          <p:nvPr/>
        </p:nvPicPr>
        <p:blipFill>
          <a:blip r:embed="rId3" cstate="email">
            <a:extLst>
              <a:ext uri="{28A0092B-C50C-407E-A947-70E740481C1C}">
                <a14:useLocalDpi xmlns:a14="http://schemas.microsoft.com/office/drawing/2010/main" val="0"/>
              </a:ext>
            </a:extLst>
          </a:blip>
          <a:srcRect/>
          <a:stretch>
            <a:fillRect/>
          </a:stretch>
        </p:blipFill>
        <p:spPr bwMode="auto">
          <a:xfrm>
            <a:off x="10267423" y="165688"/>
            <a:ext cx="1386605" cy="462962"/>
          </a:xfrm>
          <a:prstGeom prst="rect">
            <a:avLst/>
          </a:prstGeom>
          <a:noFill/>
          <a:extLst>
            <a:ext uri="{909E8E84-426E-40DD-AFC4-6F175D3DCCD1}">
              <a14:hiddenFill xmlns:a14="http://schemas.microsoft.com/office/drawing/2010/main">
                <a:solidFill>
                  <a:srgbClr val="FFFFFF"/>
                </a:solidFill>
              </a14:hiddenFill>
            </a:ext>
          </a:extLst>
        </p:spPr>
      </p:pic>
      <p:pic>
        <p:nvPicPr>
          <p:cNvPr id="2" name="图片 1" descr="微信图片_20220318113523"/>
          <p:cNvPicPr>
            <a:picLocks noChangeAspect="1"/>
          </p:cNvPicPr>
          <p:nvPr userDrawn="1"/>
        </p:nvPicPr>
        <p:blipFill>
          <a:blip r:embed="rId4"/>
          <a:stretch>
            <a:fillRect/>
          </a:stretch>
        </p:blipFill>
        <p:spPr>
          <a:xfrm>
            <a:off x="9291877" y="6115050"/>
            <a:ext cx="2244725" cy="361315"/>
          </a:xfrm>
          <a:prstGeom prst="rect">
            <a:avLst/>
          </a:prstGeom>
        </p:spPr>
      </p:pic>
      <p:sp>
        <p:nvSpPr>
          <p:cNvPr id="18" name="Rectangle 2">
            <a:extLst>
              <a:ext uri="{FF2B5EF4-FFF2-40B4-BE49-F238E27FC236}">
                <a16:creationId xmlns:a16="http://schemas.microsoft.com/office/drawing/2014/main" id="{E217C615-1D49-4D07-B850-D36106D7AA9A}"/>
              </a:ext>
            </a:extLst>
          </p:cNvPr>
          <p:cNvSpPr>
            <a:spLocks noChangeArrowheads="1"/>
          </p:cNvSpPr>
          <p:nvPr/>
        </p:nvSpPr>
        <p:spPr bwMode="auto">
          <a:xfrm>
            <a:off x="1000125" y="815365"/>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8" name="Rectangle 3">
            <a:extLst>
              <a:ext uri="{FF2B5EF4-FFF2-40B4-BE49-F238E27FC236}">
                <a16:creationId xmlns:a16="http://schemas.microsoft.com/office/drawing/2014/main" id="{97F08C45-3D15-45C1-A5A3-D1EB58DC91FE}"/>
              </a:ext>
            </a:extLst>
          </p:cNvPr>
          <p:cNvSpPr txBox="1">
            <a:spLocks noChangeArrowheads="1"/>
          </p:cNvSpPr>
          <p:nvPr/>
        </p:nvSpPr>
        <p:spPr>
          <a:xfrm>
            <a:off x="824681" y="765175"/>
            <a:ext cx="8798289" cy="5788025"/>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indent="1828800">
              <a:lnSpc>
                <a:spcPct val="130000"/>
              </a:lnSpc>
              <a:spcBef>
                <a:spcPts val="600"/>
              </a:spcBef>
              <a:buNone/>
            </a:pPr>
            <a:endParaRPr lang="en-US" altLang="zh-CN" sz="2400" b="1" dirty="0">
              <a:latin typeface="Trebuchet MS" panose="020B0603020202020204" pitchFamily="34" charset="0"/>
            </a:endParaRPr>
          </a:p>
        </p:txBody>
      </p:sp>
      <p:sp>
        <p:nvSpPr>
          <p:cNvPr id="4" name="文本框 3">
            <a:extLst>
              <a:ext uri="{FF2B5EF4-FFF2-40B4-BE49-F238E27FC236}">
                <a16:creationId xmlns:a16="http://schemas.microsoft.com/office/drawing/2014/main" id="{C13E5918-6FF8-23F1-6B00-5960D645CF79}"/>
              </a:ext>
            </a:extLst>
          </p:cNvPr>
          <p:cNvSpPr txBox="1"/>
          <p:nvPr/>
        </p:nvSpPr>
        <p:spPr>
          <a:xfrm>
            <a:off x="1266940" y="1153883"/>
            <a:ext cx="6103344" cy="369332"/>
          </a:xfrm>
          <a:prstGeom prst="rect">
            <a:avLst/>
          </a:prstGeom>
          <a:noFill/>
        </p:spPr>
        <p:txBody>
          <a:bodyPr wrap="square">
            <a:spAutoFit/>
          </a:bodyPr>
          <a:lstStyle/>
          <a:p>
            <a:r>
              <a:rPr lang="en-US" altLang="zh-CN" dirty="0">
                <a:ea typeface="SimSun" panose="02010600030101010101" pitchFamily="2" charset="-122"/>
              </a:rPr>
              <a:t>Sample Problems in P</a:t>
            </a:r>
            <a:endParaRPr lang="zh-CN" altLang="en-US" dirty="0"/>
          </a:p>
        </p:txBody>
      </p:sp>
      <p:sp>
        <p:nvSpPr>
          <p:cNvPr id="5" name="Content Placeholder 2">
            <a:extLst>
              <a:ext uri="{FF2B5EF4-FFF2-40B4-BE49-F238E27FC236}">
                <a16:creationId xmlns:a16="http://schemas.microsoft.com/office/drawing/2014/main" id="{661B3ED5-C45C-A3E6-B9C5-60478DAE2377}"/>
              </a:ext>
            </a:extLst>
          </p:cNvPr>
          <p:cNvSpPr>
            <a:spLocks noGrp="1"/>
          </p:cNvSpPr>
          <p:nvPr>
            <p:ph idx="1"/>
          </p:nvPr>
        </p:nvSpPr>
        <p:spPr>
          <a:xfrm>
            <a:off x="457200" y="1600200"/>
            <a:ext cx="8229600" cy="4525963"/>
          </a:xfrm>
        </p:spPr>
        <p:txBody>
          <a:bodyPr/>
          <a:lstStyle/>
          <a:p>
            <a:r>
              <a:rPr lang="en-US" altLang="zh-CN" dirty="0">
                <a:ea typeface="SimSun" panose="02010600030101010101" pitchFamily="2" charset="-122"/>
              </a:rPr>
              <a:t>Shortest Path Dijkstra </a:t>
            </a:r>
            <a:r>
              <a:rPr lang="en-US" altLang="zh-CN" b="1" dirty="0"/>
              <a:t>algorithm </a:t>
            </a:r>
            <a:r>
              <a:rPr lang="en-US" altLang="zh-CN" dirty="0"/>
              <a:t>O(V2). </a:t>
            </a:r>
          </a:p>
          <a:p>
            <a:r>
              <a:rPr lang="en-US" altLang="zh-CN" dirty="0"/>
              <a:t>Eulerian path O(E)</a:t>
            </a:r>
            <a:endParaRPr lang="en-US" altLang="zh-CN" dirty="0">
              <a:ea typeface="SimSun" panose="02010600030101010101" pitchFamily="2" charset="-122"/>
            </a:endParaRPr>
          </a:p>
          <a:p>
            <a:r>
              <a:rPr lang="en-US" altLang="zh-CN" dirty="0">
                <a:ea typeface="SimSun" panose="02010600030101010101" pitchFamily="2" charset="-122"/>
              </a:rPr>
              <a:t>MST </a:t>
            </a:r>
            <a:r>
              <a:rPr lang="en-US" altLang="zh-CN" dirty="0"/>
              <a:t>O(</a:t>
            </a:r>
            <a:r>
              <a:rPr lang="en-US" altLang="zh-CN" dirty="0" err="1"/>
              <a:t>ElogV</a:t>
            </a:r>
            <a:r>
              <a:rPr lang="en-US" altLang="zh-CN" dirty="0"/>
              <a:t>)</a:t>
            </a:r>
            <a:endParaRPr lang="en-US" altLang="zh-CN" dirty="0">
              <a:ea typeface="SimSun" panose="02010600030101010101" pitchFamily="2" charset="-122"/>
            </a:endParaRPr>
          </a:p>
          <a:p>
            <a:r>
              <a:rPr lang="en-US" altLang="zh-CN" dirty="0">
                <a:ea typeface="SimSun" panose="02010600030101010101" pitchFamily="2" charset="-122"/>
              </a:rPr>
              <a:t>Merge Sort</a:t>
            </a:r>
          </a:p>
          <a:p>
            <a:r>
              <a:rPr lang="en-US" altLang="zh-CN" sz="2800" b="1" dirty="0">
                <a:latin typeface="Trebuchet MS" panose="020B0603020202020204" pitchFamily="34" charset="0"/>
              </a:rPr>
              <a:t>Huffman Algorithm: </a:t>
            </a:r>
            <a:r>
              <a:rPr lang="en-US" altLang="zh-CN" sz="2800" dirty="0">
                <a:latin typeface="Trebuchet MS" panose="020B0603020202020204" pitchFamily="34" charset="0"/>
              </a:rPr>
              <a:t>Constructing the </a:t>
            </a:r>
            <a:r>
              <a:rPr lang="en-US" altLang="zh-CN" sz="2800" b="1" i="1" dirty="0">
                <a:solidFill>
                  <a:srgbClr val="0B61FF"/>
                </a:solidFill>
                <a:latin typeface="Trebuchet MS" panose="020B0603020202020204" pitchFamily="34" charset="0"/>
              </a:rPr>
              <a:t>Optimal Binary (Huffman) Tree</a:t>
            </a:r>
            <a:r>
              <a:rPr lang="en-US" altLang="zh-CN" sz="2800" dirty="0">
                <a:latin typeface="Trebuchet MS" panose="020B0603020202020204" pitchFamily="34" charset="0"/>
              </a:rPr>
              <a:t>.</a:t>
            </a:r>
            <a:endParaRPr lang="en-US" altLang="zh-CN" sz="2800" b="1" dirty="0">
              <a:latin typeface="Trebuchet MS" panose="020B0603020202020204" pitchFamily="34" charset="0"/>
            </a:endParaRPr>
          </a:p>
          <a:p>
            <a:r>
              <a:rPr lang="en-US" altLang="zh-CN" dirty="0">
                <a:ea typeface="SimSun" panose="02010600030101010101" pitchFamily="2" charset="-122"/>
              </a:rPr>
              <a:t>Others</a:t>
            </a:r>
          </a:p>
        </p:txBody>
      </p:sp>
      <p:sp>
        <p:nvSpPr>
          <p:cNvPr id="9" name="AutoShape 6">
            <a:extLst>
              <a:ext uri="{FF2B5EF4-FFF2-40B4-BE49-F238E27FC236}">
                <a16:creationId xmlns:a16="http://schemas.microsoft.com/office/drawing/2014/main" id="{13B07BE1-A921-94FA-DCDF-E1006B19182F}"/>
              </a:ext>
            </a:extLst>
          </p:cNvPr>
          <p:cNvSpPr>
            <a:spLocks noChangeAspect="1" noChangeArrowheads="1"/>
          </p:cNvSpPr>
          <p:nvPr/>
        </p:nvSpPr>
        <p:spPr bwMode="auto">
          <a:xfrm>
            <a:off x="3048000" y="381000"/>
            <a:ext cx="6096000" cy="60960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a:p>
        </p:txBody>
      </p:sp>
      <p:pic>
        <p:nvPicPr>
          <p:cNvPr id="15" name="图片 14" descr="文本, 信件&#10;&#10;AI 生成的内容可能不正确。">
            <a:extLst>
              <a:ext uri="{FF2B5EF4-FFF2-40B4-BE49-F238E27FC236}">
                <a16:creationId xmlns:a16="http://schemas.microsoft.com/office/drawing/2014/main" id="{4CF7A254-7461-AF5F-7ADC-E06C8D3C42FA}"/>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6156307" y="1196366"/>
            <a:ext cx="6035693" cy="3734585"/>
          </a:xfrm>
          <a:prstGeom prst="rect">
            <a:avLst/>
          </a:prstGeom>
        </p:spPr>
      </p:pic>
    </p:spTree>
    <p:extLst>
      <p:ext uri="{BB962C8B-B14F-4D97-AF65-F5344CB8AC3E}">
        <p14:creationId xmlns:p14="http://schemas.microsoft.com/office/powerpoint/2010/main" val="1489077718"/>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0" y="0"/>
            <a:ext cx="12192000" cy="762000"/>
          </a:xfrm>
          <a:prstGeom prst="rect">
            <a:avLst/>
          </a:prstGeom>
          <a:solidFill>
            <a:srgbClr val="002F7C"/>
          </a:solidFill>
        </p:spPr>
        <p:style>
          <a:lnRef idx="2">
            <a:schemeClr val="dk1">
              <a:shade val="50000"/>
            </a:schemeClr>
          </a:lnRef>
          <a:fillRef idx="1">
            <a:schemeClr val="dk1"/>
          </a:fillRef>
          <a:effectRef idx="0">
            <a:schemeClr val="dk1"/>
          </a:effectRef>
          <a:fontRef idx="minor">
            <a:schemeClr val="lt1"/>
          </a:fontRef>
        </p:style>
        <p:txBody>
          <a:bodyPr rtlCol="0" anchor="ctr"/>
          <a:lstStyle/>
          <a:p>
            <a:r>
              <a:rPr lang="zh-CN" altLang="en-US" sz="2000" b="1" dirty="0">
                <a:latin typeface="Times New Roman" panose="02020603050405020304" pitchFamily="18" charset="0"/>
                <a:ea typeface="宋体" panose="02010600030101010101" pitchFamily="2" charset="-122"/>
                <a:cs typeface="Times New Roman" panose="02020603050405020304" pitchFamily="18" charset="0"/>
              </a:rPr>
              <a:t>                </a:t>
            </a:r>
            <a:r>
              <a:rPr lang="en-US" altLang="zh-CN" sz="2400" b="1" dirty="0">
                <a:latin typeface="Trebuchet MS" panose="020B0603020202020204" pitchFamily="34" charset="0"/>
              </a:rPr>
              <a:t>Chapter 8: </a:t>
            </a:r>
            <a:r>
              <a:rPr lang="en-US" altLang="zh-CN" sz="2400" dirty="0"/>
              <a:t>INTRACTABILITY</a:t>
            </a:r>
            <a:endParaRPr lang="zh-CN" altLang="en-US" sz="2400" b="1" dirty="0">
              <a:solidFill>
                <a:srgbClr val="3D557A"/>
              </a:solidFill>
              <a:latin typeface="Trebuchet MS" panose="020B0603020202020204" pitchFamily="34" charset="0"/>
            </a:endParaRPr>
          </a:p>
        </p:txBody>
      </p:sp>
      <p:sp>
        <p:nvSpPr>
          <p:cNvPr id="13" name="矩形 12"/>
          <p:cNvSpPr/>
          <p:nvPr/>
        </p:nvSpPr>
        <p:spPr>
          <a:xfrm>
            <a:off x="824682" y="0"/>
            <a:ext cx="175443" cy="628650"/>
          </a:xfrm>
          <a:prstGeom prst="rect">
            <a:avLst/>
          </a:prstGeom>
          <a:solidFill>
            <a:srgbClr val="CFA57C"/>
          </a:solidFill>
          <a:ln cmpd="sng">
            <a:gradFill flip="none" rotWithShape="1">
              <a:gsLst>
                <a:gs pos="50000">
                  <a:schemeClr val="accent2">
                    <a:lumMod val="60000"/>
                    <a:lumOff val="40000"/>
                  </a:schemeClr>
                </a:gs>
                <a:gs pos="0">
                  <a:schemeClr val="accent2">
                    <a:lumMod val="20000"/>
                    <a:lumOff val="80000"/>
                  </a:schemeClr>
                </a:gs>
                <a:gs pos="95000">
                  <a:schemeClr val="accent2"/>
                </a:gs>
              </a:gsLst>
              <a:path path="circle">
                <a:fillToRect l="50000" t="-80000" r="50000" b="180000"/>
              </a:path>
              <a:tileRect/>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22" name="Picture 6" descr="D:\MBA工作\LOGO\同济经管LOGO反白.png"/>
          <p:cNvPicPr>
            <a:picLocks noChangeAspect="1" noChangeArrowheads="1"/>
          </p:cNvPicPr>
          <p:nvPr/>
        </p:nvPicPr>
        <p:blipFill>
          <a:blip r:embed="rId3" cstate="email">
            <a:extLst>
              <a:ext uri="{28A0092B-C50C-407E-A947-70E740481C1C}">
                <a14:useLocalDpi xmlns:a14="http://schemas.microsoft.com/office/drawing/2010/main" val="0"/>
              </a:ext>
            </a:extLst>
          </a:blip>
          <a:srcRect/>
          <a:stretch>
            <a:fillRect/>
          </a:stretch>
        </p:blipFill>
        <p:spPr bwMode="auto">
          <a:xfrm>
            <a:off x="10267423" y="165688"/>
            <a:ext cx="1386605" cy="462962"/>
          </a:xfrm>
          <a:prstGeom prst="rect">
            <a:avLst/>
          </a:prstGeom>
          <a:noFill/>
          <a:extLst>
            <a:ext uri="{909E8E84-426E-40DD-AFC4-6F175D3DCCD1}">
              <a14:hiddenFill xmlns:a14="http://schemas.microsoft.com/office/drawing/2010/main">
                <a:solidFill>
                  <a:srgbClr val="FFFFFF"/>
                </a:solidFill>
              </a14:hiddenFill>
            </a:ext>
          </a:extLst>
        </p:spPr>
      </p:pic>
      <p:pic>
        <p:nvPicPr>
          <p:cNvPr id="2" name="图片 1" descr="微信图片_20220318113523"/>
          <p:cNvPicPr>
            <a:picLocks noChangeAspect="1"/>
          </p:cNvPicPr>
          <p:nvPr userDrawn="1"/>
        </p:nvPicPr>
        <p:blipFill>
          <a:blip r:embed="rId4"/>
          <a:stretch>
            <a:fillRect/>
          </a:stretch>
        </p:blipFill>
        <p:spPr>
          <a:xfrm>
            <a:off x="9291877" y="6115050"/>
            <a:ext cx="2244725" cy="361315"/>
          </a:xfrm>
          <a:prstGeom prst="rect">
            <a:avLst/>
          </a:prstGeom>
        </p:spPr>
      </p:pic>
      <p:sp>
        <p:nvSpPr>
          <p:cNvPr id="18" name="Rectangle 2">
            <a:extLst>
              <a:ext uri="{FF2B5EF4-FFF2-40B4-BE49-F238E27FC236}">
                <a16:creationId xmlns:a16="http://schemas.microsoft.com/office/drawing/2014/main" id="{E217C615-1D49-4D07-B850-D36106D7AA9A}"/>
              </a:ext>
            </a:extLst>
          </p:cNvPr>
          <p:cNvSpPr>
            <a:spLocks noChangeArrowheads="1"/>
          </p:cNvSpPr>
          <p:nvPr/>
        </p:nvSpPr>
        <p:spPr bwMode="auto">
          <a:xfrm>
            <a:off x="1000125" y="815365"/>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8" name="Rectangle 3">
            <a:extLst>
              <a:ext uri="{FF2B5EF4-FFF2-40B4-BE49-F238E27FC236}">
                <a16:creationId xmlns:a16="http://schemas.microsoft.com/office/drawing/2014/main" id="{97F08C45-3D15-45C1-A5A3-D1EB58DC91FE}"/>
              </a:ext>
            </a:extLst>
          </p:cNvPr>
          <p:cNvSpPr txBox="1">
            <a:spLocks noChangeArrowheads="1"/>
          </p:cNvSpPr>
          <p:nvPr/>
        </p:nvSpPr>
        <p:spPr>
          <a:xfrm>
            <a:off x="824681" y="765175"/>
            <a:ext cx="8798289" cy="5788025"/>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indent="1828800">
              <a:lnSpc>
                <a:spcPct val="130000"/>
              </a:lnSpc>
              <a:spcBef>
                <a:spcPts val="600"/>
              </a:spcBef>
              <a:buNone/>
            </a:pPr>
            <a:endParaRPr lang="en-US" altLang="zh-CN" sz="2400" b="1" dirty="0">
              <a:latin typeface="Trebuchet MS" panose="020B0603020202020204" pitchFamily="34" charset="0"/>
            </a:endParaRPr>
          </a:p>
        </p:txBody>
      </p:sp>
      <p:sp>
        <p:nvSpPr>
          <p:cNvPr id="4" name="文本框 3">
            <a:extLst>
              <a:ext uri="{FF2B5EF4-FFF2-40B4-BE49-F238E27FC236}">
                <a16:creationId xmlns:a16="http://schemas.microsoft.com/office/drawing/2014/main" id="{C13E5918-6FF8-23F1-6B00-5960D645CF79}"/>
              </a:ext>
            </a:extLst>
          </p:cNvPr>
          <p:cNvSpPr txBox="1"/>
          <p:nvPr/>
        </p:nvSpPr>
        <p:spPr>
          <a:xfrm>
            <a:off x="1266940" y="1153883"/>
            <a:ext cx="6103344" cy="369332"/>
          </a:xfrm>
          <a:prstGeom prst="rect">
            <a:avLst/>
          </a:prstGeom>
          <a:noFill/>
        </p:spPr>
        <p:txBody>
          <a:bodyPr wrap="square">
            <a:spAutoFit/>
          </a:bodyPr>
          <a:lstStyle/>
          <a:p>
            <a:r>
              <a:rPr lang="en-US" altLang="zh-CN" dirty="0"/>
              <a:t>NP</a:t>
            </a:r>
            <a:endParaRPr lang="zh-CN" altLang="en-US" dirty="0"/>
          </a:p>
        </p:txBody>
      </p:sp>
      <p:sp>
        <p:nvSpPr>
          <p:cNvPr id="5" name="Content Placeholder 2">
            <a:extLst>
              <a:ext uri="{FF2B5EF4-FFF2-40B4-BE49-F238E27FC236}">
                <a16:creationId xmlns:a16="http://schemas.microsoft.com/office/drawing/2014/main" id="{661B3ED5-C45C-A3E6-B9C5-60478DAE2377}"/>
              </a:ext>
            </a:extLst>
          </p:cNvPr>
          <p:cNvSpPr>
            <a:spLocks noGrp="1"/>
          </p:cNvSpPr>
          <p:nvPr>
            <p:ph idx="1"/>
          </p:nvPr>
        </p:nvSpPr>
        <p:spPr>
          <a:xfrm>
            <a:off x="457200" y="1600200"/>
            <a:ext cx="8229600" cy="4525963"/>
          </a:xfrm>
        </p:spPr>
        <p:txBody>
          <a:bodyPr/>
          <a:lstStyle/>
          <a:p>
            <a:r>
              <a:rPr lang="en-US" altLang="zh-CN" b="1" dirty="0"/>
              <a:t>NP is not the same as non-polynomial complexity/running time. NP does not stand for not polynomial.</a:t>
            </a:r>
          </a:p>
          <a:p>
            <a:r>
              <a:rPr lang="en-US" altLang="zh-CN" b="1" dirty="0"/>
              <a:t>NP = Non-Deterministic polynomial time</a:t>
            </a:r>
          </a:p>
          <a:p>
            <a:r>
              <a:rPr lang="en-US" altLang="zh-CN" dirty="0"/>
              <a:t>NP means verifiable in polynomial time</a:t>
            </a:r>
          </a:p>
          <a:p>
            <a:r>
              <a:rPr lang="en-US" altLang="zh-CN" dirty="0"/>
              <a:t>Verifiable?</a:t>
            </a:r>
          </a:p>
          <a:p>
            <a:pPr lvl="1"/>
            <a:r>
              <a:rPr lang="en-US" altLang="zh-CN" dirty="0"/>
              <a:t>If we are somehow given a ‘certificate’ of a solution we can verify the legitimacy in polynomial time</a:t>
            </a:r>
          </a:p>
        </p:txBody>
      </p:sp>
    </p:spTree>
    <p:extLst>
      <p:ext uri="{BB962C8B-B14F-4D97-AF65-F5344CB8AC3E}">
        <p14:creationId xmlns:p14="http://schemas.microsoft.com/office/powerpoint/2010/main" val="3923402071"/>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0" y="0"/>
            <a:ext cx="12192000" cy="762000"/>
          </a:xfrm>
          <a:prstGeom prst="rect">
            <a:avLst/>
          </a:prstGeom>
          <a:solidFill>
            <a:srgbClr val="002F7C"/>
          </a:solidFill>
        </p:spPr>
        <p:style>
          <a:lnRef idx="2">
            <a:schemeClr val="dk1">
              <a:shade val="50000"/>
            </a:schemeClr>
          </a:lnRef>
          <a:fillRef idx="1">
            <a:schemeClr val="dk1"/>
          </a:fillRef>
          <a:effectRef idx="0">
            <a:schemeClr val="dk1"/>
          </a:effectRef>
          <a:fontRef idx="minor">
            <a:schemeClr val="lt1"/>
          </a:fontRef>
        </p:style>
        <p:txBody>
          <a:bodyPr rtlCol="0" anchor="ctr"/>
          <a:lstStyle/>
          <a:p>
            <a:r>
              <a:rPr lang="zh-CN" altLang="en-US" sz="2000" b="1" dirty="0">
                <a:latin typeface="Times New Roman" panose="02020603050405020304" pitchFamily="18" charset="0"/>
                <a:ea typeface="宋体" panose="02010600030101010101" pitchFamily="2" charset="-122"/>
                <a:cs typeface="Times New Roman" panose="02020603050405020304" pitchFamily="18" charset="0"/>
              </a:rPr>
              <a:t>                </a:t>
            </a:r>
            <a:r>
              <a:rPr lang="en-US" altLang="zh-CN" sz="2400" b="1" dirty="0">
                <a:latin typeface="Trebuchet MS" panose="020B0603020202020204" pitchFamily="34" charset="0"/>
              </a:rPr>
              <a:t>Chapter 8: </a:t>
            </a:r>
            <a:r>
              <a:rPr lang="en-US" altLang="zh-CN" sz="2400" dirty="0"/>
              <a:t>INTRACTABILITY</a:t>
            </a:r>
            <a:endParaRPr lang="zh-CN" altLang="en-US" sz="2400" b="1" dirty="0">
              <a:solidFill>
                <a:srgbClr val="3D557A"/>
              </a:solidFill>
              <a:latin typeface="Trebuchet MS" panose="020B0603020202020204" pitchFamily="34" charset="0"/>
            </a:endParaRPr>
          </a:p>
        </p:txBody>
      </p:sp>
      <p:sp>
        <p:nvSpPr>
          <p:cNvPr id="13" name="矩形 12"/>
          <p:cNvSpPr/>
          <p:nvPr/>
        </p:nvSpPr>
        <p:spPr>
          <a:xfrm>
            <a:off x="824682" y="0"/>
            <a:ext cx="175443" cy="628650"/>
          </a:xfrm>
          <a:prstGeom prst="rect">
            <a:avLst/>
          </a:prstGeom>
          <a:solidFill>
            <a:srgbClr val="CFA57C"/>
          </a:solidFill>
          <a:ln cmpd="sng">
            <a:gradFill flip="none" rotWithShape="1">
              <a:gsLst>
                <a:gs pos="50000">
                  <a:schemeClr val="accent2">
                    <a:lumMod val="60000"/>
                    <a:lumOff val="40000"/>
                  </a:schemeClr>
                </a:gs>
                <a:gs pos="0">
                  <a:schemeClr val="accent2">
                    <a:lumMod val="20000"/>
                    <a:lumOff val="80000"/>
                  </a:schemeClr>
                </a:gs>
                <a:gs pos="95000">
                  <a:schemeClr val="accent2"/>
                </a:gs>
              </a:gsLst>
              <a:path path="circle">
                <a:fillToRect l="50000" t="-80000" r="50000" b="180000"/>
              </a:path>
              <a:tileRect/>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22" name="Picture 6" descr="D:\MBA工作\LOGO\同济经管LOGO反白.png"/>
          <p:cNvPicPr>
            <a:picLocks noChangeAspect="1" noChangeArrowheads="1"/>
          </p:cNvPicPr>
          <p:nvPr/>
        </p:nvPicPr>
        <p:blipFill>
          <a:blip r:embed="rId3" cstate="email">
            <a:extLst>
              <a:ext uri="{28A0092B-C50C-407E-A947-70E740481C1C}">
                <a14:useLocalDpi xmlns:a14="http://schemas.microsoft.com/office/drawing/2010/main" val="0"/>
              </a:ext>
            </a:extLst>
          </a:blip>
          <a:srcRect/>
          <a:stretch>
            <a:fillRect/>
          </a:stretch>
        </p:blipFill>
        <p:spPr bwMode="auto">
          <a:xfrm>
            <a:off x="10267423" y="165688"/>
            <a:ext cx="1386605" cy="462962"/>
          </a:xfrm>
          <a:prstGeom prst="rect">
            <a:avLst/>
          </a:prstGeom>
          <a:noFill/>
          <a:extLst>
            <a:ext uri="{909E8E84-426E-40DD-AFC4-6F175D3DCCD1}">
              <a14:hiddenFill xmlns:a14="http://schemas.microsoft.com/office/drawing/2010/main">
                <a:solidFill>
                  <a:srgbClr val="FFFFFF"/>
                </a:solidFill>
              </a14:hiddenFill>
            </a:ext>
          </a:extLst>
        </p:spPr>
      </p:pic>
      <p:pic>
        <p:nvPicPr>
          <p:cNvPr id="2" name="图片 1" descr="微信图片_20220318113523"/>
          <p:cNvPicPr>
            <a:picLocks noChangeAspect="1"/>
          </p:cNvPicPr>
          <p:nvPr userDrawn="1"/>
        </p:nvPicPr>
        <p:blipFill>
          <a:blip r:embed="rId4"/>
          <a:stretch>
            <a:fillRect/>
          </a:stretch>
        </p:blipFill>
        <p:spPr>
          <a:xfrm>
            <a:off x="9291877" y="6115050"/>
            <a:ext cx="2244725" cy="361315"/>
          </a:xfrm>
          <a:prstGeom prst="rect">
            <a:avLst/>
          </a:prstGeom>
        </p:spPr>
      </p:pic>
      <p:sp>
        <p:nvSpPr>
          <p:cNvPr id="18" name="Rectangle 2">
            <a:extLst>
              <a:ext uri="{FF2B5EF4-FFF2-40B4-BE49-F238E27FC236}">
                <a16:creationId xmlns:a16="http://schemas.microsoft.com/office/drawing/2014/main" id="{E217C615-1D49-4D07-B850-D36106D7AA9A}"/>
              </a:ext>
            </a:extLst>
          </p:cNvPr>
          <p:cNvSpPr>
            <a:spLocks noChangeArrowheads="1"/>
          </p:cNvSpPr>
          <p:nvPr/>
        </p:nvSpPr>
        <p:spPr bwMode="auto">
          <a:xfrm>
            <a:off x="1000125" y="815365"/>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8" name="Rectangle 3">
            <a:extLst>
              <a:ext uri="{FF2B5EF4-FFF2-40B4-BE49-F238E27FC236}">
                <a16:creationId xmlns:a16="http://schemas.microsoft.com/office/drawing/2014/main" id="{97F08C45-3D15-45C1-A5A3-D1EB58DC91FE}"/>
              </a:ext>
            </a:extLst>
          </p:cNvPr>
          <p:cNvSpPr txBox="1">
            <a:spLocks noChangeArrowheads="1"/>
          </p:cNvSpPr>
          <p:nvPr/>
        </p:nvSpPr>
        <p:spPr>
          <a:xfrm>
            <a:off x="824681" y="765175"/>
            <a:ext cx="8798289" cy="5788025"/>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indent="1828800">
              <a:lnSpc>
                <a:spcPct val="130000"/>
              </a:lnSpc>
              <a:spcBef>
                <a:spcPts val="600"/>
              </a:spcBef>
              <a:buNone/>
            </a:pPr>
            <a:endParaRPr lang="en-US" altLang="zh-CN" sz="2400" b="1" dirty="0">
              <a:latin typeface="Trebuchet MS" panose="020B0603020202020204" pitchFamily="34" charset="0"/>
            </a:endParaRPr>
          </a:p>
        </p:txBody>
      </p:sp>
      <p:sp>
        <p:nvSpPr>
          <p:cNvPr id="4" name="文本框 3">
            <a:extLst>
              <a:ext uri="{FF2B5EF4-FFF2-40B4-BE49-F238E27FC236}">
                <a16:creationId xmlns:a16="http://schemas.microsoft.com/office/drawing/2014/main" id="{C13E5918-6FF8-23F1-6B00-5960D645CF79}"/>
              </a:ext>
            </a:extLst>
          </p:cNvPr>
          <p:cNvSpPr txBox="1"/>
          <p:nvPr/>
        </p:nvSpPr>
        <p:spPr>
          <a:xfrm>
            <a:off x="1266940" y="1153883"/>
            <a:ext cx="6103344" cy="369332"/>
          </a:xfrm>
          <a:prstGeom prst="rect">
            <a:avLst/>
          </a:prstGeom>
          <a:noFill/>
        </p:spPr>
        <p:txBody>
          <a:bodyPr wrap="square">
            <a:spAutoFit/>
          </a:bodyPr>
          <a:lstStyle/>
          <a:p>
            <a:r>
              <a:rPr lang="en-US" altLang="zh-CN" dirty="0">
                <a:ea typeface="SimSun" panose="02010600030101010101" pitchFamily="2" charset="-122"/>
              </a:rPr>
              <a:t>Sample Problems in NP</a:t>
            </a:r>
            <a:endParaRPr lang="zh-CN" altLang="en-US" dirty="0"/>
          </a:p>
        </p:txBody>
      </p:sp>
      <p:sp>
        <p:nvSpPr>
          <p:cNvPr id="5" name="Content Placeholder 2">
            <a:extLst>
              <a:ext uri="{FF2B5EF4-FFF2-40B4-BE49-F238E27FC236}">
                <a16:creationId xmlns:a16="http://schemas.microsoft.com/office/drawing/2014/main" id="{661B3ED5-C45C-A3E6-B9C5-60478DAE2377}"/>
              </a:ext>
            </a:extLst>
          </p:cNvPr>
          <p:cNvSpPr>
            <a:spLocks noGrp="1"/>
          </p:cNvSpPr>
          <p:nvPr>
            <p:ph idx="1"/>
          </p:nvPr>
        </p:nvSpPr>
        <p:spPr>
          <a:xfrm>
            <a:off x="457200" y="1600200"/>
            <a:ext cx="8229600" cy="4525963"/>
          </a:xfrm>
        </p:spPr>
        <p:txBody>
          <a:bodyPr/>
          <a:lstStyle/>
          <a:p>
            <a:r>
              <a:rPr lang="en-US" altLang="zh-CN" dirty="0">
                <a:ea typeface="SimSun" panose="02010600030101010101" pitchFamily="2" charset="-122"/>
              </a:rPr>
              <a:t>MST </a:t>
            </a:r>
          </a:p>
          <a:p>
            <a:r>
              <a:rPr lang="en-US" altLang="zh-CN" dirty="0">
                <a:ea typeface="SimSun" panose="02010600030101010101" pitchFamily="2" charset="-122"/>
              </a:rPr>
              <a:t>Maximal matching</a:t>
            </a:r>
          </a:p>
          <a:p>
            <a:r>
              <a:rPr lang="en-US" altLang="zh-CN" dirty="0">
                <a:ea typeface="SimSun" panose="02010600030101010101" pitchFamily="2" charset="-122"/>
              </a:rPr>
              <a:t>Hamiltonian Cycle (Traveling Salesman)</a:t>
            </a:r>
          </a:p>
          <a:p>
            <a:r>
              <a:rPr lang="en-US" altLang="zh-CN" dirty="0">
                <a:ea typeface="SimSun" panose="02010600030101010101" pitchFamily="2" charset="-122"/>
              </a:rPr>
              <a:t>Graph Coloring</a:t>
            </a:r>
          </a:p>
        </p:txBody>
      </p:sp>
    </p:spTree>
    <p:extLst>
      <p:ext uri="{BB962C8B-B14F-4D97-AF65-F5344CB8AC3E}">
        <p14:creationId xmlns:p14="http://schemas.microsoft.com/office/powerpoint/2010/main" val="2437270539"/>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0" y="0"/>
            <a:ext cx="12192000" cy="762000"/>
          </a:xfrm>
          <a:prstGeom prst="rect">
            <a:avLst/>
          </a:prstGeom>
          <a:solidFill>
            <a:srgbClr val="002F7C"/>
          </a:solidFill>
        </p:spPr>
        <p:style>
          <a:lnRef idx="2">
            <a:schemeClr val="dk1">
              <a:shade val="50000"/>
            </a:schemeClr>
          </a:lnRef>
          <a:fillRef idx="1">
            <a:schemeClr val="dk1"/>
          </a:fillRef>
          <a:effectRef idx="0">
            <a:schemeClr val="dk1"/>
          </a:effectRef>
          <a:fontRef idx="minor">
            <a:schemeClr val="lt1"/>
          </a:fontRef>
        </p:style>
        <p:txBody>
          <a:bodyPr rtlCol="0" anchor="ctr"/>
          <a:lstStyle/>
          <a:p>
            <a:r>
              <a:rPr lang="zh-CN" altLang="en-US" sz="2000" b="1" dirty="0">
                <a:latin typeface="Times New Roman" panose="02020603050405020304" pitchFamily="18" charset="0"/>
                <a:ea typeface="宋体" panose="02010600030101010101" pitchFamily="2" charset="-122"/>
                <a:cs typeface="Times New Roman" panose="02020603050405020304" pitchFamily="18" charset="0"/>
              </a:rPr>
              <a:t>                </a:t>
            </a:r>
            <a:r>
              <a:rPr lang="en-US" altLang="zh-CN" sz="2400" b="1" dirty="0">
                <a:latin typeface="Trebuchet MS" panose="020B0603020202020204" pitchFamily="34" charset="0"/>
              </a:rPr>
              <a:t>Chapter 8: </a:t>
            </a:r>
            <a:r>
              <a:rPr lang="en-US" altLang="zh-CN" sz="2400" dirty="0"/>
              <a:t>INTRACTABILITY</a:t>
            </a:r>
            <a:endParaRPr lang="zh-CN" altLang="en-US" sz="2400" b="1" dirty="0">
              <a:solidFill>
                <a:srgbClr val="3D557A"/>
              </a:solidFill>
              <a:latin typeface="Trebuchet MS" panose="020B0603020202020204" pitchFamily="34" charset="0"/>
            </a:endParaRPr>
          </a:p>
        </p:txBody>
      </p:sp>
      <p:sp>
        <p:nvSpPr>
          <p:cNvPr id="13" name="矩形 12"/>
          <p:cNvSpPr/>
          <p:nvPr/>
        </p:nvSpPr>
        <p:spPr>
          <a:xfrm>
            <a:off x="824682" y="0"/>
            <a:ext cx="175443" cy="628650"/>
          </a:xfrm>
          <a:prstGeom prst="rect">
            <a:avLst/>
          </a:prstGeom>
          <a:solidFill>
            <a:srgbClr val="CFA57C"/>
          </a:solidFill>
          <a:ln cmpd="sng">
            <a:gradFill flip="none" rotWithShape="1">
              <a:gsLst>
                <a:gs pos="50000">
                  <a:schemeClr val="accent2">
                    <a:lumMod val="60000"/>
                    <a:lumOff val="40000"/>
                  </a:schemeClr>
                </a:gs>
                <a:gs pos="0">
                  <a:schemeClr val="accent2">
                    <a:lumMod val="20000"/>
                    <a:lumOff val="80000"/>
                  </a:schemeClr>
                </a:gs>
                <a:gs pos="95000">
                  <a:schemeClr val="accent2"/>
                </a:gs>
              </a:gsLst>
              <a:path path="circle">
                <a:fillToRect l="50000" t="-80000" r="50000" b="180000"/>
              </a:path>
              <a:tileRect/>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22" name="Picture 6" descr="D:\MBA工作\LOGO\同济经管LOGO反白.png"/>
          <p:cNvPicPr>
            <a:picLocks noChangeAspect="1" noChangeArrowheads="1"/>
          </p:cNvPicPr>
          <p:nvPr/>
        </p:nvPicPr>
        <p:blipFill>
          <a:blip r:embed="rId3" cstate="email">
            <a:extLst>
              <a:ext uri="{28A0092B-C50C-407E-A947-70E740481C1C}">
                <a14:useLocalDpi xmlns:a14="http://schemas.microsoft.com/office/drawing/2010/main" val="0"/>
              </a:ext>
            </a:extLst>
          </a:blip>
          <a:srcRect/>
          <a:stretch>
            <a:fillRect/>
          </a:stretch>
        </p:blipFill>
        <p:spPr bwMode="auto">
          <a:xfrm>
            <a:off x="10267423" y="165688"/>
            <a:ext cx="1386605" cy="462962"/>
          </a:xfrm>
          <a:prstGeom prst="rect">
            <a:avLst/>
          </a:prstGeom>
          <a:noFill/>
          <a:extLst>
            <a:ext uri="{909E8E84-426E-40DD-AFC4-6F175D3DCCD1}">
              <a14:hiddenFill xmlns:a14="http://schemas.microsoft.com/office/drawing/2010/main">
                <a:solidFill>
                  <a:srgbClr val="FFFFFF"/>
                </a:solidFill>
              </a14:hiddenFill>
            </a:ext>
          </a:extLst>
        </p:spPr>
      </p:pic>
      <p:pic>
        <p:nvPicPr>
          <p:cNvPr id="2" name="图片 1" descr="微信图片_20220318113523"/>
          <p:cNvPicPr>
            <a:picLocks noChangeAspect="1"/>
          </p:cNvPicPr>
          <p:nvPr userDrawn="1"/>
        </p:nvPicPr>
        <p:blipFill>
          <a:blip r:embed="rId4"/>
          <a:stretch>
            <a:fillRect/>
          </a:stretch>
        </p:blipFill>
        <p:spPr>
          <a:xfrm>
            <a:off x="9291877" y="6115050"/>
            <a:ext cx="2244725" cy="361315"/>
          </a:xfrm>
          <a:prstGeom prst="rect">
            <a:avLst/>
          </a:prstGeom>
        </p:spPr>
      </p:pic>
      <p:sp>
        <p:nvSpPr>
          <p:cNvPr id="18" name="Rectangle 2">
            <a:extLst>
              <a:ext uri="{FF2B5EF4-FFF2-40B4-BE49-F238E27FC236}">
                <a16:creationId xmlns:a16="http://schemas.microsoft.com/office/drawing/2014/main" id="{E217C615-1D49-4D07-B850-D36106D7AA9A}"/>
              </a:ext>
            </a:extLst>
          </p:cNvPr>
          <p:cNvSpPr>
            <a:spLocks noChangeArrowheads="1"/>
          </p:cNvSpPr>
          <p:nvPr/>
        </p:nvSpPr>
        <p:spPr bwMode="auto">
          <a:xfrm>
            <a:off x="1000125" y="815365"/>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8" name="Rectangle 3">
            <a:extLst>
              <a:ext uri="{FF2B5EF4-FFF2-40B4-BE49-F238E27FC236}">
                <a16:creationId xmlns:a16="http://schemas.microsoft.com/office/drawing/2014/main" id="{97F08C45-3D15-45C1-A5A3-D1EB58DC91FE}"/>
              </a:ext>
            </a:extLst>
          </p:cNvPr>
          <p:cNvSpPr txBox="1">
            <a:spLocks noChangeArrowheads="1"/>
          </p:cNvSpPr>
          <p:nvPr/>
        </p:nvSpPr>
        <p:spPr>
          <a:xfrm>
            <a:off x="824681" y="765175"/>
            <a:ext cx="8798289" cy="5788025"/>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indent="1828800">
              <a:lnSpc>
                <a:spcPct val="130000"/>
              </a:lnSpc>
              <a:spcBef>
                <a:spcPts val="600"/>
              </a:spcBef>
              <a:buNone/>
            </a:pPr>
            <a:endParaRPr lang="en-US" altLang="zh-CN" sz="2400" b="1" dirty="0">
              <a:latin typeface="Trebuchet MS" panose="020B0603020202020204" pitchFamily="34" charset="0"/>
            </a:endParaRPr>
          </a:p>
        </p:txBody>
      </p:sp>
      <p:sp>
        <p:nvSpPr>
          <p:cNvPr id="4" name="文本框 3">
            <a:extLst>
              <a:ext uri="{FF2B5EF4-FFF2-40B4-BE49-F238E27FC236}">
                <a16:creationId xmlns:a16="http://schemas.microsoft.com/office/drawing/2014/main" id="{C13E5918-6FF8-23F1-6B00-5960D645CF79}"/>
              </a:ext>
            </a:extLst>
          </p:cNvPr>
          <p:cNvSpPr txBox="1"/>
          <p:nvPr/>
        </p:nvSpPr>
        <p:spPr>
          <a:xfrm>
            <a:off x="1266940" y="1153883"/>
            <a:ext cx="6103344" cy="369332"/>
          </a:xfrm>
          <a:prstGeom prst="rect">
            <a:avLst/>
          </a:prstGeom>
          <a:noFill/>
        </p:spPr>
        <p:txBody>
          <a:bodyPr wrap="square">
            <a:spAutoFit/>
          </a:bodyPr>
          <a:lstStyle/>
          <a:p>
            <a:r>
              <a:rPr lang="en-US" altLang="zh-CN" dirty="0"/>
              <a:t>Hamiltonian cycles</a:t>
            </a:r>
            <a:endParaRPr lang="zh-CN" altLang="en-US" dirty="0"/>
          </a:p>
        </p:txBody>
      </p:sp>
      <p:sp>
        <p:nvSpPr>
          <p:cNvPr id="5" name="Content Placeholder 2">
            <a:extLst>
              <a:ext uri="{FF2B5EF4-FFF2-40B4-BE49-F238E27FC236}">
                <a16:creationId xmlns:a16="http://schemas.microsoft.com/office/drawing/2014/main" id="{661B3ED5-C45C-A3E6-B9C5-60478DAE2377}"/>
              </a:ext>
            </a:extLst>
          </p:cNvPr>
          <p:cNvSpPr>
            <a:spLocks noGrp="1"/>
          </p:cNvSpPr>
          <p:nvPr>
            <p:ph idx="1"/>
          </p:nvPr>
        </p:nvSpPr>
        <p:spPr>
          <a:xfrm>
            <a:off x="457200" y="1600200"/>
            <a:ext cx="8229600" cy="4525963"/>
          </a:xfrm>
        </p:spPr>
        <p:txBody>
          <a:bodyPr/>
          <a:lstStyle/>
          <a:p>
            <a:r>
              <a:rPr lang="en-US" altLang="zh-CN" dirty="0"/>
              <a:t>Determining whether a directed graph has a Hamiltonian cycle does not have a polynomial time algorithm (yet!)</a:t>
            </a:r>
          </a:p>
          <a:p>
            <a:r>
              <a:rPr lang="en-US" altLang="zh-CN" dirty="0"/>
              <a:t>However if someone was to give you a sequence of vertices, determining whether or not that sequence forms a Hamiltonian cycle can be done in polynomial time</a:t>
            </a:r>
          </a:p>
          <a:p>
            <a:r>
              <a:rPr lang="en-US" altLang="zh-CN" dirty="0"/>
              <a:t>Therefore Hamiltonian cycles are in NP</a:t>
            </a:r>
            <a:endParaRPr lang="en-US" b="1" dirty="0"/>
          </a:p>
        </p:txBody>
      </p:sp>
      <p:sp>
        <p:nvSpPr>
          <p:cNvPr id="3" name="Rectangle 2">
            <a:extLst>
              <a:ext uri="{FF2B5EF4-FFF2-40B4-BE49-F238E27FC236}">
                <a16:creationId xmlns:a16="http://schemas.microsoft.com/office/drawing/2014/main" id="{69A9F99E-8014-49C9-8B96-64E8726D6D6C}"/>
              </a:ext>
            </a:extLst>
          </p:cNvPr>
          <p:cNvSpPr txBox="1">
            <a:spLocks noChangeArrowheads="1"/>
          </p:cNvSpPr>
          <p:nvPr/>
        </p:nvSpPr>
        <p:spPr>
          <a:xfrm>
            <a:off x="588484" y="5143161"/>
            <a:ext cx="6781800" cy="899474"/>
          </a:xfrm>
          <a:prstGeom prst="rect">
            <a:avLst/>
          </a:prstGeom>
          <a:solidFill>
            <a:schemeClr val="accent6">
              <a:lumMod val="20000"/>
              <a:lumOff val="80000"/>
            </a:schemeClr>
          </a:solidFill>
        </p:spPr>
        <p:txBody>
          <a:bodyPr vert="horz" lIns="91440" tIns="45720" rIns="91440" bIns="45720" rtlCol="0" anchor="ctr">
            <a:norm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ja-JP" altLang="en-US" dirty="0"/>
              <a:t>“</a:t>
            </a:r>
            <a:r>
              <a:rPr lang="en-US" altLang="ja-JP" dirty="0"/>
              <a:t>Hard</a:t>
            </a:r>
            <a:r>
              <a:rPr lang="ja-JP" altLang="en-US" dirty="0"/>
              <a:t>”</a:t>
            </a:r>
            <a:r>
              <a:rPr lang="en-US" altLang="ja-JP" dirty="0"/>
              <a:t> Problem?</a:t>
            </a:r>
            <a:endParaRPr lang="en-US" altLang="en-US" dirty="0"/>
          </a:p>
        </p:txBody>
      </p:sp>
    </p:spTree>
    <p:extLst>
      <p:ext uri="{BB962C8B-B14F-4D97-AF65-F5344CB8AC3E}">
        <p14:creationId xmlns:p14="http://schemas.microsoft.com/office/powerpoint/2010/main" val="2820116254"/>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0" y="0"/>
            <a:ext cx="12192000" cy="762000"/>
          </a:xfrm>
          <a:prstGeom prst="rect">
            <a:avLst/>
          </a:prstGeom>
          <a:solidFill>
            <a:srgbClr val="002F7C"/>
          </a:solidFill>
        </p:spPr>
        <p:style>
          <a:lnRef idx="2">
            <a:schemeClr val="dk1">
              <a:shade val="50000"/>
            </a:schemeClr>
          </a:lnRef>
          <a:fillRef idx="1">
            <a:schemeClr val="dk1"/>
          </a:fillRef>
          <a:effectRef idx="0">
            <a:schemeClr val="dk1"/>
          </a:effectRef>
          <a:fontRef idx="minor">
            <a:schemeClr val="lt1"/>
          </a:fontRef>
        </p:style>
        <p:txBody>
          <a:bodyPr rtlCol="0" anchor="ctr"/>
          <a:lstStyle/>
          <a:p>
            <a:r>
              <a:rPr lang="zh-CN" altLang="en-US" sz="2000" b="1" dirty="0">
                <a:latin typeface="Times New Roman" panose="02020603050405020304" pitchFamily="18" charset="0"/>
                <a:ea typeface="宋体" panose="02010600030101010101" pitchFamily="2" charset="-122"/>
                <a:cs typeface="Times New Roman" panose="02020603050405020304" pitchFamily="18" charset="0"/>
              </a:rPr>
              <a:t>                </a:t>
            </a:r>
            <a:r>
              <a:rPr lang="en-US" altLang="zh-CN" sz="2400" b="1" dirty="0">
                <a:latin typeface="Trebuchet MS" panose="020B0603020202020204" pitchFamily="34" charset="0"/>
              </a:rPr>
              <a:t>Chapter 8: </a:t>
            </a:r>
            <a:r>
              <a:rPr lang="en-US" altLang="zh-CN" sz="2400" dirty="0"/>
              <a:t>INTRACTABILITY</a:t>
            </a:r>
            <a:endParaRPr lang="zh-CN" altLang="en-US" sz="2400" b="1" dirty="0">
              <a:solidFill>
                <a:srgbClr val="3D557A"/>
              </a:solidFill>
              <a:latin typeface="Trebuchet MS" panose="020B0603020202020204" pitchFamily="34" charset="0"/>
            </a:endParaRPr>
          </a:p>
        </p:txBody>
      </p:sp>
      <p:sp>
        <p:nvSpPr>
          <p:cNvPr id="13" name="矩形 12"/>
          <p:cNvSpPr/>
          <p:nvPr/>
        </p:nvSpPr>
        <p:spPr>
          <a:xfrm>
            <a:off x="824682" y="0"/>
            <a:ext cx="175443" cy="628650"/>
          </a:xfrm>
          <a:prstGeom prst="rect">
            <a:avLst/>
          </a:prstGeom>
          <a:solidFill>
            <a:srgbClr val="CFA57C"/>
          </a:solidFill>
          <a:ln cmpd="sng">
            <a:gradFill flip="none" rotWithShape="1">
              <a:gsLst>
                <a:gs pos="50000">
                  <a:schemeClr val="accent2">
                    <a:lumMod val="60000"/>
                    <a:lumOff val="40000"/>
                  </a:schemeClr>
                </a:gs>
                <a:gs pos="0">
                  <a:schemeClr val="accent2">
                    <a:lumMod val="20000"/>
                    <a:lumOff val="80000"/>
                  </a:schemeClr>
                </a:gs>
                <a:gs pos="95000">
                  <a:schemeClr val="accent2"/>
                </a:gs>
              </a:gsLst>
              <a:path path="circle">
                <a:fillToRect l="50000" t="-80000" r="50000" b="180000"/>
              </a:path>
              <a:tileRect/>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22" name="Picture 6" descr="D:\MBA工作\LOGO\同济经管LOGO反白.png"/>
          <p:cNvPicPr>
            <a:picLocks noChangeAspect="1" noChangeArrowheads="1"/>
          </p:cNvPicPr>
          <p:nvPr/>
        </p:nvPicPr>
        <p:blipFill>
          <a:blip r:embed="rId3" cstate="email">
            <a:extLst>
              <a:ext uri="{28A0092B-C50C-407E-A947-70E740481C1C}">
                <a14:useLocalDpi xmlns:a14="http://schemas.microsoft.com/office/drawing/2010/main" val="0"/>
              </a:ext>
            </a:extLst>
          </a:blip>
          <a:srcRect/>
          <a:stretch>
            <a:fillRect/>
          </a:stretch>
        </p:blipFill>
        <p:spPr bwMode="auto">
          <a:xfrm>
            <a:off x="10267423" y="165688"/>
            <a:ext cx="1386605" cy="462962"/>
          </a:xfrm>
          <a:prstGeom prst="rect">
            <a:avLst/>
          </a:prstGeom>
          <a:noFill/>
          <a:extLst>
            <a:ext uri="{909E8E84-426E-40DD-AFC4-6F175D3DCCD1}">
              <a14:hiddenFill xmlns:a14="http://schemas.microsoft.com/office/drawing/2010/main">
                <a:solidFill>
                  <a:srgbClr val="FFFFFF"/>
                </a:solidFill>
              </a14:hiddenFill>
            </a:ext>
          </a:extLst>
        </p:spPr>
      </p:pic>
      <p:pic>
        <p:nvPicPr>
          <p:cNvPr id="2" name="图片 1" descr="微信图片_20220318113523"/>
          <p:cNvPicPr>
            <a:picLocks noChangeAspect="1"/>
          </p:cNvPicPr>
          <p:nvPr userDrawn="1"/>
        </p:nvPicPr>
        <p:blipFill>
          <a:blip r:embed="rId4"/>
          <a:stretch>
            <a:fillRect/>
          </a:stretch>
        </p:blipFill>
        <p:spPr>
          <a:xfrm>
            <a:off x="9291877" y="6115050"/>
            <a:ext cx="2244725" cy="361315"/>
          </a:xfrm>
          <a:prstGeom prst="rect">
            <a:avLst/>
          </a:prstGeom>
        </p:spPr>
      </p:pic>
      <p:sp>
        <p:nvSpPr>
          <p:cNvPr id="18" name="Rectangle 2">
            <a:extLst>
              <a:ext uri="{FF2B5EF4-FFF2-40B4-BE49-F238E27FC236}">
                <a16:creationId xmlns:a16="http://schemas.microsoft.com/office/drawing/2014/main" id="{E217C615-1D49-4D07-B850-D36106D7AA9A}"/>
              </a:ext>
            </a:extLst>
          </p:cNvPr>
          <p:cNvSpPr>
            <a:spLocks noChangeArrowheads="1"/>
          </p:cNvSpPr>
          <p:nvPr/>
        </p:nvSpPr>
        <p:spPr bwMode="auto">
          <a:xfrm>
            <a:off x="1000125" y="815365"/>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8" name="Rectangle 3">
            <a:extLst>
              <a:ext uri="{FF2B5EF4-FFF2-40B4-BE49-F238E27FC236}">
                <a16:creationId xmlns:a16="http://schemas.microsoft.com/office/drawing/2014/main" id="{97F08C45-3D15-45C1-A5A3-D1EB58DC91FE}"/>
              </a:ext>
            </a:extLst>
          </p:cNvPr>
          <p:cNvSpPr txBox="1">
            <a:spLocks noChangeArrowheads="1"/>
          </p:cNvSpPr>
          <p:nvPr/>
        </p:nvSpPr>
        <p:spPr>
          <a:xfrm>
            <a:off x="824681" y="765175"/>
            <a:ext cx="8798289" cy="5788025"/>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indent="1828800">
              <a:lnSpc>
                <a:spcPct val="130000"/>
              </a:lnSpc>
              <a:spcBef>
                <a:spcPts val="600"/>
              </a:spcBef>
              <a:buNone/>
            </a:pPr>
            <a:endParaRPr lang="en-US" altLang="zh-CN" sz="2400" b="1" dirty="0">
              <a:latin typeface="Trebuchet MS" panose="020B0603020202020204" pitchFamily="34" charset="0"/>
            </a:endParaRPr>
          </a:p>
        </p:txBody>
      </p:sp>
      <p:sp>
        <p:nvSpPr>
          <p:cNvPr id="4" name="文本框 3">
            <a:extLst>
              <a:ext uri="{FF2B5EF4-FFF2-40B4-BE49-F238E27FC236}">
                <a16:creationId xmlns:a16="http://schemas.microsoft.com/office/drawing/2014/main" id="{C13E5918-6FF8-23F1-6B00-5960D645CF79}"/>
              </a:ext>
            </a:extLst>
          </p:cNvPr>
          <p:cNvSpPr txBox="1"/>
          <p:nvPr/>
        </p:nvSpPr>
        <p:spPr>
          <a:xfrm>
            <a:off x="1266940" y="1153883"/>
            <a:ext cx="6103344" cy="369332"/>
          </a:xfrm>
          <a:prstGeom prst="rect">
            <a:avLst/>
          </a:prstGeom>
          <a:noFill/>
        </p:spPr>
        <p:txBody>
          <a:bodyPr wrap="square">
            <a:spAutoFit/>
          </a:bodyPr>
          <a:lstStyle/>
          <a:p>
            <a:r>
              <a:rPr lang="en-US" altLang="zh-CN" dirty="0"/>
              <a:t>NP problems</a:t>
            </a:r>
            <a:endParaRPr lang="zh-CN" altLang="en-US" dirty="0"/>
          </a:p>
        </p:txBody>
      </p:sp>
      <p:sp>
        <p:nvSpPr>
          <p:cNvPr id="5" name="Content Placeholder 2">
            <a:extLst>
              <a:ext uri="{FF2B5EF4-FFF2-40B4-BE49-F238E27FC236}">
                <a16:creationId xmlns:a16="http://schemas.microsoft.com/office/drawing/2014/main" id="{661B3ED5-C45C-A3E6-B9C5-60478DAE2377}"/>
              </a:ext>
            </a:extLst>
          </p:cNvPr>
          <p:cNvSpPr>
            <a:spLocks noGrp="1"/>
          </p:cNvSpPr>
          <p:nvPr>
            <p:ph idx="1"/>
          </p:nvPr>
        </p:nvSpPr>
        <p:spPr>
          <a:xfrm>
            <a:off x="457200" y="1600200"/>
            <a:ext cx="8229600" cy="4525963"/>
          </a:xfrm>
        </p:spPr>
        <p:txBody>
          <a:bodyPr/>
          <a:lstStyle/>
          <a:p>
            <a:r>
              <a:rPr lang="en-US" altLang="zh-CN" dirty="0"/>
              <a:t>Graph theory has these fascinating(annoying?) pairs of problems</a:t>
            </a:r>
          </a:p>
          <a:p>
            <a:pPr lvl="1"/>
            <a:r>
              <a:rPr lang="en-US" altLang="zh-CN" dirty="0"/>
              <a:t>Shortest path algorithms?</a:t>
            </a:r>
          </a:p>
          <a:p>
            <a:pPr lvl="1"/>
            <a:r>
              <a:rPr lang="en-US" altLang="zh-CN" dirty="0"/>
              <a:t>Longest path is NP complete (we’ll define NP complete later)</a:t>
            </a:r>
          </a:p>
          <a:p>
            <a:pPr lvl="1"/>
            <a:r>
              <a:rPr lang="en-US" altLang="zh-CN" dirty="0"/>
              <a:t>Eulerian tours (visit every vertex but cover every edge only once, even degree </a:t>
            </a:r>
            <a:r>
              <a:rPr lang="en-US" altLang="zh-CN" dirty="0" err="1"/>
              <a:t>etc</a:t>
            </a:r>
            <a:r>
              <a:rPr lang="en-US" altLang="zh-CN" dirty="0"/>
              <a:t>). Solvable in polynomial time!</a:t>
            </a:r>
          </a:p>
          <a:p>
            <a:pPr lvl="1"/>
            <a:r>
              <a:rPr lang="en-US" altLang="zh-CN" dirty="0"/>
              <a:t>Hamiltonian tours (visit every vertex, no vertices can be repeated). NP complete </a:t>
            </a:r>
          </a:p>
        </p:txBody>
      </p:sp>
    </p:spTree>
    <p:extLst>
      <p:ext uri="{BB962C8B-B14F-4D97-AF65-F5344CB8AC3E}">
        <p14:creationId xmlns:p14="http://schemas.microsoft.com/office/powerpoint/2010/main" val="559906543"/>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0" y="0"/>
            <a:ext cx="12192000" cy="762000"/>
          </a:xfrm>
          <a:prstGeom prst="rect">
            <a:avLst/>
          </a:prstGeom>
          <a:solidFill>
            <a:srgbClr val="002F7C"/>
          </a:solidFill>
        </p:spPr>
        <p:style>
          <a:lnRef idx="2">
            <a:schemeClr val="dk1">
              <a:shade val="50000"/>
            </a:schemeClr>
          </a:lnRef>
          <a:fillRef idx="1">
            <a:schemeClr val="dk1"/>
          </a:fillRef>
          <a:effectRef idx="0">
            <a:schemeClr val="dk1"/>
          </a:effectRef>
          <a:fontRef idx="minor">
            <a:schemeClr val="lt1"/>
          </a:fontRef>
        </p:style>
        <p:txBody>
          <a:bodyPr rtlCol="0" anchor="ctr"/>
          <a:lstStyle/>
          <a:p>
            <a:r>
              <a:rPr lang="zh-CN" altLang="en-US" sz="2000" b="1" dirty="0">
                <a:latin typeface="Times New Roman" panose="02020603050405020304" pitchFamily="18" charset="0"/>
                <a:ea typeface="宋体" panose="02010600030101010101" pitchFamily="2" charset="-122"/>
                <a:cs typeface="Times New Roman" panose="02020603050405020304" pitchFamily="18" charset="0"/>
              </a:rPr>
              <a:t>                </a:t>
            </a:r>
            <a:r>
              <a:rPr lang="en-US" altLang="zh-CN" sz="2400" b="1" dirty="0">
                <a:latin typeface="Trebuchet MS" panose="020B0603020202020204" pitchFamily="34" charset="0"/>
              </a:rPr>
              <a:t>Chapter 8: </a:t>
            </a:r>
            <a:r>
              <a:rPr lang="en-US" altLang="zh-CN" sz="2400" dirty="0"/>
              <a:t>INTRACTABILITY</a:t>
            </a:r>
            <a:endParaRPr lang="zh-CN" altLang="en-US" sz="2400" b="1" dirty="0">
              <a:solidFill>
                <a:srgbClr val="3D557A"/>
              </a:solidFill>
              <a:latin typeface="Trebuchet MS" panose="020B0603020202020204" pitchFamily="34" charset="0"/>
            </a:endParaRPr>
          </a:p>
        </p:txBody>
      </p:sp>
      <p:sp>
        <p:nvSpPr>
          <p:cNvPr id="13" name="矩形 12"/>
          <p:cNvSpPr/>
          <p:nvPr/>
        </p:nvSpPr>
        <p:spPr>
          <a:xfrm>
            <a:off x="824682" y="0"/>
            <a:ext cx="175443" cy="628650"/>
          </a:xfrm>
          <a:prstGeom prst="rect">
            <a:avLst/>
          </a:prstGeom>
          <a:solidFill>
            <a:srgbClr val="CFA57C"/>
          </a:solidFill>
          <a:ln cmpd="sng">
            <a:gradFill flip="none" rotWithShape="1">
              <a:gsLst>
                <a:gs pos="50000">
                  <a:schemeClr val="accent2">
                    <a:lumMod val="60000"/>
                    <a:lumOff val="40000"/>
                  </a:schemeClr>
                </a:gs>
                <a:gs pos="0">
                  <a:schemeClr val="accent2">
                    <a:lumMod val="20000"/>
                    <a:lumOff val="80000"/>
                  </a:schemeClr>
                </a:gs>
                <a:gs pos="95000">
                  <a:schemeClr val="accent2"/>
                </a:gs>
              </a:gsLst>
              <a:path path="circle">
                <a:fillToRect l="50000" t="-80000" r="50000" b="180000"/>
              </a:path>
              <a:tileRect/>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22" name="Picture 6" descr="D:\MBA工作\LOGO\同济经管LOGO反白.png"/>
          <p:cNvPicPr>
            <a:picLocks noChangeAspect="1" noChangeArrowheads="1"/>
          </p:cNvPicPr>
          <p:nvPr/>
        </p:nvPicPr>
        <p:blipFill>
          <a:blip r:embed="rId3" cstate="email">
            <a:extLst>
              <a:ext uri="{28A0092B-C50C-407E-A947-70E740481C1C}">
                <a14:useLocalDpi xmlns:a14="http://schemas.microsoft.com/office/drawing/2010/main" val="0"/>
              </a:ext>
            </a:extLst>
          </a:blip>
          <a:srcRect/>
          <a:stretch>
            <a:fillRect/>
          </a:stretch>
        </p:blipFill>
        <p:spPr bwMode="auto">
          <a:xfrm>
            <a:off x="10267423" y="165688"/>
            <a:ext cx="1386605" cy="462962"/>
          </a:xfrm>
          <a:prstGeom prst="rect">
            <a:avLst/>
          </a:prstGeom>
          <a:noFill/>
          <a:extLst>
            <a:ext uri="{909E8E84-426E-40DD-AFC4-6F175D3DCCD1}">
              <a14:hiddenFill xmlns:a14="http://schemas.microsoft.com/office/drawing/2010/main">
                <a:solidFill>
                  <a:srgbClr val="FFFFFF"/>
                </a:solidFill>
              </a14:hiddenFill>
            </a:ext>
          </a:extLst>
        </p:spPr>
      </p:pic>
      <p:pic>
        <p:nvPicPr>
          <p:cNvPr id="2" name="图片 1" descr="微信图片_20220318113523"/>
          <p:cNvPicPr>
            <a:picLocks noChangeAspect="1"/>
          </p:cNvPicPr>
          <p:nvPr userDrawn="1"/>
        </p:nvPicPr>
        <p:blipFill>
          <a:blip r:embed="rId4"/>
          <a:stretch>
            <a:fillRect/>
          </a:stretch>
        </p:blipFill>
        <p:spPr>
          <a:xfrm>
            <a:off x="9291877" y="6115050"/>
            <a:ext cx="2244725" cy="361315"/>
          </a:xfrm>
          <a:prstGeom prst="rect">
            <a:avLst/>
          </a:prstGeom>
        </p:spPr>
      </p:pic>
      <p:sp>
        <p:nvSpPr>
          <p:cNvPr id="18" name="Rectangle 2">
            <a:extLst>
              <a:ext uri="{FF2B5EF4-FFF2-40B4-BE49-F238E27FC236}">
                <a16:creationId xmlns:a16="http://schemas.microsoft.com/office/drawing/2014/main" id="{E217C615-1D49-4D07-B850-D36106D7AA9A}"/>
              </a:ext>
            </a:extLst>
          </p:cNvPr>
          <p:cNvSpPr>
            <a:spLocks noChangeArrowheads="1"/>
          </p:cNvSpPr>
          <p:nvPr/>
        </p:nvSpPr>
        <p:spPr bwMode="auto">
          <a:xfrm>
            <a:off x="1000125" y="815365"/>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8" name="Rectangle 3">
            <a:extLst>
              <a:ext uri="{FF2B5EF4-FFF2-40B4-BE49-F238E27FC236}">
                <a16:creationId xmlns:a16="http://schemas.microsoft.com/office/drawing/2014/main" id="{97F08C45-3D15-45C1-A5A3-D1EB58DC91FE}"/>
              </a:ext>
            </a:extLst>
          </p:cNvPr>
          <p:cNvSpPr txBox="1">
            <a:spLocks noChangeArrowheads="1"/>
          </p:cNvSpPr>
          <p:nvPr/>
        </p:nvSpPr>
        <p:spPr>
          <a:xfrm>
            <a:off x="824681" y="765175"/>
            <a:ext cx="8798289" cy="5788025"/>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indent="1828800">
              <a:lnSpc>
                <a:spcPct val="130000"/>
              </a:lnSpc>
              <a:spcBef>
                <a:spcPts val="600"/>
              </a:spcBef>
              <a:buNone/>
            </a:pPr>
            <a:endParaRPr lang="en-US" altLang="zh-CN" sz="2400" b="1" dirty="0">
              <a:latin typeface="Trebuchet MS" panose="020B0603020202020204" pitchFamily="34" charset="0"/>
            </a:endParaRPr>
          </a:p>
        </p:txBody>
      </p:sp>
      <p:sp>
        <p:nvSpPr>
          <p:cNvPr id="4" name="文本框 3">
            <a:extLst>
              <a:ext uri="{FF2B5EF4-FFF2-40B4-BE49-F238E27FC236}">
                <a16:creationId xmlns:a16="http://schemas.microsoft.com/office/drawing/2014/main" id="{C13E5918-6FF8-23F1-6B00-5960D645CF79}"/>
              </a:ext>
            </a:extLst>
          </p:cNvPr>
          <p:cNvSpPr txBox="1"/>
          <p:nvPr/>
        </p:nvSpPr>
        <p:spPr>
          <a:xfrm>
            <a:off x="1266940" y="1153883"/>
            <a:ext cx="6103344" cy="369332"/>
          </a:xfrm>
          <a:prstGeom prst="rect">
            <a:avLst/>
          </a:prstGeom>
          <a:noFill/>
        </p:spPr>
        <p:txBody>
          <a:bodyPr wrap="square">
            <a:spAutoFit/>
          </a:bodyPr>
          <a:lstStyle/>
          <a:p>
            <a:r>
              <a:rPr lang="en-US" altLang="zh-CN" dirty="0">
                <a:ea typeface="SimSun" panose="02010600030101010101" pitchFamily="2" charset="-122"/>
              </a:rPr>
              <a:t>Review: </a:t>
            </a:r>
            <a:r>
              <a:rPr lang="en-US" altLang="zh-CN" b="0" dirty="0">
                <a:ea typeface="SimSun" panose="02010600030101010101" pitchFamily="2" charset="-122"/>
              </a:rPr>
              <a:t>P</a:t>
            </a:r>
            <a:r>
              <a:rPr lang="en-US" altLang="zh-CN" dirty="0">
                <a:ea typeface="SimSun" panose="02010600030101010101" pitchFamily="2" charset="-122"/>
              </a:rPr>
              <a:t> And </a:t>
            </a:r>
            <a:r>
              <a:rPr lang="en-US" altLang="zh-CN" b="0" dirty="0">
                <a:ea typeface="SimSun" panose="02010600030101010101" pitchFamily="2" charset="-122"/>
              </a:rPr>
              <a:t>NP </a:t>
            </a:r>
            <a:r>
              <a:rPr lang="en-US" altLang="zh-CN" dirty="0">
                <a:ea typeface="SimSun" panose="02010600030101010101" pitchFamily="2" charset="-122"/>
              </a:rPr>
              <a:t>Summary</a:t>
            </a:r>
            <a:endParaRPr lang="zh-CN" altLang="en-US" dirty="0"/>
          </a:p>
        </p:txBody>
      </p:sp>
      <p:sp>
        <p:nvSpPr>
          <p:cNvPr id="5" name="Content Placeholder 2">
            <a:extLst>
              <a:ext uri="{FF2B5EF4-FFF2-40B4-BE49-F238E27FC236}">
                <a16:creationId xmlns:a16="http://schemas.microsoft.com/office/drawing/2014/main" id="{661B3ED5-C45C-A3E6-B9C5-60478DAE2377}"/>
              </a:ext>
            </a:extLst>
          </p:cNvPr>
          <p:cNvSpPr>
            <a:spLocks noGrp="1"/>
          </p:cNvSpPr>
          <p:nvPr>
            <p:ph idx="1"/>
          </p:nvPr>
        </p:nvSpPr>
        <p:spPr>
          <a:xfrm>
            <a:off x="457200" y="1600200"/>
            <a:ext cx="8229600" cy="4525963"/>
          </a:xfrm>
        </p:spPr>
        <p:txBody>
          <a:bodyPr>
            <a:normAutofit fontScale="92500" lnSpcReduction="10000"/>
          </a:bodyPr>
          <a:lstStyle/>
          <a:p>
            <a:pPr>
              <a:lnSpc>
                <a:spcPct val="90000"/>
              </a:lnSpc>
            </a:pPr>
            <a:r>
              <a:rPr lang="en-US" altLang="zh-CN" b="1" dirty="0">
                <a:ea typeface="SimSun" panose="02010600030101010101" pitchFamily="2" charset="-122"/>
              </a:rPr>
              <a:t>P</a:t>
            </a:r>
            <a:r>
              <a:rPr lang="en-US" altLang="zh-CN" dirty="0">
                <a:ea typeface="SimSun" panose="02010600030101010101" pitchFamily="2" charset="-122"/>
              </a:rPr>
              <a:t> = set of problems that can be solved in polynomial time</a:t>
            </a:r>
          </a:p>
          <a:p>
            <a:pPr marL="0" indent="0">
              <a:lnSpc>
                <a:spcPct val="90000"/>
              </a:lnSpc>
              <a:buNone/>
            </a:pPr>
            <a:endParaRPr lang="en-US" altLang="zh-CN" dirty="0">
              <a:ea typeface="SimSun" panose="02010600030101010101" pitchFamily="2" charset="-122"/>
            </a:endParaRPr>
          </a:p>
          <a:p>
            <a:pPr>
              <a:lnSpc>
                <a:spcPct val="90000"/>
              </a:lnSpc>
            </a:pPr>
            <a:r>
              <a:rPr lang="en-US" altLang="zh-CN" b="1" dirty="0">
                <a:ea typeface="SimSun" panose="02010600030101010101" pitchFamily="2" charset="-122"/>
              </a:rPr>
              <a:t>NP</a:t>
            </a:r>
            <a:r>
              <a:rPr lang="en-US" altLang="zh-CN" dirty="0">
                <a:ea typeface="SimSun" panose="02010600030101010101" pitchFamily="2" charset="-122"/>
              </a:rPr>
              <a:t> = set of problems for which a solution can be verified in polynomial time</a:t>
            </a:r>
          </a:p>
          <a:p>
            <a:pPr>
              <a:lnSpc>
                <a:spcPct val="90000"/>
              </a:lnSpc>
            </a:pPr>
            <a:endParaRPr lang="en-US" altLang="zh-CN" dirty="0">
              <a:ea typeface="SimSun" panose="02010600030101010101" pitchFamily="2" charset="-122"/>
            </a:endParaRPr>
          </a:p>
          <a:p>
            <a:pPr>
              <a:lnSpc>
                <a:spcPct val="90000"/>
              </a:lnSpc>
            </a:pPr>
            <a:r>
              <a:rPr lang="en-US" altLang="zh-CN" dirty="0">
                <a:ea typeface="SimSun" panose="02010600030101010101" pitchFamily="2" charset="-122"/>
              </a:rPr>
              <a:t>Clearly </a:t>
            </a:r>
            <a:r>
              <a:rPr lang="en-US" altLang="zh-CN" b="1" dirty="0">
                <a:ea typeface="SimSun" panose="02010600030101010101" pitchFamily="2" charset="-122"/>
              </a:rPr>
              <a:t>P</a:t>
            </a:r>
            <a:r>
              <a:rPr lang="en-US" altLang="zh-CN" dirty="0">
                <a:ea typeface="SimSun" panose="02010600030101010101" pitchFamily="2" charset="-122"/>
              </a:rPr>
              <a:t> </a:t>
            </a:r>
            <a:r>
              <a:rPr lang="en-US" altLang="zh-CN" dirty="0">
                <a:ea typeface="SimSun" panose="02010600030101010101" pitchFamily="2" charset="-122"/>
                <a:sym typeface="Symbol" panose="05050102010706020507" pitchFamily="18" charset="2"/>
              </a:rPr>
              <a:t></a:t>
            </a:r>
            <a:r>
              <a:rPr lang="en-US" altLang="zh-CN" dirty="0">
                <a:ea typeface="SimSun" panose="02010600030101010101" pitchFamily="2" charset="-122"/>
              </a:rPr>
              <a:t> </a:t>
            </a:r>
            <a:r>
              <a:rPr lang="en-US" altLang="zh-CN" b="1" dirty="0">
                <a:ea typeface="SimSun" panose="02010600030101010101" pitchFamily="2" charset="-122"/>
              </a:rPr>
              <a:t>NP</a:t>
            </a:r>
          </a:p>
          <a:p>
            <a:pPr>
              <a:lnSpc>
                <a:spcPct val="90000"/>
              </a:lnSpc>
            </a:pPr>
            <a:endParaRPr lang="en-US" altLang="zh-CN" b="1" dirty="0">
              <a:ea typeface="SimSun" panose="02010600030101010101" pitchFamily="2" charset="-122"/>
            </a:endParaRPr>
          </a:p>
          <a:p>
            <a:pPr>
              <a:lnSpc>
                <a:spcPct val="90000"/>
              </a:lnSpc>
            </a:pPr>
            <a:r>
              <a:rPr lang="en-US" altLang="zh-CN" dirty="0">
                <a:ea typeface="SimSun" panose="02010600030101010101" pitchFamily="2" charset="-122"/>
              </a:rPr>
              <a:t>Open question: Does</a:t>
            </a:r>
            <a:r>
              <a:rPr lang="en-US" altLang="zh-CN" b="1" dirty="0">
                <a:ea typeface="SimSun" panose="02010600030101010101" pitchFamily="2" charset="-122"/>
              </a:rPr>
              <a:t> P = NP</a:t>
            </a:r>
            <a:r>
              <a:rPr lang="en-US" altLang="zh-CN" dirty="0">
                <a:ea typeface="SimSun" panose="02010600030101010101" pitchFamily="2" charset="-122"/>
              </a:rPr>
              <a:t>?</a:t>
            </a:r>
          </a:p>
          <a:p>
            <a:pPr lvl="1">
              <a:lnSpc>
                <a:spcPct val="90000"/>
              </a:lnSpc>
            </a:pPr>
            <a:r>
              <a:rPr lang="en-US" altLang="zh-CN" dirty="0">
                <a:ea typeface="SimSun" panose="02010600030101010101" pitchFamily="2" charset="-122"/>
              </a:rPr>
              <a:t>Most suspect not</a:t>
            </a:r>
          </a:p>
          <a:p>
            <a:pPr lvl="1">
              <a:lnSpc>
                <a:spcPct val="90000"/>
              </a:lnSpc>
            </a:pPr>
            <a:r>
              <a:rPr lang="en-US" altLang="en-US" dirty="0">
                <a:ea typeface="ＭＳ Ｐゴシック" panose="020B0600070205080204" pitchFamily="34" charset="-128"/>
              </a:rPr>
              <a:t>An August 2010 claim of proof that P ≠ NP, by Vinay Deolalikar, researcher at HP Labs, Palo Alto, has flaws</a:t>
            </a:r>
            <a:endParaRPr lang="en-US" altLang="zh-CN" dirty="0">
              <a:ea typeface="SimSun" panose="02010600030101010101" pitchFamily="2" charset="-122"/>
            </a:endParaRPr>
          </a:p>
        </p:txBody>
      </p:sp>
    </p:spTree>
    <p:extLst>
      <p:ext uri="{BB962C8B-B14F-4D97-AF65-F5344CB8AC3E}">
        <p14:creationId xmlns:p14="http://schemas.microsoft.com/office/powerpoint/2010/main" val="3853175521"/>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0" y="0"/>
            <a:ext cx="12192000" cy="762000"/>
          </a:xfrm>
          <a:prstGeom prst="rect">
            <a:avLst/>
          </a:prstGeom>
          <a:solidFill>
            <a:srgbClr val="002F7C"/>
          </a:solidFill>
        </p:spPr>
        <p:style>
          <a:lnRef idx="2">
            <a:schemeClr val="dk1">
              <a:shade val="50000"/>
            </a:schemeClr>
          </a:lnRef>
          <a:fillRef idx="1">
            <a:schemeClr val="dk1"/>
          </a:fillRef>
          <a:effectRef idx="0">
            <a:schemeClr val="dk1"/>
          </a:effectRef>
          <a:fontRef idx="minor">
            <a:schemeClr val="lt1"/>
          </a:fontRef>
        </p:style>
        <p:txBody>
          <a:bodyPr rtlCol="0" anchor="ctr"/>
          <a:lstStyle/>
          <a:p>
            <a:r>
              <a:rPr lang="zh-CN" altLang="en-US" sz="2000" b="1" dirty="0">
                <a:latin typeface="Times New Roman" panose="02020603050405020304" pitchFamily="18" charset="0"/>
                <a:ea typeface="宋体" panose="02010600030101010101" pitchFamily="2" charset="-122"/>
                <a:cs typeface="Times New Roman" panose="02020603050405020304" pitchFamily="18" charset="0"/>
              </a:rPr>
              <a:t>                </a:t>
            </a:r>
            <a:r>
              <a:rPr lang="en-US" altLang="zh-CN" sz="2400" b="1" dirty="0">
                <a:latin typeface="Trebuchet MS" panose="020B0603020202020204" pitchFamily="34" charset="0"/>
              </a:rPr>
              <a:t>Chapter 8: </a:t>
            </a:r>
            <a:r>
              <a:rPr lang="en-US" altLang="zh-CN" sz="2400" dirty="0"/>
              <a:t>INTRACTABILITY</a:t>
            </a:r>
            <a:endParaRPr lang="zh-CN" altLang="en-US" sz="2400" b="1" dirty="0">
              <a:solidFill>
                <a:srgbClr val="3D557A"/>
              </a:solidFill>
              <a:latin typeface="Trebuchet MS" panose="020B0603020202020204" pitchFamily="34" charset="0"/>
            </a:endParaRPr>
          </a:p>
        </p:txBody>
      </p:sp>
      <p:sp>
        <p:nvSpPr>
          <p:cNvPr id="13" name="矩形 12"/>
          <p:cNvSpPr/>
          <p:nvPr/>
        </p:nvSpPr>
        <p:spPr>
          <a:xfrm>
            <a:off x="824682" y="0"/>
            <a:ext cx="175443" cy="628650"/>
          </a:xfrm>
          <a:prstGeom prst="rect">
            <a:avLst/>
          </a:prstGeom>
          <a:solidFill>
            <a:srgbClr val="CFA57C"/>
          </a:solidFill>
          <a:ln cmpd="sng">
            <a:gradFill flip="none" rotWithShape="1">
              <a:gsLst>
                <a:gs pos="50000">
                  <a:schemeClr val="accent2">
                    <a:lumMod val="60000"/>
                    <a:lumOff val="40000"/>
                  </a:schemeClr>
                </a:gs>
                <a:gs pos="0">
                  <a:schemeClr val="accent2">
                    <a:lumMod val="20000"/>
                    <a:lumOff val="80000"/>
                  </a:schemeClr>
                </a:gs>
                <a:gs pos="95000">
                  <a:schemeClr val="accent2"/>
                </a:gs>
              </a:gsLst>
              <a:path path="circle">
                <a:fillToRect l="50000" t="-80000" r="50000" b="180000"/>
              </a:path>
              <a:tileRect/>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22" name="Picture 6" descr="D:\MBA工作\LOGO\同济经管LOGO反白.png"/>
          <p:cNvPicPr>
            <a:picLocks noChangeAspect="1" noChangeArrowheads="1"/>
          </p:cNvPicPr>
          <p:nvPr/>
        </p:nvPicPr>
        <p:blipFill>
          <a:blip r:embed="rId3" cstate="email">
            <a:extLst>
              <a:ext uri="{28A0092B-C50C-407E-A947-70E740481C1C}">
                <a14:useLocalDpi xmlns:a14="http://schemas.microsoft.com/office/drawing/2010/main" val="0"/>
              </a:ext>
            </a:extLst>
          </a:blip>
          <a:srcRect/>
          <a:stretch>
            <a:fillRect/>
          </a:stretch>
        </p:blipFill>
        <p:spPr bwMode="auto">
          <a:xfrm>
            <a:off x="10267423" y="165688"/>
            <a:ext cx="1386605" cy="462962"/>
          </a:xfrm>
          <a:prstGeom prst="rect">
            <a:avLst/>
          </a:prstGeom>
          <a:noFill/>
          <a:extLst>
            <a:ext uri="{909E8E84-426E-40DD-AFC4-6F175D3DCCD1}">
              <a14:hiddenFill xmlns:a14="http://schemas.microsoft.com/office/drawing/2010/main">
                <a:solidFill>
                  <a:srgbClr val="FFFFFF"/>
                </a:solidFill>
              </a14:hiddenFill>
            </a:ext>
          </a:extLst>
        </p:spPr>
      </p:pic>
      <p:pic>
        <p:nvPicPr>
          <p:cNvPr id="2" name="图片 1" descr="微信图片_20220318113523"/>
          <p:cNvPicPr>
            <a:picLocks noChangeAspect="1"/>
          </p:cNvPicPr>
          <p:nvPr userDrawn="1"/>
        </p:nvPicPr>
        <p:blipFill>
          <a:blip r:embed="rId4"/>
          <a:stretch>
            <a:fillRect/>
          </a:stretch>
        </p:blipFill>
        <p:spPr>
          <a:xfrm>
            <a:off x="9291877" y="6115050"/>
            <a:ext cx="2244725" cy="361315"/>
          </a:xfrm>
          <a:prstGeom prst="rect">
            <a:avLst/>
          </a:prstGeom>
        </p:spPr>
      </p:pic>
      <p:sp>
        <p:nvSpPr>
          <p:cNvPr id="18" name="Rectangle 2">
            <a:extLst>
              <a:ext uri="{FF2B5EF4-FFF2-40B4-BE49-F238E27FC236}">
                <a16:creationId xmlns:a16="http://schemas.microsoft.com/office/drawing/2014/main" id="{E217C615-1D49-4D07-B850-D36106D7AA9A}"/>
              </a:ext>
            </a:extLst>
          </p:cNvPr>
          <p:cNvSpPr>
            <a:spLocks noChangeArrowheads="1"/>
          </p:cNvSpPr>
          <p:nvPr/>
        </p:nvSpPr>
        <p:spPr bwMode="auto">
          <a:xfrm>
            <a:off x="1000125" y="815365"/>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8" name="Rectangle 3">
            <a:extLst>
              <a:ext uri="{FF2B5EF4-FFF2-40B4-BE49-F238E27FC236}">
                <a16:creationId xmlns:a16="http://schemas.microsoft.com/office/drawing/2014/main" id="{97F08C45-3D15-45C1-A5A3-D1EB58DC91FE}"/>
              </a:ext>
            </a:extLst>
          </p:cNvPr>
          <p:cNvSpPr txBox="1">
            <a:spLocks noChangeArrowheads="1"/>
          </p:cNvSpPr>
          <p:nvPr/>
        </p:nvSpPr>
        <p:spPr>
          <a:xfrm>
            <a:off x="824681" y="765175"/>
            <a:ext cx="8798289" cy="5788025"/>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indent="1828800">
              <a:lnSpc>
                <a:spcPct val="130000"/>
              </a:lnSpc>
              <a:spcBef>
                <a:spcPts val="600"/>
              </a:spcBef>
              <a:buNone/>
            </a:pPr>
            <a:endParaRPr lang="en-US" altLang="zh-CN" sz="2400" b="1" dirty="0">
              <a:latin typeface="Trebuchet MS" panose="020B0603020202020204" pitchFamily="34" charset="0"/>
            </a:endParaRPr>
          </a:p>
        </p:txBody>
      </p:sp>
      <p:sp>
        <p:nvSpPr>
          <p:cNvPr id="4" name="文本框 3">
            <a:extLst>
              <a:ext uri="{FF2B5EF4-FFF2-40B4-BE49-F238E27FC236}">
                <a16:creationId xmlns:a16="http://schemas.microsoft.com/office/drawing/2014/main" id="{C13E5918-6FF8-23F1-6B00-5960D645CF79}"/>
              </a:ext>
            </a:extLst>
          </p:cNvPr>
          <p:cNvSpPr txBox="1"/>
          <p:nvPr/>
        </p:nvSpPr>
        <p:spPr>
          <a:xfrm>
            <a:off x="1266940" y="1153883"/>
            <a:ext cx="6103344" cy="369332"/>
          </a:xfrm>
          <a:prstGeom prst="rect">
            <a:avLst/>
          </a:prstGeom>
          <a:noFill/>
        </p:spPr>
        <p:txBody>
          <a:bodyPr wrap="square">
            <a:spAutoFit/>
          </a:bodyPr>
          <a:lstStyle/>
          <a:p>
            <a:r>
              <a:rPr lang="en-US" altLang="zh-CN" i="1" dirty="0">
                <a:ea typeface="SimSun" panose="02010600030101010101" pitchFamily="2" charset="-122"/>
              </a:rPr>
              <a:t>NP</a:t>
            </a:r>
            <a:r>
              <a:rPr lang="en-US" altLang="zh-CN" dirty="0">
                <a:ea typeface="SimSun" panose="02010600030101010101" pitchFamily="2" charset="-122"/>
              </a:rPr>
              <a:t>-complete problems</a:t>
            </a:r>
            <a:endParaRPr lang="zh-CN" altLang="en-US" dirty="0"/>
          </a:p>
        </p:txBody>
      </p:sp>
      <p:sp>
        <p:nvSpPr>
          <p:cNvPr id="5" name="Content Placeholder 2">
            <a:extLst>
              <a:ext uri="{FF2B5EF4-FFF2-40B4-BE49-F238E27FC236}">
                <a16:creationId xmlns:a16="http://schemas.microsoft.com/office/drawing/2014/main" id="{661B3ED5-C45C-A3E6-B9C5-60478DAE2377}"/>
              </a:ext>
            </a:extLst>
          </p:cNvPr>
          <p:cNvSpPr>
            <a:spLocks noGrp="1"/>
          </p:cNvSpPr>
          <p:nvPr>
            <p:ph idx="1"/>
          </p:nvPr>
        </p:nvSpPr>
        <p:spPr>
          <a:xfrm>
            <a:off x="457200" y="1600200"/>
            <a:ext cx="8229600" cy="4525963"/>
          </a:xfrm>
        </p:spPr>
        <p:txBody>
          <a:bodyPr/>
          <a:lstStyle/>
          <a:p>
            <a:pPr marL="457200" indent="-457200"/>
            <a:r>
              <a:rPr lang="en-US" altLang="zh-CN" dirty="0">
                <a:ea typeface="SimSun" panose="02010600030101010101" pitchFamily="2" charset="-122"/>
              </a:rPr>
              <a:t>A decision problem </a:t>
            </a:r>
            <a:r>
              <a:rPr lang="en-US" altLang="zh-CN" i="1" dirty="0">
                <a:ea typeface="SimSun" panose="02010600030101010101" pitchFamily="2" charset="-122"/>
              </a:rPr>
              <a:t>D</a:t>
            </a:r>
            <a:r>
              <a:rPr lang="en-US" altLang="zh-CN" dirty="0">
                <a:ea typeface="SimSun" panose="02010600030101010101" pitchFamily="2" charset="-122"/>
              </a:rPr>
              <a:t> is </a:t>
            </a:r>
            <a:r>
              <a:rPr lang="en-US" altLang="zh-CN" i="1" u="sng" dirty="0">
                <a:ea typeface="SimSun" panose="02010600030101010101" pitchFamily="2" charset="-122"/>
              </a:rPr>
              <a:t>NP</a:t>
            </a:r>
            <a:r>
              <a:rPr lang="en-US" altLang="zh-CN" u="sng" dirty="0">
                <a:ea typeface="SimSun" panose="02010600030101010101" pitchFamily="2" charset="-122"/>
              </a:rPr>
              <a:t>-complete</a:t>
            </a:r>
            <a:r>
              <a:rPr lang="en-US" altLang="zh-CN" dirty="0">
                <a:ea typeface="SimSun" panose="02010600030101010101" pitchFamily="2" charset="-122"/>
              </a:rPr>
              <a:t> </a:t>
            </a:r>
            <a:r>
              <a:rPr lang="en-US" altLang="zh-CN" dirty="0" err="1">
                <a:ea typeface="SimSun" panose="02010600030101010101" pitchFamily="2" charset="-122"/>
              </a:rPr>
              <a:t>iff</a:t>
            </a:r>
            <a:endParaRPr lang="en-US" altLang="zh-CN" dirty="0">
              <a:ea typeface="SimSun" panose="02010600030101010101" pitchFamily="2" charset="-122"/>
            </a:endParaRPr>
          </a:p>
          <a:p>
            <a:pPr marL="838200" lvl="1" indent="-381000">
              <a:buFont typeface="Monotype Sorts" charset="2"/>
              <a:buAutoNum type="arabicPeriod"/>
            </a:pPr>
            <a:r>
              <a:rPr lang="en-US" altLang="zh-CN" i="1" dirty="0">
                <a:ea typeface="SimSun" panose="02010600030101010101" pitchFamily="2" charset="-122"/>
              </a:rPr>
              <a:t>D </a:t>
            </a:r>
            <a:r>
              <a:rPr lang="en-US" altLang="zh-CN" dirty="0">
                <a:latin typeface="Arial Unicode MS" pitchFamily="34" charset="-128"/>
                <a:ea typeface="SimSun" panose="02010600030101010101" pitchFamily="2" charset="-122"/>
                <a:sym typeface="Symbol" panose="05050102010706020507" pitchFamily="18" charset="2"/>
              </a:rPr>
              <a:t></a:t>
            </a:r>
            <a:r>
              <a:rPr lang="en-US" altLang="zh-CN" dirty="0">
                <a:ea typeface="SimSun" panose="02010600030101010101" pitchFamily="2" charset="-122"/>
              </a:rPr>
              <a:t> </a:t>
            </a:r>
            <a:r>
              <a:rPr lang="en-US" altLang="zh-CN" i="1" dirty="0">
                <a:ea typeface="SimSun" panose="02010600030101010101" pitchFamily="2" charset="-122"/>
              </a:rPr>
              <a:t>NP</a:t>
            </a:r>
          </a:p>
          <a:p>
            <a:pPr marL="838200" lvl="1" indent="-381000">
              <a:buFont typeface="Monotype Sorts" charset="2"/>
              <a:buAutoNum type="arabicPeriod"/>
            </a:pPr>
            <a:r>
              <a:rPr lang="en-US" altLang="zh-CN" dirty="0">
                <a:ea typeface="SimSun" panose="02010600030101010101" pitchFamily="2" charset="-122"/>
              </a:rPr>
              <a:t>every problem in </a:t>
            </a:r>
            <a:r>
              <a:rPr lang="en-US" altLang="zh-CN" i="1" dirty="0">
                <a:ea typeface="SimSun" panose="02010600030101010101" pitchFamily="2" charset="-122"/>
              </a:rPr>
              <a:t>NP</a:t>
            </a:r>
            <a:r>
              <a:rPr lang="en-US" altLang="zh-CN" dirty="0">
                <a:ea typeface="SimSun" panose="02010600030101010101" pitchFamily="2" charset="-122"/>
              </a:rPr>
              <a:t> is polynomial-time reducible to </a:t>
            </a:r>
            <a:r>
              <a:rPr lang="en-US" altLang="zh-CN" i="1" dirty="0">
                <a:ea typeface="SimSun" panose="02010600030101010101" pitchFamily="2" charset="-122"/>
              </a:rPr>
              <a:t>D</a:t>
            </a:r>
            <a:endParaRPr lang="en-US" altLang="zh-CN" dirty="0">
              <a:ea typeface="SimSun" panose="02010600030101010101" pitchFamily="2" charset="-122"/>
            </a:endParaRPr>
          </a:p>
        </p:txBody>
      </p:sp>
    </p:spTree>
    <p:extLst>
      <p:ext uri="{BB962C8B-B14F-4D97-AF65-F5344CB8AC3E}">
        <p14:creationId xmlns:p14="http://schemas.microsoft.com/office/powerpoint/2010/main" val="1605199599"/>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0" y="0"/>
            <a:ext cx="12192000" cy="762000"/>
          </a:xfrm>
          <a:prstGeom prst="rect">
            <a:avLst/>
          </a:prstGeom>
          <a:solidFill>
            <a:srgbClr val="002F7C"/>
          </a:solidFill>
        </p:spPr>
        <p:style>
          <a:lnRef idx="2">
            <a:schemeClr val="dk1">
              <a:shade val="50000"/>
            </a:schemeClr>
          </a:lnRef>
          <a:fillRef idx="1">
            <a:schemeClr val="dk1"/>
          </a:fillRef>
          <a:effectRef idx="0">
            <a:schemeClr val="dk1"/>
          </a:effectRef>
          <a:fontRef idx="minor">
            <a:schemeClr val="lt1"/>
          </a:fontRef>
        </p:style>
        <p:txBody>
          <a:bodyPr rtlCol="0" anchor="ctr"/>
          <a:lstStyle/>
          <a:p>
            <a:r>
              <a:rPr lang="zh-CN" altLang="en-US" sz="2000" b="1" dirty="0">
                <a:latin typeface="Times New Roman" panose="02020603050405020304" pitchFamily="18" charset="0"/>
                <a:ea typeface="宋体" panose="02010600030101010101" pitchFamily="2" charset="-122"/>
                <a:cs typeface="Times New Roman" panose="02020603050405020304" pitchFamily="18" charset="0"/>
              </a:rPr>
              <a:t>                </a:t>
            </a:r>
            <a:r>
              <a:rPr lang="en-US" altLang="zh-CN" sz="2400" b="1" dirty="0">
                <a:latin typeface="Trebuchet MS" panose="020B0603020202020204" pitchFamily="34" charset="0"/>
              </a:rPr>
              <a:t>Chapter 8: </a:t>
            </a:r>
            <a:r>
              <a:rPr lang="en-US" altLang="zh-CN" sz="2400" dirty="0"/>
              <a:t>INTRACTABILITY</a:t>
            </a:r>
            <a:endParaRPr lang="zh-CN" altLang="en-US" sz="2400" b="1" dirty="0">
              <a:solidFill>
                <a:srgbClr val="3D557A"/>
              </a:solidFill>
              <a:latin typeface="Trebuchet MS" panose="020B0603020202020204" pitchFamily="34" charset="0"/>
            </a:endParaRPr>
          </a:p>
        </p:txBody>
      </p:sp>
      <p:sp>
        <p:nvSpPr>
          <p:cNvPr id="13" name="矩形 12"/>
          <p:cNvSpPr/>
          <p:nvPr/>
        </p:nvSpPr>
        <p:spPr>
          <a:xfrm>
            <a:off x="824682" y="0"/>
            <a:ext cx="175443" cy="628650"/>
          </a:xfrm>
          <a:prstGeom prst="rect">
            <a:avLst/>
          </a:prstGeom>
          <a:solidFill>
            <a:srgbClr val="CFA57C"/>
          </a:solidFill>
          <a:ln cmpd="sng">
            <a:gradFill flip="none" rotWithShape="1">
              <a:gsLst>
                <a:gs pos="50000">
                  <a:schemeClr val="accent2">
                    <a:lumMod val="60000"/>
                    <a:lumOff val="40000"/>
                  </a:schemeClr>
                </a:gs>
                <a:gs pos="0">
                  <a:schemeClr val="accent2">
                    <a:lumMod val="20000"/>
                    <a:lumOff val="80000"/>
                  </a:schemeClr>
                </a:gs>
                <a:gs pos="95000">
                  <a:schemeClr val="accent2"/>
                </a:gs>
              </a:gsLst>
              <a:path path="circle">
                <a:fillToRect l="50000" t="-80000" r="50000" b="180000"/>
              </a:path>
              <a:tileRect/>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22" name="Picture 6" descr="D:\MBA工作\LOGO\同济经管LOGO反白.png"/>
          <p:cNvPicPr>
            <a:picLocks noChangeAspect="1" noChangeArrowheads="1"/>
          </p:cNvPicPr>
          <p:nvPr/>
        </p:nvPicPr>
        <p:blipFill>
          <a:blip r:embed="rId3" cstate="email">
            <a:extLst>
              <a:ext uri="{28A0092B-C50C-407E-A947-70E740481C1C}">
                <a14:useLocalDpi xmlns:a14="http://schemas.microsoft.com/office/drawing/2010/main" val="0"/>
              </a:ext>
            </a:extLst>
          </a:blip>
          <a:srcRect/>
          <a:stretch>
            <a:fillRect/>
          </a:stretch>
        </p:blipFill>
        <p:spPr bwMode="auto">
          <a:xfrm>
            <a:off x="10267423" y="165688"/>
            <a:ext cx="1386605" cy="462962"/>
          </a:xfrm>
          <a:prstGeom prst="rect">
            <a:avLst/>
          </a:prstGeom>
          <a:noFill/>
          <a:extLst>
            <a:ext uri="{909E8E84-426E-40DD-AFC4-6F175D3DCCD1}">
              <a14:hiddenFill xmlns:a14="http://schemas.microsoft.com/office/drawing/2010/main">
                <a:solidFill>
                  <a:srgbClr val="FFFFFF"/>
                </a:solidFill>
              </a14:hiddenFill>
            </a:ext>
          </a:extLst>
        </p:spPr>
      </p:pic>
      <p:pic>
        <p:nvPicPr>
          <p:cNvPr id="2" name="图片 1" descr="微信图片_20220318113523"/>
          <p:cNvPicPr>
            <a:picLocks noChangeAspect="1"/>
          </p:cNvPicPr>
          <p:nvPr userDrawn="1"/>
        </p:nvPicPr>
        <p:blipFill>
          <a:blip r:embed="rId4"/>
          <a:stretch>
            <a:fillRect/>
          </a:stretch>
        </p:blipFill>
        <p:spPr>
          <a:xfrm>
            <a:off x="9291877" y="6115050"/>
            <a:ext cx="2244725" cy="361315"/>
          </a:xfrm>
          <a:prstGeom prst="rect">
            <a:avLst/>
          </a:prstGeom>
        </p:spPr>
      </p:pic>
      <p:sp>
        <p:nvSpPr>
          <p:cNvPr id="18" name="Rectangle 2">
            <a:extLst>
              <a:ext uri="{FF2B5EF4-FFF2-40B4-BE49-F238E27FC236}">
                <a16:creationId xmlns:a16="http://schemas.microsoft.com/office/drawing/2014/main" id="{E217C615-1D49-4D07-B850-D36106D7AA9A}"/>
              </a:ext>
            </a:extLst>
          </p:cNvPr>
          <p:cNvSpPr>
            <a:spLocks noChangeArrowheads="1"/>
          </p:cNvSpPr>
          <p:nvPr/>
        </p:nvSpPr>
        <p:spPr bwMode="auto">
          <a:xfrm>
            <a:off x="1000125" y="815365"/>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8" name="Rectangle 3">
            <a:extLst>
              <a:ext uri="{FF2B5EF4-FFF2-40B4-BE49-F238E27FC236}">
                <a16:creationId xmlns:a16="http://schemas.microsoft.com/office/drawing/2014/main" id="{97F08C45-3D15-45C1-A5A3-D1EB58DC91FE}"/>
              </a:ext>
            </a:extLst>
          </p:cNvPr>
          <p:cNvSpPr txBox="1">
            <a:spLocks noChangeArrowheads="1"/>
          </p:cNvSpPr>
          <p:nvPr/>
        </p:nvSpPr>
        <p:spPr>
          <a:xfrm>
            <a:off x="824681" y="765175"/>
            <a:ext cx="8798289" cy="5788025"/>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indent="1828800">
              <a:lnSpc>
                <a:spcPct val="130000"/>
              </a:lnSpc>
              <a:spcBef>
                <a:spcPts val="600"/>
              </a:spcBef>
              <a:buNone/>
            </a:pPr>
            <a:endParaRPr lang="en-US" altLang="zh-CN" sz="2400" b="1" dirty="0">
              <a:latin typeface="Trebuchet MS" panose="020B0603020202020204" pitchFamily="34" charset="0"/>
            </a:endParaRPr>
          </a:p>
        </p:txBody>
      </p:sp>
      <p:sp>
        <p:nvSpPr>
          <p:cNvPr id="4" name="文本框 3">
            <a:extLst>
              <a:ext uri="{FF2B5EF4-FFF2-40B4-BE49-F238E27FC236}">
                <a16:creationId xmlns:a16="http://schemas.microsoft.com/office/drawing/2014/main" id="{C13E5918-6FF8-23F1-6B00-5960D645CF79}"/>
              </a:ext>
            </a:extLst>
          </p:cNvPr>
          <p:cNvSpPr txBox="1"/>
          <p:nvPr/>
        </p:nvSpPr>
        <p:spPr>
          <a:xfrm>
            <a:off x="400165" y="865556"/>
            <a:ext cx="6103344" cy="369332"/>
          </a:xfrm>
          <a:prstGeom prst="rect">
            <a:avLst/>
          </a:prstGeom>
          <a:noFill/>
        </p:spPr>
        <p:txBody>
          <a:bodyPr wrap="square">
            <a:spAutoFit/>
          </a:bodyPr>
          <a:lstStyle/>
          <a:p>
            <a:r>
              <a:rPr lang="en-US" altLang="zh-CN" dirty="0">
                <a:ea typeface="SimSun" panose="02010600030101010101" pitchFamily="2" charset="-122"/>
              </a:rPr>
              <a:t>Reduction</a:t>
            </a:r>
            <a:endParaRPr lang="zh-CN" altLang="en-US" dirty="0"/>
          </a:p>
        </p:txBody>
      </p:sp>
      <p:sp>
        <p:nvSpPr>
          <p:cNvPr id="6" name="内容占位符 5">
            <a:extLst>
              <a:ext uri="{FF2B5EF4-FFF2-40B4-BE49-F238E27FC236}">
                <a16:creationId xmlns:a16="http://schemas.microsoft.com/office/drawing/2014/main" id="{3D0FAF3B-ED02-63B1-E380-89B3D1003639}"/>
              </a:ext>
            </a:extLst>
          </p:cNvPr>
          <p:cNvSpPr>
            <a:spLocks noGrp="1"/>
          </p:cNvSpPr>
          <p:nvPr>
            <p:ph idx="1"/>
          </p:nvPr>
        </p:nvSpPr>
        <p:spPr>
          <a:xfrm>
            <a:off x="190500" y="1576996"/>
            <a:ext cx="11463528" cy="4351338"/>
          </a:xfrm>
        </p:spPr>
        <p:txBody>
          <a:bodyPr/>
          <a:lstStyle/>
          <a:p>
            <a:r>
              <a:rPr lang="en-US" altLang="zh-CN" dirty="0">
                <a:ea typeface="SimSun" panose="02010600030101010101" pitchFamily="2" charset="-122"/>
              </a:rPr>
              <a:t>A problem R can be </a:t>
            </a:r>
            <a:r>
              <a:rPr lang="en-US" altLang="zh-CN" i="1" dirty="0">
                <a:solidFill>
                  <a:schemeClr val="tx2"/>
                </a:solidFill>
                <a:ea typeface="SimSun" panose="02010600030101010101" pitchFamily="2" charset="-122"/>
              </a:rPr>
              <a:t>reduced</a:t>
            </a:r>
            <a:r>
              <a:rPr lang="en-US" altLang="zh-CN" dirty="0">
                <a:ea typeface="SimSun" panose="02010600030101010101" pitchFamily="2" charset="-122"/>
              </a:rPr>
              <a:t> to another problem Q if any instance of R can be rephrased to an instance of Q, the solution to which provides a solution to the instance of R</a:t>
            </a:r>
          </a:p>
          <a:p>
            <a:pPr lvl="1"/>
            <a:r>
              <a:rPr lang="en-US" altLang="zh-CN" dirty="0">
                <a:ea typeface="SimSun" panose="02010600030101010101" pitchFamily="2" charset="-122"/>
              </a:rPr>
              <a:t>This rephrasing is called a </a:t>
            </a:r>
            <a:r>
              <a:rPr lang="en-US" altLang="zh-CN" i="1" dirty="0">
                <a:ea typeface="SimSun" panose="02010600030101010101" pitchFamily="2" charset="-122"/>
              </a:rPr>
              <a:t>transformation</a:t>
            </a:r>
            <a:endParaRPr lang="en-US" altLang="zh-CN" dirty="0">
              <a:ea typeface="SimSun" panose="02010600030101010101" pitchFamily="2" charset="-122"/>
            </a:endParaRPr>
          </a:p>
          <a:p>
            <a:r>
              <a:rPr lang="en-US" altLang="zh-CN" dirty="0">
                <a:ea typeface="SimSun" panose="02010600030101010101" pitchFamily="2" charset="-122"/>
              </a:rPr>
              <a:t>Intuitively: If R reduces in polynomial time to Q, R is “no harder to solve” than Q</a:t>
            </a:r>
          </a:p>
          <a:p>
            <a:r>
              <a:rPr lang="en-US" altLang="zh-CN" dirty="0">
                <a:ea typeface="SimSun" panose="02010600030101010101" pitchFamily="2" charset="-122"/>
              </a:rPr>
              <a:t>Example: lcm(m, n) = m * n / </a:t>
            </a:r>
            <a:r>
              <a:rPr lang="en-US" altLang="zh-CN" dirty="0" err="1">
                <a:ea typeface="SimSun" panose="02010600030101010101" pitchFamily="2" charset="-122"/>
              </a:rPr>
              <a:t>gcd</a:t>
            </a:r>
            <a:r>
              <a:rPr lang="en-US" altLang="zh-CN" dirty="0">
                <a:ea typeface="SimSun" panose="02010600030101010101" pitchFamily="2" charset="-122"/>
              </a:rPr>
              <a:t>(m, n), </a:t>
            </a:r>
          </a:p>
          <a:p>
            <a:pPr>
              <a:buFont typeface="Monotype Sorts" charset="2"/>
              <a:buNone/>
            </a:pPr>
            <a:r>
              <a:rPr lang="en-US" altLang="zh-CN" dirty="0">
                <a:ea typeface="SimSun" panose="02010600030101010101" pitchFamily="2" charset="-122"/>
              </a:rPr>
              <a:t>    lcm(</a:t>
            </a:r>
            <a:r>
              <a:rPr lang="en-US" altLang="zh-CN" dirty="0" err="1">
                <a:ea typeface="SimSun" panose="02010600030101010101" pitchFamily="2" charset="-122"/>
              </a:rPr>
              <a:t>m,n</a:t>
            </a:r>
            <a:r>
              <a:rPr lang="en-US" altLang="zh-CN" dirty="0">
                <a:ea typeface="SimSun" panose="02010600030101010101" pitchFamily="2" charset="-122"/>
              </a:rPr>
              <a:t>) problem is reduced to </a:t>
            </a:r>
            <a:r>
              <a:rPr lang="en-US" altLang="zh-CN" dirty="0" err="1">
                <a:ea typeface="SimSun" panose="02010600030101010101" pitchFamily="2" charset="-122"/>
              </a:rPr>
              <a:t>gcd</a:t>
            </a:r>
            <a:r>
              <a:rPr lang="en-US" altLang="zh-CN" dirty="0">
                <a:ea typeface="SimSun" panose="02010600030101010101" pitchFamily="2" charset="-122"/>
              </a:rPr>
              <a:t>(m, n) problem</a:t>
            </a:r>
          </a:p>
          <a:p>
            <a:endParaRPr lang="zh-CN" altLang="en-US" dirty="0"/>
          </a:p>
        </p:txBody>
      </p:sp>
    </p:spTree>
    <p:extLst>
      <p:ext uri="{BB962C8B-B14F-4D97-AF65-F5344CB8AC3E}">
        <p14:creationId xmlns:p14="http://schemas.microsoft.com/office/powerpoint/2010/main" val="265729323"/>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0" y="0"/>
            <a:ext cx="12192000" cy="762000"/>
          </a:xfrm>
          <a:prstGeom prst="rect">
            <a:avLst/>
          </a:prstGeom>
          <a:solidFill>
            <a:srgbClr val="002F7C"/>
          </a:solidFill>
        </p:spPr>
        <p:style>
          <a:lnRef idx="2">
            <a:schemeClr val="dk1">
              <a:shade val="50000"/>
            </a:schemeClr>
          </a:lnRef>
          <a:fillRef idx="1">
            <a:schemeClr val="dk1"/>
          </a:fillRef>
          <a:effectRef idx="0">
            <a:schemeClr val="dk1"/>
          </a:effectRef>
          <a:fontRef idx="minor">
            <a:schemeClr val="lt1"/>
          </a:fontRef>
        </p:style>
        <p:txBody>
          <a:bodyPr rtlCol="0" anchor="ctr"/>
          <a:lstStyle/>
          <a:p>
            <a:r>
              <a:rPr lang="zh-CN" altLang="en-US" sz="2000" b="1" dirty="0">
                <a:latin typeface="Times New Roman" panose="02020603050405020304" pitchFamily="18" charset="0"/>
                <a:ea typeface="宋体" panose="02010600030101010101" pitchFamily="2" charset="-122"/>
                <a:cs typeface="Times New Roman" panose="02020603050405020304" pitchFamily="18" charset="0"/>
              </a:rPr>
              <a:t>                </a:t>
            </a:r>
            <a:r>
              <a:rPr lang="en-US" altLang="zh-CN" sz="2400" b="1" dirty="0">
                <a:latin typeface="Trebuchet MS" panose="020B0603020202020204" pitchFamily="34" charset="0"/>
              </a:rPr>
              <a:t>Chapter 8: </a:t>
            </a:r>
            <a:r>
              <a:rPr lang="en-US" altLang="zh-CN" sz="2400" dirty="0"/>
              <a:t>INTRACTABILITY</a:t>
            </a:r>
            <a:endParaRPr lang="zh-CN" altLang="en-US" sz="2400" b="1" dirty="0">
              <a:solidFill>
                <a:srgbClr val="3D557A"/>
              </a:solidFill>
              <a:latin typeface="Trebuchet MS" panose="020B0603020202020204" pitchFamily="34" charset="0"/>
            </a:endParaRPr>
          </a:p>
        </p:txBody>
      </p:sp>
      <p:sp>
        <p:nvSpPr>
          <p:cNvPr id="13" name="矩形 12"/>
          <p:cNvSpPr/>
          <p:nvPr/>
        </p:nvSpPr>
        <p:spPr>
          <a:xfrm>
            <a:off x="824682" y="0"/>
            <a:ext cx="175443" cy="628650"/>
          </a:xfrm>
          <a:prstGeom prst="rect">
            <a:avLst/>
          </a:prstGeom>
          <a:solidFill>
            <a:srgbClr val="CFA57C"/>
          </a:solidFill>
          <a:ln cmpd="sng">
            <a:gradFill flip="none" rotWithShape="1">
              <a:gsLst>
                <a:gs pos="50000">
                  <a:schemeClr val="accent2">
                    <a:lumMod val="60000"/>
                    <a:lumOff val="40000"/>
                  </a:schemeClr>
                </a:gs>
                <a:gs pos="0">
                  <a:schemeClr val="accent2">
                    <a:lumMod val="20000"/>
                    <a:lumOff val="80000"/>
                  </a:schemeClr>
                </a:gs>
                <a:gs pos="95000">
                  <a:schemeClr val="accent2"/>
                </a:gs>
              </a:gsLst>
              <a:path path="circle">
                <a:fillToRect l="50000" t="-80000" r="50000" b="180000"/>
              </a:path>
              <a:tileRect/>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22" name="Picture 6" descr="D:\MBA工作\LOGO\同济经管LOGO反白.png"/>
          <p:cNvPicPr>
            <a:picLocks noChangeAspect="1" noChangeArrowheads="1"/>
          </p:cNvPicPr>
          <p:nvPr/>
        </p:nvPicPr>
        <p:blipFill>
          <a:blip r:embed="rId3" cstate="email">
            <a:extLst>
              <a:ext uri="{28A0092B-C50C-407E-A947-70E740481C1C}">
                <a14:useLocalDpi xmlns:a14="http://schemas.microsoft.com/office/drawing/2010/main" val="0"/>
              </a:ext>
            </a:extLst>
          </a:blip>
          <a:srcRect/>
          <a:stretch>
            <a:fillRect/>
          </a:stretch>
        </p:blipFill>
        <p:spPr bwMode="auto">
          <a:xfrm>
            <a:off x="10267423" y="165688"/>
            <a:ext cx="1386605" cy="462962"/>
          </a:xfrm>
          <a:prstGeom prst="rect">
            <a:avLst/>
          </a:prstGeom>
          <a:noFill/>
          <a:extLst>
            <a:ext uri="{909E8E84-426E-40DD-AFC4-6F175D3DCCD1}">
              <a14:hiddenFill xmlns:a14="http://schemas.microsoft.com/office/drawing/2010/main">
                <a:solidFill>
                  <a:srgbClr val="FFFFFF"/>
                </a:solidFill>
              </a14:hiddenFill>
            </a:ext>
          </a:extLst>
        </p:spPr>
      </p:pic>
      <p:pic>
        <p:nvPicPr>
          <p:cNvPr id="2" name="图片 1" descr="微信图片_20220318113523"/>
          <p:cNvPicPr>
            <a:picLocks noChangeAspect="1"/>
          </p:cNvPicPr>
          <p:nvPr userDrawn="1"/>
        </p:nvPicPr>
        <p:blipFill>
          <a:blip r:embed="rId4"/>
          <a:stretch>
            <a:fillRect/>
          </a:stretch>
        </p:blipFill>
        <p:spPr>
          <a:xfrm>
            <a:off x="9291877" y="6115050"/>
            <a:ext cx="2244725" cy="361315"/>
          </a:xfrm>
          <a:prstGeom prst="rect">
            <a:avLst/>
          </a:prstGeom>
        </p:spPr>
      </p:pic>
      <p:sp>
        <p:nvSpPr>
          <p:cNvPr id="18" name="Rectangle 2">
            <a:extLst>
              <a:ext uri="{FF2B5EF4-FFF2-40B4-BE49-F238E27FC236}">
                <a16:creationId xmlns:a16="http://schemas.microsoft.com/office/drawing/2014/main" id="{E217C615-1D49-4D07-B850-D36106D7AA9A}"/>
              </a:ext>
            </a:extLst>
          </p:cNvPr>
          <p:cNvSpPr>
            <a:spLocks noChangeArrowheads="1"/>
          </p:cNvSpPr>
          <p:nvPr/>
        </p:nvSpPr>
        <p:spPr bwMode="auto">
          <a:xfrm>
            <a:off x="1000125" y="815365"/>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8" name="Rectangle 3">
            <a:extLst>
              <a:ext uri="{FF2B5EF4-FFF2-40B4-BE49-F238E27FC236}">
                <a16:creationId xmlns:a16="http://schemas.microsoft.com/office/drawing/2014/main" id="{97F08C45-3D15-45C1-A5A3-D1EB58DC91FE}"/>
              </a:ext>
            </a:extLst>
          </p:cNvPr>
          <p:cNvSpPr txBox="1">
            <a:spLocks noChangeArrowheads="1"/>
          </p:cNvSpPr>
          <p:nvPr/>
        </p:nvSpPr>
        <p:spPr>
          <a:xfrm>
            <a:off x="824681" y="765175"/>
            <a:ext cx="8798289" cy="5788025"/>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indent="1828800">
              <a:lnSpc>
                <a:spcPct val="130000"/>
              </a:lnSpc>
              <a:spcBef>
                <a:spcPts val="600"/>
              </a:spcBef>
              <a:buNone/>
            </a:pPr>
            <a:endParaRPr lang="en-US" altLang="zh-CN" sz="2400" b="1" dirty="0">
              <a:latin typeface="Trebuchet MS" panose="020B0603020202020204" pitchFamily="34" charset="0"/>
            </a:endParaRPr>
          </a:p>
        </p:txBody>
      </p:sp>
      <p:sp>
        <p:nvSpPr>
          <p:cNvPr id="4" name="文本框 3">
            <a:extLst>
              <a:ext uri="{FF2B5EF4-FFF2-40B4-BE49-F238E27FC236}">
                <a16:creationId xmlns:a16="http://schemas.microsoft.com/office/drawing/2014/main" id="{C13E5918-6FF8-23F1-6B00-5960D645CF79}"/>
              </a:ext>
            </a:extLst>
          </p:cNvPr>
          <p:cNvSpPr txBox="1"/>
          <p:nvPr/>
        </p:nvSpPr>
        <p:spPr>
          <a:xfrm>
            <a:off x="1266940" y="1153883"/>
            <a:ext cx="6103344" cy="369332"/>
          </a:xfrm>
          <a:prstGeom prst="rect">
            <a:avLst/>
          </a:prstGeom>
          <a:noFill/>
        </p:spPr>
        <p:txBody>
          <a:bodyPr wrap="square">
            <a:spAutoFit/>
          </a:bodyPr>
          <a:lstStyle/>
          <a:p>
            <a:r>
              <a:rPr lang="en-US" altLang="en-US" dirty="0"/>
              <a:t>Polynomial-Time Reducibility</a:t>
            </a:r>
            <a:endParaRPr lang="zh-CN" altLang="en-US" dirty="0"/>
          </a:p>
        </p:txBody>
      </p:sp>
      <p:sp>
        <p:nvSpPr>
          <p:cNvPr id="5" name="Content Placeholder 2">
            <a:extLst>
              <a:ext uri="{FF2B5EF4-FFF2-40B4-BE49-F238E27FC236}">
                <a16:creationId xmlns:a16="http://schemas.microsoft.com/office/drawing/2014/main" id="{661B3ED5-C45C-A3E6-B9C5-60478DAE2377}"/>
              </a:ext>
            </a:extLst>
          </p:cNvPr>
          <p:cNvSpPr>
            <a:spLocks noGrp="1"/>
          </p:cNvSpPr>
          <p:nvPr>
            <p:ph idx="1"/>
          </p:nvPr>
        </p:nvSpPr>
        <p:spPr>
          <a:xfrm>
            <a:off x="457200" y="1600200"/>
            <a:ext cx="8229600" cy="4525963"/>
          </a:xfrm>
        </p:spPr>
        <p:txBody>
          <a:bodyPr/>
          <a:lstStyle/>
          <a:p>
            <a:r>
              <a:rPr lang="en-US" altLang="en-US" dirty="0"/>
              <a:t>Language L is polynomial-time reducible to language M if there is a function computable in polynomial time that takes an input x of L and transforms it to an input f(x) of M, such that x is a member of L if and only if f(x) is a member of M.</a:t>
            </a:r>
          </a:p>
        </p:txBody>
      </p:sp>
      <p:pic>
        <p:nvPicPr>
          <p:cNvPr id="6" name="图片 5">
            <a:extLst>
              <a:ext uri="{FF2B5EF4-FFF2-40B4-BE49-F238E27FC236}">
                <a16:creationId xmlns:a16="http://schemas.microsoft.com/office/drawing/2014/main" id="{184F46C6-7721-7C7D-A1DD-B28E2ABA5717}"/>
              </a:ext>
            </a:extLst>
          </p:cNvPr>
          <p:cNvPicPr>
            <a:picLocks noChangeAspect="1"/>
          </p:cNvPicPr>
          <p:nvPr/>
        </p:nvPicPr>
        <p:blipFill>
          <a:blip r:embed="rId5"/>
          <a:stretch>
            <a:fillRect/>
          </a:stretch>
        </p:blipFill>
        <p:spPr>
          <a:xfrm>
            <a:off x="4490852" y="1338549"/>
            <a:ext cx="7344800" cy="4401164"/>
          </a:xfrm>
          <a:prstGeom prst="rect">
            <a:avLst/>
          </a:prstGeom>
        </p:spPr>
      </p:pic>
    </p:spTree>
    <p:extLst>
      <p:ext uri="{BB962C8B-B14F-4D97-AF65-F5344CB8AC3E}">
        <p14:creationId xmlns:p14="http://schemas.microsoft.com/office/powerpoint/2010/main" val="3252632206"/>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0" y="0"/>
            <a:ext cx="12192000" cy="762000"/>
          </a:xfrm>
          <a:prstGeom prst="rect">
            <a:avLst/>
          </a:prstGeom>
          <a:solidFill>
            <a:srgbClr val="002F7C"/>
          </a:solidFill>
        </p:spPr>
        <p:style>
          <a:lnRef idx="2">
            <a:schemeClr val="dk1">
              <a:shade val="50000"/>
            </a:schemeClr>
          </a:lnRef>
          <a:fillRef idx="1">
            <a:schemeClr val="dk1"/>
          </a:fillRef>
          <a:effectRef idx="0">
            <a:schemeClr val="dk1"/>
          </a:effectRef>
          <a:fontRef idx="minor">
            <a:schemeClr val="lt1"/>
          </a:fontRef>
        </p:style>
        <p:txBody>
          <a:bodyPr rtlCol="0" anchor="ctr"/>
          <a:lstStyle/>
          <a:p>
            <a:r>
              <a:rPr lang="zh-CN" altLang="en-US" sz="2000" b="1" dirty="0">
                <a:latin typeface="Times New Roman" panose="02020603050405020304" pitchFamily="18" charset="0"/>
                <a:ea typeface="宋体" panose="02010600030101010101" pitchFamily="2" charset="-122"/>
                <a:cs typeface="Times New Roman" panose="02020603050405020304" pitchFamily="18" charset="0"/>
              </a:rPr>
              <a:t>                </a:t>
            </a:r>
            <a:r>
              <a:rPr lang="en-US" altLang="zh-CN" sz="2000" b="1" dirty="0">
                <a:latin typeface="Trebuchet MS" panose="020B0603020202020204" pitchFamily="34" charset="0"/>
              </a:rPr>
              <a:t>7.1.1 Definition and Properties of Undirected Trees</a:t>
            </a:r>
            <a:endParaRPr lang="en-US" altLang="zh-CN" sz="2000" b="1" dirty="0">
              <a:latin typeface="Times New Roman" panose="02020603050405020304" pitchFamily="18" charset="0"/>
              <a:ea typeface="宋体" panose="02010600030101010101" pitchFamily="2" charset="-122"/>
              <a:cs typeface="Times New Roman" panose="02020603050405020304" pitchFamily="18" charset="0"/>
            </a:endParaRPr>
          </a:p>
          <a:p>
            <a:r>
              <a:rPr lang="en-US" altLang="zh-CN" sz="2400" b="1" dirty="0">
                <a:latin typeface="Times New Roman" panose="02020603050405020304" pitchFamily="18" charset="0"/>
                <a:ea typeface="宋体" panose="02010600030101010101" pitchFamily="2" charset="-122"/>
                <a:cs typeface="Times New Roman" panose="02020603050405020304" pitchFamily="18" charset="0"/>
              </a:rPr>
              <a:t>                </a:t>
            </a:r>
            <a:r>
              <a:rPr lang="en-US" altLang="zh-CN" sz="2800" b="1" dirty="0">
                <a:solidFill>
                  <a:schemeClr val="accent2"/>
                </a:solidFill>
                <a:latin typeface="Cambria Math" panose="02040503050406030204" pitchFamily="18" charset="0"/>
                <a:ea typeface="Cambria Math" panose="02040503050406030204" pitchFamily="18" charset="0"/>
                <a:cs typeface="Times New Roman" panose="02020603050405020304" pitchFamily="18" charset="0"/>
              </a:rPr>
              <a:t>⤷</a:t>
            </a:r>
            <a:r>
              <a:rPr lang="zh-CN" altLang="en-US" sz="2400" b="1" dirty="0"/>
              <a:t> </a:t>
            </a:r>
            <a:r>
              <a:rPr lang="en-US" altLang="zh-CN" sz="2400" b="1" dirty="0">
                <a:latin typeface="Trebuchet MS" panose="020B0603020202020204" pitchFamily="34" charset="0"/>
              </a:rPr>
              <a:t>Undirected Trees, Trivial Trees, and Forests</a:t>
            </a:r>
            <a:endParaRPr lang="zh-CN" altLang="en-US" sz="2400" b="1" dirty="0">
              <a:solidFill>
                <a:srgbClr val="3D557A"/>
              </a:solidFill>
              <a:highlight>
                <a:srgbClr val="FF0000"/>
              </a:highlight>
              <a:latin typeface="Trebuchet MS" panose="020B0603020202020204" pitchFamily="34" charset="0"/>
            </a:endParaRPr>
          </a:p>
        </p:txBody>
      </p:sp>
      <p:sp>
        <p:nvSpPr>
          <p:cNvPr id="13" name="矩形 12"/>
          <p:cNvSpPr/>
          <p:nvPr/>
        </p:nvSpPr>
        <p:spPr>
          <a:xfrm>
            <a:off x="824682" y="0"/>
            <a:ext cx="175443" cy="628650"/>
          </a:xfrm>
          <a:prstGeom prst="rect">
            <a:avLst/>
          </a:prstGeom>
          <a:solidFill>
            <a:srgbClr val="CFA57C"/>
          </a:solidFill>
          <a:ln cmpd="sng">
            <a:gradFill flip="none" rotWithShape="1">
              <a:gsLst>
                <a:gs pos="50000">
                  <a:schemeClr val="accent2">
                    <a:lumMod val="60000"/>
                    <a:lumOff val="40000"/>
                  </a:schemeClr>
                </a:gs>
                <a:gs pos="0">
                  <a:schemeClr val="accent2">
                    <a:lumMod val="20000"/>
                    <a:lumOff val="80000"/>
                  </a:schemeClr>
                </a:gs>
                <a:gs pos="95000">
                  <a:schemeClr val="accent2"/>
                </a:gs>
              </a:gsLst>
              <a:path path="circle">
                <a:fillToRect l="50000" t="-80000" r="50000" b="180000"/>
              </a:path>
              <a:tileRect/>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22" name="Picture 6" descr="D:\MBA工作\LOGO\同济经管LOGO反白.png"/>
          <p:cNvPicPr>
            <a:picLocks noChangeAspect="1" noChangeArrowheads="1"/>
          </p:cNvPicPr>
          <p:nvPr/>
        </p:nvPicPr>
        <p:blipFill>
          <a:blip r:embed="rId3" cstate="email">
            <a:extLst>
              <a:ext uri="{28A0092B-C50C-407E-A947-70E740481C1C}">
                <a14:useLocalDpi xmlns:a14="http://schemas.microsoft.com/office/drawing/2010/main" val="0"/>
              </a:ext>
            </a:extLst>
          </a:blip>
          <a:srcRect/>
          <a:stretch>
            <a:fillRect/>
          </a:stretch>
        </p:blipFill>
        <p:spPr bwMode="auto">
          <a:xfrm>
            <a:off x="10267423" y="165688"/>
            <a:ext cx="1386605" cy="462962"/>
          </a:xfrm>
          <a:prstGeom prst="rect">
            <a:avLst/>
          </a:prstGeom>
          <a:noFill/>
          <a:extLst>
            <a:ext uri="{909E8E84-426E-40DD-AFC4-6F175D3DCCD1}">
              <a14:hiddenFill xmlns:a14="http://schemas.microsoft.com/office/drawing/2010/main">
                <a:solidFill>
                  <a:srgbClr val="FFFFFF"/>
                </a:solidFill>
              </a14:hiddenFill>
            </a:ext>
          </a:extLst>
        </p:spPr>
      </p:pic>
      <p:pic>
        <p:nvPicPr>
          <p:cNvPr id="2" name="图片 1" descr="微信图片_20220318113523"/>
          <p:cNvPicPr>
            <a:picLocks noChangeAspect="1"/>
          </p:cNvPicPr>
          <p:nvPr userDrawn="1"/>
        </p:nvPicPr>
        <p:blipFill>
          <a:blip r:embed="rId4"/>
          <a:stretch>
            <a:fillRect/>
          </a:stretch>
        </p:blipFill>
        <p:spPr>
          <a:xfrm>
            <a:off x="9291877" y="6115050"/>
            <a:ext cx="2244725" cy="361315"/>
          </a:xfrm>
          <a:prstGeom prst="rect">
            <a:avLst/>
          </a:prstGeom>
        </p:spPr>
      </p:pic>
      <p:sp>
        <p:nvSpPr>
          <p:cNvPr id="4" name="文本框 3">
            <a:extLst>
              <a:ext uri="{FF2B5EF4-FFF2-40B4-BE49-F238E27FC236}">
                <a16:creationId xmlns:a16="http://schemas.microsoft.com/office/drawing/2014/main" id="{AEBDB393-C0FF-3B92-62A9-CC9F2A5B40F8}"/>
              </a:ext>
            </a:extLst>
          </p:cNvPr>
          <p:cNvSpPr txBox="1"/>
          <p:nvPr/>
        </p:nvSpPr>
        <p:spPr>
          <a:xfrm>
            <a:off x="1107281" y="1191696"/>
            <a:ext cx="6100762" cy="369332"/>
          </a:xfrm>
          <a:prstGeom prst="rect">
            <a:avLst/>
          </a:prstGeom>
          <a:noFill/>
        </p:spPr>
        <p:txBody>
          <a:bodyPr wrap="square">
            <a:spAutoFit/>
          </a:bodyPr>
          <a:lstStyle/>
          <a:p>
            <a:r>
              <a:rPr lang="en-US" altLang="zh-CN" dirty="0">
                <a:ea typeface="SimSun" panose="02010600030101010101" pitchFamily="2" charset="-122"/>
              </a:rPr>
              <a:t>NP-Hard and NP-Complete</a:t>
            </a:r>
            <a:endParaRPr lang="zh-CN" altLang="en-US" dirty="0"/>
          </a:p>
        </p:txBody>
      </p:sp>
      <p:sp>
        <p:nvSpPr>
          <p:cNvPr id="6" name="文本框 5">
            <a:extLst>
              <a:ext uri="{FF2B5EF4-FFF2-40B4-BE49-F238E27FC236}">
                <a16:creationId xmlns:a16="http://schemas.microsoft.com/office/drawing/2014/main" id="{4E47B027-629C-3268-E26F-6FAAFAFBE2D2}"/>
              </a:ext>
            </a:extLst>
          </p:cNvPr>
          <p:cNvSpPr txBox="1"/>
          <p:nvPr/>
        </p:nvSpPr>
        <p:spPr>
          <a:xfrm>
            <a:off x="1000124" y="1561026"/>
            <a:ext cx="10925176" cy="2308324"/>
          </a:xfrm>
          <a:prstGeom prst="rect">
            <a:avLst/>
          </a:prstGeom>
          <a:noFill/>
        </p:spPr>
        <p:txBody>
          <a:bodyPr wrap="square">
            <a:spAutoFit/>
          </a:bodyPr>
          <a:lstStyle/>
          <a:p>
            <a:r>
              <a:rPr lang="en-US" altLang="zh-CN" dirty="0">
                <a:ea typeface="SimSun" panose="02010600030101010101" pitchFamily="2" charset="-122"/>
              </a:rPr>
              <a:t>If R is </a:t>
            </a:r>
            <a:r>
              <a:rPr lang="en-US" altLang="zh-CN" i="1" dirty="0">
                <a:solidFill>
                  <a:schemeClr val="tx2"/>
                </a:solidFill>
                <a:ea typeface="SimSun" panose="02010600030101010101" pitchFamily="2" charset="-122"/>
              </a:rPr>
              <a:t>polynomial-time reducible</a:t>
            </a:r>
            <a:r>
              <a:rPr lang="en-US" altLang="zh-CN" dirty="0">
                <a:ea typeface="SimSun" panose="02010600030101010101" pitchFamily="2" charset="-122"/>
              </a:rPr>
              <a:t> to Q, we denote this R </a:t>
            </a:r>
            <a:r>
              <a:rPr lang="en-US" altLang="zh-CN" dirty="0">
                <a:ea typeface="SimSun" panose="02010600030101010101" pitchFamily="2" charset="-122"/>
                <a:sym typeface="Symbol" panose="05050102010706020507" pitchFamily="18" charset="2"/>
              </a:rPr>
              <a:t></a:t>
            </a:r>
            <a:r>
              <a:rPr lang="en-US" altLang="zh-CN" baseline="-25000" dirty="0">
                <a:ea typeface="SimSun" panose="02010600030101010101" pitchFamily="2" charset="-122"/>
                <a:sym typeface="Symbol" panose="05050102010706020507" pitchFamily="18" charset="2"/>
              </a:rPr>
              <a:t>p </a:t>
            </a:r>
            <a:r>
              <a:rPr lang="en-US" altLang="zh-CN" dirty="0">
                <a:ea typeface="SimSun" panose="02010600030101010101" pitchFamily="2" charset="-122"/>
                <a:sym typeface="Symbol" panose="05050102010706020507" pitchFamily="18" charset="2"/>
              </a:rPr>
              <a:t>Q</a:t>
            </a:r>
          </a:p>
          <a:p>
            <a:r>
              <a:rPr lang="en-US" altLang="zh-CN" dirty="0">
                <a:ea typeface="SimSun" panose="02010600030101010101" pitchFamily="2" charset="-122"/>
              </a:rPr>
              <a:t>Definition of </a:t>
            </a:r>
            <a:r>
              <a:rPr lang="en-US" altLang="zh-CN" dirty="0">
                <a:solidFill>
                  <a:schemeClr val="tx2"/>
                </a:solidFill>
                <a:ea typeface="SimSun" panose="02010600030101010101" pitchFamily="2" charset="-122"/>
              </a:rPr>
              <a:t>NP-Hard</a:t>
            </a:r>
            <a:r>
              <a:rPr lang="en-US" altLang="zh-CN" dirty="0">
                <a:ea typeface="SimSun" panose="02010600030101010101" pitchFamily="2" charset="-122"/>
              </a:rPr>
              <a:t> and </a:t>
            </a:r>
            <a:r>
              <a:rPr lang="en-US" altLang="zh-CN" dirty="0">
                <a:solidFill>
                  <a:schemeClr val="tx2"/>
                </a:solidFill>
                <a:ea typeface="SimSun" panose="02010600030101010101" pitchFamily="2" charset="-122"/>
              </a:rPr>
              <a:t>NP-Complete</a:t>
            </a:r>
            <a:r>
              <a:rPr lang="en-US" altLang="zh-CN" dirty="0">
                <a:ea typeface="SimSun" panose="02010600030101010101" pitchFamily="2" charset="-122"/>
              </a:rPr>
              <a:t>: </a:t>
            </a:r>
          </a:p>
          <a:p>
            <a:pPr lvl="1"/>
            <a:r>
              <a:rPr lang="en-US" altLang="zh-CN" dirty="0">
                <a:ea typeface="SimSun" panose="02010600030101010101" pitchFamily="2" charset="-122"/>
              </a:rPr>
              <a:t>If all problems R </a:t>
            </a:r>
            <a:r>
              <a:rPr lang="en-US" altLang="zh-CN" dirty="0">
                <a:ea typeface="SimSun" panose="02010600030101010101" pitchFamily="2" charset="-122"/>
                <a:sym typeface="Symbol" panose="05050102010706020507" pitchFamily="18" charset="2"/>
              </a:rPr>
              <a:t> </a:t>
            </a:r>
            <a:r>
              <a:rPr lang="en-US" altLang="zh-CN" b="1" dirty="0">
                <a:ea typeface="SimSun" panose="02010600030101010101" pitchFamily="2" charset="-122"/>
                <a:sym typeface="Symbol" panose="05050102010706020507" pitchFamily="18" charset="2"/>
              </a:rPr>
              <a:t>NP </a:t>
            </a:r>
            <a:r>
              <a:rPr lang="en-US" altLang="zh-CN" dirty="0">
                <a:ea typeface="SimSun" panose="02010600030101010101" pitchFamily="2" charset="-122"/>
                <a:sym typeface="Symbol" panose="05050102010706020507" pitchFamily="18" charset="2"/>
              </a:rPr>
              <a:t>are </a:t>
            </a:r>
            <a:r>
              <a:rPr lang="en-US" altLang="zh-CN" i="1" dirty="0">
                <a:ea typeface="SimSun" panose="02010600030101010101" pitchFamily="2" charset="-122"/>
              </a:rPr>
              <a:t>polynomial-time</a:t>
            </a:r>
            <a:r>
              <a:rPr lang="en-US" altLang="zh-CN" dirty="0">
                <a:ea typeface="SimSun" panose="02010600030101010101" pitchFamily="2" charset="-122"/>
                <a:sym typeface="Symbol" panose="05050102010706020507" pitchFamily="18" charset="2"/>
              </a:rPr>
              <a:t> reducible to Q, then Q is </a:t>
            </a:r>
            <a:r>
              <a:rPr lang="en-US" altLang="zh-CN" i="1" dirty="0">
                <a:ea typeface="SimSun" panose="02010600030101010101" pitchFamily="2" charset="-122"/>
                <a:sym typeface="Symbol" panose="05050102010706020507" pitchFamily="18" charset="2"/>
              </a:rPr>
              <a:t>NP-Hard</a:t>
            </a:r>
          </a:p>
          <a:p>
            <a:pPr lvl="1"/>
            <a:r>
              <a:rPr lang="en-US" altLang="zh-CN" b="1" dirty="0">
                <a:ea typeface="SimSun" panose="02010600030101010101" pitchFamily="2" charset="-122"/>
                <a:sym typeface="Symbol" panose="05050102010706020507" pitchFamily="18" charset="2"/>
              </a:rPr>
              <a:t>Note:  An NP-Hard problem need not be NP</a:t>
            </a:r>
            <a:r>
              <a:rPr lang="en-US" altLang="zh-CN" b="1" i="1" dirty="0">
                <a:ea typeface="SimSun" panose="02010600030101010101" pitchFamily="2" charset="-122"/>
                <a:sym typeface="Symbol" panose="05050102010706020507" pitchFamily="18" charset="2"/>
              </a:rPr>
              <a:t>.</a:t>
            </a:r>
          </a:p>
          <a:p>
            <a:pPr lvl="1"/>
            <a:r>
              <a:rPr lang="en-US" altLang="zh-CN" dirty="0"/>
              <a:t>An </a:t>
            </a:r>
            <a:r>
              <a:rPr lang="en-US" altLang="zh-CN" dirty="0">
                <a:ea typeface="SimSun" panose="02010600030101010101" pitchFamily="2" charset="-122"/>
                <a:sym typeface="Symbol" panose="05050102010706020507" pitchFamily="18" charset="2"/>
              </a:rPr>
              <a:t>NP-Hard problem is </a:t>
            </a:r>
            <a:r>
              <a:rPr lang="en-US" altLang="zh-CN" dirty="0"/>
              <a:t>at least as hard as the NP-complete problems</a:t>
            </a:r>
            <a:endParaRPr lang="en-US" altLang="zh-CN" dirty="0">
              <a:ea typeface="SimSun" panose="02010600030101010101" pitchFamily="2" charset="-122"/>
              <a:sym typeface="Symbol" panose="05050102010706020507" pitchFamily="18" charset="2"/>
            </a:endParaRPr>
          </a:p>
          <a:p>
            <a:pPr lvl="1"/>
            <a:r>
              <a:rPr lang="en-US" altLang="zh-CN" dirty="0">
                <a:ea typeface="SimSun" panose="02010600030101010101" pitchFamily="2" charset="-122"/>
                <a:sym typeface="Symbol" panose="05050102010706020507" pitchFamily="18" charset="2"/>
              </a:rPr>
              <a:t>We say Q is </a:t>
            </a:r>
            <a:r>
              <a:rPr lang="en-US" altLang="zh-CN" i="1" dirty="0">
                <a:ea typeface="SimSun" panose="02010600030101010101" pitchFamily="2" charset="-122"/>
                <a:sym typeface="Symbol" panose="05050102010706020507" pitchFamily="18" charset="2"/>
              </a:rPr>
              <a:t>NP-Complete</a:t>
            </a:r>
            <a:r>
              <a:rPr lang="en-US" altLang="zh-CN" dirty="0">
                <a:ea typeface="SimSun" panose="02010600030101010101" pitchFamily="2" charset="-122"/>
                <a:sym typeface="Symbol" panose="05050102010706020507" pitchFamily="18" charset="2"/>
              </a:rPr>
              <a:t> if Q is NP-Hard </a:t>
            </a:r>
            <a:br>
              <a:rPr lang="en-US" altLang="zh-CN" dirty="0">
                <a:ea typeface="SimSun" panose="02010600030101010101" pitchFamily="2" charset="-122"/>
                <a:sym typeface="Symbol" panose="05050102010706020507" pitchFamily="18" charset="2"/>
              </a:rPr>
            </a:br>
            <a:r>
              <a:rPr lang="en-US" altLang="zh-CN" dirty="0">
                <a:solidFill>
                  <a:srgbClr val="FF0000"/>
                </a:solidFill>
                <a:ea typeface="SimSun" panose="02010600030101010101" pitchFamily="2" charset="-122"/>
                <a:sym typeface="Symbol" panose="05050102010706020507" pitchFamily="18" charset="2"/>
              </a:rPr>
              <a:t>and</a:t>
            </a:r>
            <a:r>
              <a:rPr lang="en-US" altLang="zh-CN" dirty="0">
                <a:ea typeface="SimSun" panose="02010600030101010101" pitchFamily="2" charset="-122"/>
                <a:sym typeface="Symbol" panose="05050102010706020507" pitchFamily="18" charset="2"/>
              </a:rPr>
              <a:t> Q  </a:t>
            </a:r>
            <a:r>
              <a:rPr lang="en-US" altLang="zh-CN" b="1" dirty="0">
                <a:ea typeface="SimSun" panose="02010600030101010101" pitchFamily="2" charset="-122"/>
                <a:sym typeface="Symbol" panose="05050102010706020507" pitchFamily="18" charset="2"/>
              </a:rPr>
              <a:t>NP</a:t>
            </a:r>
          </a:p>
          <a:p>
            <a:r>
              <a:rPr lang="en-US" altLang="zh-CN" dirty="0">
                <a:ea typeface="SimSun" panose="02010600030101010101" pitchFamily="2" charset="-122"/>
              </a:rPr>
              <a:t>If R </a:t>
            </a:r>
            <a:r>
              <a:rPr lang="en-US" altLang="zh-CN" dirty="0">
                <a:ea typeface="SimSun" panose="02010600030101010101" pitchFamily="2" charset="-122"/>
                <a:sym typeface="Symbol" panose="05050102010706020507" pitchFamily="18" charset="2"/>
              </a:rPr>
              <a:t></a:t>
            </a:r>
            <a:r>
              <a:rPr lang="en-US" altLang="zh-CN" baseline="-25000" dirty="0">
                <a:ea typeface="SimSun" panose="02010600030101010101" pitchFamily="2" charset="-122"/>
                <a:sym typeface="Symbol" panose="05050102010706020507" pitchFamily="18" charset="2"/>
              </a:rPr>
              <a:t>p</a:t>
            </a:r>
            <a:r>
              <a:rPr lang="en-US" altLang="zh-CN" dirty="0">
                <a:ea typeface="SimSun" panose="02010600030101010101" pitchFamily="2" charset="-122"/>
                <a:sym typeface="Symbol" panose="05050102010706020507" pitchFamily="18" charset="2"/>
              </a:rPr>
              <a:t> Q and </a:t>
            </a:r>
            <a:r>
              <a:rPr lang="en-US" altLang="zh-CN" dirty="0">
                <a:ea typeface="SimSun" panose="02010600030101010101" pitchFamily="2" charset="-122"/>
              </a:rPr>
              <a:t>R is NP-Hard, Q is also NP-Hard (</a:t>
            </a:r>
            <a:r>
              <a:rPr lang="en-US" altLang="zh-CN" dirty="0">
                <a:solidFill>
                  <a:srgbClr val="FF0000"/>
                </a:solidFill>
                <a:ea typeface="SimSun" panose="02010600030101010101" pitchFamily="2" charset="-122"/>
              </a:rPr>
              <a:t>why?</a:t>
            </a:r>
            <a:r>
              <a:rPr lang="en-US" altLang="zh-CN" dirty="0">
                <a:ea typeface="SimSun" panose="02010600030101010101" pitchFamily="2" charset="-122"/>
              </a:rPr>
              <a:t>)</a:t>
            </a:r>
          </a:p>
        </p:txBody>
      </p:sp>
    </p:spTree>
    <p:extLst>
      <p:ext uri="{BB962C8B-B14F-4D97-AF65-F5344CB8AC3E}">
        <p14:creationId xmlns:p14="http://schemas.microsoft.com/office/powerpoint/2010/main" val="1905531300"/>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D6AC42D7-7E96-4491-8B66-1B13D665B9F7}"/>
              </a:ext>
            </a:extLst>
          </p:cNvPr>
          <p:cNvPicPr>
            <a:picLocks noChangeAspect="1"/>
          </p:cNvPicPr>
          <p:nvPr/>
        </p:nvPicPr>
        <p:blipFill>
          <a:blip r:embed="rId2"/>
          <a:stretch>
            <a:fillRect/>
          </a:stretch>
        </p:blipFill>
        <p:spPr>
          <a:xfrm>
            <a:off x="1524000" y="505538"/>
            <a:ext cx="9144000" cy="5285662"/>
          </a:xfrm>
          <a:prstGeom prst="rect">
            <a:avLst/>
          </a:prstGeom>
        </p:spPr>
      </p:pic>
      <p:sp>
        <p:nvSpPr>
          <p:cNvPr id="8" name="Rectangle 7">
            <a:extLst>
              <a:ext uri="{FF2B5EF4-FFF2-40B4-BE49-F238E27FC236}">
                <a16:creationId xmlns:a16="http://schemas.microsoft.com/office/drawing/2014/main" id="{1BDFBFA8-8828-4BC7-AA0C-46AD5459DCAF}"/>
              </a:ext>
            </a:extLst>
          </p:cNvPr>
          <p:cNvSpPr/>
          <p:nvPr/>
        </p:nvSpPr>
        <p:spPr>
          <a:xfrm>
            <a:off x="1600200" y="6400800"/>
            <a:ext cx="8991600" cy="369332"/>
          </a:xfrm>
          <a:prstGeom prst="rect">
            <a:avLst/>
          </a:prstGeom>
        </p:spPr>
        <p:txBody>
          <a:bodyPr wrap="square">
            <a:spAutoFit/>
          </a:bodyPr>
          <a:lstStyle/>
          <a:p>
            <a:r>
              <a:rPr lang="en-US" dirty="0">
                <a:hlinkClick r:id="rId3"/>
              </a:rPr>
              <a:t>https://upload.wikimedia.org/wikipedia/commons/a/a0/P_np_np-complete_np-hard.svg</a:t>
            </a:r>
            <a:r>
              <a:rPr lang="en-US" dirty="0"/>
              <a:t> </a:t>
            </a:r>
          </a:p>
        </p:txBody>
      </p:sp>
    </p:spTree>
    <p:extLst>
      <p:ext uri="{BB962C8B-B14F-4D97-AF65-F5344CB8AC3E}">
        <p14:creationId xmlns:p14="http://schemas.microsoft.com/office/powerpoint/2010/main" val="783620486"/>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D6AC42D7-7E96-4491-8B66-1B13D665B9F7}"/>
              </a:ext>
            </a:extLst>
          </p:cNvPr>
          <p:cNvPicPr>
            <a:picLocks noChangeAspect="1"/>
          </p:cNvPicPr>
          <p:nvPr/>
        </p:nvPicPr>
        <p:blipFill>
          <a:blip r:embed="rId2"/>
          <a:stretch>
            <a:fillRect/>
          </a:stretch>
        </p:blipFill>
        <p:spPr>
          <a:xfrm>
            <a:off x="1524000" y="505538"/>
            <a:ext cx="9144000" cy="5285662"/>
          </a:xfrm>
          <a:prstGeom prst="rect">
            <a:avLst/>
          </a:prstGeom>
        </p:spPr>
      </p:pic>
      <p:sp>
        <p:nvSpPr>
          <p:cNvPr id="8" name="Rectangle 7">
            <a:extLst>
              <a:ext uri="{FF2B5EF4-FFF2-40B4-BE49-F238E27FC236}">
                <a16:creationId xmlns:a16="http://schemas.microsoft.com/office/drawing/2014/main" id="{1BDFBFA8-8828-4BC7-AA0C-46AD5459DCAF}"/>
              </a:ext>
            </a:extLst>
          </p:cNvPr>
          <p:cNvSpPr/>
          <p:nvPr/>
        </p:nvSpPr>
        <p:spPr>
          <a:xfrm>
            <a:off x="1600200" y="6400800"/>
            <a:ext cx="8991600" cy="369332"/>
          </a:xfrm>
          <a:prstGeom prst="rect">
            <a:avLst/>
          </a:prstGeom>
        </p:spPr>
        <p:txBody>
          <a:bodyPr wrap="square">
            <a:spAutoFit/>
          </a:bodyPr>
          <a:lstStyle/>
          <a:p>
            <a:r>
              <a:rPr lang="en-US" dirty="0">
                <a:hlinkClick r:id="rId3"/>
              </a:rPr>
              <a:t>https://upload.wikimedia.org/wikipedia/commons/a/a0/P_np_np-complete_np-hard.svg</a:t>
            </a:r>
            <a:r>
              <a:rPr lang="en-US" dirty="0"/>
              <a:t> </a:t>
            </a:r>
          </a:p>
        </p:txBody>
      </p:sp>
      <p:sp>
        <p:nvSpPr>
          <p:cNvPr id="2" name="Oval 1">
            <a:extLst>
              <a:ext uri="{FF2B5EF4-FFF2-40B4-BE49-F238E27FC236}">
                <a16:creationId xmlns:a16="http://schemas.microsoft.com/office/drawing/2014/main" id="{6B991AE7-B956-4195-84CD-E8010FF55F6F}"/>
              </a:ext>
            </a:extLst>
          </p:cNvPr>
          <p:cNvSpPr/>
          <p:nvPr/>
        </p:nvSpPr>
        <p:spPr>
          <a:xfrm>
            <a:off x="2209800" y="2118360"/>
            <a:ext cx="2819400" cy="2834640"/>
          </a:xfrm>
          <a:prstGeom prst="ellipse">
            <a:avLst/>
          </a:prstGeom>
          <a:solidFill>
            <a:schemeClr val="accent6">
              <a:lumMod val="75000"/>
              <a:alpha val="1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a:extLst>
              <a:ext uri="{FF2B5EF4-FFF2-40B4-BE49-F238E27FC236}">
                <a16:creationId xmlns:a16="http://schemas.microsoft.com/office/drawing/2014/main" id="{751C467E-2AA2-49B1-876B-35F668715FED}"/>
              </a:ext>
            </a:extLst>
          </p:cNvPr>
          <p:cNvSpPr txBox="1"/>
          <p:nvPr/>
        </p:nvSpPr>
        <p:spPr>
          <a:xfrm flipH="1">
            <a:off x="3352800" y="3276601"/>
            <a:ext cx="2209800" cy="646331"/>
          </a:xfrm>
          <a:prstGeom prst="rect">
            <a:avLst/>
          </a:prstGeom>
          <a:noFill/>
        </p:spPr>
        <p:txBody>
          <a:bodyPr wrap="square" rtlCol="0">
            <a:spAutoFit/>
          </a:bodyPr>
          <a:lstStyle/>
          <a:p>
            <a:r>
              <a:rPr lang="en-US" b="1" dirty="0">
                <a:solidFill>
                  <a:schemeClr val="accent6">
                    <a:lumMod val="50000"/>
                  </a:schemeClr>
                </a:solidFill>
              </a:rPr>
              <a:t>Verifiable in polynomial time</a:t>
            </a:r>
          </a:p>
        </p:txBody>
      </p:sp>
      <p:sp>
        <p:nvSpPr>
          <p:cNvPr id="6" name="TextBox 5">
            <a:extLst>
              <a:ext uri="{FF2B5EF4-FFF2-40B4-BE49-F238E27FC236}">
                <a16:creationId xmlns:a16="http://schemas.microsoft.com/office/drawing/2014/main" id="{CDE4FCF4-A93F-432B-B725-59C6E7C4D86B}"/>
              </a:ext>
            </a:extLst>
          </p:cNvPr>
          <p:cNvSpPr txBox="1"/>
          <p:nvPr/>
        </p:nvSpPr>
        <p:spPr>
          <a:xfrm flipH="1">
            <a:off x="4191000" y="1447801"/>
            <a:ext cx="2209800" cy="646331"/>
          </a:xfrm>
          <a:prstGeom prst="rect">
            <a:avLst/>
          </a:prstGeom>
          <a:noFill/>
        </p:spPr>
        <p:txBody>
          <a:bodyPr wrap="square" rtlCol="0">
            <a:spAutoFit/>
          </a:bodyPr>
          <a:lstStyle/>
          <a:p>
            <a:r>
              <a:rPr lang="en-US" b="1" dirty="0">
                <a:solidFill>
                  <a:srgbClr val="7030A0"/>
                </a:solidFill>
              </a:rPr>
              <a:t>Not verifiable in polynomial time</a:t>
            </a:r>
          </a:p>
        </p:txBody>
      </p:sp>
    </p:spTree>
    <p:extLst>
      <p:ext uri="{BB962C8B-B14F-4D97-AF65-F5344CB8AC3E}">
        <p14:creationId xmlns:p14="http://schemas.microsoft.com/office/powerpoint/2010/main" val="2993593990"/>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0" y="0"/>
            <a:ext cx="12192000" cy="762000"/>
          </a:xfrm>
          <a:prstGeom prst="rect">
            <a:avLst/>
          </a:prstGeom>
          <a:solidFill>
            <a:srgbClr val="002F7C"/>
          </a:solidFill>
        </p:spPr>
        <p:style>
          <a:lnRef idx="2">
            <a:schemeClr val="dk1">
              <a:shade val="50000"/>
            </a:schemeClr>
          </a:lnRef>
          <a:fillRef idx="1">
            <a:schemeClr val="dk1"/>
          </a:fillRef>
          <a:effectRef idx="0">
            <a:schemeClr val="dk1"/>
          </a:effectRef>
          <a:fontRef idx="minor">
            <a:schemeClr val="lt1"/>
          </a:fontRef>
        </p:style>
        <p:txBody>
          <a:bodyPr rtlCol="0" anchor="ctr"/>
          <a:lstStyle/>
          <a:p>
            <a:r>
              <a:rPr lang="en-US" altLang="zh-CN" sz="2000" b="1" dirty="0">
                <a:latin typeface="Trebuchet MS" panose="020B0603020202020204" pitchFamily="34" charset="0"/>
              </a:rPr>
              <a:t>             7.1.1 Definition and Properties of Undirected Trees</a:t>
            </a:r>
            <a:endParaRPr lang="en-US" altLang="zh-CN" sz="2000" b="1" dirty="0">
              <a:latin typeface="Times New Roman" panose="02020603050405020304" pitchFamily="18" charset="0"/>
              <a:cs typeface="Times New Roman" panose="02020603050405020304" pitchFamily="18" charset="0"/>
            </a:endParaRPr>
          </a:p>
          <a:p>
            <a:r>
              <a:rPr lang="en-US" altLang="zh-CN" sz="2000" b="1" dirty="0">
                <a:latin typeface="Times New Roman" panose="02020603050405020304" pitchFamily="18" charset="0"/>
                <a:cs typeface="Times New Roman" panose="02020603050405020304" pitchFamily="18" charset="0"/>
              </a:rPr>
              <a:t>                      </a:t>
            </a:r>
            <a:r>
              <a:rPr lang="en-US" altLang="zh-CN" sz="2400" dirty="0">
                <a:solidFill>
                  <a:schemeClr val="accent2"/>
                </a:solidFill>
                <a:latin typeface="Trebuchet MS" panose="020B0603020202020204" pitchFamily="34" charset="0"/>
                <a:ea typeface="Cambria Math" panose="02040503050406030204" pitchFamily="18" charset="0"/>
                <a:cs typeface="Times New Roman" panose="02020603050405020304" pitchFamily="18" charset="0"/>
              </a:rPr>
              <a:t>⤷</a:t>
            </a:r>
            <a:r>
              <a:rPr lang="zh-CN" altLang="en-US" sz="2400" dirty="0">
                <a:latin typeface="Trebuchet MS" panose="020B0603020202020204" pitchFamily="34" charset="0"/>
              </a:rPr>
              <a:t> </a:t>
            </a:r>
            <a:r>
              <a:rPr lang="en-US" altLang="zh-CN" sz="2400" b="1" dirty="0">
                <a:latin typeface="Trebuchet MS" panose="020B0603020202020204" pitchFamily="34" charset="0"/>
              </a:rPr>
              <a:t>Proof of Tree Equivalence Theorem</a:t>
            </a:r>
            <a:endParaRPr lang="zh-CN" altLang="en-US" sz="2400" b="1" dirty="0">
              <a:solidFill>
                <a:srgbClr val="3D557A"/>
              </a:solidFill>
              <a:highlight>
                <a:srgbClr val="FF0000"/>
              </a:highlight>
              <a:latin typeface="Trebuchet MS" panose="020B0603020202020204" pitchFamily="34" charset="0"/>
            </a:endParaRPr>
          </a:p>
        </p:txBody>
      </p:sp>
      <p:sp>
        <p:nvSpPr>
          <p:cNvPr id="13" name="矩形 12"/>
          <p:cNvSpPr/>
          <p:nvPr/>
        </p:nvSpPr>
        <p:spPr>
          <a:xfrm>
            <a:off x="824682" y="0"/>
            <a:ext cx="175443" cy="628650"/>
          </a:xfrm>
          <a:prstGeom prst="rect">
            <a:avLst/>
          </a:prstGeom>
          <a:solidFill>
            <a:srgbClr val="CFA57C"/>
          </a:solidFill>
          <a:ln cmpd="sng">
            <a:gradFill flip="none" rotWithShape="1">
              <a:gsLst>
                <a:gs pos="50000">
                  <a:schemeClr val="accent2">
                    <a:lumMod val="60000"/>
                    <a:lumOff val="40000"/>
                  </a:schemeClr>
                </a:gs>
                <a:gs pos="0">
                  <a:schemeClr val="accent2">
                    <a:lumMod val="20000"/>
                    <a:lumOff val="80000"/>
                  </a:schemeClr>
                </a:gs>
                <a:gs pos="95000">
                  <a:schemeClr val="accent2"/>
                </a:gs>
              </a:gsLst>
              <a:path path="circle">
                <a:fillToRect l="50000" t="-80000" r="50000" b="180000"/>
              </a:path>
              <a:tileRect/>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22" name="Picture 6" descr="D:\MBA工作\LOGO\同济经管LOGO反白.png"/>
          <p:cNvPicPr>
            <a:picLocks noChangeAspect="1" noChangeArrowheads="1"/>
          </p:cNvPicPr>
          <p:nvPr/>
        </p:nvPicPr>
        <p:blipFill>
          <a:blip r:embed="rId3" cstate="email">
            <a:extLst>
              <a:ext uri="{28A0092B-C50C-407E-A947-70E740481C1C}">
                <a14:useLocalDpi xmlns:a14="http://schemas.microsoft.com/office/drawing/2010/main" val="0"/>
              </a:ext>
            </a:extLst>
          </a:blip>
          <a:srcRect/>
          <a:stretch>
            <a:fillRect/>
          </a:stretch>
        </p:blipFill>
        <p:spPr bwMode="auto">
          <a:xfrm>
            <a:off x="10267423" y="165688"/>
            <a:ext cx="1386605" cy="462962"/>
          </a:xfrm>
          <a:prstGeom prst="rect">
            <a:avLst/>
          </a:prstGeom>
          <a:noFill/>
          <a:extLst>
            <a:ext uri="{909E8E84-426E-40DD-AFC4-6F175D3DCCD1}">
              <a14:hiddenFill xmlns:a14="http://schemas.microsoft.com/office/drawing/2010/main">
                <a:solidFill>
                  <a:srgbClr val="FFFFFF"/>
                </a:solidFill>
              </a14:hiddenFill>
            </a:ext>
          </a:extLst>
        </p:spPr>
      </p:pic>
      <p:pic>
        <p:nvPicPr>
          <p:cNvPr id="2" name="图片 1" descr="微信图片_20220318113523"/>
          <p:cNvPicPr>
            <a:picLocks noChangeAspect="1"/>
          </p:cNvPicPr>
          <p:nvPr userDrawn="1"/>
        </p:nvPicPr>
        <p:blipFill>
          <a:blip r:embed="rId4"/>
          <a:stretch>
            <a:fillRect/>
          </a:stretch>
        </p:blipFill>
        <p:spPr>
          <a:xfrm>
            <a:off x="9291877" y="6115050"/>
            <a:ext cx="2244725" cy="361315"/>
          </a:xfrm>
          <a:prstGeom prst="rect">
            <a:avLst/>
          </a:prstGeom>
        </p:spPr>
      </p:pic>
      <p:sp>
        <p:nvSpPr>
          <p:cNvPr id="18" name="Rectangle 2">
            <a:extLst>
              <a:ext uri="{FF2B5EF4-FFF2-40B4-BE49-F238E27FC236}">
                <a16:creationId xmlns:a16="http://schemas.microsoft.com/office/drawing/2014/main" id="{E217C615-1D49-4D07-B850-D36106D7AA9A}"/>
              </a:ext>
            </a:extLst>
          </p:cNvPr>
          <p:cNvSpPr>
            <a:spLocks noChangeArrowheads="1"/>
          </p:cNvSpPr>
          <p:nvPr/>
        </p:nvSpPr>
        <p:spPr bwMode="auto">
          <a:xfrm>
            <a:off x="1000125" y="815365"/>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8" name="Rectangle 3">
            <a:extLst>
              <a:ext uri="{FF2B5EF4-FFF2-40B4-BE49-F238E27FC236}">
                <a16:creationId xmlns:a16="http://schemas.microsoft.com/office/drawing/2014/main" id="{97F08C45-3D15-45C1-A5A3-D1EB58DC91FE}"/>
              </a:ext>
            </a:extLst>
          </p:cNvPr>
          <p:cNvSpPr txBox="1">
            <a:spLocks noChangeArrowheads="1"/>
          </p:cNvSpPr>
          <p:nvPr/>
        </p:nvSpPr>
        <p:spPr>
          <a:xfrm>
            <a:off x="1000125" y="914401"/>
            <a:ext cx="10114260" cy="4707684"/>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20000"/>
              </a:lnSpc>
              <a:spcBef>
                <a:spcPts val="0"/>
              </a:spcBef>
              <a:buClr>
                <a:srgbClr val="0B61FF"/>
              </a:buClr>
              <a:buSzPct val="80000"/>
              <a:buFont typeface="Wingdings" panose="05000000000000000000" pitchFamily="2" charset="2"/>
              <a:buChar char="n"/>
            </a:pPr>
            <a:r>
              <a:rPr lang="en-US" altLang="zh-CN" sz="2400" b="1" dirty="0">
                <a:latin typeface="Trebuchet MS" panose="020B0603020202020204" pitchFamily="34" charset="0"/>
              </a:rPr>
              <a:t>Proof: </a:t>
            </a:r>
            <a:r>
              <a:rPr lang="en-US" altLang="zh-CN" sz="2400" b="1" dirty="0">
                <a:solidFill>
                  <a:srgbClr val="0B61FF"/>
                </a:solidFill>
                <a:latin typeface="Trebuchet MS" panose="020B0603020202020204" pitchFamily="34" charset="0"/>
                <a:sym typeface="Symbol" panose="05050102010706020507" pitchFamily="18" charset="2"/>
              </a:rPr>
              <a:t>(2)</a:t>
            </a:r>
            <a:r>
              <a:rPr lang="en-US" altLang="zh-CN" sz="2400" b="1" dirty="0">
                <a:latin typeface="Trebuchet MS" panose="020B0603020202020204" pitchFamily="34" charset="0"/>
                <a:sym typeface="Symbol" panose="05050102010706020507" pitchFamily="18" charset="2"/>
              </a:rPr>
              <a:t></a:t>
            </a:r>
            <a:r>
              <a:rPr lang="en-US" altLang="zh-CN" sz="2400" b="1" dirty="0">
                <a:solidFill>
                  <a:srgbClr val="0B61FF"/>
                </a:solidFill>
                <a:latin typeface="Trebuchet MS" panose="020B0603020202020204" pitchFamily="34" charset="0"/>
                <a:sym typeface="Symbol" panose="05050102010706020507" pitchFamily="18" charset="2"/>
              </a:rPr>
              <a:t>(3)</a:t>
            </a:r>
            <a:r>
              <a:rPr lang="en-US" altLang="zh-CN" sz="2400" b="1" dirty="0">
                <a:latin typeface="Trebuchet MS" panose="020B0603020202020204" pitchFamily="34" charset="0"/>
                <a:sym typeface="Symbol" panose="05050102010706020507" pitchFamily="18" charset="2"/>
              </a:rPr>
              <a:t> </a:t>
            </a:r>
          </a:p>
          <a:p>
            <a:pPr marL="536575" indent="-360363">
              <a:lnSpc>
                <a:spcPct val="120000"/>
              </a:lnSpc>
              <a:spcBef>
                <a:spcPts val="0"/>
              </a:spcBef>
              <a:buClr>
                <a:srgbClr val="0B61FF"/>
              </a:buClr>
              <a:buSzPct val="80000"/>
              <a:buNone/>
            </a:pPr>
            <a:r>
              <a:rPr lang="en-US" altLang="zh-CN" sz="2400" b="1" dirty="0">
                <a:solidFill>
                  <a:srgbClr val="0B61FF"/>
                </a:solidFill>
                <a:latin typeface="Trebuchet MS" panose="020B0603020202020204" pitchFamily="34" charset="0"/>
                <a:sym typeface="Symbol" panose="05050102010706020507" pitchFamily="18" charset="2"/>
              </a:rPr>
              <a:t>③</a:t>
            </a:r>
            <a:r>
              <a:rPr lang="en-US" altLang="zh-CN" sz="2400" b="1" dirty="0">
                <a:latin typeface="Trebuchet MS" panose="020B0603020202020204" pitchFamily="34" charset="0"/>
                <a:sym typeface="Symbol" panose="05050102010706020507" pitchFamily="18" charset="2"/>
              </a:rPr>
              <a:t> </a:t>
            </a:r>
            <a:r>
              <a:rPr lang="en-US" altLang="zh-CN" sz="2400" b="1" dirty="0">
                <a:latin typeface="Trebuchet MS" panose="020B0603020202020204" pitchFamily="34" charset="0"/>
              </a:rPr>
              <a:t>Inductive step:</a:t>
            </a:r>
            <a:r>
              <a:rPr lang="en-US" altLang="zh-CN" sz="2400" dirty="0">
                <a:latin typeface="Trebuchet MS" panose="020B0603020202020204" pitchFamily="34" charset="0"/>
              </a:rPr>
              <a:t> Assume the conclusion holds for all graphs with up to </a:t>
            </a:r>
            <a:r>
              <a:rPr lang="en-US" altLang="zh-CN" sz="2400" b="1" i="1" dirty="0" err="1">
                <a:latin typeface="Trebuchet MS" panose="020B0603020202020204" pitchFamily="34" charset="0"/>
                <a:cs typeface="Times New Roman" panose="02020603050405020304" pitchFamily="18" charset="0"/>
              </a:rPr>
              <a:t>n</a:t>
            </a:r>
            <a:r>
              <a:rPr lang="en-US" altLang="zh-CN" sz="2400" b="1" dirty="0" err="1">
                <a:latin typeface="Trebuchet MS" panose="020B0603020202020204" pitchFamily="34" charset="0"/>
                <a:cs typeface="Times New Roman" panose="02020603050405020304" pitchFamily="18" charset="0"/>
                <a:sym typeface="Symbol" panose="05050102010706020507" pitchFamily="18" charset="2"/>
              </a:rPr>
              <a:t></a:t>
            </a:r>
            <a:r>
              <a:rPr lang="en-US" altLang="zh-CN" sz="2400" b="1" i="1" dirty="0" err="1">
                <a:latin typeface="Trebuchet MS" panose="020B0603020202020204" pitchFamily="34" charset="0"/>
                <a:cs typeface="Times New Roman" panose="02020603050405020304" pitchFamily="18" charset="0"/>
                <a:sym typeface="Symbol" panose="05050102010706020507" pitchFamily="18" charset="2"/>
              </a:rPr>
              <a:t>k</a:t>
            </a:r>
            <a:r>
              <a:rPr lang="en-US" altLang="zh-CN" sz="2400" b="1" i="1" dirty="0">
                <a:latin typeface="Trebuchet MS" panose="020B0603020202020204" pitchFamily="34" charset="0"/>
                <a:cs typeface="Times New Roman" panose="02020603050405020304" pitchFamily="18" charset="0"/>
                <a:sym typeface="Symbol" panose="05050102010706020507" pitchFamily="18" charset="2"/>
              </a:rPr>
              <a:t> </a:t>
            </a:r>
            <a:r>
              <a:rPr lang="en-US" altLang="zh-CN" sz="2400" b="1" dirty="0">
                <a:latin typeface="Trebuchet MS" panose="020B0603020202020204" pitchFamily="34" charset="0"/>
                <a:cs typeface="Times New Roman" panose="02020603050405020304" pitchFamily="18" charset="0"/>
                <a:sym typeface="Symbol" panose="05050102010706020507" pitchFamily="18" charset="2"/>
              </a:rPr>
              <a:t>(</a:t>
            </a:r>
            <a:r>
              <a:rPr lang="en-US" altLang="zh-CN" sz="2400" b="1" i="1" dirty="0">
                <a:latin typeface="Trebuchet MS" panose="020B0603020202020204" pitchFamily="34" charset="0"/>
                <a:cs typeface="Times New Roman" panose="02020603050405020304" pitchFamily="18" charset="0"/>
                <a:sym typeface="Symbol" panose="05050102010706020507" pitchFamily="18" charset="2"/>
              </a:rPr>
              <a:t>k</a:t>
            </a:r>
            <a:r>
              <a:rPr lang="en-US" altLang="zh-CN" sz="2400" b="1" dirty="0">
                <a:latin typeface="Trebuchet MS" panose="020B0603020202020204" pitchFamily="34" charset="0"/>
                <a:cs typeface="Times New Roman" panose="02020603050405020304" pitchFamily="18" charset="0"/>
                <a:sym typeface="Symbol" panose="05050102010706020507" pitchFamily="18" charset="2"/>
              </a:rPr>
              <a:t>1)</a:t>
            </a:r>
            <a:r>
              <a:rPr lang="zh-CN" altLang="en-US" sz="2400" b="1" dirty="0">
                <a:latin typeface="Trebuchet MS" panose="020B0603020202020204" pitchFamily="34" charset="0"/>
                <a:cs typeface="Times New Roman" panose="02020603050405020304" pitchFamily="18" charset="0"/>
                <a:sym typeface="Symbol" panose="05050102010706020507" pitchFamily="18" charset="2"/>
              </a:rPr>
              <a:t>, </a:t>
            </a:r>
            <a:r>
              <a:rPr lang="en-US" altLang="zh-CN" sz="2400" dirty="0">
                <a:latin typeface="Trebuchet MS" panose="020B0603020202020204" pitchFamily="34" charset="0"/>
              </a:rPr>
              <a:t>consider </a:t>
            </a:r>
            <a:r>
              <a:rPr lang="en-US" altLang="zh-CN" sz="2400" b="1" i="1" dirty="0">
                <a:latin typeface="Trebuchet MS" panose="020B0603020202020204" pitchFamily="34" charset="0"/>
                <a:cs typeface="Times New Roman" panose="02020603050405020304" pitchFamily="18" charset="0"/>
              </a:rPr>
              <a:t>n</a:t>
            </a:r>
            <a:r>
              <a:rPr lang="en-US" altLang="zh-CN" sz="2400" b="1" dirty="0">
                <a:latin typeface="Trebuchet MS" panose="020B0603020202020204" pitchFamily="34" charset="0"/>
                <a:cs typeface="Times New Roman" panose="02020603050405020304" pitchFamily="18" charset="0"/>
                <a:sym typeface="Symbol" panose="05050102010706020507" pitchFamily="18" charset="2"/>
              </a:rPr>
              <a:t>=</a:t>
            </a:r>
            <a:r>
              <a:rPr lang="en-US" altLang="zh-CN" sz="2400" b="1" i="1" dirty="0">
                <a:latin typeface="Trebuchet MS" panose="020B0603020202020204" pitchFamily="34" charset="0"/>
                <a:cs typeface="Times New Roman" panose="02020603050405020304" pitchFamily="18" charset="0"/>
                <a:sym typeface="Symbol" panose="05050102010706020507" pitchFamily="18" charset="2"/>
              </a:rPr>
              <a:t>k</a:t>
            </a:r>
            <a:r>
              <a:rPr lang="zh-CN" altLang="en-US" sz="2400" b="1" dirty="0">
                <a:latin typeface="Trebuchet MS" panose="020B0603020202020204" pitchFamily="34" charset="0"/>
                <a:cs typeface="Times New Roman" panose="02020603050405020304" pitchFamily="18" charset="0"/>
                <a:sym typeface="Symbol" panose="05050102010706020507" pitchFamily="18" charset="2"/>
              </a:rPr>
              <a:t>+1. </a:t>
            </a:r>
            <a:endParaRPr lang="en-US" altLang="zh-CN" sz="2400" b="1" dirty="0">
              <a:latin typeface="Trebuchet MS" panose="020B0603020202020204" pitchFamily="34" charset="0"/>
              <a:cs typeface="Times New Roman" panose="02020603050405020304" pitchFamily="18" charset="0"/>
              <a:sym typeface="Symbol" panose="05050102010706020507" pitchFamily="18" charset="2"/>
            </a:endParaRPr>
          </a:p>
          <a:p>
            <a:pPr marL="536575" indent="-360363">
              <a:lnSpc>
                <a:spcPct val="120000"/>
              </a:lnSpc>
              <a:spcBef>
                <a:spcPts val="0"/>
              </a:spcBef>
              <a:buClr>
                <a:srgbClr val="0B61FF"/>
              </a:buClr>
              <a:buSzPct val="80000"/>
              <a:buNone/>
            </a:pPr>
            <a:r>
              <a:rPr lang="en-US" altLang="zh-CN" sz="2400" b="1" dirty="0">
                <a:solidFill>
                  <a:srgbClr val="0B61FF"/>
                </a:solidFill>
                <a:latin typeface="Trebuchet MS" panose="020B0603020202020204" pitchFamily="34" charset="0"/>
              </a:rPr>
              <a:t>④</a:t>
            </a:r>
            <a:r>
              <a:rPr lang="en-US" altLang="zh-CN" sz="2400" dirty="0">
                <a:latin typeface="Trebuchet MS" panose="020B0603020202020204" pitchFamily="34" charset="0"/>
              </a:rPr>
              <a:t>Select any edge </a:t>
            </a:r>
            <a:r>
              <a:rPr lang="en-US" altLang="zh-CN" sz="2400" b="1" i="1" dirty="0">
                <a:latin typeface="Trebuchet MS" panose="020B0603020202020204" pitchFamily="34" charset="0"/>
                <a:cs typeface="Times New Roman" panose="02020603050405020304" pitchFamily="18" charset="0"/>
                <a:sym typeface="Symbol" panose="05050102010706020507" pitchFamily="18" charset="2"/>
              </a:rPr>
              <a:t>e</a:t>
            </a:r>
            <a:r>
              <a:rPr lang="en-US" altLang="zh-CN" sz="2400" b="1" dirty="0">
                <a:latin typeface="Trebuchet MS" panose="020B0603020202020204" pitchFamily="34" charset="0"/>
                <a:cs typeface="Times New Roman" panose="02020603050405020304" pitchFamily="18" charset="0"/>
                <a:sym typeface="Symbol" panose="05050102010706020507" pitchFamily="18" charset="2"/>
              </a:rPr>
              <a:t>=(</a:t>
            </a:r>
            <a:r>
              <a:rPr lang="en-US" altLang="zh-CN" sz="2400" b="1" i="1" dirty="0" err="1">
                <a:latin typeface="Trebuchet MS" panose="020B0603020202020204" pitchFamily="34" charset="0"/>
                <a:cs typeface="Times New Roman" panose="02020603050405020304" pitchFamily="18" charset="0"/>
                <a:sym typeface="Symbol" panose="05050102010706020507" pitchFamily="18" charset="2"/>
              </a:rPr>
              <a:t>u,v</a:t>
            </a:r>
            <a:r>
              <a:rPr lang="en-US" altLang="zh-CN" sz="2400" b="1" dirty="0">
                <a:latin typeface="Trebuchet MS" panose="020B0603020202020204" pitchFamily="34" charset="0"/>
                <a:cs typeface="Times New Roman" panose="02020603050405020304" pitchFamily="18" charset="0"/>
                <a:sym typeface="Symbol" panose="05050102010706020507" pitchFamily="18" charset="2"/>
              </a:rPr>
              <a:t>), </a:t>
            </a:r>
            <a:r>
              <a:rPr lang="en-US" altLang="zh-CN" sz="2400" dirty="0">
                <a:latin typeface="Trebuchet MS" panose="020B0603020202020204" pitchFamily="34" charset="0"/>
              </a:rPr>
              <a:t>Since the path between </a:t>
            </a:r>
            <a:r>
              <a:rPr lang="en-US" altLang="zh-CN" sz="2400" b="1" i="1" dirty="0">
                <a:latin typeface="Trebuchet MS" panose="020B0603020202020204" pitchFamily="34" charset="0"/>
              </a:rPr>
              <a:t>u</a:t>
            </a:r>
            <a:r>
              <a:rPr lang="en-US" altLang="zh-CN" sz="2400" dirty="0">
                <a:latin typeface="Trebuchet MS" panose="020B0603020202020204" pitchFamily="34" charset="0"/>
              </a:rPr>
              <a:t> and </a:t>
            </a:r>
            <a:r>
              <a:rPr lang="en-US" altLang="zh-CN" sz="2400" b="1" i="1" dirty="0">
                <a:latin typeface="Trebuchet MS" panose="020B0603020202020204" pitchFamily="34" charset="0"/>
              </a:rPr>
              <a:t>v</a:t>
            </a:r>
            <a:r>
              <a:rPr lang="en-US" altLang="zh-CN" sz="2400" dirty="0">
                <a:latin typeface="Trebuchet MS" panose="020B0603020202020204" pitchFamily="34" charset="0"/>
              </a:rPr>
              <a:t> is unique, </a:t>
            </a:r>
            <a:r>
              <a:rPr lang="en-US" altLang="zh-CN" sz="2400" b="1" i="1" dirty="0">
                <a:latin typeface="Trebuchet MS" panose="020B0603020202020204" pitchFamily="34" charset="0"/>
              </a:rPr>
              <a:t>e must be the only path connecting them.</a:t>
            </a:r>
          </a:p>
          <a:p>
            <a:pPr marL="536575" indent="-360363">
              <a:lnSpc>
                <a:spcPct val="120000"/>
              </a:lnSpc>
              <a:spcBef>
                <a:spcPts val="0"/>
              </a:spcBef>
              <a:buClr>
                <a:srgbClr val="0B61FF"/>
              </a:buClr>
              <a:buSzPct val="80000"/>
              <a:buNone/>
            </a:pPr>
            <a:r>
              <a:rPr lang="en-US" altLang="zh-CN" sz="2400" b="1" dirty="0">
                <a:solidFill>
                  <a:srgbClr val="0B61FF"/>
                </a:solidFill>
                <a:latin typeface="Trebuchet MS" panose="020B0603020202020204" pitchFamily="34" charset="0"/>
              </a:rPr>
              <a:t>⑤</a:t>
            </a:r>
            <a:r>
              <a:rPr lang="en-US" altLang="zh-CN" sz="2400" dirty="0">
                <a:latin typeface="Trebuchet MS" panose="020B0603020202020204" pitchFamily="34" charset="0"/>
              </a:rPr>
              <a:t>Removing </a:t>
            </a:r>
            <a:r>
              <a:rPr lang="en-US" altLang="zh-CN" sz="2400" b="1" i="1" dirty="0">
                <a:latin typeface="Trebuchet MS" panose="020B0603020202020204" pitchFamily="34" charset="0"/>
              </a:rPr>
              <a:t>e</a:t>
            </a:r>
            <a:r>
              <a:rPr lang="en-US" altLang="zh-CN" sz="2400" dirty="0">
                <a:latin typeface="Trebuchet MS" panose="020B0603020202020204" pitchFamily="34" charset="0"/>
              </a:rPr>
              <a:t> disconnects the graph into two connected components.</a:t>
            </a:r>
          </a:p>
          <a:p>
            <a:pPr marL="536575" indent="-360363">
              <a:lnSpc>
                <a:spcPct val="120000"/>
              </a:lnSpc>
              <a:spcBef>
                <a:spcPts val="0"/>
              </a:spcBef>
              <a:buClr>
                <a:srgbClr val="0B61FF"/>
              </a:buClr>
              <a:buSzPct val="80000"/>
              <a:buNone/>
            </a:pPr>
            <a:r>
              <a:rPr lang="en-US" altLang="zh-CN" sz="2400" b="1" dirty="0">
                <a:solidFill>
                  <a:srgbClr val="0B61FF"/>
                </a:solidFill>
                <a:latin typeface="Trebuchet MS" panose="020B0603020202020204" pitchFamily="34" charset="0"/>
              </a:rPr>
              <a:t>⑥</a:t>
            </a:r>
            <a:r>
              <a:rPr lang="en-US" altLang="zh-CN" sz="2400" dirty="0">
                <a:latin typeface="Trebuchet MS" panose="020B0603020202020204" pitchFamily="34" charset="0"/>
              </a:rPr>
              <a:t>Let these components have </a:t>
            </a:r>
            <a:r>
              <a:rPr lang="en-US" altLang="zh-CN" sz="2400" b="1" i="1" dirty="0">
                <a:latin typeface="Trebuchet MS" panose="020B0603020202020204" pitchFamily="34" charset="0"/>
                <a:cs typeface="Times New Roman" panose="02020603050405020304" pitchFamily="18" charset="0"/>
                <a:sym typeface="Symbol" panose="05050102010706020507" pitchFamily="18" charset="2"/>
              </a:rPr>
              <a:t>n</a:t>
            </a:r>
            <a:r>
              <a:rPr lang="en-US" altLang="zh-CN" sz="2400" b="1" baseline="-25000" dirty="0">
                <a:latin typeface="Trebuchet MS" panose="020B0603020202020204" pitchFamily="34" charset="0"/>
                <a:cs typeface="Times New Roman" panose="02020603050405020304" pitchFamily="18" charset="0"/>
                <a:sym typeface="Symbol" panose="05050102010706020507" pitchFamily="18" charset="2"/>
              </a:rPr>
              <a:t>1 </a:t>
            </a:r>
            <a:r>
              <a:rPr lang="en-US" altLang="zh-CN" sz="2400" dirty="0">
                <a:latin typeface="Trebuchet MS" panose="020B0603020202020204" pitchFamily="34" charset="0"/>
              </a:rPr>
              <a:t>and </a:t>
            </a:r>
            <a:r>
              <a:rPr lang="en-US" altLang="zh-CN" sz="2400" b="1" i="1" dirty="0">
                <a:latin typeface="Trebuchet MS" panose="020B0603020202020204" pitchFamily="34" charset="0"/>
                <a:cs typeface="Times New Roman" panose="02020603050405020304" pitchFamily="18" charset="0"/>
                <a:sym typeface="Symbol" panose="05050102010706020507" pitchFamily="18" charset="2"/>
              </a:rPr>
              <a:t>n</a:t>
            </a:r>
            <a:r>
              <a:rPr lang="en-US" altLang="zh-CN" sz="2400" b="1" baseline="-25000" dirty="0">
                <a:latin typeface="Trebuchet MS" panose="020B0603020202020204" pitchFamily="34" charset="0"/>
                <a:cs typeface="Times New Roman" panose="02020603050405020304" pitchFamily="18" charset="0"/>
                <a:sym typeface="Symbol" panose="05050102010706020507" pitchFamily="18" charset="2"/>
              </a:rPr>
              <a:t>2 </a:t>
            </a:r>
            <a:r>
              <a:rPr lang="en-US" altLang="zh-CN" sz="2400" dirty="0">
                <a:latin typeface="Trebuchet MS" panose="020B0603020202020204" pitchFamily="34" charset="0"/>
              </a:rPr>
              <a:t>vertices, and </a:t>
            </a:r>
            <a:r>
              <a:rPr lang="en-US" altLang="zh-CN" sz="2400" b="1" i="1" dirty="0">
                <a:latin typeface="Trebuchet MS" panose="020B0603020202020204" pitchFamily="34" charset="0"/>
                <a:cs typeface="Times New Roman" panose="02020603050405020304" pitchFamily="18" charset="0"/>
                <a:sym typeface="Symbol" panose="05050102010706020507" pitchFamily="18" charset="2"/>
              </a:rPr>
              <a:t>m</a:t>
            </a:r>
            <a:r>
              <a:rPr lang="en-US" altLang="zh-CN" sz="2400" b="1" baseline="-25000" dirty="0">
                <a:latin typeface="Trebuchet MS" panose="020B0603020202020204" pitchFamily="34" charset="0"/>
                <a:cs typeface="Times New Roman" panose="02020603050405020304" pitchFamily="18" charset="0"/>
                <a:sym typeface="Symbol" panose="05050102010706020507" pitchFamily="18" charset="2"/>
              </a:rPr>
              <a:t>1 </a:t>
            </a:r>
            <a:r>
              <a:rPr lang="en-US" altLang="zh-CN" sz="2400" dirty="0">
                <a:latin typeface="Trebuchet MS" panose="020B0603020202020204" pitchFamily="34" charset="0"/>
              </a:rPr>
              <a:t>​ and </a:t>
            </a:r>
            <a:r>
              <a:rPr lang="en-US" altLang="zh-CN" sz="2400" b="1" i="1" dirty="0">
                <a:latin typeface="Trebuchet MS" panose="020B0603020202020204" pitchFamily="34" charset="0"/>
                <a:cs typeface="Times New Roman" panose="02020603050405020304" pitchFamily="18" charset="0"/>
                <a:sym typeface="Symbol" panose="05050102010706020507" pitchFamily="18" charset="2"/>
              </a:rPr>
              <a:t>m</a:t>
            </a:r>
            <a:r>
              <a:rPr lang="en-US" altLang="zh-CN" sz="2400" b="1" baseline="-25000" dirty="0">
                <a:latin typeface="Trebuchet MS" panose="020B0603020202020204" pitchFamily="34" charset="0"/>
                <a:cs typeface="Times New Roman" panose="02020603050405020304" pitchFamily="18" charset="0"/>
                <a:sym typeface="Symbol" panose="05050102010706020507" pitchFamily="18" charset="2"/>
              </a:rPr>
              <a:t>2 </a:t>
            </a:r>
            <a:r>
              <a:rPr lang="en-US" altLang="zh-CN" sz="2400" dirty="0">
                <a:latin typeface="Trebuchet MS" panose="020B0603020202020204" pitchFamily="34" charset="0"/>
              </a:rPr>
              <a:t>edges, respectively, where </a:t>
            </a:r>
            <a:r>
              <a:rPr lang="en-US" altLang="zh-CN" sz="2400" b="1" i="1" dirty="0">
                <a:latin typeface="Trebuchet MS" panose="020B0603020202020204" pitchFamily="34" charset="0"/>
                <a:cs typeface="Times New Roman" panose="02020603050405020304" pitchFamily="18" charset="0"/>
                <a:sym typeface="Symbol" panose="05050102010706020507" pitchFamily="18" charset="2"/>
              </a:rPr>
              <a:t>n</a:t>
            </a:r>
            <a:r>
              <a:rPr lang="en-US" altLang="zh-CN" sz="2400" b="1" baseline="-25000" dirty="0">
                <a:latin typeface="Trebuchet MS" panose="020B0603020202020204" pitchFamily="34" charset="0"/>
                <a:cs typeface="Times New Roman" panose="02020603050405020304" pitchFamily="18" charset="0"/>
                <a:sym typeface="Symbol" panose="05050102010706020507" pitchFamily="18" charset="2"/>
              </a:rPr>
              <a:t>1</a:t>
            </a:r>
            <a:r>
              <a:rPr lang="en-US" altLang="zh-CN" sz="2400" b="1" dirty="0">
                <a:latin typeface="Trebuchet MS" panose="020B0603020202020204" pitchFamily="34" charset="0"/>
                <a:cs typeface="Times New Roman" panose="02020603050405020304" pitchFamily="18" charset="0"/>
                <a:sym typeface="Symbol" panose="05050102010706020507" pitchFamily="18" charset="2"/>
              </a:rPr>
              <a:t></a:t>
            </a:r>
            <a:r>
              <a:rPr lang="en-US" altLang="zh-CN" sz="2400" b="1" i="1" dirty="0">
                <a:latin typeface="Trebuchet MS" panose="020B0603020202020204" pitchFamily="34" charset="0"/>
                <a:cs typeface="Times New Roman" panose="02020603050405020304" pitchFamily="18" charset="0"/>
                <a:sym typeface="Symbol" panose="05050102010706020507" pitchFamily="18" charset="2"/>
              </a:rPr>
              <a:t>k,</a:t>
            </a:r>
            <a:r>
              <a:rPr lang="en-US" altLang="zh-CN" sz="2400" b="1" dirty="0">
                <a:latin typeface="Trebuchet MS" panose="020B0603020202020204" pitchFamily="34" charset="0"/>
                <a:cs typeface="Times New Roman" panose="02020603050405020304" pitchFamily="18" charset="0"/>
                <a:sym typeface="Symbol" panose="05050102010706020507" pitchFamily="18" charset="2"/>
              </a:rPr>
              <a:t> </a:t>
            </a:r>
            <a:r>
              <a:rPr lang="en-US" altLang="zh-CN" sz="2400" b="1" i="1" dirty="0">
                <a:latin typeface="Trebuchet MS" panose="020B0603020202020204" pitchFamily="34" charset="0"/>
                <a:cs typeface="Times New Roman" panose="02020603050405020304" pitchFamily="18" charset="0"/>
                <a:sym typeface="Symbol" panose="05050102010706020507" pitchFamily="18" charset="2"/>
              </a:rPr>
              <a:t>n</a:t>
            </a:r>
            <a:r>
              <a:rPr lang="en-US" altLang="zh-CN" sz="2400" b="1" baseline="-25000" dirty="0">
                <a:latin typeface="Trebuchet MS" panose="020B0603020202020204" pitchFamily="34" charset="0"/>
                <a:cs typeface="Times New Roman" panose="02020603050405020304" pitchFamily="18" charset="0"/>
                <a:sym typeface="Symbol" panose="05050102010706020507" pitchFamily="18" charset="2"/>
              </a:rPr>
              <a:t>2</a:t>
            </a:r>
            <a:r>
              <a:rPr lang="en-US" altLang="zh-CN" sz="2400" b="1" dirty="0">
                <a:latin typeface="Trebuchet MS" panose="020B0603020202020204" pitchFamily="34" charset="0"/>
                <a:cs typeface="Times New Roman" panose="02020603050405020304" pitchFamily="18" charset="0"/>
                <a:sym typeface="Symbol" panose="05050102010706020507" pitchFamily="18" charset="2"/>
              </a:rPr>
              <a:t></a:t>
            </a:r>
            <a:r>
              <a:rPr lang="en-US" altLang="zh-CN" sz="2400" b="1" i="1" dirty="0">
                <a:latin typeface="Trebuchet MS" panose="020B0603020202020204" pitchFamily="34" charset="0"/>
                <a:cs typeface="Times New Roman" panose="02020603050405020304" pitchFamily="18" charset="0"/>
                <a:sym typeface="Symbol" panose="05050102010706020507" pitchFamily="18" charset="2"/>
              </a:rPr>
              <a:t>k. </a:t>
            </a:r>
          </a:p>
          <a:p>
            <a:pPr eaLnBrk="1" hangingPunct="1">
              <a:lnSpc>
                <a:spcPct val="120000"/>
              </a:lnSpc>
              <a:spcBef>
                <a:spcPts val="0"/>
              </a:spcBef>
              <a:buClr>
                <a:srgbClr val="0B61FF"/>
              </a:buClr>
              <a:buSzPct val="80000"/>
              <a:buFont typeface="Wingdings" panose="05000000000000000000" pitchFamily="2" charset="2"/>
              <a:buChar char="n"/>
            </a:pPr>
            <a:r>
              <a:rPr lang="en-US" altLang="zh-CN" sz="2400" b="1" dirty="0">
                <a:latin typeface="Trebuchet MS" panose="020B0603020202020204" pitchFamily="34" charset="0"/>
              </a:rPr>
              <a:t>Therefore</a:t>
            </a:r>
            <a:r>
              <a:rPr lang="zh-CN" altLang="en-US" sz="2400" b="1" dirty="0">
                <a:latin typeface="Trebuchet MS" panose="020B0603020202020204" pitchFamily="34" charset="0"/>
                <a:cs typeface="Times New Roman" panose="02020603050405020304" pitchFamily="18" charset="0"/>
                <a:sym typeface="Symbol" panose="05050102010706020507" pitchFamily="18" charset="2"/>
              </a:rPr>
              <a:t>, </a:t>
            </a:r>
            <a:r>
              <a:rPr lang="en-US" altLang="zh-CN" sz="2400" b="1" i="1" dirty="0">
                <a:latin typeface="Trebuchet MS" panose="020B0603020202020204" pitchFamily="34" charset="0"/>
                <a:cs typeface="Times New Roman" panose="02020603050405020304" pitchFamily="18" charset="0"/>
                <a:sym typeface="Symbol" panose="05050102010706020507" pitchFamily="18" charset="2"/>
              </a:rPr>
              <a:t>m</a:t>
            </a:r>
            <a:r>
              <a:rPr lang="en-US" altLang="zh-CN" sz="2400" b="1" baseline="-25000" dirty="0">
                <a:latin typeface="Trebuchet MS" panose="020B0603020202020204" pitchFamily="34" charset="0"/>
                <a:cs typeface="Times New Roman" panose="02020603050405020304" pitchFamily="18" charset="0"/>
                <a:sym typeface="Symbol" panose="05050102010706020507" pitchFamily="18" charset="2"/>
              </a:rPr>
              <a:t>1</a:t>
            </a:r>
            <a:r>
              <a:rPr lang="zh-CN" altLang="en-US" sz="2400" b="1" dirty="0">
                <a:latin typeface="Trebuchet MS" panose="020B0603020202020204" pitchFamily="34" charset="0"/>
                <a:cs typeface="Times New Roman" panose="02020603050405020304" pitchFamily="18" charset="0"/>
                <a:sym typeface="Symbol" panose="05050102010706020507" pitchFamily="18" charset="2"/>
              </a:rPr>
              <a:t>=</a:t>
            </a:r>
            <a:r>
              <a:rPr lang="en-US" altLang="zh-CN" sz="2400" b="1" i="1" dirty="0">
                <a:latin typeface="Trebuchet MS" panose="020B0603020202020204" pitchFamily="34" charset="0"/>
                <a:cs typeface="Times New Roman" panose="02020603050405020304" pitchFamily="18" charset="0"/>
                <a:sym typeface="Symbol" panose="05050102010706020507" pitchFamily="18" charset="2"/>
              </a:rPr>
              <a:t>n</a:t>
            </a:r>
            <a:r>
              <a:rPr lang="en-US" altLang="zh-CN" sz="2400" b="1" baseline="-25000" dirty="0">
                <a:latin typeface="Trebuchet MS" panose="020B0603020202020204" pitchFamily="34" charset="0"/>
                <a:cs typeface="Times New Roman" panose="02020603050405020304" pitchFamily="18" charset="0"/>
                <a:sym typeface="Symbol" panose="05050102010706020507" pitchFamily="18" charset="2"/>
              </a:rPr>
              <a:t>1</a:t>
            </a:r>
            <a:r>
              <a:rPr lang="zh-CN" altLang="en-US" sz="2400" b="1" dirty="0">
                <a:latin typeface="Trebuchet MS" panose="020B0603020202020204" pitchFamily="34" charset="0"/>
                <a:cs typeface="Times New Roman" panose="02020603050405020304" pitchFamily="18" charset="0"/>
                <a:sym typeface="Symbol" panose="05050102010706020507" pitchFamily="18" charset="2"/>
              </a:rPr>
              <a:t>-1, </a:t>
            </a:r>
            <a:r>
              <a:rPr lang="en-US" altLang="zh-CN" sz="2400" b="1" i="1" dirty="0">
                <a:latin typeface="Trebuchet MS" panose="020B0603020202020204" pitchFamily="34" charset="0"/>
                <a:cs typeface="Times New Roman" panose="02020603050405020304" pitchFamily="18" charset="0"/>
                <a:sym typeface="Symbol" panose="05050102010706020507" pitchFamily="18" charset="2"/>
              </a:rPr>
              <a:t>m</a:t>
            </a:r>
            <a:r>
              <a:rPr lang="en-US" altLang="zh-CN" sz="2400" b="1" baseline="-25000" dirty="0">
                <a:latin typeface="Trebuchet MS" panose="020B0603020202020204" pitchFamily="34" charset="0"/>
                <a:cs typeface="Times New Roman" panose="02020603050405020304" pitchFamily="18" charset="0"/>
                <a:sym typeface="Symbol" panose="05050102010706020507" pitchFamily="18" charset="2"/>
              </a:rPr>
              <a:t>2</a:t>
            </a:r>
            <a:r>
              <a:rPr lang="zh-CN" altLang="en-US" sz="2400" b="1" dirty="0">
                <a:latin typeface="Trebuchet MS" panose="020B0603020202020204" pitchFamily="34" charset="0"/>
                <a:cs typeface="Times New Roman" panose="02020603050405020304" pitchFamily="18" charset="0"/>
                <a:sym typeface="Symbol" panose="05050102010706020507" pitchFamily="18" charset="2"/>
              </a:rPr>
              <a:t>=</a:t>
            </a:r>
            <a:r>
              <a:rPr lang="en-US" altLang="zh-CN" sz="2400" b="1" i="1" dirty="0">
                <a:latin typeface="Trebuchet MS" panose="020B0603020202020204" pitchFamily="34" charset="0"/>
                <a:cs typeface="Times New Roman" panose="02020603050405020304" pitchFamily="18" charset="0"/>
                <a:sym typeface="Symbol" panose="05050102010706020507" pitchFamily="18" charset="2"/>
              </a:rPr>
              <a:t>n</a:t>
            </a:r>
            <a:r>
              <a:rPr lang="en-US" altLang="zh-CN" sz="2400" b="1" baseline="-25000" dirty="0">
                <a:latin typeface="Trebuchet MS" panose="020B0603020202020204" pitchFamily="34" charset="0"/>
                <a:cs typeface="Times New Roman" panose="02020603050405020304" pitchFamily="18" charset="0"/>
                <a:sym typeface="Symbol" panose="05050102010706020507" pitchFamily="18" charset="2"/>
              </a:rPr>
              <a:t>2</a:t>
            </a:r>
            <a:r>
              <a:rPr lang="zh-CN" altLang="en-US" sz="2400" b="1" dirty="0">
                <a:latin typeface="Trebuchet MS" panose="020B0603020202020204" pitchFamily="34" charset="0"/>
                <a:cs typeface="Times New Roman" panose="02020603050405020304" pitchFamily="18" charset="0"/>
                <a:sym typeface="Symbol" panose="05050102010706020507" pitchFamily="18" charset="2"/>
              </a:rPr>
              <a:t>-1, </a:t>
            </a:r>
            <a:r>
              <a:rPr lang="en-US" altLang="zh-CN" sz="2400" b="1" i="1" dirty="0">
                <a:latin typeface="Trebuchet MS" panose="020B0603020202020204" pitchFamily="34" charset="0"/>
                <a:cs typeface="Times New Roman" panose="02020603050405020304" pitchFamily="18" charset="0"/>
                <a:sym typeface="Symbol" panose="05050102010706020507" pitchFamily="18" charset="2"/>
              </a:rPr>
              <a:t>m</a:t>
            </a:r>
            <a:r>
              <a:rPr lang="en-US" altLang="zh-CN" sz="2400" b="1" dirty="0">
                <a:latin typeface="Trebuchet MS" panose="020B0603020202020204" pitchFamily="34" charset="0"/>
                <a:cs typeface="Times New Roman" panose="02020603050405020304" pitchFamily="18" charset="0"/>
                <a:sym typeface="Symbol" panose="05050102010706020507" pitchFamily="18" charset="2"/>
              </a:rPr>
              <a:t>= </a:t>
            </a:r>
            <a:r>
              <a:rPr lang="en-US" altLang="zh-CN" sz="2400" b="1" i="1" dirty="0">
                <a:latin typeface="Trebuchet MS" panose="020B0603020202020204" pitchFamily="34" charset="0"/>
                <a:cs typeface="Times New Roman" panose="02020603050405020304" pitchFamily="18" charset="0"/>
                <a:sym typeface="Symbol" panose="05050102010706020507" pitchFamily="18" charset="2"/>
              </a:rPr>
              <a:t>m</a:t>
            </a:r>
            <a:r>
              <a:rPr lang="en-US" altLang="zh-CN" sz="2400" b="1" baseline="-25000" dirty="0">
                <a:latin typeface="Trebuchet MS" panose="020B0603020202020204" pitchFamily="34" charset="0"/>
                <a:cs typeface="Times New Roman" panose="02020603050405020304" pitchFamily="18" charset="0"/>
                <a:sym typeface="Symbol" panose="05050102010706020507" pitchFamily="18" charset="2"/>
              </a:rPr>
              <a:t>1</a:t>
            </a:r>
            <a:r>
              <a:rPr lang="en-US" altLang="zh-CN" sz="2400" b="1" dirty="0">
                <a:latin typeface="Trebuchet MS" panose="020B0603020202020204" pitchFamily="34" charset="0"/>
                <a:cs typeface="Times New Roman" panose="02020603050405020304" pitchFamily="18" charset="0"/>
                <a:sym typeface="Symbol" panose="05050102010706020507" pitchFamily="18" charset="2"/>
              </a:rPr>
              <a:t>+</a:t>
            </a:r>
            <a:r>
              <a:rPr lang="en-US" altLang="zh-CN" sz="2400" b="1" i="1" dirty="0">
                <a:latin typeface="Trebuchet MS" panose="020B0603020202020204" pitchFamily="34" charset="0"/>
                <a:cs typeface="Times New Roman" panose="02020603050405020304" pitchFamily="18" charset="0"/>
                <a:sym typeface="Symbol" panose="05050102010706020507" pitchFamily="18" charset="2"/>
              </a:rPr>
              <a:t>m</a:t>
            </a:r>
            <a:r>
              <a:rPr lang="en-US" altLang="zh-CN" sz="2400" b="1" baseline="-25000" dirty="0">
                <a:latin typeface="Trebuchet MS" panose="020B0603020202020204" pitchFamily="34" charset="0"/>
                <a:cs typeface="Times New Roman" panose="02020603050405020304" pitchFamily="18" charset="0"/>
                <a:sym typeface="Symbol" panose="05050102010706020507" pitchFamily="18" charset="2"/>
              </a:rPr>
              <a:t>2</a:t>
            </a:r>
            <a:r>
              <a:rPr lang="en-US" altLang="zh-CN" sz="2400" b="1" dirty="0">
                <a:latin typeface="Trebuchet MS" panose="020B0603020202020204" pitchFamily="34" charset="0"/>
                <a:cs typeface="Times New Roman" panose="02020603050405020304" pitchFamily="18" charset="0"/>
                <a:sym typeface="Symbol" panose="05050102010706020507" pitchFamily="18" charset="2"/>
              </a:rPr>
              <a:t>+1= </a:t>
            </a:r>
            <a:r>
              <a:rPr lang="en-US" altLang="zh-CN" sz="2400" b="1" i="1" dirty="0">
                <a:latin typeface="Trebuchet MS" panose="020B0603020202020204" pitchFamily="34" charset="0"/>
                <a:cs typeface="Times New Roman" panose="02020603050405020304" pitchFamily="18" charset="0"/>
                <a:sym typeface="Symbol" panose="05050102010706020507" pitchFamily="18" charset="2"/>
              </a:rPr>
              <a:t>n</a:t>
            </a:r>
            <a:r>
              <a:rPr lang="en-US" altLang="zh-CN" sz="2400" b="1" dirty="0">
                <a:latin typeface="Trebuchet MS" panose="020B0603020202020204" pitchFamily="34" charset="0"/>
                <a:cs typeface="Times New Roman" panose="02020603050405020304" pitchFamily="18" charset="0"/>
                <a:sym typeface="Symbol" panose="05050102010706020507" pitchFamily="18" charset="2"/>
              </a:rPr>
              <a:t>-1.</a:t>
            </a:r>
          </a:p>
          <a:p>
            <a:pPr algn="just" eaLnBrk="1" hangingPunct="1">
              <a:lnSpc>
                <a:spcPct val="120000"/>
              </a:lnSpc>
              <a:spcBef>
                <a:spcPts val="0"/>
              </a:spcBef>
              <a:buClr>
                <a:srgbClr val="0B61FF"/>
              </a:buClr>
              <a:buSzPct val="80000"/>
              <a:buFont typeface="Wingdings" panose="05000000000000000000" pitchFamily="2" charset="2"/>
              <a:buChar char="n"/>
            </a:pPr>
            <a:endParaRPr lang="zh-CN" altLang="en-US" sz="2400" b="1" dirty="0">
              <a:latin typeface="Trebuchet MS" panose="020B0603020202020204" pitchFamily="34" charset="0"/>
            </a:endParaRPr>
          </a:p>
        </p:txBody>
      </p:sp>
    </p:spTree>
    <p:extLst>
      <p:ext uri="{BB962C8B-B14F-4D97-AF65-F5344CB8AC3E}">
        <p14:creationId xmlns:p14="http://schemas.microsoft.com/office/powerpoint/2010/main" val="2658729971"/>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8">
                                            <p:txEl>
                                              <p:pRg st="1" end="1"/>
                                            </p:txEl>
                                          </p:spTgt>
                                        </p:tgtEl>
                                        <p:attrNameLst>
                                          <p:attrName>style.visibility</p:attrName>
                                        </p:attrNameLst>
                                      </p:cBhvr>
                                      <p:to>
                                        <p:strVal val="visible"/>
                                      </p:to>
                                    </p:set>
                                    <p:animEffect transition="in" filter="fade">
                                      <p:cBhvr>
                                        <p:cTn id="7" dur="1000"/>
                                        <p:tgtEl>
                                          <p:spTgt spid="8">
                                            <p:txEl>
                                              <p:pRg st="1" end="1"/>
                                            </p:txEl>
                                          </p:spTgt>
                                        </p:tgtEl>
                                      </p:cBhvr>
                                    </p:animEffect>
                                    <p:anim calcmode="lin" valueType="num">
                                      <p:cBhvr>
                                        <p:cTn id="8" dur="1000" fill="hold"/>
                                        <p:tgtEl>
                                          <p:spTgt spid="8">
                                            <p:txEl>
                                              <p:pRg st="1" end="1"/>
                                            </p:txEl>
                                          </p:spTgt>
                                        </p:tgtEl>
                                        <p:attrNameLst>
                                          <p:attrName>ppt_x</p:attrName>
                                        </p:attrNameLst>
                                      </p:cBhvr>
                                      <p:tavLst>
                                        <p:tav tm="0">
                                          <p:val>
                                            <p:strVal val="#ppt_x"/>
                                          </p:val>
                                        </p:tav>
                                        <p:tav tm="100000">
                                          <p:val>
                                            <p:strVal val="#ppt_x"/>
                                          </p:val>
                                        </p:tav>
                                      </p:tavLst>
                                    </p:anim>
                                    <p:anim calcmode="lin" valueType="num">
                                      <p:cBhvr>
                                        <p:cTn id="9" dur="1000" fill="hold"/>
                                        <p:tgtEl>
                                          <p:spTgt spid="8">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8">
                                            <p:txEl>
                                              <p:pRg st="2" end="2"/>
                                            </p:txEl>
                                          </p:spTgt>
                                        </p:tgtEl>
                                        <p:attrNameLst>
                                          <p:attrName>style.visibility</p:attrName>
                                        </p:attrNameLst>
                                      </p:cBhvr>
                                      <p:to>
                                        <p:strVal val="visible"/>
                                      </p:to>
                                    </p:set>
                                    <p:animEffect transition="in" filter="fade">
                                      <p:cBhvr>
                                        <p:cTn id="14" dur="1000"/>
                                        <p:tgtEl>
                                          <p:spTgt spid="8">
                                            <p:txEl>
                                              <p:pRg st="2" end="2"/>
                                            </p:txEl>
                                          </p:spTgt>
                                        </p:tgtEl>
                                      </p:cBhvr>
                                    </p:animEffect>
                                    <p:anim calcmode="lin" valueType="num">
                                      <p:cBhvr>
                                        <p:cTn id="15" dur="1000" fill="hold"/>
                                        <p:tgtEl>
                                          <p:spTgt spid="8">
                                            <p:txEl>
                                              <p:pRg st="2" end="2"/>
                                            </p:txEl>
                                          </p:spTgt>
                                        </p:tgtEl>
                                        <p:attrNameLst>
                                          <p:attrName>ppt_x</p:attrName>
                                        </p:attrNameLst>
                                      </p:cBhvr>
                                      <p:tavLst>
                                        <p:tav tm="0">
                                          <p:val>
                                            <p:strVal val="#ppt_x"/>
                                          </p:val>
                                        </p:tav>
                                        <p:tav tm="100000">
                                          <p:val>
                                            <p:strVal val="#ppt_x"/>
                                          </p:val>
                                        </p:tav>
                                      </p:tavLst>
                                    </p:anim>
                                    <p:anim calcmode="lin" valueType="num">
                                      <p:cBhvr>
                                        <p:cTn id="16" dur="1000" fill="hold"/>
                                        <p:tgtEl>
                                          <p:spTgt spid="8">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nodeType="clickEffect">
                                  <p:stCondLst>
                                    <p:cond delay="0"/>
                                  </p:stCondLst>
                                  <p:childTnLst>
                                    <p:set>
                                      <p:cBhvr>
                                        <p:cTn id="20" dur="1" fill="hold">
                                          <p:stCondLst>
                                            <p:cond delay="0"/>
                                          </p:stCondLst>
                                        </p:cTn>
                                        <p:tgtEl>
                                          <p:spTgt spid="8">
                                            <p:txEl>
                                              <p:pRg st="3" end="3"/>
                                            </p:txEl>
                                          </p:spTgt>
                                        </p:tgtEl>
                                        <p:attrNameLst>
                                          <p:attrName>style.visibility</p:attrName>
                                        </p:attrNameLst>
                                      </p:cBhvr>
                                      <p:to>
                                        <p:strVal val="visible"/>
                                      </p:to>
                                    </p:set>
                                    <p:animEffect transition="in" filter="fade">
                                      <p:cBhvr>
                                        <p:cTn id="21" dur="1000"/>
                                        <p:tgtEl>
                                          <p:spTgt spid="8">
                                            <p:txEl>
                                              <p:pRg st="3" end="3"/>
                                            </p:txEl>
                                          </p:spTgt>
                                        </p:tgtEl>
                                      </p:cBhvr>
                                    </p:animEffect>
                                    <p:anim calcmode="lin" valueType="num">
                                      <p:cBhvr>
                                        <p:cTn id="22" dur="1000" fill="hold"/>
                                        <p:tgtEl>
                                          <p:spTgt spid="8">
                                            <p:txEl>
                                              <p:pRg st="3" end="3"/>
                                            </p:txEl>
                                          </p:spTgt>
                                        </p:tgtEl>
                                        <p:attrNameLst>
                                          <p:attrName>ppt_x</p:attrName>
                                        </p:attrNameLst>
                                      </p:cBhvr>
                                      <p:tavLst>
                                        <p:tav tm="0">
                                          <p:val>
                                            <p:strVal val="#ppt_x"/>
                                          </p:val>
                                        </p:tav>
                                        <p:tav tm="100000">
                                          <p:val>
                                            <p:strVal val="#ppt_x"/>
                                          </p:val>
                                        </p:tav>
                                      </p:tavLst>
                                    </p:anim>
                                    <p:anim calcmode="lin" valueType="num">
                                      <p:cBhvr>
                                        <p:cTn id="23" dur="1000" fill="hold"/>
                                        <p:tgtEl>
                                          <p:spTgt spid="8">
                                            <p:txEl>
                                              <p:pRg st="3" end="3"/>
                                            </p:txEl>
                                          </p:spTgt>
                                        </p:tgtEl>
                                        <p:attrNameLst>
                                          <p:attrName>ppt_y</p:attrName>
                                        </p:attrNameLst>
                                      </p:cBhvr>
                                      <p:tavLst>
                                        <p:tav tm="0">
                                          <p:val>
                                            <p:strVal val="#ppt_y+.1"/>
                                          </p:val>
                                        </p:tav>
                                        <p:tav tm="100000">
                                          <p:val>
                                            <p:strVal val="#ppt_y"/>
                                          </p:val>
                                        </p:tav>
                                      </p:tavLst>
                                    </p:anim>
                                  </p:childTnLst>
                                </p:cTn>
                              </p:par>
                              <p:par>
                                <p:cTn id="24" presetID="42" presetClass="entr" presetSubtype="0" fill="hold" nodeType="withEffect">
                                  <p:stCondLst>
                                    <p:cond delay="0"/>
                                  </p:stCondLst>
                                  <p:childTnLst>
                                    <p:set>
                                      <p:cBhvr>
                                        <p:cTn id="25" dur="1" fill="hold">
                                          <p:stCondLst>
                                            <p:cond delay="0"/>
                                          </p:stCondLst>
                                        </p:cTn>
                                        <p:tgtEl>
                                          <p:spTgt spid="8">
                                            <p:txEl>
                                              <p:pRg st="4" end="4"/>
                                            </p:txEl>
                                          </p:spTgt>
                                        </p:tgtEl>
                                        <p:attrNameLst>
                                          <p:attrName>style.visibility</p:attrName>
                                        </p:attrNameLst>
                                      </p:cBhvr>
                                      <p:to>
                                        <p:strVal val="visible"/>
                                      </p:to>
                                    </p:set>
                                    <p:animEffect transition="in" filter="fade">
                                      <p:cBhvr>
                                        <p:cTn id="26" dur="1000"/>
                                        <p:tgtEl>
                                          <p:spTgt spid="8">
                                            <p:txEl>
                                              <p:pRg st="4" end="4"/>
                                            </p:txEl>
                                          </p:spTgt>
                                        </p:tgtEl>
                                      </p:cBhvr>
                                    </p:animEffect>
                                    <p:anim calcmode="lin" valueType="num">
                                      <p:cBhvr>
                                        <p:cTn id="27" dur="1000" fill="hold"/>
                                        <p:tgtEl>
                                          <p:spTgt spid="8">
                                            <p:txEl>
                                              <p:pRg st="4" end="4"/>
                                            </p:txEl>
                                          </p:spTgt>
                                        </p:tgtEl>
                                        <p:attrNameLst>
                                          <p:attrName>ppt_x</p:attrName>
                                        </p:attrNameLst>
                                      </p:cBhvr>
                                      <p:tavLst>
                                        <p:tav tm="0">
                                          <p:val>
                                            <p:strVal val="#ppt_x"/>
                                          </p:val>
                                        </p:tav>
                                        <p:tav tm="100000">
                                          <p:val>
                                            <p:strVal val="#ppt_x"/>
                                          </p:val>
                                        </p:tav>
                                      </p:tavLst>
                                    </p:anim>
                                    <p:anim calcmode="lin" valueType="num">
                                      <p:cBhvr>
                                        <p:cTn id="28" dur="1000" fill="hold"/>
                                        <p:tgtEl>
                                          <p:spTgt spid="8">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29" fill="hold">
                      <p:stCondLst>
                        <p:cond delay="indefinite"/>
                      </p:stCondLst>
                      <p:childTnLst>
                        <p:par>
                          <p:cTn id="30" fill="hold">
                            <p:stCondLst>
                              <p:cond delay="0"/>
                            </p:stCondLst>
                            <p:childTnLst>
                              <p:par>
                                <p:cTn id="31" presetID="42" presetClass="entr" presetSubtype="0" fill="hold" nodeType="clickEffect">
                                  <p:stCondLst>
                                    <p:cond delay="0"/>
                                  </p:stCondLst>
                                  <p:childTnLst>
                                    <p:set>
                                      <p:cBhvr>
                                        <p:cTn id="32" dur="1" fill="hold">
                                          <p:stCondLst>
                                            <p:cond delay="0"/>
                                          </p:stCondLst>
                                        </p:cTn>
                                        <p:tgtEl>
                                          <p:spTgt spid="8">
                                            <p:txEl>
                                              <p:pRg st="5" end="5"/>
                                            </p:txEl>
                                          </p:spTgt>
                                        </p:tgtEl>
                                        <p:attrNameLst>
                                          <p:attrName>style.visibility</p:attrName>
                                        </p:attrNameLst>
                                      </p:cBhvr>
                                      <p:to>
                                        <p:strVal val="visible"/>
                                      </p:to>
                                    </p:set>
                                    <p:animEffect transition="in" filter="fade">
                                      <p:cBhvr>
                                        <p:cTn id="33" dur="1000"/>
                                        <p:tgtEl>
                                          <p:spTgt spid="8">
                                            <p:txEl>
                                              <p:pRg st="5" end="5"/>
                                            </p:txEl>
                                          </p:spTgt>
                                        </p:tgtEl>
                                      </p:cBhvr>
                                    </p:animEffect>
                                    <p:anim calcmode="lin" valueType="num">
                                      <p:cBhvr>
                                        <p:cTn id="34" dur="1000" fill="hold"/>
                                        <p:tgtEl>
                                          <p:spTgt spid="8">
                                            <p:txEl>
                                              <p:pRg st="5" end="5"/>
                                            </p:txEl>
                                          </p:spTgt>
                                        </p:tgtEl>
                                        <p:attrNameLst>
                                          <p:attrName>ppt_x</p:attrName>
                                        </p:attrNameLst>
                                      </p:cBhvr>
                                      <p:tavLst>
                                        <p:tav tm="0">
                                          <p:val>
                                            <p:strVal val="#ppt_x"/>
                                          </p:val>
                                        </p:tav>
                                        <p:tav tm="100000">
                                          <p:val>
                                            <p:strVal val="#ppt_x"/>
                                          </p:val>
                                        </p:tav>
                                      </p:tavLst>
                                    </p:anim>
                                    <p:anim calcmode="lin" valueType="num">
                                      <p:cBhvr>
                                        <p:cTn id="35" dur="1000" fill="hold"/>
                                        <p:tgtEl>
                                          <p:spTgt spid="8">
                                            <p:txEl>
                                              <p:pRg st="5" end="5"/>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0" y="0"/>
            <a:ext cx="12192000" cy="762000"/>
          </a:xfrm>
          <a:prstGeom prst="rect">
            <a:avLst/>
          </a:prstGeom>
          <a:solidFill>
            <a:srgbClr val="002F7C"/>
          </a:solidFill>
        </p:spPr>
        <p:style>
          <a:lnRef idx="2">
            <a:schemeClr val="dk1">
              <a:shade val="50000"/>
            </a:schemeClr>
          </a:lnRef>
          <a:fillRef idx="1">
            <a:schemeClr val="dk1"/>
          </a:fillRef>
          <a:effectRef idx="0">
            <a:schemeClr val="dk1"/>
          </a:effectRef>
          <a:fontRef idx="minor">
            <a:schemeClr val="lt1"/>
          </a:fontRef>
        </p:style>
        <p:txBody>
          <a:bodyPr rtlCol="0" anchor="ctr"/>
          <a:lstStyle/>
          <a:p>
            <a:r>
              <a:rPr lang="en-US" altLang="zh-CN" sz="2000" b="1" dirty="0">
                <a:latin typeface="Trebuchet MS" panose="020B0603020202020204" pitchFamily="34" charset="0"/>
              </a:rPr>
              <a:t>             7.1.1 Definition and Properties of Undirected Trees</a:t>
            </a:r>
            <a:endParaRPr lang="en-US" altLang="zh-CN" sz="2000" b="1" dirty="0">
              <a:latin typeface="Times New Roman" panose="02020603050405020304" pitchFamily="18" charset="0"/>
              <a:cs typeface="Times New Roman" panose="02020603050405020304" pitchFamily="18" charset="0"/>
            </a:endParaRPr>
          </a:p>
          <a:p>
            <a:r>
              <a:rPr lang="en-US" altLang="zh-CN" sz="2000" b="1" dirty="0">
                <a:latin typeface="Times New Roman" panose="02020603050405020304" pitchFamily="18" charset="0"/>
                <a:cs typeface="Times New Roman" panose="02020603050405020304" pitchFamily="18" charset="0"/>
              </a:rPr>
              <a:t>                      </a:t>
            </a:r>
            <a:r>
              <a:rPr lang="en-US" altLang="zh-CN" sz="2400" dirty="0">
                <a:solidFill>
                  <a:schemeClr val="accent2"/>
                </a:solidFill>
                <a:latin typeface="Trebuchet MS" panose="020B0603020202020204" pitchFamily="34" charset="0"/>
                <a:ea typeface="Cambria Math" panose="02040503050406030204" pitchFamily="18" charset="0"/>
                <a:cs typeface="Times New Roman" panose="02020603050405020304" pitchFamily="18" charset="0"/>
              </a:rPr>
              <a:t>⤷</a:t>
            </a:r>
            <a:r>
              <a:rPr lang="zh-CN" altLang="en-US" sz="2400" dirty="0">
                <a:latin typeface="Trebuchet MS" panose="020B0603020202020204" pitchFamily="34" charset="0"/>
              </a:rPr>
              <a:t> </a:t>
            </a:r>
            <a:r>
              <a:rPr lang="en-US" altLang="zh-CN" sz="2400" b="1" dirty="0">
                <a:latin typeface="Trebuchet MS" panose="020B0603020202020204" pitchFamily="34" charset="0"/>
              </a:rPr>
              <a:t>Proof of Tree Equivalence Theorem</a:t>
            </a:r>
            <a:endParaRPr lang="zh-CN" altLang="en-US" sz="2400" b="1" dirty="0">
              <a:solidFill>
                <a:srgbClr val="3D557A"/>
              </a:solidFill>
              <a:highlight>
                <a:srgbClr val="FF0000"/>
              </a:highlight>
              <a:latin typeface="Trebuchet MS" panose="020B0603020202020204" pitchFamily="34" charset="0"/>
            </a:endParaRPr>
          </a:p>
        </p:txBody>
      </p:sp>
      <p:sp>
        <p:nvSpPr>
          <p:cNvPr id="13" name="矩形 12"/>
          <p:cNvSpPr/>
          <p:nvPr/>
        </p:nvSpPr>
        <p:spPr>
          <a:xfrm>
            <a:off x="824682" y="0"/>
            <a:ext cx="175443" cy="628650"/>
          </a:xfrm>
          <a:prstGeom prst="rect">
            <a:avLst/>
          </a:prstGeom>
          <a:solidFill>
            <a:srgbClr val="CFA57C"/>
          </a:solidFill>
          <a:ln cmpd="sng">
            <a:gradFill flip="none" rotWithShape="1">
              <a:gsLst>
                <a:gs pos="50000">
                  <a:schemeClr val="accent2">
                    <a:lumMod val="60000"/>
                    <a:lumOff val="40000"/>
                  </a:schemeClr>
                </a:gs>
                <a:gs pos="0">
                  <a:schemeClr val="accent2">
                    <a:lumMod val="20000"/>
                    <a:lumOff val="80000"/>
                  </a:schemeClr>
                </a:gs>
                <a:gs pos="95000">
                  <a:schemeClr val="accent2"/>
                </a:gs>
              </a:gsLst>
              <a:path path="circle">
                <a:fillToRect l="50000" t="-80000" r="50000" b="180000"/>
              </a:path>
              <a:tileRect/>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22" name="Picture 6" descr="D:\MBA工作\LOGO\同济经管LOGO反白.png"/>
          <p:cNvPicPr>
            <a:picLocks noChangeAspect="1" noChangeArrowheads="1"/>
          </p:cNvPicPr>
          <p:nvPr/>
        </p:nvPicPr>
        <p:blipFill>
          <a:blip r:embed="rId3" cstate="email">
            <a:extLst>
              <a:ext uri="{28A0092B-C50C-407E-A947-70E740481C1C}">
                <a14:useLocalDpi xmlns:a14="http://schemas.microsoft.com/office/drawing/2010/main" val="0"/>
              </a:ext>
            </a:extLst>
          </a:blip>
          <a:srcRect/>
          <a:stretch>
            <a:fillRect/>
          </a:stretch>
        </p:blipFill>
        <p:spPr bwMode="auto">
          <a:xfrm>
            <a:off x="10267423" y="165688"/>
            <a:ext cx="1386605" cy="462962"/>
          </a:xfrm>
          <a:prstGeom prst="rect">
            <a:avLst/>
          </a:prstGeom>
          <a:noFill/>
          <a:extLst>
            <a:ext uri="{909E8E84-426E-40DD-AFC4-6F175D3DCCD1}">
              <a14:hiddenFill xmlns:a14="http://schemas.microsoft.com/office/drawing/2010/main">
                <a:solidFill>
                  <a:srgbClr val="FFFFFF"/>
                </a:solidFill>
              </a14:hiddenFill>
            </a:ext>
          </a:extLst>
        </p:spPr>
      </p:pic>
      <p:pic>
        <p:nvPicPr>
          <p:cNvPr id="2" name="图片 1" descr="微信图片_20220318113523"/>
          <p:cNvPicPr>
            <a:picLocks noChangeAspect="1"/>
          </p:cNvPicPr>
          <p:nvPr userDrawn="1"/>
        </p:nvPicPr>
        <p:blipFill>
          <a:blip r:embed="rId4"/>
          <a:stretch>
            <a:fillRect/>
          </a:stretch>
        </p:blipFill>
        <p:spPr>
          <a:xfrm>
            <a:off x="9291877" y="6115050"/>
            <a:ext cx="2244725" cy="361315"/>
          </a:xfrm>
          <a:prstGeom prst="rect">
            <a:avLst/>
          </a:prstGeom>
        </p:spPr>
      </p:pic>
      <p:sp>
        <p:nvSpPr>
          <p:cNvPr id="18" name="Rectangle 2">
            <a:extLst>
              <a:ext uri="{FF2B5EF4-FFF2-40B4-BE49-F238E27FC236}">
                <a16:creationId xmlns:a16="http://schemas.microsoft.com/office/drawing/2014/main" id="{E217C615-1D49-4D07-B850-D36106D7AA9A}"/>
              </a:ext>
            </a:extLst>
          </p:cNvPr>
          <p:cNvSpPr>
            <a:spLocks noChangeArrowheads="1"/>
          </p:cNvSpPr>
          <p:nvPr/>
        </p:nvSpPr>
        <p:spPr bwMode="auto">
          <a:xfrm>
            <a:off x="1000125" y="815365"/>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8" name="Rectangle 3">
            <a:extLst>
              <a:ext uri="{FF2B5EF4-FFF2-40B4-BE49-F238E27FC236}">
                <a16:creationId xmlns:a16="http://schemas.microsoft.com/office/drawing/2014/main" id="{97F08C45-3D15-45C1-A5A3-D1EB58DC91FE}"/>
              </a:ext>
            </a:extLst>
          </p:cNvPr>
          <p:cNvSpPr txBox="1">
            <a:spLocks noChangeArrowheads="1"/>
          </p:cNvSpPr>
          <p:nvPr/>
        </p:nvSpPr>
        <p:spPr>
          <a:xfrm>
            <a:off x="557684" y="794339"/>
            <a:ext cx="11046358" cy="5205303"/>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20000"/>
              </a:lnSpc>
              <a:spcBef>
                <a:spcPts val="300"/>
              </a:spcBef>
              <a:buClr>
                <a:srgbClr val="0B61FF"/>
              </a:buClr>
              <a:buSzPct val="80000"/>
              <a:buFont typeface="Wingdings" panose="05000000000000000000" pitchFamily="2" charset="2"/>
              <a:buChar char="n"/>
            </a:pPr>
            <a:r>
              <a:rPr lang="en-US" altLang="zh-CN" sz="2400" b="1" dirty="0">
                <a:latin typeface="Trebuchet MS" panose="020B0603020202020204" pitchFamily="34" charset="0"/>
              </a:rPr>
              <a:t>Proof: </a:t>
            </a:r>
            <a:r>
              <a:rPr lang="en-US" altLang="zh-CN" sz="2400" b="1" dirty="0">
                <a:solidFill>
                  <a:srgbClr val="0B61FF"/>
                </a:solidFill>
                <a:latin typeface="Trebuchet MS" panose="020B0603020202020204" pitchFamily="34" charset="0"/>
                <a:sym typeface="Symbol" panose="05050102010706020507" pitchFamily="18" charset="2"/>
              </a:rPr>
              <a:t>(3)</a:t>
            </a:r>
            <a:r>
              <a:rPr lang="en-US" altLang="zh-CN" sz="2400" b="1" dirty="0">
                <a:latin typeface="Trebuchet MS" panose="020B0603020202020204" pitchFamily="34" charset="0"/>
                <a:sym typeface="Symbol" panose="05050102010706020507" pitchFamily="18" charset="2"/>
              </a:rPr>
              <a:t></a:t>
            </a:r>
            <a:r>
              <a:rPr lang="en-US" altLang="zh-CN" sz="2400" b="1" dirty="0">
                <a:solidFill>
                  <a:srgbClr val="0B61FF"/>
                </a:solidFill>
                <a:latin typeface="Trebuchet MS" panose="020B0603020202020204" pitchFamily="34" charset="0"/>
                <a:sym typeface="Symbol" panose="05050102010706020507" pitchFamily="18" charset="2"/>
              </a:rPr>
              <a:t>(4)</a:t>
            </a:r>
            <a:r>
              <a:rPr lang="en-US" altLang="zh-CN" sz="2400" b="1" dirty="0">
                <a:latin typeface="Trebuchet MS" panose="020B0603020202020204" pitchFamily="34" charset="0"/>
                <a:sym typeface="Symbol" panose="05050102010706020507" pitchFamily="18" charset="2"/>
              </a:rPr>
              <a:t> </a:t>
            </a:r>
          </a:p>
          <a:p>
            <a:pPr marL="625475" indent="-449263">
              <a:lnSpc>
                <a:spcPct val="120000"/>
              </a:lnSpc>
              <a:spcBef>
                <a:spcPts val="0"/>
              </a:spcBef>
              <a:buNone/>
            </a:pPr>
            <a:r>
              <a:rPr lang="en-US" altLang="zh-CN" sz="2400" b="1" dirty="0">
                <a:solidFill>
                  <a:srgbClr val="0B61FF"/>
                </a:solidFill>
                <a:latin typeface="Trebuchet MS" panose="020B0603020202020204" pitchFamily="34" charset="0"/>
              </a:rPr>
              <a:t>① </a:t>
            </a:r>
            <a:r>
              <a:rPr lang="en-US" altLang="zh-CN" sz="2400" dirty="0">
                <a:latin typeface="Trebuchet MS" panose="020B0603020202020204" pitchFamily="34" charset="0"/>
              </a:rPr>
              <a:t>Suppose </a:t>
            </a:r>
            <a:r>
              <a:rPr lang="en-US" altLang="zh-CN" sz="2400" b="1" i="1" dirty="0">
                <a:latin typeface="Trebuchet MS" panose="020B0603020202020204" pitchFamily="34" charset="0"/>
              </a:rPr>
              <a:t>G</a:t>
            </a:r>
            <a:r>
              <a:rPr lang="en-US" altLang="zh-CN" sz="2400" dirty="0">
                <a:latin typeface="Trebuchet MS" panose="020B0603020202020204" pitchFamily="34" charset="0"/>
              </a:rPr>
              <a:t> contains a cycle. Then, by removing any edge from the cycle, the resulting graph remains connected. </a:t>
            </a:r>
          </a:p>
          <a:p>
            <a:pPr marL="625475" indent="-449263">
              <a:lnSpc>
                <a:spcPct val="120000"/>
              </a:lnSpc>
              <a:spcBef>
                <a:spcPts val="300"/>
              </a:spcBef>
              <a:buNone/>
            </a:pPr>
            <a:r>
              <a:rPr lang="en-US" altLang="zh-CN" sz="2400" b="1" dirty="0">
                <a:solidFill>
                  <a:srgbClr val="0B61FF"/>
                </a:solidFill>
                <a:latin typeface="Trebuchet MS" panose="020B0603020202020204" pitchFamily="34" charset="0"/>
              </a:rPr>
              <a:t>② </a:t>
            </a:r>
            <a:r>
              <a:rPr lang="en-US" altLang="zh-CN" sz="2400" dirty="0">
                <a:latin typeface="Trebuchet MS" panose="020B0603020202020204" pitchFamily="34" charset="0"/>
              </a:rPr>
              <a:t>Repeat this process until no cycles remain. The resulting graph is a tree with </a:t>
            </a:r>
            <a:r>
              <a:rPr lang="en-US" altLang="zh-CN" sz="2400" b="1" i="1" dirty="0">
                <a:latin typeface="Trebuchet MS" panose="020B0603020202020204" pitchFamily="34" charset="0"/>
                <a:cs typeface="Times New Roman" panose="02020603050405020304" pitchFamily="18" charset="0"/>
                <a:sym typeface="Symbol" panose="05050102010706020507" pitchFamily="18" charset="2"/>
              </a:rPr>
              <a:t>n</a:t>
            </a:r>
            <a:r>
              <a:rPr lang="en-US" altLang="zh-CN" sz="2400" dirty="0">
                <a:latin typeface="Trebuchet MS" panose="020B0603020202020204" pitchFamily="34" charset="0"/>
              </a:rPr>
              <a:t> vertices and  </a:t>
            </a:r>
            <a:r>
              <a:rPr lang="en-US" altLang="zh-CN" sz="2400" b="1" i="1" dirty="0">
                <a:latin typeface="Trebuchet MS" panose="020B0603020202020204" pitchFamily="34" charset="0"/>
                <a:cs typeface="Times New Roman" panose="02020603050405020304" pitchFamily="18" charset="0"/>
                <a:sym typeface="Symbol" panose="05050102010706020507" pitchFamily="18" charset="2"/>
              </a:rPr>
              <a:t>m-r</a:t>
            </a:r>
            <a:r>
              <a:rPr lang="en-US" altLang="zh-CN" sz="2400" dirty="0">
                <a:latin typeface="Trebuchet MS" panose="020B0603020202020204" pitchFamily="34" charset="0"/>
              </a:rPr>
              <a:t> edges</a:t>
            </a:r>
            <a:r>
              <a:rPr lang="zh-CN" altLang="en-US" sz="2400" b="1" dirty="0">
                <a:latin typeface="Trebuchet MS" panose="020B0603020202020204" pitchFamily="34" charset="0"/>
                <a:cs typeface="Times New Roman" panose="02020603050405020304" pitchFamily="18" charset="0"/>
                <a:sym typeface="Symbol" panose="05050102010706020507" pitchFamily="18" charset="2"/>
              </a:rPr>
              <a:t>, </a:t>
            </a:r>
            <a:r>
              <a:rPr lang="en-US" altLang="zh-CN" sz="2400" b="1" i="1" dirty="0">
                <a:latin typeface="Trebuchet MS" panose="020B0603020202020204" pitchFamily="34" charset="0"/>
                <a:cs typeface="Times New Roman" panose="02020603050405020304" pitchFamily="18" charset="0"/>
                <a:sym typeface="Symbol" panose="05050102010706020507" pitchFamily="18" charset="2"/>
              </a:rPr>
              <a:t>r</a:t>
            </a:r>
            <a:r>
              <a:rPr lang="en-US" altLang="zh-CN" sz="2400" b="1" dirty="0">
                <a:latin typeface="Trebuchet MS" panose="020B0603020202020204" pitchFamily="34" charset="0"/>
                <a:cs typeface="Times New Roman" panose="02020603050405020304" pitchFamily="18" charset="0"/>
                <a:sym typeface="Symbol" panose="05050102010706020507" pitchFamily="18" charset="2"/>
              </a:rPr>
              <a:t>&gt;0. </a:t>
            </a:r>
          </a:p>
          <a:p>
            <a:pPr marL="625475" indent="-449263">
              <a:lnSpc>
                <a:spcPct val="120000"/>
              </a:lnSpc>
              <a:spcBef>
                <a:spcPts val="300"/>
              </a:spcBef>
              <a:buNone/>
            </a:pPr>
            <a:r>
              <a:rPr lang="en-US" altLang="zh-CN" sz="2400" b="1" dirty="0">
                <a:solidFill>
                  <a:srgbClr val="0B61FF"/>
                </a:solidFill>
                <a:latin typeface="Trebuchet MS" panose="020B0603020202020204" pitchFamily="34" charset="0"/>
                <a:sym typeface="Symbol" panose="05050102010706020507" pitchFamily="18" charset="2"/>
              </a:rPr>
              <a:t>③ </a:t>
            </a:r>
            <a:r>
              <a:rPr lang="en-US" altLang="zh-CN" sz="2400" dirty="0">
                <a:latin typeface="Trebuchet MS" panose="020B0603020202020204" pitchFamily="34" charset="0"/>
              </a:rPr>
              <a:t>From</a:t>
            </a:r>
            <a:r>
              <a:rPr lang="en-US" altLang="zh-CN" sz="2400" dirty="0"/>
              <a:t> </a:t>
            </a:r>
            <a:r>
              <a:rPr lang="zh-CN" altLang="en-US" sz="2400" b="1" dirty="0">
                <a:latin typeface="Trebuchet MS" panose="020B0603020202020204" pitchFamily="34" charset="0"/>
                <a:cs typeface="Times New Roman" panose="02020603050405020304" pitchFamily="18" charset="0"/>
                <a:sym typeface="Symbol" panose="05050102010706020507" pitchFamily="18" charset="2"/>
              </a:rPr>
              <a:t>(1)</a:t>
            </a:r>
            <a:r>
              <a:rPr lang="en-US" altLang="zh-CN" sz="2400" b="1" dirty="0">
                <a:latin typeface="Trebuchet MS" panose="020B0603020202020204" pitchFamily="34" charset="0"/>
                <a:cs typeface="Times New Roman" panose="02020603050405020304" pitchFamily="18" charset="0"/>
                <a:sym typeface="Symbol" panose="05050102010706020507" pitchFamily="18" charset="2"/>
              </a:rPr>
              <a:t>(2)(3), </a:t>
            </a:r>
            <a:r>
              <a:rPr lang="en-US" altLang="zh-CN" sz="2400" dirty="0">
                <a:latin typeface="Trebuchet MS" panose="020B0603020202020204" pitchFamily="34" charset="0"/>
                <a:cs typeface="Times New Roman" panose="02020603050405020304" pitchFamily="18" charset="0"/>
                <a:sym typeface="Symbol" panose="05050102010706020507" pitchFamily="18" charset="2"/>
              </a:rPr>
              <a:t>we</a:t>
            </a:r>
            <a:r>
              <a:rPr lang="zh-CN" altLang="en-US" sz="2400" dirty="0">
                <a:latin typeface="Trebuchet MS" panose="020B0603020202020204" pitchFamily="34" charset="0"/>
                <a:cs typeface="Times New Roman" panose="02020603050405020304" pitchFamily="18" charset="0"/>
                <a:sym typeface="Symbol" panose="05050102010706020507" pitchFamily="18" charset="2"/>
              </a:rPr>
              <a:t> </a:t>
            </a:r>
            <a:r>
              <a:rPr lang="en-US" altLang="zh-CN" sz="2400" dirty="0">
                <a:latin typeface="Trebuchet MS" panose="020B0603020202020204" pitchFamily="34" charset="0"/>
                <a:cs typeface="Times New Roman" panose="02020603050405020304" pitchFamily="18" charset="0"/>
                <a:sym typeface="Symbol" panose="05050102010706020507" pitchFamily="18" charset="2"/>
              </a:rPr>
              <a:t>know </a:t>
            </a:r>
            <a:r>
              <a:rPr lang="en-US" altLang="zh-CN" sz="2400" b="1" i="1" dirty="0">
                <a:latin typeface="Trebuchet MS" panose="020B0603020202020204" pitchFamily="34" charset="0"/>
                <a:cs typeface="Times New Roman" panose="02020603050405020304" pitchFamily="18" charset="0"/>
                <a:sym typeface="Symbol" panose="05050102010706020507" pitchFamily="18" charset="2"/>
              </a:rPr>
              <a:t>m-r</a:t>
            </a:r>
            <a:r>
              <a:rPr lang="zh-CN" altLang="en-US" sz="2400" b="1" dirty="0">
                <a:latin typeface="Trebuchet MS" panose="020B0603020202020204" pitchFamily="34" charset="0"/>
                <a:cs typeface="Times New Roman" panose="02020603050405020304" pitchFamily="18" charset="0"/>
                <a:sym typeface="Symbol" panose="05050102010706020507" pitchFamily="18" charset="2"/>
              </a:rPr>
              <a:t> =</a:t>
            </a:r>
            <a:r>
              <a:rPr lang="en-US" altLang="zh-CN" sz="2400" b="1" i="1" dirty="0">
                <a:latin typeface="Trebuchet MS" panose="020B0603020202020204" pitchFamily="34" charset="0"/>
                <a:cs typeface="Times New Roman" panose="02020603050405020304" pitchFamily="18" charset="0"/>
                <a:sym typeface="Symbol" panose="05050102010706020507" pitchFamily="18" charset="2"/>
              </a:rPr>
              <a:t>n</a:t>
            </a:r>
            <a:r>
              <a:rPr lang="en-US" altLang="zh-CN" sz="2400" b="1" dirty="0">
                <a:latin typeface="Trebuchet MS" panose="020B0603020202020204" pitchFamily="34" charset="0"/>
                <a:cs typeface="Times New Roman" panose="02020603050405020304" pitchFamily="18" charset="0"/>
                <a:sym typeface="Symbol" panose="05050102010706020507" pitchFamily="18" charset="2"/>
              </a:rPr>
              <a:t>-1, </a:t>
            </a:r>
            <a:r>
              <a:rPr lang="en-US" altLang="zh-CN" sz="2400" dirty="0">
                <a:latin typeface="Trebuchet MS" panose="020B0603020202020204" pitchFamily="34" charset="0"/>
              </a:rPr>
              <a:t>which contradicts the assumption that </a:t>
            </a:r>
            <a:r>
              <a:rPr lang="en-US" altLang="zh-CN" sz="2400" b="1" i="1" dirty="0">
                <a:latin typeface="Trebuchet MS" panose="020B0603020202020204" pitchFamily="34" charset="0"/>
              </a:rPr>
              <a:t>m</a:t>
            </a:r>
            <a:r>
              <a:rPr lang="en-US" altLang="zh-CN" sz="2400" b="1" dirty="0">
                <a:latin typeface="Trebuchet MS" panose="020B0603020202020204" pitchFamily="34" charset="0"/>
              </a:rPr>
              <a:t>=</a:t>
            </a:r>
            <a:r>
              <a:rPr lang="en-US" altLang="zh-CN" sz="2400" b="1" i="1" dirty="0">
                <a:latin typeface="Trebuchet MS" panose="020B0603020202020204" pitchFamily="34" charset="0"/>
              </a:rPr>
              <a:t>n</a:t>
            </a:r>
            <a:r>
              <a:rPr lang="en-US" altLang="zh-CN" sz="2400" b="1" dirty="0">
                <a:latin typeface="Trebuchet MS" panose="020B0603020202020204" pitchFamily="34" charset="0"/>
              </a:rPr>
              <a:t>−1</a:t>
            </a:r>
            <a:r>
              <a:rPr lang="zh-CN" altLang="en-US" sz="2400" b="1" dirty="0">
                <a:latin typeface="Trebuchet MS" panose="020B0603020202020204" pitchFamily="34" charset="0"/>
                <a:cs typeface="Times New Roman" panose="02020603050405020304" pitchFamily="18" charset="0"/>
                <a:sym typeface="Symbol" panose="05050102010706020507" pitchFamily="18" charset="2"/>
              </a:rPr>
              <a:t>.</a:t>
            </a:r>
          </a:p>
          <a:p>
            <a:pPr>
              <a:lnSpc>
                <a:spcPct val="120000"/>
              </a:lnSpc>
              <a:spcBef>
                <a:spcPts val="300"/>
              </a:spcBef>
              <a:buClr>
                <a:srgbClr val="0B61FF"/>
              </a:buClr>
              <a:buSzPct val="80000"/>
              <a:buFont typeface="Wingdings" panose="05000000000000000000" pitchFamily="2" charset="2"/>
              <a:buChar char="n"/>
            </a:pPr>
            <a:r>
              <a:rPr lang="en-US" altLang="zh-CN" sz="2400" b="1" dirty="0">
                <a:latin typeface="Trebuchet MS" panose="020B0603020202020204" pitchFamily="34" charset="0"/>
              </a:rPr>
              <a:t>Proof: </a:t>
            </a:r>
            <a:r>
              <a:rPr lang="en-US" altLang="zh-CN" sz="2400" b="1" dirty="0">
                <a:solidFill>
                  <a:srgbClr val="0B61FF"/>
                </a:solidFill>
                <a:latin typeface="Trebuchet MS" panose="020B0603020202020204" pitchFamily="34" charset="0"/>
                <a:sym typeface="Symbol" panose="05050102010706020507" pitchFamily="18" charset="2"/>
              </a:rPr>
              <a:t>(4)</a:t>
            </a:r>
            <a:r>
              <a:rPr lang="en-US" altLang="zh-CN" sz="2400" b="1" dirty="0">
                <a:latin typeface="Trebuchet MS" panose="020B0603020202020204" pitchFamily="34" charset="0"/>
                <a:sym typeface="Symbol" panose="05050102010706020507" pitchFamily="18" charset="2"/>
              </a:rPr>
              <a:t></a:t>
            </a:r>
            <a:r>
              <a:rPr lang="en-US" altLang="zh-CN" sz="2400" b="1" dirty="0">
                <a:solidFill>
                  <a:srgbClr val="0B61FF"/>
                </a:solidFill>
                <a:latin typeface="Trebuchet MS" panose="020B0603020202020204" pitchFamily="34" charset="0"/>
                <a:sym typeface="Symbol" panose="05050102010706020507" pitchFamily="18" charset="2"/>
              </a:rPr>
              <a:t>(1)  </a:t>
            </a:r>
            <a:r>
              <a:rPr lang="en-US" altLang="zh-CN" sz="2400" dirty="0">
                <a:latin typeface="Trebuchet MS" panose="020B0603020202020204" pitchFamily="34" charset="0"/>
              </a:rPr>
              <a:t>We only need to prove that </a:t>
            </a:r>
            <a:r>
              <a:rPr lang="en-US" altLang="zh-CN" sz="2400" b="1" i="1" dirty="0">
                <a:latin typeface="Trebuchet MS" panose="020B0603020202020204" pitchFamily="34" charset="0"/>
              </a:rPr>
              <a:t>G</a:t>
            </a:r>
            <a:r>
              <a:rPr lang="en-US" altLang="zh-CN" sz="2400" dirty="0">
                <a:latin typeface="Trebuchet MS" panose="020B0603020202020204" pitchFamily="34" charset="0"/>
              </a:rPr>
              <a:t> is connected</a:t>
            </a:r>
            <a:r>
              <a:rPr lang="zh-CN" altLang="en-US" sz="2400" b="1" dirty="0">
                <a:latin typeface="Trebuchet MS" panose="020B0603020202020204" pitchFamily="34" charset="0"/>
                <a:cs typeface="Times New Roman" panose="02020603050405020304" pitchFamily="18" charset="0"/>
                <a:sym typeface="Symbol" panose="05050102010706020507" pitchFamily="18" charset="2"/>
              </a:rPr>
              <a:t>. </a:t>
            </a:r>
            <a:endParaRPr lang="en-US" altLang="zh-CN" sz="2400" b="1" dirty="0">
              <a:latin typeface="Trebuchet MS" panose="020B0603020202020204" pitchFamily="34" charset="0"/>
              <a:cs typeface="Times New Roman" panose="02020603050405020304" pitchFamily="18" charset="0"/>
              <a:sym typeface="Symbol" panose="05050102010706020507" pitchFamily="18" charset="2"/>
            </a:endParaRPr>
          </a:p>
          <a:p>
            <a:pPr indent="-52388">
              <a:lnSpc>
                <a:spcPct val="120000"/>
              </a:lnSpc>
              <a:spcBef>
                <a:spcPts val="300"/>
              </a:spcBef>
              <a:buNone/>
            </a:pPr>
            <a:r>
              <a:rPr lang="en-US" altLang="zh-CN" sz="2400" b="1" dirty="0">
                <a:solidFill>
                  <a:srgbClr val="0B61FF"/>
                </a:solidFill>
                <a:latin typeface="Trebuchet MS" panose="020B0603020202020204" pitchFamily="34" charset="0"/>
              </a:rPr>
              <a:t>① </a:t>
            </a:r>
            <a:r>
              <a:rPr lang="en-US" altLang="zh-CN" sz="2400" dirty="0">
                <a:latin typeface="Trebuchet MS" panose="020B0603020202020204" pitchFamily="34" charset="0"/>
              </a:rPr>
              <a:t>Assume </a:t>
            </a:r>
            <a:r>
              <a:rPr lang="en-US" altLang="zh-CN" sz="2400" b="1" i="1" dirty="0">
                <a:latin typeface="Trebuchet MS" panose="020B0603020202020204" pitchFamily="34" charset="0"/>
              </a:rPr>
              <a:t>G</a:t>
            </a:r>
            <a:r>
              <a:rPr lang="en-US" altLang="zh-CN" sz="2400" dirty="0">
                <a:latin typeface="Trebuchet MS" panose="020B0603020202020204" pitchFamily="34" charset="0"/>
              </a:rPr>
              <a:t> is disconnected and has </a:t>
            </a:r>
            <a:r>
              <a:rPr lang="en-US" altLang="zh-CN" sz="2400" b="1" i="1" dirty="0">
                <a:latin typeface="Trebuchet MS" panose="020B0603020202020204" pitchFamily="34" charset="0"/>
              </a:rPr>
              <a:t>p</a:t>
            </a:r>
            <a:r>
              <a:rPr lang="en-US" altLang="zh-CN" sz="2400" dirty="0">
                <a:latin typeface="Trebuchet MS" panose="020B0603020202020204" pitchFamily="34" charset="0"/>
              </a:rPr>
              <a:t> connected components, where </a:t>
            </a:r>
            <a:r>
              <a:rPr lang="en-US" altLang="zh-CN" sz="2400" b="1" i="1" dirty="0">
                <a:latin typeface="Trebuchet MS" panose="020B0603020202020204" pitchFamily="34" charset="0"/>
                <a:cs typeface="Times New Roman" panose="02020603050405020304" pitchFamily="18" charset="0"/>
                <a:sym typeface="Symbol" panose="05050102010706020507" pitchFamily="18" charset="2"/>
              </a:rPr>
              <a:t>p</a:t>
            </a:r>
            <a:r>
              <a:rPr lang="en-US" altLang="zh-CN" sz="2400" b="1" dirty="0">
                <a:latin typeface="Trebuchet MS" panose="020B0603020202020204" pitchFamily="34" charset="0"/>
                <a:cs typeface="Times New Roman" panose="02020603050405020304" pitchFamily="18" charset="0"/>
                <a:sym typeface="Symbol" panose="05050102010706020507" pitchFamily="18" charset="2"/>
              </a:rPr>
              <a:t>(</a:t>
            </a:r>
            <a:r>
              <a:rPr lang="en-US" altLang="zh-CN" sz="2400" b="1" i="1" dirty="0">
                <a:latin typeface="Trebuchet MS" panose="020B0603020202020204" pitchFamily="34" charset="0"/>
                <a:cs typeface="Times New Roman" panose="02020603050405020304" pitchFamily="18" charset="0"/>
                <a:sym typeface="Symbol" panose="05050102010706020507" pitchFamily="18" charset="2"/>
              </a:rPr>
              <a:t>p</a:t>
            </a:r>
            <a:r>
              <a:rPr lang="en-US" altLang="zh-CN" sz="2400" b="1" dirty="0">
                <a:latin typeface="Trebuchet MS" panose="020B0603020202020204" pitchFamily="34" charset="0"/>
                <a:cs typeface="Times New Roman" panose="02020603050405020304" pitchFamily="18" charset="0"/>
                <a:sym typeface="Symbol" panose="05050102010706020507" pitchFamily="18" charset="2"/>
              </a:rPr>
              <a:t>&gt;1)</a:t>
            </a:r>
            <a:r>
              <a:rPr lang="zh-CN" altLang="en-US" sz="2400" b="1" dirty="0">
                <a:latin typeface="Trebuchet MS" panose="020B0603020202020204" pitchFamily="34" charset="0"/>
                <a:cs typeface="Times New Roman" panose="02020603050405020304" pitchFamily="18" charset="0"/>
                <a:sym typeface="Symbol" panose="05050102010706020507" pitchFamily="18" charset="2"/>
              </a:rPr>
              <a:t>.</a:t>
            </a:r>
            <a:endParaRPr lang="en-US" altLang="zh-CN" sz="2400" b="1" dirty="0">
              <a:latin typeface="Trebuchet MS" panose="020B0603020202020204" pitchFamily="34" charset="0"/>
              <a:cs typeface="Times New Roman" panose="02020603050405020304" pitchFamily="18" charset="0"/>
              <a:sym typeface="Symbol" panose="05050102010706020507" pitchFamily="18" charset="2"/>
            </a:endParaRPr>
          </a:p>
          <a:p>
            <a:pPr marL="536575" indent="-360363">
              <a:lnSpc>
                <a:spcPct val="120000"/>
              </a:lnSpc>
              <a:spcBef>
                <a:spcPts val="300"/>
              </a:spcBef>
              <a:buNone/>
            </a:pPr>
            <a:r>
              <a:rPr lang="en-US" altLang="zh-CN" sz="2400" b="1" dirty="0">
                <a:solidFill>
                  <a:srgbClr val="0B61FF"/>
                </a:solidFill>
                <a:latin typeface="Trebuchet MS" panose="020B0603020202020204" pitchFamily="34" charset="0"/>
              </a:rPr>
              <a:t>② </a:t>
            </a:r>
            <a:r>
              <a:rPr lang="en-US" altLang="zh-CN" sz="2400" dirty="0">
                <a:latin typeface="Trebuchet MS" panose="020B0603020202020204" pitchFamily="34" charset="0"/>
                <a:cs typeface="Times New Roman" panose="02020603050405020304" pitchFamily="18" charset="0"/>
                <a:sym typeface="Symbol" panose="05050102010706020507" pitchFamily="18" charset="2"/>
              </a:rPr>
              <a:t>Let the </a:t>
            </a:r>
            <a:r>
              <a:rPr lang="en-US" altLang="zh-CN" sz="2400" b="1" i="1" dirty="0">
                <a:latin typeface="Trebuchet MS" panose="020B0603020202020204" pitchFamily="34" charset="0"/>
                <a:cs typeface="Times New Roman" panose="02020603050405020304" pitchFamily="18" charset="0"/>
                <a:sym typeface="Symbol" panose="05050102010706020507" pitchFamily="18" charset="2"/>
              </a:rPr>
              <a:t>k-</a:t>
            </a:r>
            <a:r>
              <a:rPr lang="en-US" altLang="zh-CN" sz="2400" b="1" i="1" dirty="0" err="1">
                <a:latin typeface="Trebuchet MS" panose="020B0603020202020204" pitchFamily="34" charset="0"/>
                <a:cs typeface="Times New Roman" panose="02020603050405020304" pitchFamily="18" charset="0"/>
                <a:sym typeface="Symbol" panose="05050102010706020507" pitchFamily="18" charset="2"/>
              </a:rPr>
              <a:t>th</a:t>
            </a:r>
            <a:r>
              <a:rPr lang="en-US" altLang="zh-CN" sz="2400" b="1" i="1" dirty="0">
                <a:latin typeface="Trebuchet MS" panose="020B0603020202020204" pitchFamily="34" charset="0"/>
                <a:cs typeface="Times New Roman" panose="02020603050405020304" pitchFamily="18" charset="0"/>
                <a:sym typeface="Symbol" panose="05050102010706020507" pitchFamily="18" charset="2"/>
              </a:rPr>
              <a:t> </a:t>
            </a:r>
            <a:r>
              <a:rPr lang="en-US" altLang="zh-CN" sz="2400" dirty="0">
                <a:latin typeface="Trebuchet MS" panose="020B0603020202020204" pitchFamily="34" charset="0"/>
              </a:rPr>
              <a:t>component have </a:t>
            </a:r>
            <a:r>
              <a:rPr lang="en-US" altLang="zh-CN" sz="2400" b="1" i="1" dirty="0" err="1">
                <a:latin typeface="Trebuchet MS" panose="020B0603020202020204" pitchFamily="34" charset="0"/>
                <a:cs typeface="Times New Roman" panose="02020603050405020304" pitchFamily="18" charset="0"/>
                <a:sym typeface="Symbol" panose="05050102010706020507" pitchFamily="18" charset="2"/>
              </a:rPr>
              <a:t>n</a:t>
            </a:r>
            <a:r>
              <a:rPr lang="en-US" altLang="zh-CN" sz="2400" b="1" i="1" baseline="-25000" dirty="0" err="1">
                <a:latin typeface="Trebuchet MS" panose="020B0603020202020204" pitchFamily="34" charset="0"/>
                <a:cs typeface="Times New Roman" panose="02020603050405020304" pitchFamily="18" charset="0"/>
                <a:sym typeface="Symbol" panose="05050102010706020507" pitchFamily="18" charset="2"/>
              </a:rPr>
              <a:t>k</a:t>
            </a:r>
            <a:r>
              <a:rPr lang="en-US" altLang="zh-CN" sz="2400" dirty="0">
                <a:latin typeface="Trebuchet MS" panose="020B0603020202020204" pitchFamily="34" charset="0"/>
              </a:rPr>
              <a:t> vertices and </a:t>
            </a:r>
            <a:r>
              <a:rPr lang="en-US" altLang="zh-CN" sz="2400" b="1" i="1" dirty="0" err="1">
                <a:latin typeface="Trebuchet MS" panose="020B0603020202020204" pitchFamily="34" charset="0"/>
                <a:cs typeface="Times New Roman" panose="02020603050405020304" pitchFamily="18" charset="0"/>
                <a:sym typeface="Symbol" panose="05050102010706020507" pitchFamily="18" charset="2"/>
              </a:rPr>
              <a:t>m</a:t>
            </a:r>
            <a:r>
              <a:rPr lang="en-US" altLang="zh-CN" sz="2400" b="1" i="1" baseline="-25000" dirty="0" err="1">
                <a:latin typeface="Trebuchet MS" panose="020B0603020202020204" pitchFamily="34" charset="0"/>
                <a:cs typeface="Times New Roman" panose="02020603050405020304" pitchFamily="18" charset="0"/>
                <a:sym typeface="Symbol" panose="05050102010706020507" pitchFamily="18" charset="2"/>
              </a:rPr>
              <a:t>k</a:t>
            </a:r>
            <a:r>
              <a:rPr lang="en-US" altLang="zh-CN" sz="2400" dirty="0">
                <a:latin typeface="Trebuchet MS" panose="020B0603020202020204" pitchFamily="34" charset="0"/>
              </a:rPr>
              <a:t> edges</a:t>
            </a:r>
            <a:r>
              <a:rPr lang="zh-CN" altLang="en-US" sz="2400" b="1" dirty="0">
                <a:latin typeface="Trebuchet MS" panose="020B0603020202020204" pitchFamily="34" charset="0"/>
                <a:cs typeface="Times New Roman" panose="02020603050405020304" pitchFamily="18" charset="0"/>
                <a:sym typeface="Symbol" panose="05050102010706020507" pitchFamily="18" charset="2"/>
              </a:rPr>
              <a:t>, </a:t>
            </a:r>
            <a:r>
              <a:rPr lang="en-US" altLang="zh-CN" sz="2400" b="1" dirty="0">
                <a:latin typeface="Trebuchet MS" panose="020B0603020202020204" pitchFamily="34" charset="0"/>
                <a:cs typeface="Times New Roman" panose="02020603050405020304" pitchFamily="18" charset="0"/>
                <a:sym typeface="Symbol" panose="05050102010706020507" pitchFamily="18" charset="2"/>
              </a:rPr>
              <a:t>by </a:t>
            </a:r>
            <a:r>
              <a:rPr lang="zh-CN" altLang="en-US" sz="2400" b="1" dirty="0">
                <a:latin typeface="Trebuchet MS" panose="020B0603020202020204" pitchFamily="34" charset="0"/>
                <a:cs typeface="Times New Roman" panose="02020603050405020304" pitchFamily="18" charset="0"/>
                <a:sym typeface="Symbol" panose="05050102010706020507" pitchFamily="18" charset="2"/>
              </a:rPr>
              <a:t>(1)</a:t>
            </a:r>
            <a:r>
              <a:rPr lang="en-US" altLang="zh-CN" sz="2400" b="1" dirty="0">
                <a:latin typeface="Trebuchet MS" panose="020B0603020202020204" pitchFamily="34" charset="0"/>
                <a:cs typeface="Times New Roman" panose="02020603050405020304" pitchFamily="18" charset="0"/>
                <a:sym typeface="Symbol" panose="05050102010706020507" pitchFamily="18" charset="2"/>
              </a:rPr>
              <a:t>(2)(3), </a:t>
            </a:r>
            <a:r>
              <a:rPr lang="en-US" altLang="zh-CN" sz="2400" b="1" i="1" dirty="0" err="1">
                <a:latin typeface="Trebuchet MS" panose="020B0603020202020204" pitchFamily="34" charset="0"/>
                <a:cs typeface="Times New Roman" panose="02020603050405020304" pitchFamily="18" charset="0"/>
                <a:sym typeface="Symbol" panose="05050102010706020507" pitchFamily="18" charset="2"/>
              </a:rPr>
              <a:t>m</a:t>
            </a:r>
            <a:r>
              <a:rPr lang="en-US" altLang="zh-CN" sz="2400" b="1" i="1" baseline="-25000" dirty="0" err="1">
                <a:latin typeface="Trebuchet MS" panose="020B0603020202020204" pitchFamily="34" charset="0"/>
                <a:cs typeface="Times New Roman" panose="02020603050405020304" pitchFamily="18" charset="0"/>
                <a:sym typeface="Symbol" panose="05050102010706020507" pitchFamily="18" charset="2"/>
              </a:rPr>
              <a:t>k</a:t>
            </a:r>
            <a:r>
              <a:rPr lang="zh-CN" altLang="en-US" sz="2400" b="1" dirty="0">
                <a:latin typeface="Trebuchet MS" panose="020B0603020202020204" pitchFamily="34" charset="0"/>
                <a:cs typeface="Times New Roman" panose="02020603050405020304" pitchFamily="18" charset="0"/>
                <a:sym typeface="Symbol" panose="05050102010706020507" pitchFamily="18" charset="2"/>
              </a:rPr>
              <a:t>= </a:t>
            </a:r>
            <a:r>
              <a:rPr lang="en-US" altLang="zh-CN" sz="2400" b="1" i="1" dirty="0" err="1">
                <a:latin typeface="Trebuchet MS" panose="020B0603020202020204" pitchFamily="34" charset="0"/>
                <a:cs typeface="Times New Roman" panose="02020603050405020304" pitchFamily="18" charset="0"/>
                <a:sym typeface="Symbol" panose="05050102010706020507" pitchFamily="18" charset="2"/>
              </a:rPr>
              <a:t>n</a:t>
            </a:r>
            <a:r>
              <a:rPr lang="en-US" altLang="zh-CN" sz="2400" b="1" i="1" baseline="-25000" dirty="0" err="1">
                <a:latin typeface="Trebuchet MS" panose="020B0603020202020204" pitchFamily="34" charset="0"/>
                <a:cs typeface="Times New Roman" panose="02020603050405020304" pitchFamily="18" charset="0"/>
                <a:sym typeface="Symbol" panose="05050102010706020507" pitchFamily="18" charset="2"/>
              </a:rPr>
              <a:t>k</a:t>
            </a:r>
            <a:r>
              <a:rPr lang="zh-CN" altLang="en-US" sz="2400" b="1" dirty="0">
                <a:latin typeface="Trebuchet MS" panose="020B0603020202020204" pitchFamily="34" charset="0"/>
                <a:cs typeface="Times New Roman" panose="02020603050405020304" pitchFamily="18" charset="0"/>
                <a:sym typeface="Symbol" panose="05050102010706020507" pitchFamily="18" charset="2"/>
              </a:rPr>
              <a:t>-1</a:t>
            </a:r>
            <a:r>
              <a:rPr lang="en-US" altLang="zh-CN" sz="2400" b="1" dirty="0">
                <a:latin typeface="Trebuchet MS" panose="020B0603020202020204" pitchFamily="34" charset="0"/>
                <a:cs typeface="Times New Roman" panose="02020603050405020304" pitchFamily="18" charset="0"/>
                <a:sym typeface="Symbol" panose="05050102010706020507" pitchFamily="18" charset="2"/>
              </a:rPr>
              <a:t>,</a:t>
            </a:r>
            <a:r>
              <a:rPr lang="zh-CN" altLang="en-US" sz="2400" b="1" dirty="0">
                <a:latin typeface="Trebuchet MS" panose="020B0603020202020204" pitchFamily="34" charset="0"/>
                <a:cs typeface="Times New Roman" panose="02020603050405020304" pitchFamily="18" charset="0"/>
                <a:sym typeface="Symbol" panose="05050102010706020507" pitchFamily="18" charset="2"/>
              </a:rPr>
              <a:t> </a:t>
            </a:r>
            <a:r>
              <a:rPr lang="en-US" altLang="zh-CN" sz="2400" b="1" dirty="0">
                <a:latin typeface="Trebuchet MS" panose="020B0603020202020204" pitchFamily="34" charset="0"/>
                <a:cs typeface="Times New Roman" panose="02020603050405020304" pitchFamily="18" charset="0"/>
                <a:sym typeface="Symbol" panose="05050102010706020507" pitchFamily="18" charset="2"/>
              </a:rPr>
              <a:t>get</a:t>
            </a:r>
            <a:r>
              <a:rPr lang="zh-CN" altLang="en-US" sz="2400" b="1" dirty="0">
                <a:latin typeface="Trebuchet MS" panose="020B0603020202020204" pitchFamily="34" charset="0"/>
                <a:cs typeface="Times New Roman" panose="02020603050405020304" pitchFamily="18" charset="0"/>
                <a:sym typeface="Symbol" panose="05050102010706020507" pitchFamily="18" charset="2"/>
              </a:rPr>
              <a:t> </a:t>
            </a:r>
            <a:r>
              <a:rPr lang="en-US" altLang="zh-CN" sz="2400" b="1" i="1" dirty="0">
                <a:latin typeface="Trebuchet MS" panose="020B0603020202020204" pitchFamily="34" charset="0"/>
                <a:cs typeface="Times New Roman" panose="02020603050405020304" pitchFamily="18" charset="0"/>
                <a:sym typeface="Symbol" panose="05050102010706020507" pitchFamily="18" charset="2"/>
              </a:rPr>
              <a:t>m</a:t>
            </a:r>
            <a:r>
              <a:rPr lang="zh-CN" altLang="en-US" sz="2400" b="1" dirty="0">
                <a:latin typeface="Trebuchet MS" panose="020B0603020202020204" pitchFamily="34" charset="0"/>
                <a:cs typeface="Times New Roman" panose="02020603050405020304" pitchFamily="18" charset="0"/>
                <a:sym typeface="Symbol" panose="05050102010706020507" pitchFamily="18" charset="2"/>
              </a:rPr>
              <a:t>= </a:t>
            </a:r>
            <a:r>
              <a:rPr lang="en-US" altLang="zh-CN" sz="2400" b="1" i="1" dirty="0">
                <a:latin typeface="Trebuchet MS" panose="020B0603020202020204" pitchFamily="34" charset="0"/>
                <a:cs typeface="Times New Roman" panose="02020603050405020304" pitchFamily="18" charset="0"/>
                <a:sym typeface="Symbol" panose="05050102010706020507" pitchFamily="18" charset="2"/>
              </a:rPr>
              <a:t>n-p</a:t>
            </a:r>
            <a:r>
              <a:rPr lang="zh-CN" altLang="en-US" sz="2400" b="1" dirty="0">
                <a:latin typeface="Trebuchet MS" panose="020B0603020202020204" pitchFamily="34" charset="0"/>
                <a:cs typeface="Times New Roman" panose="02020603050405020304" pitchFamily="18" charset="0"/>
                <a:sym typeface="Symbol" panose="05050102010706020507" pitchFamily="18" charset="2"/>
              </a:rPr>
              <a:t>, </a:t>
            </a:r>
            <a:r>
              <a:rPr lang="en-US" altLang="zh-CN" sz="2400" dirty="0">
                <a:latin typeface="Trebuchet MS" panose="020B0603020202020204" pitchFamily="34" charset="0"/>
              </a:rPr>
              <a:t>which contradicts the assumption that </a:t>
            </a:r>
            <a:r>
              <a:rPr lang="en-US" altLang="zh-CN" sz="2400" b="1" i="1" dirty="0">
                <a:latin typeface="Trebuchet MS" panose="020B0603020202020204" pitchFamily="34" charset="0"/>
              </a:rPr>
              <a:t>m</a:t>
            </a:r>
            <a:r>
              <a:rPr lang="en-US" altLang="zh-CN" sz="2400" b="1" dirty="0">
                <a:latin typeface="Trebuchet MS" panose="020B0603020202020204" pitchFamily="34" charset="0"/>
              </a:rPr>
              <a:t>=</a:t>
            </a:r>
            <a:r>
              <a:rPr lang="en-US" altLang="zh-CN" sz="2400" b="1" i="1" dirty="0">
                <a:latin typeface="Trebuchet MS" panose="020B0603020202020204" pitchFamily="34" charset="0"/>
              </a:rPr>
              <a:t>n</a:t>
            </a:r>
            <a:r>
              <a:rPr lang="en-US" altLang="zh-CN" sz="2400" b="1" dirty="0">
                <a:latin typeface="Trebuchet MS" panose="020B0603020202020204" pitchFamily="34" charset="0"/>
              </a:rPr>
              <a:t>−1</a:t>
            </a:r>
            <a:r>
              <a:rPr lang="en-US" altLang="zh-CN" sz="2400" dirty="0">
                <a:latin typeface="Trebuchet MS" panose="020B0603020202020204" pitchFamily="34" charset="0"/>
              </a:rPr>
              <a:t>.</a:t>
            </a:r>
            <a:endParaRPr lang="en-US" altLang="zh-CN" sz="2400" b="1" dirty="0">
              <a:latin typeface="Trebuchet MS" panose="020B0603020202020204" pitchFamily="34" charset="0"/>
              <a:cs typeface="Times New Roman" panose="02020603050405020304" pitchFamily="18" charset="0"/>
              <a:sym typeface="Symbol" panose="05050102010706020507" pitchFamily="18" charset="2"/>
            </a:endParaRPr>
          </a:p>
          <a:p>
            <a:pPr algn="just" eaLnBrk="1" hangingPunct="1">
              <a:lnSpc>
                <a:spcPct val="120000"/>
              </a:lnSpc>
              <a:spcBef>
                <a:spcPts val="0"/>
              </a:spcBef>
              <a:buClr>
                <a:srgbClr val="0B61FF"/>
              </a:buClr>
              <a:buSzPct val="80000"/>
              <a:buFont typeface="Wingdings" panose="05000000000000000000" pitchFamily="2" charset="2"/>
              <a:buChar char="n"/>
            </a:pPr>
            <a:endParaRPr lang="zh-CN" altLang="en-US" sz="2400" b="1" dirty="0">
              <a:latin typeface="Trebuchet MS" panose="020B0603020202020204" pitchFamily="34" charset="0"/>
            </a:endParaRPr>
          </a:p>
        </p:txBody>
      </p:sp>
    </p:spTree>
    <p:extLst>
      <p:ext uri="{BB962C8B-B14F-4D97-AF65-F5344CB8AC3E}">
        <p14:creationId xmlns:p14="http://schemas.microsoft.com/office/powerpoint/2010/main" val="2236374834"/>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8">
                                            <p:txEl>
                                              <p:pRg st="2" end="2"/>
                                            </p:txEl>
                                          </p:spTgt>
                                        </p:tgtEl>
                                        <p:attrNameLst>
                                          <p:attrName>style.visibility</p:attrName>
                                        </p:attrNameLst>
                                      </p:cBhvr>
                                      <p:to>
                                        <p:strVal val="visible"/>
                                      </p:to>
                                    </p:set>
                                    <p:animEffect transition="in" filter="fade">
                                      <p:cBhvr>
                                        <p:cTn id="7" dur="1000"/>
                                        <p:tgtEl>
                                          <p:spTgt spid="8">
                                            <p:txEl>
                                              <p:pRg st="2" end="2"/>
                                            </p:txEl>
                                          </p:spTgt>
                                        </p:tgtEl>
                                      </p:cBhvr>
                                    </p:animEffect>
                                    <p:anim calcmode="lin" valueType="num">
                                      <p:cBhvr>
                                        <p:cTn id="8" dur="1000" fill="hold"/>
                                        <p:tgtEl>
                                          <p:spTgt spid="8">
                                            <p:txEl>
                                              <p:pRg st="2" end="2"/>
                                            </p:txEl>
                                          </p:spTgt>
                                        </p:tgtEl>
                                        <p:attrNameLst>
                                          <p:attrName>ppt_x</p:attrName>
                                        </p:attrNameLst>
                                      </p:cBhvr>
                                      <p:tavLst>
                                        <p:tav tm="0">
                                          <p:val>
                                            <p:strVal val="#ppt_x"/>
                                          </p:val>
                                        </p:tav>
                                        <p:tav tm="100000">
                                          <p:val>
                                            <p:strVal val="#ppt_x"/>
                                          </p:val>
                                        </p:tav>
                                      </p:tavLst>
                                    </p:anim>
                                    <p:anim calcmode="lin" valueType="num">
                                      <p:cBhvr>
                                        <p:cTn id="9" dur="1000" fill="hold"/>
                                        <p:tgtEl>
                                          <p:spTgt spid="8">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8">
                                            <p:txEl>
                                              <p:pRg st="3" end="3"/>
                                            </p:txEl>
                                          </p:spTgt>
                                        </p:tgtEl>
                                        <p:attrNameLst>
                                          <p:attrName>style.visibility</p:attrName>
                                        </p:attrNameLst>
                                      </p:cBhvr>
                                      <p:to>
                                        <p:strVal val="visible"/>
                                      </p:to>
                                    </p:set>
                                    <p:animEffect transition="in" filter="fade">
                                      <p:cBhvr>
                                        <p:cTn id="14" dur="1000"/>
                                        <p:tgtEl>
                                          <p:spTgt spid="8">
                                            <p:txEl>
                                              <p:pRg st="3" end="3"/>
                                            </p:txEl>
                                          </p:spTgt>
                                        </p:tgtEl>
                                      </p:cBhvr>
                                    </p:animEffect>
                                    <p:anim calcmode="lin" valueType="num">
                                      <p:cBhvr>
                                        <p:cTn id="15" dur="1000" fill="hold"/>
                                        <p:tgtEl>
                                          <p:spTgt spid="8">
                                            <p:txEl>
                                              <p:pRg st="3" end="3"/>
                                            </p:txEl>
                                          </p:spTgt>
                                        </p:tgtEl>
                                        <p:attrNameLst>
                                          <p:attrName>ppt_x</p:attrName>
                                        </p:attrNameLst>
                                      </p:cBhvr>
                                      <p:tavLst>
                                        <p:tav tm="0">
                                          <p:val>
                                            <p:strVal val="#ppt_x"/>
                                          </p:val>
                                        </p:tav>
                                        <p:tav tm="100000">
                                          <p:val>
                                            <p:strVal val="#ppt_x"/>
                                          </p:val>
                                        </p:tav>
                                      </p:tavLst>
                                    </p:anim>
                                    <p:anim calcmode="lin" valueType="num">
                                      <p:cBhvr>
                                        <p:cTn id="16" dur="1000" fill="hold"/>
                                        <p:tgtEl>
                                          <p:spTgt spid="8">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nodeType="clickEffect">
                                  <p:stCondLst>
                                    <p:cond delay="0"/>
                                  </p:stCondLst>
                                  <p:childTnLst>
                                    <p:set>
                                      <p:cBhvr>
                                        <p:cTn id="20" dur="1" fill="hold">
                                          <p:stCondLst>
                                            <p:cond delay="0"/>
                                          </p:stCondLst>
                                        </p:cTn>
                                        <p:tgtEl>
                                          <p:spTgt spid="8">
                                            <p:txEl>
                                              <p:pRg st="4" end="4"/>
                                            </p:txEl>
                                          </p:spTgt>
                                        </p:tgtEl>
                                        <p:attrNameLst>
                                          <p:attrName>style.visibility</p:attrName>
                                        </p:attrNameLst>
                                      </p:cBhvr>
                                      <p:to>
                                        <p:strVal val="visible"/>
                                      </p:to>
                                    </p:set>
                                    <p:animEffect transition="in" filter="fade">
                                      <p:cBhvr>
                                        <p:cTn id="21" dur="1000"/>
                                        <p:tgtEl>
                                          <p:spTgt spid="8">
                                            <p:txEl>
                                              <p:pRg st="4" end="4"/>
                                            </p:txEl>
                                          </p:spTgt>
                                        </p:tgtEl>
                                      </p:cBhvr>
                                    </p:animEffect>
                                    <p:anim calcmode="lin" valueType="num">
                                      <p:cBhvr>
                                        <p:cTn id="22" dur="1000" fill="hold"/>
                                        <p:tgtEl>
                                          <p:spTgt spid="8">
                                            <p:txEl>
                                              <p:pRg st="4" end="4"/>
                                            </p:txEl>
                                          </p:spTgt>
                                        </p:tgtEl>
                                        <p:attrNameLst>
                                          <p:attrName>ppt_x</p:attrName>
                                        </p:attrNameLst>
                                      </p:cBhvr>
                                      <p:tavLst>
                                        <p:tav tm="0">
                                          <p:val>
                                            <p:strVal val="#ppt_x"/>
                                          </p:val>
                                        </p:tav>
                                        <p:tav tm="100000">
                                          <p:val>
                                            <p:strVal val="#ppt_x"/>
                                          </p:val>
                                        </p:tav>
                                      </p:tavLst>
                                    </p:anim>
                                    <p:anim calcmode="lin" valueType="num">
                                      <p:cBhvr>
                                        <p:cTn id="23" dur="1000" fill="hold"/>
                                        <p:tgtEl>
                                          <p:spTgt spid="8">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nodeType="clickEffect">
                                  <p:stCondLst>
                                    <p:cond delay="0"/>
                                  </p:stCondLst>
                                  <p:childTnLst>
                                    <p:set>
                                      <p:cBhvr>
                                        <p:cTn id="27" dur="1" fill="hold">
                                          <p:stCondLst>
                                            <p:cond delay="0"/>
                                          </p:stCondLst>
                                        </p:cTn>
                                        <p:tgtEl>
                                          <p:spTgt spid="8">
                                            <p:txEl>
                                              <p:pRg st="5" end="5"/>
                                            </p:txEl>
                                          </p:spTgt>
                                        </p:tgtEl>
                                        <p:attrNameLst>
                                          <p:attrName>style.visibility</p:attrName>
                                        </p:attrNameLst>
                                      </p:cBhvr>
                                      <p:to>
                                        <p:strVal val="visible"/>
                                      </p:to>
                                    </p:set>
                                    <p:animEffect transition="in" filter="fade">
                                      <p:cBhvr>
                                        <p:cTn id="28" dur="1000"/>
                                        <p:tgtEl>
                                          <p:spTgt spid="8">
                                            <p:txEl>
                                              <p:pRg st="5" end="5"/>
                                            </p:txEl>
                                          </p:spTgt>
                                        </p:tgtEl>
                                      </p:cBhvr>
                                    </p:animEffect>
                                    <p:anim calcmode="lin" valueType="num">
                                      <p:cBhvr>
                                        <p:cTn id="29" dur="1000" fill="hold"/>
                                        <p:tgtEl>
                                          <p:spTgt spid="8">
                                            <p:txEl>
                                              <p:pRg st="5" end="5"/>
                                            </p:txEl>
                                          </p:spTgt>
                                        </p:tgtEl>
                                        <p:attrNameLst>
                                          <p:attrName>ppt_x</p:attrName>
                                        </p:attrNameLst>
                                      </p:cBhvr>
                                      <p:tavLst>
                                        <p:tav tm="0">
                                          <p:val>
                                            <p:strVal val="#ppt_x"/>
                                          </p:val>
                                        </p:tav>
                                        <p:tav tm="100000">
                                          <p:val>
                                            <p:strVal val="#ppt_x"/>
                                          </p:val>
                                        </p:tav>
                                      </p:tavLst>
                                    </p:anim>
                                    <p:anim calcmode="lin" valueType="num">
                                      <p:cBhvr>
                                        <p:cTn id="30" dur="1000" fill="hold"/>
                                        <p:tgtEl>
                                          <p:spTgt spid="8">
                                            <p:txEl>
                                              <p:pRg st="5" end="5"/>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nodeType="clickEffect">
                                  <p:stCondLst>
                                    <p:cond delay="0"/>
                                  </p:stCondLst>
                                  <p:childTnLst>
                                    <p:set>
                                      <p:cBhvr>
                                        <p:cTn id="34" dur="1" fill="hold">
                                          <p:stCondLst>
                                            <p:cond delay="0"/>
                                          </p:stCondLst>
                                        </p:cTn>
                                        <p:tgtEl>
                                          <p:spTgt spid="8">
                                            <p:txEl>
                                              <p:pRg st="6" end="6"/>
                                            </p:txEl>
                                          </p:spTgt>
                                        </p:tgtEl>
                                        <p:attrNameLst>
                                          <p:attrName>style.visibility</p:attrName>
                                        </p:attrNameLst>
                                      </p:cBhvr>
                                      <p:to>
                                        <p:strVal val="visible"/>
                                      </p:to>
                                    </p:set>
                                    <p:animEffect transition="in" filter="fade">
                                      <p:cBhvr>
                                        <p:cTn id="35" dur="1000"/>
                                        <p:tgtEl>
                                          <p:spTgt spid="8">
                                            <p:txEl>
                                              <p:pRg st="6" end="6"/>
                                            </p:txEl>
                                          </p:spTgt>
                                        </p:tgtEl>
                                      </p:cBhvr>
                                    </p:animEffect>
                                    <p:anim calcmode="lin" valueType="num">
                                      <p:cBhvr>
                                        <p:cTn id="36" dur="1000" fill="hold"/>
                                        <p:tgtEl>
                                          <p:spTgt spid="8">
                                            <p:txEl>
                                              <p:pRg st="6" end="6"/>
                                            </p:txEl>
                                          </p:spTgt>
                                        </p:tgtEl>
                                        <p:attrNameLst>
                                          <p:attrName>ppt_x</p:attrName>
                                        </p:attrNameLst>
                                      </p:cBhvr>
                                      <p:tavLst>
                                        <p:tav tm="0">
                                          <p:val>
                                            <p:strVal val="#ppt_x"/>
                                          </p:val>
                                        </p:tav>
                                        <p:tav tm="100000">
                                          <p:val>
                                            <p:strVal val="#ppt_x"/>
                                          </p:val>
                                        </p:tav>
                                      </p:tavLst>
                                    </p:anim>
                                    <p:anim calcmode="lin" valueType="num">
                                      <p:cBhvr>
                                        <p:cTn id="37" dur="1000" fill="hold"/>
                                        <p:tgtEl>
                                          <p:spTgt spid="8">
                                            <p:txEl>
                                              <p:pRg st="6" end="6"/>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0" y="0"/>
            <a:ext cx="12192000" cy="762000"/>
          </a:xfrm>
          <a:prstGeom prst="rect">
            <a:avLst/>
          </a:prstGeom>
          <a:solidFill>
            <a:srgbClr val="002F7C"/>
          </a:solidFill>
        </p:spPr>
        <p:style>
          <a:lnRef idx="2">
            <a:schemeClr val="dk1">
              <a:shade val="50000"/>
            </a:schemeClr>
          </a:lnRef>
          <a:fillRef idx="1">
            <a:schemeClr val="dk1"/>
          </a:fillRef>
          <a:effectRef idx="0">
            <a:schemeClr val="dk1"/>
          </a:effectRef>
          <a:fontRef idx="minor">
            <a:schemeClr val="lt1"/>
          </a:fontRef>
        </p:style>
        <p:txBody>
          <a:bodyPr rtlCol="0" anchor="ctr"/>
          <a:lstStyle/>
          <a:p>
            <a:r>
              <a:rPr lang="en-US" altLang="zh-CN" sz="2000" b="1" dirty="0">
                <a:latin typeface="Trebuchet MS" panose="020B0603020202020204" pitchFamily="34" charset="0"/>
              </a:rPr>
              <a:t>             7.1.1 Definition and Properties of Undirected Trees</a:t>
            </a:r>
            <a:endParaRPr lang="en-US" altLang="zh-CN" sz="2000" b="1" dirty="0">
              <a:latin typeface="Times New Roman" panose="02020603050405020304" pitchFamily="18" charset="0"/>
              <a:cs typeface="Times New Roman" panose="02020603050405020304" pitchFamily="18" charset="0"/>
            </a:endParaRPr>
          </a:p>
          <a:p>
            <a:r>
              <a:rPr lang="en-US" altLang="zh-CN" sz="2000" b="1" dirty="0">
                <a:latin typeface="Times New Roman" panose="02020603050405020304" pitchFamily="18" charset="0"/>
                <a:cs typeface="Times New Roman" panose="02020603050405020304" pitchFamily="18" charset="0"/>
              </a:rPr>
              <a:t>                      </a:t>
            </a:r>
            <a:r>
              <a:rPr lang="en-US" altLang="zh-CN" sz="2400" dirty="0">
                <a:solidFill>
                  <a:schemeClr val="accent2"/>
                </a:solidFill>
                <a:latin typeface="Trebuchet MS" panose="020B0603020202020204" pitchFamily="34" charset="0"/>
                <a:ea typeface="Cambria Math" panose="02040503050406030204" pitchFamily="18" charset="0"/>
                <a:cs typeface="Times New Roman" panose="02020603050405020304" pitchFamily="18" charset="0"/>
              </a:rPr>
              <a:t>⤷</a:t>
            </a:r>
            <a:r>
              <a:rPr lang="zh-CN" altLang="en-US" sz="2400" dirty="0">
                <a:latin typeface="Trebuchet MS" panose="020B0603020202020204" pitchFamily="34" charset="0"/>
              </a:rPr>
              <a:t> </a:t>
            </a:r>
            <a:r>
              <a:rPr lang="en-US" altLang="zh-CN" sz="2400" b="1" dirty="0">
                <a:latin typeface="Trebuchet MS" panose="020B0603020202020204" pitchFamily="34" charset="0"/>
              </a:rPr>
              <a:t>Proof of Tree Equivalence Theorem</a:t>
            </a:r>
            <a:endParaRPr lang="zh-CN" altLang="en-US" sz="2400" b="1" dirty="0">
              <a:solidFill>
                <a:srgbClr val="3D557A"/>
              </a:solidFill>
              <a:highlight>
                <a:srgbClr val="FF0000"/>
              </a:highlight>
              <a:latin typeface="Trebuchet MS" panose="020B0603020202020204" pitchFamily="34" charset="0"/>
            </a:endParaRPr>
          </a:p>
        </p:txBody>
      </p:sp>
      <p:sp>
        <p:nvSpPr>
          <p:cNvPr id="13" name="矩形 12"/>
          <p:cNvSpPr/>
          <p:nvPr/>
        </p:nvSpPr>
        <p:spPr>
          <a:xfrm>
            <a:off x="824682" y="0"/>
            <a:ext cx="175443" cy="628650"/>
          </a:xfrm>
          <a:prstGeom prst="rect">
            <a:avLst/>
          </a:prstGeom>
          <a:solidFill>
            <a:srgbClr val="CFA57C"/>
          </a:solidFill>
          <a:ln cmpd="sng">
            <a:gradFill flip="none" rotWithShape="1">
              <a:gsLst>
                <a:gs pos="50000">
                  <a:schemeClr val="accent2">
                    <a:lumMod val="60000"/>
                    <a:lumOff val="40000"/>
                  </a:schemeClr>
                </a:gs>
                <a:gs pos="0">
                  <a:schemeClr val="accent2">
                    <a:lumMod val="20000"/>
                    <a:lumOff val="80000"/>
                  </a:schemeClr>
                </a:gs>
                <a:gs pos="95000">
                  <a:schemeClr val="accent2"/>
                </a:gs>
              </a:gsLst>
              <a:path path="circle">
                <a:fillToRect l="50000" t="-80000" r="50000" b="180000"/>
              </a:path>
              <a:tileRect/>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22" name="Picture 6" descr="D:\MBA工作\LOGO\同济经管LOGO反白.png"/>
          <p:cNvPicPr>
            <a:picLocks noChangeAspect="1" noChangeArrowheads="1"/>
          </p:cNvPicPr>
          <p:nvPr/>
        </p:nvPicPr>
        <p:blipFill>
          <a:blip r:embed="rId3" cstate="email">
            <a:extLst>
              <a:ext uri="{28A0092B-C50C-407E-A947-70E740481C1C}">
                <a14:useLocalDpi xmlns:a14="http://schemas.microsoft.com/office/drawing/2010/main" val="0"/>
              </a:ext>
            </a:extLst>
          </a:blip>
          <a:srcRect/>
          <a:stretch>
            <a:fillRect/>
          </a:stretch>
        </p:blipFill>
        <p:spPr bwMode="auto">
          <a:xfrm>
            <a:off x="10267423" y="165688"/>
            <a:ext cx="1386605" cy="462962"/>
          </a:xfrm>
          <a:prstGeom prst="rect">
            <a:avLst/>
          </a:prstGeom>
          <a:noFill/>
          <a:extLst>
            <a:ext uri="{909E8E84-426E-40DD-AFC4-6F175D3DCCD1}">
              <a14:hiddenFill xmlns:a14="http://schemas.microsoft.com/office/drawing/2010/main">
                <a:solidFill>
                  <a:srgbClr val="FFFFFF"/>
                </a:solidFill>
              </a14:hiddenFill>
            </a:ext>
          </a:extLst>
        </p:spPr>
      </p:pic>
      <p:pic>
        <p:nvPicPr>
          <p:cNvPr id="2" name="图片 1" descr="微信图片_20220318113523"/>
          <p:cNvPicPr>
            <a:picLocks noChangeAspect="1"/>
          </p:cNvPicPr>
          <p:nvPr userDrawn="1"/>
        </p:nvPicPr>
        <p:blipFill>
          <a:blip r:embed="rId4"/>
          <a:stretch>
            <a:fillRect/>
          </a:stretch>
        </p:blipFill>
        <p:spPr>
          <a:xfrm>
            <a:off x="9291877" y="6115050"/>
            <a:ext cx="2244725" cy="361315"/>
          </a:xfrm>
          <a:prstGeom prst="rect">
            <a:avLst/>
          </a:prstGeom>
        </p:spPr>
      </p:pic>
      <p:sp>
        <p:nvSpPr>
          <p:cNvPr id="18" name="Rectangle 2">
            <a:extLst>
              <a:ext uri="{FF2B5EF4-FFF2-40B4-BE49-F238E27FC236}">
                <a16:creationId xmlns:a16="http://schemas.microsoft.com/office/drawing/2014/main" id="{E217C615-1D49-4D07-B850-D36106D7AA9A}"/>
              </a:ext>
            </a:extLst>
          </p:cNvPr>
          <p:cNvSpPr>
            <a:spLocks noChangeArrowheads="1"/>
          </p:cNvSpPr>
          <p:nvPr/>
        </p:nvSpPr>
        <p:spPr bwMode="auto">
          <a:xfrm>
            <a:off x="1000125" y="815365"/>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8" name="Rectangle 3">
            <a:extLst>
              <a:ext uri="{FF2B5EF4-FFF2-40B4-BE49-F238E27FC236}">
                <a16:creationId xmlns:a16="http://schemas.microsoft.com/office/drawing/2014/main" id="{97F08C45-3D15-45C1-A5A3-D1EB58DC91FE}"/>
              </a:ext>
            </a:extLst>
          </p:cNvPr>
          <p:cNvSpPr txBox="1">
            <a:spLocks noChangeArrowheads="1"/>
          </p:cNvSpPr>
          <p:nvPr/>
        </p:nvSpPr>
        <p:spPr>
          <a:xfrm>
            <a:off x="557684" y="794339"/>
            <a:ext cx="11046358" cy="5205303"/>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20000"/>
              </a:lnSpc>
              <a:spcBef>
                <a:spcPts val="300"/>
              </a:spcBef>
              <a:buClr>
                <a:srgbClr val="0B61FF"/>
              </a:buClr>
              <a:buSzPct val="80000"/>
              <a:buFont typeface="Wingdings" panose="05000000000000000000" pitchFamily="2" charset="2"/>
              <a:buChar char="n"/>
            </a:pPr>
            <a:r>
              <a:rPr lang="en-US" altLang="zh-CN" sz="2400" b="1" dirty="0">
                <a:latin typeface="Trebuchet MS" panose="020B0603020202020204" pitchFamily="34" charset="0"/>
              </a:rPr>
              <a:t>Proof: </a:t>
            </a:r>
            <a:r>
              <a:rPr lang="en-US" altLang="zh-CN" sz="2400" b="1" dirty="0">
                <a:solidFill>
                  <a:srgbClr val="0B61FF"/>
                </a:solidFill>
                <a:latin typeface="Trebuchet MS" panose="020B0603020202020204" pitchFamily="34" charset="0"/>
                <a:sym typeface="Symbol" panose="05050102010706020507" pitchFamily="18" charset="2"/>
              </a:rPr>
              <a:t>(1)</a:t>
            </a:r>
            <a:r>
              <a:rPr lang="en-US" altLang="zh-CN" sz="2400" b="1" dirty="0">
                <a:latin typeface="Trebuchet MS" panose="020B0603020202020204" pitchFamily="34" charset="0"/>
                <a:sym typeface="Symbol" panose="05050102010706020507" pitchFamily="18" charset="2"/>
              </a:rPr>
              <a:t></a:t>
            </a:r>
            <a:r>
              <a:rPr lang="en-US" altLang="zh-CN" sz="2400" b="1" dirty="0">
                <a:solidFill>
                  <a:srgbClr val="0B61FF"/>
                </a:solidFill>
                <a:latin typeface="Trebuchet MS" panose="020B0603020202020204" pitchFamily="34" charset="0"/>
                <a:sym typeface="Symbol" panose="05050102010706020507" pitchFamily="18" charset="2"/>
              </a:rPr>
              <a:t>(5)</a:t>
            </a:r>
            <a:r>
              <a:rPr lang="en-US" altLang="zh-CN" sz="2400" b="1" dirty="0">
                <a:latin typeface="Trebuchet MS" panose="020B0603020202020204" pitchFamily="34" charset="0"/>
                <a:sym typeface="Symbol" panose="05050102010706020507" pitchFamily="18" charset="2"/>
              </a:rPr>
              <a:t> </a:t>
            </a:r>
          </a:p>
          <a:p>
            <a:pPr marL="625475" indent="-449263">
              <a:lnSpc>
                <a:spcPct val="120000"/>
              </a:lnSpc>
              <a:spcBef>
                <a:spcPts val="0"/>
              </a:spcBef>
              <a:buNone/>
            </a:pPr>
            <a:r>
              <a:rPr lang="en-US" altLang="zh-CN" sz="2400" b="1" dirty="0">
                <a:solidFill>
                  <a:srgbClr val="0B61FF"/>
                </a:solidFill>
                <a:latin typeface="Trebuchet MS" panose="020B0603020202020204" pitchFamily="34" charset="0"/>
              </a:rPr>
              <a:t>①</a:t>
            </a:r>
            <a:r>
              <a:rPr lang="zh-CN" altLang="en-US" sz="2400" b="1" dirty="0">
                <a:latin typeface="Trebuchet MS" panose="020B0603020202020204" pitchFamily="34" charset="0"/>
                <a:cs typeface="Times New Roman" panose="02020603050405020304" pitchFamily="18" charset="0"/>
                <a:sym typeface="Symbol" panose="05050102010706020507" pitchFamily="18" charset="2"/>
              </a:rPr>
              <a:t> </a:t>
            </a:r>
            <a:r>
              <a:rPr lang="en-US" altLang="zh-CN" sz="2400" dirty="0">
                <a:latin typeface="Trebuchet MS" panose="020B0603020202020204" pitchFamily="34" charset="0"/>
                <a:cs typeface="Times New Roman" panose="02020603050405020304" pitchFamily="18" charset="0"/>
                <a:sym typeface="Symbol" panose="05050102010706020507" pitchFamily="18" charset="2"/>
              </a:rPr>
              <a:t>From</a:t>
            </a:r>
            <a:r>
              <a:rPr lang="zh-CN" altLang="en-US" sz="2400" b="1" dirty="0">
                <a:latin typeface="Trebuchet MS" panose="020B0603020202020204" pitchFamily="34" charset="0"/>
                <a:cs typeface="Times New Roman" panose="02020603050405020304" pitchFamily="18" charset="0"/>
                <a:sym typeface="Symbol" panose="05050102010706020507" pitchFamily="18" charset="2"/>
              </a:rPr>
              <a:t> (1)</a:t>
            </a:r>
            <a:r>
              <a:rPr lang="en-US" altLang="zh-CN" sz="2400" b="1" dirty="0">
                <a:latin typeface="Trebuchet MS" panose="020B0603020202020204" pitchFamily="34" charset="0"/>
                <a:cs typeface="Times New Roman" panose="02020603050405020304" pitchFamily="18" charset="0"/>
                <a:sym typeface="Symbol" panose="05050102010706020507" pitchFamily="18" charset="2"/>
              </a:rPr>
              <a:t>(2), </a:t>
            </a:r>
            <a:r>
              <a:rPr lang="en-US" altLang="zh-CN" sz="2400" dirty="0">
                <a:latin typeface="Trebuchet MS" panose="020B0603020202020204" pitchFamily="34" charset="0"/>
              </a:rPr>
              <a:t>there exists a unique path between any two non-adjacent vertices.</a:t>
            </a:r>
          </a:p>
          <a:p>
            <a:pPr marL="625475" indent="-449263">
              <a:lnSpc>
                <a:spcPct val="120000"/>
              </a:lnSpc>
              <a:spcBef>
                <a:spcPts val="300"/>
              </a:spcBef>
              <a:buNone/>
            </a:pPr>
            <a:r>
              <a:rPr lang="en-US" altLang="zh-CN" sz="2400" b="1" dirty="0">
                <a:solidFill>
                  <a:srgbClr val="0B61FF"/>
                </a:solidFill>
                <a:latin typeface="Trebuchet MS" panose="020B0603020202020204" pitchFamily="34" charset="0"/>
              </a:rPr>
              <a:t>② </a:t>
            </a:r>
            <a:r>
              <a:rPr lang="en-US" altLang="zh-CN" sz="2400" dirty="0">
                <a:latin typeface="Trebuchet MS" panose="020B0603020202020204" pitchFamily="34" charset="0"/>
              </a:rPr>
              <a:t>Therefore, adding a new edge between them will create exactly one simple cycle.</a:t>
            </a:r>
            <a:endParaRPr lang="zh-CN" altLang="en-US" sz="2400" b="1" dirty="0">
              <a:latin typeface="Trebuchet MS" panose="020B0603020202020204" pitchFamily="34" charset="0"/>
              <a:cs typeface="Times New Roman" panose="02020603050405020304" pitchFamily="18" charset="0"/>
              <a:sym typeface="Symbol" panose="05050102010706020507" pitchFamily="18" charset="2"/>
            </a:endParaRPr>
          </a:p>
          <a:p>
            <a:pPr>
              <a:lnSpc>
                <a:spcPct val="120000"/>
              </a:lnSpc>
              <a:spcBef>
                <a:spcPts val="300"/>
              </a:spcBef>
              <a:buClr>
                <a:srgbClr val="0B61FF"/>
              </a:buClr>
              <a:buSzPct val="80000"/>
              <a:buFont typeface="Wingdings" panose="05000000000000000000" pitchFamily="2" charset="2"/>
              <a:buChar char="n"/>
            </a:pPr>
            <a:r>
              <a:rPr lang="en-US" altLang="zh-CN" sz="2400" b="1" dirty="0">
                <a:latin typeface="Trebuchet MS" panose="020B0603020202020204" pitchFamily="34" charset="0"/>
              </a:rPr>
              <a:t>Proof: </a:t>
            </a:r>
            <a:r>
              <a:rPr lang="en-US" altLang="zh-CN" sz="2400" b="1" dirty="0">
                <a:solidFill>
                  <a:srgbClr val="0B61FF"/>
                </a:solidFill>
                <a:latin typeface="Trebuchet MS" panose="020B0603020202020204" pitchFamily="34" charset="0"/>
                <a:sym typeface="Symbol" panose="05050102010706020507" pitchFamily="18" charset="2"/>
              </a:rPr>
              <a:t>(5)</a:t>
            </a:r>
            <a:r>
              <a:rPr lang="en-US" altLang="zh-CN" sz="2400" b="1" dirty="0">
                <a:latin typeface="Trebuchet MS" panose="020B0603020202020204" pitchFamily="34" charset="0"/>
                <a:sym typeface="Symbol" panose="05050102010706020507" pitchFamily="18" charset="2"/>
              </a:rPr>
              <a:t></a:t>
            </a:r>
            <a:r>
              <a:rPr lang="en-US" altLang="zh-CN" sz="2400" b="1" dirty="0">
                <a:solidFill>
                  <a:srgbClr val="0B61FF"/>
                </a:solidFill>
                <a:latin typeface="Trebuchet MS" panose="020B0603020202020204" pitchFamily="34" charset="0"/>
                <a:sym typeface="Symbol" panose="05050102010706020507" pitchFamily="18" charset="2"/>
              </a:rPr>
              <a:t>(6)</a:t>
            </a:r>
            <a:endParaRPr lang="en-US" altLang="zh-CN" sz="2400" b="1" dirty="0">
              <a:latin typeface="Trebuchet MS" panose="020B0603020202020204" pitchFamily="34" charset="0"/>
              <a:cs typeface="Times New Roman" panose="02020603050405020304" pitchFamily="18" charset="0"/>
              <a:sym typeface="Symbol" panose="05050102010706020507" pitchFamily="18" charset="2"/>
            </a:endParaRPr>
          </a:p>
          <a:p>
            <a:pPr marL="536575" indent="-357188">
              <a:lnSpc>
                <a:spcPct val="120000"/>
              </a:lnSpc>
              <a:spcBef>
                <a:spcPts val="300"/>
              </a:spcBef>
              <a:buClr>
                <a:srgbClr val="0B61FF"/>
              </a:buClr>
              <a:buSzPct val="80000"/>
              <a:buNone/>
            </a:pPr>
            <a:r>
              <a:rPr lang="en-US" altLang="zh-CN" sz="2400" b="1" dirty="0">
                <a:solidFill>
                  <a:srgbClr val="0B61FF"/>
                </a:solidFill>
                <a:latin typeface="Trebuchet MS" panose="020B0603020202020204" pitchFamily="34" charset="0"/>
              </a:rPr>
              <a:t>①</a:t>
            </a:r>
            <a:r>
              <a:rPr lang="en-US" altLang="zh-CN" sz="2400" b="1" dirty="0">
                <a:latin typeface="Trebuchet MS" panose="020B0603020202020204" pitchFamily="34" charset="0"/>
                <a:cs typeface="Times New Roman" panose="02020603050405020304" pitchFamily="18" charset="0"/>
                <a:sym typeface="Symbol" panose="05050102010706020507" pitchFamily="18" charset="2"/>
              </a:rPr>
              <a:t> </a:t>
            </a:r>
            <a:r>
              <a:rPr lang="en-US" altLang="zh-CN" sz="2400" dirty="0">
                <a:latin typeface="Trebuchet MS" panose="020B0603020202020204" pitchFamily="34" charset="0"/>
              </a:rPr>
              <a:t>First, there must be a path between any two non-adjacent vertices. Otherwise, adding a new edge between them would not create a cycle. Hence, </a:t>
            </a:r>
            <a:r>
              <a:rPr lang="en-US" altLang="zh-CN" sz="2400" b="1" i="1" dirty="0">
                <a:latin typeface="Trebuchet MS" panose="020B0603020202020204" pitchFamily="34" charset="0"/>
              </a:rPr>
              <a:t>G</a:t>
            </a:r>
            <a:r>
              <a:rPr lang="en-US" altLang="zh-CN" sz="2400" dirty="0">
                <a:latin typeface="Trebuchet MS" panose="020B0603020202020204" pitchFamily="34" charset="0"/>
              </a:rPr>
              <a:t> is connected.</a:t>
            </a:r>
          </a:p>
          <a:p>
            <a:pPr marL="536575" indent="-357188">
              <a:lnSpc>
                <a:spcPct val="120000"/>
              </a:lnSpc>
              <a:spcBef>
                <a:spcPts val="300"/>
              </a:spcBef>
              <a:buClr>
                <a:srgbClr val="0B61FF"/>
              </a:buClr>
              <a:buSzPct val="80000"/>
              <a:buNone/>
            </a:pPr>
            <a:r>
              <a:rPr lang="en-US" altLang="zh-CN" sz="2400" b="1" dirty="0">
                <a:solidFill>
                  <a:srgbClr val="0B61FF"/>
                </a:solidFill>
                <a:latin typeface="Trebuchet MS" panose="020B0603020202020204" pitchFamily="34" charset="0"/>
              </a:rPr>
              <a:t>② </a:t>
            </a:r>
            <a:r>
              <a:rPr lang="en-US" altLang="zh-CN" sz="2400" dirty="0">
                <a:latin typeface="Trebuchet MS" panose="020B0603020202020204" pitchFamily="34" charset="0"/>
              </a:rPr>
              <a:t>Second, if removing any edge leaves </a:t>
            </a:r>
            <a:r>
              <a:rPr lang="en-US" altLang="zh-CN" sz="2400" b="1" i="1" dirty="0">
                <a:latin typeface="Trebuchet MS" panose="020B0603020202020204" pitchFamily="34" charset="0"/>
              </a:rPr>
              <a:t>G</a:t>
            </a:r>
            <a:r>
              <a:rPr lang="en-US" altLang="zh-CN" sz="2400" dirty="0">
                <a:latin typeface="Trebuchet MS" panose="020B0603020202020204" pitchFamily="34" charset="0"/>
              </a:rPr>
              <a:t> still connected, then that edge must lie on a cycle—contradicting the assumption that </a:t>
            </a:r>
            <a:r>
              <a:rPr lang="en-US" altLang="zh-CN" sz="2400" b="1" i="1" dirty="0">
                <a:latin typeface="Trebuchet MS" panose="020B0603020202020204" pitchFamily="34" charset="0"/>
              </a:rPr>
              <a:t>G</a:t>
            </a:r>
            <a:r>
              <a:rPr lang="en-US" altLang="zh-CN" sz="2400" dirty="0">
                <a:latin typeface="Trebuchet MS" panose="020B0603020202020204" pitchFamily="34" charset="0"/>
              </a:rPr>
              <a:t> has no cycles.</a:t>
            </a:r>
            <a:endParaRPr lang="zh-CN" altLang="en-US" sz="2400" b="1" dirty="0">
              <a:latin typeface="Trebuchet MS" panose="020B0603020202020204" pitchFamily="34" charset="0"/>
              <a:cs typeface="Times New Roman" panose="02020603050405020304" pitchFamily="18" charset="0"/>
              <a:sym typeface="Symbol" panose="05050102010706020507" pitchFamily="18" charset="2"/>
            </a:endParaRPr>
          </a:p>
          <a:p>
            <a:pPr marL="0" indent="0">
              <a:lnSpc>
                <a:spcPct val="120000"/>
              </a:lnSpc>
              <a:spcBef>
                <a:spcPts val="300"/>
              </a:spcBef>
              <a:buClr>
                <a:srgbClr val="0B61FF"/>
              </a:buClr>
              <a:buSzPct val="80000"/>
              <a:buNone/>
            </a:pPr>
            <a:endParaRPr lang="en-US" altLang="zh-CN" sz="2400" b="1" dirty="0">
              <a:latin typeface="Trebuchet MS" panose="020B0603020202020204" pitchFamily="34" charset="0"/>
              <a:cs typeface="Times New Roman" panose="02020603050405020304" pitchFamily="18" charset="0"/>
              <a:sym typeface="Symbol" panose="05050102010706020507" pitchFamily="18" charset="2"/>
            </a:endParaRPr>
          </a:p>
          <a:p>
            <a:pPr algn="just" eaLnBrk="1" hangingPunct="1">
              <a:lnSpc>
                <a:spcPct val="120000"/>
              </a:lnSpc>
              <a:spcBef>
                <a:spcPts val="0"/>
              </a:spcBef>
              <a:buClr>
                <a:srgbClr val="0B61FF"/>
              </a:buClr>
              <a:buSzPct val="80000"/>
              <a:buFont typeface="Wingdings" panose="05000000000000000000" pitchFamily="2" charset="2"/>
              <a:buChar char="n"/>
            </a:pPr>
            <a:endParaRPr lang="zh-CN" altLang="en-US" sz="2400" b="1" dirty="0">
              <a:latin typeface="Trebuchet MS" panose="020B0603020202020204" pitchFamily="34" charset="0"/>
            </a:endParaRPr>
          </a:p>
        </p:txBody>
      </p:sp>
    </p:spTree>
    <p:extLst>
      <p:ext uri="{BB962C8B-B14F-4D97-AF65-F5344CB8AC3E}">
        <p14:creationId xmlns:p14="http://schemas.microsoft.com/office/powerpoint/2010/main" val="2786003839"/>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8">
                                            <p:txEl>
                                              <p:pRg st="2" end="2"/>
                                            </p:txEl>
                                          </p:spTgt>
                                        </p:tgtEl>
                                        <p:attrNameLst>
                                          <p:attrName>style.visibility</p:attrName>
                                        </p:attrNameLst>
                                      </p:cBhvr>
                                      <p:to>
                                        <p:strVal val="visible"/>
                                      </p:to>
                                    </p:set>
                                    <p:animEffect transition="in" filter="fade">
                                      <p:cBhvr>
                                        <p:cTn id="7" dur="1000"/>
                                        <p:tgtEl>
                                          <p:spTgt spid="8">
                                            <p:txEl>
                                              <p:pRg st="2" end="2"/>
                                            </p:txEl>
                                          </p:spTgt>
                                        </p:tgtEl>
                                      </p:cBhvr>
                                    </p:animEffect>
                                    <p:anim calcmode="lin" valueType="num">
                                      <p:cBhvr>
                                        <p:cTn id="8" dur="1000" fill="hold"/>
                                        <p:tgtEl>
                                          <p:spTgt spid="8">
                                            <p:txEl>
                                              <p:pRg st="2" end="2"/>
                                            </p:txEl>
                                          </p:spTgt>
                                        </p:tgtEl>
                                        <p:attrNameLst>
                                          <p:attrName>ppt_x</p:attrName>
                                        </p:attrNameLst>
                                      </p:cBhvr>
                                      <p:tavLst>
                                        <p:tav tm="0">
                                          <p:val>
                                            <p:strVal val="#ppt_x"/>
                                          </p:val>
                                        </p:tav>
                                        <p:tav tm="100000">
                                          <p:val>
                                            <p:strVal val="#ppt_x"/>
                                          </p:val>
                                        </p:tav>
                                      </p:tavLst>
                                    </p:anim>
                                    <p:anim calcmode="lin" valueType="num">
                                      <p:cBhvr>
                                        <p:cTn id="9" dur="1000" fill="hold"/>
                                        <p:tgtEl>
                                          <p:spTgt spid="8">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8">
                                            <p:txEl>
                                              <p:pRg st="3" end="3"/>
                                            </p:txEl>
                                          </p:spTgt>
                                        </p:tgtEl>
                                        <p:attrNameLst>
                                          <p:attrName>style.visibility</p:attrName>
                                        </p:attrNameLst>
                                      </p:cBhvr>
                                      <p:to>
                                        <p:strVal val="visible"/>
                                      </p:to>
                                    </p:set>
                                    <p:animEffect transition="in" filter="fade">
                                      <p:cBhvr>
                                        <p:cTn id="14" dur="1000"/>
                                        <p:tgtEl>
                                          <p:spTgt spid="8">
                                            <p:txEl>
                                              <p:pRg st="3" end="3"/>
                                            </p:txEl>
                                          </p:spTgt>
                                        </p:tgtEl>
                                      </p:cBhvr>
                                    </p:animEffect>
                                    <p:anim calcmode="lin" valueType="num">
                                      <p:cBhvr>
                                        <p:cTn id="15" dur="1000" fill="hold"/>
                                        <p:tgtEl>
                                          <p:spTgt spid="8">
                                            <p:txEl>
                                              <p:pRg st="3" end="3"/>
                                            </p:txEl>
                                          </p:spTgt>
                                        </p:tgtEl>
                                        <p:attrNameLst>
                                          <p:attrName>ppt_x</p:attrName>
                                        </p:attrNameLst>
                                      </p:cBhvr>
                                      <p:tavLst>
                                        <p:tav tm="0">
                                          <p:val>
                                            <p:strVal val="#ppt_x"/>
                                          </p:val>
                                        </p:tav>
                                        <p:tav tm="100000">
                                          <p:val>
                                            <p:strVal val="#ppt_x"/>
                                          </p:val>
                                        </p:tav>
                                      </p:tavLst>
                                    </p:anim>
                                    <p:anim calcmode="lin" valueType="num">
                                      <p:cBhvr>
                                        <p:cTn id="16" dur="1000" fill="hold"/>
                                        <p:tgtEl>
                                          <p:spTgt spid="8">
                                            <p:txEl>
                                              <p:pRg st="3" end="3"/>
                                            </p:txEl>
                                          </p:spTgt>
                                        </p:tgtEl>
                                        <p:attrNameLst>
                                          <p:attrName>ppt_y</p:attrName>
                                        </p:attrNameLst>
                                      </p:cBhvr>
                                      <p:tavLst>
                                        <p:tav tm="0">
                                          <p:val>
                                            <p:strVal val="#ppt_y+.1"/>
                                          </p:val>
                                        </p:tav>
                                        <p:tav tm="100000">
                                          <p:val>
                                            <p:strVal val="#ppt_y"/>
                                          </p:val>
                                        </p:tav>
                                      </p:tavLst>
                                    </p:anim>
                                  </p:childTnLst>
                                </p:cTn>
                              </p:par>
                              <p:par>
                                <p:cTn id="17" presetID="42" presetClass="entr" presetSubtype="0" fill="hold" nodeType="withEffect">
                                  <p:stCondLst>
                                    <p:cond delay="0"/>
                                  </p:stCondLst>
                                  <p:childTnLst>
                                    <p:set>
                                      <p:cBhvr>
                                        <p:cTn id="18" dur="1" fill="hold">
                                          <p:stCondLst>
                                            <p:cond delay="0"/>
                                          </p:stCondLst>
                                        </p:cTn>
                                        <p:tgtEl>
                                          <p:spTgt spid="8">
                                            <p:txEl>
                                              <p:pRg st="4" end="4"/>
                                            </p:txEl>
                                          </p:spTgt>
                                        </p:tgtEl>
                                        <p:attrNameLst>
                                          <p:attrName>style.visibility</p:attrName>
                                        </p:attrNameLst>
                                      </p:cBhvr>
                                      <p:to>
                                        <p:strVal val="visible"/>
                                      </p:to>
                                    </p:set>
                                    <p:animEffect transition="in" filter="fade">
                                      <p:cBhvr>
                                        <p:cTn id="19" dur="1000"/>
                                        <p:tgtEl>
                                          <p:spTgt spid="8">
                                            <p:txEl>
                                              <p:pRg st="4" end="4"/>
                                            </p:txEl>
                                          </p:spTgt>
                                        </p:tgtEl>
                                      </p:cBhvr>
                                    </p:animEffect>
                                    <p:anim calcmode="lin" valueType="num">
                                      <p:cBhvr>
                                        <p:cTn id="20" dur="1000" fill="hold"/>
                                        <p:tgtEl>
                                          <p:spTgt spid="8">
                                            <p:txEl>
                                              <p:pRg st="4" end="4"/>
                                            </p:txEl>
                                          </p:spTgt>
                                        </p:tgtEl>
                                        <p:attrNameLst>
                                          <p:attrName>ppt_x</p:attrName>
                                        </p:attrNameLst>
                                      </p:cBhvr>
                                      <p:tavLst>
                                        <p:tav tm="0">
                                          <p:val>
                                            <p:strVal val="#ppt_x"/>
                                          </p:val>
                                        </p:tav>
                                        <p:tav tm="100000">
                                          <p:val>
                                            <p:strVal val="#ppt_x"/>
                                          </p:val>
                                        </p:tav>
                                      </p:tavLst>
                                    </p:anim>
                                    <p:anim calcmode="lin" valueType="num">
                                      <p:cBhvr>
                                        <p:cTn id="21" dur="1000" fill="hold"/>
                                        <p:tgtEl>
                                          <p:spTgt spid="8">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22" fill="hold">
                      <p:stCondLst>
                        <p:cond delay="indefinite"/>
                      </p:stCondLst>
                      <p:childTnLst>
                        <p:par>
                          <p:cTn id="23" fill="hold">
                            <p:stCondLst>
                              <p:cond delay="0"/>
                            </p:stCondLst>
                            <p:childTnLst>
                              <p:par>
                                <p:cTn id="24" presetID="42" presetClass="entr" presetSubtype="0" fill="hold" nodeType="clickEffect">
                                  <p:stCondLst>
                                    <p:cond delay="0"/>
                                  </p:stCondLst>
                                  <p:childTnLst>
                                    <p:set>
                                      <p:cBhvr>
                                        <p:cTn id="25" dur="1" fill="hold">
                                          <p:stCondLst>
                                            <p:cond delay="0"/>
                                          </p:stCondLst>
                                        </p:cTn>
                                        <p:tgtEl>
                                          <p:spTgt spid="8">
                                            <p:txEl>
                                              <p:pRg st="5" end="5"/>
                                            </p:txEl>
                                          </p:spTgt>
                                        </p:tgtEl>
                                        <p:attrNameLst>
                                          <p:attrName>style.visibility</p:attrName>
                                        </p:attrNameLst>
                                      </p:cBhvr>
                                      <p:to>
                                        <p:strVal val="visible"/>
                                      </p:to>
                                    </p:set>
                                    <p:animEffect transition="in" filter="fade">
                                      <p:cBhvr>
                                        <p:cTn id="26" dur="1000"/>
                                        <p:tgtEl>
                                          <p:spTgt spid="8">
                                            <p:txEl>
                                              <p:pRg st="5" end="5"/>
                                            </p:txEl>
                                          </p:spTgt>
                                        </p:tgtEl>
                                      </p:cBhvr>
                                    </p:animEffect>
                                    <p:anim calcmode="lin" valueType="num">
                                      <p:cBhvr>
                                        <p:cTn id="27" dur="1000" fill="hold"/>
                                        <p:tgtEl>
                                          <p:spTgt spid="8">
                                            <p:txEl>
                                              <p:pRg st="5" end="5"/>
                                            </p:txEl>
                                          </p:spTgt>
                                        </p:tgtEl>
                                        <p:attrNameLst>
                                          <p:attrName>ppt_x</p:attrName>
                                        </p:attrNameLst>
                                      </p:cBhvr>
                                      <p:tavLst>
                                        <p:tav tm="0">
                                          <p:val>
                                            <p:strVal val="#ppt_x"/>
                                          </p:val>
                                        </p:tav>
                                        <p:tav tm="100000">
                                          <p:val>
                                            <p:strVal val="#ppt_x"/>
                                          </p:val>
                                        </p:tav>
                                      </p:tavLst>
                                    </p:anim>
                                    <p:anim calcmode="lin" valueType="num">
                                      <p:cBhvr>
                                        <p:cTn id="28" dur="1000" fill="hold"/>
                                        <p:tgtEl>
                                          <p:spTgt spid="8">
                                            <p:txEl>
                                              <p:pRg st="5" end="5"/>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0" y="0"/>
            <a:ext cx="12192000" cy="762000"/>
          </a:xfrm>
          <a:prstGeom prst="rect">
            <a:avLst/>
          </a:prstGeom>
          <a:solidFill>
            <a:srgbClr val="002F7C"/>
          </a:solidFill>
        </p:spPr>
        <p:style>
          <a:lnRef idx="2">
            <a:schemeClr val="dk1">
              <a:shade val="50000"/>
            </a:schemeClr>
          </a:lnRef>
          <a:fillRef idx="1">
            <a:schemeClr val="dk1"/>
          </a:fillRef>
          <a:effectRef idx="0">
            <a:schemeClr val="dk1"/>
          </a:effectRef>
          <a:fontRef idx="minor">
            <a:schemeClr val="lt1"/>
          </a:fontRef>
        </p:style>
        <p:txBody>
          <a:bodyPr rtlCol="0" anchor="ctr"/>
          <a:lstStyle/>
          <a:p>
            <a:r>
              <a:rPr lang="en-US" altLang="zh-CN" sz="2000" b="1" dirty="0">
                <a:latin typeface="Trebuchet MS" panose="020B0603020202020204" pitchFamily="34" charset="0"/>
              </a:rPr>
              <a:t>             7.1.1 Definition and Properties of Undirected Trees</a:t>
            </a:r>
            <a:endParaRPr lang="en-US" altLang="zh-CN" sz="2000" b="1" dirty="0">
              <a:latin typeface="Times New Roman" panose="02020603050405020304" pitchFamily="18" charset="0"/>
              <a:cs typeface="Times New Roman" panose="02020603050405020304" pitchFamily="18" charset="0"/>
            </a:endParaRPr>
          </a:p>
          <a:p>
            <a:r>
              <a:rPr lang="en-US" altLang="zh-CN" sz="2000" b="1" dirty="0">
                <a:latin typeface="Times New Roman" panose="02020603050405020304" pitchFamily="18" charset="0"/>
                <a:cs typeface="Times New Roman" panose="02020603050405020304" pitchFamily="18" charset="0"/>
              </a:rPr>
              <a:t>                      </a:t>
            </a:r>
            <a:r>
              <a:rPr lang="en-US" altLang="zh-CN" sz="2400" b="1" dirty="0">
                <a:solidFill>
                  <a:schemeClr val="accent2"/>
                </a:solidFill>
                <a:latin typeface="Trebuchet MS" panose="020B0603020202020204" pitchFamily="34" charset="0"/>
                <a:ea typeface="Cambria Math" panose="02040503050406030204" pitchFamily="18" charset="0"/>
                <a:cs typeface="Times New Roman" panose="02020603050405020304" pitchFamily="18" charset="0"/>
              </a:rPr>
              <a:t>⤷</a:t>
            </a:r>
            <a:r>
              <a:rPr lang="zh-CN" altLang="en-US" sz="2400" dirty="0">
                <a:latin typeface="Trebuchet MS" panose="020B0603020202020204" pitchFamily="34" charset="0"/>
              </a:rPr>
              <a:t> </a:t>
            </a:r>
            <a:r>
              <a:rPr lang="en-US" altLang="zh-CN" sz="2400" b="1" dirty="0">
                <a:latin typeface="Trebuchet MS" panose="020B0603020202020204" pitchFamily="34" charset="0"/>
              </a:rPr>
              <a:t>Proof of Tree Equivalence Theorem</a:t>
            </a:r>
            <a:endParaRPr lang="zh-CN" altLang="en-US" sz="2400" b="1" dirty="0">
              <a:solidFill>
                <a:srgbClr val="3D557A"/>
              </a:solidFill>
              <a:highlight>
                <a:srgbClr val="FF0000"/>
              </a:highlight>
              <a:latin typeface="Trebuchet MS" panose="020B0603020202020204" pitchFamily="34" charset="0"/>
            </a:endParaRPr>
          </a:p>
        </p:txBody>
      </p:sp>
      <p:sp>
        <p:nvSpPr>
          <p:cNvPr id="13" name="矩形 12"/>
          <p:cNvSpPr/>
          <p:nvPr/>
        </p:nvSpPr>
        <p:spPr>
          <a:xfrm>
            <a:off x="824682" y="0"/>
            <a:ext cx="175443" cy="628650"/>
          </a:xfrm>
          <a:prstGeom prst="rect">
            <a:avLst/>
          </a:prstGeom>
          <a:solidFill>
            <a:srgbClr val="CFA57C"/>
          </a:solidFill>
          <a:ln cmpd="sng">
            <a:gradFill flip="none" rotWithShape="1">
              <a:gsLst>
                <a:gs pos="50000">
                  <a:schemeClr val="accent2">
                    <a:lumMod val="60000"/>
                    <a:lumOff val="40000"/>
                  </a:schemeClr>
                </a:gs>
                <a:gs pos="0">
                  <a:schemeClr val="accent2">
                    <a:lumMod val="20000"/>
                    <a:lumOff val="80000"/>
                  </a:schemeClr>
                </a:gs>
                <a:gs pos="95000">
                  <a:schemeClr val="accent2"/>
                </a:gs>
              </a:gsLst>
              <a:path path="circle">
                <a:fillToRect l="50000" t="-80000" r="50000" b="180000"/>
              </a:path>
              <a:tileRect/>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22" name="Picture 6" descr="D:\MBA工作\LOGO\同济经管LOGO反白.png"/>
          <p:cNvPicPr>
            <a:picLocks noChangeAspect="1" noChangeArrowheads="1"/>
          </p:cNvPicPr>
          <p:nvPr/>
        </p:nvPicPr>
        <p:blipFill>
          <a:blip r:embed="rId3" cstate="email">
            <a:extLst>
              <a:ext uri="{28A0092B-C50C-407E-A947-70E740481C1C}">
                <a14:useLocalDpi xmlns:a14="http://schemas.microsoft.com/office/drawing/2010/main" val="0"/>
              </a:ext>
            </a:extLst>
          </a:blip>
          <a:srcRect/>
          <a:stretch>
            <a:fillRect/>
          </a:stretch>
        </p:blipFill>
        <p:spPr bwMode="auto">
          <a:xfrm>
            <a:off x="10267423" y="165688"/>
            <a:ext cx="1386605" cy="462962"/>
          </a:xfrm>
          <a:prstGeom prst="rect">
            <a:avLst/>
          </a:prstGeom>
          <a:noFill/>
          <a:extLst>
            <a:ext uri="{909E8E84-426E-40DD-AFC4-6F175D3DCCD1}">
              <a14:hiddenFill xmlns:a14="http://schemas.microsoft.com/office/drawing/2010/main">
                <a:solidFill>
                  <a:srgbClr val="FFFFFF"/>
                </a:solidFill>
              </a14:hiddenFill>
            </a:ext>
          </a:extLst>
        </p:spPr>
      </p:pic>
      <p:pic>
        <p:nvPicPr>
          <p:cNvPr id="2" name="图片 1" descr="微信图片_20220318113523"/>
          <p:cNvPicPr>
            <a:picLocks noChangeAspect="1"/>
          </p:cNvPicPr>
          <p:nvPr userDrawn="1"/>
        </p:nvPicPr>
        <p:blipFill>
          <a:blip r:embed="rId4"/>
          <a:stretch>
            <a:fillRect/>
          </a:stretch>
        </p:blipFill>
        <p:spPr>
          <a:xfrm>
            <a:off x="9291877" y="6115050"/>
            <a:ext cx="2244725" cy="361315"/>
          </a:xfrm>
          <a:prstGeom prst="rect">
            <a:avLst/>
          </a:prstGeom>
        </p:spPr>
      </p:pic>
      <p:sp>
        <p:nvSpPr>
          <p:cNvPr id="18" name="Rectangle 2">
            <a:extLst>
              <a:ext uri="{FF2B5EF4-FFF2-40B4-BE49-F238E27FC236}">
                <a16:creationId xmlns:a16="http://schemas.microsoft.com/office/drawing/2014/main" id="{E217C615-1D49-4D07-B850-D36106D7AA9A}"/>
              </a:ext>
            </a:extLst>
          </p:cNvPr>
          <p:cNvSpPr>
            <a:spLocks noChangeArrowheads="1"/>
          </p:cNvSpPr>
          <p:nvPr/>
        </p:nvSpPr>
        <p:spPr bwMode="auto">
          <a:xfrm>
            <a:off x="1000125" y="815365"/>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8" name="Rectangle 3">
            <a:extLst>
              <a:ext uri="{FF2B5EF4-FFF2-40B4-BE49-F238E27FC236}">
                <a16:creationId xmlns:a16="http://schemas.microsoft.com/office/drawing/2014/main" id="{97F08C45-3D15-45C1-A5A3-D1EB58DC91FE}"/>
              </a:ext>
            </a:extLst>
          </p:cNvPr>
          <p:cNvSpPr txBox="1">
            <a:spLocks noChangeArrowheads="1"/>
          </p:cNvSpPr>
          <p:nvPr/>
        </p:nvSpPr>
        <p:spPr>
          <a:xfrm>
            <a:off x="557684" y="794339"/>
            <a:ext cx="11046358" cy="5205303"/>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20000"/>
              </a:lnSpc>
              <a:spcBef>
                <a:spcPts val="300"/>
              </a:spcBef>
              <a:buClr>
                <a:srgbClr val="0B61FF"/>
              </a:buClr>
              <a:buSzPct val="80000"/>
              <a:buFont typeface="Wingdings" panose="05000000000000000000" pitchFamily="2" charset="2"/>
              <a:buChar char="n"/>
            </a:pPr>
            <a:r>
              <a:rPr lang="en-US" altLang="zh-CN" sz="2400" b="1" dirty="0">
                <a:latin typeface="Trebuchet MS" panose="020B0603020202020204" pitchFamily="34" charset="0"/>
              </a:rPr>
              <a:t>Proof: </a:t>
            </a:r>
            <a:r>
              <a:rPr lang="en-US" altLang="zh-CN" sz="2400" b="1" dirty="0">
                <a:solidFill>
                  <a:srgbClr val="0B61FF"/>
                </a:solidFill>
                <a:latin typeface="Trebuchet MS" panose="020B0603020202020204" pitchFamily="34" charset="0"/>
                <a:sym typeface="Symbol" panose="05050102010706020507" pitchFamily="18" charset="2"/>
              </a:rPr>
              <a:t>(6)</a:t>
            </a:r>
            <a:r>
              <a:rPr lang="en-US" altLang="zh-CN" sz="2400" b="1" dirty="0">
                <a:latin typeface="Trebuchet MS" panose="020B0603020202020204" pitchFamily="34" charset="0"/>
                <a:sym typeface="Symbol" panose="05050102010706020507" pitchFamily="18" charset="2"/>
              </a:rPr>
              <a:t></a:t>
            </a:r>
            <a:r>
              <a:rPr lang="en-US" altLang="zh-CN" sz="2400" b="1" dirty="0">
                <a:solidFill>
                  <a:srgbClr val="0B61FF"/>
                </a:solidFill>
                <a:latin typeface="Trebuchet MS" panose="020B0603020202020204" pitchFamily="34" charset="0"/>
                <a:sym typeface="Symbol" panose="05050102010706020507" pitchFamily="18" charset="2"/>
              </a:rPr>
              <a:t>(1)</a:t>
            </a:r>
            <a:r>
              <a:rPr lang="en-US" altLang="zh-CN" sz="2400" b="1" dirty="0">
                <a:latin typeface="Trebuchet MS" panose="020B0603020202020204" pitchFamily="34" charset="0"/>
                <a:sym typeface="Symbol" panose="05050102010706020507" pitchFamily="18" charset="2"/>
              </a:rPr>
              <a:t> </a:t>
            </a:r>
          </a:p>
          <a:p>
            <a:pPr marL="625475" indent="-449263">
              <a:lnSpc>
                <a:spcPct val="120000"/>
              </a:lnSpc>
              <a:spcBef>
                <a:spcPts val="600"/>
              </a:spcBef>
              <a:buNone/>
            </a:pPr>
            <a:r>
              <a:rPr lang="en-US" altLang="zh-CN" sz="2400" b="1" dirty="0">
                <a:solidFill>
                  <a:srgbClr val="0B61FF"/>
                </a:solidFill>
                <a:latin typeface="Trebuchet MS" panose="020B0603020202020204" pitchFamily="34" charset="0"/>
              </a:rPr>
              <a:t>①</a:t>
            </a:r>
            <a:r>
              <a:rPr lang="en-US" altLang="zh-CN" sz="2400" b="1" dirty="0">
                <a:latin typeface="Trebuchet MS" panose="020B0603020202020204" pitchFamily="34" charset="0"/>
                <a:cs typeface="Times New Roman" panose="02020603050405020304" pitchFamily="18" charset="0"/>
                <a:sym typeface="Symbol" panose="05050102010706020507" pitchFamily="18" charset="2"/>
              </a:rPr>
              <a:t> I</a:t>
            </a:r>
            <a:r>
              <a:rPr lang="en-US" altLang="zh-CN" sz="2400" dirty="0">
                <a:latin typeface="Trebuchet MS" panose="020B0603020202020204" pitchFamily="34" charset="0"/>
              </a:rPr>
              <a:t>f </a:t>
            </a:r>
            <a:r>
              <a:rPr lang="en-US" altLang="zh-CN" sz="2400" b="1" i="1" dirty="0">
                <a:latin typeface="Trebuchet MS" panose="020B0603020202020204" pitchFamily="34" charset="0"/>
              </a:rPr>
              <a:t>G</a:t>
            </a:r>
            <a:r>
              <a:rPr lang="en-US" altLang="zh-CN" sz="2400" dirty="0">
                <a:latin typeface="Trebuchet MS" panose="020B0603020202020204" pitchFamily="34" charset="0"/>
              </a:rPr>
              <a:t> contains a cycle, then removing any edge on that cycle would leave </a:t>
            </a:r>
            <a:r>
              <a:rPr lang="en-US" altLang="zh-CN" sz="2400" b="1" i="1" dirty="0">
                <a:latin typeface="Trebuchet MS" panose="020B0603020202020204" pitchFamily="34" charset="0"/>
              </a:rPr>
              <a:t>G</a:t>
            </a:r>
            <a:r>
              <a:rPr lang="en-US" altLang="zh-CN" sz="2400" dirty="0">
                <a:latin typeface="Trebuchet MS" panose="020B0603020202020204" pitchFamily="34" charset="0"/>
              </a:rPr>
              <a:t> connected—contradicting the assumption that every edge is a bridge.</a:t>
            </a:r>
          </a:p>
          <a:p>
            <a:pPr marL="625475" indent="-449263">
              <a:lnSpc>
                <a:spcPct val="120000"/>
              </a:lnSpc>
              <a:spcBef>
                <a:spcPts val="300"/>
              </a:spcBef>
              <a:buNone/>
            </a:pPr>
            <a:r>
              <a:rPr lang="en-US" altLang="zh-CN" sz="2400" b="1" dirty="0">
                <a:solidFill>
                  <a:srgbClr val="0B61FF"/>
                </a:solidFill>
                <a:latin typeface="Trebuchet MS" panose="020B0603020202020204" pitchFamily="34" charset="0"/>
              </a:rPr>
              <a:t>②</a:t>
            </a:r>
            <a:r>
              <a:rPr lang="en-US" altLang="zh-CN" sz="2400" dirty="0">
                <a:latin typeface="Trebuchet MS" panose="020B0603020202020204" pitchFamily="34" charset="0"/>
              </a:rPr>
              <a:t>Thus, </a:t>
            </a:r>
            <a:r>
              <a:rPr lang="en-US" altLang="zh-CN" sz="2400" b="1" i="1" dirty="0">
                <a:latin typeface="Trebuchet MS" panose="020B0603020202020204" pitchFamily="34" charset="0"/>
              </a:rPr>
              <a:t>G</a:t>
            </a:r>
            <a:r>
              <a:rPr lang="en-US" altLang="zh-CN" sz="2400" dirty="0">
                <a:latin typeface="Trebuchet MS" panose="020B0603020202020204" pitchFamily="34" charset="0"/>
              </a:rPr>
              <a:t> has no cycles and is connected, so </a:t>
            </a:r>
            <a:r>
              <a:rPr lang="en-US" altLang="zh-CN" sz="2400" b="1" i="1" dirty="0">
                <a:latin typeface="Trebuchet MS" panose="020B0603020202020204" pitchFamily="34" charset="0"/>
              </a:rPr>
              <a:t>G</a:t>
            </a:r>
            <a:r>
              <a:rPr lang="en-US" altLang="zh-CN" sz="2400" dirty="0">
                <a:latin typeface="Trebuchet MS" panose="020B0603020202020204" pitchFamily="34" charset="0"/>
              </a:rPr>
              <a:t> is a tree.</a:t>
            </a:r>
            <a:endParaRPr lang="en-US" altLang="zh-CN" sz="2400" b="1" dirty="0">
              <a:latin typeface="Trebuchet MS" panose="020B0603020202020204" pitchFamily="34" charset="0"/>
              <a:cs typeface="Times New Roman" panose="02020603050405020304" pitchFamily="18" charset="0"/>
              <a:sym typeface="Symbol" panose="05050102010706020507" pitchFamily="18" charset="2"/>
            </a:endParaRPr>
          </a:p>
          <a:p>
            <a:pPr algn="just" eaLnBrk="1" hangingPunct="1">
              <a:lnSpc>
                <a:spcPct val="120000"/>
              </a:lnSpc>
              <a:spcBef>
                <a:spcPts val="0"/>
              </a:spcBef>
              <a:buClr>
                <a:srgbClr val="0B61FF"/>
              </a:buClr>
              <a:buSzPct val="80000"/>
              <a:buFont typeface="Wingdings" panose="05000000000000000000" pitchFamily="2" charset="2"/>
              <a:buChar char="n"/>
            </a:pPr>
            <a:endParaRPr lang="zh-CN" altLang="en-US" sz="2400" b="1" dirty="0">
              <a:latin typeface="Trebuchet MS" panose="020B0603020202020204" pitchFamily="34" charset="0"/>
            </a:endParaRPr>
          </a:p>
        </p:txBody>
      </p:sp>
    </p:spTree>
    <p:extLst>
      <p:ext uri="{BB962C8B-B14F-4D97-AF65-F5344CB8AC3E}">
        <p14:creationId xmlns:p14="http://schemas.microsoft.com/office/powerpoint/2010/main" val="4184062042"/>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8">
                                            <p:txEl>
                                              <p:pRg st="2" end="2"/>
                                            </p:txEl>
                                          </p:spTgt>
                                        </p:tgtEl>
                                        <p:attrNameLst>
                                          <p:attrName>style.visibility</p:attrName>
                                        </p:attrNameLst>
                                      </p:cBhvr>
                                      <p:to>
                                        <p:strVal val="visible"/>
                                      </p:to>
                                    </p:set>
                                    <p:animEffect transition="in" filter="fade">
                                      <p:cBhvr>
                                        <p:cTn id="7" dur="1000"/>
                                        <p:tgtEl>
                                          <p:spTgt spid="8">
                                            <p:txEl>
                                              <p:pRg st="2" end="2"/>
                                            </p:txEl>
                                          </p:spTgt>
                                        </p:tgtEl>
                                      </p:cBhvr>
                                    </p:animEffect>
                                    <p:anim calcmode="lin" valueType="num">
                                      <p:cBhvr>
                                        <p:cTn id="8" dur="1000" fill="hold"/>
                                        <p:tgtEl>
                                          <p:spTgt spid="8">
                                            <p:txEl>
                                              <p:pRg st="2" end="2"/>
                                            </p:txEl>
                                          </p:spTgt>
                                        </p:tgtEl>
                                        <p:attrNameLst>
                                          <p:attrName>ppt_x</p:attrName>
                                        </p:attrNameLst>
                                      </p:cBhvr>
                                      <p:tavLst>
                                        <p:tav tm="0">
                                          <p:val>
                                            <p:strVal val="#ppt_x"/>
                                          </p:val>
                                        </p:tav>
                                        <p:tav tm="100000">
                                          <p:val>
                                            <p:strVal val="#ppt_x"/>
                                          </p:val>
                                        </p:tav>
                                      </p:tavLst>
                                    </p:anim>
                                    <p:anim calcmode="lin" valueType="num">
                                      <p:cBhvr>
                                        <p:cTn id="9" dur="1000" fill="hold"/>
                                        <p:tgtEl>
                                          <p:spTgt spid="8">
                                            <p:txEl>
                                              <p:pRg st="2" end="2"/>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0" y="0"/>
            <a:ext cx="12192000" cy="762000"/>
          </a:xfrm>
          <a:prstGeom prst="rect">
            <a:avLst/>
          </a:prstGeom>
          <a:solidFill>
            <a:srgbClr val="002F7C"/>
          </a:solidFill>
        </p:spPr>
        <p:style>
          <a:lnRef idx="2">
            <a:schemeClr val="dk1">
              <a:shade val="50000"/>
            </a:schemeClr>
          </a:lnRef>
          <a:fillRef idx="1">
            <a:schemeClr val="dk1"/>
          </a:fillRef>
          <a:effectRef idx="0">
            <a:schemeClr val="dk1"/>
          </a:effectRef>
          <a:fontRef idx="minor">
            <a:schemeClr val="lt1"/>
          </a:fontRef>
        </p:style>
        <p:txBody>
          <a:bodyPr rtlCol="0" anchor="ctr"/>
          <a:lstStyle/>
          <a:p>
            <a:r>
              <a:rPr lang="zh-CN" altLang="en-US" sz="2000" b="1" dirty="0">
                <a:latin typeface="Times New Roman" panose="02020603050405020304" pitchFamily="18" charset="0"/>
                <a:ea typeface="宋体" panose="02010600030101010101" pitchFamily="2" charset="-122"/>
                <a:cs typeface="Times New Roman" panose="02020603050405020304" pitchFamily="18" charset="0"/>
              </a:rPr>
              <a:t>                 </a:t>
            </a:r>
            <a:r>
              <a:rPr lang="en-US" altLang="zh-CN" sz="2000" b="1" dirty="0"/>
              <a:t> </a:t>
            </a:r>
            <a:r>
              <a:rPr lang="en-US" altLang="zh-CN" sz="2000" b="1" dirty="0">
                <a:latin typeface="Trebuchet MS" panose="020B0603020202020204" pitchFamily="34" charset="0"/>
              </a:rPr>
              <a:t>7.1.1 Definition and Properties of Undirected Trees</a:t>
            </a:r>
            <a:endParaRPr lang="en-US" altLang="zh-CN" sz="2000" b="1" dirty="0">
              <a:latin typeface="Times New Roman" panose="02020603050405020304" pitchFamily="18" charset="0"/>
              <a:cs typeface="Times New Roman" panose="02020603050405020304" pitchFamily="18" charset="0"/>
            </a:endParaRPr>
          </a:p>
          <a:p>
            <a:r>
              <a:rPr lang="en-US" altLang="zh-CN" sz="2000" b="1" dirty="0">
                <a:latin typeface="Times New Roman" panose="02020603050405020304" pitchFamily="18" charset="0"/>
                <a:cs typeface="Times New Roman" panose="02020603050405020304" pitchFamily="18" charset="0"/>
              </a:rPr>
              <a:t>                      </a:t>
            </a:r>
            <a:r>
              <a:rPr lang="en-US" altLang="zh-CN" sz="2400" b="1" dirty="0">
                <a:solidFill>
                  <a:schemeClr val="accent2"/>
                </a:solidFill>
                <a:latin typeface="Trebuchet MS" panose="020B0603020202020204" pitchFamily="34" charset="0"/>
                <a:ea typeface="Cambria Math" panose="02040503050406030204" pitchFamily="18" charset="0"/>
                <a:cs typeface="Times New Roman" panose="02020603050405020304" pitchFamily="18" charset="0"/>
              </a:rPr>
              <a:t>⤷</a:t>
            </a:r>
            <a:r>
              <a:rPr lang="zh-CN" altLang="en-US" sz="2400" b="1" dirty="0">
                <a:latin typeface="Trebuchet MS" panose="020B0603020202020204" pitchFamily="34" charset="0"/>
              </a:rPr>
              <a:t> </a:t>
            </a:r>
            <a:r>
              <a:rPr lang="en-US" altLang="zh-CN" sz="2400" b="1" dirty="0">
                <a:latin typeface="Trebuchet MS" panose="020B0603020202020204" pitchFamily="34" charset="0"/>
              </a:rPr>
              <a:t>Minimum Leaf Theorem for Trees</a:t>
            </a:r>
            <a:endParaRPr lang="zh-CN" altLang="en-US" sz="2400" b="1" dirty="0">
              <a:solidFill>
                <a:srgbClr val="3D557A"/>
              </a:solidFill>
              <a:highlight>
                <a:srgbClr val="FF0000"/>
              </a:highlight>
              <a:latin typeface="Trebuchet MS" panose="020B0603020202020204" pitchFamily="34" charset="0"/>
            </a:endParaRPr>
          </a:p>
        </p:txBody>
      </p:sp>
      <p:sp>
        <p:nvSpPr>
          <p:cNvPr id="13" name="矩形 12"/>
          <p:cNvSpPr/>
          <p:nvPr/>
        </p:nvSpPr>
        <p:spPr>
          <a:xfrm>
            <a:off x="824682" y="0"/>
            <a:ext cx="175443" cy="628650"/>
          </a:xfrm>
          <a:prstGeom prst="rect">
            <a:avLst/>
          </a:prstGeom>
          <a:solidFill>
            <a:srgbClr val="CFA57C"/>
          </a:solidFill>
          <a:ln cmpd="sng">
            <a:gradFill flip="none" rotWithShape="1">
              <a:gsLst>
                <a:gs pos="50000">
                  <a:schemeClr val="accent2">
                    <a:lumMod val="60000"/>
                    <a:lumOff val="40000"/>
                  </a:schemeClr>
                </a:gs>
                <a:gs pos="0">
                  <a:schemeClr val="accent2">
                    <a:lumMod val="20000"/>
                    <a:lumOff val="80000"/>
                  </a:schemeClr>
                </a:gs>
                <a:gs pos="95000">
                  <a:schemeClr val="accent2"/>
                </a:gs>
              </a:gsLst>
              <a:path path="circle">
                <a:fillToRect l="50000" t="-80000" r="50000" b="180000"/>
              </a:path>
              <a:tileRect/>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22" name="Picture 6" descr="D:\MBA工作\LOGO\同济经管LOGO反白.png"/>
          <p:cNvPicPr>
            <a:picLocks noChangeAspect="1" noChangeArrowheads="1"/>
          </p:cNvPicPr>
          <p:nvPr/>
        </p:nvPicPr>
        <p:blipFill>
          <a:blip r:embed="rId3" cstate="email">
            <a:extLst>
              <a:ext uri="{28A0092B-C50C-407E-A947-70E740481C1C}">
                <a14:useLocalDpi xmlns:a14="http://schemas.microsoft.com/office/drawing/2010/main" val="0"/>
              </a:ext>
            </a:extLst>
          </a:blip>
          <a:srcRect/>
          <a:stretch>
            <a:fillRect/>
          </a:stretch>
        </p:blipFill>
        <p:spPr bwMode="auto">
          <a:xfrm>
            <a:off x="10267423" y="165688"/>
            <a:ext cx="1386605" cy="462962"/>
          </a:xfrm>
          <a:prstGeom prst="rect">
            <a:avLst/>
          </a:prstGeom>
          <a:noFill/>
          <a:extLst>
            <a:ext uri="{909E8E84-426E-40DD-AFC4-6F175D3DCCD1}">
              <a14:hiddenFill xmlns:a14="http://schemas.microsoft.com/office/drawing/2010/main">
                <a:solidFill>
                  <a:srgbClr val="FFFFFF"/>
                </a:solidFill>
              </a14:hiddenFill>
            </a:ext>
          </a:extLst>
        </p:spPr>
      </p:pic>
      <p:pic>
        <p:nvPicPr>
          <p:cNvPr id="2" name="图片 1" descr="微信图片_20220318113523"/>
          <p:cNvPicPr>
            <a:picLocks noChangeAspect="1"/>
          </p:cNvPicPr>
          <p:nvPr userDrawn="1"/>
        </p:nvPicPr>
        <p:blipFill>
          <a:blip r:embed="rId4"/>
          <a:stretch>
            <a:fillRect/>
          </a:stretch>
        </p:blipFill>
        <p:spPr>
          <a:xfrm>
            <a:off x="9291877" y="6115050"/>
            <a:ext cx="2244725" cy="361315"/>
          </a:xfrm>
          <a:prstGeom prst="rect">
            <a:avLst/>
          </a:prstGeom>
        </p:spPr>
      </p:pic>
      <p:sp>
        <p:nvSpPr>
          <p:cNvPr id="18" name="Rectangle 2">
            <a:extLst>
              <a:ext uri="{FF2B5EF4-FFF2-40B4-BE49-F238E27FC236}">
                <a16:creationId xmlns:a16="http://schemas.microsoft.com/office/drawing/2014/main" id="{E217C615-1D49-4D07-B850-D36106D7AA9A}"/>
              </a:ext>
            </a:extLst>
          </p:cNvPr>
          <p:cNvSpPr>
            <a:spLocks noChangeArrowheads="1"/>
          </p:cNvSpPr>
          <p:nvPr/>
        </p:nvSpPr>
        <p:spPr bwMode="auto">
          <a:xfrm>
            <a:off x="1000125" y="815365"/>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8" name="Rectangle 3">
            <a:extLst>
              <a:ext uri="{FF2B5EF4-FFF2-40B4-BE49-F238E27FC236}">
                <a16:creationId xmlns:a16="http://schemas.microsoft.com/office/drawing/2014/main" id="{97F08C45-3D15-45C1-A5A3-D1EB58DC91FE}"/>
              </a:ext>
            </a:extLst>
          </p:cNvPr>
          <p:cNvSpPr txBox="1">
            <a:spLocks noChangeArrowheads="1"/>
          </p:cNvSpPr>
          <p:nvPr/>
        </p:nvSpPr>
        <p:spPr>
          <a:xfrm>
            <a:off x="1000125" y="914401"/>
            <a:ext cx="9877336" cy="5013934"/>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eaLnBrk="1" hangingPunct="1">
              <a:lnSpc>
                <a:spcPct val="120000"/>
              </a:lnSpc>
              <a:spcBef>
                <a:spcPts val="300"/>
              </a:spcBef>
              <a:buClr>
                <a:srgbClr val="0B61FF"/>
              </a:buClr>
              <a:buSzPct val="80000"/>
              <a:buFont typeface="Wingdings" panose="05000000000000000000" pitchFamily="2" charset="2"/>
              <a:buChar char="n"/>
            </a:pPr>
            <a:r>
              <a:rPr lang="en-US" altLang="zh-CN" sz="2400" b="1" dirty="0">
                <a:latin typeface="Trebuchet MS" panose="020B0603020202020204" pitchFamily="34" charset="0"/>
              </a:rPr>
              <a:t>Theorem 7.2:</a:t>
            </a:r>
            <a:br>
              <a:rPr lang="en-US" altLang="zh-CN" sz="2400" dirty="0">
                <a:latin typeface="Trebuchet MS" panose="020B0603020202020204" pitchFamily="34" charset="0"/>
              </a:rPr>
            </a:br>
            <a:r>
              <a:rPr lang="en-US" altLang="zh-CN" sz="2400" dirty="0">
                <a:latin typeface="Trebuchet MS" panose="020B0603020202020204" pitchFamily="34" charset="0"/>
              </a:rPr>
              <a:t>An undirected tree of order </a:t>
            </a:r>
            <a:r>
              <a:rPr lang="en-US" altLang="zh-CN" sz="2400" b="1" i="1" dirty="0">
                <a:latin typeface="Trebuchet MS" panose="020B0603020202020204" pitchFamily="34" charset="0"/>
              </a:rPr>
              <a:t>n</a:t>
            </a:r>
            <a:r>
              <a:rPr lang="en-US" altLang="zh-CN" sz="2400" dirty="0">
                <a:latin typeface="Trebuchet MS" panose="020B0603020202020204" pitchFamily="34" charset="0"/>
              </a:rPr>
              <a:t> (with </a:t>
            </a:r>
            <a:r>
              <a:rPr lang="en-US" altLang="zh-CN" sz="2400" b="1" i="1" dirty="0">
                <a:latin typeface="Trebuchet MS" panose="020B0603020202020204" pitchFamily="34" charset="0"/>
              </a:rPr>
              <a:t>n</a:t>
            </a:r>
            <a:r>
              <a:rPr lang="en-US" altLang="zh-CN" sz="2400" b="1" dirty="0">
                <a:latin typeface="Trebuchet MS" panose="020B0603020202020204" pitchFamily="34" charset="0"/>
              </a:rPr>
              <a:t>&gt;1</a:t>
            </a:r>
            <a:r>
              <a:rPr lang="en-US" altLang="zh-CN" sz="2400" dirty="0">
                <a:latin typeface="Trebuchet MS" panose="020B0603020202020204" pitchFamily="34" charset="0"/>
              </a:rPr>
              <a:t>) has at least two leaves.</a:t>
            </a:r>
          </a:p>
          <a:p>
            <a:pPr eaLnBrk="1" hangingPunct="1">
              <a:lnSpc>
                <a:spcPct val="120000"/>
              </a:lnSpc>
              <a:spcBef>
                <a:spcPts val="300"/>
              </a:spcBef>
              <a:buClr>
                <a:srgbClr val="0B61FF"/>
              </a:buClr>
              <a:buSzPct val="80000"/>
              <a:buFont typeface="Wingdings" panose="05000000000000000000" pitchFamily="2" charset="2"/>
              <a:buChar char="n"/>
            </a:pPr>
            <a:r>
              <a:rPr lang="en-US" altLang="zh-CN" sz="2400" b="1" dirty="0">
                <a:latin typeface="Trebuchet MS" panose="020B0603020202020204" pitchFamily="34" charset="0"/>
              </a:rPr>
              <a:t>Proof</a:t>
            </a:r>
            <a:r>
              <a:rPr kumimoji="0" lang="zh-CN" altLang="en-US" sz="2400" b="1" dirty="0">
                <a:latin typeface="Trebuchet MS" panose="020B0603020202020204" pitchFamily="34" charset="0"/>
                <a:cs typeface="Times New Roman" panose="02020603050405020304" pitchFamily="18" charset="0"/>
              </a:rPr>
              <a:t>：</a:t>
            </a:r>
            <a:endParaRPr kumimoji="0" lang="en-US" altLang="zh-CN" sz="2400" b="1" dirty="0">
              <a:latin typeface="Trebuchet MS" panose="020B0603020202020204" pitchFamily="34" charset="0"/>
              <a:cs typeface="Times New Roman" panose="02020603050405020304" pitchFamily="18" charset="0"/>
            </a:endParaRPr>
          </a:p>
          <a:p>
            <a:pPr marL="536575" indent="-357188" eaLnBrk="1" hangingPunct="1">
              <a:lnSpc>
                <a:spcPct val="120000"/>
              </a:lnSpc>
              <a:spcBef>
                <a:spcPts val="300"/>
              </a:spcBef>
              <a:buClr>
                <a:srgbClr val="0B61FF"/>
              </a:buClr>
              <a:buSzPct val="80000"/>
              <a:buNone/>
            </a:pPr>
            <a:r>
              <a:rPr kumimoji="0" lang="zh-CN" altLang="en-US" sz="2400" b="1" dirty="0">
                <a:solidFill>
                  <a:srgbClr val="0B61FF"/>
                </a:solidFill>
                <a:latin typeface="Trebuchet MS" panose="020B0603020202020204" pitchFamily="34" charset="0"/>
                <a:cs typeface="Times New Roman" panose="02020603050405020304" pitchFamily="18" charset="0"/>
              </a:rPr>
              <a:t>① </a:t>
            </a:r>
            <a:r>
              <a:rPr lang="en-US" altLang="zh-CN" sz="2400" dirty="0">
                <a:latin typeface="Trebuchet MS" panose="020B0603020202020204" pitchFamily="34" charset="0"/>
              </a:rPr>
              <a:t>Let the tree have </a:t>
            </a:r>
            <a:r>
              <a:rPr lang="en-US" altLang="zh-CN" sz="2400" b="1" i="1" dirty="0">
                <a:latin typeface="Trebuchet MS" panose="020B0603020202020204" pitchFamily="34" charset="0"/>
              </a:rPr>
              <a:t>n</a:t>
            </a:r>
            <a:r>
              <a:rPr lang="en-US" altLang="zh-CN" sz="2400" dirty="0">
                <a:latin typeface="Trebuchet MS" panose="020B0603020202020204" pitchFamily="34" charset="0"/>
              </a:rPr>
              <a:t> vertices </a:t>
            </a:r>
            <a:r>
              <a:rPr kumimoji="0" lang="en-US" altLang="zh-CN" sz="2400" b="1" i="1" dirty="0">
                <a:latin typeface="Trebuchet MS" panose="020B0603020202020204" pitchFamily="34" charset="0"/>
                <a:cs typeface="Times New Roman" panose="02020603050405020304" pitchFamily="18" charset="0"/>
              </a:rPr>
              <a:t>n</a:t>
            </a:r>
            <a:r>
              <a:rPr kumimoji="0" lang="en-US" altLang="zh-CN" sz="2400" b="1" dirty="0">
                <a:latin typeface="Trebuchet MS" panose="020B0603020202020204" pitchFamily="34" charset="0"/>
                <a:cs typeface="Times New Roman" panose="02020603050405020304" pitchFamily="18" charset="0"/>
              </a:rPr>
              <a:t>(</a:t>
            </a:r>
            <a:r>
              <a:rPr kumimoji="0" lang="en-US" altLang="zh-CN" sz="2400" b="1" i="1" dirty="0">
                <a:latin typeface="Trebuchet MS" panose="020B0603020202020204" pitchFamily="34" charset="0"/>
                <a:cs typeface="Times New Roman" panose="02020603050405020304" pitchFamily="18" charset="0"/>
              </a:rPr>
              <a:t>n</a:t>
            </a:r>
            <a:r>
              <a:rPr kumimoji="0" lang="en-US" altLang="zh-CN" sz="2400" b="1" dirty="0">
                <a:latin typeface="Trebuchet MS" panose="020B0603020202020204" pitchFamily="34" charset="0"/>
                <a:cs typeface="Times New Roman" panose="02020603050405020304" pitchFamily="18" charset="0"/>
              </a:rPr>
              <a:t>&gt;1)</a:t>
            </a:r>
            <a:r>
              <a:rPr lang="en-US" altLang="zh-CN" sz="2400" dirty="0">
                <a:latin typeface="Trebuchet MS" panose="020B0603020202020204" pitchFamily="34" charset="0"/>
              </a:rPr>
              <a:t>  </a:t>
            </a:r>
            <a:r>
              <a:rPr lang="en-US" altLang="zh-CN" sz="2400" b="1" i="1" dirty="0">
                <a:latin typeface="Trebuchet MS" panose="020B0603020202020204" pitchFamily="34" charset="0"/>
              </a:rPr>
              <a:t>k</a:t>
            </a:r>
            <a:r>
              <a:rPr lang="en-US" altLang="zh-CN" sz="2400" dirty="0">
                <a:latin typeface="Trebuchet MS" panose="020B0603020202020204" pitchFamily="34" charset="0"/>
              </a:rPr>
              <a:t> leaves (vertices of degree 1), and </a:t>
            </a:r>
            <a:r>
              <a:rPr lang="en-US" altLang="zh-CN" sz="2400" b="1" i="1" dirty="0">
                <a:latin typeface="Trebuchet MS" panose="020B0603020202020204" pitchFamily="34" charset="0"/>
              </a:rPr>
              <a:t>m</a:t>
            </a:r>
            <a:r>
              <a:rPr lang="en-US" altLang="zh-CN" sz="2400" dirty="0">
                <a:latin typeface="Trebuchet MS" panose="020B0603020202020204" pitchFamily="34" charset="0"/>
              </a:rPr>
              <a:t> edges.</a:t>
            </a:r>
          </a:p>
          <a:p>
            <a:pPr marL="536575" indent="-357188" eaLnBrk="1" hangingPunct="1">
              <a:lnSpc>
                <a:spcPct val="120000"/>
              </a:lnSpc>
              <a:spcBef>
                <a:spcPts val="300"/>
              </a:spcBef>
              <a:buClr>
                <a:srgbClr val="0B61FF"/>
              </a:buClr>
              <a:buSzPct val="80000"/>
              <a:buNone/>
            </a:pPr>
            <a:r>
              <a:rPr lang="en-US" altLang="zh-CN" sz="2400" b="1" dirty="0">
                <a:solidFill>
                  <a:srgbClr val="0B61FF"/>
                </a:solidFill>
                <a:latin typeface="Trebuchet MS" panose="020B0603020202020204" pitchFamily="34" charset="0"/>
              </a:rPr>
              <a:t>② </a:t>
            </a:r>
            <a:r>
              <a:rPr lang="en-US" altLang="zh-CN" sz="2400" dirty="0">
                <a:latin typeface="Trebuchet MS" panose="020B0603020202020204" pitchFamily="34" charset="0"/>
              </a:rPr>
              <a:t>By the </a:t>
            </a:r>
            <a:r>
              <a:rPr lang="en-US" altLang="zh-CN" sz="2400" dirty="0" err="1">
                <a:latin typeface="Trebuchet MS" panose="020B0603020202020204" pitchFamily="34" charset="0"/>
              </a:rPr>
              <a:t>andshaking</a:t>
            </a:r>
            <a:r>
              <a:rPr lang="en-US" altLang="zh-CN" sz="2400" dirty="0">
                <a:latin typeface="Trebuchet MS" panose="020B0603020202020204" pitchFamily="34" charset="0"/>
              </a:rPr>
              <a:t> Lemma, we have:</a:t>
            </a:r>
            <a:r>
              <a:rPr lang="en-US" altLang="zh-CN" sz="2400" b="1" dirty="0">
                <a:latin typeface="Trebuchet MS" panose="020B0603020202020204" pitchFamily="34" charset="0"/>
                <a:cs typeface="Times New Roman" panose="02020603050405020304" pitchFamily="18" charset="0"/>
              </a:rPr>
              <a:t>   </a:t>
            </a:r>
            <a:r>
              <a:rPr kumimoji="0" lang="en-US" altLang="zh-CN" sz="2400" b="1" dirty="0">
                <a:latin typeface="Trebuchet MS" panose="020B0603020202020204" pitchFamily="34" charset="0"/>
                <a:cs typeface="Times New Roman" panose="02020603050405020304" pitchFamily="18" charset="0"/>
              </a:rPr>
              <a:t>2</a:t>
            </a:r>
            <a:r>
              <a:rPr lang="en-US" altLang="zh-CN" sz="2400" b="1" i="1" dirty="0">
                <a:latin typeface="Trebuchet MS" panose="020B0603020202020204" pitchFamily="34" charset="0"/>
                <a:cs typeface="Times New Roman" panose="02020603050405020304" pitchFamily="18" charset="0"/>
              </a:rPr>
              <a:t> m</a:t>
            </a:r>
            <a:r>
              <a:rPr lang="en-US" altLang="zh-CN" sz="2400" b="1" dirty="0">
                <a:latin typeface="Trebuchet MS" panose="020B0603020202020204" pitchFamily="34" charset="0"/>
                <a:cs typeface="Times New Roman" panose="02020603050405020304" pitchFamily="18" charset="0"/>
                <a:sym typeface="Symbol" panose="05050102010706020507" pitchFamily="18" charset="2"/>
              </a:rPr>
              <a:t> </a:t>
            </a:r>
            <a:r>
              <a:rPr kumimoji="0" lang="en-US" altLang="zh-CN" sz="2400" b="1" i="1" dirty="0">
                <a:latin typeface="Trebuchet MS" panose="020B0603020202020204" pitchFamily="34" charset="0"/>
                <a:cs typeface="Times New Roman" panose="02020603050405020304" pitchFamily="18" charset="0"/>
              </a:rPr>
              <a:t> k + 2(n-k).</a:t>
            </a:r>
          </a:p>
          <a:p>
            <a:pPr marL="536575" indent="-357188" eaLnBrk="1" hangingPunct="1">
              <a:lnSpc>
                <a:spcPct val="120000"/>
              </a:lnSpc>
              <a:spcBef>
                <a:spcPts val="300"/>
              </a:spcBef>
              <a:buClr>
                <a:srgbClr val="0B61FF"/>
              </a:buClr>
              <a:buSzPct val="80000"/>
              <a:buNone/>
            </a:pPr>
            <a:r>
              <a:rPr lang="en-US" altLang="zh-CN" sz="2400" b="1" dirty="0">
                <a:solidFill>
                  <a:srgbClr val="0B61FF"/>
                </a:solidFill>
                <a:latin typeface="Trebuchet MS" panose="020B0603020202020204" pitchFamily="34" charset="0"/>
                <a:cs typeface="Times New Roman" panose="02020603050405020304" pitchFamily="18" charset="0"/>
              </a:rPr>
              <a:t>③ </a:t>
            </a:r>
            <a:r>
              <a:rPr lang="en-US" altLang="zh-CN" sz="2400" dirty="0">
                <a:latin typeface="Trebuchet MS" panose="020B0603020202020204" pitchFamily="34" charset="0"/>
              </a:rPr>
              <a:t>According to </a:t>
            </a:r>
            <a:r>
              <a:rPr lang="en-US" altLang="zh-CN" sz="2400" b="1" dirty="0">
                <a:latin typeface="Trebuchet MS" panose="020B0603020202020204" pitchFamily="34" charset="0"/>
              </a:rPr>
              <a:t>Theorem 7.1 </a:t>
            </a:r>
            <a:r>
              <a:rPr lang="en-US" altLang="zh-CN" sz="2400" dirty="0">
                <a:latin typeface="Trebuchet MS" panose="020B0603020202020204" pitchFamily="34" charset="0"/>
              </a:rPr>
              <a:t>(the number of edges in a tree is always </a:t>
            </a:r>
            <a:r>
              <a:rPr lang="en-US" altLang="zh-CN" sz="2400" b="1" i="1" dirty="0">
                <a:latin typeface="Trebuchet MS" panose="020B0603020202020204" pitchFamily="34" charset="0"/>
              </a:rPr>
              <a:t>m</a:t>
            </a:r>
            <a:r>
              <a:rPr lang="en-US" altLang="zh-CN" sz="2400" b="1" dirty="0">
                <a:latin typeface="Trebuchet MS" panose="020B0603020202020204" pitchFamily="34" charset="0"/>
              </a:rPr>
              <a:t>=</a:t>
            </a:r>
            <a:r>
              <a:rPr lang="en-US" altLang="zh-CN" sz="2400" b="1" i="1" dirty="0">
                <a:latin typeface="Trebuchet MS" panose="020B0603020202020204" pitchFamily="34" charset="0"/>
              </a:rPr>
              <a:t>n</a:t>
            </a:r>
            <a:r>
              <a:rPr lang="en-US" altLang="zh-CN" sz="2400" b="1" dirty="0">
                <a:latin typeface="Trebuchet MS" panose="020B0603020202020204" pitchFamily="34" charset="0"/>
              </a:rPr>
              <a:t>−1</a:t>
            </a:r>
            <a:r>
              <a:rPr lang="en-US" altLang="zh-CN" sz="2400" dirty="0">
                <a:latin typeface="Trebuchet MS" panose="020B0603020202020204" pitchFamily="34" charset="0"/>
              </a:rPr>
              <a:t>), we substitute:</a:t>
            </a:r>
          </a:p>
          <a:p>
            <a:pPr eaLnBrk="1" hangingPunct="1">
              <a:lnSpc>
                <a:spcPct val="120000"/>
              </a:lnSpc>
              <a:spcBef>
                <a:spcPts val="300"/>
              </a:spcBef>
              <a:buClr>
                <a:schemeClr val="bg2"/>
              </a:buClr>
              <a:buSzPct val="75000"/>
              <a:buFont typeface="Wingdings" panose="05000000000000000000" pitchFamily="2" charset="2"/>
              <a:buNone/>
            </a:pPr>
            <a:r>
              <a:rPr kumimoji="0" lang="en-US" altLang="zh-CN" sz="2400" b="1" i="1" dirty="0">
                <a:latin typeface="Trebuchet MS" panose="020B0603020202020204" pitchFamily="34" charset="0"/>
                <a:cs typeface="Times New Roman" panose="02020603050405020304" pitchFamily="18" charset="0"/>
              </a:rPr>
              <a:t>       </a:t>
            </a:r>
            <a:r>
              <a:rPr kumimoji="0" lang="en-US" altLang="zh-CN" sz="2400" b="1" dirty="0">
                <a:latin typeface="Trebuchet MS" panose="020B0603020202020204" pitchFamily="34" charset="0"/>
                <a:cs typeface="Times New Roman" panose="02020603050405020304" pitchFamily="18" charset="0"/>
              </a:rPr>
              <a:t>2</a:t>
            </a:r>
            <a:r>
              <a:rPr lang="en-US" altLang="zh-CN" sz="2400" b="1" i="1" dirty="0">
                <a:latin typeface="Trebuchet MS" panose="020B0603020202020204" pitchFamily="34" charset="0"/>
                <a:cs typeface="Times New Roman" panose="02020603050405020304" pitchFamily="18" charset="0"/>
              </a:rPr>
              <a:t> </a:t>
            </a:r>
            <a:r>
              <a:rPr lang="en-US" altLang="zh-CN" sz="2400" b="1" dirty="0">
                <a:latin typeface="Trebuchet MS" panose="020B0603020202020204" pitchFamily="34" charset="0"/>
                <a:cs typeface="Times New Roman" panose="02020603050405020304" pitchFamily="18" charset="0"/>
              </a:rPr>
              <a:t>(</a:t>
            </a:r>
            <a:r>
              <a:rPr lang="en-US" altLang="zh-CN" sz="2400" b="1" i="1" dirty="0">
                <a:latin typeface="Trebuchet MS" panose="020B0603020202020204" pitchFamily="34" charset="0"/>
                <a:cs typeface="Times New Roman" panose="02020603050405020304" pitchFamily="18" charset="0"/>
              </a:rPr>
              <a:t>n-1</a:t>
            </a:r>
            <a:r>
              <a:rPr lang="en-US" altLang="zh-CN" sz="2400" b="1" dirty="0">
                <a:latin typeface="Trebuchet MS" panose="020B0603020202020204" pitchFamily="34" charset="0"/>
                <a:cs typeface="Times New Roman" panose="02020603050405020304" pitchFamily="18" charset="0"/>
              </a:rPr>
              <a:t>)</a:t>
            </a:r>
            <a:r>
              <a:rPr lang="en-US" altLang="zh-CN" sz="2400" b="1" dirty="0">
                <a:latin typeface="Trebuchet MS" panose="020B0603020202020204" pitchFamily="34" charset="0"/>
                <a:cs typeface="Times New Roman" panose="02020603050405020304" pitchFamily="18" charset="0"/>
                <a:sym typeface="Symbol" panose="05050102010706020507" pitchFamily="18" charset="2"/>
              </a:rPr>
              <a:t> </a:t>
            </a:r>
            <a:r>
              <a:rPr kumimoji="0" lang="en-US" altLang="zh-CN" sz="2400" b="1" i="1" dirty="0">
                <a:latin typeface="Trebuchet MS" panose="020B0603020202020204" pitchFamily="34" charset="0"/>
                <a:cs typeface="Times New Roman" panose="02020603050405020304" pitchFamily="18" charset="0"/>
              </a:rPr>
              <a:t> k + 2</a:t>
            </a:r>
            <a:r>
              <a:rPr kumimoji="0" lang="en-US" altLang="zh-CN" sz="2400" b="1" dirty="0">
                <a:latin typeface="Trebuchet MS" panose="020B0603020202020204" pitchFamily="34" charset="0"/>
                <a:cs typeface="Times New Roman" panose="02020603050405020304" pitchFamily="18" charset="0"/>
              </a:rPr>
              <a:t>(</a:t>
            </a:r>
            <a:r>
              <a:rPr kumimoji="0" lang="en-US" altLang="zh-CN" sz="2400" b="1" i="1" dirty="0">
                <a:latin typeface="Trebuchet MS" panose="020B0603020202020204" pitchFamily="34" charset="0"/>
                <a:cs typeface="Times New Roman" panose="02020603050405020304" pitchFamily="18" charset="0"/>
              </a:rPr>
              <a:t>n-k</a:t>
            </a:r>
            <a:r>
              <a:rPr kumimoji="0" lang="en-US" altLang="zh-CN" sz="2400" b="1" dirty="0">
                <a:latin typeface="Trebuchet MS" panose="020B0603020202020204" pitchFamily="34" charset="0"/>
                <a:cs typeface="Times New Roman" panose="02020603050405020304" pitchFamily="18" charset="0"/>
              </a:rPr>
              <a:t>)</a:t>
            </a:r>
            <a:r>
              <a:rPr lang="en-US" altLang="zh-CN" sz="2400" b="1" dirty="0">
                <a:latin typeface="Trebuchet MS" panose="020B0603020202020204" pitchFamily="34" charset="0"/>
                <a:cs typeface="Times New Roman" panose="02020603050405020304" pitchFamily="18" charset="0"/>
              </a:rPr>
              <a:t>     </a:t>
            </a:r>
            <a:endParaRPr kumimoji="0" lang="zh-CN" altLang="en-US" sz="2400" b="1" dirty="0">
              <a:latin typeface="Trebuchet MS" panose="020B0603020202020204" pitchFamily="34" charset="0"/>
              <a:cs typeface="Times New Roman" panose="02020603050405020304" pitchFamily="18" charset="0"/>
            </a:endParaRPr>
          </a:p>
          <a:p>
            <a:pPr eaLnBrk="1" hangingPunct="1">
              <a:lnSpc>
                <a:spcPct val="120000"/>
              </a:lnSpc>
              <a:spcBef>
                <a:spcPts val="300"/>
              </a:spcBef>
              <a:buClr>
                <a:schemeClr val="bg2"/>
              </a:buClr>
              <a:buSzPct val="75000"/>
              <a:buFont typeface="Wingdings" panose="05000000000000000000" pitchFamily="2" charset="2"/>
              <a:buNone/>
            </a:pPr>
            <a:r>
              <a:rPr kumimoji="0" lang="zh-CN" altLang="en-US" sz="2400" b="1" dirty="0">
                <a:latin typeface="Trebuchet MS" panose="020B0603020202020204" pitchFamily="34" charset="0"/>
                <a:cs typeface="Times New Roman" panose="02020603050405020304" pitchFamily="18" charset="0"/>
              </a:rPr>
              <a:t>        </a:t>
            </a:r>
            <a:r>
              <a:rPr kumimoji="0" lang="en-US" altLang="zh-CN" sz="2400" b="1" i="1" dirty="0">
                <a:latin typeface="Trebuchet MS" panose="020B0603020202020204" pitchFamily="34" charset="0"/>
                <a:cs typeface="Times New Roman" panose="02020603050405020304" pitchFamily="18" charset="0"/>
              </a:rPr>
              <a:t>k</a:t>
            </a:r>
            <a:r>
              <a:rPr kumimoji="0" lang="en-US" altLang="zh-CN" sz="2400" b="1" dirty="0">
                <a:latin typeface="Trebuchet MS" panose="020B0603020202020204" pitchFamily="34" charset="0"/>
                <a:cs typeface="Times New Roman" panose="02020603050405020304" pitchFamily="18" charset="0"/>
                <a:sym typeface="Symbol" panose="05050102010706020507" pitchFamily="18" charset="2"/>
              </a:rPr>
              <a:t></a:t>
            </a:r>
            <a:r>
              <a:rPr kumimoji="0" lang="en-US" altLang="zh-CN" sz="2400" b="1" dirty="0">
                <a:latin typeface="Trebuchet MS" panose="020B0603020202020204" pitchFamily="34" charset="0"/>
                <a:cs typeface="Times New Roman" panose="02020603050405020304" pitchFamily="18" charset="0"/>
              </a:rPr>
              <a:t>2.</a:t>
            </a:r>
            <a:endParaRPr lang="en-US" altLang="zh-CN" sz="2400" b="1" dirty="0">
              <a:latin typeface="Trebuchet MS" panose="020B0603020202020204" pitchFamily="34" charset="0"/>
              <a:cs typeface="Times New Roman" panose="02020603050405020304" pitchFamily="18" charset="0"/>
              <a:sym typeface="Symbol" panose="05050102010706020507" pitchFamily="18" charset="2"/>
            </a:endParaRPr>
          </a:p>
        </p:txBody>
      </p:sp>
    </p:spTree>
    <p:extLst>
      <p:ext uri="{BB962C8B-B14F-4D97-AF65-F5344CB8AC3E}">
        <p14:creationId xmlns:p14="http://schemas.microsoft.com/office/powerpoint/2010/main" val="211983853"/>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8">
                                            <p:txEl>
                                              <p:pRg st="1" end="1"/>
                                            </p:txEl>
                                          </p:spTgt>
                                        </p:tgtEl>
                                        <p:attrNameLst>
                                          <p:attrName>style.visibility</p:attrName>
                                        </p:attrNameLst>
                                      </p:cBhvr>
                                      <p:to>
                                        <p:strVal val="visible"/>
                                      </p:to>
                                    </p:set>
                                    <p:animEffect transition="in" filter="fade">
                                      <p:cBhvr>
                                        <p:cTn id="7" dur="1000"/>
                                        <p:tgtEl>
                                          <p:spTgt spid="8">
                                            <p:txEl>
                                              <p:pRg st="1" end="1"/>
                                            </p:txEl>
                                          </p:spTgt>
                                        </p:tgtEl>
                                      </p:cBhvr>
                                    </p:animEffect>
                                    <p:anim calcmode="lin" valueType="num">
                                      <p:cBhvr>
                                        <p:cTn id="8" dur="1000" fill="hold"/>
                                        <p:tgtEl>
                                          <p:spTgt spid="8">
                                            <p:txEl>
                                              <p:pRg st="1" end="1"/>
                                            </p:txEl>
                                          </p:spTgt>
                                        </p:tgtEl>
                                        <p:attrNameLst>
                                          <p:attrName>ppt_x</p:attrName>
                                        </p:attrNameLst>
                                      </p:cBhvr>
                                      <p:tavLst>
                                        <p:tav tm="0">
                                          <p:val>
                                            <p:strVal val="#ppt_x"/>
                                          </p:val>
                                        </p:tav>
                                        <p:tav tm="100000">
                                          <p:val>
                                            <p:strVal val="#ppt_x"/>
                                          </p:val>
                                        </p:tav>
                                      </p:tavLst>
                                    </p:anim>
                                    <p:anim calcmode="lin" valueType="num">
                                      <p:cBhvr>
                                        <p:cTn id="9" dur="1000" fill="hold"/>
                                        <p:tgtEl>
                                          <p:spTgt spid="8">
                                            <p:txEl>
                                              <p:pRg st="1" end="1"/>
                                            </p:txEl>
                                          </p:spTgt>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8">
                                            <p:txEl>
                                              <p:pRg st="2" end="2"/>
                                            </p:txEl>
                                          </p:spTgt>
                                        </p:tgtEl>
                                        <p:attrNameLst>
                                          <p:attrName>style.visibility</p:attrName>
                                        </p:attrNameLst>
                                      </p:cBhvr>
                                      <p:to>
                                        <p:strVal val="visible"/>
                                      </p:to>
                                    </p:set>
                                    <p:animEffect transition="in" filter="fade">
                                      <p:cBhvr>
                                        <p:cTn id="12" dur="1000"/>
                                        <p:tgtEl>
                                          <p:spTgt spid="8">
                                            <p:txEl>
                                              <p:pRg st="2" end="2"/>
                                            </p:txEl>
                                          </p:spTgt>
                                        </p:tgtEl>
                                      </p:cBhvr>
                                    </p:animEffect>
                                    <p:anim calcmode="lin" valueType="num">
                                      <p:cBhvr>
                                        <p:cTn id="13" dur="1000" fill="hold"/>
                                        <p:tgtEl>
                                          <p:spTgt spid="8">
                                            <p:txEl>
                                              <p:pRg st="2" end="2"/>
                                            </p:txEl>
                                          </p:spTgt>
                                        </p:tgtEl>
                                        <p:attrNameLst>
                                          <p:attrName>ppt_x</p:attrName>
                                        </p:attrNameLst>
                                      </p:cBhvr>
                                      <p:tavLst>
                                        <p:tav tm="0">
                                          <p:val>
                                            <p:strVal val="#ppt_x"/>
                                          </p:val>
                                        </p:tav>
                                        <p:tav tm="100000">
                                          <p:val>
                                            <p:strVal val="#ppt_x"/>
                                          </p:val>
                                        </p:tav>
                                      </p:tavLst>
                                    </p:anim>
                                    <p:anim calcmode="lin" valueType="num">
                                      <p:cBhvr>
                                        <p:cTn id="14" dur="1000" fill="hold"/>
                                        <p:tgtEl>
                                          <p:spTgt spid="8">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42" presetClass="entr" presetSubtype="0" fill="hold" nodeType="clickEffect">
                                  <p:stCondLst>
                                    <p:cond delay="0"/>
                                  </p:stCondLst>
                                  <p:childTnLst>
                                    <p:set>
                                      <p:cBhvr>
                                        <p:cTn id="18" dur="1" fill="hold">
                                          <p:stCondLst>
                                            <p:cond delay="0"/>
                                          </p:stCondLst>
                                        </p:cTn>
                                        <p:tgtEl>
                                          <p:spTgt spid="8">
                                            <p:txEl>
                                              <p:pRg st="3" end="3"/>
                                            </p:txEl>
                                          </p:spTgt>
                                        </p:tgtEl>
                                        <p:attrNameLst>
                                          <p:attrName>style.visibility</p:attrName>
                                        </p:attrNameLst>
                                      </p:cBhvr>
                                      <p:to>
                                        <p:strVal val="visible"/>
                                      </p:to>
                                    </p:set>
                                    <p:animEffect transition="in" filter="fade">
                                      <p:cBhvr>
                                        <p:cTn id="19" dur="1000"/>
                                        <p:tgtEl>
                                          <p:spTgt spid="8">
                                            <p:txEl>
                                              <p:pRg st="3" end="3"/>
                                            </p:txEl>
                                          </p:spTgt>
                                        </p:tgtEl>
                                      </p:cBhvr>
                                    </p:animEffect>
                                    <p:anim calcmode="lin" valueType="num">
                                      <p:cBhvr>
                                        <p:cTn id="20" dur="1000" fill="hold"/>
                                        <p:tgtEl>
                                          <p:spTgt spid="8">
                                            <p:txEl>
                                              <p:pRg st="3" end="3"/>
                                            </p:txEl>
                                          </p:spTgt>
                                        </p:tgtEl>
                                        <p:attrNameLst>
                                          <p:attrName>ppt_x</p:attrName>
                                        </p:attrNameLst>
                                      </p:cBhvr>
                                      <p:tavLst>
                                        <p:tav tm="0">
                                          <p:val>
                                            <p:strVal val="#ppt_x"/>
                                          </p:val>
                                        </p:tav>
                                        <p:tav tm="100000">
                                          <p:val>
                                            <p:strVal val="#ppt_x"/>
                                          </p:val>
                                        </p:tav>
                                      </p:tavLst>
                                    </p:anim>
                                    <p:anim calcmode="lin" valueType="num">
                                      <p:cBhvr>
                                        <p:cTn id="21" dur="1000" fill="hold"/>
                                        <p:tgtEl>
                                          <p:spTgt spid="8">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22" fill="hold">
                      <p:stCondLst>
                        <p:cond delay="indefinite"/>
                      </p:stCondLst>
                      <p:childTnLst>
                        <p:par>
                          <p:cTn id="23" fill="hold">
                            <p:stCondLst>
                              <p:cond delay="0"/>
                            </p:stCondLst>
                            <p:childTnLst>
                              <p:par>
                                <p:cTn id="24" presetID="42" presetClass="entr" presetSubtype="0" fill="hold" nodeType="clickEffect">
                                  <p:stCondLst>
                                    <p:cond delay="0"/>
                                  </p:stCondLst>
                                  <p:childTnLst>
                                    <p:set>
                                      <p:cBhvr>
                                        <p:cTn id="25" dur="1" fill="hold">
                                          <p:stCondLst>
                                            <p:cond delay="0"/>
                                          </p:stCondLst>
                                        </p:cTn>
                                        <p:tgtEl>
                                          <p:spTgt spid="8">
                                            <p:txEl>
                                              <p:pRg st="4" end="4"/>
                                            </p:txEl>
                                          </p:spTgt>
                                        </p:tgtEl>
                                        <p:attrNameLst>
                                          <p:attrName>style.visibility</p:attrName>
                                        </p:attrNameLst>
                                      </p:cBhvr>
                                      <p:to>
                                        <p:strVal val="visible"/>
                                      </p:to>
                                    </p:set>
                                    <p:animEffect transition="in" filter="fade">
                                      <p:cBhvr>
                                        <p:cTn id="26" dur="1000"/>
                                        <p:tgtEl>
                                          <p:spTgt spid="8">
                                            <p:txEl>
                                              <p:pRg st="4" end="4"/>
                                            </p:txEl>
                                          </p:spTgt>
                                        </p:tgtEl>
                                      </p:cBhvr>
                                    </p:animEffect>
                                    <p:anim calcmode="lin" valueType="num">
                                      <p:cBhvr>
                                        <p:cTn id="27" dur="1000" fill="hold"/>
                                        <p:tgtEl>
                                          <p:spTgt spid="8">
                                            <p:txEl>
                                              <p:pRg st="4" end="4"/>
                                            </p:txEl>
                                          </p:spTgt>
                                        </p:tgtEl>
                                        <p:attrNameLst>
                                          <p:attrName>ppt_x</p:attrName>
                                        </p:attrNameLst>
                                      </p:cBhvr>
                                      <p:tavLst>
                                        <p:tav tm="0">
                                          <p:val>
                                            <p:strVal val="#ppt_x"/>
                                          </p:val>
                                        </p:tav>
                                        <p:tav tm="100000">
                                          <p:val>
                                            <p:strVal val="#ppt_x"/>
                                          </p:val>
                                        </p:tav>
                                      </p:tavLst>
                                    </p:anim>
                                    <p:anim calcmode="lin" valueType="num">
                                      <p:cBhvr>
                                        <p:cTn id="28" dur="1000" fill="hold"/>
                                        <p:tgtEl>
                                          <p:spTgt spid="8">
                                            <p:txEl>
                                              <p:pRg st="4" end="4"/>
                                            </p:txEl>
                                          </p:spTgt>
                                        </p:tgtEl>
                                        <p:attrNameLst>
                                          <p:attrName>ppt_y</p:attrName>
                                        </p:attrNameLst>
                                      </p:cBhvr>
                                      <p:tavLst>
                                        <p:tav tm="0">
                                          <p:val>
                                            <p:strVal val="#ppt_y+.1"/>
                                          </p:val>
                                        </p:tav>
                                        <p:tav tm="100000">
                                          <p:val>
                                            <p:strVal val="#ppt_y"/>
                                          </p:val>
                                        </p:tav>
                                      </p:tavLst>
                                    </p:anim>
                                  </p:childTnLst>
                                </p:cTn>
                              </p:par>
                              <p:par>
                                <p:cTn id="29" presetID="42" presetClass="entr" presetSubtype="0" fill="hold" nodeType="withEffect">
                                  <p:stCondLst>
                                    <p:cond delay="0"/>
                                  </p:stCondLst>
                                  <p:childTnLst>
                                    <p:set>
                                      <p:cBhvr>
                                        <p:cTn id="30" dur="1" fill="hold">
                                          <p:stCondLst>
                                            <p:cond delay="0"/>
                                          </p:stCondLst>
                                        </p:cTn>
                                        <p:tgtEl>
                                          <p:spTgt spid="8">
                                            <p:txEl>
                                              <p:pRg st="5" end="5"/>
                                            </p:txEl>
                                          </p:spTgt>
                                        </p:tgtEl>
                                        <p:attrNameLst>
                                          <p:attrName>style.visibility</p:attrName>
                                        </p:attrNameLst>
                                      </p:cBhvr>
                                      <p:to>
                                        <p:strVal val="visible"/>
                                      </p:to>
                                    </p:set>
                                    <p:animEffect transition="in" filter="fade">
                                      <p:cBhvr>
                                        <p:cTn id="31" dur="1000"/>
                                        <p:tgtEl>
                                          <p:spTgt spid="8">
                                            <p:txEl>
                                              <p:pRg st="5" end="5"/>
                                            </p:txEl>
                                          </p:spTgt>
                                        </p:tgtEl>
                                      </p:cBhvr>
                                    </p:animEffect>
                                    <p:anim calcmode="lin" valueType="num">
                                      <p:cBhvr>
                                        <p:cTn id="32" dur="1000" fill="hold"/>
                                        <p:tgtEl>
                                          <p:spTgt spid="8">
                                            <p:txEl>
                                              <p:pRg st="5" end="5"/>
                                            </p:txEl>
                                          </p:spTgt>
                                        </p:tgtEl>
                                        <p:attrNameLst>
                                          <p:attrName>ppt_x</p:attrName>
                                        </p:attrNameLst>
                                      </p:cBhvr>
                                      <p:tavLst>
                                        <p:tav tm="0">
                                          <p:val>
                                            <p:strVal val="#ppt_x"/>
                                          </p:val>
                                        </p:tav>
                                        <p:tav tm="100000">
                                          <p:val>
                                            <p:strVal val="#ppt_x"/>
                                          </p:val>
                                        </p:tav>
                                      </p:tavLst>
                                    </p:anim>
                                    <p:anim calcmode="lin" valueType="num">
                                      <p:cBhvr>
                                        <p:cTn id="33" dur="1000" fill="hold"/>
                                        <p:tgtEl>
                                          <p:spTgt spid="8">
                                            <p:txEl>
                                              <p:pRg st="5" end="5"/>
                                            </p:txEl>
                                          </p:spTgt>
                                        </p:tgtEl>
                                        <p:attrNameLst>
                                          <p:attrName>ppt_y</p:attrName>
                                        </p:attrNameLst>
                                      </p:cBhvr>
                                      <p:tavLst>
                                        <p:tav tm="0">
                                          <p:val>
                                            <p:strVal val="#ppt_y+.1"/>
                                          </p:val>
                                        </p:tav>
                                        <p:tav tm="100000">
                                          <p:val>
                                            <p:strVal val="#ppt_y"/>
                                          </p:val>
                                        </p:tav>
                                      </p:tavLst>
                                    </p:anim>
                                  </p:childTnLst>
                                </p:cTn>
                              </p:par>
                              <p:par>
                                <p:cTn id="34" presetID="42" presetClass="entr" presetSubtype="0" fill="hold" nodeType="withEffect">
                                  <p:stCondLst>
                                    <p:cond delay="0"/>
                                  </p:stCondLst>
                                  <p:childTnLst>
                                    <p:set>
                                      <p:cBhvr>
                                        <p:cTn id="35" dur="1" fill="hold">
                                          <p:stCondLst>
                                            <p:cond delay="0"/>
                                          </p:stCondLst>
                                        </p:cTn>
                                        <p:tgtEl>
                                          <p:spTgt spid="8">
                                            <p:txEl>
                                              <p:pRg st="6" end="6"/>
                                            </p:txEl>
                                          </p:spTgt>
                                        </p:tgtEl>
                                        <p:attrNameLst>
                                          <p:attrName>style.visibility</p:attrName>
                                        </p:attrNameLst>
                                      </p:cBhvr>
                                      <p:to>
                                        <p:strVal val="visible"/>
                                      </p:to>
                                    </p:set>
                                    <p:animEffect transition="in" filter="fade">
                                      <p:cBhvr>
                                        <p:cTn id="36" dur="1000"/>
                                        <p:tgtEl>
                                          <p:spTgt spid="8">
                                            <p:txEl>
                                              <p:pRg st="6" end="6"/>
                                            </p:txEl>
                                          </p:spTgt>
                                        </p:tgtEl>
                                      </p:cBhvr>
                                    </p:animEffect>
                                    <p:anim calcmode="lin" valueType="num">
                                      <p:cBhvr>
                                        <p:cTn id="37" dur="1000" fill="hold"/>
                                        <p:tgtEl>
                                          <p:spTgt spid="8">
                                            <p:txEl>
                                              <p:pRg st="6" end="6"/>
                                            </p:txEl>
                                          </p:spTgt>
                                        </p:tgtEl>
                                        <p:attrNameLst>
                                          <p:attrName>ppt_x</p:attrName>
                                        </p:attrNameLst>
                                      </p:cBhvr>
                                      <p:tavLst>
                                        <p:tav tm="0">
                                          <p:val>
                                            <p:strVal val="#ppt_x"/>
                                          </p:val>
                                        </p:tav>
                                        <p:tav tm="100000">
                                          <p:val>
                                            <p:strVal val="#ppt_x"/>
                                          </p:val>
                                        </p:tav>
                                      </p:tavLst>
                                    </p:anim>
                                    <p:anim calcmode="lin" valueType="num">
                                      <p:cBhvr>
                                        <p:cTn id="38" dur="1000" fill="hold"/>
                                        <p:tgtEl>
                                          <p:spTgt spid="8">
                                            <p:txEl>
                                              <p:pRg st="6" end="6"/>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0" y="0"/>
            <a:ext cx="12192000" cy="762000"/>
          </a:xfrm>
          <a:prstGeom prst="rect">
            <a:avLst/>
          </a:prstGeom>
          <a:solidFill>
            <a:srgbClr val="002F7C"/>
          </a:solidFill>
        </p:spPr>
        <p:style>
          <a:lnRef idx="2">
            <a:schemeClr val="dk1">
              <a:shade val="50000"/>
            </a:schemeClr>
          </a:lnRef>
          <a:fillRef idx="1">
            <a:schemeClr val="dk1"/>
          </a:fillRef>
          <a:effectRef idx="0">
            <a:schemeClr val="dk1"/>
          </a:effectRef>
          <a:fontRef idx="minor">
            <a:schemeClr val="lt1"/>
          </a:fontRef>
        </p:style>
        <p:txBody>
          <a:bodyPr rtlCol="0" anchor="ctr"/>
          <a:lstStyle/>
          <a:p>
            <a:r>
              <a:rPr lang="zh-CN" altLang="en-US" sz="2000" b="1" dirty="0">
                <a:latin typeface="Times New Roman" panose="02020603050405020304" pitchFamily="18" charset="0"/>
                <a:ea typeface="宋体" panose="02010600030101010101" pitchFamily="2" charset="-122"/>
                <a:cs typeface="Times New Roman" panose="02020603050405020304" pitchFamily="18" charset="0"/>
              </a:rPr>
              <a:t>                </a:t>
            </a:r>
            <a:r>
              <a:rPr lang="en-US" altLang="zh-CN" sz="2000" b="1" dirty="0">
                <a:latin typeface="Trebuchet MS" panose="020B0603020202020204" pitchFamily="34" charset="0"/>
              </a:rPr>
              <a:t>7.1.1 Definition and Properties of Undirected Trees</a:t>
            </a:r>
            <a:endParaRPr lang="en-US" altLang="zh-CN" sz="2000" b="1" dirty="0">
              <a:latin typeface="Times New Roman" panose="02020603050405020304" pitchFamily="18" charset="0"/>
              <a:cs typeface="Times New Roman" panose="02020603050405020304" pitchFamily="18" charset="0"/>
            </a:endParaRPr>
          </a:p>
          <a:p>
            <a:r>
              <a:rPr lang="en-US" altLang="zh-CN" sz="2000" b="1" dirty="0">
                <a:latin typeface="Times New Roman" panose="02020603050405020304" pitchFamily="18" charset="0"/>
                <a:cs typeface="Times New Roman" panose="02020603050405020304" pitchFamily="18" charset="0"/>
              </a:rPr>
              <a:t>                      </a:t>
            </a:r>
            <a:r>
              <a:rPr lang="en-US" altLang="zh-CN" sz="2400" b="1" dirty="0">
                <a:solidFill>
                  <a:schemeClr val="accent2"/>
                </a:solidFill>
                <a:latin typeface="Trebuchet MS" panose="020B0603020202020204" pitchFamily="34" charset="0"/>
                <a:ea typeface="Cambria Math" panose="02040503050406030204" pitchFamily="18" charset="0"/>
                <a:cs typeface="Times New Roman" panose="02020603050405020304" pitchFamily="18" charset="0"/>
              </a:rPr>
              <a:t>⤷</a:t>
            </a:r>
            <a:r>
              <a:rPr lang="zh-CN" altLang="en-US" sz="2400" b="1" dirty="0">
                <a:latin typeface="Trebuchet MS" panose="020B0603020202020204" pitchFamily="34" charset="0"/>
              </a:rPr>
              <a:t> </a:t>
            </a:r>
            <a:r>
              <a:rPr lang="en-US" altLang="zh-CN" sz="2400" b="1" dirty="0">
                <a:latin typeface="Trebuchet MS" panose="020B0603020202020204" pitchFamily="34" charset="0"/>
              </a:rPr>
              <a:t>Minimum Leaf Theorem for Trees(</a:t>
            </a:r>
            <a:r>
              <a:rPr lang="en-US" altLang="zh-CN" sz="2400" b="1" dirty="0">
                <a:solidFill>
                  <a:schemeClr val="accent2"/>
                </a:solidFill>
                <a:latin typeface="Trebuchet MS" panose="020B0603020202020204" pitchFamily="34" charset="0"/>
              </a:rPr>
              <a:t>e.g.</a:t>
            </a:r>
            <a:r>
              <a:rPr lang="en-US" altLang="zh-CN" sz="2400" b="1" dirty="0">
                <a:latin typeface="Trebuchet MS" panose="020B0603020202020204" pitchFamily="34" charset="0"/>
              </a:rPr>
              <a:t>)</a:t>
            </a:r>
            <a:endParaRPr lang="zh-CN" altLang="en-US" sz="2400" b="1" dirty="0">
              <a:solidFill>
                <a:srgbClr val="3D557A"/>
              </a:solidFill>
              <a:highlight>
                <a:srgbClr val="FF0000"/>
              </a:highlight>
              <a:latin typeface="Trebuchet MS" panose="020B0603020202020204" pitchFamily="34" charset="0"/>
            </a:endParaRPr>
          </a:p>
        </p:txBody>
      </p:sp>
      <p:sp>
        <p:nvSpPr>
          <p:cNvPr id="13" name="矩形 12"/>
          <p:cNvSpPr/>
          <p:nvPr/>
        </p:nvSpPr>
        <p:spPr>
          <a:xfrm>
            <a:off x="824682" y="0"/>
            <a:ext cx="175443" cy="628650"/>
          </a:xfrm>
          <a:prstGeom prst="rect">
            <a:avLst/>
          </a:prstGeom>
          <a:solidFill>
            <a:srgbClr val="CFA57C"/>
          </a:solidFill>
          <a:ln cmpd="sng">
            <a:gradFill flip="none" rotWithShape="1">
              <a:gsLst>
                <a:gs pos="50000">
                  <a:schemeClr val="accent2">
                    <a:lumMod val="60000"/>
                    <a:lumOff val="40000"/>
                  </a:schemeClr>
                </a:gs>
                <a:gs pos="0">
                  <a:schemeClr val="accent2">
                    <a:lumMod val="20000"/>
                    <a:lumOff val="80000"/>
                  </a:schemeClr>
                </a:gs>
                <a:gs pos="95000">
                  <a:schemeClr val="accent2"/>
                </a:gs>
              </a:gsLst>
              <a:path path="circle">
                <a:fillToRect l="50000" t="-80000" r="50000" b="180000"/>
              </a:path>
              <a:tileRect/>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22" name="Picture 6" descr="D:\MBA工作\LOGO\同济经管LOGO反白.png"/>
          <p:cNvPicPr>
            <a:picLocks noChangeAspect="1" noChangeArrowheads="1"/>
          </p:cNvPicPr>
          <p:nvPr/>
        </p:nvPicPr>
        <p:blipFill>
          <a:blip r:embed="rId3" cstate="email">
            <a:extLst>
              <a:ext uri="{28A0092B-C50C-407E-A947-70E740481C1C}">
                <a14:useLocalDpi xmlns:a14="http://schemas.microsoft.com/office/drawing/2010/main" val="0"/>
              </a:ext>
            </a:extLst>
          </a:blip>
          <a:srcRect/>
          <a:stretch>
            <a:fillRect/>
          </a:stretch>
        </p:blipFill>
        <p:spPr bwMode="auto">
          <a:xfrm>
            <a:off x="10267423" y="165688"/>
            <a:ext cx="1386605" cy="462962"/>
          </a:xfrm>
          <a:prstGeom prst="rect">
            <a:avLst/>
          </a:prstGeom>
          <a:noFill/>
          <a:extLst>
            <a:ext uri="{909E8E84-426E-40DD-AFC4-6F175D3DCCD1}">
              <a14:hiddenFill xmlns:a14="http://schemas.microsoft.com/office/drawing/2010/main">
                <a:solidFill>
                  <a:srgbClr val="FFFFFF"/>
                </a:solidFill>
              </a14:hiddenFill>
            </a:ext>
          </a:extLst>
        </p:spPr>
      </p:pic>
      <p:pic>
        <p:nvPicPr>
          <p:cNvPr id="2" name="图片 1" descr="微信图片_20220318113523"/>
          <p:cNvPicPr>
            <a:picLocks noChangeAspect="1"/>
          </p:cNvPicPr>
          <p:nvPr userDrawn="1"/>
        </p:nvPicPr>
        <p:blipFill>
          <a:blip r:embed="rId4"/>
          <a:stretch>
            <a:fillRect/>
          </a:stretch>
        </p:blipFill>
        <p:spPr>
          <a:xfrm>
            <a:off x="9291877" y="6115050"/>
            <a:ext cx="2244725" cy="361315"/>
          </a:xfrm>
          <a:prstGeom prst="rect">
            <a:avLst/>
          </a:prstGeom>
        </p:spPr>
      </p:pic>
      <p:sp>
        <p:nvSpPr>
          <p:cNvPr id="18" name="Rectangle 2">
            <a:extLst>
              <a:ext uri="{FF2B5EF4-FFF2-40B4-BE49-F238E27FC236}">
                <a16:creationId xmlns:a16="http://schemas.microsoft.com/office/drawing/2014/main" id="{E217C615-1D49-4D07-B850-D36106D7AA9A}"/>
              </a:ext>
            </a:extLst>
          </p:cNvPr>
          <p:cNvSpPr>
            <a:spLocks noChangeArrowheads="1"/>
          </p:cNvSpPr>
          <p:nvPr/>
        </p:nvSpPr>
        <p:spPr bwMode="auto">
          <a:xfrm>
            <a:off x="1000125" y="815365"/>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8" name="Rectangle 3">
            <a:extLst>
              <a:ext uri="{FF2B5EF4-FFF2-40B4-BE49-F238E27FC236}">
                <a16:creationId xmlns:a16="http://schemas.microsoft.com/office/drawing/2014/main" id="{97F08C45-3D15-45C1-A5A3-D1EB58DC91FE}"/>
              </a:ext>
            </a:extLst>
          </p:cNvPr>
          <p:cNvSpPr txBox="1">
            <a:spLocks noChangeArrowheads="1"/>
          </p:cNvSpPr>
          <p:nvPr/>
        </p:nvSpPr>
        <p:spPr>
          <a:xfrm>
            <a:off x="1000125" y="914400"/>
            <a:ext cx="9877336" cy="5788025"/>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just" eaLnBrk="1" hangingPunct="1">
              <a:spcBef>
                <a:spcPct val="40000"/>
              </a:spcBef>
              <a:buClr>
                <a:schemeClr val="bg2"/>
              </a:buClr>
              <a:buSzPct val="75000"/>
              <a:buFont typeface="Wingdings" panose="05000000000000000000" pitchFamily="2" charset="2"/>
              <a:buNone/>
            </a:pPr>
            <a:endParaRPr kumimoji="0" lang="en-US" altLang="zh-CN" sz="2800" b="1" dirty="0">
              <a:solidFill>
                <a:srgbClr val="FF3300"/>
              </a:solidFill>
            </a:endParaRPr>
          </a:p>
          <a:p>
            <a:pPr algn="just" eaLnBrk="1" hangingPunct="1">
              <a:spcBef>
                <a:spcPct val="40000"/>
              </a:spcBef>
              <a:buClr>
                <a:schemeClr val="bg2"/>
              </a:buClr>
              <a:buSzPct val="75000"/>
              <a:buFont typeface="Wingdings" panose="05000000000000000000" pitchFamily="2" charset="2"/>
              <a:buNone/>
            </a:pPr>
            <a:endParaRPr lang="en-US" altLang="zh-CN" sz="2800" b="1" dirty="0">
              <a:sym typeface="Symbol" panose="05050102010706020507" pitchFamily="18" charset="2"/>
            </a:endParaRPr>
          </a:p>
        </p:txBody>
      </p:sp>
      <p:sp>
        <p:nvSpPr>
          <p:cNvPr id="9" name="Rectangle 3">
            <a:extLst>
              <a:ext uri="{FF2B5EF4-FFF2-40B4-BE49-F238E27FC236}">
                <a16:creationId xmlns:a16="http://schemas.microsoft.com/office/drawing/2014/main" id="{1F6CF529-398D-477C-A449-594E839254CA}"/>
              </a:ext>
            </a:extLst>
          </p:cNvPr>
          <p:cNvSpPr txBox="1">
            <a:spLocks noChangeArrowheads="1"/>
          </p:cNvSpPr>
          <p:nvPr/>
        </p:nvSpPr>
        <p:spPr>
          <a:xfrm>
            <a:off x="718191" y="742343"/>
            <a:ext cx="10473684" cy="1943453"/>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20000"/>
              </a:lnSpc>
              <a:spcBef>
                <a:spcPts val="300"/>
              </a:spcBef>
              <a:buClr>
                <a:srgbClr val="0B61FF"/>
              </a:buClr>
              <a:buSzPct val="80000"/>
              <a:buFont typeface="Wingdings" panose="05000000000000000000" pitchFamily="2" charset="2"/>
              <a:buChar char="n"/>
            </a:pPr>
            <a:r>
              <a:rPr lang="en-US" altLang="zh-CN" sz="2400" b="1" dirty="0">
                <a:latin typeface="Trebuchet MS" panose="020B0603020202020204" pitchFamily="34" charset="0"/>
              </a:rPr>
              <a:t>Example: </a:t>
            </a:r>
            <a:r>
              <a:rPr lang="en-US" altLang="zh-CN" sz="2400" dirty="0">
                <a:latin typeface="Trebuchet MS" panose="020B0603020202020204" pitchFamily="34" charset="0"/>
              </a:rPr>
              <a:t>Given an undirected tree </a:t>
            </a:r>
            <a:r>
              <a:rPr lang="en-US" altLang="zh-CN" sz="2400" b="1" i="1" dirty="0">
                <a:latin typeface="Trebuchet MS" panose="020B0603020202020204" pitchFamily="34" charset="0"/>
              </a:rPr>
              <a:t>T</a:t>
            </a:r>
            <a:r>
              <a:rPr lang="en-US" altLang="zh-CN" sz="2400" dirty="0">
                <a:latin typeface="Trebuchet MS" panose="020B0603020202020204" pitchFamily="34" charset="0"/>
              </a:rPr>
              <a:t> with one vertex of degree </a:t>
            </a:r>
            <a:r>
              <a:rPr lang="en-US" altLang="zh-CN" sz="2400" b="1" dirty="0">
                <a:latin typeface="Trebuchet MS" panose="020B0603020202020204" pitchFamily="34" charset="0"/>
              </a:rPr>
              <a:t>3</a:t>
            </a:r>
            <a:r>
              <a:rPr lang="en-US" altLang="zh-CN" sz="2400" dirty="0">
                <a:latin typeface="Trebuchet MS" panose="020B0603020202020204" pitchFamily="34" charset="0"/>
              </a:rPr>
              <a:t>, two vertices of degree </a:t>
            </a:r>
            <a:r>
              <a:rPr lang="en-US" altLang="zh-CN" sz="2400" b="1" dirty="0">
                <a:latin typeface="Trebuchet MS" panose="020B0603020202020204" pitchFamily="34" charset="0"/>
              </a:rPr>
              <a:t>2</a:t>
            </a:r>
            <a:r>
              <a:rPr lang="en-US" altLang="zh-CN" sz="2400" dirty="0">
                <a:latin typeface="Trebuchet MS" panose="020B0603020202020204" pitchFamily="34" charset="0"/>
              </a:rPr>
              <a:t>, and all other vertices being leaves, determine the </a:t>
            </a:r>
            <a:r>
              <a:rPr lang="en-US" altLang="zh-CN" sz="2400" b="1" i="1" dirty="0">
                <a:solidFill>
                  <a:srgbClr val="0B61FF"/>
                </a:solidFill>
                <a:latin typeface="Trebuchet MS" panose="020B0603020202020204" pitchFamily="34" charset="0"/>
              </a:rPr>
              <a:t>number of leaves </a:t>
            </a:r>
            <a:r>
              <a:rPr lang="en-US" altLang="zh-CN" sz="2400" dirty="0">
                <a:latin typeface="Trebuchet MS" panose="020B0603020202020204" pitchFamily="34" charset="0"/>
              </a:rPr>
              <a:t>and draw all non-isomorphic undirected trees that satisfy these conditions.</a:t>
            </a:r>
            <a:endParaRPr lang="zh-CN" altLang="en-US" sz="2400" b="1" dirty="0">
              <a:latin typeface="Trebuchet MS" panose="020B0603020202020204" pitchFamily="34" charset="0"/>
              <a:cs typeface="Times New Roman" panose="02020603050405020304" pitchFamily="18" charset="0"/>
            </a:endParaRPr>
          </a:p>
        </p:txBody>
      </p:sp>
      <p:sp>
        <p:nvSpPr>
          <p:cNvPr id="10" name="Text Box 4">
            <a:extLst>
              <a:ext uri="{FF2B5EF4-FFF2-40B4-BE49-F238E27FC236}">
                <a16:creationId xmlns:a16="http://schemas.microsoft.com/office/drawing/2014/main" id="{82386471-8963-4E85-8D5E-800DC216859F}"/>
              </a:ext>
            </a:extLst>
          </p:cNvPr>
          <p:cNvSpPr txBox="1">
            <a:spLocks noChangeArrowheads="1"/>
          </p:cNvSpPr>
          <p:nvPr/>
        </p:nvSpPr>
        <p:spPr bwMode="auto">
          <a:xfrm>
            <a:off x="718191" y="2577547"/>
            <a:ext cx="7064472" cy="41248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a14:hiddenLine>
            </a:ext>
          </a:extLst>
        </p:spPr>
        <p:txBody>
          <a:bodyPr wrap="square">
            <a:no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342900" indent="-342900">
              <a:lnSpc>
                <a:spcPct val="120000"/>
              </a:lnSpc>
              <a:spcBef>
                <a:spcPts val="300"/>
              </a:spcBef>
              <a:buClr>
                <a:srgbClr val="0B61FF"/>
              </a:buClr>
              <a:buSzPct val="80000"/>
              <a:buFont typeface="Wingdings" panose="05000000000000000000" pitchFamily="2" charset="2"/>
              <a:buChar char="n"/>
            </a:pPr>
            <a:r>
              <a:rPr lang="en-US" altLang="zh-CN" sz="2400" b="1" dirty="0">
                <a:latin typeface="Trebuchet MS" panose="020B0603020202020204" pitchFamily="34" charset="0"/>
              </a:rPr>
              <a:t>Solution : </a:t>
            </a:r>
            <a:r>
              <a:rPr lang="en-US" altLang="zh-CN" sz="2400" dirty="0">
                <a:latin typeface="Trebuchet MS" panose="020B0603020202020204" pitchFamily="34" charset="0"/>
              </a:rPr>
              <a:t>Let the tree have </a:t>
            </a:r>
            <a:r>
              <a:rPr lang="en-US" altLang="zh-CN" sz="2400" b="1" i="1" dirty="0">
                <a:latin typeface="Trebuchet MS" panose="020B0603020202020204" pitchFamily="34" charset="0"/>
              </a:rPr>
              <a:t>x</a:t>
            </a:r>
            <a:r>
              <a:rPr lang="en-US" altLang="zh-CN" sz="2400" dirty="0">
                <a:latin typeface="Trebuchet MS" panose="020B0603020202020204" pitchFamily="34" charset="0"/>
              </a:rPr>
              <a:t> leaves </a:t>
            </a:r>
            <a:r>
              <a:rPr lang="zh-CN" altLang="en-US" sz="2400" b="1" dirty="0">
                <a:latin typeface="Trebuchet MS" panose="020B0603020202020204" pitchFamily="34" charset="0"/>
              </a:rPr>
              <a:t>、</a:t>
            </a:r>
            <a:r>
              <a:rPr lang="en-US" altLang="zh-CN" sz="2400" b="1" i="1" dirty="0">
                <a:latin typeface="Trebuchet MS" panose="020B0603020202020204" pitchFamily="34" charset="0"/>
              </a:rPr>
              <a:t>m</a:t>
            </a:r>
            <a:r>
              <a:rPr lang="en-US" altLang="zh-CN" sz="2400" dirty="0">
                <a:latin typeface="Trebuchet MS" panose="020B0603020202020204" pitchFamily="34" charset="0"/>
              </a:rPr>
              <a:t> edges and </a:t>
            </a:r>
            <a:r>
              <a:rPr lang="en-US" altLang="zh-CN" sz="2400" b="1" i="1" dirty="0">
                <a:latin typeface="Trebuchet MS" panose="020B0603020202020204" pitchFamily="34" charset="0"/>
              </a:rPr>
              <a:t> n</a:t>
            </a:r>
            <a:r>
              <a:rPr lang="zh-CN" altLang="en-US" sz="2400" b="1" dirty="0">
                <a:latin typeface="Trebuchet MS" panose="020B0603020202020204" pitchFamily="34" charset="0"/>
              </a:rPr>
              <a:t> </a:t>
            </a:r>
            <a:r>
              <a:rPr lang="en-US" altLang="zh-CN" sz="2400" b="1" dirty="0">
                <a:latin typeface="Trebuchet MS" panose="020B0603020202020204" pitchFamily="34" charset="0"/>
              </a:rPr>
              <a:t>(=</a:t>
            </a:r>
            <a:r>
              <a:rPr lang="en-US" altLang="zh-CN" sz="2400" b="1" i="1" dirty="0">
                <a:latin typeface="Trebuchet MS" panose="020B0603020202020204" pitchFamily="34" charset="0"/>
              </a:rPr>
              <a:t> </a:t>
            </a:r>
            <a:r>
              <a:rPr lang="en-US" altLang="zh-CN" sz="2400" b="1" dirty="0">
                <a:latin typeface="Trebuchet MS" panose="020B0603020202020204" pitchFamily="34" charset="0"/>
              </a:rPr>
              <a:t>1+2+</a:t>
            </a:r>
            <a:r>
              <a:rPr lang="en-US" altLang="zh-CN" sz="2400" b="1" i="1" dirty="0">
                <a:latin typeface="Trebuchet MS" panose="020B0603020202020204" pitchFamily="34" charset="0"/>
              </a:rPr>
              <a:t> x </a:t>
            </a:r>
            <a:r>
              <a:rPr lang="en-US" altLang="zh-CN" sz="2400" b="1" dirty="0">
                <a:latin typeface="Trebuchet MS" panose="020B0603020202020204" pitchFamily="34" charset="0"/>
              </a:rPr>
              <a:t>)</a:t>
            </a:r>
            <a:r>
              <a:rPr lang="en-US" altLang="zh-CN" sz="2400" dirty="0">
                <a:latin typeface="Trebuchet MS" panose="020B0603020202020204" pitchFamily="34" charset="0"/>
              </a:rPr>
              <a:t> vertices </a:t>
            </a:r>
            <a:r>
              <a:rPr lang="en-US" altLang="zh-CN" sz="2400" b="1" dirty="0">
                <a:latin typeface="Trebuchet MS" panose="020B0603020202020204" pitchFamily="34" charset="0"/>
              </a:rPr>
              <a:t>.</a:t>
            </a:r>
            <a:r>
              <a:rPr lang="en-US" altLang="zh-CN" sz="2400" dirty="0">
                <a:latin typeface="Trebuchet MS" panose="020B0603020202020204" pitchFamily="34" charset="0"/>
              </a:rPr>
              <a:t> The total degree is </a:t>
            </a:r>
            <a:r>
              <a:rPr lang="en-US" altLang="zh-CN" sz="2400" b="1" dirty="0">
                <a:latin typeface="Trebuchet MS" panose="020B0603020202020204" pitchFamily="34" charset="0"/>
              </a:rPr>
              <a:t>=</a:t>
            </a:r>
            <a:r>
              <a:rPr lang="zh-CN" altLang="en-US" sz="2400" b="1" dirty="0">
                <a:latin typeface="Trebuchet MS" panose="020B0603020202020204" pitchFamily="34" charset="0"/>
              </a:rPr>
              <a:t> </a:t>
            </a:r>
            <a:r>
              <a:rPr lang="en-US" altLang="zh-CN" sz="2400" b="1" dirty="0">
                <a:latin typeface="Trebuchet MS" panose="020B0603020202020204" pitchFamily="34" charset="0"/>
              </a:rPr>
              <a:t>3</a:t>
            </a:r>
            <a:r>
              <a:rPr lang="zh-CN" altLang="zh-CN" sz="2400" b="1" dirty="0">
                <a:latin typeface="Trebuchet MS" panose="020B0603020202020204" pitchFamily="34" charset="0"/>
              </a:rPr>
              <a:t>∗1</a:t>
            </a:r>
            <a:r>
              <a:rPr lang="en-US" altLang="zh-CN" sz="2400" b="1" dirty="0">
                <a:latin typeface="Trebuchet MS" panose="020B0603020202020204" pitchFamily="34" charset="0"/>
              </a:rPr>
              <a:t>+</a:t>
            </a:r>
            <a:r>
              <a:rPr lang="zh-CN" altLang="zh-CN" sz="2400" b="1" dirty="0">
                <a:latin typeface="Trebuchet MS" panose="020B0603020202020204" pitchFamily="34" charset="0"/>
              </a:rPr>
              <a:t>2∗2</a:t>
            </a:r>
            <a:r>
              <a:rPr lang="en-US" altLang="zh-CN" sz="2400" b="1" dirty="0">
                <a:latin typeface="Trebuchet MS" panose="020B0603020202020204" pitchFamily="34" charset="0"/>
              </a:rPr>
              <a:t>+</a:t>
            </a:r>
            <a:r>
              <a:rPr lang="zh-CN" altLang="zh-CN" sz="2400" b="1" dirty="0">
                <a:latin typeface="Trebuchet MS" panose="020B0603020202020204" pitchFamily="34" charset="0"/>
              </a:rPr>
              <a:t>1∗</a:t>
            </a:r>
            <a:r>
              <a:rPr lang="en-US" altLang="zh-CN" sz="2400" b="1" i="1" dirty="0">
                <a:latin typeface="Trebuchet MS" panose="020B0603020202020204" pitchFamily="34" charset="0"/>
              </a:rPr>
              <a:t> x</a:t>
            </a:r>
            <a:r>
              <a:rPr lang="zh-CN" altLang="zh-CN" sz="2400" i="1" dirty="0">
                <a:latin typeface="Trebuchet MS" panose="020B0603020202020204" pitchFamily="34" charset="0"/>
              </a:rPr>
              <a:t> </a:t>
            </a:r>
            <a:r>
              <a:rPr lang="en-US" altLang="zh-CN" sz="2400" i="1" dirty="0">
                <a:latin typeface="Trebuchet MS" panose="020B0603020202020204" pitchFamily="34" charset="0"/>
              </a:rPr>
              <a:t>.</a:t>
            </a:r>
            <a:r>
              <a:rPr lang="en-US" altLang="zh-CN" sz="2400" dirty="0">
                <a:latin typeface="Trebuchet MS" panose="020B0603020202020204" pitchFamily="34" charset="0"/>
              </a:rPr>
              <a:t> Using the properties of trees </a:t>
            </a:r>
            <a:r>
              <a:rPr lang="en-US" altLang="zh-CN" sz="2400" b="1" i="1" dirty="0">
                <a:latin typeface="Trebuchet MS" panose="020B0603020202020204" pitchFamily="34" charset="0"/>
              </a:rPr>
              <a:t>m</a:t>
            </a:r>
            <a:r>
              <a:rPr lang="en-US" altLang="zh-CN" sz="2400" b="1" dirty="0">
                <a:latin typeface="Trebuchet MS" panose="020B0603020202020204" pitchFamily="34" charset="0"/>
              </a:rPr>
              <a:t>=</a:t>
            </a:r>
            <a:r>
              <a:rPr lang="en-US" altLang="zh-CN" sz="2400" b="1" i="1" dirty="0">
                <a:latin typeface="Trebuchet MS" panose="020B0603020202020204" pitchFamily="34" charset="0"/>
              </a:rPr>
              <a:t>n</a:t>
            </a:r>
            <a:r>
              <a:rPr lang="en-US" altLang="zh-CN" sz="2400" b="1" dirty="0">
                <a:latin typeface="Trebuchet MS" panose="020B0603020202020204" pitchFamily="34" charset="0"/>
                <a:sym typeface="Symbol" panose="05050102010706020507" pitchFamily="18" charset="2"/>
              </a:rPr>
              <a:t></a:t>
            </a:r>
            <a:r>
              <a:rPr lang="en-US" altLang="zh-CN" sz="2400" b="1" dirty="0">
                <a:latin typeface="Trebuchet MS" panose="020B0603020202020204" pitchFamily="34" charset="0"/>
              </a:rPr>
              <a:t>1</a:t>
            </a:r>
            <a:r>
              <a:rPr lang="en-US" altLang="zh-CN" sz="2400" dirty="0">
                <a:latin typeface="Trebuchet MS" panose="020B0603020202020204" pitchFamily="34" charset="0"/>
              </a:rPr>
              <a:t> and the Handshaking Lemma</a:t>
            </a:r>
            <a:r>
              <a:rPr lang="zh-CN" altLang="en-US" sz="2400" b="1" dirty="0">
                <a:latin typeface="Trebuchet MS" panose="020B0603020202020204" pitchFamily="34" charset="0"/>
              </a:rPr>
              <a:t>：</a:t>
            </a:r>
            <a:endParaRPr lang="en-US" altLang="zh-CN" sz="2400" b="1" dirty="0">
              <a:latin typeface="Trebuchet MS" panose="020B0603020202020204" pitchFamily="34" charset="0"/>
            </a:endParaRPr>
          </a:p>
          <a:p>
            <a:pPr indent="808038">
              <a:buNone/>
            </a:pPr>
            <a:r>
              <a:rPr lang="en-US" altLang="zh-CN" sz="2400" b="1" dirty="0"/>
              <a:t>2</a:t>
            </a:r>
            <a:r>
              <a:rPr lang="en-US" altLang="zh-CN" sz="2400" b="1" dirty="0">
                <a:sym typeface="Symbol" panose="05050102010706020507" pitchFamily="18" charset="2"/>
              </a:rPr>
              <a:t></a:t>
            </a:r>
            <a:r>
              <a:rPr lang="en-US" altLang="zh-CN" sz="2400" b="1" i="1" dirty="0"/>
              <a:t>m</a:t>
            </a:r>
            <a:r>
              <a:rPr lang="en-US" altLang="zh-CN" sz="2400" b="1" dirty="0"/>
              <a:t>= 2</a:t>
            </a:r>
            <a:r>
              <a:rPr lang="en-US" altLang="zh-CN" sz="2400" b="1" dirty="0">
                <a:sym typeface="Symbol" panose="05050102010706020507" pitchFamily="18" charset="2"/>
              </a:rPr>
              <a:t>(</a:t>
            </a:r>
            <a:r>
              <a:rPr lang="en-US" altLang="zh-CN" sz="2400" b="1" i="1" dirty="0"/>
              <a:t>n</a:t>
            </a:r>
            <a:r>
              <a:rPr lang="en-US" altLang="zh-CN" sz="2400" b="1" dirty="0">
                <a:sym typeface="Symbol" panose="05050102010706020507" pitchFamily="18" charset="2"/>
              </a:rPr>
              <a:t></a:t>
            </a:r>
            <a:r>
              <a:rPr lang="en-US" altLang="zh-CN" sz="2400" b="1" dirty="0"/>
              <a:t>1</a:t>
            </a:r>
            <a:r>
              <a:rPr lang="en-US" altLang="zh-CN" sz="2400" b="1" dirty="0">
                <a:sym typeface="Symbol" panose="05050102010706020507" pitchFamily="18" charset="2"/>
              </a:rPr>
              <a:t>)</a:t>
            </a:r>
            <a:r>
              <a:rPr lang="en-US" altLang="zh-CN" sz="2400" b="1" i="1" dirty="0"/>
              <a:t> =</a:t>
            </a:r>
            <a:r>
              <a:rPr lang="en-US" altLang="zh-CN" sz="2400" b="1" dirty="0"/>
              <a:t> 2</a:t>
            </a:r>
            <a:r>
              <a:rPr lang="en-US" altLang="zh-CN" sz="2400" b="1" dirty="0">
                <a:sym typeface="Symbol" panose="05050102010706020507" pitchFamily="18" charset="2"/>
              </a:rPr>
              <a:t>(3</a:t>
            </a:r>
            <a:r>
              <a:rPr lang="en-US" altLang="zh-CN" sz="2400" b="1" i="1" dirty="0">
                <a:sym typeface="Symbol" panose="05050102010706020507" pitchFamily="18" charset="2"/>
              </a:rPr>
              <a:t>+x</a:t>
            </a:r>
            <a:r>
              <a:rPr lang="en-US" altLang="zh-CN" sz="2400" b="1" dirty="0">
                <a:sym typeface="Symbol" panose="05050102010706020507" pitchFamily="18" charset="2"/>
              </a:rPr>
              <a:t></a:t>
            </a:r>
            <a:r>
              <a:rPr lang="en-US" altLang="zh-CN" sz="2400" b="1" dirty="0"/>
              <a:t>1</a:t>
            </a:r>
            <a:r>
              <a:rPr lang="en-US" altLang="zh-CN" sz="2400" b="1" dirty="0">
                <a:sym typeface="Symbol" panose="05050102010706020507" pitchFamily="18" charset="2"/>
              </a:rPr>
              <a:t>)= </a:t>
            </a:r>
            <a:r>
              <a:rPr lang="en-US" altLang="zh-CN" sz="2400" b="1" dirty="0"/>
              <a:t>2</a:t>
            </a:r>
            <a:r>
              <a:rPr lang="en-US" altLang="zh-CN" sz="2400" b="1" dirty="0">
                <a:sym typeface="Symbol" panose="05050102010706020507" pitchFamily="18" charset="2"/>
              </a:rPr>
              <a:t></a:t>
            </a:r>
            <a:r>
              <a:rPr lang="en-US" altLang="zh-CN" sz="2400" b="1" dirty="0"/>
              <a:t>(2+</a:t>
            </a:r>
            <a:r>
              <a:rPr lang="en-US" altLang="zh-CN" sz="2400" b="1" i="1" dirty="0"/>
              <a:t>x</a:t>
            </a:r>
            <a:r>
              <a:rPr lang="en-US" altLang="zh-CN" sz="2400" b="1" dirty="0"/>
              <a:t>)</a:t>
            </a:r>
          </a:p>
          <a:p>
            <a:pPr indent="808038">
              <a:buNone/>
            </a:pPr>
            <a:r>
              <a:rPr lang="en-US" altLang="zh-CN" sz="2400" b="1" dirty="0"/>
              <a:t>2</a:t>
            </a:r>
            <a:r>
              <a:rPr lang="en-US" altLang="zh-CN" sz="2400" b="1" dirty="0">
                <a:sym typeface="Symbol" panose="05050102010706020507" pitchFamily="18" charset="2"/>
              </a:rPr>
              <a:t></a:t>
            </a:r>
            <a:r>
              <a:rPr lang="en-US" altLang="zh-CN" sz="2400" b="1" dirty="0"/>
              <a:t>(2+</a:t>
            </a:r>
            <a:r>
              <a:rPr lang="en-US" altLang="zh-CN" sz="2400" b="1" i="1" dirty="0"/>
              <a:t>x</a:t>
            </a:r>
            <a:r>
              <a:rPr lang="en-US" altLang="zh-CN" sz="2400" b="1" dirty="0"/>
              <a:t>)=1</a:t>
            </a:r>
            <a:r>
              <a:rPr lang="en-US" altLang="zh-CN" sz="2400" b="1" dirty="0">
                <a:sym typeface="Symbol" panose="05050102010706020507" pitchFamily="18" charset="2"/>
              </a:rPr>
              <a:t></a:t>
            </a:r>
            <a:r>
              <a:rPr lang="en-US" altLang="zh-CN" sz="2400" b="1" dirty="0"/>
              <a:t>3+2</a:t>
            </a:r>
            <a:r>
              <a:rPr lang="en-US" altLang="zh-CN" sz="2400" b="1" dirty="0">
                <a:sym typeface="Symbol" panose="05050102010706020507" pitchFamily="18" charset="2"/>
              </a:rPr>
              <a:t></a:t>
            </a:r>
            <a:r>
              <a:rPr lang="en-US" altLang="zh-CN" sz="2400" b="1" dirty="0"/>
              <a:t>2+</a:t>
            </a:r>
            <a:r>
              <a:rPr lang="en-US" altLang="zh-CN" sz="2400" b="1" i="1" dirty="0"/>
              <a:t>x</a:t>
            </a:r>
          </a:p>
          <a:p>
            <a:pPr marL="342900" indent="-342900">
              <a:buClr>
                <a:srgbClr val="0B61FF"/>
              </a:buClr>
              <a:buSzPct val="80000"/>
              <a:buFont typeface="Wingdings" panose="05000000000000000000" pitchFamily="2" charset="2"/>
              <a:buChar char="n"/>
            </a:pPr>
            <a:r>
              <a:rPr lang="en-US" altLang="zh-CN" sz="2400" b="1" dirty="0"/>
              <a:t>Answer:</a:t>
            </a:r>
            <a:r>
              <a:rPr lang="en-US" altLang="zh-CN" sz="2400" dirty="0"/>
              <a:t> The tree has </a:t>
            </a:r>
            <a:r>
              <a:rPr lang="en-US" altLang="zh-CN" sz="2400" b="1" dirty="0"/>
              <a:t>3 leaves</a:t>
            </a:r>
            <a:r>
              <a:rPr lang="en-US" altLang="zh-CN" sz="2400" dirty="0"/>
              <a:t>.</a:t>
            </a:r>
          </a:p>
          <a:p>
            <a:pPr indent="357188">
              <a:buClr>
                <a:srgbClr val="0B61FF"/>
              </a:buClr>
              <a:buSzPct val="80000"/>
              <a:buNone/>
            </a:pPr>
            <a:r>
              <a:rPr lang="en-US" altLang="zh-CN" sz="2400" dirty="0"/>
              <a:t>The degree sequence of </a:t>
            </a:r>
            <a:r>
              <a:rPr lang="en-US" altLang="zh-CN" sz="2400" b="1" i="1" dirty="0"/>
              <a:t>T</a:t>
            </a:r>
            <a:r>
              <a:rPr lang="en-US" altLang="zh-CN" sz="2400" dirty="0"/>
              <a:t> : </a:t>
            </a:r>
            <a:r>
              <a:rPr lang="zh-CN" altLang="en-US" sz="2400" b="1" dirty="0"/>
              <a:t>1, 1, 1, 2, 2, 3</a:t>
            </a:r>
            <a:r>
              <a:rPr lang="en-US" altLang="zh-CN" sz="2400" b="1" dirty="0"/>
              <a:t>.</a:t>
            </a:r>
            <a:endParaRPr lang="en-US" altLang="zh-CN" sz="2400" dirty="0"/>
          </a:p>
          <a:p>
            <a:pPr indent="808038">
              <a:buNone/>
            </a:pPr>
            <a:endParaRPr lang="en-US" altLang="zh-CN" sz="2400" b="1" i="1" dirty="0"/>
          </a:p>
          <a:p>
            <a:pPr indent="808038">
              <a:buNone/>
            </a:pPr>
            <a:endParaRPr lang="zh-CN" altLang="en-US" sz="2400" b="1" i="1" dirty="0"/>
          </a:p>
          <a:p>
            <a:pPr marL="342900" indent="-342900">
              <a:lnSpc>
                <a:spcPct val="120000"/>
              </a:lnSpc>
              <a:spcBef>
                <a:spcPts val="300"/>
              </a:spcBef>
              <a:buClr>
                <a:srgbClr val="0B61FF"/>
              </a:buClr>
              <a:buSzPct val="80000"/>
              <a:buFont typeface="Wingdings" panose="05000000000000000000" pitchFamily="2" charset="2"/>
              <a:buChar char="n"/>
            </a:pPr>
            <a:endParaRPr lang="zh-CN" altLang="en-US" sz="2400" b="1" dirty="0">
              <a:latin typeface="Trebuchet MS" panose="020B0603020202020204" pitchFamily="34" charset="0"/>
            </a:endParaRPr>
          </a:p>
        </p:txBody>
      </p:sp>
      <p:pic>
        <p:nvPicPr>
          <p:cNvPr id="15" name="Picture 8" descr="E:\插图\离散\例7-1(1).tif">
            <a:extLst>
              <a:ext uri="{FF2B5EF4-FFF2-40B4-BE49-F238E27FC236}">
                <a16:creationId xmlns:a16="http://schemas.microsoft.com/office/drawing/2014/main" id="{C4DF6F3B-C442-4C20-8073-EF221F6337EF}"/>
              </a:ext>
            </a:extLst>
          </p:cNvPr>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8106553" y="2934130"/>
            <a:ext cx="1420812" cy="2209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6" name="Picture 9" descr="E:\插图\离散\例7-1(2).tif">
            <a:extLst>
              <a:ext uri="{FF2B5EF4-FFF2-40B4-BE49-F238E27FC236}">
                <a16:creationId xmlns:a16="http://schemas.microsoft.com/office/drawing/2014/main" id="{2B436E32-5D58-4576-9EE6-0222D5103C17}"/>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9738069" y="2953004"/>
            <a:ext cx="928687" cy="2209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191554907"/>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10">
                                            <p:txEl>
                                              <p:pRg st="0" end="0"/>
                                            </p:txEl>
                                          </p:spTgt>
                                        </p:tgtEl>
                                        <p:attrNameLst>
                                          <p:attrName>style.visibility</p:attrName>
                                        </p:attrNameLst>
                                      </p:cBhvr>
                                      <p:to>
                                        <p:strVal val="visible"/>
                                      </p:to>
                                    </p:set>
                                    <p:animEffect transition="in" filter="fade">
                                      <p:cBhvr>
                                        <p:cTn id="7" dur="1000"/>
                                        <p:tgtEl>
                                          <p:spTgt spid="10">
                                            <p:txEl>
                                              <p:pRg st="0" end="0"/>
                                            </p:txEl>
                                          </p:spTgt>
                                        </p:tgtEl>
                                      </p:cBhvr>
                                    </p:animEffect>
                                    <p:anim calcmode="lin" valueType="num">
                                      <p:cBhvr>
                                        <p:cTn id="8" dur="1000" fill="hold"/>
                                        <p:tgtEl>
                                          <p:spTgt spid="10">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10">
                                            <p:txEl>
                                              <p:pRg st="0" end="0"/>
                                            </p:txEl>
                                          </p:spTgt>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10">
                                            <p:txEl>
                                              <p:pRg st="1" end="1"/>
                                            </p:txEl>
                                          </p:spTgt>
                                        </p:tgtEl>
                                        <p:attrNameLst>
                                          <p:attrName>style.visibility</p:attrName>
                                        </p:attrNameLst>
                                      </p:cBhvr>
                                      <p:to>
                                        <p:strVal val="visible"/>
                                      </p:to>
                                    </p:set>
                                    <p:animEffect transition="in" filter="fade">
                                      <p:cBhvr>
                                        <p:cTn id="12" dur="1000"/>
                                        <p:tgtEl>
                                          <p:spTgt spid="10">
                                            <p:txEl>
                                              <p:pRg st="1" end="1"/>
                                            </p:txEl>
                                          </p:spTgt>
                                        </p:tgtEl>
                                      </p:cBhvr>
                                    </p:animEffect>
                                    <p:anim calcmode="lin" valueType="num">
                                      <p:cBhvr>
                                        <p:cTn id="13" dur="1000" fill="hold"/>
                                        <p:tgtEl>
                                          <p:spTgt spid="10">
                                            <p:txEl>
                                              <p:pRg st="1" end="1"/>
                                            </p:txEl>
                                          </p:spTgt>
                                        </p:tgtEl>
                                        <p:attrNameLst>
                                          <p:attrName>ppt_x</p:attrName>
                                        </p:attrNameLst>
                                      </p:cBhvr>
                                      <p:tavLst>
                                        <p:tav tm="0">
                                          <p:val>
                                            <p:strVal val="#ppt_x"/>
                                          </p:val>
                                        </p:tav>
                                        <p:tav tm="100000">
                                          <p:val>
                                            <p:strVal val="#ppt_x"/>
                                          </p:val>
                                        </p:tav>
                                      </p:tavLst>
                                    </p:anim>
                                    <p:anim calcmode="lin" valueType="num">
                                      <p:cBhvr>
                                        <p:cTn id="14" dur="1000" fill="hold"/>
                                        <p:tgtEl>
                                          <p:spTgt spid="10">
                                            <p:txEl>
                                              <p:pRg st="1" end="1"/>
                                            </p:txEl>
                                          </p:spTgt>
                                        </p:tgtEl>
                                        <p:attrNameLst>
                                          <p:attrName>ppt_y</p:attrName>
                                        </p:attrNameLst>
                                      </p:cBhvr>
                                      <p:tavLst>
                                        <p:tav tm="0">
                                          <p:val>
                                            <p:strVal val="#ppt_y+.1"/>
                                          </p:val>
                                        </p:tav>
                                        <p:tav tm="100000">
                                          <p:val>
                                            <p:strVal val="#ppt_y"/>
                                          </p:val>
                                        </p:tav>
                                      </p:tavLst>
                                    </p:anim>
                                  </p:childTnLst>
                                </p:cTn>
                              </p:par>
                              <p:par>
                                <p:cTn id="15" presetID="42" presetClass="entr" presetSubtype="0" fill="hold" nodeType="withEffect">
                                  <p:stCondLst>
                                    <p:cond delay="0"/>
                                  </p:stCondLst>
                                  <p:childTnLst>
                                    <p:set>
                                      <p:cBhvr>
                                        <p:cTn id="16" dur="1" fill="hold">
                                          <p:stCondLst>
                                            <p:cond delay="0"/>
                                          </p:stCondLst>
                                        </p:cTn>
                                        <p:tgtEl>
                                          <p:spTgt spid="10">
                                            <p:txEl>
                                              <p:pRg st="2" end="2"/>
                                            </p:txEl>
                                          </p:spTgt>
                                        </p:tgtEl>
                                        <p:attrNameLst>
                                          <p:attrName>style.visibility</p:attrName>
                                        </p:attrNameLst>
                                      </p:cBhvr>
                                      <p:to>
                                        <p:strVal val="visible"/>
                                      </p:to>
                                    </p:set>
                                    <p:animEffect transition="in" filter="fade">
                                      <p:cBhvr>
                                        <p:cTn id="17" dur="1000"/>
                                        <p:tgtEl>
                                          <p:spTgt spid="10">
                                            <p:txEl>
                                              <p:pRg st="2" end="2"/>
                                            </p:txEl>
                                          </p:spTgt>
                                        </p:tgtEl>
                                      </p:cBhvr>
                                    </p:animEffect>
                                    <p:anim calcmode="lin" valueType="num">
                                      <p:cBhvr>
                                        <p:cTn id="18" dur="1000" fill="hold"/>
                                        <p:tgtEl>
                                          <p:spTgt spid="10">
                                            <p:txEl>
                                              <p:pRg st="2" end="2"/>
                                            </p:txEl>
                                          </p:spTgt>
                                        </p:tgtEl>
                                        <p:attrNameLst>
                                          <p:attrName>ppt_x</p:attrName>
                                        </p:attrNameLst>
                                      </p:cBhvr>
                                      <p:tavLst>
                                        <p:tav tm="0">
                                          <p:val>
                                            <p:strVal val="#ppt_x"/>
                                          </p:val>
                                        </p:tav>
                                        <p:tav tm="100000">
                                          <p:val>
                                            <p:strVal val="#ppt_x"/>
                                          </p:val>
                                        </p:tav>
                                      </p:tavLst>
                                    </p:anim>
                                    <p:anim calcmode="lin" valueType="num">
                                      <p:cBhvr>
                                        <p:cTn id="19" dur="1000" fill="hold"/>
                                        <p:tgtEl>
                                          <p:spTgt spid="10">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20" fill="hold">
                      <p:stCondLst>
                        <p:cond delay="indefinite"/>
                      </p:stCondLst>
                      <p:childTnLst>
                        <p:par>
                          <p:cTn id="21" fill="hold">
                            <p:stCondLst>
                              <p:cond delay="0"/>
                            </p:stCondLst>
                            <p:childTnLst>
                              <p:par>
                                <p:cTn id="22" presetID="42" presetClass="entr" presetSubtype="0" fill="hold" nodeType="clickEffect">
                                  <p:stCondLst>
                                    <p:cond delay="0"/>
                                  </p:stCondLst>
                                  <p:childTnLst>
                                    <p:set>
                                      <p:cBhvr>
                                        <p:cTn id="23" dur="1" fill="hold">
                                          <p:stCondLst>
                                            <p:cond delay="0"/>
                                          </p:stCondLst>
                                        </p:cTn>
                                        <p:tgtEl>
                                          <p:spTgt spid="10">
                                            <p:txEl>
                                              <p:pRg st="3" end="3"/>
                                            </p:txEl>
                                          </p:spTgt>
                                        </p:tgtEl>
                                        <p:attrNameLst>
                                          <p:attrName>style.visibility</p:attrName>
                                        </p:attrNameLst>
                                      </p:cBhvr>
                                      <p:to>
                                        <p:strVal val="visible"/>
                                      </p:to>
                                    </p:set>
                                    <p:animEffect transition="in" filter="fade">
                                      <p:cBhvr>
                                        <p:cTn id="24" dur="1000"/>
                                        <p:tgtEl>
                                          <p:spTgt spid="10">
                                            <p:txEl>
                                              <p:pRg st="3" end="3"/>
                                            </p:txEl>
                                          </p:spTgt>
                                        </p:tgtEl>
                                      </p:cBhvr>
                                    </p:animEffect>
                                    <p:anim calcmode="lin" valueType="num">
                                      <p:cBhvr>
                                        <p:cTn id="25" dur="1000" fill="hold"/>
                                        <p:tgtEl>
                                          <p:spTgt spid="10">
                                            <p:txEl>
                                              <p:pRg st="3" end="3"/>
                                            </p:txEl>
                                          </p:spTgt>
                                        </p:tgtEl>
                                        <p:attrNameLst>
                                          <p:attrName>ppt_x</p:attrName>
                                        </p:attrNameLst>
                                      </p:cBhvr>
                                      <p:tavLst>
                                        <p:tav tm="0">
                                          <p:val>
                                            <p:strVal val="#ppt_x"/>
                                          </p:val>
                                        </p:tav>
                                        <p:tav tm="100000">
                                          <p:val>
                                            <p:strVal val="#ppt_x"/>
                                          </p:val>
                                        </p:tav>
                                      </p:tavLst>
                                    </p:anim>
                                    <p:anim calcmode="lin" valueType="num">
                                      <p:cBhvr>
                                        <p:cTn id="26" dur="1000" fill="hold"/>
                                        <p:tgtEl>
                                          <p:spTgt spid="10">
                                            <p:txEl>
                                              <p:pRg st="3" end="3"/>
                                            </p:txEl>
                                          </p:spTgt>
                                        </p:tgtEl>
                                        <p:attrNameLst>
                                          <p:attrName>ppt_y</p:attrName>
                                        </p:attrNameLst>
                                      </p:cBhvr>
                                      <p:tavLst>
                                        <p:tav tm="0">
                                          <p:val>
                                            <p:strVal val="#ppt_y+.1"/>
                                          </p:val>
                                        </p:tav>
                                        <p:tav tm="100000">
                                          <p:val>
                                            <p:strVal val="#ppt_y"/>
                                          </p:val>
                                        </p:tav>
                                      </p:tavLst>
                                    </p:anim>
                                  </p:childTnLst>
                                </p:cTn>
                              </p:par>
                              <p:par>
                                <p:cTn id="27" presetID="42" presetClass="entr" presetSubtype="0" fill="hold" nodeType="withEffect">
                                  <p:stCondLst>
                                    <p:cond delay="0"/>
                                  </p:stCondLst>
                                  <p:childTnLst>
                                    <p:set>
                                      <p:cBhvr>
                                        <p:cTn id="28" dur="1" fill="hold">
                                          <p:stCondLst>
                                            <p:cond delay="0"/>
                                          </p:stCondLst>
                                        </p:cTn>
                                        <p:tgtEl>
                                          <p:spTgt spid="10">
                                            <p:txEl>
                                              <p:pRg st="4" end="4"/>
                                            </p:txEl>
                                          </p:spTgt>
                                        </p:tgtEl>
                                        <p:attrNameLst>
                                          <p:attrName>style.visibility</p:attrName>
                                        </p:attrNameLst>
                                      </p:cBhvr>
                                      <p:to>
                                        <p:strVal val="visible"/>
                                      </p:to>
                                    </p:set>
                                    <p:animEffect transition="in" filter="fade">
                                      <p:cBhvr>
                                        <p:cTn id="29" dur="1000"/>
                                        <p:tgtEl>
                                          <p:spTgt spid="10">
                                            <p:txEl>
                                              <p:pRg st="4" end="4"/>
                                            </p:txEl>
                                          </p:spTgt>
                                        </p:tgtEl>
                                      </p:cBhvr>
                                    </p:animEffect>
                                    <p:anim calcmode="lin" valueType="num">
                                      <p:cBhvr>
                                        <p:cTn id="30" dur="1000" fill="hold"/>
                                        <p:tgtEl>
                                          <p:spTgt spid="10">
                                            <p:txEl>
                                              <p:pRg st="4" end="4"/>
                                            </p:txEl>
                                          </p:spTgt>
                                        </p:tgtEl>
                                        <p:attrNameLst>
                                          <p:attrName>ppt_x</p:attrName>
                                        </p:attrNameLst>
                                      </p:cBhvr>
                                      <p:tavLst>
                                        <p:tav tm="0">
                                          <p:val>
                                            <p:strVal val="#ppt_x"/>
                                          </p:val>
                                        </p:tav>
                                        <p:tav tm="100000">
                                          <p:val>
                                            <p:strVal val="#ppt_x"/>
                                          </p:val>
                                        </p:tav>
                                      </p:tavLst>
                                    </p:anim>
                                    <p:anim calcmode="lin" valueType="num">
                                      <p:cBhvr>
                                        <p:cTn id="31" dur="1000" fill="hold"/>
                                        <p:tgtEl>
                                          <p:spTgt spid="10">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32" fill="hold">
                      <p:stCondLst>
                        <p:cond delay="indefinite"/>
                      </p:stCondLst>
                      <p:childTnLst>
                        <p:par>
                          <p:cTn id="33" fill="hold">
                            <p:stCondLst>
                              <p:cond delay="0"/>
                            </p:stCondLst>
                            <p:childTnLst>
                              <p:par>
                                <p:cTn id="34" presetID="42" presetClass="entr" presetSubtype="0" fill="hold" nodeType="clickEffect">
                                  <p:stCondLst>
                                    <p:cond delay="0"/>
                                  </p:stCondLst>
                                  <p:childTnLst>
                                    <p:set>
                                      <p:cBhvr>
                                        <p:cTn id="35" dur="1" fill="hold">
                                          <p:stCondLst>
                                            <p:cond delay="0"/>
                                          </p:stCondLst>
                                        </p:cTn>
                                        <p:tgtEl>
                                          <p:spTgt spid="15"/>
                                        </p:tgtEl>
                                        <p:attrNameLst>
                                          <p:attrName>style.visibility</p:attrName>
                                        </p:attrNameLst>
                                      </p:cBhvr>
                                      <p:to>
                                        <p:strVal val="visible"/>
                                      </p:to>
                                    </p:set>
                                    <p:animEffect transition="in" filter="fade">
                                      <p:cBhvr>
                                        <p:cTn id="36" dur="1000"/>
                                        <p:tgtEl>
                                          <p:spTgt spid="15"/>
                                        </p:tgtEl>
                                      </p:cBhvr>
                                    </p:animEffect>
                                    <p:anim calcmode="lin" valueType="num">
                                      <p:cBhvr>
                                        <p:cTn id="37" dur="1000" fill="hold"/>
                                        <p:tgtEl>
                                          <p:spTgt spid="15"/>
                                        </p:tgtEl>
                                        <p:attrNameLst>
                                          <p:attrName>ppt_x</p:attrName>
                                        </p:attrNameLst>
                                      </p:cBhvr>
                                      <p:tavLst>
                                        <p:tav tm="0">
                                          <p:val>
                                            <p:strVal val="#ppt_x"/>
                                          </p:val>
                                        </p:tav>
                                        <p:tav tm="100000">
                                          <p:val>
                                            <p:strVal val="#ppt_x"/>
                                          </p:val>
                                        </p:tav>
                                      </p:tavLst>
                                    </p:anim>
                                    <p:anim calcmode="lin" valueType="num">
                                      <p:cBhvr>
                                        <p:cTn id="38" dur="1000" fill="hold"/>
                                        <p:tgtEl>
                                          <p:spTgt spid="15"/>
                                        </p:tgtEl>
                                        <p:attrNameLst>
                                          <p:attrName>ppt_y</p:attrName>
                                        </p:attrNameLst>
                                      </p:cBhvr>
                                      <p:tavLst>
                                        <p:tav tm="0">
                                          <p:val>
                                            <p:strVal val="#ppt_y+.1"/>
                                          </p:val>
                                        </p:tav>
                                        <p:tav tm="100000">
                                          <p:val>
                                            <p:strVal val="#ppt_y"/>
                                          </p:val>
                                        </p:tav>
                                      </p:tavLst>
                                    </p:anim>
                                  </p:childTnLst>
                                </p:cTn>
                              </p:par>
                              <p:par>
                                <p:cTn id="39" presetID="42" presetClass="entr" presetSubtype="0" fill="hold" nodeType="withEffect">
                                  <p:stCondLst>
                                    <p:cond delay="0"/>
                                  </p:stCondLst>
                                  <p:childTnLst>
                                    <p:set>
                                      <p:cBhvr>
                                        <p:cTn id="40" dur="1" fill="hold">
                                          <p:stCondLst>
                                            <p:cond delay="0"/>
                                          </p:stCondLst>
                                        </p:cTn>
                                        <p:tgtEl>
                                          <p:spTgt spid="16"/>
                                        </p:tgtEl>
                                        <p:attrNameLst>
                                          <p:attrName>style.visibility</p:attrName>
                                        </p:attrNameLst>
                                      </p:cBhvr>
                                      <p:to>
                                        <p:strVal val="visible"/>
                                      </p:to>
                                    </p:set>
                                    <p:animEffect transition="in" filter="fade">
                                      <p:cBhvr>
                                        <p:cTn id="41" dur="1000"/>
                                        <p:tgtEl>
                                          <p:spTgt spid="16"/>
                                        </p:tgtEl>
                                      </p:cBhvr>
                                    </p:animEffect>
                                    <p:anim calcmode="lin" valueType="num">
                                      <p:cBhvr>
                                        <p:cTn id="42" dur="1000" fill="hold"/>
                                        <p:tgtEl>
                                          <p:spTgt spid="16"/>
                                        </p:tgtEl>
                                        <p:attrNameLst>
                                          <p:attrName>ppt_x</p:attrName>
                                        </p:attrNameLst>
                                      </p:cBhvr>
                                      <p:tavLst>
                                        <p:tav tm="0">
                                          <p:val>
                                            <p:strVal val="#ppt_x"/>
                                          </p:val>
                                        </p:tav>
                                        <p:tav tm="100000">
                                          <p:val>
                                            <p:strVal val="#ppt_x"/>
                                          </p:val>
                                        </p:tav>
                                      </p:tavLst>
                                    </p:anim>
                                    <p:anim calcmode="lin" valueType="num">
                                      <p:cBhvr>
                                        <p:cTn id="43" dur="1000" fill="hold"/>
                                        <p:tgtEl>
                                          <p:spTgt spid="16"/>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0" y="0"/>
            <a:ext cx="12192000" cy="762000"/>
          </a:xfrm>
          <a:prstGeom prst="rect">
            <a:avLst/>
          </a:prstGeom>
          <a:solidFill>
            <a:srgbClr val="002F7C"/>
          </a:solidFill>
        </p:spPr>
        <p:style>
          <a:lnRef idx="2">
            <a:schemeClr val="dk1">
              <a:shade val="50000"/>
            </a:schemeClr>
          </a:lnRef>
          <a:fillRef idx="1">
            <a:schemeClr val="dk1"/>
          </a:fillRef>
          <a:effectRef idx="0">
            <a:schemeClr val="dk1"/>
          </a:effectRef>
          <a:fontRef idx="minor">
            <a:schemeClr val="lt1"/>
          </a:fontRef>
        </p:style>
        <p:txBody>
          <a:bodyPr rtlCol="0" anchor="ctr"/>
          <a:lstStyle/>
          <a:p>
            <a:r>
              <a:rPr lang="zh-CN" altLang="en-US" sz="2000" b="1" dirty="0">
                <a:latin typeface="Times New Roman" panose="02020603050405020304" pitchFamily="18" charset="0"/>
                <a:ea typeface="宋体" panose="02010600030101010101" pitchFamily="2" charset="-122"/>
                <a:cs typeface="Times New Roman" panose="02020603050405020304" pitchFamily="18" charset="0"/>
              </a:rPr>
              <a:t>                </a:t>
            </a:r>
            <a:r>
              <a:rPr lang="en-US" altLang="zh-CN" sz="2000" b="1" dirty="0">
                <a:latin typeface="Trebuchet MS" panose="020B0603020202020204" pitchFamily="34" charset="0"/>
              </a:rPr>
              <a:t>7.1.1 Definition and Properties of Undirected Trees</a:t>
            </a:r>
            <a:endParaRPr lang="en-US" altLang="zh-CN" sz="2000" b="1" dirty="0">
              <a:latin typeface="Times New Roman" panose="02020603050405020304" pitchFamily="18" charset="0"/>
              <a:cs typeface="Times New Roman" panose="02020603050405020304" pitchFamily="18" charset="0"/>
            </a:endParaRPr>
          </a:p>
          <a:p>
            <a:r>
              <a:rPr lang="en-US" altLang="zh-CN" sz="2000" b="1" dirty="0">
                <a:latin typeface="Times New Roman" panose="02020603050405020304" pitchFamily="18" charset="0"/>
                <a:cs typeface="Times New Roman" panose="02020603050405020304" pitchFamily="18" charset="0"/>
              </a:rPr>
              <a:t>                      </a:t>
            </a:r>
            <a:r>
              <a:rPr lang="en-US" altLang="zh-CN" sz="2400" b="1" dirty="0">
                <a:solidFill>
                  <a:schemeClr val="accent2"/>
                </a:solidFill>
                <a:latin typeface="Trebuchet MS" panose="020B0603020202020204" pitchFamily="34" charset="0"/>
                <a:ea typeface="Cambria Math" panose="02040503050406030204" pitchFamily="18" charset="0"/>
                <a:cs typeface="Times New Roman" panose="02020603050405020304" pitchFamily="18" charset="0"/>
              </a:rPr>
              <a:t>⤷</a:t>
            </a:r>
            <a:r>
              <a:rPr lang="zh-CN" altLang="en-US" sz="2400" b="1" dirty="0">
                <a:latin typeface="Trebuchet MS" panose="020B0603020202020204" pitchFamily="34" charset="0"/>
              </a:rPr>
              <a:t> </a:t>
            </a:r>
            <a:r>
              <a:rPr lang="en-US" altLang="zh-CN" sz="2400" b="1" dirty="0">
                <a:latin typeface="Trebuchet MS" panose="020B0603020202020204" pitchFamily="34" charset="0"/>
              </a:rPr>
              <a:t>Constructing an Undirected Tree: An Example</a:t>
            </a:r>
            <a:endParaRPr lang="zh-CN" altLang="en-US" sz="2400" b="1" dirty="0">
              <a:solidFill>
                <a:srgbClr val="3D557A"/>
              </a:solidFill>
              <a:highlight>
                <a:srgbClr val="FF0000"/>
              </a:highlight>
              <a:latin typeface="Trebuchet MS" panose="020B0603020202020204" pitchFamily="34" charset="0"/>
            </a:endParaRPr>
          </a:p>
        </p:txBody>
      </p:sp>
      <p:sp>
        <p:nvSpPr>
          <p:cNvPr id="13" name="矩形 12"/>
          <p:cNvSpPr/>
          <p:nvPr/>
        </p:nvSpPr>
        <p:spPr>
          <a:xfrm>
            <a:off x="824682" y="0"/>
            <a:ext cx="175443" cy="628650"/>
          </a:xfrm>
          <a:prstGeom prst="rect">
            <a:avLst/>
          </a:prstGeom>
          <a:solidFill>
            <a:srgbClr val="CFA57C"/>
          </a:solidFill>
          <a:ln cmpd="sng">
            <a:gradFill flip="none" rotWithShape="1">
              <a:gsLst>
                <a:gs pos="50000">
                  <a:schemeClr val="accent2">
                    <a:lumMod val="60000"/>
                    <a:lumOff val="40000"/>
                  </a:schemeClr>
                </a:gs>
                <a:gs pos="0">
                  <a:schemeClr val="accent2">
                    <a:lumMod val="20000"/>
                    <a:lumOff val="80000"/>
                  </a:schemeClr>
                </a:gs>
                <a:gs pos="95000">
                  <a:schemeClr val="accent2"/>
                </a:gs>
              </a:gsLst>
              <a:path path="circle">
                <a:fillToRect l="50000" t="-80000" r="50000" b="180000"/>
              </a:path>
              <a:tileRect/>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22" name="Picture 6" descr="D:\MBA工作\LOGO\同济经管LOGO反白.png"/>
          <p:cNvPicPr>
            <a:picLocks noChangeAspect="1" noChangeArrowheads="1"/>
          </p:cNvPicPr>
          <p:nvPr/>
        </p:nvPicPr>
        <p:blipFill>
          <a:blip r:embed="rId3" cstate="email">
            <a:extLst>
              <a:ext uri="{28A0092B-C50C-407E-A947-70E740481C1C}">
                <a14:useLocalDpi xmlns:a14="http://schemas.microsoft.com/office/drawing/2010/main" val="0"/>
              </a:ext>
            </a:extLst>
          </a:blip>
          <a:srcRect/>
          <a:stretch>
            <a:fillRect/>
          </a:stretch>
        </p:blipFill>
        <p:spPr bwMode="auto">
          <a:xfrm>
            <a:off x="10267423" y="165688"/>
            <a:ext cx="1386605" cy="462962"/>
          </a:xfrm>
          <a:prstGeom prst="rect">
            <a:avLst/>
          </a:prstGeom>
          <a:noFill/>
          <a:extLst>
            <a:ext uri="{909E8E84-426E-40DD-AFC4-6F175D3DCCD1}">
              <a14:hiddenFill xmlns:a14="http://schemas.microsoft.com/office/drawing/2010/main">
                <a:solidFill>
                  <a:srgbClr val="FFFFFF"/>
                </a:solidFill>
              </a14:hiddenFill>
            </a:ext>
          </a:extLst>
        </p:spPr>
      </p:pic>
      <p:pic>
        <p:nvPicPr>
          <p:cNvPr id="2" name="图片 1" descr="微信图片_20220318113523"/>
          <p:cNvPicPr>
            <a:picLocks noChangeAspect="1"/>
          </p:cNvPicPr>
          <p:nvPr userDrawn="1"/>
        </p:nvPicPr>
        <p:blipFill>
          <a:blip r:embed="rId4"/>
          <a:stretch>
            <a:fillRect/>
          </a:stretch>
        </p:blipFill>
        <p:spPr>
          <a:xfrm>
            <a:off x="9291877" y="6115050"/>
            <a:ext cx="2244725" cy="361315"/>
          </a:xfrm>
          <a:prstGeom prst="rect">
            <a:avLst/>
          </a:prstGeom>
        </p:spPr>
      </p:pic>
      <p:sp>
        <p:nvSpPr>
          <p:cNvPr id="18" name="Rectangle 2">
            <a:extLst>
              <a:ext uri="{FF2B5EF4-FFF2-40B4-BE49-F238E27FC236}">
                <a16:creationId xmlns:a16="http://schemas.microsoft.com/office/drawing/2014/main" id="{E217C615-1D49-4D07-B850-D36106D7AA9A}"/>
              </a:ext>
            </a:extLst>
          </p:cNvPr>
          <p:cNvSpPr>
            <a:spLocks noChangeArrowheads="1"/>
          </p:cNvSpPr>
          <p:nvPr/>
        </p:nvSpPr>
        <p:spPr bwMode="auto">
          <a:xfrm>
            <a:off x="1000125" y="815365"/>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8" name="Rectangle 3">
            <a:extLst>
              <a:ext uri="{FF2B5EF4-FFF2-40B4-BE49-F238E27FC236}">
                <a16:creationId xmlns:a16="http://schemas.microsoft.com/office/drawing/2014/main" id="{97F08C45-3D15-45C1-A5A3-D1EB58DC91FE}"/>
              </a:ext>
            </a:extLst>
          </p:cNvPr>
          <p:cNvSpPr txBox="1">
            <a:spLocks noChangeArrowheads="1"/>
          </p:cNvSpPr>
          <p:nvPr/>
        </p:nvSpPr>
        <p:spPr>
          <a:xfrm>
            <a:off x="1000125" y="914400"/>
            <a:ext cx="9877336" cy="5788025"/>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just" eaLnBrk="1" hangingPunct="1">
              <a:spcBef>
                <a:spcPct val="40000"/>
              </a:spcBef>
              <a:buClr>
                <a:schemeClr val="bg2"/>
              </a:buClr>
              <a:buSzPct val="75000"/>
              <a:buFont typeface="Wingdings" panose="05000000000000000000" pitchFamily="2" charset="2"/>
              <a:buNone/>
            </a:pPr>
            <a:endParaRPr kumimoji="0" lang="en-US" altLang="zh-CN" sz="2800" b="1" dirty="0">
              <a:solidFill>
                <a:srgbClr val="FF3300"/>
              </a:solidFill>
            </a:endParaRPr>
          </a:p>
          <a:p>
            <a:pPr algn="just" eaLnBrk="1" hangingPunct="1">
              <a:spcBef>
                <a:spcPct val="40000"/>
              </a:spcBef>
              <a:buClr>
                <a:schemeClr val="bg2"/>
              </a:buClr>
              <a:buSzPct val="75000"/>
              <a:buFont typeface="Wingdings" panose="05000000000000000000" pitchFamily="2" charset="2"/>
              <a:buNone/>
            </a:pPr>
            <a:endParaRPr lang="en-US" altLang="zh-CN" sz="2800" b="1" dirty="0">
              <a:sym typeface="Symbol" panose="05050102010706020507" pitchFamily="18" charset="2"/>
            </a:endParaRPr>
          </a:p>
        </p:txBody>
      </p:sp>
      <p:sp>
        <p:nvSpPr>
          <p:cNvPr id="17" name="Rectangle 3">
            <a:extLst>
              <a:ext uri="{FF2B5EF4-FFF2-40B4-BE49-F238E27FC236}">
                <a16:creationId xmlns:a16="http://schemas.microsoft.com/office/drawing/2014/main" id="{660CCF81-FFA2-474A-A2B1-35E8E77B20F6}"/>
              </a:ext>
            </a:extLst>
          </p:cNvPr>
          <p:cNvSpPr txBox="1">
            <a:spLocks noChangeArrowheads="1"/>
          </p:cNvSpPr>
          <p:nvPr/>
        </p:nvSpPr>
        <p:spPr>
          <a:xfrm>
            <a:off x="1000125" y="880359"/>
            <a:ext cx="9080880" cy="1189741"/>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20000"/>
              </a:lnSpc>
              <a:buClr>
                <a:srgbClr val="0B61FF"/>
              </a:buClr>
              <a:buSzPct val="80000"/>
              <a:buFont typeface="Wingdings" panose="05000000000000000000" pitchFamily="2" charset="2"/>
              <a:buChar char="n"/>
            </a:pPr>
            <a:r>
              <a:rPr lang="en-US" altLang="zh-CN" sz="2400" b="1" dirty="0">
                <a:latin typeface="Trebuchet MS" panose="020B0603020202020204" pitchFamily="34" charset="0"/>
              </a:rPr>
              <a:t>Example:</a:t>
            </a:r>
            <a:r>
              <a:rPr lang="en-US" altLang="zh-CN" sz="2400" dirty="0">
                <a:latin typeface="Trebuchet MS" panose="020B0603020202020204" pitchFamily="34" charset="0"/>
              </a:rPr>
              <a:t> Draw all non-isomorphic undirected trees of order 6.</a:t>
            </a:r>
          </a:p>
          <a:p>
            <a:pPr>
              <a:lnSpc>
                <a:spcPct val="120000"/>
              </a:lnSpc>
              <a:buClr>
                <a:srgbClr val="0B61FF"/>
              </a:buClr>
              <a:buSzPct val="80000"/>
              <a:buFont typeface="Wingdings" panose="05000000000000000000" pitchFamily="2" charset="2"/>
              <a:buChar char="n"/>
            </a:pPr>
            <a:r>
              <a:rPr lang="en-US" altLang="zh-CN" sz="2400" b="1" dirty="0">
                <a:latin typeface="Trebuchet MS" panose="020B0603020202020204" pitchFamily="34" charset="0"/>
              </a:rPr>
              <a:t>Solution: </a:t>
            </a:r>
            <a:r>
              <a:rPr lang="en-US" altLang="zh-CN" sz="2400" dirty="0">
                <a:latin typeface="Trebuchet MS" panose="020B0603020202020204" pitchFamily="34" charset="0"/>
              </a:rPr>
              <a:t>There are 5 edges, and the total degree is 10.</a:t>
            </a:r>
            <a:endParaRPr lang="zh-CN" altLang="en-US" sz="2400" b="1" dirty="0">
              <a:latin typeface="Trebuchet MS" panose="020B0603020202020204" pitchFamily="34" charset="0"/>
            </a:endParaRPr>
          </a:p>
          <a:p>
            <a:pPr>
              <a:buClr>
                <a:srgbClr val="0B61FF"/>
              </a:buClr>
              <a:buSzPct val="80000"/>
              <a:buFont typeface="Wingdings" panose="05000000000000000000" pitchFamily="2" charset="2"/>
              <a:buChar char="n"/>
            </a:pPr>
            <a:endParaRPr lang="en-US" altLang="zh-CN" sz="2400" dirty="0">
              <a:latin typeface="Trebuchet MS" panose="020B0603020202020204" pitchFamily="34" charset="0"/>
            </a:endParaRPr>
          </a:p>
        </p:txBody>
      </p:sp>
      <p:sp>
        <p:nvSpPr>
          <p:cNvPr id="21" name="Text Box 5">
            <a:extLst>
              <a:ext uri="{FF2B5EF4-FFF2-40B4-BE49-F238E27FC236}">
                <a16:creationId xmlns:a16="http://schemas.microsoft.com/office/drawing/2014/main" id="{8F7B520C-AB94-4781-BDA9-F31297FB9D5B}"/>
              </a:ext>
            </a:extLst>
          </p:cNvPr>
          <p:cNvSpPr txBox="1">
            <a:spLocks noChangeArrowheads="1"/>
          </p:cNvSpPr>
          <p:nvPr/>
        </p:nvSpPr>
        <p:spPr bwMode="auto">
          <a:xfrm>
            <a:off x="1278619" y="1996209"/>
            <a:ext cx="2438400" cy="34751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a14:hiddenLine>
            </a:ext>
          </a:extLst>
        </p:spPr>
        <p:txBody>
          <a:bodyPr>
            <a:no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nSpc>
                <a:spcPct val="120000"/>
              </a:lnSpc>
              <a:spcBef>
                <a:spcPts val="500"/>
              </a:spcBef>
              <a:buNone/>
            </a:pPr>
            <a:r>
              <a:rPr lang="en-US" altLang="zh-CN" sz="2400" b="1" dirty="0">
                <a:latin typeface="Trebuchet MS" panose="020B0603020202020204" pitchFamily="34" charset="0"/>
              </a:rPr>
              <a:t>Possible degree sequences:</a:t>
            </a:r>
            <a:endParaRPr lang="en-US" altLang="zh-CN" sz="2400" dirty="0">
              <a:latin typeface="Trebuchet MS" panose="020B0603020202020204" pitchFamily="34" charset="0"/>
            </a:endParaRPr>
          </a:p>
          <a:p>
            <a:pPr eaLnBrk="1" hangingPunct="1">
              <a:lnSpc>
                <a:spcPct val="120000"/>
              </a:lnSpc>
              <a:spcBef>
                <a:spcPts val="500"/>
              </a:spcBef>
              <a:buFontTx/>
              <a:buNone/>
            </a:pPr>
            <a:r>
              <a:rPr kumimoji="0" lang="zh-CN" altLang="en-US" sz="2400" b="1" dirty="0">
                <a:latin typeface="Trebuchet MS" panose="020B0603020202020204" pitchFamily="34" charset="0"/>
              </a:rPr>
              <a:t>(1) 1,1,1,1,1,5</a:t>
            </a:r>
          </a:p>
          <a:p>
            <a:pPr eaLnBrk="1" hangingPunct="1">
              <a:lnSpc>
                <a:spcPct val="120000"/>
              </a:lnSpc>
              <a:spcBef>
                <a:spcPts val="500"/>
              </a:spcBef>
              <a:buFontTx/>
              <a:buNone/>
            </a:pPr>
            <a:r>
              <a:rPr kumimoji="0" lang="zh-CN" altLang="en-US" sz="2400" b="1" dirty="0">
                <a:latin typeface="Trebuchet MS" panose="020B0603020202020204" pitchFamily="34" charset="0"/>
              </a:rPr>
              <a:t>(2) 1,1,1,1,2,4</a:t>
            </a:r>
          </a:p>
          <a:p>
            <a:pPr eaLnBrk="1" hangingPunct="1">
              <a:lnSpc>
                <a:spcPct val="120000"/>
              </a:lnSpc>
              <a:spcBef>
                <a:spcPts val="500"/>
              </a:spcBef>
              <a:buFontTx/>
              <a:buNone/>
            </a:pPr>
            <a:r>
              <a:rPr kumimoji="0" lang="zh-CN" altLang="en-US" sz="2400" b="1" dirty="0">
                <a:latin typeface="Trebuchet MS" panose="020B0603020202020204" pitchFamily="34" charset="0"/>
              </a:rPr>
              <a:t>(3) 1,1,1,1,3,3</a:t>
            </a:r>
          </a:p>
          <a:p>
            <a:pPr eaLnBrk="1" hangingPunct="1">
              <a:lnSpc>
                <a:spcPct val="120000"/>
              </a:lnSpc>
              <a:spcBef>
                <a:spcPts val="500"/>
              </a:spcBef>
              <a:buFontTx/>
              <a:buNone/>
            </a:pPr>
            <a:r>
              <a:rPr kumimoji="0" lang="zh-CN" altLang="en-US" sz="2400" b="1" dirty="0">
                <a:latin typeface="Trebuchet MS" panose="020B0603020202020204" pitchFamily="34" charset="0"/>
              </a:rPr>
              <a:t>(4) 1,1,1,2,2,3</a:t>
            </a:r>
          </a:p>
          <a:p>
            <a:pPr eaLnBrk="1" hangingPunct="1">
              <a:lnSpc>
                <a:spcPct val="120000"/>
              </a:lnSpc>
              <a:spcBef>
                <a:spcPts val="500"/>
              </a:spcBef>
              <a:buFontTx/>
              <a:buNone/>
            </a:pPr>
            <a:r>
              <a:rPr kumimoji="0" lang="zh-CN" altLang="en-US" sz="2400" b="1" dirty="0">
                <a:latin typeface="Trebuchet MS" panose="020B0603020202020204" pitchFamily="34" charset="0"/>
              </a:rPr>
              <a:t>(5) 1,1,2,2,2,2</a:t>
            </a:r>
          </a:p>
        </p:txBody>
      </p:sp>
      <p:grpSp>
        <p:nvGrpSpPr>
          <p:cNvPr id="23" name="Group 20">
            <a:extLst>
              <a:ext uri="{FF2B5EF4-FFF2-40B4-BE49-F238E27FC236}">
                <a16:creationId xmlns:a16="http://schemas.microsoft.com/office/drawing/2014/main" id="{03B03AB3-E836-4911-B1A4-5AA5893B5047}"/>
              </a:ext>
            </a:extLst>
          </p:cNvPr>
          <p:cNvGrpSpPr>
            <a:grpSpLocks/>
          </p:cNvGrpSpPr>
          <p:nvPr/>
        </p:nvGrpSpPr>
        <p:grpSpPr bwMode="auto">
          <a:xfrm>
            <a:off x="4232316" y="2272197"/>
            <a:ext cx="1219200" cy="1546225"/>
            <a:chOff x="2064" y="2050"/>
            <a:chExt cx="768" cy="974"/>
          </a:xfrm>
        </p:grpSpPr>
        <p:sp>
          <p:nvSpPr>
            <p:cNvPr id="24" name="Text Box 6">
              <a:extLst>
                <a:ext uri="{FF2B5EF4-FFF2-40B4-BE49-F238E27FC236}">
                  <a16:creationId xmlns:a16="http://schemas.microsoft.com/office/drawing/2014/main" id="{35C9CC6B-EFDE-40C2-9357-2C9BDA96D455}"/>
                </a:ext>
              </a:extLst>
            </p:cNvPr>
            <p:cNvSpPr txBox="1">
              <a:spLocks noChangeArrowheads="1"/>
            </p:cNvSpPr>
            <p:nvPr/>
          </p:nvSpPr>
          <p:spPr bwMode="auto">
            <a:xfrm>
              <a:off x="2304" y="2736"/>
              <a:ext cx="384"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FontTx/>
                <a:buNone/>
              </a:pPr>
              <a:r>
                <a:rPr kumimoji="0" lang="zh-CN" altLang="en-US" sz="2400" b="1"/>
                <a:t>(1)</a:t>
              </a:r>
            </a:p>
          </p:txBody>
        </p:sp>
        <p:pic>
          <p:nvPicPr>
            <p:cNvPr id="25" name="Picture 13" descr="E:\插图\离散\图7-3(1).tif">
              <a:extLst>
                <a:ext uri="{FF2B5EF4-FFF2-40B4-BE49-F238E27FC236}">
                  <a16:creationId xmlns:a16="http://schemas.microsoft.com/office/drawing/2014/main" id="{5F96AAC4-6332-4B75-806B-1CB6A4D5AFB3}"/>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064" y="2050"/>
              <a:ext cx="768" cy="7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grpSp>
        <p:nvGrpSpPr>
          <p:cNvPr id="26" name="Group 21">
            <a:extLst>
              <a:ext uri="{FF2B5EF4-FFF2-40B4-BE49-F238E27FC236}">
                <a16:creationId xmlns:a16="http://schemas.microsoft.com/office/drawing/2014/main" id="{927D2E47-39D0-4E48-88B9-E5C8701DE92B}"/>
              </a:ext>
            </a:extLst>
          </p:cNvPr>
          <p:cNvGrpSpPr>
            <a:grpSpLocks/>
          </p:cNvGrpSpPr>
          <p:nvPr/>
        </p:nvGrpSpPr>
        <p:grpSpPr bwMode="auto">
          <a:xfrm>
            <a:off x="6137316" y="2294422"/>
            <a:ext cx="1235075" cy="1524000"/>
            <a:chOff x="3264" y="2064"/>
            <a:chExt cx="778" cy="960"/>
          </a:xfrm>
        </p:grpSpPr>
        <p:pic>
          <p:nvPicPr>
            <p:cNvPr id="27" name="Picture 14" descr="E:\插图\离散\图7-3(2).tif">
              <a:extLst>
                <a:ext uri="{FF2B5EF4-FFF2-40B4-BE49-F238E27FC236}">
                  <a16:creationId xmlns:a16="http://schemas.microsoft.com/office/drawing/2014/main" id="{52723FE7-0943-4706-9EBD-7C8BC428CDD4}"/>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264" y="2064"/>
              <a:ext cx="778" cy="8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8" name="Text Box 15">
              <a:extLst>
                <a:ext uri="{FF2B5EF4-FFF2-40B4-BE49-F238E27FC236}">
                  <a16:creationId xmlns:a16="http://schemas.microsoft.com/office/drawing/2014/main" id="{22ED285A-8676-4C3B-9B33-E0A198FC8640}"/>
                </a:ext>
              </a:extLst>
            </p:cNvPr>
            <p:cNvSpPr txBox="1">
              <a:spLocks noChangeArrowheads="1"/>
            </p:cNvSpPr>
            <p:nvPr/>
          </p:nvSpPr>
          <p:spPr bwMode="auto">
            <a:xfrm>
              <a:off x="3360" y="2736"/>
              <a:ext cx="384"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FontTx/>
                <a:buNone/>
              </a:pPr>
              <a:r>
                <a:rPr kumimoji="0" lang="zh-CN" altLang="en-US" sz="2400" b="1"/>
                <a:t>(2)</a:t>
              </a:r>
            </a:p>
          </p:txBody>
        </p:sp>
      </p:grpSp>
      <p:grpSp>
        <p:nvGrpSpPr>
          <p:cNvPr id="29" name="Group 22">
            <a:extLst>
              <a:ext uri="{FF2B5EF4-FFF2-40B4-BE49-F238E27FC236}">
                <a16:creationId xmlns:a16="http://schemas.microsoft.com/office/drawing/2014/main" id="{6FFF35BD-607B-4555-95FC-490BD2263ED7}"/>
              </a:ext>
            </a:extLst>
          </p:cNvPr>
          <p:cNvGrpSpPr>
            <a:grpSpLocks/>
          </p:cNvGrpSpPr>
          <p:nvPr/>
        </p:nvGrpSpPr>
        <p:grpSpPr bwMode="auto">
          <a:xfrm>
            <a:off x="7950241" y="2307122"/>
            <a:ext cx="1235075" cy="1511300"/>
            <a:chOff x="4406" y="2072"/>
            <a:chExt cx="778" cy="952"/>
          </a:xfrm>
        </p:grpSpPr>
        <p:pic>
          <p:nvPicPr>
            <p:cNvPr id="30" name="Picture 9" descr="E:\插图\离散\图7-3(3).tif">
              <a:extLst>
                <a:ext uri="{FF2B5EF4-FFF2-40B4-BE49-F238E27FC236}">
                  <a16:creationId xmlns:a16="http://schemas.microsoft.com/office/drawing/2014/main" id="{B79B1051-8E6F-45CE-87B5-166B677C8162}"/>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4406" y="2072"/>
              <a:ext cx="778" cy="8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1" name="Text Box 16">
              <a:extLst>
                <a:ext uri="{FF2B5EF4-FFF2-40B4-BE49-F238E27FC236}">
                  <a16:creationId xmlns:a16="http://schemas.microsoft.com/office/drawing/2014/main" id="{7A03A6B0-618C-4D1B-BCD2-14FAC7C2307A}"/>
                </a:ext>
              </a:extLst>
            </p:cNvPr>
            <p:cNvSpPr txBox="1">
              <a:spLocks noChangeArrowheads="1"/>
            </p:cNvSpPr>
            <p:nvPr/>
          </p:nvSpPr>
          <p:spPr bwMode="auto">
            <a:xfrm>
              <a:off x="4608" y="2736"/>
              <a:ext cx="384"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FontTx/>
                <a:buNone/>
              </a:pPr>
              <a:r>
                <a:rPr kumimoji="0" lang="zh-CN" altLang="en-US" sz="2400" b="1"/>
                <a:t>(3)</a:t>
              </a:r>
            </a:p>
          </p:txBody>
        </p:sp>
      </p:grpSp>
      <p:grpSp>
        <p:nvGrpSpPr>
          <p:cNvPr id="32" name="Group 23">
            <a:extLst>
              <a:ext uri="{FF2B5EF4-FFF2-40B4-BE49-F238E27FC236}">
                <a16:creationId xmlns:a16="http://schemas.microsoft.com/office/drawing/2014/main" id="{8B79ECBE-C622-4DC1-90D8-45AE719FF7EA}"/>
              </a:ext>
            </a:extLst>
          </p:cNvPr>
          <p:cNvGrpSpPr>
            <a:grpSpLocks/>
          </p:cNvGrpSpPr>
          <p:nvPr/>
        </p:nvGrpSpPr>
        <p:grpSpPr bwMode="auto">
          <a:xfrm>
            <a:off x="4125214" y="4117423"/>
            <a:ext cx="1603375" cy="1066800"/>
            <a:chOff x="1824" y="3216"/>
            <a:chExt cx="1010" cy="672"/>
          </a:xfrm>
        </p:grpSpPr>
        <p:pic>
          <p:nvPicPr>
            <p:cNvPr id="33" name="Picture 10" descr="E:\插图\离散\图7-3(4a).tif">
              <a:extLst>
                <a:ext uri="{FF2B5EF4-FFF2-40B4-BE49-F238E27FC236}">
                  <a16:creationId xmlns:a16="http://schemas.microsoft.com/office/drawing/2014/main" id="{66A47C8C-0630-4A02-8D3F-D3C3383F531F}"/>
                </a:ext>
              </a:extLst>
            </p:cNvPr>
            <p:cNvPicPr>
              <a:picLocks noChangeAspect="1" noChangeArrowheads="1"/>
            </p:cNvPicPr>
            <p:nvPr/>
          </p:nvPicPr>
          <p:blipFill>
            <a:blip r:embed="rId8">
              <a:extLst>
                <a:ext uri="{28A0092B-C50C-407E-A947-70E740481C1C}">
                  <a14:useLocalDpi xmlns:a14="http://schemas.microsoft.com/office/drawing/2010/main" val="0"/>
                </a:ext>
              </a:extLst>
            </a:blip>
            <a:srcRect b="52965"/>
            <a:stretch>
              <a:fillRect/>
            </a:stretch>
          </p:blipFill>
          <p:spPr bwMode="auto">
            <a:xfrm>
              <a:off x="1824" y="3216"/>
              <a:ext cx="1010" cy="4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4" name="Text Box 17">
              <a:extLst>
                <a:ext uri="{FF2B5EF4-FFF2-40B4-BE49-F238E27FC236}">
                  <a16:creationId xmlns:a16="http://schemas.microsoft.com/office/drawing/2014/main" id="{09CC2AB2-04C1-4276-A648-44DE8A4A2E55}"/>
                </a:ext>
              </a:extLst>
            </p:cNvPr>
            <p:cNvSpPr txBox="1">
              <a:spLocks noChangeArrowheads="1"/>
            </p:cNvSpPr>
            <p:nvPr/>
          </p:nvSpPr>
          <p:spPr bwMode="auto">
            <a:xfrm>
              <a:off x="2064" y="3600"/>
              <a:ext cx="528"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FontTx/>
                <a:buNone/>
              </a:pPr>
              <a:r>
                <a:rPr kumimoji="0" lang="zh-CN" altLang="en-US" sz="2400" b="1" dirty="0"/>
                <a:t>(4</a:t>
              </a:r>
              <a:r>
                <a:rPr kumimoji="0" lang="en-US" altLang="zh-CN" sz="2400" b="1" dirty="0"/>
                <a:t>a)</a:t>
              </a:r>
            </a:p>
          </p:txBody>
        </p:sp>
      </p:grpSp>
      <p:grpSp>
        <p:nvGrpSpPr>
          <p:cNvPr id="35" name="Group 24">
            <a:extLst>
              <a:ext uri="{FF2B5EF4-FFF2-40B4-BE49-F238E27FC236}">
                <a16:creationId xmlns:a16="http://schemas.microsoft.com/office/drawing/2014/main" id="{BC13D454-38FF-43A7-B845-49F72461884E}"/>
              </a:ext>
            </a:extLst>
          </p:cNvPr>
          <p:cNvGrpSpPr>
            <a:grpSpLocks/>
          </p:cNvGrpSpPr>
          <p:nvPr/>
        </p:nvGrpSpPr>
        <p:grpSpPr bwMode="auto">
          <a:xfrm>
            <a:off x="5954014" y="4117423"/>
            <a:ext cx="1603375" cy="1066800"/>
            <a:chOff x="2976" y="3216"/>
            <a:chExt cx="1010" cy="672"/>
          </a:xfrm>
        </p:grpSpPr>
        <p:pic>
          <p:nvPicPr>
            <p:cNvPr id="36" name="Picture 11" descr="E:\插图\离散\图7-3(4b).tif">
              <a:extLst>
                <a:ext uri="{FF2B5EF4-FFF2-40B4-BE49-F238E27FC236}">
                  <a16:creationId xmlns:a16="http://schemas.microsoft.com/office/drawing/2014/main" id="{443495CF-3D72-4502-8630-331A0B5FCCC0}"/>
                </a:ext>
              </a:extLst>
            </p:cNvPr>
            <p:cNvPicPr>
              <a:picLocks noChangeAspect="1" noChangeArrowheads="1"/>
            </p:cNvPicPr>
            <p:nvPr/>
          </p:nvPicPr>
          <p:blipFill>
            <a:blip r:embed="rId9">
              <a:extLst>
                <a:ext uri="{28A0092B-C50C-407E-A947-70E740481C1C}">
                  <a14:useLocalDpi xmlns:a14="http://schemas.microsoft.com/office/drawing/2010/main" val="0"/>
                </a:ext>
              </a:extLst>
            </a:blip>
            <a:srcRect b="52611"/>
            <a:stretch>
              <a:fillRect/>
            </a:stretch>
          </p:blipFill>
          <p:spPr bwMode="auto">
            <a:xfrm>
              <a:off x="2976" y="3216"/>
              <a:ext cx="1010" cy="40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7" name="Text Box 18">
              <a:extLst>
                <a:ext uri="{FF2B5EF4-FFF2-40B4-BE49-F238E27FC236}">
                  <a16:creationId xmlns:a16="http://schemas.microsoft.com/office/drawing/2014/main" id="{0440A44C-6384-4585-8372-66C5B15AFB6B}"/>
                </a:ext>
              </a:extLst>
            </p:cNvPr>
            <p:cNvSpPr txBox="1">
              <a:spLocks noChangeArrowheads="1"/>
            </p:cNvSpPr>
            <p:nvPr/>
          </p:nvSpPr>
          <p:spPr bwMode="auto">
            <a:xfrm>
              <a:off x="3264" y="3600"/>
              <a:ext cx="528"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FontTx/>
                <a:buNone/>
              </a:pPr>
              <a:r>
                <a:rPr kumimoji="0" lang="zh-CN" altLang="en-US" sz="2400" b="1"/>
                <a:t>(4</a:t>
              </a:r>
              <a:r>
                <a:rPr kumimoji="0" lang="en-US" altLang="zh-CN" sz="2400" b="1"/>
                <a:t>b)</a:t>
              </a:r>
            </a:p>
          </p:txBody>
        </p:sp>
      </p:grpSp>
      <p:grpSp>
        <p:nvGrpSpPr>
          <p:cNvPr id="38" name="Group 25">
            <a:extLst>
              <a:ext uri="{FF2B5EF4-FFF2-40B4-BE49-F238E27FC236}">
                <a16:creationId xmlns:a16="http://schemas.microsoft.com/office/drawing/2014/main" id="{269B6BA9-DEBE-4A5F-84C0-76C2E194AC2A}"/>
              </a:ext>
            </a:extLst>
          </p:cNvPr>
          <p:cNvGrpSpPr>
            <a:grpSpLocks/>
          </p:cNvGrpSpPr>
          <p:nvPr/>
        </p:nvGrpSpPr>
        <p:grpSpPr bwMode="auto">
          <a:xfrm>
            <a:off x="7859014" y="4574623"/>
            <a:ext cx="2030413" cy="609600"/>
            <a:chOff x="4176" y="3504"/>
            <a:chExt cx="1279" cy="384"/>
          </a:xfrm>
        </p:grpSpPr>
        <p:pic>
          <p:nvPicPr>
            <p:cNvPr id="39" name="Picture 12" descr="E:\插图\离散\图7-3(5).tif">
              <a:extLst>
                <a:ext uri="{FF2B5EF4-FFF2-40B4-BE49-F238E27FC236}">
                  <a16:creationId xmlns:a16="http://schemas.microsoft.com/office/drawing/2014/main" id="{92366FC5-3329-4A51-8CE0-EF8F0A47564E}"/>
                </a:ext>
              </a:extLst>
            </p:cNvPr>
            <p:cNvPicPr>
              <a:picLocks noChangeAspect="1" noChangeArrowheads="1"/>
            </p:cNvPicPr>
            <p:nvPr/>
          </p:nvPicPr>
          <p:blipFill>
            <a:blip r:embed="rId10" cstate="print">
              <a:extLst>
                <a:ext uri="{28A0092B-C50C-407E-A947-70E740481C1C}">
                  <a14:useLocalDpi xmlns:a14="http://schemas.microsoft.com/office/drawing/2010/main" val="0"/>
                </a:ext>
              </a:extLst>
            </a:blip>
            <a:srcRect t="21530" b="61516"/>
            <a:stretch>
              <a:fillRect/>
            </a:stretch>
          </p:blipFill>
          <p:spPr bwMode="auto">
            <a:xfrm>
              <a:off x="4176" y="3504"/>
              <a:ext cx="1279" cy="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0" name="Text Box 19">
              <a:extLst>
                <a:ext uri="{FF2B5EF4-FFF2-40B4-BE49-F238E27FC236}">
                  <a16:creationId xmlns:a16="http://schemas.microsoft.com/office/drawing/2014/main" id="{92E12789-172A-4F09-9CE8-BB0E290DB120}"/>
                </a:ext>
              </a:extLst>
            </p:cNvPr>
            <p:cNvSpPr txBox="1">
              <a:spLocks noChangeArrowheads="1"/>
            </p:cNvSpPr>
            <p:nvPr/>
          </p:nvSpPr>
          <p:spPr bwMode="auto">
            <a:xfrm>
              <a:off x="4608" y="3600"/>
              <a:ext cx="384"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FontTx/>
                <a:buNone/>
              </a:pPr>
              <a:r>
                <a:rPr kumimoji="0" lang="zh-CN" altLang="en-US" sz="2400" b="1" dirty="0"/>
                <a:t>(5)</a:t>
              </a:r>
            </a:p>
          </p:txBody>
        </p:sp>
      </p:grpSp>
    </p:spTree>
    <p:extLst>
      <p:ext uri="{BB962C8B-B14F-4D97-AF65-F5344CB8AC3E}">
        <p14:creationId xmlns:p14="http://schemas.microsoft.com/office/powerpoint/2010/main" val="1737197486"/>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17">
                                            <p:txEl>
                                              <p:pRg st="1" end="1"/>
                                            </p:txEl>
                                          </p:spTgt>
                                        </p:tgtEl>
                                        <p:attrNameLst>
                                          <p:attrName>style.visibility</p:attrName>
                                        </p:attrNameLst>
                                      </p:cBhvr>
                                      <p:to>
                                        <p:strVal val="visible"/>
                                      </p:to>
                                    </p:set>
                                    <p:animEffect transition="in" filter="fade">
                                      <p:cBhvr>
                                        <p:cTn id="7" dur="1000"/>
                                        <p:tgtEl>
                                          <p:spTgt spid="17">
                                            <p:txEl>
                                              <p:pRg st="1" end="1"/>
                                            </p:txEl>
                                          </p:spTgt>
                                        </p:tgtEl>
                                      </p:cBhvr>
                                    </p:animEffect>
                                    <p:anim calcmode="lin" valueType="num">
                                      <p:cBhvr>
                                        <p:cTn id="8" dur="1000" fill="hold"/>
                                        <p:tgtEl>
                                          <p:spTgt spid="17">
                                            <p:txEl>
                                              <p:pRg st="1" end="1"/>
                                            </p:txEl>
                                          </p:spTgt>
                                        </p:tgtEl>
                                        <p:attrNameLst>
                                          <p:attrName>ppt_x</p:attrName>
                                        </p:attrNameLst>
                                      </p:cBhvr>
                                      <p:tavLst>
                                        <p:tav tm="0">
                                          <p:val>
                                            <p:strVal val="#ppt_x"/>
                                          </p:val>
                                        </p:tav>
                                        <p:tav tm="100000">
                                          <p:val>
                                            <p:strVal val="#ppt_x"/>
                                          </p:val>
                                        </p:tav>
                                      </p:tavLst>
                                    </p:anim>
                                    <p:anim calcmode="lin" valueType="num">
                                      <p:cBhvr>
                                        <p:cTn id="9" dur="1000" fill="hold"/>
                                        <p:tgtEl>
                                          <p:spTgt spid="17">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21">
                                            <p:txEl>
                                              <p:pRg st="0" end="0"/>
                                            </p:txEl>
                                          </p:spTgt>
                                        </p:tgtEl>
                                        <p:attrNameLst>
                                          <p:attrName>style.visibility</p:attrName>
                                        </p:attrNameLst>
                                      </p:cBhvr>
                                      <p:to>
                                        <p:strVal val="visible"/>
                                      </p:to>
                                    </p:set>
                                    <p:animEffect transition="in" filter="fade">
                                      <p:cBhvr>
                                        <p:cTn id="14" dur="1000"/>
                                        <p:tgtEl>
                                          <p:spTgt spid="21">
                                            <p:txEl>
                                              <p:pRg st="0" end="0"/>
                                            </p:txEl>
                                          </p:spTgt>
                                        </p:tgtEl>
                                      </p:cBhvr>
                                    </p:animEffect>
                                    <p:anim calcmode="lin" valueType="num">
                                      <p:cBhvr>
                                        <p:cTn id="15" dur="1000" fill="hold"/>
                                        <p:tgtEl>
                                          <p:spTgt spid="21">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21">
                                            <p:txEl>
                                              <p:pRg st="0" end="0"/>
                                            </p:txEl>
                                          </p:spTgt>
                                        </p:tgtEl>
                                        <p:attrNameLst>
                                          <p:attrName>ppt_y</p:attrName>
                                        </p:attrNameLst>
                                      </p:cBhvr>
                                      <p:tavLst>
                                        <p:tav tm="0">
                                          <p:val>
                                            <p:strVal val="#ppt_y+.1"/>
                                          </p:val>
                                        </p:tav>
                                        <p:tav tm="100000">
                                          <p:val>
                                            <p:strVal val="#ppt_y"/>
                                          </p:val>
                                        </p:tav>
                                      </p:tavLst>
                                    </p:anim>
                                  </p:childTnLst>
                                </p:cTn>
                              </p:par>
                              <p:par>
                                <p:cTn id="17" presetID="42" presetClass="entr" presetSubtype="0" fill="hold" nodeType="withEffect">
                                  <p:stCondLst>
                                    <p:cond delay="0"/>
                                  </p:stCondLst>
                                  <p:childTnLst>
                                    <p:set>
                                      <p:cBhvr>
                                        <p:cTn id="18" dur="1" fill="hold">
                                          <p:stCondLst>
                                            <p:cond delay="0"/>
                                          </p:stCondLst>
                                        </p:cTn>
                                        <p:tgtEl>
                                          <p:spTgt spid="21">
                                            <p:txEl>
                                              <p:pRg st="1" end="1"/>
                                            </p:txEl>
                                          </p:spTgt>
                                        </p:tgtEl>
                                        <p:attrNameLst>
                                          <p:attrName>style.visibility</p:attrName>
                                        </p:attrNameLst>
                                      </p:cBhvr>
                                      <p:to>
                                        <p:strVal val="visible"/>
                                      </p:to>
                                    </p:set>
                                    <p:animEffect transition="in" filter="fade">
                                      <p:cBhvr>
                                        <p:cTn id="19" dur="1000"/>
                                        <p:tgtEl>
                                          <p:spTgt spid="21">
                                            <p:txEl>
                                              <p:pRg st="1" end="1"/>
                                            </p:txEl>
                                          </p:spTgt>
                                        </p:tgtEl>
                                      </p:cBhvr>
                                    </p:animEffect>
                                    <p:anim calcmode="lin" valueType="num">
                                      <p:cBhvr>
                                        <p:cTn id="20" dur="1000" fill="hold"/>
                                        <p:tgtEl>
                                          <p:spTgt spid="21">
                                            <p:txEl>
                                              <p:pRg st="1" end="1"/>
                                            </p:txEl>
                                          </p:spTgt>
                                        </p:tgtEl>
                                        <p:attrNameLst>
                                          <p:attrName>ppt_x</p:attrName>
                                        </p:attrNameLst>
                                      </p:cBhvr>
                                      <p:tavLst>
                                        <p:tav tm="0">
                                          <p:val>
                                            <p:strVal val="#ppt_x"/>
                                          </p:val>
                                        </p:tav>
                                        <p:tav tm="100000">
                                          <p:val>
                                            <p:strVal val="#ppt_x"/>
                                          </p:val>
                                        </p:tav>
                                      </p:tavLst>
                                    </p:anim>
                                    <p:anim calcmode="lin" valueType="num">
                                      <p:cBhvr>
                                        <p:cTn id="21" dur="1000" fill="hold"/>
                                        <p:tgtEl>
                                          <p:spTgt spid="21">
                                            <p:txEl>
                                              <p:pRg st="1" end="1"/>
                                            </p:txEl>
                                          </p:spTgt>
                                        </p:tgtEl>
                                        <p:attrNameLst>
                                          <p:attrName>ppt_y</p:attrName>
                                        </p:attrNameLst>
                                      </p:cBhvr>
                                      <p:tavLst>
                                        <p:tav tm="0">
                                          <p:val>
                                            <p:strVal val="#ppt_y+.1"/>
                                          </p:val>
                                        </p:tav>
                                        <p:tav tm="100000">
                                          <p:val>
                                            <p:strVal val="#ppt_y"/>
                                          </p:val>
                                        </p:tav>
                                      </p:tavLst>
                                    </p:anim>
                                  </p:childTnLst>
                                </p:cTn>
                              </p:par>
                              <p:par>
                                <p:cTn id="22" presetID="42" presetClass="entr" presetSubtype="0" fill="hold" nodeType="withEffect">
                                  <p:stCondLst>
                                    <p:cond delay="0"/>
                                  </p:stCondLst>
                                  <p:childTnLst>
                                    <p:set>
                                      <p:cBhvr>
                                        <p:cTn id="23" dur="1" fill="hold">
                                          <p:stCondLst>
                                            <p:cond delay="0"/>
                                          </p:stCondLst>
                                        </p:cTn>
                                        <p:tgtEl>
                                          <p:spTgt spid="23"/>
                                        </p:tgtEl>
                                        <p:attrNameLst>
                                          <p:attrName>style.visibility</p:attrName>
                                        </p:attrNameLst>
                                      </p:cBhvr>
                                      <p:to>
                                        <p:strVal val="visible"/>
                                      </p:to>
                                    </p:set>
                                    <p:animEffect transition="in" filter="fade">
                                      <p:cBhvr>
                                        <p:cTn id="24" dur="1000"/>
                                        <p:tgtEl>
                                          <p:spTgt spid="23"/>
                                        </p:tgtEl>
                                      </p:cBhvr>
                                    </p:animEffect>
                                    <p:anim calcmode="lin" valueType="num">
                                      <p:cBhvr>
                                        <p:cTn id="25" dur="1000" fill="hold"/>
                                        <p:tgtEl>
                                          <p:spTgt spid="23"/>
                                        </p:tgtEl>
                                        <p:attrNameLst>
                                          <p:attrName>ppt_x</p:attrName>
                                        </p:attrNameLst>
                                      </p:cBhvr>
                                      <p:tavLst>
                                        <p:tav tm="0">
                                          <p:val>
                                            <p:strVal val="#ppt_x"/>
                                          </p:val>
                                        </p:tav>
                                        <p:tav tm="100000">
                                          <p:val>
                                            <p:strVal val="#ppt_x"/>
                                          </p:val>
                                        </p:tav>
                                      </p:tavLst>
                                    </p:anim>
                                    <p:anim calcmode="lin" valueType="num">
                                      <p:cBhvr>
                                        <p:cTn id="26" dur="1000" fill="hold"/>
                                        <p:tgtEl>
                                          <p:spTgt spid="23"/>
                                        </p:tgtEl>
                                        <p:attrNameLst>
                                          <p:attrName>ppt_y</p:attrName>
                                        </p:attrNameLst>
                                      </p:cBhvr>
                                      <p:tavLst>
                                        <p:tav tm="0">
                                          <p:val>
                                            <p:strVal val="#ppt_y+.1"/>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42" presetClass="entr" presetSubtype="0" fill="hold" nodeType="clickEffect">
                                  <p:stCondLst>
                                    <p:cond delay="0"/>
                                  </p:stCondLst>
                                  <p:childTnLst>
                                    <p:set>
                                      <p:cBhvr>
                                        <p:cTn id="30" dur="1" fill="hold">
                                          <p:stCondLst>
                                            <p:cond delay="0"/>
                                          </p:stCondLst>
                                        </p:cTn>
                                        <p:tgtEl>
                                          <p:spTgt spid="21">
                                            <p:txEl>
                                              <p:pRg st="2" end="2"/>
                                            </p:txEl>
                                          </p:spTgt>
                                        </p:tgtEl>
                                        <p:attrNameLst>
                                          <p:attrName>style.visibility</p:attrName>
                                        </p:attrNameLst>
                                      </p:cBhvr>
                                      <p:to>
                                        <p:strVal val="visible"/>
                                      </p:to>
                                    </p:set>
                                    <p:animEffect transition="in" filter="fade">
                                      <p:cBhvr>
                                        <p:cTn id="31" dur="1000"/>
                                        <p:tgtEl>
                                          <p:spTgt spid="21">
                                            <p:txEl>
                                              <p:pRg st="2" end="2"/>
                                            </p:txEl>
                                          </p:spTgt>
                                        </p:tgtEl>
                                      </p:cBhvr>
                                    </p:animEffect>
                                    <p:anim calcmode="lin" valueType="num">
                                      <p:cBhvr>
                                        <p:cTn id="32" dur="1000" fill="hold"/>
                                        <p:tgtEl>
                                          <p:spTgt spid="21">
                                            <p:txEl>
                                              <p:pRg st="2" end="2"/>
                                            </p:txEl>
                                          </p:spTgt>
                                        </p:tgtEl>
                                        <p:attrNameLst>
                                          <p:attrName>ppt_x</p:attrName>
                                        </p:attrNameLst>
                                      </p:cBhvr>
                                      <p:tavLst>
                                        <p:tav tm="0">
                                          <p:val>
                                            <p:strVal val="#ppt_x"/>
                                          </p:val>
                                        </p:tav>
                                        <p:tav tm="100000">
                                          <p:val>
                                            <p:strVal val="#ppt_x"/>
                                          </p:val>
                                        </p:tav>
                                      </p:tavLst>
                                    </p:anim>
                                    <p:anim calcmode="lin" valueType="num">
                                      <p:cBhvr>
                                        <p:cTn id="33" dur="1000" fill="hold"/>
                                        <p:tgtEl>
                                          <p:spTgt spid="21">
                                            <p:txEl>
                                              <p:pRg st="2" end="2"/>
                                            </p:txEl>
                                          </p:spTgt>
                                        </p:tgtEl>
                                        <p:attrNameLst>
                                          <p:attrName>ppt_y</p:attrName>
                                        </p:attrNameLst>
                                      </p:cBhvr>
                                      <p:tavLst>
                                        <p:tav tm="0">
                                          <p:val>
                                            <p:strVal val="#ppt_y+.1"/>
                                          </p:val>
                                        </p:tav>
                                        <p:tav tm="100000">
                                          <p:val>
                                            <p:strVal val="#ppt_y"/>
                                          </p:val>
                                        </p:tav>
                                      </p:tavLst>
                                    </p:anim>
                                  </p:childTnLst>
                                </p:cTn>
                              </p:par>
                              <p:par>
                                <p:cTn id="34" presetID="42" presetClass="entr" presetSubtype="0" fill="hold" nodeType="withEffect">
                                  <p:stCondLst>
                                    <p:cond delay="0"/>
                                  </p:stCondLst>
                                  <p:childTnLst>
                                    <p:set>
                                      <p:cBhvr>
                                        <p:cTn id="35" dur="1" fill="hold">
                                          <p:stCondLst>
                                            <p:cond delay="0"/>
                                          </p:stCondLst>
                                        </p:cTn>
                                        <p:tgtEl>
                                          <p:spTgt spid="26"/>
                                        </p:tgtEl>
                                        <p:attrNameLst>
                                          <p:attrName>style.visibility</p:attrName>
                                        </p:attrNameLst>
                                      </p:cBhvr>
                                      <p:to>
                                        <p:strVal val="visible"/>
                                      </p:to>
                                    </p:set>
                                    <p:animEffect transition="in" filter="fade">
                                      <p:cBhvr>
                                        <p:cTn id="36" dur="1000"/>
                                        <p:tgtEl>
                                          <p:spTgt spid="26"/>
                                        </p:tgtEl>
                                      </p:cBhvr>
                                    </p:animEffect>
                                    <p:anim calcmode="lin" valueType="num">
                                      <p:cBhvr>
                                        <p:cTn id="37" dur="1000" fill="hold"/>
                                        <p:tgtEl>
                                          <p:spTgt spid="26"/>
                                        </p:tgtEl>
                                        <p:attrNameLst>
                                          <p:attrName>ppt_x</p:attrName>
                                        </p:attrNameLst>
                                      </p:cBhvr>
                                      <p:tavLst>
                                        <p:tav tm="0">
                                          <p:val>
                                            <p:strVal val="#ppt_x"/>
                                          </p:val>
                                        </p:tav>
                                        <p:tav tm="100000">
                                          <p:val>
                                            <p:strVal val="#ppt_x"/>
                                          </p:val>
                                        </p:tav>
                                      </p:tavLst>
                                    </p:anim>
                                    <p:anim calcmode="lin" valueType="num">
                                      <p:cBhvr>
                                        <p:cTn id="38" dur="1000" fill="hold"/>
                                        <p:tgtEl>
                                          <p:spTgt spid="26"/>
                                        </p:tgtEl>
                                        <p:attrNameLst>
                                          <p:attrName>ppt_y</p:attrName>
                                        </p:attrNameLst>
                                      </p:cBhvr>
                                      <p:tavLst>
                                        <p:tav tm="0">
                                          <p:val>
                                            <p:strVal val="#ppt_y+.1"/>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42" presetClass="entr" presetSubtype="0" fill="hold" nodeType="clickEffect">
                                  <p:stCondLst>
                                    <p:cond delay="0"/>
                                  </p:stCondLst>
                                  <p:childTnLst>
                                    <p:set>
                                      <p:cBhvr>
                                        <p:cTn id="42" dur="1" fill="hold">
                                          <p:stCondLst>
                                            <p:cond delay="0"/>
                                          </p:stCondLst>
                                        </p:cTn>
                                        <p:tgtEl>
                                          <p:spTgt spid="21">
                                            <p:txEl>
                                              <p:pRg st="3" end="3"/>
                                            </p:txEl>
                                          </p:spTgt>
                                        </p:tgtEl>
                                        <p:attrNameLst>
                                          <p:attrName>style.visibility</p:attrName>
                                        </p:attrNameLst>
                                      </p:cBhvr>
                                      <p:to>
                                        <p:strVal val="visible"/>
                                      </p:to>
                                    </p:set>
                                    <p:animEffect transition="in" filter="fade">
                                      <p:cBhvr>
                                        <p:cTn id="43" dur="1000"/>
                                        <p:tgtEl>
                                          <p:spTgt spid="21">
                                            <p:txEl>
                                              <p:pRg st="3" end="3"/>
                                            </p:txEl>
                                          </p:spTgt>
                                        </p:tgtEl>
                                      </p:cBhvr>
                                    </p:animEffect>
                                    <p:anim calcmode="lin" valueType="num">
                                      <p:cBhvr>
                                        <p:cTn id="44" dur="1000" fill="hold"/>
                                        <p:tgtEl>
                                          <p:spTgt spid="21">
                                            <p:txEl>
                                              <p:pRg st="3" end="3"/>
                                            </p:txEl>
                                          </p:spTgt>
                                        </p:tgtEl>
                                        <p:attrNameLst>
                                          <p:attrName>ppt_x</p:attrName>
                                        </p:attrNameLst>
                                      </p:cBhvr>
                                      <p:tavLst>
                                        <p:tav tm="0">
                                          <p:val>
                                            <p:strVal val="#ppt_x"/>
                                          </p:val>
                                        </p:tav>
                                        <p:tav tm="100000">
                                          <p:val>
                                            <p:strVal val="#ppt_x"/>
                                          </p:val>
                                        </p:tav>
                                      </p:tavLst>
                                    </p:anim>
                                    <p:anim calcmode="lin" valueType="num">
                                      <p:cBhvr>
                                        <p:cTn id="45" dur="1000" fill="hold"/>
                                        <p:tgtEl>
                                          <p:spTgt spid="21">
                                            <p:txEl>
                                              <p:pRg st="3" end="3"/>
                                            </p:txEl>
                                          </p:spTgt>
                                        </p:tgtEl>
                                        <p:attrNameLst>
                                          <p:attrName>ppt_y</p:attrName>
                                        </p:attrNameLst>
                                      </p:cBhvr>
                                      <p:tavLst>
                                        <p:tav tm="0">
                                          <p:val>
                                            <p:strVal val="#ppt_y+.1"/>
                                          </p:val>
                                        </p:tav>
                                        <p:tav tm="100000">
                                          <p:val>
                                            <p:strVal val="#ppt_y"/>
                                          </p:val>
                                        </p:tav>
                                      </p:tavLst>
                                    </p:anim>
                                  </p:childTnLst>
                                </p:cTn>
                              </p:par>
                              <p:par>
                                <p:cTn id="46" presetID="42" presetClass="entr" presetSubtype="0" fill="hold" nodeType="withEffect">
                                  <p:stCondLst>
                                    <p:cond delay="0"/>
                                  </p:stCondLst>
                                  <p:childTnLst>
                                    <p:set>
                                      <p:cBhvr>
                                        <p:cTn id="47" dur="1" fill="hold">
                                          <p:stCondLst>
                                            <p:cond delay="0"/>
                                          </p:stCondLst>
                                        </p:cTn>
                                        <p:tgtEl>
                                          <p:spTgt spid="29"/>
                                        </p:tgtEl>
                                        <p:attrNameLst>
                                          <p:attrName>style.visibility</p:attrName>
                                        </p:attrNameLst>
                                      </p:cBhvr>
                                      <p:to>
                                        <p:strVal val="visible"/>
                                      </p:to>
                                    </p:set>
                                    <p:animEffect transition="in" filter="fade">
                                      <p:cBhvr>
                                        <p:cTn id="48" dur="1000"/>
                                        <p:tgtEl>
                                          <p:spTgt spid="29"/>
                                        </p:tgtEl>
                                      </p:cBhvr>
                                    </p:animEffect>
                                    <p:anim calcmode="lin" valueType="num">
                                      <p:cBhvr>
                                        <p:cTn id="49" dur="1000" fill="hold"/>
                                        <p:tgtEl>
                                          <p:spTgt spid="29"/>
                                        </p:tgtEl>
                                        <p:attrNameLst>
                                          <p:attrName>ppt_x</p:attrName>
                                        </p:attrNameLst>
                                      </p:cBhvr>
                                      <p:tavLst>
                                        <p:tav tm="0">
                                          <p:val>
                                            <p:strVal val="#ppt_x"/>
                                          </p:val>
                                        </p:tav>
                                        <p:tav tm="100000">
                                          <p:val>
                                            <p:strVal val="#ppt_x"/>
                                          </p:val>
                                        </p:tav>
                                      </p:tavLst>
                                    </p:anim>
                                    <p:anim calcmode="lin" valueType="num">
                                      <p:cBhvr>
                                        <p:cTn id="50" dur="1000" fill="hold"/>
                                        <p:tgtEl>
                                          <p:spTgt spid="29"/>
                                        </p:tgtEl>
                                        <p:attrNameLst>
                                          <p:attrName>ppt_y</p:attrName>
                                        </p:attrNameLst>
                                      </p:cBhvr>
                                      <p:tavLst>
                                        <p:tav tm="0">
                                          <p:val>
                                            <p:strVal val="#ppt_y+.1"/>
                                          </p:val>
                                        </p:tav>
                                        <p:tav tm="100000">
                                          <p:val>
                                            <p:strVal val="#ppt_y"/>
                                          </p:val>
                                        </p:tav>
                                      </p:tavLst>
                                    </p:anim>
                                  </p:childTnLst>
                                </p:cTn>
                              </p:par>
                            </p:childTnLst>
                          </p:cTn>
                        </p:par>
                      </p:childTnLst>
                    </p:cTn>
                  </p:par>
                  <p:par>
                    <p:cTn id="51" fill="hold">
                      <p:stCondLst>
                        <p:cond delay="indefinite"/>
                      </p:stCondLst>
                      <p:childTnLst>
                        <p:par>
                          <p:cTn id="52" fill="hold">
                            <p:stCondLst>
                              <p:cond delay="0"/>
                            </p:stCondLst>
                            <p:childTnLst>
                              <p:par>
                                <p:cTn id="53" presetID="42" presetClass="entr" presetSubtype="0" fill="hold" nodeType="clickEffect">
                                  <p:stCondLst>
                                    <p:cond delay="0"/>
                                  </p:stCondLst>
                                  <p:childTnLst>
                                    <p:set>
                                      <p:cBhvr>
                                        <p:cTn id="54" dur="1" fill="hold">
                                          <p:stCondLst>
                                            <p:cond delay="0"/>
                                          </p:stCondLst>
                                        </p:cTn>
                                        <p:tgtEl>
                                          <p:spTgt spid="21">
                                            <p:txEl>
                                              <p:pRg st="4" end="4"/>
                                            </p:txEl>
                                          </p:spTgt>
                                        </p:tgtEl>
                                        <p:attrNameLst>
                                          <p:attrName>style.visibility</p:attrName>
                                        </p:attrNameLst>
                                      </p:cBhvr>
                                      <p:to>
                                        <p:strVal val="visible"/>
                                      </p:to>
                                    </p:set>
                                    <p:animEffect transition="in" filter="fade">
                                      <p:cBhvr>
                                        <p:cTn id="55" dur="1000"/>
                                        <p:tgtEl>
                                          <p:spTgt spid="21">
                                            <p:txEl>
                                              <p:pRg st="4" end="4"/>
                                            </p:txEl>
                                          </p:spTgt>
                                        </p:tgtEl>
                                      </p:cBhvr>
                                    </p:animEffect>
                                    <p:anim calcmode="lin" valueType="num">
                                      <p:cBhvr>
                                        <p:cTn id="56" dur="1000" fill="hold"/>
                                        <p:tgtEl>
                                          <p:spTgt spid="21">
                                            <p:txEl>
                                              <p:pRg st="4" end="4"/>
                                            </p:txEl>
                                          </p:spTgt>
                                        </p:tgtEl>
                                        <p:attrNameLst>
                                          <p:attrName>ppt_x</p:attrName>
                                        </p:attrNameLst>
                                      </p:cBhvr>
                                      <p:tavLst>
                                        <p:tav tm="0">
                                          <p:val>
                                            <p:strVal val="#ppt_x"/>
                                          </p:val>
                                        </p:tav>
                                        <p:tav tm="100000">
                                          <p:val>
                                            <p:strVal val="#ppt_x"/>
                                          </p:val>
                                        </p:tav>
                                      </p:tavLst>
                                    </p:anim>
                                    <p:anim calcmode="lin" valueType="num">
                                      <p:cBhvr>
                                        <p:cTn id="57" dur="1000" fill="hold"/>
                                        <p:tgtEl>
                                          <p:spTgt spid="21">
                                            <p:txEl>
                                              <p:pRg st="4" end="4"/>
                                            </p:txEl>
                                          </p:spTgt>
                                        </p:tgtEl>
                                        <p:attrNameLst>
                                          <p:attrName>ppt_y</p:attrName>
                                        </p:attrNameLst>
                                      </p:cBhvr>
                                      <p:tavLst>
                                        <p:tav tm="0">
                                          <p:val>
                                            <p:strVal val="#ppt_y+.1"/>
                                          </p:val>
                                        </p:tav>
                                        <p:tav tm="100000">
                                          <p:val>
                                            <p:strVal val="#ppt_y"/>
                                          </p:val>
                                        </p:tav>
                                      </p:tavLst>
                                    </p:anim>
                                  </p:childTnLst>
                                </p:cTn>
                              </p:par>
                              <p:par>
                                <p:cTn id="58" presetID="42" presetClass="entr" presetSubtype="0" fill="hold" nodeType="withEffect">
                                  <p:stCondLst>
                                    <p:cond delay="0"/>
                                  </p:stCondLst>
                                  <p:childTnLst>
                                    <p:set>
                                      <p:cBhvr>
                                        <p:cTn id="59" dur="1" fill="hold">
                                          <p:stCondLst>
                                            <p:cond delay="0"/>
                                          </p:stCondLst>
                                        </p:cTn>
                                        <p:tgtEl>
                                          <p:spTgt spid="32"/>
                                        </p:tgtEl>
                                        <p:attrNameLst>
                                          <p:attrName>style.visibility</p:attrName>
                                        </p:attrNameLst>
                                      </p:cBhvr>
                                      <p:to>
                                        <p:strVal val="visible"/>
                                      </p:to>
                                    </p:set>
                                    <p:animEffect transition="in" filter="fade">
                                      <p:cBhvr>
                                        <p:cTn id="60" dur="1000"/>
                                        <p:tgtEl>
                                          <p:spTgt spid="32"/>
                                        </p:tgtEl>
                                      </p:cBhvr>
                                    </p:animEffect>
                                    <p:anim calcmode="lin" valueType="num">
                                      <p:cBhvr>
                                        <p:cTn id="61" dur="1000" fill="hold"/>
                                        <p:tgtEl>
                                          <p:spTgt spid="32"/>
                                        </p:tgtEl>
                                        <p:attrNameLst>
                                          <p:attrName>ppt_x</p:attrName>
                                        </p:attrNameLst>
                                      </p:cBhvr>
                                      <p:tavLst>
                                        <p:tav tm="0">
                                          <p:val>
                                            <p:strVal val="#ppt_x"/>
                                          </p:val>
                                        </p:tav>
                                        <p:tav tm="100000">
                                          <p:val>
                                            <p:strVal val="#ppt_x"/>
                                          </p:val>
                                        </p:tav>
                                      </p:tavLst>
                                    </p:anim>
                                    <p:anim calcmode="lin" valueType="num">
                                      <p:cBhvr>
                                        <p:cTn id="62" dur="1000" fill="hold"/>
                                        <p:tgtEl>
                                          <p:spTgt spid="32"/>
                                        </p:tgtEl>
                                        <p:attrNameLst>
                                          <p:attrName>ppt_y</p:attrName>
                                        </p:attrNameLst>
                                      </p:cBhvr>
                                      <p:tavLst>
                                        <p:tav tm="0">
                                          <p:val>
                                            <p:strVal val="#ppt_y+.1"/>
                                          </p:val>
                                        </p:tav>
                                        <p:tav tm="100000">
                                          <p:val>
                                            <p:strVal val="#ppt_y"/>
                                          </p:val>
                                        </p:tav>
                                      </p:tavLst>
                                    </p:anim>
                                  </p:childTnLst>
                                </p:cTn>
                              </p:par>
                              <p:par>
                                <p:cTn id="63" presetID="42" presetClass="entr" presetSubtype="0" fill="hold" nodeType="withEffect">
                                  <p:stCondLst>
                                    <p:cond delay="0"/>
                                  </p:stCondLst>
                                  <p:childTnLst>
                                    <p:set>
                                      <p:cBhvr>
                                        <p:cTn id="64" dur="1" fill="hold">
                                          <p:stCondLst>
                                            <p:cond delay="0"/>
                                          </p:stCondLst>
                                        </p:cTn>
                                        <p:tgtEl>
                                          <p:spTgt spid="35"/>
                                        </p:tgtEl>
                                        <p:attrNameLst>
                                          <p:attrName>style.visibility</p:attrName>
                                        </p:attrNameLst>
                                      </p:cBhvr>
                                      <p:to>
                                        <p:strVal val="visible"/>
                                      </p:to>
                                    </p:set>
                                    <p:animEffect transition="in" filter="fade">
                                      <p:cBhvr>
                                        <p:cTn id="65" dur="1000"/>
                                        <p:tgtEl>
                                          <p:spTgt spid="35"/>
                                        </p:tgtEl>
                                      </p:cBhvr>
                                    </p:animEffect>
                                    <p:anim calcmode="lin" valueType="num">
                                      <p:cBhvr>
                                        <p:cTn id="66" dur="1000" fill="hold"/>
                                        <p:tgtEl>
                                          <p:spTgt spid="35"/>
                                        </p:tgtEl>
                                        <p:attrNameLst>
                                          <p:attrName>ppt_x</p:attrName>
                                        </p:attrNameLst>
                                      </p:cBhvr>
                                      <p:tavLst>
                                        <p:tav tm="0">
                                          <p:val>
                                            <p:strVal val="#ppt_x"/>
                                          </p:val>
                                        </p:tav>
                                        <p:tav tm="100000">
                                          <p:val>
                                            <p:strVal val="#ppt_x"/>
                                          </p:val>
                                        </p:tav>
                                      </p:tavLst>
                                    </p:anim>
                                    <p:anim calcmode="lin" valueType="num">
                                      <p:cBhvr>
                                        <p:cTn id="67" dur="1000" fill="hold"/>
                                        <p:tgtEl>
                                          <p:spTgt spid="35"/>
                                        </p:tgtEl>
                                        <p:attrNameLst>
                                          <p:attrName>ppt_y</p:attrName>
                                        </p:attrNameLst>
                                      </p:cBhvr>
                                      <p:tavLst>
                                        <p:tav tm="0">
                                          <p:val>
                                            <p:strVal val="#ppt_y+.1"/>
                                          </p:val>
                                        </p:tav>
                                        <p:tav tm="100000">
                                          <p:val>
                                            <p:strVal val="#ppt_y"/>
                                          </p:val>
                                        </p:tav>
                                      </p:tavLst>
                                    </p:anim>
                                  </p:childTnLst>
                                </p:cTn>
                              </p:par>
                            </p:childTnLst>
                          </p:cTn>
                        </p:par>
                      </p:childTnLst>
                    </p:cTn>
                  </p:par>
                  <p:par>
                    <p:cTn id="68" fill="hold">
                      <p:stCondLst>
                        <p:cond delay="indefinite"/>
                      </p:stCondLst>
                      <p:childTnLst>
                        <p:par>
                          <p:cTn id="69" fill="hold">
                            <p:stCondLst>
                              <p:cond delay="0"/>
                            </p:stCondLst>
                            <p:childTnLst>
                              <p:par>
                                <p:cTn id="70" presetID="42" presetClass="entr" presetSubtype="0" fill="hold" nodeType="clickEffect">
                                  <p:stCondLst>
                                    <p:cond delay="0"/>
                                  </p:stCondLst>
                                  <p:childTnLst>
                                    <p:set>
                                      <p:cBhvr>
                                        <p:cTn id="71" dur="1" fill="hold">
                                          <p:stCondLst>
                                            <p:cond delay="0"/>
                                          </p:stCondLst>
                                        </p:cTn>
                                        <p:tgtEl>
                                          <p:spTgt spid="21">
                                            <p:txEl>
                                              <p:pRg st="5" end="5"/>
                                            </p:txEl>
                                          </p:spTgt>
                                        </p:tgtEl>
                                        <p:attrNameLst>
                                          <p:attrName>style.visibility</p:attrName>
                                        </p:attrNameLst>
                                      </p:cBhvr>
                                      <p:to>
                                        <p:strVal val="visible"/>
                                      </p:to>
                                    </p:set>
                                    <p:animEffect transition="in" filter="fade">
                                      <p:cBhvr>
                                        <p:cTn id="72" dur="1000"/>
                                        <p:tgtEl>
                                          <p:spTgt spid="21">
                                            <p:txEl>
                                              <p:pRg st="5" end="5"/>
                                            </p:txEl>
                                          </p:spTgt>
                                        </p:tgtEl>
                                      </p:cBhvr>
                                    </p:animEffect>
                                    <p:anim calcmode="lin" valueType="num">
                                      <p:cBhvr>
                                        <p:cTn id="73" dur="1000" fill="hold"/>
                                        <p:tgtEl>
                                          <p:spTgt spid="21">
                                            <p:txEl>
                                              <p:pRg st="5" end="5"/>
                                            </p:txEl>
                                          </p:spTgt>
                                        </p:tgtEl>
                                        <p:attrNameLst>
                                          <p:attrName>ppt_x</p:attrName>
                                        </p:attrNameLst>
                                      </p:cBhvr>
                                      <p:tavLst>
                                        <p:tav tm="0">
                                          <p:val>
                                            <p:strVal val="#ppt_x"/>
                                          </p:val>
                                        </p:tav>
                                        <p:tav tm="100000">
                                          <p:val>
                                            <p:strVal val="#ppt_x"/>
                                          </p:val>
                                        </p:tav>
                                      </p:tavLst>
                                    </p:anim>
                                    <p:anim calcmode="lin" valueType="num">
                                      <p:cBhvr>
                                        <p:cTn id="74" dur="1000" fill="hold"/>
                                        <p:tgtEl>
                                          <p:spTgt spid="21">
                                            <p:txEl>
                                              <p:pRg st="5" end="5"/>
                                            </p:txEl>
                                          </p:spTgt>
                                        </p:tgtEl>
                                        <p:attrNameLst>
                                          <p:attrName>ppt_y</p:attrName>
                                        </p:attrNameLst>
                                      </p:cBhvr>
                                      <p:tavLst>
                                        <p:tav tm="0">
                                          <p:val>
                                            <p:strVal val="#ppt_y+.1"/>
                                          </p:val>
                                        </p:tav>
                                        <p:tav tm="100000">
                                          <p:val>
                                            <p:strVal val="#ppt_y"/>
                                          </p:val>
                                        </p:tav>
                                      </p:tavLst>
                                    </p:anim>
                                  </p:childTnLst>
                                </p:cTn>
                              </p:par>
                              <p:par>
                                <p:cTn id="75" presetID="42" presetClass="entr" presetSubtype="0" fill="hold" nodeType="withEffect">
                                  <p:stCondLst>
                                    <p:cond delay="0"/>
                                  </p:stCondLst>
                                  <p:childTnLst>
                                    <p:set>
                                      <p:cBhvr>
                                        <p:cTn id="76" dur="1" fill="hold">
                                          <p:stCondLst>
                                            <p:cond delay="0"/>
                                          </p:stCondLst>
                                        </p:cTn>
                                        <p:tgtEl>
                                          <p:spTgt spid="38"/>
                                        </p:tgtEl>
                                        <p:attrNameLst>
                                          <p:attrName>style.visibility</p:attrName>
                                        </p:attrNameLst>
                                      </p:cBhvr>
                                      <p:to>
                                        <p:strVal val="visible"/>
                                      </p:to>
                                    </p:set>
                                    <p:animEffect transition="in" filter="fade">
                                      <p:cBhvr>
                                        <p:cTn id="77" dur="1000"/>
                                        <p:tgtEl>
                                          <p:spTgt spid="38"/>
                                        </p:tgtEl>
                                      </p:cBhvr>
                                    </p:animEffect>
                                    <p:anim calcmode="lin" valueType="num">
                                      <p:cBhvr>
                                        <p:cTn id="78" dur="1000" fill="hold"/>
                                        <p:tgtEl>
                                          <p:spTgt spid="38"/>
                                        </p:tgtEl>
                                        <p:attrNameLst>
                                          <p:attrName>ppt_x</p:attrName>
                                        </p:attrNameLst>
                                      </p:cBhvr>
                                      <p:tavLst>
                                        <p:tav tm="0">
                                          <p:val>
                                            <p:strVal val="#ppt_x"/>
                                          </p:val>
                                        </p:tav>
                                        <p:tav tm="100000">
                                          <p:val>
                                            <p:strVal val="#ppt_x"/>
                                          </p:val>
                                        </p:tav>
                                      </p:tavLst>
                                    </p:anim>
                                    <p:anim calcmode="lin" valueType="num">
                                      <p:cBhvr>
                                        <p:cTn id="79" dur="1000" fill="hold"/>
                                        <p:tgtEl>
                                          <p:spTgt spid="3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0" y="-20295"/>
            <a:ext cx="12192000" cy="762000"/>
          </a:xfrm>
          <a:prstGeom prst="rect">
            <a:avLst/>
          </a:prstGeom>
          <a:solidFill>
            <a:srgbClr val="002F7C"/>
          </a:solidFill>
        </p:spPr>
        <p:style>
          <a:lnRef idx="2">
            <a:schemeClr val="dk1">
              <a:shade val="50000"/>
            </a:schemeClr>
          </a:lnRef>
          <a:fillRef idx="1">
            <a:schemeClr val="dk1"/>
          </a:fillRef>
          <a:effectRef idx="0">
            <a:schemeClr val="dk1"/>
          </a:effectRef>
          <a:fontRef idx="minor">
            <a:schemeClr val="lt1"/>
          </a:fontRef>
        </p:style>
        <p:txBody>
          <a:bodyPr rtlCol="0" anchor="ctr"/>
          <a:lstStyle/>
          <a:p>
            <a:r>
              <a:rPr lang="zh-CN" altLang="en-US" sz="2000" b="1" dirty="0">
                <a:latin typeface="Times New Roman" panose="02020603050405020304" pitchFamily="18" charset="0"/>
                <a:ea typeface="宋体" panose="02010600030101010101" pitchFamily="2" charset="-122"/>
                <a:cs typeface="Times New Roman" panose="02020603050405020304" pitchFamily="18" charset="0"/>
              </a:rPr>
              <a:t>              </a:t>
            </a:r>
            <a:r>
              <a:rPr lang="en-US" altLang="zh-CN" sz="2400" b="1" dirty="0">
                <a:solidFill>
                  <a:schemeClr val="bg1"/>
                </a:solidFill>
                <a:latin typeface="Trebuchet MS" panose="020B0603020202020204" pitchFamily="34" charset="0"/>
              </a:rPr>
              <a:t>7.1 Undirected Trees</a:t>
            </a:r>
            <a:r>
              <a:rPr lang="en-US" altLang="zh-CN" sz="2400" b="1" dirty="0">
                <a:solidFill>
                  <a:schemeClr val="bg1"/>
                </a:solidFill>
                <a:latin typeface="Trebuchet MS" panose="020B0603020202020204" pitchFamily="34" charset="0"/>
                <a:ea typeface="宋体" panose="02010600030101010101" pitchFamily="2" charset="-122"/>
                <a:cs typeface="Times New Roman" panose="02020603050405020304" pitchFamily="18" charset="0"/>
              </a:rPr>
              <a:t>          </a:t>
            </a:r>
            <a:endParaRPr lang="zh-CN" altLang="en-US" sz="2400" b="1" dirty="0">
              <a:solidFill>
                <a:schemeClr val="bg1"/>
              </a:solidFill>
              <a:highlight>
                <a:srgbClr val="FF0000"/>
              </a:highlight>
              <a:latin typeface="Trebuchet MS" panose="020B0603020202020204" pitchFamily="34" charset="0"/>
            </a:endParaRPr>
          </a:p>
        </p:txBody>
      </p:sp>
      <p:sp>
        <p:nvSpPr>
          <p:cNvPr id="13" name="矩形 12"/>
          <p:cNvSpPr/>
          <p:nvPr/>
        </p:nvSpPr>
        <p:spPr>
          <a:xfrm>
            <a:off x="824682" y="0"/>
            <a:ext cx="175443" cy="628650"/>
          </a:xfrm>
          <a:prstGeom prst="rect">
            <a:avLst/>
          </a:prstGeom>
          <a:solidFill>
            <a:srgbClr val="CFA57C"/>
          </a:solidFill>
          <a:ln cmpd="sng">
            <a:gradFill flip="none" rotWithShape="1">
              <a:gsLst>
                <a:gs pos="50000">
                  <a:schemeClr val="accent2">
                    <a:lumMod val="60000"/>
                    <a:lumOff val="40000"/>
                  </a:schemeClr>
                </a:gs>
                <a:gs pos="0">
                  <a:schemeClr val="accent2">
                    <a:lumMod val="20000"/>
                    <a:lumOff val="80000"/>
                  </a:schemeClr>
                </a:gs>
                <a:gs pos="95000">
                  <a:schemeClr val="accent2"/>
                </a:gs>
              </a:gsLst>
              <a:path path="circle">
                <a:fillToRect l="50000" t="-80000" r="50000" b="180000"/>
              </a:path>
              <a:tileRect/>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22" name="Picture 6" descr="D:\MBA工作\LOGO\同济经管LOGO反白.png"/>
          <p:cNvPicPr>
            <a:picLocks noChangeAspect="1" noChangeArrowheads="1"/>
          </p:cNvPicPr>
          <p:nvPr/>
        </p:nvPicPr>
        <p:blipFill>
          <a:blip r:embed="rId3" cstate="email">
            <a:extLst>
              <a:ext uri="{28A0092B-C50C-407E-A947-70E740481C1C}">
                <a14:useLocalDpi xmlns:a14="http://schemas.microsoft.com/office/drawing/2010/main" val="0"/>
              </a:ext>
            </a:extLst>
          </a:blip>
          <a:srcRect/>
          <a:stretch>
            <a:fillRect/>
          </a:stretch>
        </p:blipFill>
        <p:spPr bwMode="auto">
          <a:xfrm>
            <a:off x="10267423" y="165688"/>
            <a:ext cx="1386605" cy="462962"/>
          </a:xfrm>
          <a:prstGeom prst="rect">
            <a:avLst/>
          </a:prstGeom>
          <a:noFill/>
          <a:extLst>
            <a:ext uri="{909E8E84-426E-40DD-AFC4-6F175D3DCCD1}">
              <a14:hiddenFill xmlns:a14="http://schemas.microsoft.com/office/drawing/2010/main">
                <a:solidFill>
                  <a:srgbClr val="FFFFFF"/>
                </a:solidFill>
              </a14:hiddenFill>
            </a:ext>
          </a:extLst>
        </p:spPr>
      </p:pic>
      <p:pic>
        <p:nvPicPr>
          <p:cNvPr id="2" name="图片 1" descr="微信图片_20220318113523"/>
          <p:cNvPicPr>
            <a:picLocks noChangeAspect="1"/>
          </p:cNvPicPr>
          <p:nvPr userDrawn="1"/>
        </p:nvPicPr>
        <p:blipFill>
          <a:blip r:embed="rId4"/>
          <a:stretch>
            <a:fillRect/>
          </a:stretch>
        </p:blipFill>
        <p:spPr>
          <a:xfrm>
            <a:off x="9291877" y="6115050"/>
            <a:ext cx="2244725" cy="361315"/>
          </a:xfrm>
          <a:prstGeom prst="rect">
            <a:avLst/>
          </a:prstGeom>
        </p:spPr>
      </p:pic>
      <p:sp>
        <p:nvSpPr>
          <p:cNvPr id="18" name="Rectangle 2">
            <a:extLst>
              <a:ext uri="{FF2B5EF4-FFF2-40B4-BE49-F238E27FC236}">
                <a16:creationId xmlns:a16="http://schemas.microsoft.com/office/drawing/2014/main" id="{E217C615-1D49-4D07-B850-D36106D7AA9A}"/>
              </a:ext>
            </a:extLst>
          </p:cNvPr>
          <p:cNvSpPr>
            <a:spLocks noChangeArrowheads="1"/>
          </p:cNvSpPr>
          <p:nvPr/>
        </p:nvSpPr>
        <p:spPr bwMode="auto">
          <a:xfrm>
            <a:off x="1000125" y="815365"/>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8" name="Rectangle 3">
            <a:extLst>
              <a:ext uri="{FF2B5EF4-FFF2-40B4-BE49-F238E27FC236}">
                <a16:creationId xmlns:a16="http://schemas.microsoft.com/office/drawing/2014/main" id="{97F08C45-3D15-45C1-A5A3-D1EB58DC91FE}"/>
              </a:ext>
            </a:extLst>
          </p:cNvPr>
          <p:cNvSpPr txBox="1">
            <a:spLocks noChangeArrowheads="1"/>
          </p:cNvSpPr>
          <p:nvPr/>
        </p:nvSpPr>
        <p:spPr>
          <a:xfrm>
            <a:off x="1008378" y="762001"/>
            <a:ext cx="9877336" cy="5166334"/>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990600" eaLnBrk="1" hangingPunct="1">
              <a:buNone/>
            </a:pPr>
            <a:endParaRPr lang="en-US" altLang="zh-CN" b="1" dirty="0"/>
          </a:p>
          <a:p>
            <a:pPr>
              <a:lnSpc>
                <a:spcPct val="130000"/>
              </a:lnSpc>
              <a:spcBef>
                <a:spcPts val="600"/>
              </a:spcBef>
              <a:buClr>
                <a:srgbClr val="0B61FF"/>
              </a:buClr>
              <a:buSzPct val="80000"/>
              <a:buFont typeface="Wingdings" panose="05000000000000000000" pitchFamily="2" charset="2"/>
              <a:buChar char="n"/>
            </a:pPr>
            <a:r>
              <a:rPr lang="en-US" altLang="zh-CN" sz="2400" b="1" dirty="0">
                <a:solidFill>
                  <a:schemeClr val="bg2">
                    <a:lumMod val="75000"/>
                  </a:schemeClr>
                </a:solidFill>
                <a:latin typeface="Trebuchet MS" panose="020B0603020202020204" pitchFamily="34" charset="0"/>
              </a:rPr>
              <a:t>7.1.1 Definition and Properties of Undirected Trees</a:t>
            </a:r>
          </a:p>
          <a:p>
            <a:pPr>
              <a:lnSpc>
                <a:spcPct val="130000"/>
              </a:lnSpc>
              <a:spcBef>
                <a:spcPts val="600"/>
              </a:spcBef>
              <a:buClr>
                <a:srgbClr val="0B61FF"/>
              </a:buClr>
              <a:buSzPct val="80000"/>
              <a:buFont typeface="Wingdings" panose="05000000000000000000" pitchFamily="2" charset="2"/>
              <a:buChar char="n"/>
            </a:pPr>
            <a:r>
              <a:rPr lang="en-US" altLang="zh-CN" sz="2400" b="1" dirty="0">
                <a:solidFill>
                  <a:srgbClr val="0B61FF"/>
                </a:solidFill>
                <a:latin typeface="Trebuchet MS" panose="020B0603020202020204" pitchFamily="34" charset="0"/>
              </a:rPr>
              <a:t>7.1.2 Spanning Trees</a:t>
            </a:r>
          </a:p>
        </p:txBody>
      </p:sp>
    </p:spTree>
    <p:extLst>
      <p:ext uri="{BB962C8B-B14F-4D97-AF65-F5344CB8AC3E}">
        <p14:creationId xmlns:p14="http://schemas.microsoft.com/office/powerpoint/2010/main" val="1894426457"/>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0" name="矩形 19"/>
              <p:cNvSpPr/>
              <p:nvPr/>
            </p:nvSpPr>
            <p:spPr>
              <a:xfrm>
                <a:off x="0" y="0"/>
                <a:ext cx="12192000" cy="762000"/>
              </a:xfrm>
              <a:prstGeom prst="rect">
                <a:avLst/>
              </a:prstGeom>
              <a:solidFill>
                <a:srgbClr val="002F7C"/>
              </a:solidFill>
            </p:spPr>
            <p:style>
              <a:lnRef idx="2">
                <a:schemeClr val="dk1">
                  <a:shade val="50000"/>
                </a:schemeClr>
              </a:lnRef>
              <a:fillRef idx="1">
                <a:schemeClr val="dk1"/>
              </a:fillRef>
              <a:effectRef idx="0">
                <a:schemeClr val="dk1"/>
              </a:effectRef>
              <a:fontRef idx="minor">
                <a:schemeClr val="lt1"/>
              </a:fontRef>
            </p:style>
            <p:txBody>
              <a:bodyPr rtlCol="0" anchor="ctr"/>
              <a:lstStyle/>
              <a:p>
                <a:pPr>
                  <a:lnSpc>
                    <a:spcPct val="110000"/>
                  </a:lnSpc>
                  <a:buClr>
                    <a:srgbClr val="0B61FF"/>
                  </a:buClr>
                  <a:buSzPct val="80000"/>
                </a:pPr>
                <a:r>
                  <a:rPr lang="zh-CN" altLang="en-US" sz="2000" b="1" dirty="0">
                    <a:latin typeface="Times New Roman" panose="02020603050405020304" pitchFamily="18" charset="0"/>
                    <a:ea typeface="宋体" panose="02010600030101010101" pitchFamily="2" charset="-122"/>
                    <a:cs typeface="Times New Roman" panose="02020603050405020304" pitchFamily="18" charset="0"/>
                  </a:rPr>
                  <a:t>                 </a:t>
                </a:r>
                <a:r>
                  <a:rPr lang="en-US" altLang="zh-CN" sz="2000" b="1" dirty="0">
                    <a:latin typeface="Trebuchet MS" panose="020B0603020202020204" pitchFamily="34" charset="0"/>
                  </a:rPr>
                  <a:t>7.1.2 Spanning Trees</a:t>
                </a:r>
              </a:p>
              <a:p>
                <a:pPr>
                  <a:lnSpc>
                    <a:spcPct val="110000"/>
                  </a:lnSpc>
                  <a:buClr>
                    <a:srgbClr val="0B61FF"/>
                  </a:buClr>
                  <a:buSzPct val="80000"/>
                </a:pPr>
                <a:r>
                  <a:rPr lang="en-US" altLang="zh-CN" sz="2400" b="1" dirty="0">
                    <a:latin typeface="Trebuchet MS" panose="020B0603020202020204" pitchFamily="34" charset="0"/>
                  </a:rPr>
                  <a:t>                 </a:t>
                </a:r>
                <a:r>
                  <a:rPr lang="en-US" altLang="zh-CN" sz="2400" b="1" dirty="0">
                    <a:solidFill>
                      <a:schemeClr val="accent2"/>
                    </a:solidFill>
                    <a:latin typeface="Trebuchet MS" panose="020B0603020202020204" pitchFamily="34" charset="0"/>
                    <a:ea typeface="Cambria Math" panose="02040503050406030204" pitchFamily="18" charset="0"/>
                    <a:cs typeface="Times New Roman" panose="02020603050405020304" pitchFamily="18" charset="0"/>
                  </a:rPr>
                  <a:t>⤷</a:t>
                </a:r>
                <a:r>
                  <a:rPr lang="en-US" altLang="zh-CN" sz="2400" b="1" dirty="0">
                    <a:latin typeface="Trebuchet MS" panose="020B0603020202020204" pitchFamily="34" charset="0"/>
                  </a:rPr>
                  <a:t> Spanning Tree T and Its Co-Tree </a:t>
                </a:r>
                <a14:m>
                  <m:oMath xmlns:m="http://schemas.openxmlformats.org/officeDocument/2006/math">
                    <m:acc>
                      <m:accPr>
                        <m:chr m:val="̅"/>
                        <m:ctrlPr>
                          <a:rPr lang="zh-CN" altLang="en-US" sz="2400" b="1" i="1">
                            <a:solidFill>
                              <a:srgbClr val="FF0000"/>
                            </a:solidFill>
                            <a:latin typeface="Cambria Math" panose="02040503050406030204" pitchFamily="18" charset="0"/>
                          </a:rPr>
                        </m:ctrlPr>
                      </m:accPr>
                      <m:e>
                        <m:r>
                          <m:rPr>
                            <m:nor/>
                          </m:rPr>
                          <a:rPr lang="en-US" altLang="zh-CN" sz="2400" b="1" i="1" dirty="0">
                            <a:solidFill>
                              <a:srgbClr val="FF0000"/>
                            </a:solidFill>
                            <a:latin typeface="Trebuchet MS" panose="020B0603020202020204" pitchFamily="34" charset="0"/>
                          </a:rPr>
                          <m:t>T</m:t>
                        </m:r>
                      </m:e>
                    </m:acc>
                  </m:oMath>
                </a14:m>
                <a:r>
                  <a:rPr lang="zh-CN" altLang="en-US" sz="2400" b="1" dirty="0">
                    <a:latin typeface="Trebuchet MS" panose="020B0603020202020204" pitchFamily="34" charset="0"/>
                  </a:rPr>
                  <a:t> </a:t>
                </a:r>
                <a:endParaRPr lang="en-US" altLang="zh-CN" sz="2400" b="1" dirty="0">
                  <a:latin typeface="Trebuchet MS" panose="020B0603020202020204" pitchFamily="34" charset="0"/>
                </a:endParaRPr>
              </a:p>
            </p:txBody>
          </p:sp>
        </mc:Choice>
        <mc:Fallback xmlns="">
          <p:sp>
            <p:nvSpPr>
              <p:cNvPr id="20" name="矩形 19"/>
              <p:cNvSpPr>
                <a:spLocks noRot="1" noChangeAspect="1" noMove="1" noResize="1" noEditPoints="1" noAdjustHandles="1" noChangeArrowheads="1" noChangeShapeType="1" noTextEdit="1"/>
              </p:cNvSpPr>
              <p:nvPr/>
            </p:nvSpPr>
            <p:spPr>
              <a:xfrm>
                <a:off x="0" y="0"/>
                <a:ext cx="12192000" cy="762000"/>
              </a:xfrm>
              <a:prstGeom prst="rect">
                <a:avLst/>
              </a:prstGeom>
              <a:blipFill>
                <a:blip r:embed="rId3"/>
                <a:stretch>
                  <a:fillRect t="-6299" b="-19685"/>
                </a:stretch>
              </a:blipFill>
            </p:spPr>
            <p:txBody>
              <a:bodyPr/>
              <a:lstStyle/>
              <a:p>
                <a:r>
                  <a:rPr lang="zh-CN" altLang="en-US">
                    <a:noFill/>
                  </a:rPr>
                  <a:t> </a:t>
                </a:r>
              </a:p>
            </p:txBody>
          </p:sp>
        </mc:Fallback>
      </mc:AlternateContent>
      <p:sp>
        <p:nvSpPr>
          <p:cNvPr id="13" name="矩形 12"/>
          <p:cNvSpPr/>
          <p:nvPr/>
        </p:nvSpPr>
        <p:spPr>
          <a:xfrm>
            <a:off x="824682" y="0"/>
            <a:ext cx="175443" cy="628650"/>
          </a:xfrm>
          <a:prstGeom prst="rect">
            <a:avLst/>
          </a:prstGeom>
          <a:solidFill>
            <a:srgbClr val="CFA57C"/>
          </a:solidFill>
          <a:ln cmpd="sng">
            <a:gradFill flip="none" rotWithShape="1">
              <a:gsLst>
                <a:gs pos="50000">
                  <a:schemeClr val="accent2">
                    <a:lumMod val="60000"/>
                    <a:lumOff val="40000"/>
                  </a:schemeClr>
                </a:gs>
                <a:gs pos="0">
                  <a:schemeClr val="accent2">
                    <a:lumMod val="20000"/>
                    <a:lumOff val="80000"/>
                  </a:schemeClr>
                </a:gs>
                <a:gs pos="95000">
                  <a:schemeClr val="accent2"/>
                </a:gs>
              </a:gsLst>
              <a:path path="circle">
                <a:fillToRect l="50000" t="-80000" r="50000" b="180000"/>
              </a:path>
              <a:tileRect/>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22" name="Picture 6" descr="D:\MBA工作\LOGO\同济经管LOGO反白.png"/>
          <p:cNvPicPr>
            <a:picLocks noChangeAspect="1" noChangeArrowheads="1"/>
          </p:cNvPicPr>
          <p:nvPr/>
        </p:nvPicPr>
        <p:blipFill>
          <a:blip r:embed="rId4" cstate="email">
            <a:extLst>
              <a:ext uri="{28A0092B-C50C-407E-A947-70E740481C1C}">
                <a14:useLocalDpi xmlns:a14="http://schemas.microsoft.com/office/drawing/2010/main" val="0"/>
              </a:ext>
            </a:extLst>
          </a:blip>
          <a:srcRect/>
          <a:stretch>
            <a:fillRect/>
          </a:stretch>
        </p:blipFill>
        <p:spPr bwMode="auto">
          <a:xfrm>
            <a:off x="10267423" y="165688"/>
            <a:ext cx="1386605" cy="462962"/>
          </a:xfrm>
          <a:prstGeom prst="rect">
            <a:avLst/>
          </a:prstGeom>
          <a:noFill/>
          <a:extLst>
            <a:ext uri="{909E8E84-426E-40DD-AFC4-6F175D3DCCD1}">
              <a14:hiddenFill xmlns:a14="http://schemas.microsoft.com/office/drawing/2010/main">
                <a:solidFill>
                  <a:srgbClr val="FFFFFF"/>
                </a:solidFill>
              </a14:hiddenFill>
            </a:ext>
          </a:extLst>
        </p:spPr>
      </p:pic>
      <p:pic>
        <p:nvPicPr>
          <p:cNvPr id="2" name="图片 1" descr="微信图片_20220318113523"/>
          <p:cNvPicPr>
            <a:picLocks noChangeAspect="1"/>
          </p:cNvPicPr>
          <p:nvPr userDrawn="1"/>
        </p:nvPicPr>
        <p:blipFill>
          <a:blip r:embed="rId5"/>
          <a:stretch>
            <a:fillRect/>
          </a:stretch>
        </p:blipFill>
        <p:spPr>
          <a:xfrm>
            <a:off x="9291877" y="6115050"/>
            <a:ext cx="2244725" cy="361315"/>
          </a:xfrm>
          <a:prstGeom prst="rect">
            <a:avLst/>
          </a:prstGeom>
        </p:spPr>
      </p:pic>
      <p:sp>
        <p:nvSpPr>
          <p:cNvPr id="18" name="Rectangle 2">
            <a:extLst>
              <a:ext uri="{FF2B5EF4-FFF2-40B4-BE49-F238E27FC236}">
                <a16:creationId xmlns:a16="http://schemas.microsoft.com/office/drawing/2014/main" id="{E217C615-1D49-4D07-B850-D36106D7AA9A}"/>
              </a:ext>
            </a:extLst>
          </p:cNvPr>
          <p:cNvSpPr>
            <a:spLocks noChangeArrowheads="1"/>
          </p:cNvSpPr>
          <p:nvPr/>
        </p:nvSpPr>
        <p:spPr bwMode="auto">
          <a:xfrm>
            <a:off x="1000125" y="815365"/>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mc:AlternateContent xmlns:mc="http://schemas.openxmlformats.org/markup-compatibility/2006" xmlns:a14="http://schemas.microsoft.com/office/drawing/2010/main">
        <mc:Choice Requires="a14">
          <p:sp>
            <p:nvSpPr>
              <p:cNvPr id="8" name="Rectangle 3">
                <a:extLst>
                  <a:ext uri="{FF2B5EF4-FFF2-40B4-BE49-F238E27FC236}">
                    <a16:creationId xmlns:a16="http://schemas.microsoft.com/office/drawing/2014/main" id="{97F08C45-3D15-45C1-A5A3-D1EB58DC91FE}"/>
                  </a:ext>
                </a:extLst>
              </p:cNvPr>
              <p:cNvSpPr txBox="1">
                <a:spLocks noChangeArrowheads="1"/>
              </p:cNvSpPr>
              <p:nvPr/>
            </p:nvSpPr>
            <p:spPr>
              <a:xfrm>
                <a:off x="824683" y="806450"/>
                <a:ext cx="10829346" cy="5788025"/>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20000"/>
                  </a:lnSpc>
                  <a:spcBef>
                    <a:spcPts val="300"/>
                  </a:spcBef>
                  <a:buClr>
                    <a:srgbClr val="0B61FF"/>
                  </a:buClr>
                  <a:buSzPct val="80000"/>
                  <a:buFont typeface="Wingdings" panose="05000000000000000000" pitchFamily="2" charset="2"/>
                  <a:buChar char="n"/>
                </a:pPr>
                <a:r>
                  <a:rPr lang="en-US" altLang="zh-CN" sz="2400" dirty="0">
                    <a:latin typeface="Trebuchet MS" panose="020B0603020202020204" pitchFamily="34" charset="0"/>
                  </a:rPr>
                  <a:t>Let </a:t>
                </a:r>
                <a:r>
                  <a:rPr lang="en-US" altLang="zh-CN" sz="2400" b="1" i="1" dirty="0">
                    <a:latin typeface="Trebuchet MS" panose="020B0603020202020204" pitchFamily="34" charset="0"/>
                  </a:rPr>
                  <a:t>G</a:t>
                </a:r>
                <a:r>
                  <a:rPr lang="en-US" altLang="zh-CN" sz="2400" dirty="0">
                    <a:latin typeface="Trebuchet MS" panose="020B0603020202020204" pitchFamily="34" charset="0"/>
                  </a:rPr>
                  <a:t> be an undirected connected graph.</a:t>
                </a:r>
              </a:p>
              <a:p>
                <a:pPr marL="450850" indent="-273050">
                  <a:lnSpc>
                    <a:spcPct val="120000"/>
                  </a:lnSpc>
                  <a:spcBef>
                    <a:spcPts val="300"/>
                  </a:spcBef>
                  <a:buClr>
                    <a:srgbClr val="0B61FF"/>
                  </a:buClr>
                  <a:buSzPct val="120000"/>
                  <a:buFont typeface="Arial" panose="020B0604020202020204" pitchFamily="34" charset="0"/>
                  <a:buChar char="•"/>
                </a:pPr>
                <a:r>
                  <a:rPr lang="en-US" altLang="zh-CN" sz="2400" dirty="0">
                    <a:latin typeface="Trebuchet MS" panose="020B0603020202020204" pitchFamily="34" charset="0"/>
                  </a:rPr>
                  <a:t>A </a:t>
                </a:r>
                <a:r>
                  <a:rPr lang="en-US" altLang="zh-CN" sz="2400" b="1" i="1" dirty="0">
                    <a:solidFill>
                      <a:srgbClr val="0B61FF"/>
                    </a:solidFill>
                    <a:latin typeface="Trebuchet MS" panose="020B0603020202020204" pitchFamily="34" charset="0"/>
                  </a:rPr>
                  <a:t>spanning tree T </a:t>
                </a:r>
                <a:r>
                  <a:rPr lang="en-US" altLang="zh-CN" sz="2400" dirty="0">
                    <a:latin typeface="Trebuchet MS" panose="020B0603020202020204" pitchFamily="34" charset="0"/>
                  </a:rPr>
                  <a:t>of </a:t>
                </a:r>
                <a:r>
                  <a:rPr lang="en-US" altLang="zh-CN" sz="2400" b="1" i="1" dirty="0">
                    <a:latin typeface="Trebuchet MS" panose="020B0603020202020204" pitchFamily="34" charset="0"/>
                  </a:rPr>
                  <a:t>G</a:t>
                </a:r>
                <a:r>
                  <a:rPr lang="en-US" altLang="zh-CN" sz="2400" dirty="0">
                    <a:latin typeface="Trebuchet MS" panose="020B0603020202020204" pitchFamily="34" charset="0"/>
                  </a:rPr>
                  <a:t>: a spanning subgraph of </a:t>
                </a:r>
                <a:r>
                  <a:rPr lang="en-US" altLang="zh-CN" sz="2400" b="1" i="1" dirty="0">
                    <a:latin typeface="Trebuchet MS" panose="020B0603020202020204" pitchFamily="34" charset="0"/>
                  </a:rPr>
                  <a:t>G</a:t>
                </a:r>
                <a:r>
                  <a:rPr lang="en-US" altLang="zh-CN" sz="2400" dirty="0">
                    <a:latin typeface="Trebuchet MS" panose="020B0603020202020204" pitchFamily="34" charset="0"/>
                  </a:rPr>
                  <a:t> that is also a tree.</a:t>
                </a:r>
              </a:p>
              <a:p>
                <a:pPr marL="450850" indent="-273050">
                  <a:lnSpc>
                    <a:spcPct val="120000"/>
                  </a:lnSpc>
                  <a:spcBef>
                    <a:spcPts val="300"/>
                  </a:spcBef>
                  <a:buClr>
                    <a:srgbClr val="0B61FF"/>
                  </a:buClr>
                  <a:buSzPct val="120000"/>
                  <a:buFont typeface="Arial" panose="020B0604020202020204" pitchFamily="34" charset="0"/>
                  <a:buChar char="•"/>
                </a:pPr>
                <a:r>
                  <a:rPr lang="en-US" altLang="zh-CN" sz="2400" dirty="0">
                    <a:latin typeface="Trebuchet MS" panose="020B0603020202020204" pitchFamily="34" charset="0"/>
                  </a:rPr>
                  <a:t>A </a:t>
                </a:r>
                <a:r>
                  <a:rPr lang="en-US" altLang="zh-CN" sz="2400" b="1" i="1" dirty="0">
                    <a:solidFill>
                      <a:srgbClr val="0B61FF"/>
                    </a:solidFill>
                    <a:latin typeface="Trebuchet MS" panose="020B0603020202020204" pitchFamily="34" charset="0"/>
                  </a:rPr>
                  <a:t>branch</a:t>
                </a:r>
                <a:r>
                  <a:rPr lang="en-US" altLang="zh-CN" sz="2400" dirty="0">
                    <a:latin typeface="Trebuchet MS" panose="020B0603020202020204" pitchFamily="34" charset="0"/>
                  </a:rPr>
                  <a:t> of the spanning tree </a:t>
                </a:r>
                <a:r>
                  <a:rPr lang="en-US" altLang="zh-CN" sz="2400" b="1" i="1" dirty="0">
                    <a:latin typeface="Trebuchet MS" panose="020B0603020202020204" pitchFamily="34" charset="0"/>
                  </a:rPr>
                  <a:t>T</a:t>
                </a:r>
                <a:r>
                  <a:rPr lang="en-US" altLang="zh-CN" sz="2400" dirty="0">
                    <a:latin typeface="Trebuchet MS" panose="020B0603020202020204" pitchFamily="34" charset="0"/>
                  </a:rPr>
                  <a:t>: an edge of </a:t>
                </a:r>
                <a:r>
                  <a:rPr lang="en-US" altLang="zh-CN" sz="2400" b="1" i="1" dirty="0">
                    <a:latin typeface="Trebuchet MS" panose="020B0603020202020204" pitchFamily="34" charset="0"/>
                  </a:rPr>
                  <a:t>G</a:t>
                </a:r>
                <a:r>
                  <a:rPr lang="en-US" altLang="zh-CN" sz="2400" dirty="0">
                    <a:latin typeface="Trebuchet MS" panose="020B0603020202020204" pitchFamily="34" charset="0"/>
                  </a:rPr>
                  <a:t> that belongs to </a:t>
                </a:r>
                <a:r>
                  <a:rPr lang="en-US" altLang="zh-CN" sz="2400" b="1" i="1" dirty="0">
                    <a:latin typeface="Trebuchet MS" panose="020B0603020202020204" pitchFamily="34" charset="0"/>
                  </a:rPr>
                  <a:t>T</a:t>
                </a:r>
                <a:r>
                  <a:rPr lang="en-US" altLang="zh-CN" sz="2400" dirty="0">
                    <a:latin typeface="Trebuchet MS" panose="020B0603020202020204" pitchFamily="34" charset="0"/>
                  </a:rPr>
                  <a:t>.</a:t>
                </a:r>
              </a:p>
              <a:p>
                <a:pPr marL="450850" indent="-273050">
                  <a:lnSpc>
                    <a:spcPct val="120000"/>
                  </a:lnSpc>
                  <a:spcBef>
                    <a:spcPts val="300"/>
                  </a:spcBef>
                  <a:buClr>
                    <a:srgbClr val="0B61FF"/>
                  </a:buClr>
                  <a:buSzPct val="120000"/>
                  <a:buFont typeface="Arial" panose="020B0604020202020204" pitchFamily="34" charset="0"/>
                  <a:buChar char="•"/>
                </a:pPr>
                <a:r>
                  <a:rPr lang="en-US" altLang="zh-CN" sz="2400" dirty="0">
                    <a:latin typeface="Trebuchet MS" panose="020B0603020202020204" pitchFamily="34" charset="0"/>
                  </a:rPr>
                  <a:t>A </a:t>
                </a:r>
                <a:r>
                  <a:rPr lang="en-US" altLang="zh-CN" sz="2400" b="1" i="1" dirty="0">
                    <a:solidFill>
                      <a:srgbClr val="0B61FF"/>
                    </a:solidFill>
                    <a:latin typeface="Trebuchet MS" panose="020B0603020202020204" pitchFamily="34" charset="0"/>
                  </a:rPr>
                  <a:t>chord</a:t>
                </a:r>
                <a:r>
                  <a:rPr lang="en-US" altLang="zh-CN" sz="2400" dirty="0">
                    <a:latin typeface="Trebuchet MS" panose="020B0603020202020204" pitchFamily="34" charset="0"/>
                  </a:rPr>
                  <a:t> of the spanning tree </a:t>
                </a:r>
                <a:r>
                  <a:rPr lang="en-US" altLang="zh-CN" sz="2400" b="1" i="1" dirty="0">
                    <a:latin typeface="Trebuchet MS" panose="020B0603020202020204" pitchFamily="34" charset="0"/>
                  </a:rPr>
                  <a:t>T</a:t>
                </a:r>
                <a:r>
                  <a:rPr lang="en-US" altLang="zh-CN" sz="2400" dirty="0">
                    <a:latin typeface="Trebuchet MS" panose="020B0603020202020204" pitchFamily="34" charset="0"/>
                  </a:rPr>
                  <a:t>: an edge of </a:t>
                </a:r>
                <a:r>
                  <a:rPr lang="en-US" altLang="zh-CN" sz="2400" b="1" i="1" dirty="0">
                    <a:latin typeface="Trebuchet MS" panose="020B0603020202020204" pitchFamily="34" charset="0"/>
                  </a:rPr>
                  <a:t>G</a:t>
                </a:r>
                <a:r>
                  <a:rPr lang="en-US" altLang="zh-CN" sz="2400" dirty="0">
                    <a:latin typeface="Trebuchet MS" panose="020B0603020202020204" pitchFamily="34" charset="0"/>
                  </a:rPr>
                  <a:t> that does </a:t>
                </a:r>
                <a:r>
                  <a:rPr lang="en-US" altLang="zh-CN" sz="2400" b="1" dirty="0">
                    <a:latin typeface="Trebuchet MS" panose="020B0603020202020204" pitchFamily="34" charset="0"/>
                  </a:rPr>
                  <a:t>not</a:t>
                </a:r>
                <a:r>
                  <a:rPr lang="en-US" altLang="zh-CN" sz="2400" dirty="0">
                    <a:latin typeface="Trebuchet MS" panose="020B0603020202020204" pitchFamily="34" charset="0"/>
                  </a:rPr>
                  <a:t> belong to </a:t>
                </a:r>
                <a:r>
                  <a:rPr lang="en-US" altLang="zh-CN" sz="2400" b="1" i="1" dirty="0">
                    <a:latin typeface="Trebuchet MS" panose="020B0603020202020204" pitchFamily="34" charset="0"/>
                  </a:rPr>
                  <a:t>T</a:t>
                </a:r>
                <a:r>
                  <a:rPr lang="en-US" altLang="zh-CN" sz="2400" dirty="0">
                    <a:latin typeface="Trebuchet MS" panose="020B0603020202020204" pitchFamily="34" charset="0"/>
                  </a:rPr>
                  <a:t>.</a:t>
                </a:r>
              </a:p>
              <a:p>
                <a:pPr marL="450850" indent="-273050">
                  <a:lnSpc>
                    <a:spcPct val="120000"/>
                  </a:lnSpc>
                  <a:spcBef>
                    <a:spcPts val="300"/>
                  </a:spcBef>
                  <a:buClr>
                    <a:srgbClr val="0B61FF"/>
                  </a:buClr>
                  <a:buSzPct val="120000"/>
                  <a:buFont typeface="Arial" panose="020B0604020202020204" pitchFamily="34" charset="0"/>
                  <a:buChar char="•"/>
                </a:pPr>
                <a:r>
                  <a:rPr lang="en-US" altLang="zh-CN" sz="2400" dirty="0">
                    <a:latin typeface="Trebuchet MS" panose="020B0603020202020204" pitchFamily="34" charset="0"/>
                  </a:rPr>
                  <a:t>The </a:t>
                </a:r>
                <a:r>
                  <a:rPr lang="en-US" altLang="zh-CN" sz="2400" b="1" i="1" dirty="0">
                    <a:solidFill>
                      <a:srgbClr val="0B61FF"/>
                    </a:solidFill>
                    <a:latin typeface="Trebuchet MS" panose="020B0603020202020204" pitchFamily="34" charset="0"/>
                  </a:rPr>
                  <a:t>co-tree</a:t>
                </a:r>
                <a:r>
                  <a:rPr lang="en-US" altLang="zh-CN" sz="2400" b="1" dirty="0">
                    <a:latin typeface="Trebuchet MS" panose="020B0603020202020204" pitchFamily="34" charset="0"/>
                  </a:rPr>
                  <a:t> </a:t>
                </a:r>
                <a:r>
                  <a:rPr lang="en-US" altLang="zh-CN" sz="2400" dirty="0">
                    <a:latin typeface="Trebuchet MS" panose="020B0603020202020204" pitchFamily="34" charset="0"/>
                  </a:rPr>
                  <a:t>of the spanning tree </a:t>
                </a:r>
                <a:r>
                  <a:rPr lang="en-US" altLang="zh-CN" sz="2400" b="1" i="1" dirty="0">
                    <a:latin typeface="Trebuchet MS" panose="020B0603020202020204" pitchFamily="34" charset="0"/>
                  </a:rPr>
                  <a:t>T</a:t>
                </a:r>
                <a:r>
                  <a:rPr lang="en-US" altLang="zh-CN" sz="2400" dirty="0">
                    <a:latin typeface="Trebuchet MS" panose="020B0603020202020204" pitchFamily="34" charset="0"/>
                  </a:rPr>
                  <a:t>: the subgraph induced by the set of all chords.</a:t>
                </a:r>
              </a:p>
              <a:p>
                <a:pPr>
                  <a:lnSpc>
                    <a:spcPct val="120000"/>
                  </a:lnSpc>
                  <a:spcBef>
                    <a:spcPts val="300"/>
                  </a:spcBef>
                  <a:buClr>
                    <a:srgbClr val="0B61FF"/>
                  </a:buClr>
                  <a:buSzPct val="80000"/>
                  <a:buFont typeface="Wingdings" panose="05000000000000000000" pitchFamily="2" charset="2"/>
                  <a:buChar char="n"/>
                </a:pPr>
                <a:r>
                  <a:rPr lang="en-US" altLang="zh-CN" sz="2400" b="1" dirty="0">
                    <a:latin typeface="Trebuchet MS" panose="020B0603020202020204" pitchFamily="34" charset="0"/>
                  </a:rPr>
                  <a:t>Note:</a:t>
                </a:r>
                <a:r>
                  <a:rPr lang="en-US" altLang="zh-CN" sz="2400" dirty="0">
                    <a:latin typeface="Trebuchet MS" panose="020B0603020202020204" pitchFamily="34" charset="0"/>
                  </a:rPr>
                  <a:t> The co-tree </a:t>
                </a:r>
                <a14:m>
                  <m:oMath xmlns:m="http://schemas.openxmlformats.org/officeDocument/2006/math">
                    <m:acc>
                      <m:accPr>
                        <m:chr m:val="̅"/>
                        <m:ctrlPr>
                          <a:rPr lang="zh-CN" altLang="en-US" sz="2400" b="1" i="1" smtClean="0">
                            <a:solidFill>
                              <a:srgbClr val="FF0000"/>
                            </a:solidFill>
                            <a:latin typeface="Cambria Math" panose="02040503050406030204" pitchFamily="18" charset="0"/>
                          </a:rPr>
                        </m:ctrlPr>
                      </m:accPr>
                      <m:e>
                        <m:r>
                          <m:rPr>
                            <m:nor/>
                          </m:rPr>
                          <a:rPr lang="en-US" altLang="zh-CN" sz="2400" b="1" i="1" dirty="0">
                            <a:solidFill>
                              <a:srgbClr val="FF0000"/>
                            </a:solidFill>
                            <a:latin typeface="Trebuchet MS" panose="020B0603020202020204" pitchFamily="34" charset="0"/>
                          </a:rPr>
                          <m:t>T</m:t>
                        </m:r>
                      </m:e>
                    </m:acc>
                  </m:oMath>
                </a14:m>
                <a:r>
                  <a:rPr lang="zh-CN" altLang="en-US" sz="2400" b="1" dirty="0">
                    <a:latin typeface="Trebuchet MS" panose="020B0603020202020204" pitchFamily="34" charset="0"/>
                  </a:rPr>
                  <a:t> </a:t>
                </a:r>
                <a:r>
                  <a:rPr lang="en-US" altLang="zh-CN" sz="2400" dirty="0">
                    <a:latin typeface="Trebuchet MS" panose="020B0603020202020204" pitchFamily="34" charset="0"/>
                  </a:rPr>
                  <a:t>is not necessarily connected, and it may contain cycles.</a:t>
                </a:r>
              </a:p>
              <a:p>
                <a:pPr>
                  <a:lnSpc>
                    <a:spcPct val="120000"/>
                  </a:lnSpc>
                  <a:spcBef>
                    <a:spcPts val="300"/>
                  </a:spcBef>
                  <a:buClr>
                    <a:srgbClr val="0B61FF"/>
                  </a:buClr>
                  <a:buSzPct val="80000"/>
                  <a:buFont typeface="Wingdings" panose="05000000000000000000" pitchFamily="2" charset="2"/>
                  <a:buChar char="n"/>
                </a:pPr>
                <a:r>
                  <a:rPr lang="en-US" altLang="zh-CN" sz="2400" b="1" dirty="0"/>
                  <a:t>Example:</a:t>
                </a:r>
                <a:r>
                  <a:rPr lang="en-US" altLang="zh-CN" sz="2400" dirty="0"/>
                  <a:t> The black edges form a spanning tree, and the red edges form the co-tree.</a:t>
                </a:r>
                <a:endParaRPr lang="en-US" altLang="zh-CN" sz="2400" dirty="0">
                  <a:latin typeface="Trebuchet MS" panose="020B0603020202020204" pitchFamily="34" charset="0"/>
                </a:endParaRPr>
              </a:p>
            </p:txBody>
          </p:sp>
        </mc:Choice>
        <mc:Fallback xmlns="">
          <p:sp>
            <p:nvSpPr>
              <p:cNvPr id="8" name="Rectangle 3">
                <a:extLst>
                  <a:ext uri="{FF2B5EF4-FFF2-40B4-BE49-F238E27FC236}">
                    <a16:creationId xmlns:a16="http://schemas.microsoft.com/office/drawing/2014/main" id="{97F08C45-3D15-45C1-A5A3-D1EB58DC91FE}"/>
                  </a:ext>
                </a:extLst>
              </p:cNvPr>
              <p:cNvSpPr txBox="1">
                <a:spLocks noRot="1" noChangeAspect="1" noMove="1" noResize="1" noEditPoints="1" noAdjustHandles="1" noChangeArrowheads="1" noChangeShapeType="1" noTextEdit="1"/>
              </p:cNvSpPr>
              <p:nvPr/>
            </p:nvSpPr>
            <p:spPr>
              <a:xfrm>
                <a:off x="824683" y="806450"/>
                <a:ext cx="10829346" cy="5788025"/>
              </a:xfrm>
              <a:prstGeom prst="rect">
                <a:avLst/>
              </a:prstGeom>
              <a:blipFill>
                <a:blip r:embed="rId6"/>
                <a:stretch>
                  <a:fillRect l="-394" t="-316" r="-619"/>
                </a:stretch>
              </a:blipFill>
            </p:spPr>
            <p:txBody>
              <a:bodyPr/>
              <a:lstStyle/>
              <a:p>
                <a:r>
                  <a:rPr lang="zh-CN" altLang="en-US">
                    <a:noFill/>
                  </a:rPr>
                  <a:t> </a:t>
                </a:r>
              </a:p>
            </p:txBody>
          </p:sp>
        </mc:Fallback>
      </mc:AlternateContent>
      <p:pic>
        <p:nvPicPr>
          <p:cNvPr id="15" name="Picture 6" descr="16-4">
            <a:extLst>
              <a:ext uri="{FF2B5EF4-FFF2-40B4-BE49-F238E27FC236}">
                <a16:creationId xmlns:a16="http://schemas.microsoft.com/office/drawing/2014/main" id="{26398D40-CF61-4B04-92DF-BB711F9C051A}"/>
              </a:ext>
            </a:extLst>
          </p:cNvPr>
          <p:cNvPicPr>
            <a:picLocks noChangeAspect="1" noChangeArrowheads="1"/>
          </p:cNvPicPr>
          <p:nvPr/>
        </p:nvPicPr>
        <p:blipFill>
          <a:blip r:embed="rId7">
            <a:extLst>
              <a:ext uri="{28A0092B-C50C-407E-A947-70E740481C1C}">
                <a14:useLocalDpi xmlns:a14="http://schemas.microsoft.com/office/drawing/2010/main" val="0"/>
              </a:ext>
            </a:extLst>
          </a:blip>
          <a:srcRect t="15027" b="42075"/>
          <a:stretch>
            <a:fillRect/>
          </a:stretch>
        </p:blipFill>
        <p:spPr bwMode="auto">
          <a:xfrm>
            <a:off x="2988812" y="5106956"/>
            <a:ext cx="3048000" cy="1479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019143453"/>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8">
                                            <p:txEl>
                                              <p:pRg st="2" end="2"/>
                                            </p:txEl>
                                          </p:spTgt>
                                        </p:tgtEl>
                                        <p:attrNameLst>
                                          <p:attrName>style.visibility</p:attrName>
                                        </p:attrNameLst>
                                      </p:cBhvr>
                                      <p:to>
                                        <p:strVal val="visible"/>
                                      </p:to>
                                    </p:set>
                                    <p:animEffect transition="in" filter="fade">
                                      <p:cBhvr>
                                        <p:cTn id="7" dur="1000"/>
                                        <p:tgtEl>
                                          <p:spTgt spid="8">
                                            <p:txEl>
                                              <p:pRg st="2" end="2"/>
                                            </p:txEl>
                                          </p:spTgt>
                                        </p:tgtEl>
                                      </p:cBhvr>
                                    </p:animEffect>
                                    <p:anim calcmode="lin" valueType="num">
                                      <p:cBhvr>
                                        <p:cTn id="8" dur="1000" fill="hold"/>
                                        <p:tgtEl>
                                          <p:spTgt spid="8">
                                            <p:txEl>
                                              <p:pRg st="2" end="2"/>
                                            </p:txEl>
                                          </p:spTgt>
                                        </p:tgtEl>
                                        <p:attrNameLst>
                                          <p:attrName>ppt_x</p:attrName>
                                        </p:attrNameLst>
                                      </p:cBhvr>
                                      <p:tavLst>
                                        <p:tav tm="0">
                                          <p:val>
                                            <p:strVal val="#ppt_x"/>
                                          </p:val>
                                        </p:tav>
                                        <p:tav tm="100000">
                                          <p:val>
                                            <p:strVal val="#ppt_x"/>
                                          </p:val>
                                        </p:tav>
                                      </p:tavLst>
                                    </p:anim>
                                    <p:anim calcmode="lin" valueType="num">
                                      <p:cBhvr>
                                        <p:cTn id="9" dur="1000" fill="hold"/>
                                        <p:tgtEl>
                                          <p:spTgt spid="8">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8">
                                            <p:txEl>
                                              <p:pRg st="3" end="3"/>
                                            </p:txEl>
                                          </p:spTgt>
                                        </p:tgtEl>
                                        <p:attrNameLst>
                                          <p:attrName>style.visibility</p:attrName>
                                        </p:attrNameLst>
                                      </p:cBhvr>
                                      <p:to>
                                        <p:strVal val="visible"/>
                                      </p:to>
                                    </p:set>
                                    <p:animEffect transition="in" filter="fade">
                                      <p:cBhvr>
                                        <p:cTn id="14" dur="1000"/>
                                        <p:tgtEl>
                                          <p:spTgt spid="8">
                                            <p:txEl>
                                              <p:pRg st="3" end="3"/>
                                            </p:txEl>
                                          </p:spTgt>
                                        </p:tgtEl>
                                      </p:cBhvr>
                                    </p:animEffect>
                                    <p:anim calcmode="lin" valueType="num">
                                      <p:cBhvr>
                                        <p:cTn id="15" dur="1000" fill="hold"/>
                                        <p:tgtEl>
                                          <p:spTgt spid="8">
                                            <p:txEl>
                                              <p:pRg st="3" end="3"/>
                                            </p:txEl>
                                          </p:spTgt>
                                        </p:tgtEl>
                                        <p:attrNameLst>
                                          <p:attrName>ppt_x</p:attrName>
                                        </p:attrNameLst>
                                      </p:cBhvr>
                                      <p:tavLst>
                                        <p:tav tm="0">
                                          <p:val>
                                            <p:strVal val="#ppt_x"/>
                                          </p:val>
                                        </p:tav>
                                        <p:tav tm="100000">
                                          <p:val>
                                            <p:strVal val="#ppt_x"/>
                                          </p:val>
                                        </p:tav>
                                      </p:tavLst>
                                    </p:anim>
                                    <p:anim calcmode="lin" valueType="num">
                                      <p:cBhvr>
                                        <p:cTn id="16" dur="1000" fill="hold"/>
                                        <p:tgtEl>
                                          <p:spTgt spid="8">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nodeType="clickEffect">
                                  <p:stCondLst>
                                    <p:cond delay="0"/>
                                  </p:stCondLst>
                                  <p:childTnLst>
                                    <p:set>
                                      <p:cBhvr>
                                        <p:cTn id="20" dur="1" fill="hold">
                                          <p:stCondLst>
                                            <p:cond delay="0"/>
                                          </p:stCondLst>
                                        </p:cTn>
                                        <p:tgtEl>
                                          <p:spTgt spid="8">
                                            <p:txEl>
                                              <p:pRg st="4" end="4"/>
                                            </p:txEl>
                                          </p:spTgt>
                                        </p:tgtEl>
                                        <p:attrNameLst>
                                          <p:attrName>style.visibility</p:attrName>
                                        </p:attrNameLst>
                                      </p:cBhvr>
                                      <p:to>
                                        <p:strVal val="visible"/>
                                      </p:to>
                                    </p:set>
                                    <p:animEffect transition="in" filter="fade">
                                      <p:cBhvr>
                                        <p:cTn id="21" dur="1000"/>
                                        <p:tgtEl>
                                          <p:spTgt spid="8">
                                            <p:txEl>
                                              <p:pRg st="4" end="4"/>
                                            </p:txEl>
                                          </p:spTgt>
                                        </p:tgtEl>
                                      </p:cBhvr>
                                    </p:animEffect>
                                    <p:anim calcmode="lin" valueType="num">
                                      <p:cBhvr>
                                        <p:cTn id="22" dur="1000" fill="hold"/>
                                        <p:tgtEl>
                                          <p:spTgt spid="8">
                                            <p:txEl>
                                              <p:pRg st="4" end="4"/>
                                            </p:txEl>
                                          </p:spTgt>
                                        </p:tgtEl>
                                        <p:attrNameLst>
                                          <p:attrName>ppt_x</p:attrName>
                                        </p:attrNameLst>
                                      </p:cBhvr>
                                      <p:tavLst>
                                        <p:tav tm="0">
                                          <p:val>
                                            <p:strVal val="#ppt_x"/>
                                          </p:val>
                                        </p:tav>
                                        <p:tav tm="100000">
                                          <p:val>
                                            <p:strVal val="#ppt_x"/>
                                          </p:val>
                                        </p:tav>
                                      </p:tavLst>
                                    </p:anim>
                                    <p:anim calcmode="lin" valueType="num">
                                      <p:cBhvr>
                                        <p:cTn id="23" dur="1000" fill="hold"/>
                                        <p:tgtEl>
                                          <p:spTgt spid="8">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nodeType="clickEffect">
                                  <p:stCondLst>
                                    <p:cond delay="0"/>
                                  </p:stCondLst>
                                  <p:childTnLst>
                                    <p:set>
                                      <p:cBhvr>
                                        <p:cTn id="27" dur="1" fill="hold">
                                          <p:stCondLst>
                                            <p:cond delay="0"/>
                                          </p:stCondLst>
                                        </p:cTn>
                                        <p:tgtEl>
                                          <p:spTgt spid="8">
                                            <p:txEl>
                                              <p:pRg st="5" end="5"/>
                                            </p:txEl>
                                          </p:spTgt>
                                        </p:tgtEl>
                                        <p:attrNameLst>
                                          <p:attrName>style.visibility</p:attrName>
                                        </p:attrNameLst>
                                      </p:cBhvr>
                                      <p:to>
                                        <p:strVal val="visible"/>
                                      </p:to>
                                    </p:set>
                                    <p:animEffect transition="in" filter="fade">
                                      <p:cBhvr>
                                        <p:cTn id="28" dur="1000"/>
                                        <p:tgtEl>
                                          <p:spTgt spid="8">
                                            <p:txEl>
                                              <p:pRg st="5" end="5"/>
                                            </p:txEl>
                                          </p:spTgt>
                                        </p:tgtEl>
                                      </p:cBhvr>
                                    </p:animEffect>
                                    <p:anim calcmode="lin" valueType="num">
                                      <p:cBhvr>
                                        <p:cTn id="29" dur="1000" fill="hold"/>
                                        <p:tgtEl>
                                          <p:spTgt spid="8">
                                            <p:txEl>
                                              <p:pRg st="5" end="5"/>
                                            </p:txEl>
                                          </p:spTgt>
                                        </p:tgtEl>
                                        <p:attrNameLst>
                                          <p:attrName>ppt_x</p:attrName>
                                        </p:attrNameLst>
                                      </p:cBhvr>
                                      <p:tavLst>
                                        <p:tav tm="0">
                                          <p:val>
                                            <p:strVal val="#ppt_x"/>
                                          </p:val>
                                        </p:tav>
                                        <p:tav tm="100000">
                                          <p:val>
                                            <p:strVal val="#ppt_x"/>
                                          </p:val>
                                        </p:tav>
                                      </p:tavLst>
                                    </p:anim>
                                    <p:anim calcmode="lin" valueType="num">
                                      <p:cBhvr>
                                        <p:cTn id="30" dur="1000" fill="hold"/>
                                        <p:tgtEl>
                                          <p:spTgt spid="8">
                                            <p:txEl>
                                              <p:pRg st="5" end="5"/>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nodeType="clickEffect">
                                  <p:stCondLst>
                                    <p:cond delay="0"/>
                                  </p:stCondLst>
                                  <p:childTnLst>
                                    <p:set>
                                      <p:cBhvr>
                                        <p:cTn id="34" dur="1" fill="hold">
                                          <p:stCondLst>
                                            <p:cond delay="0"/>
                                          </p:stCondLst>
                                        </p:cTn>
                                        <p:tgtEl>
                                          <p:spTgt spid="8">
                                            <p:txEl>
                                              <p:pRg st="6" end="6"/>
                                            </p:txEl>
                                          </p:spTgt>
                                        </p:tgtEl>
                                        <p:attrNameLst>
                                          <p:attrName>style.visibility</p:attrName>
                                        </p:attrNameLst>
                                      </p:cBhvr>
                                      <p:to>
                                        <p:strVal val="visible"/>
                                      </p:to>
                                    </p:set>
                                    <p:animEffect transition="in" filter="fade">
                                      <p:cBhvr>
                                        <p:cTn id="35" dur="1000"/>
                                        <p:tgtEl>
                                          <p:spTgt spid="8">
                                            <p:txEl>
                                              <p:pRg st="6" end="6"/>
                                            </p:txEl>
                                          </p:spTgt>
                                        </p:tgtEl>
                                      </p:cBhvr>
                                    </p:animEffect>
                                    <p:anim calcmode="lin" valueType="num">
                                      <p:cBhvr>
                                        <p:cTn id="36" dur="1000" fill="hold"/>
                                        <p:tgtEl>
                                          <p:spTgt spid="8">
                                            <p:txEl>
                                              <p:pRg st="6" end="6"/>
                                            </p:txEl>
                                          </p:spTgt>
                                        </p:tgtEl>
                                        <p:attrNameLst>
                                          <p:attrName>ppt_x</p:attrName>
                                        </p:attrNameLst>
                                      </p:cBhvr>
                                      <p:tavLst>
                                        <p:tav tm="0">
                                          <p:val>
                                            <p:strVal val="#ppt_x"/>
                                          </p:val>
                                        </p:tav>
                                        <p:tav tm="100000">
                                          <p:val>
                                            <p:strVal val="#ppt_x"/>
                                          </p:val>
                                        </p:tav>
                                      </p:tavLst>
                                    </p:anim>
                                    <p:anim calcmode="lin" valueType="num">
                                      <p:cBhvr>
                                        <p:cTn id="37" dur="1000" fill="hold"/>
                                        <p:tgtEl>
                                          <p:spTgt spid="8">
                                            <p:txEl>
                                              <p:pRg st="6" end="6"/>
                                            </p:txEl>
                                          </p:spTgt>
                                        </p:tgtEl>
                                        <p:attrNameLst>
                                          <p:attrName>ppt_y</p:attrName>
                                        </p:attrNameLst>
                                      </p:cBhvr>
                                      <p:tavLst>
                                        <p:tav tm="0">
                                          <p:val>
                                            <p:strVal val="#ppt_y+.1"/>
                                          </p:val>
                                        </p:tav>
                                        <p:tav tm="100000">
                                          <p:val>
                                            <p:strVal val="#ppt_y"/>
                                          </p:val>
                                        </p:tav>
                                      </p:tavLst>
                                    </p:anim>
                                  </p:childTnLst>
                                </p:cTn>
                              </p:par>
                              <p:par>
                                <p:cTn id="38" presetID="42" presetClass="entr" presetSubtype="0" fill="hold" nodeType="withEffect">
                                  <p:stCondLst>
                                    <p:cond delay="0"/>
                                  </p:stCondLst>
                                  <p:childTnLst>
                                    <p:set>
                                      <p:cBhvr>
                                        <p:cTn id="39" dur="1" fill="hold">
                                          <p:stCondLst>
                                            <p:cond delay="0"/>
                                          </p:stCondLst>
                                        </p:cTn>
                                        <p:tgtEl>
                                          <p:spTgt spid="15"/>
                                        </p:tgtEl>
                                        <p:attrNameLst>
                                          <p:attrName>style.visibility</p:attrName>
                                        </p:attrNameLst>
                                      </p:cBhvr>
                                      <p:to>
                                        <p:strVal val="visible"/>
                                      </p:to>
                                    </p:set>
                                    <p:animEffect transition="in" filter="fade">
                                      <p:cBhvr>
                                        <p:cTn id="40" dur="1000"/>
                                        <p:tgtEl>
                                          <p:spTgt spid="15"/>
                                        </p:tgtEl>
                                      </p:cBhvr>
                                    </p:animEffect>
                                    <p:anim calcmode="lin" valueType="num">
                                      <p:cBhvr>
                                        <p:cTn id="41" dur="1000" fill="hold"/>
                                        <p:tgtEl>
                                          <p:spTgt spid="15"/>
                                        </p:tgtEl>
                                        <p:attrNameLst>
                                          <p:attrName>ppt_x</p:attrName>
                                        </p:attrNameLst>
                                      </p:cBhvr>
                                      <p:tavLst>
                                        <p:tav tm="0">
                                          <p:val>
                                            <p:strVal val="#ppt_x"/>
                                          </p:val>
                                        </p:tav>
                                        <p:tav tm="100000">
                                          <p:val>
                                            <p:strVal val="#ppt_x"/>
                                          </p:val>
                                        </p:tav>
                                      </p:tavLst>
                                    </p:anim>
                                    <p:anim calcmode="lin" valueType="num">
                                      <p:cBhvr>
                                        <p:cTn id="42" dur="1000" fill="hold"/>
                                        <p:tgtEl>
                                          <p:spTgt spid="15"/>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0" y="0"/>
            <a:ext cx="12192000" cy="762000"/>
          </a:xfrm>
          <a:prstGeom prst="rect">
            <a:avLst/>
          </a:prstGeom>
          <a:solidFill>
            <a:srgbClr val="002F7C"/>
          </a:solidFill>
        </p:spPr>
        <p:style>
          <a:lnRef idx="2">
            <a:schemeClr val="dk1">
              <a:shade val="50000"/>
            </a:schemeClr>
          </a:lnRef>
          <a:fillRef idx="1">
            <a:schemeClr val="dk1"/>
          </a:fillRef>
          <a:effectRef idx="0">
            <a:schemeClr val="dk1"/>
          </a:effectRef>
          <a:fontRef idx="minor">
            <a:schemeClr val="lt1"/>
          </a:fontRef>
        </p:style>
        <p:txBody>
          <a:bodyPr rtlCol="0" anchor="ctr"/>
          <a:lstStyle/>
          <a:p>
            <a:pPr>
              <a:lnSpc>
                <a:spcPct val="110000"/>
              </a:lnSpc>
              <a:buClr>
                <a:srgbClr val="0B61FF"/>
              </a:buClr>
              <a:buSzPct val="80000"/>
            </a:pPr>
            <a:r>
              <a:rPr lang="zh-CN" altLang="en-US" sz="2000" b="1" dirty="0">
                <a:latin typeface="Trebuchet MS" panose="020B0603020202020204" pitchFamily="34" charset="0"/>
                <a:ea typeface="宋体" panose="02010600030101010101" pitchFamily="2" charset="-122"/>
                <a:cs typeface="Times New Roman" panose="02020603050405020304" pitchFamily="18" charset="0"/>
              </a:rPr>
              <a:t>             </a:t>
            </a:r>
            <a:r>
              <a:rPr lang="en-US" altLang="zh-CN" sz="2000" b="1" dirty="0">
                <a:latin typeface="Trebuchet MS" panose="020B0603020202020204" pitchFamily="34" charset="0"/>
              </a:rPr>
              <a:t>7.1.2 Spanning Trees</a:t>
            </a:r>
          </a:p>
          <a:p>
            <a:pPr>
              <a:lnSpc>
                <a:spcPct val="110000"/>
              </a:lnSpc>
              <a:buClr>
                <a:srgbClr val="0B61FF"/>
              </a:buClr>
              <a:buSzPct val="80000"/>
            </a:pPr>
            <a:r>
              <a:rPr lang="en-US" altLang="zh-CN" sz="2000" b="1" dirty="0">
                <a:latin typeface="Trebuchet MS" panose="020B0603020202020204" pitchFamily="34" charset="0"/>
              </a:rPr>
              <a:t>                 </a:t>
            </a:r>
            <a:r>
              <a:rPr lang="en-US" altLang="zh-CN" sz="2400" b="1" dirty="0">
                <a:solidFill>
                  <a:schemeClr val="accent2"/>
                </a:solidFill>
                <a:latin typeface="Trebuchet MS" panose="020B0603020202020204" pitchFamily="34" charset="0"/>
                <a:ea typeface="Cambria Math" panose="02040503050406030204" pitchFamily="18" charset="0"/>
                <a:cs typeface="Times New Roman" panose="02020603050405020304" pitchFamily="18" charset="0"/>
              </a:rPr>
              <a:t>⤷</a:t>
            </a:r>
            <a:r>
              <a:rPr lang="en-US" altLang="zh-CN" sz="2400" b="1" dirty="0">
                <a:latin typeface="Trebuchet MS" panose="020B0603020202020204" pitchFamily="34" charset="0"/>
              </a:rPr>
              <a:t> Spanning Tree Existence Theorem</a:t>
            </a:r>
          </a:p>
        </p:txBody>
      </p:sp>
      <p:sp>
        <p:nvSpPr>
          <p:cNvPr id="13" name="矩形 12"/>
          <p:cNvSpPr/>
          <p:nvPr/>
        </p:nvSpPr>
        <p:spPr>
          <a:xfrm>
            <a:off x="824682" y="0"/>
            <a:ext cx="175443" cy="628650"/>
          </a:xfrm>
          <a:prstGeom prst="rect">
            <a:avLst/>
          </a:prstGeom>
          <a:solidFill>
            <a:srgbClr val="CFA57C"/>
          </a:solidFill>
          <a:ln cmpd="sng">
            <a:gradFill flip="none" rotWithShape="1">
              <a:gsLst>
                <a:gs pos="50000">
                  <a:schemeClr val="accent2">
                    <a:lumMod val="60000"/>
                    <a:lumOff val="40000"/>
                  </a:schemeClr>
                </a:gs>
                <a:gs pos="0">
                  <a:schemeClr val="accent2">
                    <a:lumMod val="20000"/>
                    <a:lumOff val="80000"/>
                  </a:schemeClr>
                </a:gs>
                <a:gs pos="95000">
                  <a:schemeClr val="accent2"/>
                </a:gs>
              </a:gsLst>
              <a:path path="circle">
                <a:fillToRect l="50000" t="-80000" r="50000" b="180000"/>
              </a:path>
              <a:tileRect/>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22" name="Picture 6" descr="D:\MBA工作\LOGO\同济经管LOGO反白.png"/>
          <p:cNvPicPr>
            <a:picLocks noChangeAspect="1" noChangeArrowheads="1"/>
          </p:cNvPicPr>
          <p:nvPr/>
        </p:nvPicPr>
        <p:blipFill>
          <a:blip r:embed="rId3" cstate="email">
            <a:extLst>
              <a:ext uri="{28A0092B-C50C-407E-A947-70E740481C1C}">
                <a14:useLocalDpi xmlns:a14="http://schemas.microsoft.com/office/drawing/2010/main" val="0"/>
              </a:ext>
            </a:extLst>
          </a:blip>
          <a:srcRect/>
          <a:stretch>
            <a:fillRect/>
          </a:stretch>
        </p:blipFill>
        <p:spPr bwMode="auto">
          <a:xfrm>
            <a:off x="10267423" y="165688"/>
            <a:ext cx="1386605" cy="462962"/>
          </a:xfrm>
          <a:prstGeom prst="rect">
            <a:avLst/>
          </a:prstGeom>
          <a:noFill/>
          <a:extLst>
            <a:ext uri="{909E8E84-426E-40DD-AFC4-6F175D3DCCD1}">
              <a14:hiddenFill xmlns:a14="http://schemas.microsoft.com/office/drawing/2010/main">
                <a:solidFill>
                  <a:srgbClr val="FFFFFF"/>
                </a:solidFill>
              </a14:hiddenFill>
            </a:ext>
          </a:extLst>
        </p:spPr>
      </p:pic>
      <p:pic>
        <p:nvPicPr>
          <p:cNvPr id="2" name="图片 1" descr="微信图片_20220318113523"/>
          <p:cNvPicPr>
            <a:picLocks noChangeAspect="1"/>
          </p:cNvPicPr>
          <p:nvPr userDrawn="1"/>
        </p:nvPicPr>
        <p:blipFill>
          <a:blip r:embed="rId4"/>
          <a:stretch>
            <a:fillRect/>
          </a:stretch>
        </p:blipFill>
        <p:spPr>
          <a:xfrm>
            <a:off x="9291877" y="6115050"/>
            <a:ext cx="2244725" cy="361315"/>
          </a:xfrm>
          <a:prstGeom prst="rect">
            <a:avLst/>
          </a:prstGeom>
        </p:spPr>
      </p:pic>
      <p:sp>
        <p:nvSpPr>
          <p:cNvPr id="18" name="Rectangle 2">
            <a:extLst>
              <a:ext uri="{FF2B5EF4-FFF2-40B4-BE49-F238E27FC236}">
                <a16:creationId xmlns:a16="http://schemas.microsoft.com/office/drawing/2014/main" id="{E217C615-1D49-4D07-B850-D36106D7AA9A}"/>
              </a:ext>
            </a:extLst>
          </p:cNvPr>
          <p:cNvSpPr>
            <a:spLocks noChangeArrowheads="1"/>
          </p:cNvSpPr>
          <p:nvPr/>
        </p:nvSpPr>
        <p:spPr bwMode="auto">
          <a:xfrm>
            <a:off x="1000125" y="815365"/>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8" name="Rectangle 3">
            <a:extLst>
              <a:ext uri="{FF2B5EF4-FFF2-40B4-BE49-F238E27FC236}">
                <a16:creationId xmlns:a16="http://schemas.microsoft.com/office/drawing/2014/main" id="{97F08C45-3D15-45C1-A5A3-D1EB58DC91FE}"/>
              </a:ext>
            </a:extLst>
          </p:cNvPr>
          <p:cNvSpPr txBox="1">
            <a:spLocks noChangeArrowheads="1"/>
          </p:cNvSpPr>
          <p:nvPr/>
        </p:nvSpPr>
        <p:spPr>
          <a:xfrm>
            <a:off x="716732" y="794338"/>
            <a:ext cx="10338617" cy="5390563"/>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10000"/>
              </a:lnSpc>
              <a:buClr>
                <a:srgbClr val="0B61FF"/>
              </a:buClr>
              <a:buSzPct val="80000"/>
              <a:buFont typeface="Wingdings" panose="05000000000000000000" pitchFamily="2" charset="2"/>
              <a:buChar char="n"/>
            </a:pPr>
            <a:r>
              <a:rPr lang="en-US" altLang="zh-CN" sz="2400" b="1">
                <a:latin typeface="Trebuchet MS" panose="020B0603020202020204" pitchFamily="34" charset="0"/>
              </a:rPr>
              <a:t>Theorem 7.3: </a:t>
            </a:r>
            <a:r>
              <a:rPr lang="en-US" altLang="zh-CN" sz="2400">
                <a:latin typeface="Trebuchet MS" panose="020B0603020202020204" pitchFamily="34" charset="0"/>
              </a:rPr>
              <a:t>Every </a:t>
            </a:r>
            <a:r>
              <a:rPr lang="en-US" altLang="zh-CN" sz="2400" dirty="0">
                <a:latin typeface="Trebuchet MS" panose="020B0603020202020204" pitchFamily="34" charset="0"/>
              </a:rPr>
              <a:t>undirected connected graph has a spanning tree.</a:t>
            </a:r>
          </a:p>
          <a:p>
            <a:pPr>
              <a:lnSpc>
                <a:spcPct val="110000"/>
              </a:lnSpc>
              <a:spcBef>
                <a:spcPts val="0"/>
              </a:spcBef>
              <a:buClr>
                <a:srgbClr val="0B61FF"/>
              </a:buClr>
              <a:buSzPct val="80000"/>
              <a:buFont typeface="Wingdings" panose="05000000000000000000" pitchFamily="2" charset="2"/>
              <a:buChar char="n"/>
            </a:pPr>
            <a:r>
              <a:rPr lang="en-US" altLang="zh-CN" sz="2400" b="1" dirty="0">
                <a:latin typeface="Trebuchet MS" panose="020B0603020202020204" pitchFamily="34" charset="0"/>
              </a:rPr>
              <a:t>Proof: </a:t>
            </a:r>
            <a:r>
              <a:rPr lang="en-US" altLang="zh-CN" sz="2400" dirty="0">
                <a:latin typeface="Trebuchet MS" panose="020B0603020202020204" pitchFamily="34" charset="0"/>
              </a:rPr>
              <a:t>Use the </a:t>
            </a:r>
            <a:r>
              <a:rPr lang="en-US" altLang="zh-CN" sz="2400" b="1" dirty="0">
                <a:latin typeface="Trebuchet MS" panose="020B0603020202020204" pitchFamily="34" charset="0"/>
              </a:rPr>
              <a:t>cycle-breaking method</a:t>
            </a:r>
            <a:r>
              <a:rPr lang="en-US" altLang="zh-CN" sz="2400" dirty="0">
                <a:latin typeface="Trebuchet MS" panose="020B0603020202020204" pitchFamily="34" charset="0"/>
              </a:rPr>
              <a:t>.</a:t>
            </a:r>
          </a:p>
          <a:p>
            <a:pPr marL="539750" indent="-361950">
              <a:lnSpc>
                <a:spcPct val="110000"/>
              </a:lnSpc>
              <a:spcBef>
                <a:spcPts val="0"/>
              </a:spcBef>
              <a:buClr>
                <a:srgbClr val="0B61FF"/>
              </a:buClr>
              <a:buSzPct val="80000"/>
              <a:buNone/>
            </a:pPr>
            <a:r>
              <a:rPr lang="en-US" altLang="zh-CN" sz="2400" b="1" dirty="0">
                <a:solidFill>
                  <a:srgbClr val="0B61FF"/>
                </a:solidFill>
                <a:latin typeface="Trebuchet MS" panose="020B0603020202020204" pitchFamily="34" charset="0"/>
              </a:rPr>
              <a:t>①</a:t>
            </a:r>
            <a:r>
              <a:rPr lang="en-US" altLang="zh-CN" sz="2400" dirty="0">
                <a:latin typeface="Trebuchet MS" panose="020B0603020202020204" pitchFamily="34" charset="0"/>
              </a:rPr>
              <a:t> If the graph contains no cycles, then the graph itself is a spanning tree.</a:t>
            </a:r>
          </a:p>
          <a:p>
            <a:pPr marL="539750" indent="-361950">
              <a:lnSpc>
                <a:spcPct val="110000"/>
              </a:lnSpc>
              <a:spcBef>
                <a:spcPts val="0"/>
              </a:spcBef>
              <a:buClr>
                <a:srgbClr val="0B61FF"/>
              </a:buClr>
              <a:buSzPct val="80000"/>
              <a:buNone/>
            </a:pPr>
            <a:r>
              <a:rPr lang="en-US" altLang="zh-CN" sz="2400" b="1" dirty="0">
                <a:solidFill>
                  <a:srgbClr val="0B61FF"/>
                </a:solidFill>
                <a:latin typeface="Trebuchet MS" panose="020B0603020202020204" pitchFamily="34" charset="0"/>
              </a:rPr>
              <a:t>② </a:t>
            </a:r>
            <a:r>
              <a:rPr lang="en-US" altLang="zh-CN" sz="2400" dirty="0">
                <a:latin typeface="Trebuchet MS" panose="020B0603020202020204" pitchFamily="34" charset="0"/>
              </a:rPr>
              <a:t>Otherwise, remove any edge from a cycle — this does not destroy connectivity.</a:t>
            </a:r>
          </a:p>
          <a:p>
            <a:pPr marL="539750" indent="-361950">
              <a:lnSpc>
                <a:spcPct val="110000"/>
              </a:lnSpc>
              <a:spcBef>
                <a:spcPts val="0"/>
              </a:spcBef>
              <a:buClr>
                <a:srgbClr val="0B61FF"/>
              </a:buClr>
              <a:buSzPct val="80000"/>
              <a:buNone/>
            </a:pPr>
            <a:r>
              <a:rPr lang="en-US" altLang="zh-CN" sz="2400" b="1" dirty="0">
                <a:solidFill>
                  <a:srgbClr val="0B61FF"/>
                </a:solidFill>
                <a:latin typeface="Trebuchet MS" panose="020B0603020202020204" pitchFamily="34" charset="0"/>
              </a:rPr>
              <a:t>③</a:t>
            </a:r>
            <a:r>
              <a:rPr lang="en-US" altLang="zh-CN" sz="2400" dirty="0">
                <a:latin typeface="Trebuchet MS" panose="020B0603020202020204" pitchFamily="34" charset="0"/>
              </a:rPr>
              <a:t> Repeat this process until there are no cycles remaining. The resulting graph is a spanning tree of the original graph.</a:t>
            </a:r>
          </a:p>
          <a:p>
            <a:pPr>
              <a:lnSpc>
                <a:spcPct val="110000"/>
              </a:lnSpc>
              <a:buClr>
                <a:srgbClr val="0B61FF"/>
              </a:buClr>
              <a:buSzPct val="80000"/>
              <a:buFont typeface="Wingdings" panose="05000000000000000000" pitchFamily="2" charset="2"/>
              <a:buChar char="n"/>
            </a:pPr>
            <a:r>
              <a:rPr lang="en-US" altLang="zh-CN" sz="2400" b="1" dirty="0">
                <a:latin typeface="Trebuchet MS" panose="020B0603020202020204" pitchFamily="34" charset="0"/>
              </a:rPr>
              <a:t>Corollary 1: </a:t>
            </a:r>
            <a:r>
              <a:rPr lang="en-US" altLang="zh-CN" sz="2400" dirty="0">
                <a:latin typeface="Trebuchet MS" panose="020B0603020202020204" pitchFamily="34" charset="0"/>
              </a:rPr>
              <a:t>If an undirected connected graph has </a:t>
            </a:r>
            <a:r>
              <a:rPr lang="en-US" altLang="zh-CN" sz="2400" b="1" i="1" dirty="0">
                <a:latin typeface="Trebuchet MS" panose="020B0603020202020204" pitchFamily="34" charset="0"/>
              </a:rPr>
              <a:t>n</a:t>
            </a:r>
            <a:r>
              <a:rPr lang="en-US" altLang="zh-CN" sz="2400" dirty="0">
                <a:latin typeface="Trebuchet MS" panose="020B0603020202020204" pitchFamily="34" charset="0"/>
              </a:rPr>
              <a:t> vertices and </a:t>
            </a:r>
            <a:r>
              <a:rPr lang="en-US" altLang="zh-CN" sz="2400" b="1" i="1" dirty="0">
                <a:latin typeface="Trebuchet MS" panose="020B0603020202020204" pitchFamily="34" charset="0"/>
              </a:rPr>
              <a:t>m</a:t>
            </a:r>
            <a:r>
              <a:rPr lang="en-US" altLang="zh-CN" sz="2400" dirty="0">
                <a:latin typeface="Trebuchet MS" panose="020B0603020202020204" pitchFamily="34" charset="0"/>
              </a:rPr>
              <a:t> edges, then </a:t>
            </a:r>
            <a:r>
              <a:rPr lang="en-US" altLang="zh-CN" sz="2400" b="1" i="1" dirty="0">
                <a:latin typeface="Trebuchet MS" panose="020B0603020202020204" pitchFamily="34" charset="0"/>
              </a:rPr>
              <a:t>m</a:t>
            </a:r>
            <a:r>
              <a:rPr lang="en-US" altLang="zh-CN" sz="2400" b="1" dirty="0">
                <a:latin typeface="Trebuchet MS" panose="020B0603020202020204" pitchFamily="34" charset="0"/>
              </a:rPr>
              <a:t>≥</a:t>
            </a:r>
            <a:r>
              <a:rPr lang="en-US" altLang="zh-CN" sz="2400" b="1" i="1" dirty="0">
                <a:latin typeface="Trebuchet MS" panose="020B0603020202020204" pitchFamily="34" charset="0"/>
              </a:rPr>
              <a:t>n</a:t>
            </a:r>
            <a:r>
              <a:rPr lang="en-US" altLang="zh-CN" sz="2400" b="1" dirty="0">
                <a:latin typeface="Trebuchet MS" panose="020B0603020202020204" pitchFamily="34" charset="0"/>
              </a:rPr>
              <a:t>−1</a:t>
            </a:r>
            <a:r>
              <a:rPr lang="en-US" altLang="zh-CN" sz="2400" dirty="0">
                <a:latin typeface="Trebuchet MS" panose="020B0603020202020204" pitchFamily="34" charset="0"/>
              </a:rPr>
              <a:t>.</a:t>
            </a:r>
          </a:p>
          <a:p>
            <a:pPr>
              <a:lnSpc>
                <a:spcPct val="110000"/>
              </a:lnSpc>
              <a:buClr>
                <a:srgbClr val="0B61FF"/>
              </a:buClr>
              <a:buSzPct val="80000"/>
              <a:buFont typeface="Wingdings" panose="05000000000000000000" pitchFamily="2" charset="2"/>
              <a:buChar char="n"/>
            </a:pPr>
            <a:r>
              <a:rPr lang="en-US" altLang="zh-CN" sz="2400" b="1" dirty="0">
                <a:latin typeface="Trebuchet MS" panose="020B0603020202020204" pitchFamily="34" charset="0"/>
              </a:rPr>
              <a:t>Corollary 2: </a:t>
            </a:r>
            <a:r>
              <a:rPr lang="en-US" altLang="zh-CN" sz="2400" dirty="0">
                <a:latin typeface="Trebuchet MS" panose="020B0603020202020204" pitchFamily="34" charset="0"/>
              </a:rPr>
              <a:t>If an undirected connected graph has </a:t>
            </a:r>
            <a:r>
              <a:rPr lang="en-US" altLang="zh-CN" sz="2400" i="1" dirty="0">
                <a:latin typeface="Trebuchet MS" panose="020B0603020202020204" pitchFamily="34" charset="0"/>
              </a:rPr>
              <a:t>n</a:t>
            </a:r>
            <a:r>
              <a:rPr lang="en-US" altLang="zh-CN" sz="2400" dirty="0">
                <a:latin typeface="Trebuchet MS" panose="020B0603020202020204" pitchFamily="34" charset="0"/>
              </a:rPr>
              <a:t> vertices and </a:t>
            </a:r>
            <a:r>
              <a:rPr lang="en-US" altLang="zh-CN" sz="2400" i="1" dirty="0">
                <a:latin typeface="Trebuchet MS" panose="020B0603020202020204" pitchFamily="34" charset="0"/>
              </a:rPr>
              <a:t>m</a:t>
            </a:r>
            <a:r>
              <a:rPr lang="en-US" altLang="zh-CN" sz="2400" dirty="0">
                <a:latin typeface="Trebuchet MS" panose="020B0603020202020204" pitchFamily="34" charset="0"/>
              </a:rPr>
              <a:t> edges, then the co-tree of any spanning tree contains </a:t>
            </a:r>
            <a:r>
              <a:rPr lang="en-US" altLang="zh-CN" sz="2400" b="1" i="1" dirty="0">
                <a:latin typeface="Trebuchet MS" panose="020B0603020202020204" pitchFamily="34" charset="0"/>
              </a:rPr>
              <a:t>m</a:t>
            </a:r>
            <a:r>
              <a:rPr lang="en-US" altLang="zh-CN" sz="2400" b="1" dirty="0">
                <a:latin typeface="Trebuchet MS" panose="020B0603020202020204" pitchFamily="34" charset="0"/>
              </a:rPr>
              <a:t>−</a:t>
            </a:r>
            <a:r>
              <a:rPr lang="en-US" altLang="zh-CN" sz="2400" b="1" i="1" dirty="0">
                <a:latin typeface="Trebuchet MS" panose="020B0603020202020204" pitchFamily="34" charset="0"/>
              </a:rPr>
              <a:t>n</a:t>
            </a:r>
            <a:r>
              <a:rPr lang="en-US" altLang="zh-CN" sz="2400" b="1" dirty="0">
                <a:latin typeface="Trebuchet MS" panose="020B0603020202020204" pitchFamily="34" charset="0"/>
              </a:rPr>
              <a:t>+1</a:t>
            </a:r>
            <a:r>
              <a:rPr lang="en-US" altLang="zh-CN" sz="2400" dirty="0">
                <a:latin typeface="Trebuchet MS" panose="020B0603020202020204" pitchFamily="34" charset="0"/>
              </a:rPr>
              <a:t> edges.</a:t>
            </a:r>
          </a:p>
        </p:txBody>
      </p:sp>
    </p:spTree>
    <p:extLst>
      <p:ext uri="{BB962C8B-B14F-4D97-AF65-F5344CB8AC3E}">
        <p14:creationId xmlns:p14="http://schemas.microsoft.com/office/powerpoint/2010/main" val="3469932242"/>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8">
                                            <p:txEl>
                                              <p:pRg st="1" end="1"/>
                                            </p:txEl>
                                          </p:spTgt>
                                        </p:tgtEl>
                                        <p:attrNameLst>
                                          <p:attrName>style.visibility</p:attrName>
                                        </p:attrNameLst>
                                      </p:cBhvr>
                                      <p:to>
                                        <p:strVal val="visible"/>
                                      </p:to>
                                    </p:set>
                                    <p:animEffect transition="in" filter="fade">
                                      <p:cBhvr>
                                        <p:cTn id="7" dur="1000"/>
                                        <p:tgtEl>
                                          <p:spTgt spid="8">
                                            <p:txEl>
                                              <p:pRg st="1" end="1"/>
                                            </p:txEl>
                                          </p:spTgt>
                                        </p:tgtEl>
                                      </p:cBhvr>
                                    </p:animEffect>
                                    <p:anim calcmode="lin" valueType="num">
                                      <p:cBhvr>
                                        <p:cTn id="8" dur="1000" fill="hold"/>
                                        <p:tgtEl>
                                          <p:spTgt spid="8">
                                            <p:txEl>
                                              <p:pRg st="1" end="1"/>
                                            </p:txEl>
                                          </p:spTgt>
                                        </p:tgtEl>
                                        <p:attrNameLst>
                                          <p:attrName>ppt_x</p:attrName>
                                        </p:attrNameLst>
                                      </p:cBhvr>
                                      <p:tavLst>
                                        <p:tav tm="0">
                                          <p:val>
                                            <p:strVal val="#ppt_x"/>
                                          </p:val>
                                        </p:tav>
                                        <p:tav tm="100000">
                                          <p:val>
                                            <p:strVal val="#ppt_x"/>
                                          </p:val>
                                        </p:tav>
                                      </p:tavLst>
                                    </p:anim>
                                    <p:anim calcmode="lin" valueType="num">
                                      <p:cBhvr>
                                        <p:cTn id="9" dur="1000" fill="hold"/>
                                        <p:tgtEl>
                                          <p:spTgt spid="8">
                                            <p:txEl>
                                              <p:pRg st="1" end="1"/>
                                            </p:txEl>
                                          </p:spTgt>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8">
                                            <p:txEl>
                                              <p:pRg st="2" end="2"/>
                                            </p:txEl>
                                          </p:spTgt>
                                        </p:tgtEl>
                                        <p:attrNameLst>
                                          <p:attrName>style.visibility</p:attrName>
                                        </p:attrNameLst>
                                      </p:cBhvr>
                                      <p:to>
                                        <p:strVal val="visible"/>
                                      </p:to>
                                    </p:set>
                                    <p:animEffect transition="in" filter="fade">
                                      <p:cBhvr>
                                        <p:cTn id="12" dur="1000"/>
                                        <p:tgtEl>
                                          <p:spTgt spid="8">
                                            <p:txEl>
                                              <p:pRg st="2" end="2"/>
                                            </p:txEl>
                                          </p:spTgt>
                                        </p:tgtEl>
                                      </p:cBhvr>
                                    </p:animEffect>
                                    <p:anim calcmode="lin" valueType="num">
                                      <p:cBhvr>
                                        <p:cTn id="13" dur="1000" fill="hold"/>
                                        <p:tgtEl>
                                          <p:spTgt spid="8">
                                            <p:txEl>
                                              <p:pRg st="2" end="2"/>
                                            </p:txEl>
                                          </p:spTgt>
                                        </p:tgtEl>
                                        <p:attrNameLst>
                                          <p:attrName>ppt_x</p:attrName>
                                        </p:attrNameLst>
                                      </p:cBhvr>
                                      <p:tavLst>
                                        <p:tav tm="0">
                                          <p:val>
                                            <p:strVal val="#ppt_x"/>
                                          </p:val>
                                        </p:tav>
                                        <p:tav tm="100000">
                                          <p:val>
                                            <p:strVal val="#ppt_x"/>
                                          </p:val>
                                        </p:tav>
                                      </p:tavLst>
                                    </p:anim>
                                    <p:anim calcmode="lin" valueType="num">
                                      <p:cBhvr>
                                        <p:cTn id="14" dur="1000" fill="hold"/>
                                        <p:tgtEl>
                                          <p:spTgt spid="8">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42" presetClass="entr" presetSubtype="0" fill="hold" nodeType="clickEffect">
                                  <p:stCondLst>
                                    <p:cond delay="0"/>
                                  </p:stCondLst>
                                  <p:childTnLst>
                                    <p:set>
                                      <p:cBhvr>
                                        <p:cTn id="18" dur="1" fill="hold">
                                          <p:stCondLst>
                                            <p:cond delay="0"/>
                                          </p:stCondLst>
                                        </p:cTn>
                                        <p:tgtEl>
                                          <p:spTgt spid="8">
                                            <p:txEl>
                                              <p:pRg st="3" end="3"/>
                                            </p:txEl>
                                          </p:spTgt>
                                        </p:tgtEl>
                                        <p:attrNameLst>
                                          <p:attrName>style.visibility</p:attrName>
                                        </p:attrNameLst>
                                      </p:cBhvr>
                                      <p:to>
                                        <p:strVal val="visible"/>
                                      </p:to>
                                    </p:set>
                                    <p:animEffect transition="in" filter="fade">
                                      <p:cBhvr>
                                        <p:cTn id="19" dur="1000"/>
                                        <p:tgtEl>
                                          <p:spTgt spid="8">
                                            <p:txEl>
                                              <p:pRg st="3" end="3"/>
                                            </p:txEl>
                                          </p:spTgt>
                                        </p:tgtEl>
                                      </p:cBhvr>
                                    </p:animEffect>
                                    <p:anim calcmode="lin" valueType="num">
                                      <p:cBhvr>
                                        <p:cTn id="20" dur="1000" fill="hold"/>
                                        <p:tgtEl>
                                          <p:spTgt spid="8">
                                            <p:txEl>
                                              <p:pRg st="3" end="3"/>
                                            </p:txEl>
                                          </p:spTgt>
                                        </p:tgtEl>
                                        <p:attrNameLst>
                                          <p:attrName>ppt_x</p:attrName>
                                        </p:attrNameLst>
                                      </p:cBhvr>
                                      <p:tavLst>
                                        <p:tav tm="0">
                                          <p:val>
                                            <p:strVal val="#ppt_x"/>
                                          </p:val>
                                        </p:tav>
                                        <p:tav tm="100000">
                                          <p:val>
                                            <p:strVal val="#ppt_x"/>
                                          </p:val>
                                        </p:tav>
                                      </p:tavLst>
                                    </p:anim>
                                    <p:anim calcmode="lin" valueType="num">
                                      <p:cBhvr>
                                        <p:cTn id="21" dur="1000" fill="hold"/>
                                        <p:tgtEl>
                                          <p:spTgt spid="8">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22" fill="hold">
                      <p:stCondLst>
                        <p:cond delay="indefinite"/>
                      </p:stCondLst>
                      <p:childTnLst>
                        <p:par>
                          <p:cTn id="23" fill="hold">
                            <p:stCondLst>
                              <p:cond delay="0"/>
                            </p:stCondLst>
                            <p:childTnLst>
                              <p:par>
                                <p:cTn id="24" presetID="42" presetClass="entr" presetSubtype="0" fill="hold" nodeType="clickEffect">
                                  <p:stCondLst>
                                    <p:cond delay="0"/>
                                  </p:stCondLst>
                                  <p:childTnLst>
                                    <p:set>
                                      <p:cBhvr>
                                        <p:cTn id="25" dur="1" fill="hold">
                                          <p:stCondLst>
                                            <p:cond delay="0"/>
                                          </p:stCondLst>
                                        </p:cTn>
                                        <p:tgtEl>
                                          <p:spTgt spid="8">
                                            <p:txEl>
                                              <p:pRg st="4" end="4"/>
                                            </p:txEl>
                                          </p:spTgt>
                                        </p:tgtEl>
                                        <p:attrNameLst>
                                          <p:attrName>style.visibility</p:attrName>
                                        </p:attrNameLst>
                                      </p:cBhvr>
                                      <p:to>
                                        <p:strVal val="visible"/>
                                      </p:to>
                                    </p:set>
                                    <p:animEffect transition="in" filter="fade">
                                      <p:cBhvr>
                                        <p:cTn id="26" dur="1000"/>
                                        <p:tgtEl>
                                          <p:spTgt spid="8">
                                            <p:txEl>
                                              <p:pRg st="4" end="4"/>
                                            </p:txEl>
                                          </p:spTgt>
                                        </p:tgtEl>
                                      </p:cBhvr>
                                    </p:animEffect>
                                    <p:anim calcmode="lin" valueType="num">
                                      <p:cBhvr>
                                        <p:cTn id="27" dur="1000" fill="hold"/>
                                        <p:tgtEl>
                                          <p:spTgt spid="8">
                                            <p:txEl>
                                              <p:pRg st="4" end="4"/>
                                            </p:txEl>
                                          </p:spTgt>
                                        </p:tgtEl>
                                        <p:attrNameLst>
                                          <p:attrName>ppt_x</p:attrName>
                                        </p:attrNameLst>
                                      </p:cBhvr>
                                      <p:tavLst>
                                        <p:tav tm="0">
                                          <p:val>
                                            <p:strVal val="#ppt_x"/>
                                          </p:val>
                                        </p:tav>
                                        <p:tav tm="100000">
                                          <p:val>
                                            <p:strVal val="#ppt_x"/>
                                          </p:val>
                                        </p:tav>
                                      </p:tavLst>
                                    </p:anim>
                                    <p:anim calcmode="lin" valueType="num">
                                      <p:cBhvr>
                                        <p:cTn id="28" dur="1000" fill="hold"/>
                                        <p:tgtEl>
                                          <p:spTgt spid="8">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29" fill="hold">
                      <p:stCondLst>
                        <p:cond delay="indefinite"/>
                      </p:stCondLst>
                      <p:childTnLst>
                        <p:par>
                          <p:cTn id="30" fill="hold">
                            <p:stCondLst>
                              <p:cond delay="0"/>
                            </p:stCondLst>
                            <p:childTnLst>
                              <p:par>
                                <p:cTn id="31" presetID="42" presetClass="entr" presetSubtype="0" fill="hold" nodeType="clickEffect">
                                  <p:stCondLst>
                                    <p:cond delay="0"/>
                                  </p:stCondLst>
                                  <p:childTnLst>
                                    <p:set>
                                      <p:cBhvr>
                                        <p:cTn id="32" dur="1" fill="hold">
                                          <p:stCondLst>
                                            <p:cond delay="0"/>
                                          </p:stCondLst>
                                        </p:cTn>
                                        <p:tgtEl>
                                          <p:spTgt spid="8">
                                            <p:txEl>
                                              <p:pRg st="5" end="5"/>
                                            </p:txEl>
                                          </p:spTgt>
                                        </p:tgtEl>
                                        <p:attrNameLst>
                                          <p:attrName>style.visibility</p:attrName>
                                        </p:attrNameLst>
                                      </p:cBhvr>
                                      <p:to>
                                        <p:strVal val="visible"/>
                                      </p:to>
                                    </p:set>
                                    <p:animEffect transition="in" filter="fade">
                                      <p:cBhvr>
                                        <p:cTn id="33" dur="1000"/>
                                        <p:tgtEl>
                                          <p:spTgt spid="8">
                                            <p:txEl>
                                              <p:pRg st="5" end="5"/>
                                            </p:txEl>
                                          </p:spTgt>
                                        </p:tgtEl>
                                      </p:cBhvr>
                                    </p:animEffect>
                                    <p:anim calcmode="lin" valueType="num">
                                      <p:cBhvr>
                                        <p:cTn id="34" dur="1000" fill="hold"/>
                                        <p:tgtEl>
                                          <p:spTgt spid="8">
                                            <p:txEl>
                                              <p:pRg st="5" end="5"/>
                                            </p:txEl>
                                          </p:spTgt>
                                        </p:tgtEl>
                                        <p:attrNameLst>
                                          <p:attrName>ppt_x</p:attrName>
                                        </p:attrNameLst>
                                      </p:cBhvr>
                                      <p:tavLst>
                                        <p:tav tm="0">
                                          <p:val>
                                            <p:strVal val="#ppt_x"/>
                                          </p:val>
                                        </p:tav>
                                        <p:tav tm="100000">
                                          <p:val>
                                            <p:strVal val="#ppt_x"/>
                                          </p:val>
                                        </p:tav>
                                      </p:tavLst>
                                    </p:anim>
                                    <p:anim calcmode="lin" valueType="num">
                                      <p:cBhvr>
                                        <p:cTn id="35" dur="1000" fill="hold"/>
                                        <p:tgtEl>
                                          <p:spTgt spid="8">
                                            <p:txEl>
                                              <p:pRg st="5" end="5"/>
                                            </p:txEl>
                                          </p:spTgt>
                                        </p:tgtEl>
                                        <p:attrNameLst>
                                          <p:attrName>ppt_y</p:attrName>
                                        </p:attrNameLst>
                                      </p:cBhvr>
                                      <p:tavLst>
                                        <p:tav tm="0">
                                          <p:val>
                                            <p:strVal val="#ppt_y+.1"/>
                                          </p:val>
                                        </p:tav>
                                        <p:tav tm="100000">
                                          <p:val>
                                            <p:strVal val="#ppt_y"/>
                                          </p:val>
                                        </p:tav>
                                      </p:tavLst>
                                    </p:anim>
                                  </p:childTnLst>
                                </p:cTn>
                              </p:par>
                            </p:childTnLst>
                          </p:cTn>
                        </p:par>
                      </p:childTnLst>
                    </p:cTn>
                  </p:par>
                  <p:par>
                    <p:cTn id="36" fill="hold">
                      <p:stCondLst>
                        <p:cond delay="indefinite"/>
                      </p:stCondLst>
                      <p:childTnLst>
                        <p:par>
                          <p:cTn id="37" fill="hold">
                            <p:stCondLst>
                              <p:cond delay="0"/>
                            </p:stCondLst>
                            <p:childTnLst>
                              <p:par>
                                <p:cTn id="38" presetID="42" presetClass="entr" presetSubtype="0" fill="hold" nodeType="clickEffect">
                                  <p:stCondLst>
                                    <p:cond delay="0"/>
                                  </p:stCondLst>
                                  <p:childTnLst>
                                    <p:set>
                                      <p:cBhvr>
                                        <p:cTn id="39" dur="1" fill="hold">
                                          <p:stCondLst>
                                            <p:cond delay="0"/>
                                          </p:stCondLst>
                                        </p:cTn>
                                        <p:tgtEl>
                                          <p:spTgt spid="8">
                                            <p:txEl>
                                              <p:pRg st="6" end="6"/>
                                            </p:txEl>
                                          </p:spTgt>
                                        </p:tgtEl>
                                        <p:attrNameLst>
                                          <p:attrName>style.visibility</p:attrName>
                                        </p:attrNameLst>
                                      </p:cBhvr>
                                      <p:to>
                                        <p:strVal val="visible"/>
                                      </p:to>
                                    </p:set>
                                    <p:animEffect transition="in" filter="fade">
                                      <p:cBhvr>
                                        <p:cTn id="40" dur="1000"/>
                                        <p:tgtEl>
                                          <p:spTgt spid="8">
                                            <p:txEl>
                                              <p:pRg st="6" end="6"/>
                                            </p:txEl>
                                          </p:spTgt>
                                        </p:tgtEl>
                                      </p:cBhvr>
                                    </p:animEffect>
                                    <p:anim calcmode="lin" valueType="num">
                                      <p:cBhvr>
                                        <p:cTn id="41" dur="1000" fill="hold"/>
                                        <p:tgtEl>
                                          <p:spTgt spid="8">
                                            <p:txEl>
                                              <p:pRg st="6" end="6"/>
                                            </p:txEl>
                                          </p:spTgt>
                                        </p:tgtEl>
                                        <p:attrNameLst>
                                          <p:attrName>ppt_x</p:attrName>
                                        </p:attrNameLst>
                                      </p:cBhvr>
                                      <p:tavLst>
                                        <p:tav tm="0">
                                          <p:val>
                                            <p:strVal val="#ppt_x"/>
                                          </p:val>
                                        </p:tav>
                                        <p:tav tm="100000">
                                          <p:val>
                                            <p:strVal val="#ppt_x"/>
                                          </p:val>
                                        </p:tav>
                                      </p:tavLst>
                                    </p:anim>
                                    <p:anim calcmode="lin" valueType="num">
                                      <p:cBhvr>
                                        <p:cTn id="42" dur="1000" fill="hold"/>
                                        <p:tgtEl>
                                          <p:spTgt spid="8">
                                            <p:txEl>
                                              <p:pRg st="6" end="6"/>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0" y="0"/>
            <a:ext cx="12192000" cy="762000"/>
          </a:xfrm>
          <a:prstGeom prst="rect">
            <a:avLst/>
          </a:prstGeom>
          <a:solidFill>
            <a:srgbClr val="002F7C"/>
          </a:solidFill>
        </p:spPr>
        <p:style>
          <a:lnRef idx="2">
            <a:schemeClr val="dk1">
              <a:shade val="50000"/>
            </a:schemeClr>
          </a:lnRef>
          <a:fillRef idx="1">
            <a:schemeClr val="dk1"/>
          </a:fillRef>
          <a:effectRef idx="0">
            <a:schemeClr val="dk1"/>
          </a:effectRef>
          <a:fontRef idx="minor">
            <a:schemeClr val="lt1"/>
          </a:fontRef>
        </p:style>
        <p:txBody>
          <a:bodyPr rtlCol="0" anchor="ctr"/>
          <a:lstStyle/>
          <a:p>
            <a:pPr>
              <a:lnSpc>
                <a:spcPct val="110000"/>
              </a:lnSpc>
              <a:buClr>
                <a:srgbClr val="0B61FF"/>
              </a:buClr>
              <a:buSzPct val="80000"/>
            </a:pPr>
            <a:r>
              <a:rPr lang="zh-CN" altLang="en-US" sz="2000" b="1" dirty="0">
                <a:latin typeface="Times New Roman" panose="02020603050405020304" pitchFamily="18" charset="0"/>
                <a:ea typeface="宋体" panose="02010600030101010101" pitchFamily="2" charset="-122"/>
                <a:cs typeface="Times New Roman" panose="02020603050405020304" pitchFamily="18" charset="0"/>
              </a:rPr>
              <a:t>                 </a:t>
            </a:r>
            <a:r>
              <a:rPr lang="en-US" altLang="zh-CN" sz="2000" b="1" dirty="0">
                <a:latin typeface="Trebuchet MS" panose="020B0603020202020204" pitchFamily="34" charset="0"/>
              </a:rPr>
              <a:t>7.1.2 Spanning Trees</a:t>
            </a:r>
          </a:p>
          <a:p>
            <a:pPr>
              <a:lnSpc>
                <a:spcPct val="110000"/>
              </a:lnSpc>
              <a:buClr>
                <a:srgbClr val="0B61FF"/>
              </a:buClr>
              <a:buSzPct val="80000"/>
            </a:pPr>
            <a:r>
              <a:rPr lang="en-US" altLang="zh-CN" sz="2000" b="1" dirty="0">
                <a:latin typeface="Trebuchet MS" panose="020B0603020202020204" pitchFamily="34" charset="0"/>
              </a:rPr>
              <a:t>                 </a:t>
            </a:r>
            <a:r>
              <a:rPr lang="en-US" altLang="zh-CN" sz="2400" b="1" dirty="0">
                <a:solidFill>
                  <a:schemeClr val="accent2"/>
                </a:solidFill>
                <a:latin typeface="Trebuchet MS" panose="020B0603020202020204" pitchFamily="34" charset="0"/>
                <a:ea typeface="Cambria Math" panose="02040503050406030204" pitchFamily="18" charset="0"/>
                <a:cs typeface="Times New Roman" panose="02020603050405020304" pitchFamily="18" charset="0"/>
              </a:rPr>
              <a:t>⤷</a:t>
            </a:r>
            <a:r>
              <a:rPr lang="en-US" altLang="zh-CN" sz="2400" b="1" dirty="0">
                <a:latin typeface="Trebuchet MS" panose="020B0603020202020204" pitchFamily="34" charset="0"/>
              </a:rPr>
              <a:t> Weighted Graphs and Minimum Spanning Trees</a:t>
            </a:r>
          </a:p>
        </p:txBody>
      </p:sp>
      <p:sp>
        <p:nvSpPr>
          <p:cNvPr id="13" name="矩形 12"/>
          <p:cNvSpPr/>
          <p:nvPr/>
        </p:nvSpPr>
        <p:spPr>
          <a:xfrm>
            <a:off x="824682" y="0"/>
            <a:ext cx="175443" cy="628650"/>
          </a:xfrm>
          <a:prstGeom prst="rect">
            <a:avLst/>
          </a:prstGeom>
          <a:solidFill>
            <a:srgbClr val="CFA57C"/>
          </a:solidFill>
          <a:ln cmpd="sng">
            <a:gradFill flip="none" rotWithShape="1">
              <a:gsLst>
                <a:gs pos="50000">
                  <a:schemeClr val="accent2">
                    <a:lumMod val="60000"/>
                    <a:lumOff val="40000"/>
                  </a:schemeClr>
                </a:gs>
                <a:gs pos="0">
                  <a:schemeClr val="accent2">
                    <a:lumMod val="20000"/>
                    <a:lumOff val="80000"/>
                  </a:schemeClr>
                </a:gs>
                <a:gs pos="95000">
                  <a:schemeClr val="accent2"/>
                </a:gs>
              </a:gsLst>
              <a:path path="circle">
                <a:fillToRect l="50000" t="-80000" r="50000" b="180000"/>
              </a:path>
              <a:tileRect/>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22" name="Picture 6" descr="D:\MBA工作\LOGO\同济经管LOGO反白.png"/>
          <p:cNvPicPr>
            <a:picLocks noChangeAspect="1" noChangeArrowheads="1"/>
          </p:cNvPicPr>
          <p:nvPr/>
        </p:nvPicPr>
        <p:blipFill>
          <a:blip r:embed="rId3" cstate="email">
            <a:extLst>
              <a:ext uri="{28A0092B-C50C-407E-A947-70E740481C1C}">
                <a14:useLocalDpi xmlns:a14="http://schemas.microsoft.com/office/drawing/2010/main" val="0"/>
              </a:ext>
            </a:extLst>
          </a:blip>
          <a:srcRect/>
          <a:stretch>
            <a:fillRect/>
          </a:stretch>
        </p:blipFill>
        <p:spPr bwMode="auto">
          <a:xfrm>
            <a:off x="10267423" y="165688"/>
            <a:ext cx="1386605" cy="462962"/>
          </a:xfrm>
          <a:prstGeom prst="rect">
            <a:avLst/>
          </a:prstGeom>
          <a:noFill/>
          <a:extLst>
            <a:ext uri="{909E8E84-426E-40DD-AFC4-6F175D3DCCD1}">
              <a14:hiddenFill xmlns:a14="http://schemas.microsoft.com/office/drawing/2010/main">
                <a:solidFill>
                  <a:srgbClr val="FFFFFF"/>
                </a:solidFill>
              </a14:hiddenFill>
            </a:ext>
          </a:extLst>
        </p:spPr>
      </p:pic>
      <p:pic>
        <p:nvPicPr>
          <p:cNvPr id="2" name="图片 1" descr="微信图片_20220318113523"/>
          <p:cNvPicPr>
            <a:picLocks noChangeAspect="1"/>
          </p:cNvPicPr>
          <p:nvPr userDrawn="1"/>
        </p:nvPicPr>
        <p:blipFill>
          <a:blip r:embed="rId4"/>
          <a:stretch>
            <a:fillRect/>
          </a:stretch>
        </p:blipFill>
        <p:spPr>
          <a:xfrm>
            <a:off x="9291877" y="6115050"/>
            <a:ext cx="2244725" cy="361315"/>
          </a:xfrm>
          <a:prstGeom prst="rect">
            <a:avLst/>
          </a:prstGeom>
        </p:spPr>
      </p:pic>
      <p:sp>
        <p:nvSpPr>
          <p:cNvPr id="18" name="Rectangle 2">
            <a:extLst>
              <a:ext uri="{FF2B5EF4-FFF2-40B4-BE49-F238E27FC236}">
                <a16:creationId xmlns:a16="http://schemas.microsoft.com/office/drawing/2014/main" id="{E217C615-1D49-4D07-B850-D36106D7AA9A}"/>
              </a:ext>
            </a:extLst>
          </p:cNvPr>
          <p:cNvSpPr>
            <a:spLocks noChangeArrowheads="1"/>
          </p:cNvSpPr>
          <p:nvPr/>
        </p:nvSpPr>
        <p:spPr bwMode="auto">
          <a:xfrm>
            <a:off x="1000125" y="815365"/>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8" name="Rectangle 3">
            <a:extLst>
              <a:ext uri="{FF2B5EF4-FFF2-40B4-BE49-F238E27FC236}">
                <a16:creationId xmlns:a16="http://schemas.microsoft.com/office/drawing/2014/main" id="{97F08C45-3D15-45C1-A5A3-D1EB58DC91FE}"/>
              </a:ext>
            </a:extLst>
          </p:cNvPr>
          <p:cNvSpPr txBox="1">
            <a:spLocks noChangeArrowheads="1"/>
          </p:cNvSpPr>
          <p:nvPr/>
        </p:nvSpPr>
        <p:spPr>
          <a:xfrm>
            <a:off x="1000125" y="927688"/>
            <a:ext cx="9877336" cy="4229100"/>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eaLnBrk="1" hangingPunct="1">
              <a:lnSpc>
                <a:spcPct val="120000"/>
              </a:lnSpc>
              <a:spcBef>
                <a:spcPts val="300"/>
              </a:spcBef>
              <a:buClr>
                <a:srgbClr val="0B61FF"/>
              </a:buClr>
              <a:buSzPct val="80000"/>
              <a:buFont typeface="Wingdings" panose="05000000000000000000" pitchFamily="2" charset="2"/>
              <a:buChar char="n"/>
            </a:pPr>
            <a:r>
              <a:rPr lang="en-US" altLang="zh-CN" sz="2400" dirty="0">
                <a:latin typeface="Trebuchet MS" panose="020B0603020202020204" pitchFamily="34" charset="0"/>
              </a:rPr>
              <a:t>Each edge </a:t>
            </a:r>
            <a:r>
              <a:rPr lang="en-US" altLang="zh-CN" sz="2400" b="1" i="1" dirty="0">
                <a:latin typeface="Trebuchet MS" panose="020B0603020202020204" pitchFamily="34" charset="0"/>
              </a:rPr>
              <a:t>e</a:t>
            </a:r>
            <a:r>
              <a:rPr lang="en-US" altLang="zh-CN" sz="2400" dirty="0">
                <a:latin typeface="Trebuchet MS" panose="020B0603020202020204" pitchFamily="34" charset="0"/>
              </a:rPr>
              <a:t> of a graph </a:t>
            </a:r>
            <a:r>
              <a:rPr lang="en-US" altLang="zh-CN" sz="2400" b="1" i="1" dirty="0">
                <a:latin typeface="Trebuchet MS" panose="020B0603020202020204" pitchFamily="34" charset="0"/>
              </a:rPr>
              <a:t>G</a:t>
            </a:r>
            <a:r>
              <a:rPr lang="en-US" altLang="zh-CN" sz="2400" dirty="0">
                <a:latin typeface="Trebuchet MS" panose="020B0603020202020204" pitchFamily="34" charset="0"/>
              </a:rPr>
              <a:t> is assigned a real number </a:t>
            </a:r>
            <a:r>
              <a:rPr lang="en-US" altLang="zh-CN" sz="2400" b="1" i="1" dirty="0">
                <a:latin typeface="Trebuchet MS" panose="020B0603020202020204" pitchFamily="34" charset="0"/>
                <a:cs typeface="Times New Roman" panose="02020603050405020304" pitchFamily="18" charset="0"/>
              </a:rPr>
              <a:t>w</a:t>
            </a:r>
            <a:r>
              <a:rPr lang="en-US" altLang="zh-CN" sz="2400" b="1" dirty="0">
                <a:latin typeface="Trebuchet MS" panose="020B0603020202020204" pitchFamily="34" charset="0"/>
                <a:cs typeface="Times New Roman" panose="02020603050405020304" pitchFamily="18" charset="0"/>
              </a:rPr>
              <a:t>(</a:t>
            </a:r>
            <a:r>
              <a:rPr lang="en-US" altLang="zh-CN" sz="2400" b="1" i="1" dirty="0">
                <a:latin typeface="Trebuchet MS" panose="020B0603020202020204" pitchFamily="34" charset="0"/>
                <a:cs typeface="Times New Roman" panose="02020603050405020304" pitchFamily="18" charset="0"/>
              </a:rPr>
              <a:t>e</a:t>
            </a:r>
            <a:r>
              <a:rPr lang="en-US" altLang="zh-CN" sz="2400" b="1" dirty="0">
                <a:latin typeface="Trebuchet MS" panose="020B0603020202020204" pitchFamily="34" charset="0"/>
                <a:cs typeface="Times New Roman" panose="02020603050405020304" pitchFamily="18" charset="0"/>
              </a:rPr>
              <a:t>), </a:t>
            </a:r>
            <a:r>
              <a:rPr lang="en-US" altLang="zh-CN" sz="2400" dirty="0">
                <a:latin typeface="Trebuchet MS" panose="020B0603020202020204" pitchFamily="34" charset="0"/>
                <a:cs typeface="Times New Roman" panose="02020603050405020304" pitchFamily="18" charset="0"/>
              </a:rPr>
              <a:t>c</a:t>
            </a:r>
            <a:r>
              <a:rPr lang="en-US" altLang="zh-CN" sz="2400" dirty="0">
                <a:latin typeface="Trebuchet MS" panose="020B0603020202020204" pitchFamily="34" charset="0"/>
              </a:rPr>
              <a:t>alled the </a:t>
            </a:r>
            <a:r>
              <a:rPr lang="en-US" altLang="zh-CN" sz="2400" b="1" i="1" dirty="0">
                <a:solidFill>
                  <a:srgbClr val="0B61FF"/>
                </a:solidFill>
                <a:latin typeface="Trebuchet MS" panose="020B0603020202020204" pitchFamily="34" charset="0"/>
              </a:rPr>
              <a:t>weight</a:t>
            </a:r>
            <a:r>
              <a:rPr lang="en-US" altLang="zh-CN" sz="2400" dirty="0">
                <a:latin typeface="Trebuchet MS" panose="020B0603020202020204" pitchFamily="34" charset="0"/>
              </a:rPr>
              <a:t> of edge </a:t>
            </a:r>
            <a:r>
              <a:rPr lang="en-US" altLang="zh-CN" sz="2400" b="1" i="1" dirty="0">
                <a:latin typeface="Trebuchet MS" panose="020B0603020202020204" pitchFamily="34" charset="0"/>
                <a:cs typeface="Times New Roman" panose="02020603050405020304" pitchFamily="18" charset="0"/>
              </a:rPr>
              <a:t>e</a:t>
            </a:r>
            <a:r>
              <a:rPr lang="zh-CN" altLang="en-US" sz="2400" b="1" dirty="0">
                <a:latin typeface="Trebuchet MS" panose="020B0603020202020204" pitchFamily="34" charset="0"/>
                <a:cs typeface="Times New Roman" panose="02020603050405020304" pitchFamily="18" charset="0"/>
              </a:rPr>
              <a:t>. </a:t>
            </a:r>
            <a:endParaRPr lang="en-US" altLang="zh-CN" sz="2400" b="1" dirty="0">
              <a:latin typeface="Trebuchet MS" panose="020B0603020202020204" pitchFamily="34" charset="0"/>
              <a:cs typeface="Times New Roman" panose="02020603050405020304" pitchFamily="18" charset="0"/>
            </a:endParaRPr>
          </a:p>
          <a:p>
            <a:pPr marL="539750" indent="-273050" eaLnBrk="1" hangingPunct="1">
              <a:lnSpc>
                <a:spcPct val="120000"/>
              </a:lnSpc>
              <a:spcBef>
                <a:spcPts val="300"/>
              </a:spcBef>
              <a:buClr>
                <a:srgbClr val="0B61FF"/>
              </a:buClr>
              <a:buSzPct val="120000"/>
            </a:pPr>
            <a:r>
              <a:rPr lang="en-US" altLang="zh-CN" sz="2400" dirty="0">
                <a:latin typeface="Trebuchet MS" panose="020B0603020202020204" pitchFamily="34" charset="0"/>
              </a:rPr>
              <a:t>The graph </a:t>
            </a:r>
            <a:r>
              <a:rPr lang="en-US" altLang="zh-CN" sz="2400" b="1" i="1" dirty="0">
                <a:latin typeface="Trebuchet MS" panose="020B0603020202020204" pitchFamily="34" charset="0"/>
                <a:cs typeface="Times New Roman" panose="02020603050405020304" pitchFamily="18" charset="0"/>
              </a:rPr>
              <a:t>G</a:t>
            </a:r>
            <a:r>
              <a:rPr lang="en-US" altLang="zh-CN" sz="2400" dirty="0">
                <a:latin typeface="Trebuchet MS" panose="020B0603020202020204" pitchFamily="34" charset="0"/>
              </a:rPr>
              <a:t> together with the weights on its edges is called a </a:t>
            </a:r>
            <a:r>
              <a:rPr lang="en-US" altLang="zh-CN" sz="2400" b="1" i="1" dirty="0">
                <a:solidFill>
                  <a:srgbClr val="0B61FF"/>
                </a:solidFill>
                <a:latin typeface="Trebuchet MS" panose="020B0603020202020204" pitchFamily="34" charset="0"/>
              </a:rPr>
              <a:t>weighted graph</a:t>
            </a:r>
            <a:r>
              <a:rPr lang="en-US" altLang="zh-CN" sz="2400" dirty="0">
                <a:latin typeface="Trebuchet MS" panose="020B0603020202020204" pitchFamily="34" charset="0"/>
              </a:rPr>
              <a:t>, denoted by </a:t>
            </a:r>
            <a:r>
              <a:rPr lang="en-US" altLang="zh-CN" sz="2400" b="1" i="1" dirty="0">
                <a:solidFill>
                  <a:srgbClr val="0B61FF"/>
                </a:solidFill>
                <a:latin typeface="Trebuchet MS" panose="020B0603020202020204" pitchFamily="34" charset="0"/>
                <a:cs typeface="Times New Roman" panose="02020603050405020304" pitchFamily="18" charset="0"/>
              </a:rPr>
              <a:t>G</a:t>
            </a:r>
            <a:r>
              <a:rPr lang="en-US" altLang="zh-CN" sz="2400" b="1" dirty="0">
                <a:solidFill>
                  <a:srgbClr val="0B61FF"/>
                </a:solidFill>
                <a:latin typeface="Trebuchet MS" panose="020B0603020202020204" pitchFamily="34" charset="0"/>
                <a:cs typeface="Times New Roman" panose="02020603050405020304" pitchFamily="18" charset="0"/>
              </a:rPr>
              <a:t>=&lt;</a:t>
            </a:r>
            <a:r>
              <a:rPr lang="en-US" altLang="zh-CN" sz="2400" b="1" i="1" dirty="0">
                <a:solidFill>
                  <a:srgbClr val="0B61FF"/>
                </a:solidFill>
                <a:latin typeface="Trebuchet MS" panose="020B0603020202020204" pitchFamily="34" charset="0"/>
                <a:cs typeface="Times New Roman" panose="02020603050405020304" pitchFamily="18" charset="0"/>
              </a:rPr>
              <a:t>V</a:t>
            </a:r>
            <a:r>
              <a:rPr lang="en-US" altLang="zh-CN" sz="2400" b="1" dirty="0">
                <a:solidFill>
                  <a:srgbClr val="0B61FF"/>
                </a:solidFill>
                <a:latin typeface="Trebuchet MS" panose="020B0603020202020204" pitchFamily="34" charset="0"/>
                <a:cs typeface="Times New Roman" panose="02020603050405020304" pitchFamily="18" charset="0"/>
              </a:rPr>
              <a:t>,</a:t>
            </a:r>
            <a:r>
              <a:rPr lang="en-US" altLang="zh-CN" sz="2400" b="1" i="1" dirty="0">
                <a:solidFill>
                  <a:srgbClr val="0B61FF"/>
                </a:solidFill>
                <a:latin typeface="Trebuchet MS" panose="020B0603020202020204" pitchFamily="34" charset="0"/>
                <a:cs typeface="Times New Roman" panose="02020603050405020304" pitchFamily="18" charset="0"/>
              </a:rPr>
              <a:t>E</a:t>
            </a:r>
            <a:r>
              <a:rPr lang="en-US" altLang="zh-CN" sz="2400" b="1" dirty="0">
                <a:solidFill>
                  <a:srgbClr val="0B61FF"/>
                </a:solidFill>
                <a:latin typeface="Trebuchet MS" panose="020B0603020202020204" pitchFamily="34" charset="0"/>
                <a:cs typeface="Times New Roman" panose="02020603050405020304" pitchFamily="18" charset="0"/>
              </a:rPr>
              <a:t>,</a:t>
            </a:r>
            <a:r>
              <a:rPr lang="en-US" altLang="zh-CN" sz="2400" b="1" i="1" dirty="0">
                <a:solidFill>
                  <a:srgbClr val="0B61FF"/>
                </a:solidFill>
                <a:latin typeface="Trebuchet MS" panose="020B0603020202020204" pitchFamily="34" charset="0"/>
                <a:cs typeface="Times New Roman" panose="02020603050405020304" pitchFamily="18" charset="0"/>
              </a:rPr>
              <a:t>W</a:t>
            </a:r>
            <a:r>
              <a:rPr lang="en-US" altLang="zh-CN" sz="2400" b="1" dirty="0">
                <a:solidFill>
                  <a:srgbClr val="0B61FF"/>
                </a:solidFill>
                <a:latin typeface="Trebuchet MS" panose="020B0603020202020204" pitchFamily="34" charset="0"/>
                <a:cs typeface="Times New Roman" panose="02020603050405020304" pitchFamily="18" charset="0"/>
              </a:rPr>
              <a:t>&gt;. </a:t>
            </a:r>
          </a:p>
          <a:p>
            <a:pPr marL="539750" indent="-273050" eaLnBrk="1" hangingPunct="1">
              <a:lnSpc>
                <a:spcPct val="120000"/>
              </a:lnSpc>
              <a:spcBef>
                <a:spcPts val="300"/>
              </a:spcBef>
              <a:buClr>
                <a:srgbClr val="0B61FF"/>
              </a:buClr>
              <a:buSzPct val="120000"/>
            </a:pPr>
            <a:r>
              <a:rPr lang="en-US" altLang="zh-CN" sz="2400" dirty="0">
                <a:latin typeface="Trebuchet MS" panose="020B0603020202020204" pitchFamily="34" charset="0"/>
                <a:cs typeface="Times New Roman" panose="02020603050405020304" pitchFamily="18" charset="0"/>
              </a:rPr>
              <a:t>Let</a:t>
            </a:r>
            <a:r>
              <a:rPr lang="en-US" altLang="zh-CN" sz="2400" b="1" i="1" dirty="0">
                <a:latin typeface="Trebuchet MS" panose="020B0603020202020204" pitchFamily="34" charset="0"/>
                <a:cs typeface="Times New Roman" panose="02020603050405020304" pitchFamily="18" charset="0"/>
              </a:rPr>
              <a:t> H</a:t>
            </a:r>
            <a:r>
              <a:rPr lang="zh-CN" altLang="en-US" sz="2400" b="1" i="1" dirty="0">
                <a:latin typeface="Trebuchet MS" panose="020B0603020202020204" pitchFamily="34" charset="0"/>
                <a:cs typeface="Times New Roman" panose="02020603050405020304" pitchFamily="18" charset="0"/>
                <a:sym typeface="Symbol" panose="05050102010706020507" pitchFamily="18" charset="2"/>
              </a:rPr>
              <a:t> </a:t>
            </a:r>
            <a:r>
              <a:rPr lang="en-US" altLang="zh-CN" sz="2400" dirty="0">
                <a:latin typeface="Trebuchet MS" panose="020B0603020202020204" pitchFamily="34" charset="0"/>
              </a:rPr>
              <a:t>be a subgraph of </a:t>
            </a:r>
            <a:r>
              <a:rPr lang="zh-CN" altLang="en-US" sz="2400" b="1" i="1" dirty="0">
                <a:latin typeface="Trebuchet MS" panose="020B0603020202020204" pitchFamily="34" charset="0"/>
                <a:cs typeface="Times New Roman" panose="02020603050405020304" pitchFamily="18" charset="0"/>
                <a:sym typeface="Symbol" panose="05050102010706020507" pitchFamily="18" charset="2"/>
              </a:rPr>
              <a:t> </a:t>
            </a:r>
            <a:r>
              <a:rPr lang="en-US" altLang="zh-CN" sz="2400" b="1" i="1" dirty="0">
                <a:latin typeface="Trebuchet MS" panose="020B0603020202020204" pitchFamily="34" charset="0"/>
                <a:cs typeface="Times New Roman" panose="02020603050405020304" pitchFamily="18" charset="0"/>
                <a:sym typeface="Symbol" panose="05050102010706020507" pitchFamily="18" charset="2"/>
              </a:rPr>
              <a:t>G</a:t>
            </a:r>
            <a:r>
              <a:rPr lang="zh-CN" altLang="en-US" sz="2400" b="1" dirty="0">
                <a:latin typeface="Trebuchet MS" panose="020B0603020202020204" pitchFamily="34" charset="0"/>
                <a:cs typeface="Times New Roman" panose="02020603050405020304" pitchFamily="18" charset="0"/>
                <a:sym typeface="Symbol" panose="05050102010706020507" pitchFamily="18" charset="2"/>
              </a:rPr>
              <a:t>, </a:t>
            </a:r>
            <a:r>
              <a:rPr lang="en-US" altLang="zh-CN" sz="2400" dirty="0">
                <a:latin typeface="Trebuchet MS" panose="020B0603020202020204" pitchFamily="34" charset="0"/>
              </a:rPr>
              <a:t>The </a:t>
            </a:r>
            <a:r>
              <a:rPr lang="en-US" altLang="zh-CN" sz="2400" b="1" dirty="0">
                <a:latin typeface="Trebuchet MS" panose="020B0603020202020204" pitchFamily="34" charset="0"/>
              </a:rPr>
              <a:t>weight of </a:t>
            </a:r>
            <a:r>
              <a:rPr lang="en-US" altLang="zh-CN" sz="2400" b="1" i="1" dirty="0">
                <a:latin typeface="Trebuchet MS" panose="020B0603020202020204" pitchFamily="34" charset="0"/>
                <a:cs typeface="Times New Roman" panose="02020603050405020304" pitchFamily="18" charset="0"/>
                <a:sym typeface="Symbol" panose="05050102010706020507" pitchFamily="18" charset="2"/>
              </a:rPr>
              <a:t>H </a:t>
            </a:r>
            <a:r>
              <a:rPr lang="en-US" altLang="zh-CN" sz="2400" dirty="0">
                <a:latin typeface="Trebuchet MS" panose="020B0603020202020204" pitchFamily="34" charset="0"/>
              </a:rPr>
              <a:t>denoted </a:t>
            </a:r>
            <a:r>
              <a:rPr lang="en-US" altLang="zh-CN" sz="2400" b="1" i="1" dirty="0">
                <a:solidFill>
                  <a:srgbClr val="0B61FF"/>
                </a:solidFill>
                <a:latin typeface="Trebuchet MS" panose="020B0603020202020204" pitchFamily="34" charset="0"/>
                <a:cs typeface="Times New Roman" panose="02020603050405020304" pitchFamily="18" charset="0"/>
                <a:sym typeface="Symbol" panose="05050102010706020507" pitchFamily="18" charset="2"/>
              </a:rPr>
              <a:t>W</a:t>
            </a:r>
            <a:r>
              <a:rPr lang="en-US" altLang="zh-CN" sz="2400" b="1" dirty="0">
                <a:solidFill>
                  <a:srgbClr val="0B61FF"/>
                </a:solidFill>
                <a:latin typeface="Trebuchet MS" panose="020B0603020202020204" pitchFamily="34" charset="0"/>
                <a:cs typeface="Times New Roman" panose="02020603050405020304" pitchFamily="18" charset="0"/>
                <a:sym typeface="Symbol" panose="05050102010706020507" pitchFamily="18" charset="2"/>
              </a:rPr>
              <a:t>(</a:t>
            </a:r>
            <a:r>
              <a:rPr lang="en-US" altLang="zh-CN" sz="2400" b="1" i="1" dirty="0">
                <a:solidFill>
                  <a:srgbClr val="0B61FF"/>
                </a:solidFill>
                <a:latin typeface="Trebuchet MS" panose="020B0603020202020204" pitchFamily="34" charset="0"/>
                <a:cs typeface="Times New Roman" panose="02020603050405020304" pitchFamily="18" charset="0"/>
                <a:sym typeface="Symbol" panose="05050102010706020507" pitchFamily="18" charset="2"/>
              </a:rPr>
              <a:t>H</a:t>
            </a:r>
            <a:r>
              <a:rPr lang="en-US" altLang="zh-CN" sz="2400" b="1" dirty="0">
                <a:solidFill>
                  <a:srgbClr val="0B61FF"/>
                </a:solidFill>
                <a:latin typeface="Trebuchet MS" panose="020B0603020202020204" pitchFamily="34" charset="0"/>
                <a:cs typeface="Times New Roman" panose="02020603050405020304" pitchFamily="18" charset="0"/>
                <a:sym typeface="Symbol" panose="05050102010706020507" pitchFamily="18" charset="2"/>
              </a:rPr>
              <a:t>)</a:t>
            </a:r>
            <a:r>
              <a:rPr lang="en-US" altLang="zh-CN" sz="2400" b="1" dirty="0">
                <a:latin typeface="Trebuchet MS" panose="020B0603020202020204" pitchFamily="34" charset="0"/>
                <a:cs typeface="Times New Roman" panose="02020603050405020304" pitchFamily="18" charset="0"/>
                <a:sym typeface="Symbol" panose="05050102010706020507" pitchFamily="18" charset="2"/>
              </a:rPr>
              <a:t> </a:t>
            </a:r>
            <a:r>
              <a:rPr lang="en-US" altLang="zh-CN" sz="2400" dirty="0">
                <a:latin typeface="Trebuchet MS" panose="020B0603020202020204" pitchFamily="34" charset="0"/>
              </a:rPr>
              <a:t>is the sum of the weights of all edges in </a:t>
            </a:r>
            <a:r>
              <a:rPr lang="en-US" altLang="zh-CN" sz="2400" b="1" i="1" dirty="0">
                <a:latin typeface="Trebuchet MS" panose="020B0603020202020204" pitchFamily="34" charset="0"/>
              </a:rPr>
              <a:t>H</a:t>
            </a:r>
            <a:r>
              <a:rPr lang="en-US" altLang="zh-CN" sz="2400" dirty="0">
                <a:latin typeface="Trebuchet MS" panose="020B0603020202020204" pitchFamily="34" charset="0"/>
              </a:rPr>
              <a:t>.</a:t>
            </a:r>
            <a:endParaRPr lang="en-US" altLang="zh-CN" sz="2400" b="1" dirty="0">
              <a:latin typeface="Trebuchet MS" panose="020B0603020202020204" pitchFamily="34" charset="0"/>
              <a:cs typeface="Times New Roman" panose="02020603050405020304" pitchFamily="18" charset="0"/>
              <a:sym typeface="Symbol" panose="05050102010706020507" pitchFamily="18" charset="2"/>
            </a:endParaRPr>
          </a:p>
          <a:p>
            <a:pPr eaLnBrk="1" hangingPunct="1">
              <a:lnSpc>
                <a:spcPct val="120000"/>
              </a:lnSpc>
              <a:spcBef>
                <a:spcPts val="300"/>
              </a:spcBef>
              <a:buClr>
                <a:srgbClr val="0B61FF"/>
              </a:buClr>
              <a:buSzPct val="80000"/>
              <a:buFont typeface="Wingdings" panose="05000000000000000000" pitchFamily="2" charset="2"/>
              <a:buChar char="n"/>
            </a:pPr>
            <a:r>
              <a:rPr lang="en-US" altLang="zh-CN" sz="2400" b="1" i="1" dirty="0">
                <a:solidFill>
                  <a:srgbClr val="0B61FF"/>
                </a:solidFill>
                <a:latin typeface="Trebuchet MS" panose="020B0603020202020204" pitchFamily="34" charset="0"/>
              </a:rPr>
              <a:t>Minimum Spanning Tree </a:t>
            </a:r>
            <a:r>
              <a:rPr lang="en-US" altLang="zh-CN" sz="2400" b="1" dirty="0">
                <a:latin typeface="Trebuchet MS" panose="020B0603020202020204" pitchFamily="34" charset="0"/>
              </a:rPr>
              <a:t>(</a:t>
            </a:r>
            <a:r>
              <a:rPr lang="en-US" altLang="zh-CN" sz="2400" b="1" dirty="0">
                <a:solidFill>
                  <a:srgbClr val="0B61FF"/>
                </a:solidFill>
                <a:latin typeface="Trebuchet MS" panose="020B0603020202020204" pitchFamily="34" charset="0"/>
              </a:rPr>
              <a:t>MST</a:t>
            </a:r>
            <a:r>
              <a:rPr lang="en-US" altLang="zh-CN" sz="2400" b="1" dirty="0">
                <a:latin typeface="Trebuchet MS" panose="020B0603020202020204" pitchFamily="34" charset="0"/>
              </a:rPr>
              <a:t>):</a:t>
            </a:r>
            <a:br>
              <a:rPr lang="en-US" altLang="zh-CN" sz="2400" dirty="0">
                <a:latin typeface="Trebuchet MS" panose="020B0603020202020204" pitchFamily="34" charset="0"/>
              </a:rPr>
            </a:br>
            <a:r>
              <a:rPr lang="en-US" altLang="zh-CN" sz="2400" dirty="0">
                <a:latin typeface="Trebuchet MS" panose="020B0603020202020204" pitchFamily="34" charset="0"/>
              </a:rPr>
              <a:t>A spanning tree of a weighted graph </a:t>
            </a:r>
            <a:r>
              <a:rPr lang="en-US" altLang="zh-CN" sz="2400" b="1" i="1" dirty="0">
                <a:latin typeface="Trebuchet MS" panose="020B0603020202020204" pitchFamily="34" charset="0"/>
              </a:rPr>
              <a:t>G</a:t>
            </a:r>
            <a:r>
              <a:rPr lang="en-US" altLang="zh-CN" sz="2400" dirty="0">
                <a:latin typeface="Trebuchet MS" panose="020B0603020202020204" pitchFamily="34" charset="0"/>
              </a:rPr>
              <a:t> that has the </a:t>
            </a:r>
            <a:r>
              <a:rPr lang="en-US" altLang="zh-CN" sz="2400" b="1" dirty="0">
                <a:latin typeface="Trebuchet MS" panose="020B0603020202020204" pitchFamily="34" charset="0"/>
              </a:rPr>
              <a:t>minimum total weight</a:t>
            </a:r>
            <a:r>
              <a:rPr lang="en-US" altLang="zh-CN" sz="2400" dirty="0">
                <a:latin typeface="Trebuchet MS" panose="020B0603020202020204" pitchFamily="34" charset="0"/>
              </a:rPr>
              <a:t> among all possible spanning trees.</a:t>
            </a:r>
            <a:endParaRPr lang="en-US" altLang="zh-CN" sz="2400" b="1" dirty="0">
              <a:solidFill>
                <a:srgbClr val="FF3300"/>
              </a:solidFill>
              <a:latin typeface="Trebuchet MS" panose="020B0603020202020204" pitchFamily="34" charset="0"/>
              <a:cs typeface="Times New Roman" panose="02020603050405020304" pitchFamily="18" charset="0"/>
            </a:endParaRPr>
          </a:p>
        </p:txBody>
      </p:sp>
    </p:spTree>
    <p:extLst>
      <p:ext uri="{BB962C8B-B14F-4D97-AF65-F5344CB8AC3E}">
        <p14:creationId xmlns:p14="http://schemas.microsoft.com/office/powerpoint/2010/main" val="3887517183"/>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8">
                                            <p:txEl>
                                              <p:pRg st="1" end="1"/>
                                            </p:txEl>
                                          </p:spTgt>
                                        </p:tgtEl>
                                        <p:attrNameLst>
                                          <p:attrName>style.visibility</p:attrName>
                                        </p:attrNameLst>
                                      </p:cBhvr>
                                      <p:to>
                                        <p:strVal val="visible"/>
                                      </p:to>
                                    </p:set>
                                    <p:animEffect transition="in" filter="fade">
                                      <p:cBhvr>
                                        <p:cTn id="7" dur="1000"/>
                                        <p:tgtEl>
                                          <p:spTgt spid="8">
                                            <p:txEl>
                                              <p:pRg st="1" end="1"/>
                                            </p:txEl>
                                          </p:spTgt>
                                        </p:tgtEl>
                                      </p:cBhvr>
                                    </p:animEffect>
                                    <p:anim calcmode="lin" valueType="num">
                                      <p:cBhvr>
                                        <p:cTn id="8" dur="1000" fill="hold"/>
                                        <p:tgtEl>
                                          <p:spTgt spid="8">
                                            <p:txEl>
                                              <p:pRg st="1" end="1"/>
                                            </p:txEl>
                                          </p:spTgt>
                                        </p:tgtEl>
                                        <p:attrNameLst>
                                          <p:attrName>ppt_x</p:attrName>
                                        </p:attrNameLst>
                                      </p:cBhvr>
                                      <p:tavLst>
                                        <p:tav tm="0">
                                          <p:val>
                                            <p:strVal val="#ppt_x"/>
                                          </p:val>
                                        </p:tav>
                                        <p:tav tm="100000">
                                          <p:val>
                                            <p:strVal val="#ppt_x"/>
                                          </p:val>
                                        </p:tav>
                                      </p:tavLst>
                                    </p:anim>
                                    <p:anim calcmode="lin" valueType="num">
                                      <p:cBhvr>
                                        <p:cTn id="9" dur="1000" fill="hold"/>
                                        <p:tgtEl>
                                          <p:spTgt spid="8">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8">
                                            <p:txEl>
                                              <p:pRg st="2" end="2"/>
                                            </p:txEl>
                                          </p:spTgt>
                                        </p:tgtEl>
                                        <p:attrNameLst>
                                          <p:attrName>style.visibility</p:attrName>
                                        </p:attrNameLst>
                                      </p:cBhvr>
                                      <p:to>
                                        <p:strVal val="visible"/>
                                      </p:to>
                                    </p:set>
                                    <p:animEffect transition="in" filter="fade">
                                      <p:cBhvr>
                                        <p:cTn id="14" dur="1000"/>
                                        <p:tgtEl>
                                          <p:spTgt spid="8">
                                            <p:txEl>
                                              <p:pRg st="2" end="2"/>
                                            </p:txEl>
                                          </p:spTgt>
                                        </p:tgtEl>
                                      </p:cBhvr>
                                    </p:animEffect>
                                    <p:anim calcmode="lin" valueType="num">
                                      <p:cBhvr>
                                        <p:cTn id="15" dur="1000" fill="hold"/>
                                        <p:tgtEl>
                                          <p:spTgt spid="8">
                                            <p:txEl>
                                              <p:pRg st="2" end="2"/>
                                            </p:txEl>
                                          </p:spTgt>
                                        </p:tgtEl>
                                        <p:attrNameLst>
                                          <p:attrName>ppt_x</p:attrName>
                                        </p:attrNameLst>
                                      </p:cBhvr>
                                      <p:tavLst>
                                        <p:tav tm="0">
                                          <p:val>
                                            <p:strVal val="#ppt_x"/>
                                          </p:val>
                                        </p:tav>
                                        <p:tav tm="100000">
                                          <p:val>
                                            <p:strVal val="#ppt_x"/>
                                          </p:val>
                                        </p:tav>
                                      </p:tavLst>
                                    </p:anim>
                                    <p:anim calcmode="lin" valueType="num">
                                      <p:cBhvr>
                                        <p:cTn id="16" dur="1000" fill="hold"/>
                                        <p:tgtEl>
                                          <p:spTgt spid="8">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nodeType="clickEffect">
                                  <p:stCondLst>
                                    <p:cond delay="0"/>
                                  </p:stCondLst>
                                  <p:childTnLst>
                                    <p:set>
                                      <p:cBhvr>
                                        <p:cTn id="20" dur="1" fill="hold">
                                          <p:stCondLst>
                                            <p:cond delay="0"/>
                                          </p:stCondLst>
                                        </p:cTn>
                                        <p:tgtEl>
                                          <p:spTgt spid="8">
                                            <p:txEl>
                                              <p:pRg st="3" end="3"/>
                                            </p:txEl>
                                          </p:spTgt>
                                        </p:tgtEl>
                                        <p:attrNameLst>
                                          <p:attrName>style.visibility</p:attrName>
                                        </p:attrNameLst>
                                      </p:cBhvr>
                                      <p:to>
                                        <p:strVal val="visible"/>
                                      </p:to>
                                    </p:set>
                                    <p:animEffect transition="in" filter="fade">
                                      <p:cBhvr>
                                        <p:cTn id="21" dur="1000"/>
                                        <p:tgtEl>
                                          <p:spTgt spid="8">
                                            <p:txEl>
                                              <p:pRg st="3" end="3"/>
                                            </p:txEl>
                                          </p:spTgt>
                                        </p:tgtEl>
                                      </p:cBhvr>
                                    </p:animEffect>
                                    <p:anim calcmode="lin" valueType="num">
                                      <p:cBhvr>
                                        <p:cTn id="22" dur="1000" fill="hold"/>
                                        <p:tgtEl>
                                          <p:spTgt spid="8">
                                            <p:txEl>
                                              <p:pRg st="3" end="3"/>
                                            </p:txEl>
                                          </p:spTgt>
                                        </p:tgtEl>
                                        <p:attrNameLst>
                                          <p:attrName>ppt_x</p:attrName>
                                        </p:attrNameLst>
                                      </p:cBhvr>
                                      <p:tavLst>
                                        <p:tav tm="0">
                                          <p:val>
                                            <p:strVal val="#ppt_x"/>
                                          </p:val>
                                        </p:tav>
                                        <p:tav tm="100000">
                                          <p:val>
                                            <p:strVal val="#ppt_x"/>
                                          </p:val>
                                        </p:tav>
                                      </p:tavLst>
                                    </p:anim>
                                    <p:anim calcmode="lin" valueType="num">
                                      <p:cBhvr>
                                        <p:cTn id="23" dur="1000" fill="hold"/>
                                        <p:tgtEl>
                                          <p:spTgt spid="8">
                                            <p:txEl>
                                              <p:pRg st="3" end="3"/>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0" y="0"/>
            <a:ext cx="12192000" cy="762000"/>
          </a:xfrm>
          <a:prstGeom prst="rect">
            <a:avLst/>
          </a:prstGeom>
          <a:solidFill>
            <a:srgbClr val="002F7C"/>
          </a:solidFill>
        </p:spPr>
        <p:style>
          <a:lnRef idx="2">
            <a:schemeClr val="dk1">
              <a:shade val="50000"/>
            </a:schemeClr>
          </a:lnRef>
          <a:fillRef idx="1">
            <a:schemeClr val="dk1"/>
          </a:fillRef>
          <a:effectRef idx="0">
            <a:schemeClr val="dk1"/>
          </a:effectRef>
          <a:fontRef idx="minor">
            <a:schemeClr val="lt1"/>
          </a:fontRef>
        </p:style>
        <p:txBody>
          <a:bodyPr rtlCol="0" anchor="ctr"/>
          <a:lstStyle/>
          <a:p>
            <a:pPr>
              <a:lnSpc>
                <a:spcPct val="110000"/>
              </a:lnSpc>
              <a:buClr>
                <a:srgbClr val="0B61FF"/>
              </a:buClr>
              <a:buSzPct val="80000"/>
            </a:pPr>
            <a:r>
              <a:rPr lang="zh-CN" altLang="en-US" sz="2000" b="1" dirty="0">
                <a:latin typeface="Times New Roman" panose="02020603050405020304" pitchFamily="18" charset="0"/>
                <a:ea typeface="宋体" panose="02010600030101010101" pitchFamily="2" charset="-122"/>
                <a:cs typeface="Times New Roman" panose="02020603050405020304" pitchFamily="18" charset="0"/>
              </a:rPr>
              <a:t>                 </a:t>
            </a:r>
            <a:r>
              <a:rPr lang="en-US" altLang="zh-CN" sz="2000" b="1" dirty="0">
                <a:latin typeface="Trebuchet MS" panose="020B0603020202020204" pitchFamily="34" charset="0"/>
              </a:rPr>
              <a:t>7.1.2 Spanning Trees</a:t>
            </a:r>
          </a:p>
          <a:p>
            <a:pPr>
              <a:lnSpc>
                <a:spcPct val="110000"/>
              </a:lnSpc>
              <a:buClr>
                <a:srgbClr val="0B61FF"/>
              </a:buClr>
              <a:buSzPct val="80000"/>
            </a:pPr>
            <a:r>
              <a:rPr lang="en-US" altLang="zh-CN" sz="2000" b="1" dirty="0">
                <a:latin typeface="Trebuchet MS" panose="020B0603020202020204" pitchFamily="34" charset="0"/>
              </a:rPr>
              <a:t>                 </a:t>
            </a:r>
            <a:r>
              <a:rPr lang="en-US" altLang="zh-CN" sz="2400" b="1" dirty="0">
                <a:solidFill>
                  <a:schemeClr val="accent2"/>
                </a:solidFill>
                <a:latin typeface="Trebuchet MS" panose="020B0603020202020204" pitchFamily="34" charset="0"/>
                <a:ea typeface="Cambria Math" panose="02040503050406030204" pitchFamily="18" charset="0"/>
                <a:cs typeface="Times New Roman" panose="02020603050405020304" pitchFamily="18" charset="0"/>
              </a:rPr>
              <a:t>⤷</a:t>
            </a:r>
            <a:r>
              <a:rPr lang="en-US" altLang="zh-CN" sz="2400" b="1" dirty="0">
                <a:latin typeface="Trebuchet MS" panose="020B0603020202020204" pitchFamily="34" charset="0"/>
              </a:rPr>
              <a:t> Kruskal’s MST Algorithm – Cycle-Avoidance Approach</a:t>
            </a:r>
          </a:p>
        </p:txBody>
      </p:sp>
      <p:sp>
        <p:nvSpPr>
          <p:cNvPr id="13" name="矩形 12"/>
          <p:cNvSpPr/>
          <p:nvPr/>
        </p:nvSpPr>
        <p:spPr>
          <a:xfrm>
            <a:off x="824682" y="0"/>
            <a:ext cx="175443" cy="628650"/>
          </a:xfrm>
          <a:prstGeom prst="rect">
            <a:avLst/>
          </a:prstGeom>
          <a:solidFill>
            <a:srgbClr val="CFA57C"/>
          </a:solidFill>
          <a:ln cmpd="sng">
            <a:gradFill flip="none" rotWithShape="1">
              <a:gsLst>
                <a:gs pos="50000">
                  <a:schemeClr val="accent2">
                    <a:lumMod val="60000"/>
                    <a:lumOff val="40000"/>
                  </a:schemeClr>
                </a:gs>
                <a:gs pos="0">
                  <a:schemeClr val="accent2">
                    <a:lumMod val="20000"/>
                    <a:lumOff val="80000"/>
                  </a:schemeClr>
                </a:gs>
                <a:gs pos="95000">
                  <a:schemeClr val="accent2"/>
                </a:gs>
              </a:gsLst>
              <a:path path="circle">
                <a:fillToRect l="50000" t="-80000" r="50000" b="180000"/>
              </a:path>
              <a:tileRect/>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22" name="Picture 6" descr="D:\MBA工作\LOGO\同济经管LOGO反白.png"/>
          <p:cNvPicPr>
            <a:picLocks noChangeAspect="1" noChangeArrowheads="1"/>
          </p:cNvPicPr>
          <p:nvPr/>
        </p:nvPicPr>
        <p:blipFill>
          <a:blip r:embed="rId3" cstate="email">
            <a:extLst>
              <a:ext uri="{28A0092B-C50C-407E-A947-70E740481C1C}">
                <a14:useLocalDpi xmlns:a14="http://schemas.microsoft.com/office/drawing/2010/main" val="0"/>
              </a:ext>
            </a:extLst>
          </a:blip>
          <a:srcRect/>
          <a:stretch>
            <a:fillRect/>
          </a:stretch>
        </p:blipFill>
        <p:spPr bwMode="auto">
          <a:xfrm>
            <a:off x="10267423" y="165688"/>
            <a:ext cx="1386605" cy="462962"/>
          </a:xfrm>
          <a:prstGeom prst="rect">
            <a:avLst/>
          </a:prstGeom>
          <a:noFill/>
          <a:extLst>
            <a:ext uri="{909E8E84-426E-40DD-AFC4-6F175D3DCCD1}">
              <a14:hiddenFill xmlns:a14="http://schemas.microsoft.com/office/drawing/2010/main">
                <a:solidFill>
                  <a:srgbClr val="FFFFFF"/>
                </a:solidFill>
              </a14:hiddenFill>
            </a:ext>
          </a:extLst>
        </p:spPr>
      </p:pic>
      <p:pic>
        <p:nvPicPr>
          <p:cNvPr id="2" name="图片 1" descr="微信图片_20220318113523"/>
          <p:cNvPicPr>
            <a:picLocks noChangeAspect="1"/>
          </p:cNvPicPr>
          <p:nvPr userDrawn="1"/>
        </p:nvPicPr>
        <p:blipFill>
          <a:blip r:embed="rId4"/>
          <a:stretch>
            <a:fillRect/>
          </a:stretch>
        </p:blipFill>
        <p:spPr>
          <a:xfrm>
            <a:off x="9291877" y="6115050"/>
            <a:ext cx="2244725" cy="361315"/>
          </a:xfrm>
          <a:prstGeom prst="rect">
            <a:avLst/>
          </a:prstGeom>
        </p:spPr>
      </p:pic>
      <p:sp>
        <p:nvSpPr>
          <p:cNvPr id="18" name="Rectangle 2">
            <a:extLst>
              <a:ext uri="{FF2B5EF4-FFF2-40B4-BE49-F238E27FC236}">
                <a16:creationId xmlns:a16="http://schemas.microsoft.com/office/drawing/2014/main" id="{E217C615-1D49-4D07-B850-D36106D7AA9A}"/>
              </a:ext>
            </a:extLst>
          </p:cNvPr>
          <p:cNvSpPr>
            <a:spLocks noChangeArrowheads="1"/>
          </p:cNvSpPr>
          <p:nvPr/>
        </p:nvSpPr>
        <p:spPr bwMode="auto">
          <a:xfrm>
            <a:off x="1000125" y="815365"/>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8" name="Rectangle 3">
            <a:extLst>
              <a:ext uri="{FF2B5EF4-FFF2-40B4-BE49-F238E27FC236}">
                <a16:creationId xmlns:a16="http://schemas.microsoft.com/office/drawing/2014/main" id="{97F08C45-3D15-45C1-A5A3-D1EB58DC91FE}"/>
              </a:ext>
            </a:extLst>
          </p:cNvPr>
          <p:cNvSpPr txBox="1">
            <a:spLocks noChangeArrowheads="1"/>
          </p:cNvSpPr>
          <p:nvPr/>
        </p:nvSpPr>
        <p:spPr>
          <a:xfrm>
            <a:off x="1000125" y="927687"/>
            <a:ext cx="9877336" cy="4888907"/>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20000"/>
              </a:lnSpc>
              <a:spcBef>
                <a:spcPts val="600"/>
              </a:spcBef>
              <a:buClr>
                <a:srgbClr val="0B61FF"/>
              </a:buClr>
              <a:buSzPct val="80000"/>
              <a:buFont typeface="Wingdings" panose="05000000000000000000" pitchFamily="2" charset="2"/>
              <a:buChar char="n"/>
              <a:defRPr/>
            </a:pPr>
            <a:r>
              <a:rPr lang="en-US" altLang="zh-CN" sz="2400" b="1" dirty="0">
                <a:latin typeface="Trebuchet MS" panose="020B0603020202020204" pitchFamily="34" charset="0"/>
              </a:rPr>
              <a:t>Kruskal’s Algorithm</a:t>
            </a:r>
            <a:r>
              <a:rPr lang="en-US" altLang="zh-CN" sz="2400" dirty="0">
                <a:latin typeface="Trebuchet MS" panose="020B0603020202020204" pitchFamily="34" charset="0"/>
              </a:rPr>
              <a:t> — An algorithm for </a:t>
            </a:r>
            <a:r>
              <a:rPr lang="en-US" altLang="zh-CN" sz="2400" b="1" i="1" dirty="0">
                <a:solidFill>
                  <a:srgbClr val="0B61FF"/>
                </a:solidFill>
                <a:latin typeface="Trebuchet MS" panose="020B0603020202020204" pitchFamily="34" charset="0"/>
              </a:rPr>
              <a:t>finding a minimum spanning tree</a:t>
            </a:r>
            <a:r>
              <a:rPr lang="en-US" altLang="zh-CN" sz="2400" dirty="0">
                <a:latin typeface="Trebuchet MS" panose="020B0603020202020204" pitchFamily="34" charset="0"/>
              </a:rPr>
              <a:t>. Let </a:t>
            </a:r>
            <a:r>
              <a:rPr lang="en-US" altLang="zh-CN" sz="2400" b="1" i="1" dirty="0">
                <a:latin typeface="Trebuchet MS" panose="020B0603020202020204" pitchFamily="34" charset="0"/>
              </a:rPr>
              <a:t>G</a:t>
            </a:r>
            <a:r>
              <a:rPr lang="en-US" altLang="zh-CN" sz="2400" dirty="0">
                <a:latin typeface="Trebuchet MS" panose="020B0603020202020204" pitchFamily="34" charset="0"/>
              </a:rPr>
              <a:t> be an undirected connected weighted graph of order </a:t>
            </a:r>
            <a:r>
              <a:rPr lang="en-US" altLang="zh-CN" sz="2400" b="1" i="1" dirty="0">
                <a:latin typeface="Trebuchet MS" panose="020B0603020202020204" pitchFamily="34" charset="0"/>
              </a:rPr>
              <a:t>n</a:t>
            </a:r>
            <a:r>
              <a:rPr lang="en-US" altLang="zh-CN" sz="2400" dirty="0">
                <a:latin typeface="Trebuchet MS" panose="020B0603020202020204" pitchFamily="34" charset="0"/>
              </a:rPr>
              <a:t>.</a:t>
            </a:r>
          </a:p>
          <a:p>
            <a:pPr marL="717550" indent="-450850">
              <a:lnSpc>
                <a:spcPct val="120000"/>
              </a:lnSpc>
              <a:spcBef>
                <a:spcPts val="600"/>
              </a:spcBef>
              <a:buFont typeface="Wingdings" panose="05000000000000000000" pitchFamily="2" charset="2"/>
              <a:buNone/>
              <a:defRPr/>
            </a:pPr>
            <a:r>
              <a:rPr lang="en-US" altLang="zh-CN" sz="2400" b="1" dirty="0">
                <a:solidFill>
                  <a:srgbClr val="0B61FF"/>
                </a:solidFill>
                <a:latin typeface="Trebuchet MS" panose="020B0603020202020204" pitchFamily="34" charset="0"/>
                <a:cs typeface="Times New Roman" pitchFamily="18" charset="0"/>
              </a:rPr>
              <a:t>(1) </a:t>
            </a:r>
            <a:r>
              <a:rPr lang="en-US" altLang="zh-CN" sz="2400" dirty="0">
                <a:latin typeface="Trebuchet MS" panose="020B0603020202020204" pitchFamily="34" charset="0"/>
              </a:rPr>
              <a:t>Sort all edges in non-decreasing order of weight (excluding cycles), i.e. </a:t>
            </a:r>
            <a:r>
              <a:rPr lang="en-US" altLang="zh-CN" sz="2400" b="1" i="1" dirty="0">
                <a:latin typeface="Trebuchet MS" panose="020B0603020202020204" pitchFamily="34" charset="0"/>
                <a:cs typeface="Times New Roman" pitchFamily="18" charset="0"/>
              </a:rPr>
              <a:t>W</a:t>
            </a:r>
            <a:r>
              <a:rPr lang="en-US" altLang="zh-CN" sz="2400" b="1" dirty="0">
                <a:latin typeface="Trebuchet MS" panose="020B0603020202020204" pitchFamily="34" charset="0"/>
                <a:cs typeface="Times New Roman" pitchFamily="18" charset="0"/>
              </a:rPr>
              <a:t>(</a:t>
            </a:r>
            <a:r>
              <a:rPr lang="en-US" altLang="zh-CN" sz="2400" b="1" i="1" dirty="0">
                <a:latin typeface="Trebuchet MS" panose="020B0603020202020204" pitchFamily="34" charset="0"/>
                <a:cs typeface="Times New Roman" pitchFamily="18" charset="0"/>
              </a:rPr>
              <a:t>e</a:t>
            </a:r>
            <a:r>
              <a:rPr lang="en-US" altLang="zh-CN" sz="2400" b="1" baseline="-25000" dirty="0">
                <a:latin typeface="Trebuchet MS" panose="020B0603020202020204" pitchFamily="34" charset="0"/>
                <a:cs typeface="Times New Roman" pitchFamily="18" charset="0"/>
              </a:rPr>
              <a:t>1</a:t>
            </a:r>
            <a:r>
              <a:rPr lang="en-US" altLang="zh-CN" sz="2400" b="1" dirty="0">
                <a:latin typeface="Trebuchet MS" panose="020B0603020202020204" pitchFamily="34" charset="0"/>
                <a:cs typeface="Times New Roman" pitchFamily="18" charset="0"/>
              </a:rPr>
              <a:t>)</a:t>
            </a:r>
            <a:r>
              <a:rPr lang="zh-CN" altLang="zh-CN" sz="2400" b="1" dirty="0">
                <a:latin typeface="Trebuchet MS" panose="020B0603020202020204" pitchFamily="34" charset="0"/>
                <a:cs typeface="Times New Roman" pitchFamily="18" charset="0"/>
              </a:rPr>
              <a:t>≤</a:t>
            </a:r>
            <a:r>
              <a:rPr lang="en-US" altLang="zh-CN" sz="2400" b="1" i="1" dirty="0">
                <a:latin typeface="Trebuchet MS" panose="020B0603020202020204" pitchFamily="34" charset="0"/>
                <a:cs typeface="Times New Roman" pitchFamily="18" charset="0"/>
              </a:rPr>
              <a:t>W</a:t>
            </a:r>
            <a:r>
              <a:rPr lang="en-US" altLang="zh-CN" sz="2400" b="1" dirty="0">
                <a:latin typeface="Trebuchet MS" panose="020B0603020202020204" pitchFamily="34" charset="0"/>
                <a:cs typeface="Times New Roman" pitchFamily="18" charset="0"/>
              </a:rPr>
              <a:t>(</a:t>
            </a:r>
            <a:r>
              <a:rPr lang="en-US" altLang="zh-CN" sz="2400" b="1" i="1" dirty="0">
                <a:latin typeface="Trebuchet MS" panose="020B0603020202020204" pitchFamily="34" charset="0"/>
                <a:cs typeface="Times New Roman" pitchFamily="18" charset="0"/>
              </a:rPr>
              <a:t>e</a:t>
            </a:r>
            <a:r>
              <a:rPr lang="en-US" altLang="zh-CN" sz="2400" b="1" baseline="-25000" dirty="0">
                <a:latin typeface="Trebuchet MS" panose="020B0603020202020204" pitchFamily="34" charset="0"/>
                <a:cs typeface="Times New Roman" pitchFamily="18" charset="0"/>
              </a:rPr>
              <a:t>2</a:t>
            </a:r>
            <a:r>
              <a:rPr lang="en-US" altLang="zh-CN" sz="2400" b="1" dirty="0">
                <a:latin typeface="Trebuchet MS" panose="020B0603020202020204" pitchFamily="34" charset="0"/>
                <a:cs typeface="Times New Roman" pitchFamily="18" charset="0"/>
              </a:rPr>
              <a:t>)</a:t>
            </a:r>
            <a:r>
              <a:rPr lang="zh-CN" altLang="zh-CN" sz="2400" b="1" dirty="0">
                <a:latin typeface="Trebuchet MS" panose="020B0603020202020204" pitchFamily="34" charset="0"/>
                <a:cs typeface="Times New Roman" pitchFamily="18" charset="0"/>
              </a:rPr>
              <a:t>≤…≤</a:t>
            </a:r>
            <a:r>
              <a:rPr lang="en-US" altLang="zh-CN" sz="2400" b="1" i="1" dirty="0">
                <a:latin typeface="Trebuchet MS" panose="020B0603020202020204" pitchFamily="34" charset="0"/>
                <a:cs typeface="Times New Roman" pitchFamily="18" charset="0"/>
              </a:rPr>
              <a:t>W</a:t>
            </a:r>
            <a:r>
              <a:rPr lang="en-US" altLang="zh-CN" sz="2400" b="1" dirty="0">
                <a:latin typeface="Trebuchet MS" panose="020B0603020202020204" pitchFamily="34" charset="0"/>
                <a:cs typeface="Times New Roman" pitchFamily="18" charset="0"/>
              </a:rPr>
              <a:t>(</a:t>
            </a:r>
            <a:r>
              <a:rPr lang="en-US" altLang="zh-CN" sz="2400" b="1" i="1" dirty="0" err="1">
                <a:latin typeface="Trebuchet MS" panose="020B0603020202020204" pitchFamily="34" charset="0"/>
                <a:cs typeface="Times New Roman" pitchFamily="18" charset="0"/>
              </a:rPr>
              <a:t>e</a:t>
            </a:r>
            <a:r>
              <a:rPr lang="en-US" altLang="zh-CN" sz="2400" b="1" i="1" baseline="-25000" dirty="0" err="1">
                <a:latin typeface="Trebuchet MS" panose="020B0603020202020204" pitchFamily="34" charset="0"/>
                <a:cs typeface="Times New Roman" pitchFamily="18" charset="0"/>
              </a:rPr>
              <a:t>m</a:t>
            </a:r>
            <a:r>
              <a:rPr lang="en-US" altLang="zh-CN" sz="2400" b="1" dirty="0">
                <a:latin typeface="Trebuchet MS" panose="020B0603020202020204" pitchFamily="34" charset="0"/>
                <a:cs typeface="Times New Roman" pitchFamily="18" charset="0"/>
              </a:rPr>
              <a:t>).</a:t>
            </a:r>
          </a:p>
          <a:p>
            <a:pPr marL="717550" indent="-450850">
              <a:lnSpc>
                <a:spcPct val="120000"/>
              </a:lnSpc>
              <a:spcBef>
                <a:spcPts val="600"/>
              </a:spcBef>
              <a:buFont typeface="Wingdings" panose="05000000000000000000" pitchFamily="2" charset="2"/>
              <a:buNone/>
              <a:defRPr/>
            </a:pPr>
            <a:r>
              <a:rPr lang="en-US" altLang="zh-CN" sz="2400" b="1" dirty="0">
                <a:solidFill>
                  <a:srgbClr val="0B61FF"/>
                </a:solidFill>
                <a:latin typeface="Trebuchet MS" panose="020B0603020202020204" pitchFamily="34" charset="0"/>
                <a:cs typeface="Times New Roman" pitchFamily="18" charset="0"/>
              </a:rPr>
              <a:t>(2) </a:t>
            </a:r>
            <a:r>
              <a:rPr lang="en-US" altLang="zh-CN" sz="2400" dirty="0">
                <a:latin typeface="Trebuchet MS" panose="020B0603020202020204" pitchFamily="34" charset="0"/>
              </a:rPr>
              <a:t>Initialize </a:t>
            </a:r>
            <a:r>
              <a:rPr lang="en-US" altLang="zh-CN" sz="2400" b="1" i="1" dirty="0">
                <a:latin typeface="Trebuchet MS" panose="020B0603020202020204" pitchFamily="34" charset="0"/>
                <a:cs typeface="Times New Roman" pitchFamily="18" charset="0"/>
              </a:rPr>
              <a:t>T</a:t>
            </a:r>
            <a:r>
              <a:rPr lang="en-US" altLang="zh-CN" sz="2400" b="1" dirty="0">
                <a:latin typeface="Trebuchet MS" panose="020B0603020202020204" pitchFamily="34" charset="0"/>
                <a:cs typeface="Times New Roman" pitchFamily="18" charset="0"/>
                <a:sym typeface="Symbol"/>
              </a:rPr>
              <a:t></a:t>
            </a:r>
            <a:r>
              <a:rPr lang="en-US" altLang="zh-CN" sz="2400" b="1" dirty="0">
                <a:latin typeface="Trebuchet MS" panose="020B0603020202020204" pitchFamily="34" charset="0"/>
                <a:cs typeface="Times New Roman" pitchFamily="18" charset="0"/>
              </a:rPr>
              <a:t>, </a:t>
            </a:r>
            <a:r>
              <a:rPr lang="en-US" altLang="zh-CN" sz="2400" b="1" i="1" dirty="0">
                <a:latin typeface="Trebuchet MS" panose="020B0603020202020204" pitchFamily="34" charset="0"/>
                <a:cs typeface="Times New Roman" pitchFamily="18" charset="0"/>
              </a:rPr>
              <a:t>i</a:t>
            </a:r>
            <a:r>
              <a:rPr lang="en-US" altLang="zh-CN" sz="2400" b="1" dirty="0">
                <a:latin typeface="Trebuchet MS" panose="020B0603020202020204" pitchFamily="34" charset="0"/>
                <a:cs typeface="Times New Roman" pitchFamily="18" charset="0"/>
                <a:sym typeface="Symbol"/>
              </a:rPr>
              <a:t></a:t>
            </a:r>
            <a:r>
              <a:rPr lang="en-US" altLang="zh-CN" sz="2400" b="1" dirty="0">
                <a:latin typeface="Trebuchet MS" panose="020B0603020202020204" pitchFamily="34" charset="0"/>
                <a:cs typeface="Times New Roman" pitchFamily="18" charset="0"/>
              </a:rPr>
              <a:t>1, </a:t>
            </a:r>
            <a:r>
              <a:rPr lang="en-US" altLang="zh-CN" sz="2400" b="1" i="1" dirty="0">
                <a:latin typeface="Trebuchet MS" panose="020B0603020202020204" pitchFamily="34" charset="0"/>
                <a:cs typeface="Times New Roman" pitchFamily="18" charset="0"/>
              </a:rPr>
              <a:t>k</a:t>
            </a:r>
            <a:r>
              <a:rPr lang="en-US" altLang="zh-CN" sz="2400" b="1" dirty="0">
                <a:latin typeface="Trebuchet MS" panose="020B0603020202020204" pitchFamily="34" charset="0"/>
                <a:cs typeface="Times New Roman" pitchFamily="18" charset="0"/>
                <a:sym typeface="Symbol"/>
              </a:rPr>
              <a:t></a:t>
            </a:r>
            <a:r>
              <a:rPr lang="en-US" altLang="zh-CN" sz="2400" b="1" dirty="0">
                <a:latin typeface="Trebuchet MS" panose="020B0603020202020204" pitchFamily="34" charset="0"/>
                <a:cs typeface="Times New Roman" pitchFamily="18" charset="0"/>
              </a:rPr>
              <a:t>0.</a:t>
            </a:r>
          </a:p>
          <a:p>
            <a:pPr marL="717550" indent="-450850">
              <a:lnSpc>
                <a:spcPct val="120000"/>
              </a:lnSpc>
              <a:spcBef>
                <a:spcPts val="600"/>
              </a:spcBef>
              <a:buFont typeface="Wingdings" panose="05000000000000000000" pitchFamily="2" charset="2"/>
              <a:buNone/>
              <a:defRPr/>
            </a:pPr>
            <a:r>
              <a:rPr lang="en-US" altLang="zh-CN" sz="2400" b="1" dirty="0">
                <a:solidFill>
                  <a:srgbClr val="0B61FF"/>
                </a:solidFill>
                <a:latin typeface="Trebuchet MS" panose="020B0603020202020204" pitchFamily="34" charset="0"/>
                <a:cs typeface="Times New Roman" pitchFamily="18" charset="0"/>
              </a:rPr>
              <a:t>(3)</a:t>
            </a:r>
            <a:r>
              <a:rPr lang="en-US" altLang="zh-CN" sz="2400" b="1" dirty="0">
                <a:latin typeface="Trebuchet MS" panose="020B0603020202020204" pitchFamily="34" charset="0"/>
                <a:cs typeface="Times New Roman" pitchFamily="18" charset="0"/>
              </a:rPr>
              <a:t> </a:t>
            </a:r>
            <a:r>
              <a:rPr lang="en-US" altLang="zh-CN" sz="2400" dirty="0">
                <a:latin typeface="Trebuchet MS" panose="020B0603020202020204" pitchFamily="34" charset="0"/>
                <a:cs typeface="Times New Roman" pitchFamily="18" charset="0"/>
              </a:rPr>
              <a:t>If</a:t>
            </a:r>
            <a:r>
              <a:rPr lang="en-US" altLang="zh-CN" sz="2400" b="1" dirty="0">
                <a:latin typeface="Trebuchet MS" panose="020B0603020202020204" pitchFamily="34" charset="0"/>
                <a:cs typeface="Times New Roman" pitchFamily="18" charset="0"/>
              </a:rPr>
              <a:t> </a:t>
            </a:r>
            <a:r>
              <a:rPr lang="en-US" altLang="zh-CN" sz="2400" b="1" i="1" dirty="0" err="1">
                <a:latin typeface="Trebuchet MS" panose="020B0603020202020204" pitchFamily="34" charset="0"/>
                <a:cs typeface="Times New Roman" pitchFamily="18" charset="0"/>
              </a:rPr>
              <a:t>e</a:t>
            </a:r>
            <a:r>
              <a:rPr lang="en-US" altLang="zh-CN" sz="2400" b="1" i="1" baseline="-25000" dirty="0" err="1">
                <a:latin typeface="Trebuchet MS" panose="020B0603020202020204" pitchFamily="34" charset="0"/>
                <a:cs typeface="Times New Roman" pitchFamily="18" charset="0"/>
              </a:rPr>
              <a:t>i</a:t>
            </a:r>
            <a:r>
              <a:rPr lang="en-US" altLang="zh-CN" sz="2400" b="1" i="1" baseline="-25000" dirty="0">
                <a:latin typeface="Trebuchet MS" panose="020B0603020202020204" pitchFamily="34" charset="0"/>
                <a:cs typeface="Times New Roman" pitchFamily="18" charset="0"/>
              </a:rPr>
              <a:t> </a:t>
            </a:r>
            <a:r>
              <a:rPr lang="en-US" altLang="zh-CN" sz="2400" dirty="0">
                <a:latin typeface="Trebuchet MS" panose="020B0603020202020204" pitchFamily="34" charset="0"/>
              </a:rPr>
              <a:t>does not form a cycle with the edges already in </a:t>
            </a:r>
            <a:r>
              <a:rPr lang="en-US" altLang="zh-CN" sz="2400" b="1" i="1" dirty="0">
                <a:latin typeface="Trebuchet MS" panose="020B0603020202020204" pitchFamily="34" charset="0"/>
                <a:cs typeface="Times New Roman" pitchFamily="18" charset="0"/>
              </a:rPr>
              <a:t>T</a:t>
            </a:r>
            <a:r>
              <a:rPr lang="zh-CN" altLang="zh-CN" sz="2400" b="1" dirty="0">
                <a:latin typeface="Trebuchet MS" panose="020B0603020202020204" pitchFamily="34" charset="0"/>
                <a:cs typeface="Times New Roman" pitchFamily="18" charset="0"/>
              </a:rPr>
              <a:t>，</a:t>
            </a:r>
            <a:r>
              <a:rPr lang="en-US" altLang="zh-CN" sz="2400" dirty="0">
                <a:latin typeface="Trebuchet MS" panose="020B0603020202020204" pitchFamily="34" charset="0"/>
              </a:rPr>
              <a:t> then set </a:t>
            </a:r>
            <a:r>
              <a:rPr lang="en-US" altLang="zh-CN" sz="2400" b="1" i="1" dirty="0">
                <a:latin typeface="Trebuchet MS" panose="020B0603020202020204" pitchFamily="34" charset="0"/>
                <a:cs typeface="Times New Roman" pitchFamily="18" charset="0"/>
              </a:rPr>
              <a:t>T</a:t>
            </a:r>
            <a:r>
              <a:rPr lang="en-US" altLang="zh-CN" sz="2400" b="1" dirty="0">
                <a:latin typeface="Trebuchet MS" panose="020B0603020202020204" pitchFamily="34" charset="0"/>
                <a:cs typeface="Times New Roman" pitchFamily="18" charset="0"/>
                <a:sym typeface="Symbol"/>
              </a:rPr>
              <a:t></a:t>
            </a:r>
            <a:r>
              <a:rPr lang="en-US" altLang="zh-CN" sz="2400" b="1" i="1" dirty="0">
                <a:latin typeface="Trebuchet MS" panose="020B0603020202020204" pitchFamily="34" charset="0"/>
                <a:cs typeface="Times New Roman" pitchFamily="18" charset="0"/>
              </a:rPr>
              <a:t>T</a:t>
            </a:r>
            <a:r>
              <a:rPr lang="en-US" altLang="zh-CN" sz="2400" b="1" dirty="0">
                <a:latin typeface="Trebuchet MS" panose="020B0603020202020204" pitchFamily="34" charset="0"/>
                <a:cs typeface="Times New Roman" pitchFamily="18" charset="0"/>
                <a:sym typeface="Symbol"/>
              </a:rPr>
              <a:t></a:t>
            </a:r>
            <a:r>
              <a:rPr lang="en-US" altLang="zh-CN" sz="2400" b="1" dirty="0">
                <a:latin typeface="Trebuchet MS" panose="020B0603020202020204" pitchFamily="34" charset="0"/>
                <a:cs typeface="Times New Roman" pitchFamily="18" charset="0"/>
              </a:rPr>
              <a:t>{</a:t>
            </a:r>
            <a:r>
              <a:rPr lang="en-US" altLang="zh-CN" sz="2400" b="1" i="1" dirty="0" err="1">
                <a:latin typeface="Trebuchet MS" panose="020B0603020202020204" pitchFamily="34" charset="0"/>
                <a:cs typeface="Times New Roman" pitchFamily="18" charset="0"/>
              </a:rPr>
              <a:t>e</a:t>
            </a:r>
            <a:r>
              <a:rPr lang="en-US" altLang="zh-CN" sz="2400" b="1" i="1" baseline="-25000" dirty="0" err="1">
                <a:latin typeface="Trebuchet MS" panose="020B0603020202020204" pitchFamily="34" charset="0"/>
                <a:cs typeface="Times New Roman" pitchFamily="18" charset="0"/>
              </a:rPr>
              <a:t>i</a:t>
            </a:r>
            <a:r>
              <a:rPr lang="en-US" altLang="zh-CN" sz="2400" b="1" dirty="0">
                <a:latin typeface="Trebuchet MS" panose="020B0603020202020204" pitchFamily="34" charset="0"/>
                <a:cs typeface="Times New Roman" pitchFamily="18" charset="0"/>
              </a:rPr>
              <a:t>}, </a:t>
            </a:r>
            <a:r>
              <a:rPr lang="en-US" altLang="zh-CN" sz="2400" b="1" i="1" dirty="0">
                <a:latin typeface="Trebuchet MS" panose="020B0603020202020204" pitchFamily="34" charset="0"/>
                <a:cs typeface="Times New Roman" pitchFamily="18" charset="0"/>
              </a:rPr>
              <a:t>k</a:t>
            </a:r>
            <a:r>
              <a:rPr lang="en-US" altLang="zh-CN" sz="2400" b="1" dirty="0">
                <a:latin typeface="Trebuchet MS" panose="020B0603020202020204" pitchFamily="34" charset="0"/>
                <a:cs typeface="Times New Roman" pitchFamily="18" charset="0"/>
                <a:sym typeface="Symbol"/>
              </a:rPr>
              <a:t></a:t>
            </a:r>
            <a:r>
              <a:rPr lang="en-US" altLang="zh-CN" sz="2400" b="1" i="1" dirty="0">
                <a:latin typeface="Trebuchet MS" panose="020B0603020202020204" pitchFamily="34" charset="0"/>
                <a:cs typeface="Times New Roman" pitchFamily="18" charset="0"/>
              </a:rPr>
              <a:t>k</a:t>
            </a:r>
            <a:r>
              <a:rPr lang="en-US" altLang="zh-CN" sz="2400" b="1" dirty="0">
                <a:latin typeface="Trebuchet MS" panose="020B0603020202020204" pitchFamily="34" charset="0"/>
                <a:cs typeface="Times New Roman" pitchFamily="18" charset="0"/>
              </a:rPr>
              <a:t>+1.  </a:t>
            </a:r>
          </a:p>
          <a:p>
            <a:pPr marL="717550" indent="-450850">
              <a:lnSpc>
                <a:spcPct val="120000"/>
              </a:lnSpc>
              <a:spcBef>
                <a:spcPts val="600"/>
              </a:spcBef>
              <a:buFont typeface="Wingdings" panose="05000000000000000000" pitchFamily="2" charset="2"/>
              <a:buNone/>
              <a:defRPr/>
            </a:pPr>
            <a:r>
              <a:rPr lang="en-US" altLang="zh-CN" sz="2400" b="1" dirty="0">
                <a:solidFill>
                  <a:srgbClr val="0B61FF"/>
                </a:solidFill>
                <a:latin typeface="Trebuchet MS" panose="020B0603020202020204" pitchFamily="34" charset="0"/>
                <a:cs typeface="Times New Roman" pitchFamily="18" charset="0"/>
              </a:rPr>
              <a:t>(4) </a:t>
            </a:r>
            <a:r>
              <a:rPr lang="en-US" altLang="zh-CN" sz="2400" dirty="0">
                <a:latin typeface="Trebuchet MS" panose="020B0603020202020204" pitchFamily="34" charset="0"/>
                <a:cs typeface="Times New Roman" pitchFamily="18" charset="0"/>
              </a:rPr>
              <a:t>If</a:t>
            </a:r>
            <a:r>
              <a:rPr lang="en-US" altLang="zh-CN" sz="2400" b="1" dirty="0">
                <a:latin typeface="Trebuchet MS" panose="020B0603020202020204" pitchFamily="34" charset="0"/>
                <a:cs typeface="Times New Roman" pitchFamily="18" charset="0"/>
              </a:rPr>
              <a:t> </a:t>
            </a:r>
            <a:r>
              <a:rPr lang="en-US" altLang="zh-CN" sz="2400" b="1" i="1" dirty="0">
                <a:latin typeface="Trebuchet MS" panose="020B0603020202020204" pitchFamily="34" charset="0"/>
                <a:cs typeface="Times New Roman" pitchFamily="18" charset="0"/>
              </a:rPr>
              <a:t>k</a:t>
            </a:r>
            <a:r>
              <a:rPr lang="en-US" altLang="zh-CN" sz="2400" b="1" dirty="0">
                <a:latin typeface="Trebuchet MS" panose="020B0603020202020204" pitchFamily="34" charset="0"/>
                <a:cs typeface="Times New Roman" pitchFamily="18" charset="0"/>
              </a:rPr>
              <a:t>&lt;</a:t>
            </a:r>
            <a:r>
              <a:rPr lang="en-US" altLang="zh-CN" sz="2400" b="1" i="1" dirty="0">
                <a:latin typeface="Trebuchet MS" panose="020B0603020202020204" pitchFamily="34" charset="0"/>
                <a:cs typeface="Times New Roman" pitchFamily="18" charset="0"/>
              </a:rPr>
              <a:t>n</a:t>
            </a:r>
            <a:r>
              <a:rPr lang="en-US" altLang="zh-CN" sz="2400" b="1" dirty="0">
                <a:latin typeface="Trebuchet MS" panose="020B0603020202020204" pitchFamily="34" charset="0"/>
                <a:cs typeface="Times New Roman" pitchFamily="18" charset="0"/>
              </a:rPr>
              <a:t>-1, </a:t>
            </a:r>
            <a:r>
              <a:rPr lang="en-US" altLang="zh-CN" sz="2400" dirty="0">
                <a:latin typeface="Trebuchet MS" panose="020B0603020202020204" pitchFamily="34" charset="0"/>
              </a:rPr>
              <a:t>then set </a:t>
            </a:r>
            <a:r>
              <a:rPr lang="en-US" altLang="zh-CN" sz="2400" b="1" i="1" dirty="0">
                <a:latin typeface="Trebuchet MS" panose="020B0603020202020204" pitchFamily="34" charset="0"/>
                <a:cs typeface="Times New Roman" pitchFamily="18" charset="0"/>
              </a:rPr>
              <a:t>i</a:t>
            </a:r>
            <a:r>
              <a:rPr lang="en-US" altLang="zh-CN" sz="2400" b="1" dirty="0">
                <a:latin typeface="Trebuchet MS" panose="020B0603020202020204" pitchFamily="34" charset="0"/>
                <a:cs typeface="Times New Roman" pitchFamily="18" charset="0"/>
                <a:sym typeface="Symbol"/>
              </a:rPr>
              <a:t></a:t>
            </a:r>
            <a:r>
              <a:rPr lang="en-US" altLang="zh-CN" sz="2400" b="1" i="1" dirty="0">
                <a:latin typeface="Trebuchet MS" panose="020B0603020202020204" pitchFamily="34" charset="0"/>
                <a:cs typeface="Times New Roman" pitchFamily="18" charset="0"/>
              </a:rPr>
              <a:t>i</a:t>
            </a:r>
            <a:r>
              <a:rPr lang="en-US" altLang="zh-CN" sz="2400" b="1" dirty="0">
                <a:latin typeface="Trebuchet MS" panose="020B0603020202020204" pitchFamily="34" charset="0"/>
                <a:cs typeface="Times New Roman" pitchFamily="18" charset="0"/>
              </a:rPr>
              <a:t>+1, </a:t>
            </a:r>
            <a:r>
              <a:rPr lang="en-US" altLang="zh-CN" sz="2400" dirty="0">
                <a:latin typeface="Trebuchet MS" panose="020B0603020202020204" pitchFamily="34" charset="0"/>
              </a:rPr>
              <a:t>and repeat step </a:t>
            </a:r>
            <a:r>
              <a:rPr lang="en-US" altLang="zh-CN" sz="2400" b="1" dirty="0">
                <a:solidFill>
                  <a:srgbClr val="0B61FF"/>
                </a:solidFill>
                <a:latin typeface="Trebuchet MS" panose="020B0603020202020204" pitchFamily="34" charset="0"/>
                <a:cs typeface="Times New Roman" pitchFamily="18" charset="0"/>
              </a:rPr>
              <a:t>(3)</a:t>
            </a:r>
            <a:r>
              <a:rPr lang="en-US" altLang="zh-CN" sz="2400" b="1" dirty="0">
                <a:latin typeface="Trebuchet MS" panose="020B0603020202020204" pitchFamily="34" charset="0"/>
                <a:cs typeface="Times New Roman" pitchFamily="18" charset="0"/>
              </a:rPr>
              <a:t>.</a:t>
            </a:r>
            <a:endParaRPr lang="en-US" altLang="zh-CN" sz="2400" b="1" dirty="0">
              <a:solidFill>
                <a:srgbClr val="FF3300"/>
              </a:solidFill>
              <a:latin typeface="Trebuchet MS" panose="020B0603020202020204" pitchFamily="34" charset="0"/>
              <a:cs typeface="Times New Roman" panose="02020603050405020304" pitchFamily="18" charset="0"/>
            </a:endParaRPr>
          </a:p>
        </p:txBody>
      </p:sp>
    </p:spTree>
    <p:extLst>
      <p:ext uri="{BB962C8B-B14F-4D97-AF65-F5344CB8AC3E}">
        <p14:creationId xmlns:p14="http://schemas.microsoft.com/office/powerpoint/2010/main" val="1746839745"/>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8">
                                            <p:txEl>
                                              <p:pRg st="1" end="1"/>
                                            </p:txEl>
                                          </p:spTgt>
                                        </p:tgtEl>
                                        <p:attrNameLst>
                                          <p:attrName>style.visibility</p:attrName>
                                        </p:attrNameLst>
                                      </p:cBhvr>
                                      <p:to>
                                        <p:strVal val="visible"/>
                                      </p:to>
                                    </p:set>
                                    <p:animEffect transition="in" filter="fade">
                                      <p:cBhvr>
                                        <p:cTn id="7" dur="1000"/>
                                        <p:tgtEl>
                                          <p:spTgt spid="8">
                                            <p:txEl>
                                              <p:pRg st="1" end="1"/>
                                            </p:txEl>
                                          </p:spTgt>
                                        </p:tgtEl>
                                      </p:cBhvr>
                                    </p:animEffect>
                                    <p:anim calcmode="lin" valueType="num">
                                      <p:cBhvr>
                                        <p:cTn id="8" dur="1000" fill="hold"/>
                                        <p:tgtEl>
                                          <p:spTgt spid="8">
                                            <p:txEl>
                                              <p:pRg st="1" end="1"/>
                                            </p:txEl>
                                          </p:spTgt>
                                        </p:tgtEl>
                                        <p:attrNameLst>
                                          <p:attrName>ppt_x</p:attrName>
                                        </p:attrNameLst>
                                      </p:cBhvr>
                                      <p:tavLst>
                                        <p:tav tm="0">
                                          <p:val>
                                            <p:strVal val="#ppt_x"/>
                                          </p:val>
                                        </p:tav>
                                        <p:tav tm="100000">
                                          <p:val>
                                            <p:strVal val="#ppt_x"/>
                                          </p:val>
                                        </p:tav>
                                      </p:tavLst>
                                    </p:anim>
                                    <p:anim calcmode="lin" valueType="num">
                                      <p:cBhvr>
                                        <p:cTn id="9" dur="1000" fill="hold"/>
                                        <p:tgtEl>
                                          <p:spTgt spid="8">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8">
                                            <p:txEl>
                                              <p:pRg st="2" end="2"/>
                                            </p:txEl>
                                          </p:spTgt>
                                        </p:tgtEl>
                                        <p:attrNameLst>
                                          <p:attrName>style.visibility</p:attrName>
                                        </p:attrNameLst>
                                      </p:cBhvr>
                                      <p:to>
                                        <p:strVal val="visible"/>
                                      </p:to>
                                    </p:set>
                                    <p:animEffect transition="in" filter="fade">
                                      <p:cBhvr>
                                        <p:cTn id="14" dur="1000"/>
                                        <p:tgtEl>
                                          <p:spTgt spid="8">
                                            <p:txEl>
                                              <p:pRg st="2" end="2"/>
                                            </p:txEl>
                                          </p:spTgt>
                                        </p:tgtEl>
                                      </p:cBhvr>
                                    </p:animEffect>
                                    <p:anim calcmode="lin" valueType="num">
                                      <p:cBhvr>
                                        <p:cTn id="15" dur="1000" fill="hold"/>
                                        <p:tgtEl>
                                          <p:spTgt spid="8">
                                            <p:txEl>
                                              <p:pRg st="2" end="2"/>
                                            </p:txEl>
                                          </p:spTgt>
                                        </p:tgtEl>
                                        <p:attrNameLst>
                                          <p:attrName>ppt_x</p:attrName>
                                        </p:attrNameLst>
                                      </p:cBhvr>
                                      <p:tavLst>
                                        <p:tav tm="0">
                                          <p:val>
                                            <p:strVal val="#ppt_x"/>
                                          </p:val>
                                        </p:tav>
                                        <p:tav tm="100000">
                                          <p:val>
                                            <p:strVal val="#ppt_x"/>
                                          </p:val>
                                        </p:tav>
                                      </p:tavLst>
                                    </p:anim>
                                    <p:anim calcmode="lin" valueType="num">
                                      <p:cBhvr>
                                        <p:cTn id="16" dur="1000" fill="hold"/>
                                        <p:tgtEl>
                                          <p:spTgt spid="8">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nodeType="clickEffect">
                                  <p:stCondLst>
                                    <p:cond delay="0"/>
                                  </p:stCondLst>
                                  <p:childTnLst>
                                    <p:set>
                                      <p:cBhvr>
                                        <p:cTn id="20" dur="1" fill="hold">
                                          <p:stCondLst>
                                            <p:cond delay="0"/>
                                          </p:stCondLst>
                                        </p:cTn>
                                        <p:tgtEl>
                                          <p:spTgt spid="8">
                                            <p:txEl>
                                              <p:pRg st="3" end="3"/>
                                            </p:txEl>
                                          </p:spTgt>
                                        </p:tgtEl>
                                        <p:attrNameLst>
                                          <p:attrName>style.visibility</p:attrName>
                                        </p:attrNameLst>
                                      </p:cBhvr>
                                      <p:to>
                                        <p:strVal val="visible"/>
                                      </p:to>
                                    </p:set>
                                    <p:animEffect transition="in" filter="fade">
                                      <p:cBhvr>
                                        <p:cTn id="21" dur="1000"/>
                                        <p:tgtEl>
                                          <p:spTgt spid="8">
                                            <p:txEl>
                                              <p:pRg st="3" end="3"/>
                                            </p:txEl>
                                          </p:spTgt>
                                        </p:tgtEl>
                                      </p:cBhvr>
                                    </p:animEffect>
                                    <p:anim calcmode="lin" valueType="num">
                                      <p:cBhvr>
                                        <p:cTn id="22" dur="1000" fill="hold"/>
                                        <p:tgtEl>
                                          <p:spTgt spid="8">
                                            <p:txEl>
                                              <p:pRg st="3" end="3"/>
                                            </p:txEl>
                                          </p:spTgt>
                                        </p:tgtEl>
                                        <p:attrNameLst>
                                          <p:attrName>ppt_x</p:attrName>
                                        </p:attrNameLst>
                                      </p:cBhvr>
                                      <p:tavLst>
                                        <p:tav tm="0">
                                          <p:val>
                                            <p:strVal val="#ppt_x"/>
                                          </p:val>
                                        </p:tav>
                                        <p:tav tm="100000">
                                          <p:val>
                                            <p:strVal val="#ppt_x"/>
                                          </p:val>
                                        </p:tav>
                                      </p:tavLst>
                                    </p:anim>
                                    <p:anim calcmode="lin" valueType="num">
                                      <p:cBhvr>
                                        <p:cTn id="23" dur="1000" fill="hold"/>
                                        <p:tgtEl>
                                          <p:spTgt spid="8">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nodeType="clickEffect">
                                  <p:stCondLst>
                                    <p:cond delay="0"/>
                                  </p:stCondLst>
                                  <p:childTnLst>
                                    <p:set>
                                      <p:cBhvr>
                                        <p:cTn id="27" dur="1" fill="hold">
                                          <p:stCondLst>
                                            <p:cond delay="0"/>
                                          </p:stCondLst>
                                        </p:cTn>
                                        <p:tgtEl>
                                          <p:spTgt spid="8">
                                            <p:txEl>
                                              <p:pRg st="4" end="4"/>
                                            </p:txEl>
                                          </p:spTgt>
                                        </p:tgtEl>
                                        <p:attrNameLst>
                                          <p:attrName>style.visibility</p:attrName>
                                        </p:attrNameLst>
                                      </p:cBhvr>
                                      <p:to>
                                        <p:strVal val="visible"/>
                                      </p:to>
                                    </p:set>
                                    <p:animEffect transition="in" filter="fade">
                                      <p:cBhvr>
                                        <p:cTn id="28" dur="1000"/>
                                        <p:tgtEl>
                                          <p:spTgt spid="8">
                                            <p:txEl>
                                              <p:pRg st="4" end="4"/>
                                            </p:txEl>
                                          </p:spTgt>
                                        </p:tgtEl>
                                      </p:cBhvr>
                                    </p:animEffect>
                                    <p:anim calcmode="lin" valueType="num">
                                      <p:cBhvr>
                                        <p:cTn id="29" dur="1000" fill="hold"/>
                                        <p:tgtEl>
                                          <p:spTgt spid="8">
                                            <p:txEl>
                                              <p:pRg st="4" end="4"/>
                                            </p:txEl>
                                          </p:spTgt>
                                        </p:tgtEl>
                                        <p:attrNameLst>
                                          <p:attrName>ppt_x</p:attrName>
                                        </p:attrNameLst>
                                      </p:cBhvr>
                                      <p:tavLst>
                                        <p:tav tm="0">
                                          <p:val>
                                            <p:strVal val="#ppt_x"/>
                                          </p:val>
                                        </p:tav>
                                        <p:tav tm="100000">
                                          <p:val>
                                            <p:strVal val="#ppt_x"/>
                                          </p:val>
                                        </p:tav>
                                      </p:tavLst>
                                    </p:anim>
                                    <p:anim calcmode="lin" valueType="num">
                                      <p:cBhvr>
                                        <p:cTn id="30" dur="1000" fill="hold"/>
                                        <p:tgtEl>
                                          <p:spTgt spid="8">
                                            <p:txEl>
                                              <p:pRg st="4" end="4"/>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0" y="0"/>
            <a:ext cx="12192000" cy="762000"/>
          </a:xfrm>
          <a:prstGeom prst="rect">
            <a:avLst/>
          </a:prstGeom>
          <a:solidFill>
            <a:srgbClr val="002F7C"/>
          </a:solidFill>
        </p:spPr>
        <p:style>
          <a:lnRef idx="2">
            <a:schemeClr val="dk1">
              <a:shade val="50000"/>
            </a:schemeClr>
          </a:lnRef>
          <a:fillRef idx="1">
            <a:schemeClr val="dk1"/>
          </a:fillRef>
          <a:effectRef idx="0">
            <a:schemeClr val="dk1"/>
          </a:effectRef>
          <a:fontRef idx="minor">
            <a:schemeClr val="lt1"/>
          </a:fontRef>
        </p:style>
        <p:txBody>
          <a:bodyPr rtlCol="0" anchor="ctr"/>
          <a:lstStyle/>
          <a:p>
            <a:pPr>
              <a:lnSpc>
                <a:spcPct val="110000"/>
              </a:lnSpc>
              <a:buClr>
                <a:srgbClr val="0B61FF"/>
              </a:buClr>
              <a:buSzPct val="80000"/>
            </a:pPr>
            <a:r>
              <a:rPr lang="zh-CN" altLang="en-US" sz="2000" b="1" dirty="0">
                <a:latin typeface="Times New Roman" panose="02020603050405020304" pitchFamily="18" charset="0"/>
                <a:ea typeface="宋体" panose="02010600030101010101" pitchFamily="2" charset="-122"/>
                <a:cs typeface="Times New Roman" panose="02020603050405020304" pitchFamily="18" charset="0"/>
              </a:rPr>
              <a:t>                 </a:t>
            </a:r>
            <a:r>
              <a:rPr lang="en-US" altLang="zh-CN" sz="2000" b="1" dirty="0">
                <a:latin typeface="Trebuchet MS" panose="020B0603020202020204" pitchFamily="34" charset="0"/>
              </a:rPr>
              <a:t>7.1.2 Spanning Trees</a:t>
            </a:r>
          </a:p>
          <a:p>
            <a:pPr>
              <a:lnSpc>
                <a:spcPct val="110000"/>
              </a:lnSpc>
              <a:buClr>
                <a:srgbClr val="0B61FF"/>
              </a:buClr>
              <a:buSzPct val="80000"/>
            </a:pPr>
            <a:r>
              <a:rPr lang="en-US" altLang="zh-CN" sz="2000" b="1" dirty="0">
                <a:latin typeface="Trebuchet MS" panose="020B0603020202020204" pitchFamily="34" charset="0"/>
              </a:rPr>
              <a:t>                 </a:t>
            </a:r>
            <a:r>
              <a:rPr lang="en-US" altLang="zh-CN" sz="2400" b="1" dirty="0">
                <a:solidFill>
                  <a:schemeClr val="accent2"/>
                </a:solidFill>
                <a:latin typeface="Trebuchet MS" panose="020B0603020202020204" pitchFamily="34" charset="0"/>
                <a:ea typeface="Cambria Math" panose="02040503050406030204" pitchFamily="18" charset="0"/>
                <a:cs typeface="Times New Roman" panose="02020603050405020304" pitchFamily="18" charset="0"/>
              </a:rPr>
              <a:t>⤷</a:t>
            </a:r>
            <a:r>
              <a:rPr lang="en-US" altLang="zh-CN" sz="2400" b="1" dirty="0">
                <a:latin typeface="Trebuchet MS" panose="020B0603020202020204" pitchFamily="34" charset="0"/>
              </a:rPr>
              <a:t> Kruskal’s MST Algorithm – Cycle-Avoidance Approach(</a:t>
            </a:r>
            <a:r>
              <a:rPr lang="en-US" altLang="zh-CN" sz="2400" b="1" dirty="0">
                <a:solidFill>
                  <a:srgbClr val="C00000"/>
                </a:solidFill>
                <a:latin typeface="Trebuchet MS" panose="020B0603020202020204" pitchFamily="34" charset="0"/>
              </a:rPr>
              <a:t>e.g.</a:t>
            </a:r>
            <a:r>
              <a:rPr lang="en-US" altLang="zh-CN" sz="2400" b="1" dirty="0">
                <a:latin typeface="Trebuchet MS" panose="020B0603020202020204" pitchFamily="34" charset="0"/>
              </a:rPr>
              <a:t>)</a:t>
            </a:r>
          </a:p>
        </p:txBody>
      </p:sp>
      <p:sp>
        <p:nvSpPr>
          <p:cNvPr id="13" name="矩形 12"/>
          <p:cNvSpPr/>
          <p:nvPr/>
        </p:nvSpPr>
        <p:spPr>
          <a:xfrm>
            <a:off x="824682" y="0"/>
            <a:ext cx="175443" cy="628650"/>
          </a:xfrm>
          <a:prstGeom prst="rect">
            <a:avLst/>
          </a:prstGeom>
          <a:solidFill>
            <a:srgbClr val="CFA57C"/>
          </a:solidFill>
          <a:ln cmpd="sng">
            <a:gradFill flip="none" rotWithShape="1">
              <a:gsLst>
                <a:gs pos="50000">
                  <a:schemeClr val="accent2">
                    <a:lumMod val="60000"/>
                    <a:lumOff val="40000"/>
                  </a:schemeClr>
                </a:gs>
                <a:gs pos="0">
                  <a:schemeClr val="accent2">
                    <a:lumMod val="20000"/>
                    <a:lumOff val="80000"/>
                  </a:schemeClr>
                </a:gs>
                <a:gs pos="95000">
                  <a:schemeClr val="accent2"/>
                </a:gs>
              </a:gsLst>
              <a:path path="circle">
                <a:fillToRect l="50000" t="-80000" r="50000" b="180000"/>
              </a:path>
              <a:tileRect/>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22" name="Picture 6" descr="D:\MBA工作\LOGO\同济经管LOGO反白.png"/>
          <p:cNvPicPr>
            <a:picLocks noChangeAspect="1" noChangeArrowheads="1"/>
          </p:cNvPicPr>
          <p:nvPr/>
        </p:nvPicPr>
        <p:blipFill>
          <a:blip r:embed="rId3" cstate="email">
            <a:extLst>
              <a:ext uri="{28A0092B-C50C-407E-A947-70E740481C1C}">
                <a14:useLocalDpi xmlns:a14="http://schemas.microsoft.com/office/drawing/2010/main" val="0"/>
              </a:ext>
            </a:extLst>
          </a:blip>
          <a:srcRect/>
          <a:stretch>
            <a:fillRect/>
          </a:stretch>
        </p:blipFill>
        <p:spPr bwMode="auto">
          <a:xfrm>
            <a:off x="10267423" y="165688"/>
            <a:ext cx="1386605" cy="462962"/>
          </a:xfrm>
          <a:prstGeom prst="rect">
            <a:avLst/>
          </a:prstGeom>
          <a:noFill/>
          <a:extLst>
            <a:ext uri="{909E8E84-426E-40DD-AFC4-6F175D3DCCD1}">
              <a14:hiddenFill xmlns:a14="http://schemas.microsoft.com/office/drawing/2010/main">
                <a:solidFill>
                  <a:srgbClr val="FFFFFF"/>
                </a:solidFill>
              </a14:hiddenFill>
            </a:ext>
          </a:extLst>
        </p:spPr>
      </p:pic>
      <p:pic>
        <p:nvPicPr>
          <p:cNvPr id="2" name="图片 1" descr="微信图片_20220318113523"/>
          <p:cNvPicPr>
            <a:picLocks noChangeAspect="1"/>
          </p:cNvPicPr>
          <p:nvPr userDrawn="1"/>
        </p:nvPicPr>
        <p:blipFill>
          <a:blip r:embed="rId4"/>
          <a:stretch>
            <a:fillRect/>
          </a:stretch>
        </p:blipFill>
        <p:spPr>
          <a:xfrm>
            <a:off x="9291877" y="6115050"/>
            <a:ext cx="2244725" cy="361315"/>
          </a:xfrm>
          <a:prstGeom prst="rect">
            <a:avLst/>
          </a:prstGeom>
        </p:spPr>
      </p:pic>
      <p:sp>
        <p:nvSpPr>
          <p:cNvPr id="18" name="Rectangle 2">
            <a:extLst>
              <a:ext uri="{FF2B5EF4-FFF2-40B4-BE49-F238E27FC236}">
                <a16:creationId xmlns:a16="http://schemas.microsoft.com/office/drawing/2014/main" id="{E217C615-1D49-4D07-B850-D36106D7AA9A}"/>
              </a:ext>
            </a:extLst>
          </p:cNvPr>
          <p:cNvSpPr>
            <a:spLocks noChangeArrowheads="1"/>
          </p:cNvSpPr>
          <p:nvPr/>
        </p:nvSpPr>
        <p:spPr bwMode="auto">
          <a:xfrm>
            <a:off x="1000125" y="815365"/>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8" name="Rectangle 3">
            <a:extLst>
              <a:ext uri="{FF2B5EF4-FFF2-40B4-BE49-F238E27FC236}">
                <a16:creationId xmlns:a16="http://schemas.microsoft.com/office/drawing/2014/main" id="{97F08C45-3D15-45C1-A5A3-D1EB58DC91FE}"/>
              </a:ext>
            </a:extLst>
          </p:cNvPr>
          <p:cNvSpPr txBox="1">
            <a:spLocks noChangeArrowheads="1"/>
          </p:cNvSpPr>
          <p:nvPr/>
        </p:nvSpPr>
        <p:spPr>
          <a:xfrm>
            <a:off x="1000125" y="927687"/>
            <a:ext cx="9877336" cy="4888907"/>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buClr>
                <a:srgbClr val="0B61FF"/>
              </a:buClr>
              <a:buSzPct val="80000"/>
              <a:buFont typeface="Wingdings" panose="05000000000000000000" pitchFamily="2" charset="2"/>
              <a:buChar char="n"/>
            </a:pPr>
            <a:r>
              <a:rPr lang="en-US" altLang="zh-CN" sz="2400" b="1" dirty="0">
                <a:latin typeface="Trebuchet MS" panose="020B0603020202020204" pitchFamily="34" charset="0"/>
              </a:rPr>
              <a:t>Example:</a:t>
            </a:r>
            <a:r>
              <a:rPr lang="en-US" altLang="zh-CN" sz="2400" dirty="0">
                <a:latin typeface="Trebuchet MS" panose="020B0603020202020204" pitchFamily="34" charset="0"/>
              </a:rPr>
              <a:t> Find a minimum spanning tree of the graph.</a:t>
            </a:r>
          </a:p>
          <a:p>
            <a:pPr>
              <a:buClr>
                <a:srgbClr val="0B61FF"/>
              </a:buClr>
              <a:buSzPct val="80000"/>
              <a:buFont typeface="Wingdings" panose="05000000000000000000" pitchFamily="2" charset="2"/>
              <a:buChar char="n"/>
            </a:pPr>
            <a:endParaRPr lang="en-US" altLang="zh-CN" sz="2400" dirty="0">
              <a:latin typeface="Trebuchet MS" panose="020B0603020202020204" pitchFamily="34" charset="0"/>
            </a:endParaRPr>
          </a:p>
        </p:txBody>
      </p:sp>
      <p:sp>
        <p:nvSpPr>
          <p:cNvPr id="9" name="Text Box 4">
            <a:extLst>
              <a:ext uri="{FF2B5EF4-FFF2-40B4-BE49-F238E27FC236}">
                <a16:creationId xmlns:a16="http://schemas.microsoft.com/office/drawing/2014/main" id="{BA9A33DA-C165-4BA8-8B5A-6FB59D6D2837}"/>
              </a:ext>
            </a:extLst>
          </p:cNvPr>
          <p:cNvSpPr txBox="1">
            <a:spLocks noChangeArrowheads="1"/>
          </p:cNvSpPr>
          <p:nvPr/>
        </p:nvSpPr>
        <p:spPr bwMode="auto">
          <a:xfrm>
            <a:off x="4550229" y="4778828"/>
            <a:ext cx="1752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FontTx/>
              <a:buNone/>
            </a:pPr>
            <a:r>
              <a:rPr kumimoji="0" lang="en-US" altLang="zh-CN" sz="2400" b="1" i="1"/>
              <a:t>W</a:t>
            </a:r>
            <a:r>
              <a:rPr kumimoji="0" lang="en-US" altLang="zh-CN" sz="2400" b="1"/>
              <a:t>(</a:t>
            </a:r>
            <a:r>
              <a:rPr kumimoji="0" lang="en-US" altLang="zh-CN" sz="2400" b="1" i="1"/>
              <a:t>T</a:t>
            </a:r>
            <a:r>
              <a:rPr kumimoji="0" lang="en-US" altLang="zh-CN" sz="2400" b="1"/>
              <a:t>)=38</a:t>
            </a:r>
          </a:p>
        </p:txBody>
      </p:sp>
      <p:pic>
        <p:nvPicPr>
          <p:cNvPr id="10" name="Picture 12" descr="E:\插图\离散\16-6.tif">
            <a:extLst>
              <a:ext uri="{FF2B5EF4-FFF2-40B4-BE49-F238E27FC236}">
                <a16:creationId xmlns:a16="http://schemas.microsoft.com/office/drawing/2014/main" id="{E95047A4-72B2-453B-ABAF-D7C24415136C}"/>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635829" y="2045153"/>
            <a:ext cx="3243263" cy="2505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1" name="Picture 13" descr="E:\插图\离散\16-6(1).tif">
            <a:extLst>
              <a:ext uri="{FF2B5EF4-FFF2-40B4-BE49-F238E27FC236}">
                <a16:creationId xmlns:a16="http://schemas.microsoft.com/office/drawing/2014/main" id="{71590FF5-7827-4CB8-A4A9-EC174955624C}"/>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635829" y="2045153"/>
            <a:ext cx="3243263" cy="2505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2" name="Picture 14" descr="E:\插图\离散\16-6(2).tif">
            <a:extLst>
              <a:ext uri="{FF2B5EF4-FFF2-40B4-BE49-F238E27FC236}">
                <a16:creationId xmlns:a16="http://schemas.microsoft.com/office/drawing/2014/main" id="{B8275564-309C-4BCC-886C-77D60758B462}"/>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3635829" y="2045153"/>
            <a:ext cx="3243263" cy="2505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4" name="Picture 15" descr="E:\插图\离散\16-6(3).tif">
            <a:extLst>
              <a:ext uri="{FF2B5EF4-FFF2-40B4-BE49-F238E27FC236}">
                <a16:creationId xmlns:a16="http://schemas.microsoft.com/office/drawing/2014/main" id="{9FE3D55B-8B2C-459E-9404-E481C1D1C67E}"/>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3635829" y="2045153"/>
            <a:ext cx="3243263" cy="2505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5" name="Picture 16" descr="E:\插图\离散\16-6(4).tif">
            <a:extLst>
              <a:ext uri="{FF2B5EF4-FFF2-40B4-BE49-F238E27FC236}">
                <a16:creationId xmlns:a16="http://schemas.microsoft.com/office/drawing/2014/main" id="{E3A28FCE-F950-4D8E-9A64-74E0EB7AF6FC}"/>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3635829" y="2045153"/>
            <a:ext cx="3243263" cy="2505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6" name="Picture 17" descr="E:\插图\离散\16-6(5).tif">
            <a:extLst>
              <a:ext uri="{FF2B5EF4-FFF2-40B4-BE49-F238E27FC236}">
                <a16:creationId xmlns:a16="http://schemas.microsoft.com/office/drawing/2014/main" id="{E60E050C-95B4-434E-98EB-51D5308B103F}"/>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3635829" y="2045153"/>
            <a:ext cx="3243263" cy="2505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7" name="Picture 18" descr="E:\插图\离散\16-6(6).tif">
            <a:extLst>
              <a:ext uri="{FF2B5EF4-FFF2-40B4-BE49-F238E27FC236}">
                <a16:creationId xmlns:a16="http://schemas.microsoft.com/office/drawing/2014/main" id="{A814B77F-756E-4DF4-B774-95339682608C}"/>
              </a:ext>
            </a:extLst>
          </p:cNvPr>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3635829" y="2045153"/>
            <a:ext cx="3243263" cy="2505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9" name="Picture 19" descr="E:\插图\离散\16-6(7).tif">
            <a:extLst>
              <a:ext uri="{FF2B5EF4-FFF2-40B4-BE49-F238E27FC236}">
                <a16:creationId xmlns:a16="http://schemas.microsoft.com/office/drawing/2014/main" id="{34037BE8-93D3-4F45-BB0A-D29E1B5B6138}"/>
              </a:ext>
            </a:extLst>
          </p:cNvPr>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3635829" y="2045153"/>
            <a:ext cx="3243263" cy="2505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60117862"/>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blinds(horizontal)">
                                      <p:cBhvr>
                                        <p:cTn id="7" dur="500"/>
                                        <p:tgtEl>
                                          <p:spTgt spid="11"/>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12"/>
                                        </p:tgtEl>
                                        <p:attrNameLst>
                                          <p:attrName>style.visibility</p:attrName>
                                        </p:attrNameLst>
                                      </p:cBhvr>
                                      <p:to>
                                        <p:strVal val="visible"/>
                                      </p:to>
                                    </p:set>
                                    <p:animEffect transition="in" filter="blinds(horizontal)">
                                      <p:cBhvr>
                                        <p:cTn id="12" dur="500"/>
                                        <p:tgtEl>
                                          <p:spTgt spid="12"/>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nodeType="clickEffect">
                                  <p:stCondLst>
                                    <p:cond delay="0"/>
                                  </p:stCondLst>
                                  <p:childTnLst>
                                    <p:set>
                                      <p:cBhvr>
                                        <p:cTn id="16" dur="1" fill="hold">
                                          <p:stCondLst>
                                            <p:cond delay="0"/>
                                          </p:stCondLst>
                                        </p:cTn>
                                        <p:tgtEl>
                                          <p:spTgt spid="14"/>
                                        </p:tgtEl>
                                        <p:attrNameLst>
                                          <p:attrName>style.visibility</p:attrName>
                                        </p:attrNameLst>
                                      </p:cBhvr>
                                      <p:to>
                                        <p:strVal val="visible"/>
                                      </p:to>
                                    </p:set>
                                    <p:animEffect transition="in" filter="blinds(horizontal)">
                                      <p:cBhvr>
                                        <p:cTn id="17" dur="500"/>
                                        <p:tgtEl>
                                          <p:spTgt spid="14"/>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nodeType="clickEffect">
                                  <p:stCondLst>
                                    <p:cond delay="0"/>
                                  </p:stCondLst>
                                  <p:childTnLst>
                                    <p:set>
                                      <p:cBhvr>
                                        <p:cTn id="21" dur="1" fill="hold">
                                          <p:stCondLst>
                                            <p:cond delay="0"/>
                                          </p:stCondLst>
                                        </p:cTn>
                                        <p:tgtEl>
                                          <p:spTgt spid="15"/>
                                        </p:tgtEl>
                                        <p:attrNameLst>
                                          <p:attrName>style.visibility</p:attrName>
                                        </p:attrNameLst>
                                      </p:cBhvr>
                                      <p:to>
                                        <p:strVal val="visible"/>
                                      </p:to>
                                    </p:set>
                                    <p:animEffect transition="in" filter="blinds(horizontal)">
                                      <p:cBhvr>
                                        <p:cTn id="22" dur="500"/>
                                        <p:tgtEl>
                                          <p:spTgt spid="15"/>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nodeType="clickEffect">
                                  <p:stCondLst>
                                    <p:cond delay="0"/>
                                  </p:stCondLst>
                                  <p:childTnLst>
                                    <p:set>
                                      <p:cBhvr>
                                        <p:cTn id="26" dur="1" fill="hold">
                                          <p:stCondLst>
                                            <p:cond delay="0"/>
                                          </p:stCondLst>
                                        </p:cTn>
                                        <p:tgtEl>
                                          <p:spTgt spid="16"/>
                                        </p:tgtEl>
                                        <p:attrNameLst>
                                          <p:attrName>style.visibility</p:attrName>
                                        </p:attrNameLst>
                                      </p:cBhvr>
                                      <p:to>
                                        <p:strVal val="visible"/>
                                      </p:to>
                                    </p:set>
                                    <p:animEffect transition="in" filter="blinds(horizontal)">
                                      <p:cBhvr>
                                        <p:cTn id="27" dur="500"/>
                                        <p:tgtEl>
                                          <p:spTgt spid="16"/>
                                        </p:tgtEl>
                                      </p:cBhvr>
                                    </p:animEffect>
                                  </p:childTnLst>
                                </p:cTn>
                              </p:par>
                            </p:childTnLst>
                          </p:cTn>
                        </p:par>
                      </p:childTnLst>
                    </p:cTn>
                  </p:par>
                  <p:par>
                    <p:cTn id="28" fill="hold">
                      <p:stCondLst>
                        <p:cond delay="indefinite"/>
                      </p:stCondLst>
                      <p:childTnLst>
                        <p:par>
                          <p:cTn id="29" fill="hold">
                            <p:stCondLst>
                              <p:cond delay="0"/>
                            </p:stCondLst>
                            <p:childTnLst>
                              <p:par>
                                <p:cTn id="30" presetID="3" presetClass="entr" presetSubtype="10" fill="hold" nodeType="clickEffect">
                                  <p:stCondLst>
                                    <p:cond delay="0"/>
                                  </p:stCondLst>
                                  <p:childTnLst>
                                    <p:set>
                                      <p:cBhvr>
                                        <p:cTn id="31" dur="1" fill="hold">
                                          <p:stCondLst>
                                            <p:cond delay="0"/>
                                          </p:stCondLst>
                                        </p:cTn>
                                        <p:tgtEl>
                                          <p:spTgt spid="17"/>
                                        </p:tgtEl>
                                        <p:attrNameLst>
                                          <p:attrName>style.visibility</p:attrName>
                                        </p:attrNameLst>
                                      </p:cBhvr>
                                      <p:to>
                                        <p:strVal val="visible"/>
                                      </p:to>
                                    </p:set>
                                    <p:animEffect transition="in" filter="blinds(horizontal)">
                                      <p:cBhvr>
                                        <p:cTn id="32" dur="500"/>
                                        <p:tgtEl>
                                          <p:spTgt spid="17"/>
                                        </p:tgtEl>
                                      </p:cBhvr>
                                    </p:animEffect>
                                  </p:childTnLst>
                                </p:cTn>
                              </p:par>
                            </p:childTnLst>
                          </p:cTn>
                        </p:par>
                      </p:childTnLst>
                    </p:cTn>
                  </p:par>
                  <p:par>
                    <p:cTn id="33" fill="hold">
                      <p:stCondLst>
                        <p:cond delay="indefinite"/>
                      </p:stCondLst>
                      <p:childTnLst>
                        <p:par>
                          <p:cTn id="34" fill="hold">
                            <p:stCondLst>
                              <p:cond delay="0"/>
                            </p:stCondLst>
                            <p:childTnLst>
                              <p:par>
                                <p:cTn id="35" presetID="3" presetClass="entr" presetSubtype="10" fill="hold" nodeType="clickEffect">
                                  <p:stCondLst>
                                    <p:cond delay="0"/>
                                  </p:stCondLst>
                                  <p:childTnLst>
                                    <p:set>
                                      <p:cBhvr>
                                        <p:cTn id="36" dur="1" fill="hold">
                                          <p:stCondLst>
                                            <p:cond delay="0"/>
                                          </p:stCondLst>
                                        </p:cTn>
                                        <p:tgtEl>
                                          <p:spTgt spid="19"/>
                                        </p:tgtEl>
                                        <p:attrNameLst>
                                          <p:attrName>style.visibility</p:attrName>
                                        </p:attrNameLst>
                                      </p:cBhvr>
                                      <p:to>
                                        <p:strVal val="visible"/>
                                      </p:to>
                                    </p:set>
                                    <p:animEffect transition="in" filter="blinds(horizontal)">
                                      <p:cBhvr>
                                        <p:cTn id="37" dur="500"/>
                                        <p:tgtEl>
                                          <p:spTgt spid="19"/>
                                        </p:tgtEl>
                                      </p:cBhvr>
                                    </p:animEffect>
                                  </p:childTnLst>
                                </p:cTn>
                              </p:par>
                            </p:childTnLst>
                          </p:cTn>
                        </p:par>
                      </p:childTnLst>
                    </p:cTn>
                  </p:par>
                  <p:par>
                    <p:cTn id="38" fill="hold">
                      <p:stCondLst>
                        <p:cond delay="indefinite"/>
                      </p:stCondLst>
                      <p:childTnLst>
                        <p:par>
                          <p:cTn id="39" fill="hold">
                            <p:stCondLst>
                              <p:cond delay="0"/>
                            </p:stCondLst>
                            <p:childTnLst>
                              <p:par>
                                <p:cTn id="40" presetID="3" presetClass="entr" presetSubtype="10" fill="hold" grpId="0" nodeType="clickEffect">
                                  <p:stCondLst>
                                    <p:cond delay="0"/>
                                  </p:stCondLst>
                                  <p:childTnLst>
                                    <p:set>
                                      <p:cBhvr>
                                        <p:cTn id="41" dur="1" fill="hold">
                                          <p:stCondLst>
                                            <p:cond delay="0"/>
                                          </p:stCondLst>
                                        </p:cTn>
                                        <p:tgtEl>
                                          <p:spTgt spid="9"/>
                                        </p:tgtEl>
                                        <p:attrNameLst>
                                          <p:attrName>style.visibility</p:attrName>
                                        </p:attrNameLst>
                                      </p:cBhvr>
                                      <p:to>
                                        <p:strVal val="visible"/>
                                      </p:to>
                                    </p:set>
                                    <p:animEffect transition="in" filter="blinds(horizontal)">
                                      <p:cBhvr>
                                        <p:cTn id="42"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utoUpdateAnimBg="0"/>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0" y="0"/>
            <a:ext cx="12192000" cy="762000"/>
          </a:xfrm>
          <a:prstGeom prst="rect">
            <a:avLst/>
          </a:prstGeom>
          <a:solidFill>
            <a:srgbClr val="002F7C"/>
          </a:solidFill>
        </p:spPr>
        <p:style>
          <a:lnRef idx="2">
            <a:schemeClr val="dk1">
              <a:shade val="50000"/>
            </a:schemeClr>
          </a:lnRef>
          <a:fillRef idx="1">
            <a:schemeClr val="dk1"/>
          </a:fillRef>
          <a:effectRef idx="0">
            <a:schemeClr val="dk1"/>
          </a:effectRef>
          <a:fontRef idx="minor">
            <a:schemeClr val="lt1"/>
          </a:fontRef>
        </p:style>
        <p:txBody>
          <a:bodyPr rtlCol="0" anchor="ctr"/>
          <a:lstStyle/>
          <a:p>
            <a:pPr>
              <a:lnSpc>
                <a:spcPct val="110000"/>
              </a:lnSpc>
              <a:buClr>
                <a:srgbClr val="0B61FF"/>
              </a:buClr>
              <a:buSzPct val="80000"/>
            </a:pPr>
            <a:r>
              <a:rPr lang="zh-CN" altLang="en-US" sz="2000" b="1" dirty="0">
                <a:latin typeface="Times New Roman" panose="02020603050405020304" pitchFamily="18" charset="0"/>
                <a:ea typeface="宋体" panose="02010600030101010101" pitchFamily="2" charset="-122"/>
                <a:cs typeface="Times New Roman" panose="02020603050405020304" pitchFamily="18" charset="0"/>
              </a:rPr>
              <a:t>                 </a:t>
            </a:r>
            <a:r>
              <a:rPr lang="en-US" altLang="zh-CN" b="1" dirty="0">
                <a:latin typeface="Trebuchet MS" panose="020B0603020202020204" pitchFamily="34" charset="0"/>
              </a:rPr>
              <a:t>7.1.2 Spanning Trees</a:t>
            </a:r>
          </a:p>
          <a:p>
            <a:pPr>
              <a:lnSpc>
                <a:spcPct val="110000"/>
              </a:lnSpc>
              <a:buClr>
                <a:srgbClr val="0B61FF"/>
              </a:buClr>
              <a:buSzPct val="80000"/>
            </a:pPr>
            <a:r>
              <a:rPr lang="en-US" altLang="zh-CN" b="1" dirty="0">
                <a:latin typeface="Trebuchet MS" panose="020B0603020202020204" pitchFamily="34" charset="0"/>
              </a:rPr>
              <a:t>                 </a:t>
            </a:r>
            <a:r>
              <a:rPr lang="en-US" altLang="zh-CN" sz="2400" b="1" dirty="0">
                <a:solidFill>
                  <a:schemeClr val="accent2"/>
                </a:solidFill>
                <a:latin typeface="Trebuchet MS" panose="020B0603020202020204" pitchFamily="34" charset="0"/>
                <a:ea typeface="Cambria Math" panose="02040503050406030204" pitchFamily="18" charset="0"/>
                <a:cs typeface="Times New Roman" panose="02020603050405020304" pitchFamily="18" charset="0"/>
              </a:rPr>
              <a:t>⤷</a:t>
            </a:r>
            <a:r>
              <a:rPr lang="en-US" altLang="zh-CN" sz="2400" b="1" dirty="0">
                <a:latin typeface="Trebuchet MS" panose="020B0603020202020204" pitchFamily="34" charset="0"/>
              </a:rPr>
              <a:t> Kruskal’s MST Algorithm – Cycle-Avoidance Approach(</a:t>
            </a:r>
            <a:r>
              <a:rPr lang="en-US" altLang="zh-CN" sz="2400" b="1" dirty="0">
                <a:solidFill>
                  <a:srgbClr val="C00000"/>
                </a:solidFill>
                <a:latin typeface="Trebuchet MS" panose="020B0603020202020204" pitchFamily="34" charset="0"/>
              </a:rPr>
              <a:t>e.g.</a:t>
            </a:r>
            <a:r>
              <a:rPr lang="en-US" altLang="zh-CN" sz="2400" b="1" dirty="0">
                <a:latin typeface="Trebuchet MS" panose="020B0603020202020204" pitchFamily="34" charset="0"/>
              </a:rPr>
              <a:t>)</a:t>
            </a:r>
          </a:p>
        </p:txBody>
      </p:sp>
      <p:sp>
        <p:nvSpPr>
          <p:cNvPr id="13" name="矩形 12"/>
          <p:cNvSpPr/>
          <p:nvPr/>
        </p:nvSpPr>
        <p:spPr>
          <a:xfrm>
            <a:off x="824682" y="0"/>
            <a:ext cx="175443" cy="628650"/>
          </a:xfrm>
          <a:prstGeom prst="rect">
            <a:avLst/>
          </a:prstGeom>
          <a:solidFill>
            <a:srgbClr val="CFA57C"/>
          </a:solidFill>
          <a:ln cmpd="sng">
            <a:gradFill flip="none" rotWithShape="1">
              <a:gsLst>
                <a:gs pos="50000">
                  <a:schemeClr val="accent2">
                    <a:lumMod val="60000"/>
                    <a:lumOff val="40000"/>
                  </a:schemeClr>
                </a:gs>
                <a:gs pos="0">
                  <a:schemeClr val="accent2">
                    <a:lumMod val="20000"/>
                    <a:lumOff val="80000"/>
                  </a:schemeClr>
                </a:gs>
                <a:gs pos="95000">
                  <a:schemeClr val="accent2"/>
                </a:gs>
              </a:gsLst>
              <a:path path="circle">
                <a:fillToRect l="50000" t="-80000" r="50000" b="180000"/>
              </a:path>
              <a:tileRect/>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22" name="Picture 6" descr="D:\MBA工作\LOGO\同济经管LOGO反白.png"/>
          <p:cNvPicPr>
            <a:picLocks noChangeAspect="1" noChangeArrowheads="1"/>
          </p:cNvPicPr>
          <p:nvPr/>
        </p:nvPicPr>
        <p:blipFill>
          <a:blip r:embed="rId3" cstate="email">
            <a:extLst>
              <a:ext uri="{28A0092B-C50C-407E-A947-70E740481C1C}">
                <a14:useLocalDpi xmlns:a14="http://schemas.microsoft.com/office/drawing/2010/main" val="0"/>
              </a:ext>
            </a:extLst>
          </a:blip>
          <a:srcRect/>
          <a:stretch>
            <a:fillRect/>
          </a:stretch>
        </p:blipFill>
        <p:spPr bwMode="auto">
          <a:xfrm>
            <a:off x="10267423" y="165688"/>
            <a:ext cx="1386605" cy="462962"/>
          </a:xfrm>
          <a:prstGeom prst="rect">
            <a:avLst/>
          </a:prstGeom>
          <a:noFill/>
          <a:extLst>
            <a:ext uri="{909E8E84-426E-40DD-AFC4-6F175D3DCCD1}">
              <a14:hiddenFill xmlns:a14="http://schemas.microsoft.com/office/drawing/2010/main">
                <a:solidFill>
                  <a:srgbClr val="FFFFFF"/>
                </a:solidFill>
              </a14:hiddenFill>
            </a:ext>
          </a:extLst>
        </p:spPr>
      </p:pic>
      <p:pic>
        <p:nvPicPr>
          <p:cNvPr id="2" name="图片 1" descr="微信图片_20220318113523"/>
          <p:cNvPicPr>
            <a:picLocks noChangeAspect="1"/>
          </p:cNvPicPr>
          <p:nvPr userDrawn="1"/>
        </p:nvPicPr>
        <p:blipFill>
          <a:blip r:embed="rId4"/>
          <a:stretch>
            <a:fillRect/>
          </a:stretch>
        </p:blipFill>
        <p:spPr>
          <a:xfrm>
            <a:off x="9291877" y="6115050"/>
            <a:ext cx="2244725" cy="361315"/>
          </a:xfrm>
          <a:prstGeom prst="rect">
            <a:avLst/>
          </a:prstGeom>
        </p:spPr>
      </p:pic>
      <p:sp>
        <p:nvSpPr>
          <p:cNvPr id="18" name="Rectangle 2">
            <a:extLst>
              <a:ext uri="{FF2B5EF4-FFF2-40B4-BE49-F238E27FC236}">
                <a16:creationId xmlns:a16="http://schemas.microsoft.com/office/drawing/2014/main" id="{E217C615-1D49-4D07-B850-D36106D7AA9A}"/>
              </a:ext>
            </a:extLst>
          </p:cNvPr>
          <p:cNvSpPr>
            <a:spLocks noChangeArrowheads="1"/>
          </p:cNvSpPr>
          <p:nvPr/>
        </p:nvSpPr>
        <p:spPr bwMode="auto">
          <a:xfrm>
            <a:off x="1000125" y="815365"/>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8" name="Rectangle 3">
            <a:extLst>
              <a:ext uri="{FF2B5EF4-FFF2-40B4-BE49-F238E27FC236}">
                <a16:creationId xmlns:a16="http://schemas.microsoft.com/office/drawing/2014/main" id="{97F08C45-3D15-45C1-A5A3-D1EB58DC91FE}"/>
              </a:ext>
            </a:extLst>
          </p:cNvPr>
          <p:cNvSpPr txBox="1">
            <a:spLocks noChangeArrowheads="1"/>
          </p:cNvSpPr>
          <p:nvPr/>
        </p:nvSpPr>
        <p:spPr>
          <a:xfrm>
            <a:off x="1000125" y="914400"/>
            <a:ext cx="9877336" cy="5788025"/>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just" eaLnBrk="1" hangingPunct="1">
              <a:spcBef>
                <a:spcPct val="30000"/>
              </a:spcBef>
              <a:buFontTx/>
              <a:buNone/>
            </a:pPr>
            <a:endParaRPr lang="en-US" altLang="zh-CN" sz="2800" b="1" dirty="0">
              <a:solidFill>
                <a:srgbClr val="FF3300"/>
              </a:solidFill>
            </a:endParaRPr>
          </a:p>
        </p:txBody>
      </p:sp>
      <p:sp>
        <p:nvSpPr>
          <p:cNvPr id="23" name="Rectangle 3">
            <a:extLst>
              <a:ext uri="{FF2B5EF4-FFF2-40B4-BE49-F238E27FC236}">
                <a16:creationId xmlns:a16="http://schemas.microsoft.com/office/drawing/2014/main" id="{C3BDE044-78E6-4D0B-8BA5-4184679F8443}"/>
              </a:ext>
            </a:extLst>
          </p:cNvPr>
          <p:cNvSpPr txBox="1">
            <a:spLocks noChangeArrowheads="1"/>
          </p:cNvSpPr>
          <p:nvPr/>
        </p:nvSpPr>
        <p:spPr>
          <a:xfrm>
            <a:off x="725831" y="763436"/>
            <a:ext cx="6378191" cy="5535808"/>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20000"/>
              </a:lnSpc>
              <a:spcBef>
                <a:spcPts val="300"/>
              </a:spcBef>
              <a:buClr>
                <a:srgbClr val="0B61FF"/>
              </a:buClr>
              <a:buSzPct val="80000"/>
              <a:buFont typeface="Wingdings" panose="05000000000000000000" pitchFamily="2" charset="2"/>
              <a:buChar char="n"/>
            </a:pPr>
            <a:r>
              <a:rPr lang="en-US" altLang="zh-CN" sz="2400" b="1" dirty="0">
                <a:latin typeface="Trebuchet MS" panose="020B0603020202020204" pitchFamily="34" charset="0"/>
              </a:rPr>
              <a:t>Example:</a:t>
            </a:r>
            <a:r>
              <a:rPr lang="en-US" altLang="zh-CN" sz="2400" dirty="0">
                <a:latin typeface="Trebuchet MS" panose="020B0603020202020204" pitchFamily="34" charset="0"/>
              </a:rPr>
              <a:t> A telecommunications company has a </a:t>
            </a:r>
            <a:r>
              <a:rPr lang="en-US" altLang="zh-CN" sz="2400" b="1" i="1" dirty="0">
                <a:solidFill>
                  <a:srgbClr val="0B61FF"/>
                </a:solidFill>
                <a:latin typeface="Trebuchet MS" panose="020B0603020202020204" pitchFamily="34" charset="0"/>
              </a:rPr>
              <a:t>fiber-optic network </a:t>
            </a:r>
            <a:r>
              <a:rPr lang="en-US" altLang="zh-CN" sz="2400" dirty="0">
                <a:latin typeface="Trebuchet MS" panose="020B0603020202020204" pitchFamily="34" charset="0"/>
              </a:rPr>
              <a:t>coverage requirement as shown in the figure. The possible cable routes between buildings and their lengths (in meters) are given in the diagram.</a:t>
            </a:r>
          </a:p>
          <a:p>
            <a:pPr>
              <a:lnSpc>
                <a:spcPct val="120000"/>
              </a:lnSpc>
              <a:spcBef>
                <a:spcPts val="300"/>
              </a:spcBef>
              <a:buClr>
                <a:srgbClr val="0B61FF"/>
              </a:buClr>
              <a:buSzPct val="80000"/>
              <a:buFont typeface="Wingdings" panose="05000000000000000000" pitchFamily="2" charset="2"/>
              <a:buChar char="n"/>
            </a:pPr>
            <a:r>
              <a:rPr lang="en-US" altLang="zh-CN" sz="2400" b="1" dirty="0">
                <a:latin typeface="Trebuchet MS" panose="020B0603020202020204" pitchFamily="34" charset="0"/>
              </a:rPr>
              <a:t>Question:</a:t>
            </a:r>
            <a:r>
              <a:rPr lang="en-US" altLang="zh-CN" sz="2400" dirty="0">
                <a:latin typeface="Trebuchet MS" panose="020B0603020202020204" pitchFamily="34" charset="0"/>
              </a:rPr>
              <a:t> Under the condition that the entire network must be connected, how should the cable routes be selected to ensure that the </a:t>
            </a:r>
            <a:r>
              <a:rPr lang="en-US" altLang="zh-CN" sz="2400" b="1" i="1" dirty="0">
                <a:solidFill>
                  <a:srgbClr val="0B61FF"/>
                </a:solidFill>
                <a:latin typeface="Trebuchet MS" panose="020B0603020202020204" pitchFamily="34" charset="0"/>
              </a:rPr>
              <a:t>total cable length is minimized</a:t>
            </a:r>
            <a:r>
              <a:rPr lang="en-US" altLang="zh-CN" sz="2400" dirty="0">
                <a:latin typeface="Trebuchet MS" panose="020B0603020202020204" pitchFamily="34" charset="0"/>
              </a:rPr>
              <a:t>?</a:t>
            </a:r>
          </a:p>
          <a:p>
            <a:pPr>
              <a:lnSpc>
                <a:spcPct val="120000"/>
              </a:lnSpc>
              <a:buClr>
                <a:srgbClr val="0B61FF"/>
              </a:buClr>
              <a:buSzPct val="80000"/>
              <a:buFont typeface="Wingdings" panose="05000000000000000000" pitchFamily="2" charset="2"/>
              <a:buChar char="n"/>
            </a:pPr>
            <a:r>
              <a:rPr lang="en-US" altLang="zh-CN" sz="2400" b="1" dirty="0">
                <a:latin typeface="Trebuchet MS" panose="020B0603020202020204" pitchFamily="34" charset="0"/>
              </a:rPr>
              <a:t>Solution:</a:t>
            </a:r>
            <a:endParaRPr lang="en-US" altLang="zh-CN" sz="2400" dirty="0">
              <a:latin typeface="Trebuchet MS" panose="020B0603020202020204" pitchFamily="34" charset="0"/>
            </a:endParaRPr>
          </a:p>
        </p:txBody>
      </p:sp>
      <p:grpSp>
        <p:nvGrpSpPr>
          <p:cNvPr id="24" name="组合 107">
            <a:extLst>
              <a:ext uri="{FF2B5EF4-FFF2-40B4-BE49-F238E27FC236}">
                <a16:creationId xmlns:a16="http://schemas.microsoft.com/office/drawing/2014/main" id="{604D362C-7DB6-4FCE-B0EC-BCDC17426856}"/>
              </a:ext>
            </a:extLst>
          </p:cNvPr>
          <p:cNvGrpSpPr>
            <a:grpSpLocks/>
          </p:cNvGrpSpPr>
          <p:nvPr/>
        </p:nvGrpSpPr>
        <p:grpSpPr bwMode="auto">
          <a:xfrm>
            <a:off x="7104022" y="1671466"/>
            <a:ext cx="4000501" cy="2428877"/>
            <a:chOff x="2357428" y="3143245"/>
            <a:chExt cx="4000538" cy="2428891"/>
          </a:xfrm>
        </p:grpSpPr>
        <p:grpSp>
          <p:nvGrpSpPr>
            <p:cNvPr id="25" name="组合 61">
              <a:extLst>
                <a:ext uri="{FF2B5EF4-FFF2-40B4-BE49-F238E27FC236}">
                  <a16:creationId xmlns:a16="http://schemas.microsoft.com/office/drawing/2014/main" id="{9793CF9E-0216-4138-8140-6D4D1DF039B7}"/>
                </a:ext>
              </a:extLst>
            </p:cNvPr>
            <p:cNvGrpSpPr>
              <a:grpSpLocks/>
            </p:cNvGrpSpPr>
            <p:nvPr/>
          </p:nvGrpSpPr>
          <p:grpSpPr bwMode="auto">
            <a:xfrm>
              <a:off x="2700920" y="3428996"/>
              <a:ext cx="3156977" cy="1856185"/>
              <a:chOff x="2700914" y="3429000"/>
              <a:chExt cx="3156970" cy="1856187"/>
            </a:xfrm>
          </p:grpSpPr>
          <p:cxnSp>
            <p:nvCxnSpPr>
              <p:cNvPr id="50" name="AutoShape 3">
                <a:extLst>
                  <a:ext uri="{FF2B5EF4-FFF2-40B4-BE49-F238E27FC236}">
                    <a16:creationId xmlns:a16="http://schemas.microsoft.com/office/drawing/2014/main" id="{3C798D77-9BDE-4A06-9249-C893985985EF}"/>
                  </a:ext>
                </a:extLst>
              </p:cNvPr>
              <p:cNvCxnSpPr>
                <a:cxnSpLocks noChangeShapeType="1"/>
              </p:cNvCxnSpPr>
              <p:nvPr/>
            </p:nvCxnSpPr>
            <p:spPr bwMode="auto">
              <a:xfrm flipV="1">
                <a:off x="2731164" y="3668948"/>
                <a:ext cx="782220" cy="737252"/>
              </a:xfrm>
              <a:prstGeom prst="straightConnector1">
                <a:avLst/>
              </a:prstGeom>
              <a:noFill/>
              <a:ln w="28575">
                <a:solidFill>
                  <a:srgbClr val="000000"/>
                </a:solidFill>
                <a:round/>
                <a:headEnd/>
                <a:tailEnd/>
              </a:ln>
              <a:extLst>
                <a:ext uri="{909E8E84-426E-40DD-AFC4-6F175D3DCCD1}">
                  <a14:hiddenFill xmlns:a14="http://schemas.microsoft.com/office/drawing/2010/main">
                    <a:noFill/>
                  </a14:hiddenFill>
                </a:ext>
              </a:extLst>
            </p:spPr>
          </p:cxnSp>
          <p:cxnSp>
            <p:nvCxnSpPr>
              <p:cNvPr id="51" name="AutoShape 4">
                <a:extLst>
                  <a:ext uri="{FF2B5EF4-FFF2-40B4-BE49-F238E27FC236}">
                    <a16:creationId xmlns:a16="http://schemas.microsoft.com/office/drawing/2014/main" id="{38E52B38-8DAC-4974-9644-FF37D98B55CA}"/>
                  </a:ext>
                </a:extLst>
              </p:cNvPr>
              <p:cNvCxnSpPr>
                <a:cxnSpLocks noChangeShapeType="1"/>
              </p:cNvCxnSpPr>
              <p:nvPr/>
            </p:nvCxnSpPr>
            <p:spPr bwMode="auto">
              <a:xfrm>
                <a:off x="2731164" y="4406202"/>
                <a:ext cx="782220" cy="835471"/>
              </a:xfrm>
              <a:prstGeom prst="straightConnector1">
                <a:avLst/>
              </a:prstGeom>
              <a:noFill/>
              <a:ln w="28575">
                <a:solidFill>
                  <a:srgbClr val="000000"/>
                </a:solidFill>
                <a:round/>
                <a:headEnd/>
                <a:tailEnd/>
              </a:ln>
              <a:extLst>
                <a:ext uri="{909E8E84-426E-40DD-AFC4-6F175D3DCCD1}">
                  <a14:hiddenFill xmlns:a14="http://schemas.microsoft.com/office/drawing/2010/main">
                    <a:noFill/>
                  </a14:hiddenFill>
                </a:ext>
              </a:extLst>
            </p:spPr>
          </p:cxnSp>
          <p:cxnSp>
            <p:nvCxnSpPr>
              <p:cNvPr id="52" name="AutoShape 5">
                <a:extLst>
                  <a:ext uri="{FF2B5EF4-FFF2-40B4-BE49-F238E27FC236}">
                    <a16:creationId xmlns:a16="http://schemas.microsoft.com/office/drawing/2014/main" id="{037D1B36-CBC4-442F-909E-012978158DE2}"/>
                  </a:ext>
                </a:extLst>
              </p:cNvPr>
              <p:cNvCxnSpPr>
                <a:cxnSpLocks noChangeShapeType="1"/>
              </p:cNvCxnSpPr>
              <p:nvPr/>
            </p:nvCxnSpPr>
            <p:spPr bwMode="auto">
              <a:xfrm>
                <a:off x="3513385" y="3668948"/>
                <a:ext cx="0" cy="1572723"/>
              </a:xfrm>
              <a:prstGeom prst="straightConnector1">
                <a:avLst/>
              </a:prstGeom>
              <a:noFill/>
              <a:ln w="28575">
                <a:solidFill>
                  <a:srgbClr val="000000"/>
                </a:solidFill>
                <a:round/>
                <a:headEnd/>
                <a:tailEnd/>
              </a:ln>
              <a:extLst>
                <a:ext uri="{909E8E84-426E-40DD-AFC4-6F175D3DCCD1}">
                  <a14:hiddenFill xmlns:a14="http://schemas.microsoft.com/office/drawing/2010/main">
                    <a:noFill/>
                  </a14:hiddenFill>
                </a:ext>
              </a:extLst>
            </p:spPr>
          </p:cxnSp>
          <p:cxnSp>
            <p:nvCxnSpPr>
              <p:cNvPr id="53" name="AutoShape 6">
                <a:extLst>
                  <a:ext uri="{FF2B5EF4-FFF2-40B4-BE49-F238E27FC236}">
                    <a16:creationId xmlns:a16="http://schemas.microsoft.com/office/drawing/2014/main" id="{5DBE3E9F-51D5-4894-A416-C8D790BB0C8D}"/>
                  </a:ext>
                </a:extLst>
              </p:cNvPr>
              <p:cNvCxnSpPr>
                <a:cxnSpLocks noChangeShapeType="1"/>
              </p:cNvCxnSpPr>
              <p:nvPr/>
            </p:nvCxnSpPr>
            <p:spPr bwMode="auto">
              <a:xfrm flipV="1">
                <a:off x="3513385" y="3462568"/>
                <a:ext cx="1206823" cy="206382"/>
              </a:xfrm>
              <a:prstGeom prst="straightConnector1">
                <a:avLst/>
              </a:prstGeom>
              <a:noFill/>
              <a:ln w="28575">
                <a:solidFill>
                  <a:srgbClr val="000000"/>
                </a:solidFill>
                <a:round/>
                <a:headEnd/>
                <a:tailEnd/>
              </a:ln>
              <a:extLst>
                <a:ext uri="{909E8E84-426E-40DD-AFC4-6F175D3DCCD1}">
                  <a14:hiddenFill xmlns:a14="http://schemas.microsoft.com/office/drawing/2010/main">
                    <a:noFill/>
                  </a14:hiddenFill>
                </a:ext>
              </a:extLst>
            </p:spPr>
          </p:cxnSp>
          <p:cxnSp>
            <p:nvCxnSpPr>
              <p:cNvPr id="54" name="AutoShape 7">
                <a:extLst>
                  <a:ext uri="{FF2B5EF4-FFF2-40B4-BE49-F238E27FC236}">
                    <a16:creationId xmlns:a16="http://schemas.microsoft.com/office/drawing/2014/main" id="{E14B8614-2424-43C0-84E7-7580C9775AF6}"/>
                  </a:ext>
                </a:extLst>
              </p:cNvPr>
              <p:cNvCxnSpPr>
                <a:cxnSpLocks noChangeShapeType="1"/>
              </p:cNvCxnSpPr>
              <p:nvPr/>
            </p:nvCxnSpPr>
            <p:spPr bwMode="auto">
              <a:xfrm flipH="1">
                <a:off x="4522492" y="3462568"/>
                <a:ext cx="197716" cy="1779105"/>
              </a:xfrm>
              <a:prstGeom prst="straightConnector1">
                <a:avLst/>
              </a:prstGeom>
              <a:noFill/>
              <a:ln w="28575">
                <a:solidFill>
                  <a:srgbClr val="000000"/>
                </a:solidFill>
                <a:round/>
                <a:headEnd/>
                <a:tailEnd/>
              </a:ln>
              <a:extLst>
                <a:ext uri="{909E8E84-426E-40DD-AFC4-6F175D3DCCD1}">
                  <a14:hiddenFill xmlns:a14="http://schemas.microsoft.com/office/drawing/2010/main">
                    <a:noFill/>
                  </a14:hiddenFill>
                </a:ext>
              </a:extLst>
            </p:spPr>
          </p:cxnSp>
          <p:cxnSp>
            <p:nvCxnSpPr>
              <p:cNvPr id="55" name="AutoShape 8">
                <a:extLst>
                  <a:ext uri="{FF2B5EF4-FFF2-40B4-BE49-F238E27FC236}">
                    <a16:creationId xmlns:a16="http://schemas.microsoft.com/office/drawing/2014/main" id="{1C413575-EF28-49D9-8925-C66E2869B27A}"/>
                  </a:ext>
                </a:extLst>
              </p:cNvPr>
              <p:cNvCxnSpPr>
                <a:cxnSpLocks noChangeShapeType="1"/>
              </p:cNvCxnSpPr>
              <p:nvPr/>
            </p:nvCxnSpPr>
            <p:spPr bwMode="auto">
              <a:xfrm>
                <a:off x="2731164" y="4406202"/>
                <a:ext cx="1875600" cy="0"/>
              </a:xfrm>
              <a:prstGeom prst="straightConnector1">
                <a:avLst/>
              </a:prstGeom>
              <a:noFill/>
              <a:ln w="28575">
                <a:solidFill>
                  <a:srgbClr val="000000"/>
                </a:solidFill>
                <a:round/>
                <a:headEnd/>
                <a:tailEnd/>
              </a:ln>
              <a:extLst>
                <a:ext uri="{909E8E84-426E-40DD-AFC4-6F175D3DCCD1}">
                  <a14:hiddenFill xmlns:a14="http://schemas.microsoft.com/office/drawing/2010/main">
                    <a:noFill/>
                  </a14:hiddenFill>
                </a:ext>
              </a:extLst>
            </p:spPr>
          </p:cxnSp>
          <p:cxnSp>
            <p:nvCxnSpPr>
              <p:cNvPr id="56" name="AutoShape 9">
                <a:extLst>
                  <a:ext uri="{FF2B5EF4-FFF2-40B4-BE49-F238E27FC236}">
                    <a16:creationId xmlns:a16="http://schemas.microsoft.com/office/drawing/2014/main" id="{6CA05814-710F-467A-8F1F-72591DF3BE24}"/>
                  </a:ext>
                </a:extLst>
              </p:cNvPr>
              <p:cNvCxnSpPr>
                <a:cxnSpLocks noChangeShapeType="1"/>
              </p:cNvCxnSpPr>
              <p:nvPr/>
            </p:nvCxnSpPr>
            <p:spPr bwMode="auto">
              <a:xfrm>
                <a:off x="3513385" y="4406202"/>
                <a:ext cx="1009107" cy="835471"/>
              </a:xfrm>
              <a:prstGeom prst="straightConnector1">
                <a:avLst/>
              </a:prstGeom>
              <a:noFill/>
              <a:ln w="28575">
                <a:solidFill>
                  <a:srgbClr val="000000"/>
                </a:solidFill>
                <a:round/>
                <a:headEnd/>
                <a:tailEnd/>
              </a:ln>
              <a:extLst>
                <a:ext uri="{909E8E84-426E-40DD-AFC4-6F175D3DCCD1}">
                  <a14:hiddenFill xmlns:a14="http://schemas.microsoft.com/office/drawing/2010/main">
                    <a:noFill/>
                  </a14:hiddenFill>
                </a:ext>
              </a:extLst>
            </p:spPr>
          </p:cxnSp>
          <p:cxnSp>
            <p:nvCxnSpPr>
              <p:cNvPr id="57" name="AutoShape 10">
                <a:extLst>
                  <a:ext uri="{FF2B5EF4-FFF2-40B4-BE49-F238E27FC236}">
                    <a16:creationId xmlns:a16="http://schemas.microsoft.com/office/drawing/2014/main" id="{2F3FE378-9ED8-48BA-89A7-8E7D72B1F0DA}"/>
                  </a:ext>
                </a:extLst>
              </p:cNvPr>
              <p:cNvCxnSpPr>
                <a:cxnSpLocks noChangeShapeType="1"/>
              </p:cNvCxnSpPr>
              <p:nvPr/>
            </p:nvCxnSpPr>
            <p:spPr bwMode="auto">
              <a:xfrm>
                <a:off x="3513385" y="5241671"/>
                <a:ext cx="1009107" cy="0"/>
              </a:xfrm>
              <a:prstGeom prst="straightConnector1">
                <a:avLst/>
              </a:prstGeom>
              <a:noFill/>
              <a:ln w="28575">
                <a:solidFill>
                  <a:srgbClr val="000000"/>
                </a:solidFill>
                <a:round/>
                <a:headEnd/>
                <a:tailEnd/>
              </a:ln>
              <a:extLst>
                <a:ext uri="{909E8E84-426E-40DD-AFC4-6F175D3DCCD1}">
                  <a14:hiddenFill xmlns:a14="http://schemas.microsoft.com/office/drawing/2010/main">
                    <a:noFill/>
                  </a14:hiddenFill>
                </a:ext>
              </a:extLst>
            </p:spPr>
          </p:cxnSp>
          <p:cxnSp>
            <p:nvCxnSpPr>
              <p:cNvPr id="58" name="AutoShape 11">
                <a:extLst>
                  <a:ext uri="{FF2B5EF4-FFF2-40B4-BE49-F238E27FC236}">
                    <a16:creationId xmlns:a16="http://schemas.microsoft.com/office/drawing/2014/main" id="{9BC63E24-4FB2-4AE4-BBD3-BF02AA27AA27}"/>
                  </a:ext>
                </a:extLst>
              </p:cNvPr>
              <p:cNvCxnSpPr>
                <a:cxnSpLocks noChangeShapeType="1"/>
              </p:cNvCxnSpPr>
              <p:nvPr/>
            </p:nvCxnSpPr>
            <p:spPr bwMode="auto">
              <a:xfrm>
                <a:off x="4720208" y="3462568"/>
                <a:ext cx="1103103" cy="738496"/>
              </a:xfrm>
              <a:prstGeom prst="straightConnector1">
                <a:avLst/>
              </a:prstGeom>
              <a:noFill/>
              <a:ln w="28575">
                <a:solidFill>
                  <a:srgbClr val="000000"/>
                </a:solidFill>
                <a:round/>
                <a:headEnd/>
                <a:tailEnd/>
              </a:ln>
              <a:extLst>
                <a:ext uri="{909E8E84-426E-40DD-AFC4-6F175D3DCCD1}">
                  <a14:hiddenFill xmlns:a14="http://schemas.microsoft.com/office/drawing/2010/main">
                    <a:noFill/>
                  </a14:hiddenFill>
                </a:ext>
              </a:extLst>
            </p:spPr>
          </p:cxnSp>
          <p:cxnSp>
            <p:nvCxnSpPr>
              <p:cNvPr id="59" name="AutoShape 12">
                <a:extLst>
                  <a:ext uri="{FF2B5EF4-FFF2-40B4-BE49-F238E27FC236}">
                    <a16:creationId xmlns:a16="http://schemas.microsoft.com/office/drawing/2014/main" id="{89CA0034-BD4D-4E9A-B418-01AD56D7F6C6}"/>
                  </a:ext>
                </a:extLst>
              </p:cNvPr>
              <p:cNvCxnSpPr>
                <a:cxnSpLocks noChangeShapeType="1"/>
              </p:cNvCxnSpPr>
              <p:nvPr/>
            </p:nvCxnSpPr>
            <p:spPr bwMode="auto">
              <a:xfrm flipV="1">
                <a:off x="4522492" y="4883612"/>
                <a:ext cx="735762" cy="358059"/>
              </a:xfrm>
              <a:prstGeom prst="straightConnector1">
                <a:avLst/>
              </a:prstGeom>
              <a:noFill/>
              <a:ln w="28575">
                <a:solidFill>
                  <a:srgbClr val="000000"/>
                </a:solidFill>
                <a:round/>
                <a:headEnd/>
                <a:tailEnd/>
              </a:ln>
              <a:extLst>
                <a:ext uri="{909E8E84-426E-40DD-AFC4-6F175D3DCCD1}">
                  <a14:hiddenFill xmlns:a14="http://schemas.microsoft.com/office/drawing/2010/main">
                    <a:noFill/>
                  </a14:hiddenFill>
                </a:ext>
              </a:extLst>
            </p:spPr>
          </p:cxnSp>
          <p:cxnSp>
            <p:nvCxnSpPr>
              <p:cNvPr id="60" name="AutoShape 13">
                <a:extLst>
                  <a:ext uri="{FF2B5EF4-FFF2-40B4-BE49-F238E27FC236}">
                    <a16:creationId xmlns:a16="http://schemas.microsoft.com/office/drawing/2014/main" id="{43EEE39D-F954-4514-87F8-AF91CB5921EF}"/>
                  </a:ext>
                </a:extLst>
              </p:cNvPr>
              <p:cNvCxnSpPr>
                <a:cxnSpLocks noChangeShapeType="1"/>
              </p:cNvCxnSpPr>
              <p:nvPr/>
            </p:nvCxnSpPr>
            <p:spPr bwMode="auto">
              <a:xfrm flipH="1">
                <a:off x="5258254" y="4201064"/>
                <a:ext cx="565056" cy="682550"/>
              </a:xfrm>
              <a:prstGeom prst="straightConnector1">
                <a:avLst/>
              </a:prstGeom>
              <a:noFill/>
              <a:ln w="28575">
                <a:solidFill>
                  <a:srgbClr val="000000"/>
                </a:solidFill>
                <a:round/>
                <a:headEnd/>
                <a:tailEnd/>
              </a:ln>
              <a:extLst>
                <a:ext uri="{909E8E84-426E-40DD-AFC4-6F175D3DCCD1}">
                  <a14:hiddenFill xmlns:a14="http://schemas.microsoft.com/office/drawing/2010/main">
                    <a:noFill/>
                  </a14:hiddenFill>
                </a:ext>
              </a:extLst>
            </p:spPr>
          </p:cxnSp>
          <p:cxnSp>
            <p:nvCxnSpPr>
              <p:cNvPr id="61" name="AutoShape 14">
                <a:extLst>
                  <a:ext uri="{FF2B5EF4-FFF2-40B4-BE49-F238E27FC236}">
                    <a16:creationId xmlns:a16="http://schemas.microsoft.com/office/drawing/2014/main" id="{B360B7AB-3D14-4B9E-95F9-6E3B8B970389}"/>
                  </a:ext>
                </a:extLst>
              </p:cNvPr>
              <p:cNvCxnSpPr>
                <a:cxnSpLocks noChangeShapeType="1"/>
              </p:cNvCxnSpPr>
              <p:nvPr/>
            </p:nvCxnSpPr>
            <p:spPr bwMode="auto">
              <a:xfrm>
                <a:off x="4720208" y="3462568"/>
                <a:ext cx="538046" cy="1421046"/>
              </a:xfrm>
              <a:prstGeom prst="straightConnector1">
                <a:avLst/>
              </a:prstGeom>
              <a:noFill/>
              <a:ln w="28575">
                <a:solidFill>
                  <a:srgbClr val="000000"/>
                </a:solidFill>
                <a:round/>
                <a:headEnd/>
                <a:tailEnd/>
              </a:ln>
              <a:extLst>
                <a:ext uri="{909E8E84-426E-40DD-AFC4-6F175D3DCCD1}">
                  <a14:hiddenFill xmlns:a14="http://schemas.microsoft.com/office/drawing/2010/main">
                    <a:noFill/>
                  </a14:hiddenFill>
                </a:ext>
              </a:extLst>
            </p:spPr>
          </p:cxnSp>
          <p:sp>
            <p:nvSpPr>
              <p:cNvPr id="62" name="Oval 15">
                <a:extLst>
                  <a:ext uri="{FF2B5EF4-FFF2-40B4-BE49-F238E27FC236}">
                    <a16:creationId xmlns:a16="http://schemas.microsoft.com/office/drawing/2014/main" id="{A783BA1F-4F64-47A0-B721-0C37E4674E52}"/>
                  </a:ext>
                </a:extLst>
              </p:cNvPr>
              <p:cNvSpPr>
                <a:spLocks noChangeArrowheads="1"/>
              </p:cNvSpPr>
              <p:nvPr/>
            </p:nvSpPr>
            <p:spPr bwMode="auto">
              <a:xfrm>
                <a:off x="3473442" y="3635376"/>
                <a:ext cx="77788" cy="88901"/>
              </a:xfrm>
              <a:prstGeom prst="ellipse">
                <a:avLst/>
              </a:prstGeom>
              <a:solidFill>
                <a:srgbClr val="FFFFFF"/>
              </a:solidFill>
              <a:ln w="28575">
                <a:solidFill>
                  <a:srgbClr val="000000"/>
                </a:solidFill>
                <a:round/>
                <a:headEnd/>
                <a:tailEnd/>
              </a:ln>
            </p:spPr>
            <p:txBody>
              <a:bodyPr/>
              <a:lstStyle/>
              <a:p>
                <a:pPr algn="ctr" eaLnBrk="1" hangingPunct="1">
                  <a:defRPr/>
                </a:pPr>
                <a:endParaRPr lang="zh-CN" altLang="en-US">
                  <a:ln w="28575">
                    <a:solidFill>
                      <a:schemeClr val="tx1"/>
                    </a:solidFill>
                  </a:ln>
                  <a:latin typeface="Arial" charset="0"/>
                </a:endParaRPr>
              </a:p>
            </p:txBody>
          </p:sp>
          <p:sp>
            <p:nvSpPr>
              <p:cNvPr id="63" name="Oval 16">
                <a:extLst>
                  <a:ext uri="{FF2B5EF4-FFF2-40B4-BE49-F238E27FC236}">
                    <a16:creationId xmlns:a16="http://schemas.microsoft.com/office/drawing/2014/main" id="{E317C503-5C68-4E0C-AEAA-1A95A22DBD2F}"/>
                  </a:ext>
                </a:extLst>
              </p:cNvPr>
              <p:cNvSpPr>
                <a:spLocks noChangeArrowheads="1"/>
              </p:cNvSpPr>
              <p:nvPr/>
            </p:nvSpPr>
            <p:spPr bwMode="auto">
              <a:xfrm>
                <a:off x="2700324" y="4356106"/>
                <a:ext cx="76201" cy="88901"/>
              </a:xfrm>
              <a:prstGeom prst="ellipse">
                <a:avLst/>
              </a:prstGeom>
              <a:solidFill>
                <a:srgbClr val="FFFFFF"/>
              </a:solidFill>
              <a:ln w="28575">
                <a:solidFill>
                  <a:srgbClr val="000000"/>
                </a:solidFill>
                <a:round/>
                <a:headEnd/>
                <a:tailEnd/>
              </a:ln>
            </p:spPr>
            <p:txBody>
              <a:bodyPr/>
              <a:lstStyle/>
              <a:p>
                <a:pPr algn="ctr" eaLnBrk="1" hangingPunct="1">
                  <a:defRPr/>
                </a:pPr>
                <a:endParaRPr lang="zh-CN" altLang="en-US">
                  <a:ln w="28575">
                    <a:solidFill>
                      <a:schemeClr val="tx1"/>
                    </a:solidFill>
                  </a:ln>
                  <a:latin typeface="Arial" charset="0"/>
                </a:endParaRPr>
              </a:p>
            </p:txBody>
          </p:sp>
          <p:sp>
            <p:nvSpPr>
              <p:cNvPr id="64" name="Oval 17">
                <a:extLst>
                  <a:ext uri="{FF2B5EF4-FFF2-40B4-BE49-F238E27FC236}">
                    <a16:creationId xmlns:a16="http://schemas.microsoft.com/office/drawing/2014/main" id="{8A10D878-B933-4DF4-8A23-4FA167ED60B6}"/>
                  </a:ext>
                </a:extLst>
              </p:cNvPr>
              <p:cNvSpPr>
                <a:spLocks noChangeArrowheads="1"/>
              </p:cNvSpPr>
              <p:nvPr/>
            </p:nvSpPr>
            <p:spPr bwMode="auto">
              <a:xfrm>
                <a:off x="3473442" y="4360870"/>
                <a:ext cx="77788" cy="88901"/>
              </a:xfrm>
              <a:prstGeom prst="ellipse">
                <a:avLst/>
              </a:prstGeom>
              <a:solidFill>
                <a:srgbClr val="FFFFFF"/>
              </a:solidFill>
              <a:ln w="28575">
                <a:solidFill>
                  <a:srgbClr val="000000"/>
                </a:solidFill>
                <a:round/>
                <a:headEnd/>
                <a:tailEnd/>
              </a:ln>
            </p:spPr>
            <p:txBody>
              <a:bodyPr/>
              <a:lstStyle/>
              <a:p>
                <a:pPr algn="ctr" eaLnBrk="1" hangingPunct="1">
                  <a:defRPr/>
                </a:pPr>
                <a:endParaRPr lang="zh-CN" altLang="en-US">
                  <a:ln w="28575">
                    <a:solidFill>
                      <a:schemeClr val="tx1"/>
                    </a:solidFill>
                  </a:ln>
                  <a:latin typeface="Arial" charset="0"/>
                </a:endParaRPr>
              </a:p>
            </p:txBody>
          </p:sp>
          <p:sp>
            <p:nvSpPr>
              <p:cNvPr id="65" name="Oval 18">
                <a:extLst>
                  <a:ext uri="{FF2B5EF4-FFF2-40B4-BE49-F238E27FC236}">
                    <a16:creationId xmlns:a16="http://schemas.microsoft.com/office/drawing/2014/main" id="{4F654236-0908-4EE7-9B6F-4C4416D73352}"/>
                  </a:ext>
                </a:extLst>
              </p:cNvPr>
              <p:cNvSpPr>
                <a:spLocks noChangeArrowheads="1"/>
              </p:cNvSpPr>
              <p:nvPr/>
            </p:nvSpPr>
            <p:spPr bwMode="auto">
              <a:xfrm>
                <a:off x="4672013" y="3429000"/>
                <a:ext cx="77789" cy="88901"/>
              </a:xfrm>
              <a:prstGeom prst="ellipse">
                <a:avLst/>
              </a:prstGeom>
              <a:solidFill>
                <a:srgbClr val="FFFFFF"/>
              </a:solidFill>
              <a:ln w="28575">
                <a:solidFill>
                  <a:srgbClr val="000000"/>
                </a:solidFill>
                <a:round/>
                <a:headEnd/>
                <a:tailEnd/>
              </a:ln>
            </p:spPr>
            <p:txBody>
              <a:bodyPr/>
              <a:lstStyle/>
              <a:p>
                <a:pPr algn="ctr" eaLnBrk="1" hangingPunct="1">
                  <a:defRPr/>
                </a:pPr>
                <a:endParaRPr lang="zh-CN" altLang="en-US">
                  <a:ln w="28575">
                    <a:solidFill>
                      <a:schemeClr val="tx1"/>
                    </a:solidFill>
                  </a:ln>
                  <a:latin typeface="Arial" charset="0"/>
                </a:endParaRPr>
              </a:p>
            </p:txBody>
          </p:sp>
          <p:sp>
            <p:nvSpPr>
              <p:cNvPr id="66" name="Oval 19">
                <a:extLst>
                  <a:ext uri="{FF2B5EF4-FFF2-40B4-BE49-F238E27FC236}">
                    <a16:creationId xmlns:a16="http://schemas.microsoft.com/office/drawing/2014/main" id="{5F73F20E-F5A1-4BF5-9B0D-73C40CCA203F}"/>
                  </a:ext>
                </a:extLst>
              </p:cNvPr>
              <p:cNvSpPr>
                <a:spLocks noChangeArrowheads="1"/>
              </p:cNvSpPr>
              <p:nvPr/>
            </p:nvSpPr>
            <p:spPr bwMode="auto">
              <a:xfrm>
                <a:off x="4568825" y="4371982"/>
                <a:ext cx="76201" cy="88901"/>
              </a:xfrm>
              <a:prstGeom prst="ellipse">
                <a:avLst/>
              </a:prstGeom>
              <a:solidFill>
                <a:srgbClr val="FFFFFF"/>
              </a:solidFill>
              <a:ln w="28575">
                <a:solidFill>
                  <a:srgbClr val="000000"/>
                </a:solidFill>
                <a:round/>
                <a:headEnd/>
                <a:tailEnd/>
              </a:ln>
            </p:spPr>
            <p:txBody>
              <a:bodyPr/>
              <a:lstStyle/>
              <a:p>
                <a:pPr algn="ctr" eaLnBrk="1" hangingPunct="1">
                  <a:defRPr/>
                </a:pPr>
                <a:endParaRPr lang="zh-CN" altLang="en-US">
                  <a:ln w="28575">
                    <a:solidFill>
                      <a:schemeClr val="tx1"/>
                    </a:solidFill>
                  </a:ln>
                  <a:latin typeface="Arial" charset="0"/>
                </a:endParaRPr>
              </a:p>
            </p:txBody>
          </p:sp>
          <p:sp>
            <p:nvSpPr>
              <p:cNvPr id="67" name="Oval 20">
                <a:extLst>
                  <a:ext uri="{FF2B5EF4-FFF2-40B4-BE49-F238E27FC236}">
                    <a16:creationId xmlns:a16="http://schemas.microsoft.com/office/drawing/2014/main" id="{71536B25-3553-4990-B3CC-4BE9F8387F1C}"/>
                  </a:ext>
                </a:extLst>
              </p:cNvPr>
              <p:cNvSpPr>
                <a:spLocks noChangeArrowheads="1"/>
              </p:cNvSpPr>
              <p:nvPr/>
            </p:nvSpPr>
            <p:spPr bwMode="auto">
              <a:xfrm>
                <a:off x="4478336" y="5184787"/>
                <a:ext cx="76201" cy="88901"/>
              </a:xfrm>
              <a:prstGeom prst="ellipse">
                <a:avLst/>
              </a:prstGeom>
              <a:solidFill>
                <a:srgbClr val="FFFFFF"/>
              </a:solidFill>
              <a:ln w="28575">
                <a:solidFill>
                  <a:srgbClr val="000000"/>
                </a:solidFill>
                <a:round/>
                <a:headEnd/>
                <a:tailEnd/>
              </a:ln>
            </p:spPr>
            <p:txBody>
              <a:bodyPr/>
              <a:lstStyle/>
              <a:p>
                <a:pPr algn="ctr" eaLnBrk="1" hangingPunct="1">
                  <a:defRPr/>
                </a:pPr>
                <a:endParaRPr lang="zh-CN" altLang="en-US">
                  <a:ln w="28575">
                    <a:solidFill>
                      <a:schemeClr val="tx1"/>
                    </a:solidFill>
                  </a:ln>
                  <a:latin typeface="Arial" charset="0"/>
                </a:endParaRPr>
              </a:p>
            </p:txBody>
          </p:sp>
          <p:sp>
            <p:nvSpPr>
              <p:cNvPr id="68" name="Oval 21">
                <a:extLst>
                  <a:ext uri="{FF2B5EF4-FFF2-40B4-BE49-F238E27FC236}">
                    <a16:creationId xmlns:a16="http://schemas.microsoft.com/office/drawing/2014/main" id="{3C6C0E76-FFF7-44A2-BF6B-7B5B50B3EA9B}"/>
                  </a:ext>
                </a:extLst>
              </p:cNvPr>
              <p:cNvSpPr>
                <a:spLocks noChangeArrowheads="1"/>
              </p:cNvSpPr>
              <p:nvPr/>
            </p:nvSpPr>
            <p:spPr bwMode="auto">
              <a:xfrm>
                <a:off x="3467092" y="5195900"/>
                <a:ext cx="76201" cy="88901"/>
              </a:xfrm>
              <a:prstGeom prst="ellipse">
                <a:avLst/>
              </a:prstGeom>
              <a:solidFill>
                <a:srgbClr val="FFFFFF"/>
              </a:solidFill>
              <a:ln w="28575">
                <a:solidFill>
                  <a:srgbClr val="000000"/>
                </a:solidFill>
                <a:round/>
                <a:headEnd/>
                <a:tailEnd/>
              </a:ln>
            </p:spPr>
            <p:txBody>
              <a:bodyPr/>
              <a:lstStyle/>
              <a:p>
                <a:pPr algn="ctr" eaLnBrk="1" hangingPunct="1">
                  <a:defRPr/>
                </a:pPr>
                <a:endParaRPr lang="zh-CN" altLang="en-US">
                  <a:ln w="28575">
                    <a:solidFill>
                      <a:schemeClr val="tx1"/>
                    </a:solidFill>
                  </a:ln>
                  <a:latin typeface="Arial" charset="0"/>
                </a:endParaRPr>
              </a:p>
            </p:txBody>
          </p:sp>
          <p:sp>
            <p:nvSpPr>
              <p:cNvPr id="69" name="Oval 22">
                <a:extLst>
                  <a:ext uri="{FF2B5EF4-FFF2-40B4-BE49-F238E27FC236}">
                    <a16:creationId xmlns:a16="http://schemas.microsoft.com/office/drawing/2014/main" id="{FC61E386-B2C8-4AA7-B617-68CC1C2DF839}"/>
                  </a:ext>
                </a:extLst>
              </p:cNvPr>
              <p:cNvSpPr>
                <a:spLocks noChangeArrowheads="1"/>
              </p:cNvSpPr>
              <p:nvPr/>
            </p:nvSpPr>
            <p:spPr bwMode="auto">
              <a:xfrm>
                <a:off x="5207004" y="4838710"/>
                <a:ext cx="77788" cy="87314"/>
              </a:xfrm>
              <a:prstGeom prst="ellipse">
                <a:avLst/>
              </a:prstGeom>
              <a:solidFill>
                <a:srgbClr val="FFFFFF"/>
              </a:solidFill>
              <a:ln w="28575">
                <a:solidFill>
                  <a:srgbClr val="000000"/>
                </a:solidFill>
                <a:round/>
                <a:headEnd/>
                <a:tailEnd/>
              </a:ln>
            </p:spPr>
            <p:txBody>
              <a:bodyPr/>
              <a:lstStyle/>
              <a:p>
                <a:pPr algn="ctr" eaLnBrk="1" hangingPunct="1">
                  <a:defRPr/>
                </a:pPr>
                <a:endParaRPr lang="zh-CN" altLang="en-US">
                  <a:ln w="28575">
                    <a:solidFill>
                      <a:schemeClr val="tx1"/>
                    </a:solidFill>
                  </a:ln>
                  <a:latin typeface="Arial" charset="0"/>
                </a:endParaRPr>
              </a:p>
            </p:txBody>
          </p:sp>
          <p:sp>
            <p:nvSpPr>
              <p:cNvPr id="70" name="Oval 23">
                <a:extLst>
                  <a:ext uri="{FF2B5EF4-FFF2-40B4-BE49-F238E27FC236}">
                    <a16:creationId xmlns:a16="http://schemas.microsoft.com/office/drawing/2014/main" id="{CA2922B2-08CD-48D3-A23E-7F25C5C93DAB}"/>
                  </a:ext>
                </a:extLst>
              </p:cNvPr>
              <p:cNvSpPr>
                <a:spLocks noChangeArrowheads="1"/>
              </p:cNvSpPr>
              <p:nvPr/>
            </p:nvSpPr>
            <p:spPr bwMode="auto">
              <a:xfrm>
                <a:off x="5781683" y="4144968"/>
                <a:ext cx="76201" cy="88901"/>
              </a:xfrm>
              <a:prstGeom prst="ellipse">
                <a:avLst/>
              </a:prstGeom>
              <a:solidFill>
                <a:srgbClr val="FFFFFF"/>
              </a:solidFill>
              <a:ln w="28575">
                <a:solidFill>
                  <a:srgbClr val="000000"/>
                </a:solidFill>
                <a:round/>
                <a:headEnd/>
                <a:tailEnd/>
              </a:ln>
            </p:spPr>
            <p:txBody>
              <a:bodyPr/>
              <a:lstStyle/>
              <a:p>
                <a:pPr algn="ctr" eaLnBrk="1" hangingPunct="1">
                  <a:defRPr/>
                </a:pPr>
                <a:endParaRPr lang="zh-CN" altLang="en-US">
                  <a:ln w="28575">
                    <a:solidFill>
                      <a:schemeClr val="tx1"/>
                    </a:solidFill>
                  </a:ln>
                  <a:latin typeface="Arial" charset="0"/>
                </a:endParaRPr>
              </a:p>
            </p:txBody>
          </p:sp>
        </p:grpSp>
        <p:sp>
          <p:nvSpPr>
            <p:cNvPr id="26" name="Text Box 31">
              <a:extLst>
                <a:ext uri="{FF2B5EF4-FFF2-40B4-BE49-F238E27FC236}">
                  <a16:creationId xmlns:a16="http://schemas.microsoft.com/office/drawing/2014/main" id="{C597D932-7904-4C9B-81AC-D7B708CE99F9}"/>
                </a:ext>
              </a:extLst>
            </p:cNvPr>
            <p:cNvSpPr txBox="1">
              <a:spLocks noChangeArrowheads="1"/>
            </p:cNvSpPr>
            <p:nvPr/>
          </p:nvSpPr>
          <p:spPr bwMode="auto">
            <a:xfrm>
              <a:off x="5214953" y="4786316"/>
              <a:ext cx="500068" cy="4672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just" eaLnBrk="1" hangingPunct="1">
                <a:spcBef>
                  <a:spcPct val="0"/>
                </a:spcBef>
                <a:buFontTx/>
                <a:buNone/>
              </a:pPr>
              <a:r>
                <a:rPr kumimoji="0" lang="en-US" altLang="zh-CN" sz="2000" b="1" i="1">
                  <a:ea typeface="华文行楷" panose="02010800040101010101" pitchFamily="2" charset="-122"/>
                </a:rPr>
                <a:t>H</a:t>
              </a:r>
              <a:endParaRPr kumimoji="0" lang="zh-CN" altLang="zh-CN" sz="2000" b="1">
                <a:latin typeface="Arial" panose="020B0604020202020204" pitchFamily="34" charset="0"/>
                <a:ea typeface="华文行楷" panose="02010800040101010101" pitchFamily="2" charset="-122"/>
              </a:endParaRPr>
            </a:p>
          </p:txBody>
        </p:sp>
        <p:sp>
          <p:nvSpPr>
            <p:cNvPr id="27" name="Text Box 31">
              <a:extLst>
                <a:ext uri="{FF2B5EF4-FFF2-40B4-BE49-F238E27FC236}">
                  <a16:creationId xmlns:a16="http://schemas.microsoft.com/office/drawing/2014/main" id="{AF9F5C0A-2FD4-4377-B179-DEF55025D9F5}"/>
                </a:ext>
              </a:extLst>
            </p:cNvPr>
            <p:cNvSpPr txBox="1">
              <a:spLocks noChangeArrowheads="1"/>
            </p:cNvSpPr>
            <p:nvPr/>
          </p:nvSpPr>
          <p:spPr bwMode="auto">
            <a:xfrm>
              <a:off x="3214685" y="3286120"/>
              <a:ext cx="500068" cy="4672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just" eaLnBrk="1" hangingPunct="1">
                <a:spcBef>
                  <a:spcPct val="0"/>
                </a:spcBef>
                <a:buFontTx/>
                <a:buNone/>
              </a:pPr>
              <a:r>
                <a:rPr kumimoji="0" lang="en-US" altLang="zh-CN" sz="2000" b="1" i="1">
                  <a:ea typeface="华文行楷" panose="02010800040101010101" pitchFamily="2" charset="-122"/>
                </a:rPr>
                <a:t>B</a:t>
              </a:r>
              <a:endParaRPr kumimoji="0" lang="zh-CN" altLang="zh-CN" sz="2000" b="1">
                <a:latin typeface="Arial" panose="020B0604020202020204" pitchFamily="34" charset="0"/>
                <a:ea typeface="华文行楷" panose="02010800040101010101" pitchFamily="2" charset="-122"/>
              </a:endParaRPr>
            </a:p>
          </p:txBody>
        </p:sp>
        <p:sp>
          <p:nvSpPr>
            <p:cNvPr id="28" name="Text Box 31">
              <a:extLst>
                <a:ext uri="{FF2B5EF4-FFF2-40B4-BE49-F238E27FC236}">
                  <a16:creationId xmlns:a16="http://schemas.microsoft.com/office/drawing/2014/main" id="{E1297D8D-5FB9-4722-8156-738896E1FF65}"/>
                </a:ext>
              </a:extLst>
            </p:cNvPr>
            <p:cNvSpPr txBox="1">
              <a:spLocks noChangeArrowheads="1"/>
            </p:cNvSpPr>
            <p:nvPr/>
          </p:nvSpPr>
          <p:spPr bwMode="auto">
            <a:xfrm>
              <a:off x="2357428" y="4176223"/>
              <a:ext cx="500068" cy="4672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just" eaLnBrk="1" hangingPunct="1">
                <a:spcBef>
                  <a:spcPct val="0"/>
                </a:spcBef>
                <a:buFontTx/>
                <a:buNone/>
              </a:pPr>
              <a:r>
                <a:rPr kumimoji="0" lang="en-US" altLang="zh-CN" sz="2000" b="1" i="1">
                  <a:ea typeface="华文行楷" panose="02010800040101010101" pitchFamily="2" charset="-122"/>
                </a:rPr>
                <a:t>A</a:t>
              </a:r>
              <a:endParaRPr kumimoji="0" lang="zh-CN" altLang="zh-CN" sz="2000" b="1">
                <a:latin typeface="Arial" panose="020B0604020202020204" pitchFamily="34" charset="0"/>
                <a:ea typeface="华文行楷" panose="02010800040101010101" pitchFamily="2" charset="-122"/>
              </a:endParaRPr>
            </a:p>
          </p:txBody>
        </p:sp>
        <p:sp>
          <p:nvSpPr>
            <p:cNvPr id="29" name="Text Box 31">
              <a:extLst>
                <a:ext uri="{FF2B5EF4-FFF2-40B4-BE49-F238E27FC236}">
                  <a16:creationId xmlns:a16="http://schemas.microsoft.com/office/drawing/2014/main" id="{04C927FD-EB0F-4E5A-9DC0-956A32F366D2}"/>
                </a:ext>
              </a:extLst>
            </p:cNvPr>
            <p:cNvSpPr txBox="1">
              <a:spLocks noChangeArrowheads="1"/>
            </p:cNvSpPr>
            <p:nvPr/>
          </p:nvSpPr>
          <p:spPr bwMode="auto">
            <a:xfrm>
              <a:off x="3143248" y="4319099"/>
              <a:ext cx="500068" cy="4672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just" eaLnBrk="1" hangingPunct="1">
                <a:spcBef>
                  <a:spcPct val="0"/>
                </a:spcBef>
                <a:buFontTx/>
                <a:buNone/>
              </a:pPr>
              <a:r>
                <a:rPr kumimoji="0" lang="en-US" altLang="zh-CN" sz="2000" b="1" i="1">
                  <a:ea typeface="华文行楷" panose="02010800040101010101" pitchFamily="2" charset="-122"/>
                </a:rPr>
                <a:t>C</a:t>
              </a:r>
              <a:endParaRPr kumimoji="0" lang="zh-CN" altLang="zh-CN" sz="2000" b="1">
                <a:latin typeface="Arial" panose="020B0604020202020204" pitchFamily="34" charset="0"/>
                <a:ea typeface="华文行楷" panose="02010800040101010101" pitchFamily="2" charset="-122"/>
              </a:endParaRPr>
            </a:p>
          </p:txBody>
        </p:sp>
        <p:sp>
          <p:nvSpPr>
            <p:cNvPr id="30" name="Text Box 31">
              <a:extLst>
                <a:ext uri="{FF2B5EF4-FFF2-40B4-BE49-F238E27FC236}">
                  <a16:creationId xmlns:a16="http://schemas.microsoft.com/office/drawing/2014/main" id="{7277127D-6C1F-4811-B387-0C7DF8400163}"/>
                </a:ext>
              </a:extLst>
            </p:cNvPr>
            <p:cNvSpPr txBox="1">
              <a:spLocks noChangeArrowheads="1"/>
            </p:cNvSpPr>
            <p:nvPr/>
          </p:nvSpPr>
          <p:spPr bwMode="auto">
            <a:xfrm>
              <a:off x="3143248" y="5072068"/>
              <a:ext cx="500068" cy="4672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just" eaLnBrk="1" hangingPunct="1">
                <a:spcBef>
                  <a:spcPct val="0"/>
                </a:spcBef>
                <a:buFontTx/>
                <a:buNone/>
              </a:pPr>
              <a:r>
                <a:rPr kumimoji="0" lang="en-US" altLang="zh-CN" sz="2000" b="1" i="1">
                  <a:ea typeface="华文行楷" panose="02010800040101010101" pitchFamily="2" charset="-122"/>
                </a:rPr>
                <a:t>D</a:t>
              </a:r>
              <a:endParaRPr kumimoji="0" lang="zh-CN" altLang="zh-CN" sz="2000" b="1">
                <a:latin typeface="Arial" panose="020B0604020202020204" pitchFamily="34" charset="0"/>
                <a:ea typeface="华文行楷" panose="02010800040101010101" pitchFamily="2" charset="-122"/>
              </a:endParaRPr>
            </a:p>
          </p:txBody>
        </p:sp>
        <p:sp>
          <p:nvSpPr>
            <p:cNvPr id="31" name="Text Box 31">
              <a:extLst>
                <a:ext uri="{FF2B5EF4-FFF2-40B4-BE49-F238E27FC236}">
                  <a16:creationId xmlns:a16="http://schemas.microsoft.com/office/drawing/2014/main" id="{2DDE6C48-FD6F-48BA-9229-6DD62890D1D0}"/>
                </a:ext>
              </a:extLst>
            </p:cNvPr>
            <p:cNvSpPr txBox="1">
              <a:spLocks noChangeArrowheads="1"/>
            </p:cNvSpPr>
            <p:nvPr/>
          </p:nvSpPr>
          <p:spPr bwMode="auto">
            <a:xfrm>
              <a:off x="4714888" y="3143245"/>
              <a:ext cx="500068" cy="4672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just" eaLnBrk="1" hangingPunct="1">
                <a:spcBef>
                  <a:spcPct val="0"/>
                </a:spcBef>
                <a:buFontTx/>
                <a:buNone/>
              </a:pPr>
              <a:r>
                <a:rPr kumimoji="0" lang="en-US" altLang="zh-CN" sz="2000" b="1" i="1">
                  <a:ea typeface="华文行楷" panose="02010800040101010101" pitchFamily="2" charset="-122"/>
                </a:rPr>
                <a:t>E</a:t>
              </a:r>
              <a:endParaRPr kumimoji="0" lang="zh-CN" altLang="zh-CN" sz="2000" b="1">
                <a:latin typeface="Arial" panose="020B0604020202020204" pitchFamily="34" charset="0"/>
                <a:ea typeface="华文行楷" panose="02010800040101010101" pitchFamily="2" charset="-122"/>
              </a:endParaRPr>
            </a:p>
          </p:txBody>
        </p:sp>
        <p:sp>
          <p:nvSpPr>
            <p:cNvPr id="32" name="Text Box 31">
              <a:extLst>
                <a:ext uri="{FF2B5EF4-FFF2-40B4-BE49-F238E27FC236}">
                  <a16:creationId xmlns:a16="http://schemas.microsoft.com/office/drawing/2014/main" id="{B63CB926-956E-4DC4-BE8F-93596CF4E810}"/>
                </a:ext>
              </a:extLst>
            </p:cNvPr>
            <p:cNvSpPr txBox="1">
              <a:spLocks noChangeArrowheads="1"/>
            </p:cNvSpPr>
            <p:nvPr/>
          </p:nvSpPr>
          <p:spPr bwMode="auto">
            <a:xfrm>
              <a:off x="4572011" y="4247661"/>
              <a:ext cx="500068" cy="4672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just" eaLnBrk="1" hangingPunct="1">
                <a:spcBef>
                  <a:spcPct val="0"/>
                </a:spcBef>
                <a:buFontTx/>
                <a:buNone/>
              </a:pPr>
              <a:r>
                <a:rPr kumimoji="0" lang="en-US" altLang="zh-CN" sz="2000" b="1" i="1">
                  <a:ea typeface="华文行楷" panose="02010800040101010101" pitchFamily="2" charset="-122"/>
                </a:rPr>
                <a:t>F</a:t>
              </a:r>
              <a:endParaRPr kumimoji="0" lang="zh-CN" altLang="zh-CN" sz="2000" b="1">
                <a:latin typeface="Arial" panose="020B0604020202020204" pitchFamily="34" charset="0"/>
                <a:ea typeface="华文行楷" panose="02010800040101010101" pitchFamily="2" charset="-122"/>
              </a:endParaRPr>
            </a:p>
          </p:txBody>
        </p:sp>
        <p:sp>
          <p:nvSpPr>
            <p:cNvPr id="33" name="Text Box 31">
              <a:extLst>
                <a:ext uri="{FF2B5EF4-FFF2-40B4-BE49-F238E27FC236}">
                  <a16:creationId xmlns:a16="http://schemas.microsoft.com/office/drawing/2014/main" id="{DE1E184D-5CE6-4911-A7CD-B008C53670B1}"/>
                </a:ext>
              </a:extLst>
            </p:cNvPr>
            <p:cNvSpPr txBox="1">
              <a:spLocks noChangeArrowheads="1"/>
            </p:cNvSpPr>
            <p:nvPr/>
          </p:nvSpPr>
          <p:spPr bwMode="auto">
            <a:xfrm>
              <a:off x="4500573" y="5104918"/>
              <a:ext cx="500068" cy="4672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just" eaLnBrk="1" hangingPunct="1">
                <a:spcBef>
                  <a:spcPct val="0"/>
                </a:spcBef>
                <a:buFontTx/>
                <a:buNone/>
              </a:pPr>
              <a:r>
                <a:rPr kumimoji="0" lang="en-US" altLang="zh-CN" sz="2000" b="1" i="1">
                  <a:ea typeface="华文行楷" panose="02010800040101010101" pitchFamily="2" charset="-122"/>
                </a:rPr>
                <a:t>G</a:t>
              </a:r>
              <a:endParaRPr kumimoji="0" lang="zh-CN" altLang="zh-CN" sz="2000" b="1">
                <a:latin typeface="Arial" panose="020B0604020202020204" pitchFamily="34" charset="0"/>
                <a:ea typeface="华文行楷" panose="02010800040101010101" pitchFamily="2" charset="-122"/>
              </a:endParaRPr>
            </a:p>
          </p:txBody>
        </p:sp>
        <p:sp>
          <p:nvSpPr>
            <p:cNvPr id="34" name="Text Box 31">
              <a:extLst>
                <a:ext uri="{FF2B5EF4-FFF2-40B4-BE49-F238E27FC236}">
                  <a16:creationId xmlns:a16="http://schemas.microsoft.com/office/drawing/2014/main" id="{53E8823F-3A22-4F54-A06E-FD29DEAEEF08}"/>
                </a:ext>
              </a:extLst>
            </p:cNvPr>
            <p:cNvSpPr txBox="1">
              <a:spLocks noChangeArrowheads="1"/>
            </p:cNvSpPr>
            <p:nvPr/>
          </p:nvSpPr>
          <p:spPr bwMode="auto">
            <a:xfrm>
              <a:off x="5857898" y="4033349"/>
              <a:ext cx="500068" cy="4672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just" eaLnBrk="1" hangingPunct="1">
                <a:spcBef>
                  <a:spcPct val="0"/>
                </a:spcBef>
                <a:buFontTx/>
                <a:buNone/>
              </a:pPr>
              <a:r>
                <a:rPr kumimoji="0" lang="en-US" altLang="zh-CN" sz="2000" b="1" i="1">
                  <a:ea typeface="华文行楷" panose="02010800040101010101" pitchFamily="2" charset="-122"/>
                </a:rPr>
                <a:t>I</a:t>
              </a:r>
              <a:endParaRPr kumimoji="0" lang="zh-CN" altLang="zh-CN" sz="2000" b="1">
                <a:latin typeface="Arial" panose="020B0604020202020204" pitchFamily="34" charset="0"/>
                <a:ea typeface="华文行楷" panose="02010800040101010101" pitchFamily="2" charset="-122"/>
              </a:endParaRPr>
            </a:p>
          </p:txBody>
        </p:sp>
        <p:sp>
          <p:nvSpPr>
            <p:cNvPr id="35" name="Text Box 31">
              <a:extLst>
                <a:ext uri="{FF2B5EF4-FFF2-40B4-BE49-F238E27FC236}">
                  <a16:creationId xmlns:a16="http://schemas.microsoft.com/office/drawing/2014/main" id="{CAB5F54D-548D-49C8-B39A-4264D05883A3}"/>
                </a:ext>
              </a:extLst>
            </p:cNvPr>
            <p:cNvSpPr txBox="1">
              <a:spLocks noChangeArrowheads="1"/>
            </p:cNvSpPr>
            <p:nvPr/>
          </p:nvSpPr>
          <p:spPr bwMode="auto">
            <a:xfrm>
              <a:off x="2857495" y="3747597"/>
              <a:ext cx="357191" cy="3243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just" eaLnBrk="1" hangingPunct="1">
                <a:spcBef>
                  <a:spcPct val="0"/>
                </a:spcBef>
                <a:buFontTx/>
                <a:buNone/>
              </a:pPr>
              <a:r>
                <a:rPr kumimoji="0" lang="en-US" altLang="zh-CN" sz="2000" b="1">
                  <a:ea typeface="华文行楷" panose="02010800040101010101" pitchFamily="2" charset="-122"/>
                </a:rPr>
                <a:t>6</a:t>
              </a:r>
              <a:endParaRPr kumimoji="0" lang="zh-CN" altLang="zh-CN" sz="2000" b="1">
                <a:latin typeface="Arial" panose="020B0604020202020204" pitchFamily="34" charset="0"/>
                <a:ea typeface="华文行楷" panose="02010800040101010101" pitchFamily="2" charset="-122"/>
              </a:endParaRPr>
            </a:p>
          </p:txBody>
        </p:sp>
        <p:sp>
          <p:nvSpPr>
            <p:cNvPr id="36" name="Text Box 31">
              <a:extLst>
                <a:ext uri="{FF2B5EF4-FFF2-40B4-BE49-F238E27FC236}">
                  <a16:creationId xmlns:a16="http://schemas.microsoft.com/office/drawing/2014/main" id="{A2A2CF20-1A7B-47A8-A384-3F5966433792}"/>
                </a:ext>
              </a:extLst>
            </p:cNvPr>
            <p:cNvSpPr txBox="1">
              <a:spLocks noChangeArrowheads="1"/>
            </p:cNvSpPr>
            <p:nvPr/>
          </p:nvSpPr>
          <p:spPr bwMode="auto">
            <a:xfrm>
              <a:off x="3009895" y="4033349"/>
              <a:ext cx="357191" cy="3243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just" eaLnBrk="1" hangingPunct="1">
                <a:spcBef>
                  <a:spcPct val="0"/>
                </a:spcBef>
                <a:buFontTx/>
                <a:buNone/>
              </a:pPr>
              <a:r>
                <a:rPr kumimoji="0" lang="en-US" altLang="zh-CN" sz="2000" b="1">
                  <a:ea typeface="华文行楷" panose="02010800040101010101" pitchFamily="2" charset="-122"/>
                </a:rPr>
                <a:t>4</a:t>
              </a:r>
              <a:endParaRPr kumimoji="0" lang="zh-CN" altLang="zh-CN" sz="2000" b="1">
                <a:latin typeface="Arial" panose="020B0604020202020204" pitchFamily="34" charset="0"/>
                <a:ea typeface="华文行楷" panose="02010800040101010101" pitchFamily="2" charset="-122"/>
              </a:endParaRPr>
            </a:p>
          </p:txBody>
        </p:sp>
        <p:sp>
          <p:nvSpPr>
            <p:cNvPr id="37" name="Text Box 31">
              <a:extLst>
                <a:ext uri="{FF2B5EF4-FFF2-40B4-BE49-F238E27FC236}">
                  <a16:creationId xmlns:a16="http://schemas.microsoft.com/office/drawing/2014/main" id="{A3CCCF7F-2CFC-4F80-A318-3F78C10ED47F}"/>
                </a:ext>
              </a:extLst>
            </p:cNvPr>
            <p:cNvSpPr txBox="1">
              <a:spLocks noChangeArrowheads="1"/>
            </p:cNvSpPr>
            <p:nvPr/>
          </p:nvSpPr>
          <p:spPr bwMode="auto">
            <a:xfrm>
              <a:off x="2714620" y="4604853"/>
              <a:ext cx="357191" cy="3243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just" eaLnBrk="1" hangingPunct="1">
                <a:spcBef>
                  <a:spcPct val="0"/>
                </a:spcBef>
                <a:buFontTx/>
                <a:buNone/>
              </a:pPr>
              <a:r>
                <a:rPr kumimoji="0" lang="en-US" altLang="zh-CN" sz="2000" b="1">
                  <a:ea typeface="华文行楷" panose="02010800040101010101" pitchFamily="2" charset="-122"/>
                </a:rPr>
                <a:t>4</a:t>
              </a:r>
              <a:endParaRPr kumimoji="0" lang="zh-CN" altLang="zh-CN" sz="2000" b="1">
                <a:latin typeface="Arial" panose="020B0604020202020204" pitchFamily="34" charset="0"/>
                <a:ea typeface="华文行楷" panose="02010800040101010101" pitchFamily="2" charset="-122"/>
              </a:endParaRPr>
            </a:p>
          </p:txBody>
        </p:sp>
        <p:sp>
          <p:nvSpPr>
            <p:cNvPr id="38" name="Text Box 31">
              <a:extLst>
                <a:ext uri="{FF2B5EF4-FFF2-40B4-BE49-F238E27FC236}">
                  <a16:creationId xmlns:a16="http://schemas.microsoft.com/office/drawing/2014/main" id="{7B1D6C94-03A6-4359-A17C-D201C26342CB}"/>
                </a:ext>
              </a:extLst>
            </p:cNvPr>
            <p:cNvSpPr txBox="1">
              <a:spLocks noChangeArrowheads="1"/>
            </p:cNvSpPr>
            <p:nvPr/>
          </p:nvSpPr>
          <p:spPr bwMode="auto">
            <a:xfrm>
              <a:off x="3500439" y="3786188"/>
              <a:ext cx="357191" cy="3243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just" eaLnBrk="1" hangingPunct="1">
                <a:spcBef>
                  <a:spcPct val="0"/>
                </a:spcBef>
                <a:buFontTx/>
                <a:buNone/>
              </a:pPr>
              <a:r>
                <a:rPr kumimoji="0" lang="en-US" altLang="zh-CN" sz="2000" b="1">
                  <a:ea typeface="华文行楷" panose="02010800040101010101" pitchFamily="2" charset="-122"/>
                </a:rPr>
                <a:t>5</a:t>
              </a:r>
              <a:endParaRPr kumimoji="0" lang="zh-CN" altLang="zh-CN" sz="2000" b="1">
                <a:latin typeface="Arial" panose="020B0604020202020204" pitchFamily="34" charset="0"/>
                <a:ea typeface="华文行楷" panose="02010800040101010101" pitchFamily="2" charset="-122"/>
              </a:endParaRPr>
            </a:p>
          </p:txBody>
        </p:sp>
        <p:sp>
          <p:nvSpPr>
            <p:cNvPr id="39" name="Text Box 31">
              <a:extLst>
                <a:ext uri="{FF2B5EF4-FFF2-40B4-BE49-F238E27FC236}">
                  <a16:creationId xmlns:a16="http://schemas.microsoft.com/office/drawing/2014/main" id="{059E1379-7168-4618-9587-79C332E34596}"/>
                </a:ext>
              </a:extLst>
            </p:cNvPr>
            <p:cNvSpPr txBox="1">
              <a:spLocks noChangeArrowheads="1"/>
            </p:cNvSpPr>
            <p:nvPr/>
          </p:nvSpPr>
          <p:spPr bwMode="auto">
            <a:xfrm>
              <a:off x="3500438" y="4604853"/>
              <a:ext cx="357191" cy="3243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just" eaLnBrk="1" hangingPunct="1">
                <a:spcBef>
                  <a:spcPct val="0"/>
                </a:spcBef>
                <a:buFontTx/>
                <a:buNone/>
              </a:pPr>
              <a:r>
                <a:rPr kumimoji="0" lang="en-US" altLang="zh-CN" sz="2000" b="1">
                  <a:ea typeface="华文行楷" panose="02010800040101010101" pitchFamily="2" charset="-122"/>
                </a:rPr>
                <a:t>2</a:t>
              </a:r>
              <a:endParaRPr kumimoji="0" lang="zh-CN" altLang="zh-CN" sz="2000" b="1">
                <a:latin typeface="Arial" panose="020B0604020202020204" pitchFamily="34" charset="0"/>
                <a:ea typeface="华文行楷" panose="02010800040101010101" pitchFamily="2" charset="-122"/>
              </a:endParaRPr>
            </a:p>
          </p:txBody>
        </p:sp>
        <p:sp>
          <p:nvSpPr>
            <p:cNvPr id="40" name="Text Box 31">
              <a:extLst>
                <a:ext uri="{FF2B5EF4-FFF2-40B4-BE49-F238E27FC236}">
                  <a16:creationId xmlns:a16="http://schemas.microsoft.com/office/drawing/2014/main" id="{541CCD88-A11E-45DE-B17E-D2463F7CA8DB}"/>
                </a:ext>
              </a:extLst>
            </p:cNvPr>
            <p:cNvSpPr txBox="1">
              <a:spLocks noChangeArrowheads="1"/>
            </p:cNvSpPr>
            <p:nvPr/>
          </p:nvSpPr>
          <p:spPr bwMode="auto">
            <a:xfrm>
              <a:off x="3786190" y="3214683"/>
              <a:ext cx="357191" cy="3243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just" eaLnBrk="1" hangingPunct="1">
                <a:spcBef>
                  <a:spcPct val="0"/>
                </a:spcBef>
                <a:buFontTx/>
                <a:buNone/>
              </a:pPr>
              <a:r>
                <a:rPr kumimoji="0" lang="en-US" altLang="zh-CN" sz="2000" b="1">
                  <a:ea typeface="华文行楷" panose="02010800040101010101" pitchFamily="2" charset="-122"/>
                </a:rPr>
                <a:t>7</a:t>
              </a:r>
              <a:endParaRPr kumimoji="0" lang="zh-CN" altLang="zh-CN" sz="2000" b="1">
                <a:latin typeface="Arial" panose="020B0604020202020204" pitchFamily="34" charset="0"/>
                <a:ea typeface="华文行楷" panose="02010800040101010101" pitchFamily="2" charset="-122"/>
              </a:endParaRPr>
            </a:p>
          </p:txBody>
        </p:sp>
        <p:sp>
          <p:nvSpPr>
            <p:cNvPr id="41" name="Text Box 31">
              <a:extLst>
                <a:ext uri="{FF2B5EF4-FFF2-40B4-BE49-F238E27FC236}">
                  <a16:creationId xmlns:a16="http://schemas.microsoft.com/office/drawing/2014/main" id="{7F15CCFE-B9A3-4DF1-9909-C4C126574A58}"/>
                </a:ext>
              </a:extLst>
            </p:cNvPr>
            <p:cNvSpPr txBox="1">
              <a:spLocks noChangeArrowheads="1"/>
            </p:cNvSpPr>
            <p:nvPr/>
          </p:nvSpPr>
          <p:spPr bwMode="auto">
            <a:xfrm>
              <a:off x="3857629" y="4033348"/>
              <a:ext cx="357191" cy="3243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just" eaLnBrk="1" hangingPunct="1">
                <a:spcBef>
                  <a:spcPct val="0"/>
                </a:spcBef>
                <a:buFontTx/>
                <a:buNone/>
              </a:pPr>
              <a:r>
                <a:rPr kumimoji="0" lang="en-US" altLang="zh-CN" sz="2000" b="1" dirty="0">
                  <a:ea typeface="华文行楷" panose="02010800040101010101" pitchFamily="2" charset="-122"/>
                </a:rPr>
                <a:t>4</a:t>
              </a:r>
              <a:endParaRPr kumimoji="0" lang="zh-CN" altLang="zh-CN" sz="2000" b="1" dirty="0">
                <a:latin typeface="Arial" panose="020B0604020202020204" pitchFamily="34" charset="0"/>
                <a:ea typeface="华文行楷" panose="02010800040101010101" pitchFamily="2" charset="-122"/>
              </a:endParaRPr>
            </a:p>
          </p:txBody>
        </p:sp>
        <p:sp>
          <p:nvSpPr>
            <p:cNvPr id="42" name="Text Box 31">
              <a:extLst>
                <a:ext uri="{FF2B5EF4-FFF2-40B4-BE49-F238E27FC236}">
                  <a16:creationId xmlns:a16="http://schemas.microsoft.com/office/drawing/2014/main" id="{C8225613-B80A-40F6-A3AB-02E9CC84FD87}"/>
                </a:ext>
              </a:extLst>
            </p:cNvPr>
            <p:cNvSpPr txBox="1">
              <a:spLocks noChangeArrowheads="1"/>
            </p:cNvSpPr>
            <p:nvPr/>
          </p:nvSpPr>
          <p:spPr bwMode="auto">
            <a:xfrm>
              <a:off x="4000505" y="4533413"/>
              <a:ext cx="357191" cy="3243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just" eaLnBrk="1" hangingPunct="1">
                <a:spcBef>
                  <a:spcPct val="0"/>
                </a:spcBef>
                <a:buFontTx/>
                <a:buNone/>
              </a:pPr>
              <a:r>
                <a:rPr kumimoji="0" lang="en-US" altLang="zh-CN" sz="2000" b="1">
                  <a:ea typeface="华文行楷" panose="02010800040101010101" pitchFamily="2" charset="-122"/>
                </a:rPr>
                <a:t>3</a:t>
              </a:r>
              <a:endParaRPr kumimoji="0" lang="zh-CN" altLang="zh-CN" sz="2000" b="1">
                <a:latin typeface="Arial" panose="020B0604020202020204" pitchFamily="34" charset="0"/>
                <a:ea typeface="华文行楷" panose="02010800040101010101" pitchFamily="2" charset="-122"/>
              </a:endParaRPr>
            </a:p>
          </p:txBody>
        </p:sp>
        <p:sp>
          <p:nvSpPr>
            <p:cNvPr id="43" name="Text Box 31">
              <a:extLst>
                <a:ext uri="{FF2B5EF4-FFF2-40B4-BE49-F238E27FC236}">
                  <a16:creationId xmlns:a16="http://schemas.microsoft.com/office/drawing/2014/main" id="{CB677CA0-ECD6-4DA1-A671-80C3FBBF215C}"/>
                </a:ext>
              </a:extLst>
            </p:cNvPr>
            <p:cNvSpPr txBox="1">
              <a:spLocks noChangeArrowheads="1"/>
            </p:cNvSpPr>
            <p:nvPr/>
          </p:nvSpPr>
          <p:spPr bwMode="auto">
            <a:xfrm>
              <a:off x="3857628" y="5176354"/>
              <a:ext cx="357191" cy="3243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just" eaLnBrk="1" hangingPunct="1">
                <a:spcBef>
                  <a:spcPct val="0"/>
                </a:spcBef>
                <a:buFontTx/>
                <a:buNone/>
              </a:pPr>
              <a:r>
                <a:rPr kumimoji="0" lang="en-US" altLang="zh-CN" sz="2000" b="1">
                  <a:ea typeface="华文行楷" panose="02010800040101010101" pitchFamily="2" charset="-122"/>
                </a:rPr>
                <a:t>4</a:t>
              </a:r>
              <a:endParaRPr kumimoji="0" lang="zh-CN" altLang="zh-CN" sz="2000" b="1">
                <a:latin typeface="Arial" panose="020B0604020202020204" pitchFamily="34" charset="0"/>
                <a:ea typeface="华文行楷" panose="02010800040101010101" pitchFamily="2" charset="-122"/>
              </a:endParaRPr>
            </a:p>
          </p:txBody>
        </p:sp>
        <p:sp>
          <p:nvSpPr>
            <p:cNvPr id="44" name="Text Box 31">
              <a:extLst>
                <a:ext uri="{FF2B5EF4-FFF2-40B4-BE49-F238E27FC236}">
                  <a16:creationId xmlns:a16="http://schemas.microsoft.com/office/drawing/2014/main" id="{B4333FE5-4DAD-4130-9AF7-58E523D13BA3}"/>
                </a:ext>
              </a:extLst>
            </p:cNvPr>
            <p:cNvSpPr txBox="1">
              <a:spLocks noChangeArrowheads="1"/>
            </p:cNvSpPr>
            <p:nvPr/>
          </p:nvSpPr>
          <p:spPr bwMode="auto">
            <a:xfrm>
              <a:off x="4357695" y="3747595"/>
              <a:ext cx="357191" cy="3243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just" eaLnBrk="1" hangingPunct="1">
                <a:spcBef>
                  <a:spcPct val="0"/>
                </a:spcBef>
                <a:buFontTx/>
                <a:buNone/>
              </a:pPr>
              <a:r>
                <a:rPr kumimoji="0" lang="en-US" altLang="zh-CN" sz="2000" b="1">
                  <a:ea typeface="华文行楷" panose="02010800040101010101" pitchFamily="2" charset="-122"/>
                </a:rPr>
                <a:t>7</a:t>
              </a:r>
              <a:endParaRPr kumimoji="0" lang="zh-CN" altLang="zh-CN" sz="2000" b="1">
                <a:latin typeface="Arial" panose="020B0604020202020204" pitchFamily="34" charset="0"/>
                <a:ea typeface="华文行楷" panose="02010800040101010101" pitchFamily="2" charset="-122"/>
              </a:endParaRPr>
            </a:p>
          </p:txBody>
        </p:sp>
        <p:sp>
          <p:nvSpPr>
            <p:cNvPr id="45" name="Text Box 31">
              <a:extLst>
                <a:ext uri="{FF2B5EF4-FFF2-40B4-BE49-F238E27FC236}">
                  <a16:creationId xmlns:a16="http://schemas.microsoft.com/office/drawing/2014/main" id="{190B441F-A7F9-4811-9B0B-CB19250BA42A}"/>
                </a:ext>
              </a:extLst>
            </p:cNvPr>
            <p:cNvSpPr txBox="1">
              <a:spLocks noChangeArrowheads="1"/>
            </p:cNvSpPr>
            <p:nvPr/>
          </p:nvSpPr>
          <p:spPr bwMode="auto">
            <a:xfrm>
              <a:off x="4286256" y="4572002"/>
              <a:ext cx="357191" cy="3243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just" eaLnBrk="1" hangingPunct="1">
                <a:spcBef>
                  <a:spcPct val="0"/>
                </a:spcBef>
                <a:buFontTx/>
                <a:buNone/>
              </a:pPr>
              <a:r>
                <a:rPr kumimoji="0" lang="en-US" altLang="zh-CN" sz="2000" b="1">
                  <a:ea typeface="华文行楷" panose="02010800040101010101" pitchFamily="2" charset="-122"/>
                </a:rPr>
                <a:t>2</a:t>
              </a:r>
              <a:endParaRPr kumimoji="0" lang="zh-CN" altLang="zh-CN" sz="2000" b="1">
                <a:latin typeface="Arial" panose="020B0604020202020204" pitchFamily="34" charset="0"/>
                <a:ea typeface="华文行楷" panose="02010800040101010101" pitchFamily="2" charset="-122"/>
              </a:endParaRPr>
            </a:p>
          </p:txBody>
        </p:sp>
        <p:sp>
          <p:nvSpPr>
            <p:cNvPr id="46" name="Text Box 31">
              <a:extLst>
                <a:ext uri="{FF2B5EF4-FFF2-40B4-BE49-F238E27FC236}">
                  <a16:creationId xmlns:a16="http://schemas.microsoft.com/office/drawing/2014/main" id="{AA881F8D-90D5-4CA2-96CD-F8C1D10B2A07}"/>
                </a:ext>
              </a:extLst>
            </p:cNvPr>
            <p:cNvSpPr txBox="1">
              <a:spLocks noChangeArrowheads="1"/>
            </p:cNvSpPr>
            <p:nvPr/>
          </p:nvSpPr>
          <p:spPr bwMode="auto">
            <a:xfrm>
              <a:off x="5214951" y="3500435"/>
              <a:ext cx="357191" cy="3243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just" eaLnBrk="1" hangingPunct="1">
                <a:spcBef>
                  <a:spcPct val="0"/>
                </a:spcBef>
                <a:buFontTx/>
                <a:buNone/>
              </a:pPr>
              <a:r>
                <a:rPr kumimoji="0" lang="en-US" altLang="zh-CN" sz="2000" b="1">
                  <a:ea typeface="华文行楷" panose="02010800040101010101" pitchFamily="2" charset="-122"/>
                </a:rPr>
                <a:t>8</a:t>
              </a:r>
              <a:endParaRPr kumimoji="0" lang="zh-CN" altLang="zh-CN" sz="2000" b="1">
                <a:latin typeface="Arial" panose="020B0604020202020204" pitchFamily="34" charset="0"/>
                <a:ea typeface="华文行楷" panose="02010800040101010101" pitchFamily="2" charset="-122"/>
              </a:endParaRPr>
            </a:p>
          </p:txBody>
        </p:sp>
        <p:sp>
          <p:nvSpPr>
            <p:cNvPr id="47" name="Text Box 31">
              <a:extLst>
                <a:ext uri="{FF2B5EF4-FFF2-40B4-BE49-F238E27FC236}">
                  <a16:creationId xmlns:a16="http://schemas.microsoft.com/office/drawing/2014/main" id="{C546655A-3ED8-47F0-9944-949A6EFE5FD9}"/>
                </a:ext>
              </a:extLst>
            </p:cNvPr>
            <p:cNvSpPr txBox="1">
              <a:spLocks noChangeArrowheads="1"/>
            </p:cNvSpPr>
            <p:nvPr/>
          </p:nvSpPr>
          <p:spPr bwMode="auto">
            <a:xfrm>
              <a:off x="5000638" y="4033349"/>
              <a:ext cx="357191" cy="3243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just" eaLnBrk="1" hangingPunct="1">
                <a:spcBef>
                  <a:spcPct val="0"/>
                </a:spcBef>
                <a:buFontTx/>
                <a:buNone/>
              </a:pPr>
              <a:r>
                <a:rPr kumimoji="0" lang="en-US" altLang="zh-CN" sz="2000" b="1">
                  <a:ea typeface="华文行楷" panose="02010800040101010101" pitchFamily="2" charset="-122"/>
                </a:rPr>
                <a:t>9</a:t>
              </a:r>
              <a:endParaRPr kumimoji="0" lang="zh-CN" altLang="zh-CN" sz="2000" b="1">
                <a:latin typeface="Arial" panose="020B0604020202020204" pitchFamily="34" charset="0"/>
                <a:ea typeface="华文行楷" panose="02010800040101010101" pitchFamily="2" charset="-122"/>
              </a:endParaRPr>
            </a:p>
          </p:txBody>
        </p:sp>
        <p:sp>
          <p:nvSpPr>
            <p:cNvPr id="48" name="Text Box 31">
              <a:extLst>
                <a:ext uri="{FF2B5EF4-FFF2-40B4-BE49-F238E27FC236}">
                  <a16:creationId xmlns:a16="http://schemas.microsoft.com/office/drawing/2014/main" id="{ACA96021-5C68-416A-B1C0-E97EA2310FD2}"/>
                </a:ext>
              </a:extLst>
            </p:cNvPr>
            <p:cNvSpPr txBox="1">
              <a:spLocks noChangeArrowheads="1"/>
            </p:cNvSpPr>
            <p:nvPr/>
          </p:nvSpPr>
          <p:spPr bwMode="auto">
            <a:xfrm>
              <a:off x="5500702" y="4390538"/>
              <a:ext cx="357191" cy="3243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just" eaLnBrk="1" hangingPunct="1">
                <a:spcBef>
                  <a:spcPct val="0"/>
                </a:spcBef>
                <a:buFontTx/>
                <a:buNone/>
              </a:pPr>
              <a:r>
                <a:rPr kumimoji="0" lang="en-US" altLang="zh-CN" sz="2000" b="1">
                  <a:ea typeface="华文行楷" panose="02010800040101010101" pitchFamily="2" charset="-122"/>
                </a:rPr>
                <a:t>5</a:t>
              </a:r>
              <a:endParaRPr kumimoji="0" lang="zh-CN" altLang="zh-CN" sz="2000" b="1">
                <a:latin typeface="Arial" panose="020B0604020202020204" pitchFamily="34" charset="0"/>
                <a:ea typeface="华文行楷" panose="02010800040101010101" pitchFamily="2" charset="-122"/>
              </a:endParaRPr>
            </a:p>
          </p:txBody>
        </p:sp>
        <p:sp>
          <p:nvSpPr>
            <p:cNvPr id="49" name="Text Box 31">
              <a:extLst>
                <a:ext uri="{FF2B5EF4-FFF2-40B4-BE49-F238E27FC236}">
                  <a16:creationId xmlns:a16="http://schemas.microsoft.com/office/drawing/2014/main" id="{D60E9311-0326-4E35-AA57-B4A793399DB7}"/>
                </a:ext>
              </a:extLst>
            </p:cNvPr>
            <p:cNvSpPr txBox="1">
              <a:spLocks noChangeArrowheads="1"/>
            </p:cNvSpPr>
            <p:nvPr/>
          </p:nvSpPr>
          <p:spPr bwMode="auto">
            <a:xfrm>
              <a:off x="4714877" y="4714884"/>
              <a:ext cx="357191" cy="3243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just" eaLnBrk="1" hangingPunct="1">
                <a:spcBef>
                  <a:spcPct val="0"/>
                </a:spcBef>
                <a:buFontTx/>
                <a:buNone/>
              </a:pPr>
              <a:r>
                <a:rPr kumimoji="0" lang="en-US" altLang="zh-CN" sz="2000" b="1">
                  <a:ea typeface="华文行楷" panose="02010800040101010101" pitchFamily="2" charset="-122"/>
                </a:rPr>
                <a:t>3</a:t>
              </a:r>
              <a:endParaRPr kumimoji="0" lang="zh-CN" altLang="zh-CN" sz="2000" b="1">
                <a:latin typeface="Arial" panose="020B0604020202020204" pitchFamily="34" charset="0"/>
                <a:ea typeface="华文行楷" panose="02010800040101010101" pitchFamily="2" charset="-122"/>
              </a:endParaRPr>
            </a:p>
          </p:txBody>
        </p:sp>
      </p:grpSp>
      <p:grpSp>
        <p:nvGrpSpPr>
          <p:cNvPr id="71" name="组合 114">
            <a:extLst>
              <a:ext uri="{FF2B5EF4-FFF2-40B4-BE49-F238E27FC236}">
                <a16:creationId xmlns:a16="http://schemas.microsoft.com/office/drawing/2014/main" id="{5E44934A-5629-4689-8810-C4A0BECA8ADC}"/>
              </a:ext>
            </a:extLst>
          </p:cNvPr>
          <p:cNvGrpSpPr>
            <a:grpSpLocks/>
          </p:cNvGrpSpPr>
          <p:nvPr/>
        </p:nvGrpSpPr>
        <p:grpSpPr bwMode="auto">
          <a:xfrm>
            <a:off x="7425622" y="1937038"/>
            <a:ext cx="3157581" cy="1855786"/>
            <a:chOff x="5714979" y="3581395"/>
            <a:chExt cx="3156999" cy="1856183"/>
          </a:xfrm>
        </p:grpSpPr>
        <p:cxnSp>
          <p:nvCxnSpPr>
            <p:cNvPr id="72" name="AutoShape 5">
              <a:extLst>
                <a:ext uri="{FF2B5EF4-FFF2-40B4-BE49-F238E27FC236}">
                  <a16:creationId xmlns:a16="http://schemas.microsoft.com/office/drawing/2014/main" id="{AF657CDE-494A-466E-B4AD-E92E4B2FD470}"/>
                </a:ext>
              </a:extLst>
            </p:cNvPr>
            <p:cNvCxnSpPr>
              <a:cxnSpLocks noChangeShapeType="1"/>
            </p:cNvCxnSpPr>
            <p:nvPr/>
          </p:nvCxnSpPr>
          <p:spPr bwMode="auto">
            <a:xfrm>
              <a:off x="6513749" y="3821341"/>
              <a:ext cx="0" cy="1572720"/>
            </a:xfrm>
            <a:prstGeom prst="straightConnector1">
              <a:avLst/>
            </a:prstGeom>
            <a:noFill/>
            <a:ln w="28575">
              <a:solidFill>
                <a:srgbClr val="FF0000"/>
              </a:solidFill>
              <a:round/>
              <a:headEnd/>
              <a:tailEnd/>
            </a:ln>
            <a:extLst>
              <a:ext uri="{909E8E84-426E-40DD-AFC4-6F175D3DCCD1}">
                <a14:hiddenFill xmlns:a14="http://schemas.microsoft.com/office/drawing/2010/main">
                  <a:noFill/>
                </a14:hiddenFill>
              </a:ext>
            </a:extLst>
          </p:spPr>
        </p:cxnSp>
        <p:cxnSp>
          <p:nvCxnSpPr>
            <p:cNvPr id="73" name="AutoShape 6">
              <a:extLst>
                <a:ext uri="{FF2B5EF4-FFF2-40B4-BE49-F238E27FC236}">
                  <a16:creationId xmlns:a16="http://schemas.microsoft.com/office/drawing/2014/main" id="{3175B576-843A-46B9-8850-3DC3F5E9F242}"/>
                </a:ext>
              </a:extLst>
            </p:cNvPr>
            <p:cNvCxnSpPr>
              <a:cxnSpLocks noChangeShapeType="1"/>
            </p:cNvCxnSpPr>
            <p:nvPr/>
          </p:nvCxnSpPr>
          <p:spPr bwMode="auto">
            <a:xfrm flipV="1">
              <a:off x="6513749" y="3614962"/>
              <a:ext cx="1206818" cy="206382"/>
            </a:xfrm>
            <a:prstGeom prst="straightConnector1">
              <a:avLst/>
            </a:prstGeom>
            <a:noFill/>
            <a:ln w="28575">
              <a:solidFill>
                <a:srgbClr val="FF0000"/>
              </a:solidFill>
              <a:round/>
              <a:headEnd/>
              <a:tailEnd/>
            </a:ln>
            <a:extLst>
              <a:ext uri="{909E8E84-426E-40DD-AFC4-6F175D3DCCD1}">
                <a14:hiddenFill xmlns:a14="http://schemas.microsoft.com/office/drawing/2010/main">
                  <a:noFill/>
                </a14:hiddenFill>
              </a:ext>
            </a:extLst>
          </p:spPr>
        </p:cxnSp>
        <p:cxnSp>
          <p:nvCxnSpPr>
            <p:cNvPr id="74" name="AutoShape 7">
              <a:extLst>
                <a:ext uri="{FF2B5EF4-FFF2-40B4-BE49-F238E27FC236}">
                  <a16:creationId xmlns:a16="http://schemas.microsoft.com/office/drawing/2014/main" id="{04775F96-169A-41EE-B84D-D08D9955084B}"/>
                </a:ext>
              </a:extLst>
            </p:cNvPr>
            <p:cNvCxnSpPr>
              <a:cxnSpLocks noChangeShapeType="1"/>
              <a:stCxn id="83" idx="4"/>
            </p:cNvCxnSpPr>
            <p:nvPr/>
          </p:nvCxnSpPr>
          <p:spPr bwMode="auto">
            <a:xfrm rot="5400000">
              <a:off x="7188574" y="4961275"/>
              <a:ext cx="780766" cy="84811"/>
            </a:xfrm>
            <a:prstGeom prst="straightConnector1">
              <a:avLst/>
            </a:prstGeom>
            <a:noFill/>
            <a:ln w="28575">
              <a:solidFill>
                <a:srgbClr val="FF0000"/>
              </a:solidFill>
              <a:round/>
              <a:headEnd/>
              <a:tailEnd/>
            </a:ln>
            <a:extLst>
              <a:ext uri="{909E8E84-426E-40DD-AFC4-6F175D3DCCD1}">
                <a14:hiddenFill xmlns:a14="http://schemas.microsoft.com/office/drawing/2010/main">
                  <a:noFill/>
                </a14:hiddenFill>
              </a:ext>
            </a:extLst>
          </p:spPr>
        </p:cxnSp>
        <p:cxnSp>
          <p:nvCxnSpPr>
            <p:cNvPr id="75" name="AutoShape 8">
              <a:extLst>
                <a:ext uri="{FF2B5EF4-FFF2-40B4-BE49-F238E27FC236}">
                  <a16:creationId xmlns:a16="http://schemas.microsoft.com/office/drawing/2014/main" id="{F33D4C80-FD6A-4580-BA2D-73717E6DFBB3}"/>
                </a:ext>
              </a:extLst>
            </p:cNvPr>
            <p:cNvCxnSpPr>
              <a:cxnSpLocks noChangeShapeType="1"/>
              <a:endCxn id="81" idx="6"/>
            </p:cNvCxnSpPr>
            <p:nvPr/>
          </p:nvCxnSpPr>
          <p:spPr bwMode="auto">
            <a:xfrm flipV="1">
              <a:off x="5745229" y="4557973"/>
              <a:ext cx="820031" cy="622"/>
            </a:xfrm>
            <a:prstGeom prst="straightConnector1">
              <a:avLst/>
            </a:prstGeom>
            <a:noFill/>
            <a:ln w="28575">
              <a:solidFill>
                <a:srgbClr val="FF0000"/>
              </a:solidFill>
              <a:round/>
              <a:headEnd/>
              <a:tailEnd/>
            </a:ln>
            <a:extLst>
              <a:ext uri="{909E8E84-426E-40DD-AFC4-6F175D3DCCD1}">
                <a14:hiddenFill xmlns:a14="http://schemas.microsoft.com/office/drawing/2010/main">
                  <a:noFill/>
                </a14:hiddenFill>
              </a:ext>
            </a:extLst>
          </p:spPr>
        </p:cxnSp>
        <p:cxnSp>
          <p:nvCxnSpPr>
            <p:cNvPr id="76" name="AutoShape 9">
              <a:extLst>
                <a:ext uri="{FF2B5EF4-FFF2-40B4-BE49-F238E27FC236}">
                  <a16:creationId xmlns:a16="http://schemas.microsoft.com/office/drawing/2014/main" id="{B00092EE-B14B-49A5-BF38-47E393B6B8A4}"/>
                </a:ext>
              </a:extLst>
            </p:cNvPr>
            <p:cNvCxnSpPr>
              <a:cxnSpLocks noChangeShapeType="1"/>
            </p:cNvCxnSpPr>
            <p:nvPr/>
          </p:nvCxnSpPr>
          <p:spPr bwMode="auto">
            <a:xfrm>
              <a:off x="6513749" y="4558594"/>
              <a:ext cx="1009102" cy="835470"/>
            </a:xfrm>
            <a:prstGeom prst="straightConnector1">
              <a:avLst/>
            </a:prstGeom>
            <a:noFill/>
            <a:ln w="28575">
              <a:solidFill>
                <a:srgbClr val="FF0000"/>
              </a:solidFill>
              <a:round/>
              <a:headEnd/>
              <a:tailEnd/>
            </a:ln>
            <a:extLst>
              <a:ext uri="{909E8E84-426E-40DD-AFC4-6F175D3DCCD1}">
                <a14:hiddenFill xmlns:a14="http://schemas.microsoft.com/office/drawing/2010/main">
                  <a:noFill/>
                </a14:hiddenFill>
              </a:ext>
            </a:extLst>
          </p:spPr>
        </p:cxnSp>
        <p:cxnSp>
          <p:nvCxnSpPr>
            <p:cNvPr id="77" name="AutoShape 12">
              <a:extLst>
                <a:ext uri="{FF2B5EF4-FFF2-40B4-BE49-F238E27FC236}">
                  <a16:creationId xmlns:a16="http://schemas.microsoft.com/office/drawing/2014/main" id="{CF28E72E-B6DE-4DF3-AE4B-21E241ADD2A4}"/>
                </a:ext>
              </a:extLst>
            </p:cNvPr>
            <p:cNvCxnSpPr>
              <a:cxnSpLocks noChangeShapeType="1"/>
            </p:cNvCxnSpPr>
            <p:nvPr/>
          </p:nvCxnSpPr>
          <p:spPr bwMode="auto">
            <a:xfrm flipV="1">
              <a:off x="7522852" y="5036004"/>
              <a:ext cx="735758" cy="358059"/>
            </a:xfrm>
            <a:prstGeom prst="straightConnector1">
              <a:avLst/>
            </a:prstGeom>
            <a:noFill/>
            <a:ln w="28575">
              <a:solidFill>
                <a:srgbClr val="FF0000"/>
              </a:solidFill>
              <a:round/>
              <a:headEnd/>
              <a:tailEnd/>
            </a:ln>
            <a:extLst>
              <a:ext uri="{909E8E84-426E-40DD-AFC4-6F175D3DCCD1}">
                <a14:hiddenFill xmlns:a14="http://schemas.microsoft.com/office/drawing/2010/main">
                  <a:noFill/>
                </a14:hiddenFill>
              </a:ext>
            </a:extLst>
          </p:spPr>
        </p:cxnSp>
        <p:cxnSp>
          <p:nvCxnSpPr>
            <p:cNvPr id="78" name="AutoShape 13">
              <a:extLst>
                <a:ext uri="{FF2B5EF4-FFF2-40B4-BE49-F238E27FC236}">
                  <a16:creationId xmlns:a16="http://schemas.microsoft.com/office/drawing/2014/main" id="{81B5D865-C0D8-4C33-81BE-B92FB78383FE}"/>
                </a:ext>
              </a:extLst>
            </p:cNvPr>
            <p:cNvCxnSpPr>
              <a:cxnSpLocks noChangeShapeType="1"/>
            </p:cNvCxnSpPr>
            <p:nvPr/>
          </p:nvCxnSpPr>
          <p:spPr bwMode="auto">
            <a:xfrm flipH="1">
              <a:off x="8258610" y="4353457"/>
              <a:ext cx="565053" cy="682549"/>
            </a:xfrm>
            <a:prstGeom prst="straightConnector1">
              <a:avLst/>
            </a:prstGeom>
            <a:noFill/>
            <a:ln w="28575">
              <a:solidFill>
                <a:srgbClr val="FF0000"/>
              </a:solidFill>
              <a:round/>
              <a:headEnd/>
              <a:tailEnd/>
            </a:ln>
            <a:extLst>
              <a:ext uri="{909E8E84-426E-40DD-AFC4-6F175D3DCCD1}">
                <a14:hiddenFill xmlns:a14="http://schemas.microsoft.com/office/drawing/2010/main">
                  <a:noFill/>
                </a14:hiddenFill>
              </a:ext>
            </a:extLst>
          </p:spPr>
        </p:cxnSp>
        <p:sp>
          <p:nvSpPr>
            <p:cNvPr id="79" name="Oval 15">
              <a:extLst>
                <a:ext uri="{FF2B5EF4-FFF2-40B4-BE49-F238E27FC236}">
                  <a16:creationId xmlns:a16="http://schemas.microsoft.com/office/drawing/2014/main" id="{CA8A6C9C-FD23-44B2-80F7-5FA56D843A9D}"/>
                </a:ext>
              </a:extLst>
            </p:cNvPr>
            <p:cNvSpPr>
              <a:spLocks noChangeArrowheads="1"/>
            </p:cNvSpPr>
            <p:nvPr/>
          </p:nvSpPr>
          <p:spPr bwMode="auto">
            <a:xfrm>
              <a:off x="6487950" y="3787813"/>
              <a:ext cx="77774" cy="88919"/>
            </a:xfrm>
            <a:prstGeom prst="ellipse">
              <a:avLst/>
            </a:prstGeom>
            <a:solidFill>
              <a:srgbClr val="FFFFFF"/>
            </a:solidFill>
            <a:ln w="28575">
              <a:solidFill>
                <a:schemeClr val="tx1"/>
              </a:solidFill>
              <a:round/>
              <a:headEnd/>
              <a:tailEnd/>
            </a:ln>
          </p:spPr>
          <p:txBody>
            <a:bodyPr/>
            <a:lstStyle/>
            <a:p>
              <a:pPr algn="ctr" eaLnBrk="1" hangingPunct="1">
                <a:defRPr/>
              </a:pPr>
              <a:endParaRPr lang="zh-CN" altLang="en-US">
                <a:ln w="28575">
                  <a:solidFill>
                    <a:schemeClr val="tx1"/>
                  </a:solidFill>
                </a:ln>
                <a:latin typeface="Arial" charset="0"/>
              </a:endParaRPr>
            </a:p>
          </p:txBody>
        </p:sp>
        <p:sp>
          <p:nvSpPr>
            <p:cNvPr id="80" name="Oval 16">
              <a:extLst>
                <a:ext uri="{FF2B5EF4-FFF2-40B4-BE49-F238E27FC236}">
                  <a16:creationId xmlns:a16="http://schemas.microsoft.com/office/drawing/2014/main" id="{782D9AFF-7F21-44DB-88CF-A95F57C6D193}"/>
                </a:ext>
              </a:extLst>
            </p:cNvPr>
            <p:cNvSpPr>
              <a:spLocks noChangeArrowheads="1"/>
            </p:cNvSpPr>
            <p:nvPr/>
          </p:nvSpPr>
          <p:spPr bwMode="auto">
            <a:xfrm>
              <a:off x="5714979" y="4508692"/>
              <a:ext cx="76186" cy="88919"/>
            </a:xfrm>
            <a:prstGeom prst="ellipse">
              <a:avLst/>
            </a:prstGeom>
            <a:solidFill>
              <a:srgbClr val="FFFFFF"/>
            </a:solidFill>
            <a:ln w="28575">
              <a:solidFill>
                <a:schemeClr val="tx1"/>
              </a:solidFill>
              <a:round/>
              <a:headEnd/>
              <a:tailEnd/>
            </a:ln>
          </p:spPr>
          <p:txBody>
            <a:bodyPr/>
            <a:lstStyle/>
            <a:p>
              <a:pPr algn="ctr" eaLnBrk="1" hangingPunct="1">
                <a:defRPr/>
              </a:pPr>
              <a:endParaRPr lang="zh-CN" altLang="en-US">
                <a:ln w="28575">
                  <a:solidFill>
                    <a:schemeClr val="tx1"/>
                  </a:solidFill>
                </a:ln>
                <a:latin typeface="Arial" charset="0"/>
              </a:endParaRPr>
            </a:p>
          </p:txBody>
        </p:sp>
        <p:sp>
          <p:nvSpPr>
            <p:cNvPr id="81" name="Oval 17">
              <a:extLst>
                <a:ext uri="{FF2B5EF4-FFF2-40B4-BE49-F238E27FC236}">
                  <a16:creationId xmlns:a16="http://schemas.microsoft.com/office/drawing/2014/main" id="{D91CEEB9-3C2A-41F0-AEE6-17CD35AC221F}"/>
                </a:ext>
              </a:extLst>
            </p:cNvPr>
            <p:cNvSpPr>
              <a:spLocks noChangeArrowheads="1"/>
            </p:cNvSpPr>
            <p:nvPr/>
          </p:nvSpPr>
          <p:spPr bwMode="auto">
            <a:xfrm>
              <a:off x="6487949" y="4513455"/>
              <a:ext cx="77774" cy="88919"/>
            </a:xfrm>
            <a:prstGeom prst="ellipse">
              <a:avLst/>
            </a:prstGeom>
            <a:solidFill>
              <a:srgbClr val="FFFFFF"/>
            </a:solidFill>
            <a:ln w="28575">
              <a:solidFill>
                <a:schemeClr val="tx1"/>
              </a:solidFill>
              <a:round/>
              <a:headEnd/>
              <a:tailEnd/>
            </a:ln>
          </p:spPr>
          <p:txBody>
            <a:bodyPr/>
            <a:lstStyle/>
            <a:p>
              <a:pPr algn="ctr" eaLnBrk="1" hangingPunct="1">
                <a:defRPr/>
              </a:pPr>
              <a:endParaRPr lang="zh-CN" altLang="en-US">
                <a:ln w="28575">
                  <a:solidFill>
                    <a:schemeClr val="tx1"/>
                  </a:solidFill>
                </a:ln>
                <a:latin typeface="Arial" charset="0"/>
              </a:endParaRPr>
            </a:p>
          </p:txBody>
        </p:sp>
        <p:sp>
          <p:nvSpPr>
            <p:cNvPr id="82" name="Oval 18">
              <a:extLst>
                <a:ext uri="{FF2B5EF4-FFF2-40B4-BE49-F238E27FC236}">
                  <a16:creationId xmlns:a16="http://schemas.microsoft.com/office/drawing/2014/main" id="{35EB0457-69E4-4419-9FBF-3A1A882079B0}"/>
                </a:ext>
              </a:extLst>
            </p:cNvPr>
            <p:cNvSpPr>
              <a:spLocks noChangeArrowheads="1"/>
            </p:cNvSpPr>
            <p:nvPr/>
          </p:nvSpPr>
          <p:spPr bwMode="auto">
            <a:xfrm>
              <a:off x="7686291" y="3581395"/>
              <a:ext cx="77773" cy="88919"/>
            </a:xfrm>
            <a:prstGeom prst="ellipse">
              <a:avLst/>
            </a:prstGeom>
            <a:solidFill>
              <a:srgbClr val="FFFFFF"/>
            </a:solidFill>
            <a:ln w="28575">
              <a:solidFill>
                <a:schemeClr val="tx1"/>
              </a:solidFill>
              <a:round/>
              <a:headEnd/>
              <a:tailEnd/>
            </a:ln>
          </p:spPr>
          <p:txBody>
            <a:bodyPr/>
            <a:lstStyle/>
            <a:p>
              <a:pPr algn="ctr" eaLnBrk="1" hangingPunct="1">
                <a:defRPr/>
              </a:pPr>
              <a:endParaRPr lang="zh-CN" altLang="en-US">
                <a:ln w="28575">
                  <a:solidFill>
                    <a:schemeClr val="tx1"/>
                  </a:solidFill>
                </a:ln>
                <a:latin typeface="Arial" charset="0"/>
              </a:endParaRPr>
            </a:p>
          </p:txBody>
        </p:sp>
        <p:sp>
          <p:nvSpPr>
            <p:cNvPr id="83" name="Oval 19">
              <a:extLst>
                <a:ext uri="{FF2B5EF4-FFF2-40B4-BE49-F238E27FC236}">
                  <a16:creationId xmlns:a16="http://schemas.microsoft.com/office/drawing/2014/main" id="{4B065FBC-E7BC-4BA2-ACC0-6B3A8E25B1AA}"/>
                </a:ext>
              </a:extLst>
            </p:cNvPr>
            <p:cNvSpPr>
              <a:spLocks noChangeArrowheads="1"/>
            </p:cNvSpPr>
            <p:nvPr/>
          </p:nvSpPr>
          <p:spPr bwMode="auto">
            <a:xfrm>
              <a:off x="7583122" y="4524572"/>
              <a:ext cx="76186" cy="88919"/>
            </a:xfrm>
            <a:prstGeom prst="ellipse">
              <a:avLst/>
            </a:prstGeom>
            <a:solidFill>
              <a:srgbClr val="FFFFFF"/>
            </a:solidFill>
            <a:ln w="28575">
              <a:solidFill>
                <a:schemeClr val="tx1"/>
              </a:solidFill>
              <a:round/>
              <a:headEnd/>
              <a:tailEnd/>
            </a:ln>
          </p:spPr>
          <p:txBody>
            <a:bodyPr/>
            <a:lstStyle/>
            <a:p>
              <a:pPr algn="ctr" eaLnBrk="1" hangingPunct="1">
                <a:defRPr/>
              </a:pPr>
              <a:endParaRPr lang="zh-CN" altLang="en-US">
                <a:ln w="28575">
                  <a:solidFill>
                    <a:schemeClr val="tx1"/>
                  </a:solidFill>
                </a:ln>
                <a:latin typeface="Arial" charset="0"/>
              </a:endParaRPr>
            </a:p>
          </p:txBody>
        </p:sp>
        <p:sp>
          <p:nvSpPr>
            <p:cNvPr id="84" name="Oval 20">
              <a:extLst>
                <a:ext uri="{FF2B5EF4-FFF2-40B4-BE49-F238E27FC236}">
                  <a16:creationId xmlns:a16="http://schemas.microsoft.com/office/drawing/2014/main" id="{3105437D-E515-4112-B42D-1337DBEB5543}"/>
                </a:ext>
              </a:extLst>
            </p:cNvPr>
            <p:cNvSpPr>
              <a:spLocks noChangeArrowheads="1"/>
            </p:cNvSpPr>
            <p:nvPr/>
          </p:nvSpPr>
          <p:spPr bwMode="auto">
            <a:xfrm>
              <a:off x="7492651" y="5337546"/>
              <a:ext cx="76186" cy="88919"/>
            </a:xfrm>
            <a:prstGeom prst="ellipse">
              <a:avLst/>
            </a:prstGeom>
            <a:solidFill>
              <a:srgbClr val="FFFFFF"/>
            </a:solidFill>
            <a:ln w="28575">
              <a:solidFill>
                <a:schemeClr val="tx1"/>
              </a:solidFill>
              <a:round/>
              <a:headEnd/>
              <a:tailEnd/>
            </a:ln>
          </p:spPr>
          <p:txBody>
            <a:bodyPr/>
            <a:lstStyle/>
            <a:p>
              <a:pPr algn="ctr" eaLnBrk="1" hangingPunct="1">
                <a:defRPr/>
              </a:pPr>
              <a:endParaRPr lang="zh-CN" altLang="en-US">
                <a:ln w="28575">
                  <a:solidFill>
                    <a:schemeClr val="tx1"/>
                  </a:solidFill>
                </a:ln>
                <a:latin typeface="Arial" charset="0"/>
              </a:endParaRPr>
            </a:p>
          </p:txBody>
        </p:sp>
        <p:sp>
          <p:nvSpPr>
            <p:cNvPr id="85" name="Oval 21">
              <a:extLst>
                <a:ext uri="{FF2B5EF4-FFF2-40B4-BE49-F238E27FC236}">
                  <a16:creationId xmlns:a16="http://schemas.microsoft.com/office/drawing/2014/main" id="{B82B66E9-06D4-4CD0-8243-9F8F854E9A9D}"/>
                </a:ext>
              </a:extLst>
            </p:cNvPr>
            <p:cNvSpPr>
              <a:spLocks noChangeArrowheads="1"/>
            </p:cNvSpPr>
            <p:nvPr/>
          </p:nvSpPr>
          <p:spPr bwMode="auto">
            <a:xfrm>
              <a:off x="6481601" y="5348659"/>
              <a:ext cx="76186" cy="88919"/>
            </a:xfrm>
            <a:prstGeom prst="ellipse">
              <a:avLst/>
            </a:prstGeom>
            <a:solidFill>
              <a:srgbClr val="FFFFFF"/>
            </a:solidFill>
            <a:ln w="28575">
              <a:solidFill>
                <a:schemeClr val="tx1"/>
              </a:solidFill>
              <a:round/>
              <a:headEnd/>
              <a:tailEnd/>
            </a:ln>
          </p:spPr>
          <p:txBody>
            <a:bodyPr/>
            <a:lstStyle/>
            <a:p>
              <a:pPr algn="ctr" eaLnBrk="1" hangingPunct="1">
                <a:defRPr/>
              </a:pPr>
              <a:endParaRPr lang="zh-CN" altLang="en-US">
                <a:ln w="28575">
                  <a:solidFill>
                    <a:schemeClr val="tx1"/>
                  </a:solidFill>
                </a:ln>
                <a:latin typeface="Arial" charset="0"/>
              </a:endParaRPr>
            </a:p>
          </p:txBody>
        </p:sp>
        <p:sp>
          <p:nvSpPr>
            <p:cNvPr id="86" name="Oval 22">
              <a:extLst>
                <a:ext uri="{FF2B5EF4-FFF2-40B4-BE49-F238E27FC236}">
                  <a16:creationId xmlns:a16="http://schemas.microsoft.com/office/drawing/2014/main" id="{9BAFDA13-0052-4119-B3D7-EABF2C00CCD2}"/>
                </a:ext>
              </a:extLst>
            </p:cNvPr>
            <p:cNvSpPr>
              <a:spLocks noChangeArrowheads="1"/>
            </p:cNvSpPr>
            <p:nvPr/>
          </p:nvSpPr>
          <p:spPr bwMode="auto">
            <a:xfrm>
              <a:off x="8221186" y="4991395"/>
              <a:ext cx="77774" cy="87331"/>
            </a:xfrm>
            <a:prstGeom prst="ellipse">
              <a:avLst/>
            </a:prstGeom>
            <a:solidFill>
              <a:srgbClr val="FFFFFF"/>
            </a:solidFill>
            <a:ln w="28575">
              <a:solidFill>
                <a:schemeClr val="tx1"/>
              </a:solidFill>
              <a:round/>
              <a:headEnd/>
              <a:tailEnd/>
            </a:ln>
          </p:spPr>
          <p:txBody>
            <a:bodyPr/>
            <a:lstStyle/>
            <a:p>
              <a:pPr algn="ctr" eaLnBrk="1" hangingPunct="1">
                <a:defRPr/>
              </a:pPr>
              <a:endParaRPr lang="zh-CN" altLang="en-US">
                <a:ln w="28575">
                  <a:solidFill>
                    <a:schemeClr val="tx1"/>
                  </a:solidFill>
                </a:ln>
                <a:latin typeface="Arial" charset="0"/>
              </a:endParaRPr>
            </a:p>
          </p:txBody>
        </p:sp>
        <p:sp>
          <p:nvSpPr>
            <p:cNvPr id="87" name="Oval 23">
              <a:extLst>
                <a:ext uri="{FF2B5EF4-FFF2-40B4-BE49-F238E27FC236}">
                  <a16:creationId xmlns:a16="http://schemas.microsoft.com/office/drawing/2014/main" id="{94F69AF1-388A-40F2-AA11-907A07189775}"/>
                </a:ext>
              </a:extLst>
            </p:cNvPr>
            <p:cNvSpPr>
              <a:spLocks noChangeArrowheads="1"/>
            </p:cNvSpPr>
            <p:nvPr/>
          </p:nvSpPr>
          <p:spPr bwMode="auto">
            <a:xfrm>
              <a:off x="8795792" y="4297516"/>
              <a:ext cx="76186" cy="88919"/>
            </a:xfrm>
            <a:prstGeom prst="ellipse">
              <a:avLst/>
            </a:prstGeom>
            <a:solidFill>
              <a:srgbClr val="FFFFFF"/>
            </a:solidFill>
            <a:ln w="28575">
              <a:solidFill>
                <a:schemeClr val="tx1"/>
              </a:solidFill>
              <a:round/>
              <a:headEnd/>
              <a:tailEnd/>
            </a:ln>
          </p:spPr>
          <p:txBody>
            <a:bodyPr/>
            <a:lstStyle/>
            <a:p>
              <a:pPr algn="ctr" eaLnBrk="1" hangingPunct="1">
                <a:defRPr/>
              </a:pPr>
              <a:endParaRPr lang="zh-CN" altLang="en-US">
                <a:ln w="28575">
                  <a:solidFill>
                    <a:schemeClr val="tx1"/>
                  </a:solidFill>
                </a:ln>
                <a:latin typeface="Arial" charset="0"/>
              </a:endParaRPr>
            </a:p>
          </p:txBody>
        </p:sp>
      </p:grpSp>
      <p:sp>
        <p:nvSpPr>
          <p:cNvPr id="88" name="TextBox 115">
            <a:extLst>
              <a:ext uri="{FF2B5EF4-FFF2-40B4-BE49-F238E27FC236}">
                <a16:creationId xmlns:a16="http://schemas.microsoft.com/office/drawing/2014/main" id="{C5D64270-3E99-4BD8-BA7F-B66741E94631}"/>
              </a:ext>
            </a:extLst>
          </p:cNvPr>
          <p:cNvSpPr txBox="1"/>
          <p:nvPr/>
        </p:nvSpPr>
        <p:spPr>
          <a:xfrm>
            <a:off x="6933871" y="4434154"/>
            <a:ext cx="4663327" cy="938590"/>
          </a:xfrm>
          <a:prstGeom prst="rect">
            <a:avLst/>
          </a:prstGeom>
          <a:noFill/>
        </p:spPr>
        <p:txBody>
          <a:bodyPr wrap="square">
            <a:spAutoFit/>
          </a:bodyPr>
          <a:lstStyle/>
          <a:p>
            <a:pPr eaLnBrk="1" hangingPunct="1">
              <a:lnSpc>
                <a:spcPct val="120000"/>
              </a:lnSpc>
              <a:defRPr/>
            </a:pPr>
            <a:r>
              <a:rPr lang="en-US" altLang="zh-CN" sz="2400" b="1" dirty="0">
                <a:solidFill>
                  <a:schemeClr val="tx1"/>
                </a:solidFill>
                <a:latin typeface="Trebuchet MS" panose="020B0603020202020204" pitchFamily="34" charset="0"/>
              </a:rPr>
              <a:t>Total Length</a:t>
            </a:r>
            <a:r>
              <a:rPr lang="zh-CN" altLang="en-US" sz="2400" b="1" dirty="0">
                <a:solidFill>
                  <a:schemeClr val="tx1"/>
                </a:solidFill>
                <a:latin typeface="Trebuchet MS" panose="020B0603020202020204" pitchFamily="34" charset="0"/>
              </a:rPr>
              <a:t> </a:t>
            </a:r>
            <a:r>
              <a:rPr lang="en-US" altLang="zh-CN" sz="2400" b="1" dirty="0">
                <a:solidFill>
                  <a:schemeClr val="tx1"/>
                </a:solidFill>
                <a:latin typeface="Trebuchet MS" panose="020B0603020202020204" pitchFamily="34" charset="0"/>
              </a:rPr>
              <a:t>:</a:t>
            </a:r>
            <a:r>
              <a:rPr lang="zh-CN" altLang="en-US" sz="2400" b="1" dirty="0">
                <a:solidFill>
                  <a:schemeClr val="tx1"/>
                </a:solidFill>
                <a:latin typeface="Trebuchet MS" panose="020B0603020202020204" pitchFamily="34" charset="0"/>
              </a:rPr>
              <a:t>   </a:t>
            </a:r>
            <a:r>
              <a:rPr lang="en-US" altLang="zh-CN" sz="2400" b="1" dirty="0">
                <a:solidFill>
                  <a:schemeClr val="tx1"/>
                </a:solidFill>
                <a:latin typeface="Trebuchet MS" panose="020B0603020202020204" pitchFamily="34" charset="0"/>
              </a:rPr>
              <a:t>2+2+3+3+4+5+5+7=31(</a:t>
            </a:r>
            <a:r>
              <a:rPr lang="en-US" altLang="zh-CN" sz="2400" b="1" dirty="0">
                <a:latin typeface="Trebuchet MS" panose="020B0603020202020204" pitchFamily="34" charset="0"/>
              </a:rPr>
              <a:t>meters</a:t>
            </a:r>
            <a:r>
              <a:rPr lang="en-US" altLang="zh-CN" sz="2400" b="1" dirty="0">
                <a:solidFill>
                  <a:schemeClr val="tx1"/>
                </a:solidFill>
                <a:latin typeface="Trebuchet MS" panose="020B0603020202020204" pitchFamily="34" charset="0"/>
              </a:rPr>
              <a:t>)</a:t>
            </a:r>
            <a:endParaRPr lang="zh-CN" altLang="en-US" sz="2400" b="1" dirty="0">
              <a:solidFill>
                <a:schemeClr val="tx1"/>
              </a:solidFill>
              <a:latin typeface="Trebuchet MS" panose="020B0603020202020204" pitchFamily="34" charset="0"/>
            </a:endParaRPr>
          </a:p>
        </p:txBody>
      </p:sp>
    </p:spTree>
    <p:extLst>
      <p:ext uri="{BB962C8B-B14F-4D97-AF65-F5344CB8AC3E}">
        <p14:creationId xmlns:p14="http://schemas.microsoft.com/office/powerpoint/2010/main" val="832478385"/>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withEffect">
                                  <p:stCondLst>
                                    <p:cond delay="0"/>
                                  </p:stCondLst>
                                  <p:childTnLst>
                                    <p:set>
                                      <p:cBhvr>
                                        <p:cTn id="6" dur="1" fill="hold">
                                          <p:stCondLst>
                                            <p:cond delay="0"/>
                                          </p:stCondLst>
                                        </p:cTn>
                                        <p:tgtEl>
                                          <p:spTgt spid="24"/>
                                        </p:tgtEl>
                                        <p:attrNameLst>
                                          <p:attrName>style.visibility</p:attrName>
                                        </p:attrNameLst>
                                      </p:cBhvr>
                                      <p:to>
                                        <p:strVal val="visible"/>
                                      </p:to>
                                    </p:set>
                                    <p:animEffect transition="in" filter="fade">
                                      <p:cBhvr>
                                        <p:cTn id="7" dur="1000"/>
                                        <p:tgtEl>
                                          <p:spTgt spid="24"/>
                                        </p:tgtEl>
                                      </p:cBhvr>
                                    </p:animEffect>
                                    <p:anim calcmode="lin" valueType="num">
                                      <p:cBhvr>
                                        <p:cTn id="8" dur="1000" fill="hold"/>
                                        <p:tgtEl>
                                          <p:spTgt spid="24"/>
                                        </p:tgtEl>
                                        <p:attrNameLst>
                                          <p:attrName>ppt_x</p:attrName>
                                        </p:attrNameLst>
                                      </p:cBhvr>
                                      <p:tavLst>
                                        <p:tav tm="0">
                                          <p:val>
                                            <p:strVal val="#ppt_x"/>
                                          </p:val>
                                        </p:tav>
                                        <p:tav tm="100000">
                                          <p:val>
                                            <p:strVal val="#ppt_x"/>
                                          </p:val>
                                        </p:tav>
                                      </p:tavLst>
                                    </p:anim>
                                    <p:anim calcmode="lin" valueType="num">
                                      <p:cBhvr>
                                        <p:cTn id="9" dur="1000" fill="hold"/>
                                        <p:tgtEl>
                                          <p:spTgt spid="24"/>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23">
                                            <p:txEl>
                                              <p:pRg st="1" end="1"/>
                                            </p:txEl>
                                          </p:spTgt>
                                        </p:tgtEl>
                                        <p:attrNameLst>
                                          <p:attrName>style.visibility</p:attrName>
                                        </p:attrNameLst>
                                      </p:cBhvr>
                                      <p:to>
                                        <p:strVal val="visible"/>
                                      </p:to>
                                    </p:set>
                                    <p:animEffect transition="in" filter="fade">
                                      <p:cBhvr>
                                        <p:cTn id="14" dur="1000"/>
                                        <p:tgtEl>
                                          <p:spTgt spid="23">
                                            <p:txEl>
                                              <p:pRg st="1" end="1"/>
                                            </p:txEl>
                                          </p:spTgt>
                                        </p:tgtEl>
                                      </p:cBhvr>
                                    </p:animEffect>
                                    <p:anim calcmode="lin" valueType="num">
                                      <p:cBhvr>
                                        <p:cTn id="15" dur="1000" fill="hold"/>
                                        <p:tgtEl>
                                          <p:spTgt spid="23">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23">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nodeType="clickEffect">
                                  <p:stCondLst>
                                    <p:cond delay="0"/>
                                  </p:stCondLst>
                                  <p:childTnLst>
                                    <p:set>
                                      <p:cBhvr>
                                        <p:cTn id="20" dur="1" fill="hold">
                                          <p:stCondLst>
                                            <p:cond delay="0"/>
                                          </p:stCondLst>
                                        </p:cTn>
                                        <p:tgtEl>
                                          <p:spTgt spid="23">
                                            <p:txEl>
                                              <p:pRg st="2" end="2"/>
                                            </p:txEl>
                                          </p:spTgt>
                                        </p:tgtEl>
                                        <p:attrNameLst>
                                          <p:attrName>style.visibility</p:attrName>
                                        </p:attrNameLst>
                                      </p:cBhvr>
                                      <p:to>
                                        <p:strVal val="visible"/>
                                      </p:to>
                                    </p:set>
                                    <p:animEffect transition="in" filter="fade">
                                      <p:cBhvr>
                                        <p:cTn id="21" dur="1000"/>
                                        <p:tgtEl>
                                          <p:spTgt spid="23">
                                            <p:txEl>
                                              <p:pRg st="2" end="2"/>
                                            </p:txEl>
                                          </p:spTgt>
                                        </p:tgtEl>
                                      </p:cBhvr>
                                    </p:animEffect>
                                    <p:anim calcmode="lin" valueType="num">
                                      <p:cBhvr>
                                        <p:cTn id="22" dur="1000" fill="hold"/>
                                        <p:tgtEl>
                                          <p:spTgt spid="23">
                                            <p:txEl>
                                              <p:pRg st="2" end="2"/>
                                            </p:txEl>
                                          </p:spTgt>
                                        </p:tgtEl>
                                        <p:attrNameLst>
                                          <p:attrName>ppt_x</p:attrName>
                                        </p:attrNameLst>
                                      </p:cBhvr>
                                      <p:tavLst>
                                        <p:tav tm="0">
                                          <p:val>
                                            <p:strVal val="#ppt_x"/>
                                          </p:val>
                                        </p:tav>
                                        <p:tav tm="100000">
                                          <p:val>
                                            <p:strVal val="#ppt_x"/>
                                          </p:val>
                                        </p:tav>
                                      </p:tavLst>
                                    </p:anim>
                                    <p:anim calcmode="lin" valueType="num">
                                      <p:cBhvr>
                                        <p:cTn id="23" dur="1000" fill="hold"/>
                                        <p:tgtEl>
                                          <p:spTgt spid="23">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3" presetClass="entr" presetSubtype="10" fill="hold" nodeType="clickEffect">
                                  <p:stCondLst>
                                    <p:cond delay="0"/>
                                  </p:stCondLst>
                                  <p:childTnLst>
                                    <p:set>
                                      <p:cBhvr>
                                        <p:cTn id="27" dur="1" fill="hold">
                                          <p:stCondLst>
                                            <p:cond delay="0"/>
                                          </p:stCondLst>
                                        </p:cTn>
                                        <p:tgtEl>
                                          <p:spTgt spid="71"/>
                                        </p:tgtEl>
                                        <p:attrNameLst>
                                          <p:attrName>style.visibility</p:attrName>
                                        </p:attrNameLst>
                                      </p:cBhvr>
                                      <p:to>
                                        <p:strVal val="visible"/>
                                      </p:to>
                                    </p:set>
                                    <p:animEffect transition="in" filter="blinds(horizontal)">
                                      <p:cBhvr>
                                        <p:cTn id="28" dur="500"/>
                                        <p:tgtEl>
                                          <p:spTgt spid="71"/>
                                        </p:tgtEl>
                                      </p:cBhvr>
                                    </p:animEffect>
                                  </p:childTnLst>
                                </p:cTn>
                              </p:par>
                              <p:par>
                                <p:cTn id="29" presetID="3" presetClass="entr" presetSubtype="10" fill="hold" grpId="0" nodeType="withEffect">
                                  <p:stCondLst>
                                    <p:cond delay="0"/>
                                  </p:stCondLst>
                                  <p:childTnLst>
                                    <p:set>
                                      <p:cBhvr>
                                        <p:cTn id="30" dur="1" fill="hold">
                                          <p:stCondLst>
                                            <p:cond delay="0"/>
                                          </p:stCondLst>
                                        </p:cTn>
                                        <p:tgtEl>
                                          <p:spTgt spid="88"/>
                                        </p:tgtEl>
                                        <p:attrNameLst>
                                          <p:attrName>style.visibility</p:attrName>
                                        </p:attrNameLst>
                                      </p:cBhvr>
                                      <p:to>
                                        <p:strVal val="visible"/>
                                      </p:to>
                                    </p:set>
                                    <p:animEffect transition="in" filter="blinds(horizontal)">
                                      <p:cBhvr>
                                        <p:cTn id="31" dur="500"/>
                                        <p:tgtEl>
                                          <p:spTgt spid="8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8" grpId="0"/>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0" y="0"/>
            <a:ext cx="12192000" cy="762000"/>
          </a:xfrm>
          <a:prstGeom prst="rect">
            <a:avLst/>
          </a:prstGeom>
          <a:solidFill>
            <a:srgbClr val="002F7C"/>
          </a:solidFill>
        </p:spPr>
        <p:style>
          <a:lnRef idx="2">
            <a:schemeClr val="dk1">
              <a:shade val="50000"/>
            </a:schemeClr>
          </a:lnRef>
          <a:fillRef idx="1">
            <a:schemeClr val="dk1"/>
          </a:fillRef>
          <a:effectRef idx="0">
            <a:schemeClr val="dk1"/>
          </a:effectRef>
          <a:fontRef idx="minor">
            <a:schemeClr val="lt1"/>
          </a:fontRef>
        </p:style>
        <p:txBody>
          <a:bodyPr rtlCol="0" anchor="ctr"/>
          <a:lstStyle/>
          <a:p>
            <a:r>
              <a:rPr lang="en-US" altLang="zh-CN" sz="2000" b="1" dirty="0">
                <a:latin typeface="Trebuchet MS" panose="020B0603020202020204" pitchFamily="34" charset="0"/>
                <a:ea typeface="宋体" panose="02010600030101010101" pitchFamily="2" charset="-122"/>
                <a:cs typeface="Times New Roman" panose="02020603050405020304" pitchFamily="18" charset="0"/>
              </a:rPr>
              <a:t>             </a:t>
            </a:r>
            <a:r>
              <a:rPr lang="en-US" altLang="zh-CN" sz="2400" b="1" dirty="0">
                <a:solidFill>
                  <a:schemeClr val="bg1"/>
                </a:solidFill>
                <a:latin typeface="Trebuchet MS" panose="020B0603020202020204" pitchFamily="34" charset="0"/>
              </a:rPr>
              <a:t>7.1 Undirected Trees </a:t>
            </a:r>
            <a:r>
              <a:rPr lang="en-US" altLang="zh-CN" sz="2400" b="1" dirty="0">
                <a:solidFill>
                  <a:srgbClr val="CFA57C"/>
                </a:solidFill>
                <a:latin typeface="Trebuchet MS" panose="020B0603020202020204" pitchFamily="34" charset="0"/>
                <a:ea typeface="Cambria Math" panose="02040503050406030204" pitchFamily="18" charset="0"/>
                <a:cs typeface="Times New Roman" panose="02020603050405020304" pitchFamily="18" charset="0"/>
              </a:rPr>
              <a:t>•</a:t>
            </a:r>
            <a:r>
              <a:rPr lang="en-US" altLang="zh-CN" sz="2400" b="1" dirty="0">
                <a:latin typeface="Trebuchet MS" panose="020B0603020202020204" pitchFamily="34" charset="0"/>
                <a:ea typeface="Cambria Math" panose="02040503050406030204" pitchFamily="18" charset="0"/>
                <a:cs typeface="Times New Roman" panose="02020603050405020304" pitchFamily="18" charset="0"/>
              </a:rPr>
              <a:t> </a:t>
            </a:r>
            <a:r>
              <a:rPr lang="en-US" altLang="zh-CN" sz="2400" b="1" dirty="0">
                <a:latin typeface="Trebuchet MS" panose="020B0603020202020204" pitchFamily="34" charset="0"/>
                <a:cs typeface="Times New Roman" panose="02020603050405020304" pitchFamily="18" charset="0"/>
              </a:rPr>
              <a:t>Brief summary</a:t>
            </a:r>
            <a:endParaRPr lang="zh-CN" altLang="en-US" sz="2400" b="1" dirty="0">
              <a:latin typeface="Trebuchet MS" panose="020B0603020202020204" pitchFamily="34" charset="0"/>
              <a:cs typeface="Times New Roman" panose="02020603050405020304" pitchFamily="18" charset="0"/>
            </a:endParaRPr>
          </a:p>
        </p:txBody>
      </p:sp>
      <p:sp>
        <p:nvSpPr>
          <p:cNvPr id="13" name="矩形 12"/>
          <p:cNvSpPr/>
          <p:nvPr/>
        </p:nvSpPr>
        <p:spPr>
          <a:xfrm>
            <a:off x="824682" y="0"/>
            <a:ext cx="175443" cy="628650"/>
          </a:xfrm>
          <a:prstGeom prst="rect">
            <a:avLst/>
          </a:prstGeom>
          <a:solidFill>
            <a:srgbClr val="CFA57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22" name="Picture 6" descr="D:\MBA工作\LOGO\同济经管LOGO反白.png"/>
          <p:cNvPicPr>
            <a:picLocks noChangeAspect="1" noChangeArrowheads="1"/>
          </p:cNvPicPr>
          <p:nvPr/>
        </p:nvPicPr>
        <p:blipFill>
          <a:blip r:embed="rId3" cstate="email">
            <a:extLst>
              <a:ext uri="{28A0092B-C50C-407E-A947-70E740481C1C}">
                <a14:useLocalDpi xmlns:a14="http://schemas.microsoft.com/office/drawing/2010/main" val="0"/>
              </a:ext>
            </a:extLst>
          </a:blip>
          <a:srcRect/>
          <a:stretch>
            <a:fillRect/>
          </a:stretch>
        </p:blipFill>
        <p:spPr bwMode="auto">
          <a:xfrm>
            <a:off x="10267423" y="165688"/>
            <a:ext cx="1386605" cy="462962"/>
          </a:xfrm>
          <a:prstGeom prst="rect">
            <a:avLst/>
          </a:prstGeom>
          <a:noFill/>
          <a:extLst>
            <a:ext uri="{909E8E84-426E-40DD-AFC4-6F175D3DCCD1}">
              <a14:hiddenFill xmlns:a14="http://schemas.microsoft.com/office/drawing/2010/main">
                <a:solidFill>
                  <a:srgbClr val="FFFFFF"/>
                </a:solidFill>
              </a14:hiddenFill>
            </a:ext>
          </a:extLst>
        </p:spPr>
      </p:pic>
      <p:pic>
        <p:nvPicPr>
          <p:cNvPr id="2" name="图片 1" descr="微信图片_20220318113523"/>
          <p:cNvPicPr>
            <a:picLocks noChangeAspect="1"/>
          </p:cNvPicPr>
          <p:nvPr userDrawn="1"/>
        </p:nvPicPr>
        <p:blipFill>
          <a:blip r:embed="rId4"/>
          <a:stretch>
            <a:fillRect/>
          </a:stretch>
        </p:blipFill>
        <p:spPr>
          <a:xfrm>
            <a:off x="9291877" y="6115050"/>
            <a:ext cx="2244725" cy="361315"/>
          </a:xfrm>
          <a:prstGeom prst="rect">
            <a:avLst/>
          </a:prstGeom>
        </p:spPr>
      </p:pic>
      <p:sp>
        <p:nvSpPr>
          <p:cNvPr id="18" name="Rectangle 2">
            <a:extLst>
              <a:ext uri="{FF2B5EF4-FFF2-40B4-BE49-F238E27FC236}">
                <a16:creationId xmlns:a16="http://schemas.microsoft.com/office/drawing/2014/main" id="{E217C615-1D49-4D07-B850-D36106D7AA9A}"/>
              </a:ext>
            </a:extLst>
          </p:cNvPr>
          <p:cNvSpPr>
            <a:spLocks noChangeArrowheads="1"/>
          </p:cNvSpPr>
          <p:nvPr/>
        </p:nvSpPr>
        <p:spPr bwMode="auto">
          <a:xfrm>
            <a:off x="1000125" y="815365"/>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8" name="Rectangle 3">
            <a:extLst>
              <a:ext uri="{FF2B5EF4-FFF2-40B4-BE49-F238E27FC236}">
                <a16:creationId xmlns:a16="http://schemas.microsoft.com/office/drawing/2014/main" id="{8BF31B8E-C90A-43F8-8C26-F34466C89F87}"/>
              </a:ext>
            </a:extLst>
          </p:cNvPr>
          <p:cNvSpPr txBox="1">
            <a:spLocks noChangeArrowheads="1"/>
          </p:cNvSpPr>
          <p:nvPr/>
        </p:nvSpPr>
        <p:spPr>
          <a:xfrm>
            <a:off x="1403350" y="692149"/>
            <a:ext cx="8583131" cy="5582527"/>
          </a:xfrm>
          <a:prstGeom prst="rect">
            <a:avLst/>
          </a:prstGeom>
          <a:extLst>
            <a:ext uri="{91240B29-F687-4F45-9708-019B960494DF}">
              <a14:hiddenLine xmlns:a14="http://schemas.microsoft.com/office/drawing/2010/main" w="3175">
                <a:solidFill>
                  <a:srgbClr val="000000"/>
                </a:solidFill>
                <a:miter lim="800000"/>
                <a:headEnd/>
                <a:tailEnd/>
              </a14:hiddenLine>
            </a:ext>
          </a:extLst>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50000"/>
              </a:lnSpc>
              <a:buFont typeface="Wingdings" panose="05000000000000000000" pitchFamily="2" charset="2"/>
              <a:buNone/>
            </a:pPr>
            <a:r>
              <a:rPr lang="en-US" altLang="zh-CN" sz="2400" b="1" dirty="0"/>
              <a:t>Objective :</a:t>
            </a:r>
          </a:p>
          <a:p>
            <a:pPr>
              <a:lnSpc>
                <a:spcPct val="150000"/>
              </a:lnSpc>
              <a:buFont typeface="Wingdings" panose="05000000000000000000" pitchFamily="2" charset="2"/>
              <a:buNone/>
            </a:pPr>
            <a:endParaRPr lang="en-US" altLang="zh-CN" sz="2400" b="1" dirty="0"/>
          </a:p>
          <a:p>
            <a:pPr>
              <a:lnSpc>
                <a:spcPct val="150000"/>
              </a:lnSpc>
              <a:buFont typeface="Wingdings" panose="05000000000000000000" pitchFamily="2" charset="2"/>
              <a:buNone/>
            </a:pPr>
            <a:endParaRPr lang="en-US" altLang="zh-CN" sz="2400" b="1" dirty="0"/>
          </a:p>
          <a:p>
            <a:pPr>
              <a:lnSpc>
                <a:spcPct val="150000"/>
              </a:lnSpc>
              <a:buNone/>
            </a:pPr>
            <a:r>
              <a:rPr lang="en-US" altLang="zh-CN" sz="2400" b="1" dirty="0"/>
              <a:t>Key Concepts </a:t>
            </a:r>
            <a:r>
              <a:rPr lang="zh-CN" altLang="en-US" sz="2400" b="1" dirty="0"/>
              <a:t>： </a:t>
            </a:r>
            <a:endParaRPr lang="en-US" altLang="zh-CN" sz="2400" b="1" dirty="0"/>
          </a:p>
          <a:p>
            <a:pPr>
              <a:lnSpc>
                <a:spcPct val="150000"/>
              </a:lnSpc>
              <a:buFont typeface="Wingdings" panose="05000000000000000000" pitchFamily="2" charset="2"/>
              <a:buNone/>
            </a:pPr>
            <a:endParaRPr lang="zh-CN" altLang="en-US" sz="2400" b="1" dirty="0"/>
          </a:p>
        </p:txBody>
      </p:sp>
    </p:spTree>
    <p:extLst>
      <p:ext uri="{BB962C8B-B14F-4D97-AF65-F5344CB8AC3E}">
        <p14:creationId xmlns:p14="http://schemas.microsoft.com/office/powerpoint/2010/main" val="3285967644"/>
      </p:ext>
    </p:extLst>
  </p:cSld>
  <p:clrMapOvr>
    <a:masterClrMapping/>
  </p:clrMapOvr>
  <mc:AlternateContent xmlns:mc="http://schemas.openxmlformats.org/markup-compatibility/2006" xmlns:p14="http://schemas.microsoft.com/office/powerpoint/2010/main">
    <mc:Choice Requires="p14">
      <p:transition p14:dur="50" advTm="20"/>
    </mc:Choice>
    <mc:Fallback xmlns="">
      <p:transition advTm="20"/>
    </mc:Fallback>
  </mc:AlternateContent>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 name="图片 11"/>
          <p:cNvPicPr>
            <a:picLocks noChangeAspect="1"/>
          </p:cNvPicPr>
          <p:nvPr/>
        </p:nvPicPr>
        <p:blipFill rotWithShape="1">
          <a:blip r:embed="rId3" cstate="print">
            <a:extLst>
              <a:ext uri="{28A0092B-C50C-407E-A947-70E740481C1C}">
                <a14:useLocalDpi xmlns:a14="http://schemas.microsoft.com/office/drawing/2010/main" val="0"/>
              </a:ext>
            </a:extLst>
          </a:blip>
          <a:srcRect t="5418" b="-5557"/>
          <a:stretch>
            <a:fillRect/>
          </a:stretch>
        </p:blipFill>
        <p:spPr>
          <a:xfrm>
            <a:off x="0" y="0"/>
            <a:ext cx="12192000" cy="5105399"/>
          </a:xfrm>
          <a:prstGeom prst="rect">
            <a:avLst/>
          </a:prstGeom>
        </p:spPr>
      </p:pic>
      <p:sp>
        <p:nvSpPr>
          <p:cNvPr id="15" name="文本占位符 14"/>
          <p:cNvSpPr>
            <a:spLocks noGrp="1"/>
          </p:cNvSpPr>
          <p:nvPr>
            <p:ph type="body" sz="quarter" idx="11"/>
          </p:nvPr>
        </p:nvSpPr>
        <p:spPr>
          <a:xfrm>
            <a:off x="0" y="4379558"/>
            <a:ext cx="12192000" cy="1191229"/>
          </a:xfrm>
          <a:solidFill>
            <a:srgbClr val="002060"/>
          </a:solidFill>
        </p:spPr>
        <p:txBody>
          <a:bodyPr/>
          <a:lstStyle/>
          <a:p>
            <a:endParaRPr lang="zh-CN" altLang="en-US" dirty="0">
              <a:solidFill>
                <a:srgbClr val="0070C0">
                  <a:alpha val="0"/>
                </a:srgbClr>
              </a:solidFill>
            </a:endParaRPr>
          </a:p>
        </p:txBody>
      </p:sp>
      <p:sp>
        <p:nvSpPr>
          <p:cNvPr id="21" name="标题 3"/>
          <p:cNvSpPr>
            <a:spLocks noGrp="1"/>
          </p:cNvSpPr>
          <p:nvPr>
            <p:ph type="ctrTitle"/>
          </p:nvPr>
        </p:nvSpPr>
        <p:spPr>
          <a:xfrm>
            <a:off x="357734" y="4571653"/>
            <a:ext cx="9955189" cy="949255"/>
          </a:xfrm>
        </p:spPr>
        <p:txBody>
          <a:bodyPr>
            <a:noAutofit/>
          </a:bodyPr>
          <a:lstStyle/>
          <a:p>
            <a:br>
              <a:rPr lang="en-US" altLang="zh-CN" b="1" dirty="0">
                <a:solidFill>
                  <a:schemeClr val="bg1"/>
                </a:solidFill>
                <a:effectLst>
                  <a:outerShdw blurRad="38100" dist="38100" dir="2700000" algn="tl">
                    <a:srgbClr val="000000">
                      <a:alpha val="43137"/>
                    </a:srgbClr>
                  </a:outerShdw>
                </a:effectLst>
              </a:rPr>
            </a:br>
            <a:r>
              <a:rPr lang="en-US" altLang="zh-CN" b="1" dirty="0">
                <a:solidFill>
                  <a:schemeClr val="bg1"/>
                </a:solidFill>
                <a:latin typeface="Trebuchet MS" panose="020B0603020202020204" pitchFamily="34" charset="0"/>
              </a:rPr>
              <a:t>Discrete Mathematics</a:t>
            </a:r>
            <a:r>
              <a:rPr lang="zh-CN" altLang="en-US" b="1" dirty="0">
                <a:solidFill>
                  <a:schemeClr val="bg1"/>
                </a:solidFill>
                <a:latin typeface="Trebuchet MS" panose="020B0603020202020204" pitchFamily="34" charset="0"/>
              </a:rPr>
              <a:t> </a:t>
            </a:r>
            <a:r>
              <a:rPr lang="en-US" altLang="zh-CN" b="1" dirty="0">
                <a:solidFill>
                  <a:schemeClr val="bg1"/>
                </a:solidFill>
                <a:latin typeface="Trebuchet MS" panose="020B0603020202020204" pitchFamily="34" charset="0"/>
              </a:rPr>
              <a:t>2025 Spring</a:t>
            </a:r>
            <a:br>
              <a:rPr lang="en-US" altLang="zh-CN" b="1" dirty="0">
                <a:solidFill>
                  <a:schemeClr val="bg1"/>
                </a:solidFill>
                <a:effectLst>
                  <a:outerShdw blurRad="38100" dist="38100" dir="2700000" algn="tl">
                    <a:srgbClr val="000000">
                      <a:alpha val="43137"/>
                    </a:srgbClr>
                  </a:outerShdw>
                </a:effectLst>
              </a:rPr>
            </a:br>
            <a:endParaRPr lang="en-US" altLang="zh-CN" b="1" dirty="0">
              <a:solidFill>
                <a:schemeClr val="bg1"/>
              </a:solidFill>
              <a:effectLst>
                <a:outerShdw blurRad="38100" dist="38100" dir="2700000" algn="tl">
                  <a:srgbClr val="000000">
                    <a:alpha val="43137"/>
                  </a:srgbClr>
                </a:outerShdw>
              </a:effectLst>
            </a:endParaRPr>
          </a:p>
        </p:txBody>
      </p:sp>
      <p:sp>
        <p:nvSpPr>
          <p:cNvPr id="6" name="文本框 5"/>
          <p:cNvSpPr txBox="1"/>
          <p:nvPr/>
        </p:nvSpPr>
        <p:spPr>
          <a:xfrm>
            <a:off x="935135" y="5797109"/>
            <a:ext cx="7262777" cy="523220"/>
          </a:xfrm>
          <a:prstGeom prst="rect">
            <a:avLst/>
          </a:prstGeom>
          <a:noFill/>
        </p:spPr>
        <p:txBody>
          <a:bodyPr wrap="square" rtlCol="0">
            <a:spAutoFit/>
          </a:bodyPr>
          <a:lstStyle/>
          <a:p>
            <a:pPr algn="ctr" fontAlgn="base">
              <a:spcBef>
                <a:spcPct val="10000"/>
              </a:spcBef>
              <a:spcAft>
                <a:spcPct val="0"/>
              </a:spcAft>
              <a:buClr>
                <a:srgbClr val="39BBF0"/>
              </a:buClr>
              <a:buSzPct val="60000"/>
            </a:pPr>
            <a:r>
              <a:rPr kumimoji="1" lang="zh-CN" altLang="en-US" sz="2800" b="1" dirty="0">
                <a:latin typeface="Trebuchet MS" panose="020B0603020202020204" pitchFamily="34" charset="0"/>
                <a:ea typeface="宋体" panose="02010600030101010101" pitchFamily="2" charset="-122"/>
              </a:rPr>
              <a:t>魏可佶</a:t>
            </a:r>
            <a:r>
              <a:rPr kumimoji="1" lang="zh-CN" altLang="en-US" sz="2400" b="1" dirty="0">
                <a:latin typeface="Trebuchet MS" panose="020B0603020202020204" pitchFamily="34" charset="0"/>
                <a:ea typeface="宋体" panose="02010600030101010101" pitchFamily="2" charset="-122"/>
              </a:rPr>
              <a:t> </a:t>
            </a:r>
            <a:r>
              <a:rPr kumimoji="1" lang="zh-CN" altLang="en-US" sz="2400" b="1" dirty="0">
                <a:latin typeface="Trebuchet MS" panose="020B0603020202020204" pitchFamily="34" charset="0"/>
                <a:ea typeface="微软雅黑" pitchFamily="34" charset="-122"/>
              </a:rPr>
              <a:t>    </a:t>
            </a:r>
            <a:r>
              <a:rPr lang="en-US" altLang="zh-CN" sz="2800" b="1" dirty="0">
                <a:latin typeface="Trebuchet MS" panose="020B0603020202020204" pitchFamily="34" charset="0"/>
                <a:cs typeface="Times New Roman" panose="02020603050405020304" pitchFamily="18" charset="0"/>
              </a:rPr>
              <a:t>kejiwei@tongji.edu.cn</a:t>
            </a:r>
            <a:r>
              <a:rPr lang="en-US" altLang="zh-CN" sz="2800" dirty="0">
                <a:cs typeface="Times New Roman" panose="02020603050405020304" pitchFamily="18" charset="0"/>
              </a:rPr>
              <a:t>		</a:t>
            </a:r>
          </a:p>
        </p:txBody>
      </p:sp>
      <p:pic>
        <p:nvPicPr>
          <p:cNvPr id="13" name="Picture 6" descr="D:\MBA工作\LOGO\同济经管LOGO反白.png"/>
          <p:cNvPicPr>
            <a:picLocks noChangeAspect="1" noChangeArrowheads="1"/>
          </p:cNvPicPr>
          <p:nvPr/>
        </p:nvPicPr>
        <p:blipFill>
          <a:blip r:embed="rId4" cstate="email">
            <a:extLst>
              <a:ext uri="{28A0092B-C50C-407E-A947-70E740481C1C}">
                <a14:useLocalDpi xmlns:a14="http://schemas.microsoft.com/office/drawing/2010/main" val="0"/>
              </a:ext>
            </a:extLst>
          </a:blip>
          <a:srcRect/>
          <a:stretch>
            <a:fillRect/>
          </a:stretch>
        </p:blipFill>
        <p:spPr bwMode="auto">
          <a:xfrm>
            <a:off x="9960847" y="4691952"/>
            <a:ext cx="1696528" cy="566440"/>
          </a:xfrm>
          <a:prstGeom prst="rect">
            <a:avLst/>
          </a:prstGeom>
          <a:noFill/>
          <a:extLst>
            <a:ext uri="{909E8E84-426E-40DD-AFC4-6F175D3DCCD1}">
              <a14:hiddenFill xmlns:a14="http://schemas.microsoft.com/office/drawing/2010/main">
                <a:solidFill>
                  <a:srgbClr val="FFFFFF"/>
                </a:solidFill>
              </a14:hiddenFill>
            </a:ext>
          </a:extLst>
        </p:spPr>
      </p:pic>
      <p:pic>
        <p:nvPicPr>
          <p:cNvPr id="3" name="图片 2" descr="微信图片_20220318113523"/>
          <p:cNvPicPr>
            <a:picLocks noChangeAspect="1"/>
          </p:cNvPicPr>
          <p:nvPr userDrawn="1"/>
        </p:nvPicPr>
        <p:blipFill>
          <a:blip r:embed="rId5"/>
          <a:stretch>
            <a:fillRect/>
          </a:stretch>
        </p:blipFill>
        <p:spPr>
          <a:xfrm>
            <a:off x="9291877" y="6115050"/>
            <a:ext cx="2244725" cy="361315"/>
          </a:xfrm>
          <a:prstGeom prst="rect">
            <a:avLst/>
          </a:prstGeom>
        </p:spPr>
      </p:pic>
    </p:spTree>
    <p:extLst>
      <p:ext uri="{BB962C8B-B14F-4D97-AF65-F5344CB8AC3E}">
        <p14:creationId xmlns:p14="http://schemas.microsoft.com/office/powerpoint/2010/main" val="835766186"/>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0" y="0"/>
            <a:ext cx="12192000" cy="762000"/>
          </a:xfrm>
          <a:prstGeom prst="rect">
            <a:avLst/>
          </a:prstGeom>
          <a:solidFill>
            <a:srgbClr val="002F7C"/>
          </a:solidFill>
        </p:spPr>
        <p:style>
          <a:lnRef idx="2">
            <a:schemeClr val="dk1">
              <a:shade val="50000"/>
            </a:schemeClr>
          </a:lnRef>
          <a:fillRef idx="1">
            <a:schemeClr val="dk1"/>
          </a:fillRef>
          <a:effectRef idx="0">
            <a:schemeClr val="dk1"/>
          </a:effectRef>
          <a:fontRef idx="minor">
            <a:schemeClr val="lt1"/>
          </a:fontRef>
        </p:style>
        <p:txBody>
          <a:bodyPr rtlCol="0" anchor="ctr"/>
          <a:lstStyle/>
          <a:p>
            <a:r>
              <a:rPr lang="zh-CN" altLang="en-US" sz="2000" b="1" dirty="0">
                <a:latin typeface="Times New Roman" panose="02020603050405020304" pitchFamily="18" charset="0"/>
                <a:ea typeface="宋体" panose="02010600030101010101" pitchFamily="2" charset="-122"/>
                <a:cs typeface="Times New Roman" panose="02020603050405020304" pitchFamily="18" charset="0"/>
              </a:rPr>
              <a:t>                </a:t>
            </a:r>
            <a:r>
              <a:rPr lang="en-US" altLang="zh-CN" sz="2400" b="1" dirty="0">
                <a:latin typeface="Trebuchet MS" panose="020B0603020202020204" pitchFamily="34" charset="0"/>
              </a:rPr>
              <a:t>Chapter 7: Trees and Their Applications</a:t>
            </a:r>
            <a:endParaRPr lang="zh-CN" altLang="en-US" sz="2400" b="1" dirty="0">
              <a:solidFill>
                <a:srgbClr val="3D557A"/>
              </a:solidFill>
              <a:latin typeface="Trebuchet MS" panose="020B0603020202020204" pitchFamily="34" charset="0"/>
            </a:endParaRPr>
          </a:p>
        </p:txBody>
      </p:sp>
      <p:sp>
        <p:nvSpPr>
          <p:cNvPr id="13" name="矩形 12"/>
          <p:cNvSpPr/>
          <p:nvPr/>
        </p:nvSpPr>
        <p:spPr>
          <a:xfrm>
            <a:off x="824682" y="0"/>
            <a:ext cx="175443" cy="628650"/>
          </a:xfrm>
          <a:prstGeom prst="rect">
            <a:avLst/>
          </a:prstGeom>
          <a:solidFill>
            <a:srgbClr val="CFA57C"/>
          </a:solidFill>
          <a:ln cmpd="sng">
            <a:gradFill flip="none" rotWithShape="1">
              <a:gsLst>
                <a:gs pos="50000">
                  <a:schemeClr val="accent2">
                    <a:lumMod val="60000"/>
                    <a:lumOff val="40000"/>
                  </a:schemeClr>
                </a:gs>
                <a:gs pos="0">
                  <a:schemeClr val="accent2">
                    <a:lumMod val="20000"/>
                    <a:lumOff val="80000"/>
                  </a:schemeClr>
                </a:gs>
                <a:gs pos="95000">
                  <a:schemeClr val="accent2"/>
                </a:gs>
              </a:gsLst>
              <a:path path="circle">
                <a:fillToRect l="50000" t="-80000" r="50000" b="180000"/>
              </a:path>
              <a:tileRect/>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22" name="Picture 6" descr="D:\MBA工作\LOGO\同济经管LOGO反白.png"/>
          <p:cNvPicPr>
            <a:picLocks noChangeAspect="1" noChangeArrowheads="1"/>
          </p:cNvPicPr>
          <p:nvPr/>
        </p:nvPicPr>
        <p:blipFill>
          <a:blip r:embed="rId3" cstate="email">
            <a:extLst>
              <a:ext uri="{28A0092B-C50C-407E-A947-70E740481C1C}">
                <a14:useLocalDpi xmlns:a14="http://schemas.microsoft.com/office/drawing/2010/main" val="0"/>
              </a:ext>
            </a:extLst>
          </a:blip>
          <a:srcRect/>
          <a:stretch>
            <a:fillRect/>
          </a:stretch>
        </p:blipFill>
        <p:spPr bwMode="auto">
          <a:xfrm>
            <a:off x="10267423" y="165688"/>
            <a:ext cx="1386605" cy="462962"/>
          </a:xfrm>
          <a:prstGeom prst="rect">
            <a:avLst/>
          </a:prstGeom>
          <a:noFill/>
          <a:extLst>
            <a:ext uri="{909E8E84-426E-40DD-AFC4-6F175D3DCCD1}">
              <a14:hiddenFill xmlns:a14="http://schemas.microsoft.com/office/drawing/2010/main">
                <a:solidFill>
                  <a:srgbClr val="FFFFFF"/>
                </a:solidFill>
              </a14:hiddenFill>
            </a:ext>
          </a:extLst>
        </p:spPr>
      </p:pic>
      <p:pic>
        <p:nvPicPr>
          <p:cNvPr id="2" name="图片 1" descr="微信图片_20220318113523"/>
          <p:cNvPicPr>
            <a:picLocks noChangeAspect="1"/>
          </p:cNvPicPr>
          <p:nvPr userDrawn="1"/>
        </p:nvPicPr>
        <p:blipFill>
          <a:blip r:embed="rId4"/>
          <a:stretch>
            <a:fillRect/>
          </a:stretch>
        </p:blipFill>
        <p:spPr>
          <a:xfrm>
            <a:off x="9291877" y="6115050"/>
            <a:ext cx="2244725" cy="361315"/>
          </a:xfrm>
          <a:prstGeom prst="rect">
            <a:avLst/>
          </a:prstGeom>
        </p:spPr>
      </p:pic>
      <p:sp>
        <p:nvSpPr>
          <p:cNvPr id="18" name="Rectangle 2">
            <a:extLst>
              <a:ext uri="{FF2B5EF4-FFF2-40B4-BE49-F238E27FC236}">
                <a16:creationId xmlns:a16="http://schemas.microsoft.com/office/drawing/2014/main" id="{E217C615-1D49-4D07-B850-D36106D7AA9A}"/>
              </a:ext>
            </a:extLst>
          </p:cNvPr>
          <p:cNvSpPr>
            <a:spLocks noChangeArrowheads="1"/>
          </p:cNvSpPr>
          <p:nvPr/>
        </p:nvSpPr>
        <p:spPr bwMode="auto">
          <a:xfrm>
            <a:off x="1000125" y="815365"/>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8" name="Rectangle 3">
            <a:extLst>
              <a:ext uri="{FF2B5EF4-FFF2-40B4-BE49-F238E27FC236}">
                <a16:creationId xmlns:a16="http://schemas.microsoft.com/office/drawing/2014/main" id="{97F08C45-3D15-45C1-A5A3-D1EB58DC91FE}"/>
              </a:ext>
            </a:extLst>
          </p:cNvPr>
          <p:cNvSpPr txBox="1">
            <a:spLocks noChangeArrowheads="1"/>
          </p:cNvSpPr>
          <p:nvPr/>
        </p:nvSpPr>
        <p:spPr>
          <a:xfrm>
            <a:off x="824681" y="765175"/>
            <a:ext cx="8798289" cy="5788025"/>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indent="1828800">
              <a:lnSpc>
                <a:spcPct val="130000"/>
              </a:lnSpc>
              <a:spcBef>
                <a:spcPts val="600"/>
              </a:spcBef>
              <a:buNone/>
            </a:pPr>
            <a:endParaRPr lang="en-US" altLang="zh-CN" sz="2400" b="1" dirty="0">
              <a:latin typeface="Trebuchet MS" panose="020B0603020202020204" pitchFamily="34" charset="0"/>
            </a:endParaRPr>
          </a:p>
          <a:p>
            <a:pPr>
              <a:lnSpc>
                <a:spcPct val="130000"/>
              </a:lnSpc>
              <a:spcBef>
                <a:spcPts val="600"/>
              </a:spcBef>
              <a:buClr>
                <a:srgbClr val="0B61FF"/>
              </a:buClr>
              <a:buSzPct val="80000"/>
              <a:buFont typeface="Wingdings" panose="05000000000000000000" pitchFamily="2" charset="2"/>
              <a:buChar char="n"/>
            </a:pPr>
            <a:r>
              <a:rPr lang="en-US" altLang="zh-CN" sz="2400" b="1" dirty="0">
                <a:solidFill>
                  <a:schemeClr val="bg2">
                    <a:lumMod val="50000"/>
                  </a:schemeClr>
                </a:solidFill>
                <a:latin typeface="Trebuchet MS" panose="020B0603020202020204" pitchFamily="34" charset="0"/>
              </a:rPr>
              <a:t>7.1 Undirected Trees</a:t>
            </a:r>
          </a:p>
          <a:p>
            <a:pPr>
              <a:lnSpc>
                <a:spcPct val="130000"/>
              </a:lnSpc>
              <a:spcBef>
                <a:spcPts val="600"/>
              </a:spcBef>
              <a:buClr>
                <a:srgbClr val="0B61FF"/>
              </a:buClr>
              <a:buSzPct val="80000"/>
              <a:buFont typeface="Wingdings" panose="05000000000000000000" pitchFamily="2" charset="2"/>
              <a:buChar char="n"/>
            </a:pPr>
            <a:r>
              <a:rPr lang="en-US" altLang="zh-CN" sz="2400" b="1" dirty="0">
                <a:solidFill>
                  <a:srgbClr val="0B61FF"/>
                </a:solidFill>
                <a:latin typeface="Trebuchet MS" panose="020B0603020202020204" pitchFamily="34" charset="0"/>
              </a:rPr>
              <a:t>7.2 Rooted Trees and Their Applications</a:t>
            </a:r>
            <a:endParaRPr lang="en-US" altLang="zh-CN" sz="2400" dirty="0">
              <a:solidFill>
                <a:srgbClr val="0B61FF"/>
              </a:solidFill>
              <a:latin typeface="Trebuchet MS" panose="020B0603020202020204" pitchFamily="34" charset="0"/>
            </a:endParaRPr>
          </a:p>
        </p:txBody>
      </p:sp>
    </p:spTree>
    <p:extLst>
      <p:ext uri="{BB962C8B-B14F-4D97-AF65-F5344CB8AC3E}">
        <p14:creationId xmlns:p14="http://schemas.microsoft.com/office/powerpoint/2010/main" val="2409621076"/>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0" y="0"/>
            <a:ext cx="12192000" cy="762000"/>
          </a:xfrm>
          <a:prstGeom prst="rect">
            <a:avLst/>
          </a:prstGeom>
          <a:solidFill>
            <a:srgbClr val="002F7C"/>
          </a:solidFill>
        </p:spPr>
        <p:style>
          <a:lnRef idx="2">
            <a:schemeClr val="dk1">
              <a:shade val="50000"/>
            </a:schemeClr>
          </a:lnRef>
          <a:fillRef idx="1">
            <a:schemeClr val="dk1"/>
          </a:fillRef>
          <a:effectRef idx="0">
            <a:schemeClr val="dk1"/>
          </a:effectRef>
          <a:fontRef idx="minor">
            <a:schemeClr val="lt1"/>
          </a:fontRef>
        </p:style>
        <p:txBody>
          <a:bodyPr rtlCol="0" anchor="ctr"/>
          <a:lstStyle/>
          <a:p>
            <a:r>
              <a:rPr lang="zh-CN" altLang="en-US" sz="2000" b="1" dirty="0">
                <a:latin typeface="Times New Roman" panose="02020603050405020304" pitchFamily="18" charset="0"/>
                <a:ea typeface="宋体" panose="02010600030101010101" pitchFamily="2" charset="-122"/>
                <a:cs typeface="Times New Roman" panose="02020603050405020304" pitchFamily="18" charset="0"/>
              </a:rPr>
              <a:t>               </a:t>
            </a:r>
            <a:r>
              <a:rPr lang="en-US" altLang="zh-CN" sz="2400" b="1" dirty="0">
                <a:latin typeface="Trebuchet MS" panose="020B0603020202020204" pitchFamily="34" charset="0"/>
                <a:ea typeface="宋体" panose="02010600030101010101" pitchFamily="2" charset="-122"/>
                <a:cs typeface="Times New Roman" panose="02020603050405020304" pitchFamily="18" charset="0"/>
              </a:rPr>
              <a:t>7.2 </a:t>
            </a:r>
            <a:r>
              <a:rPr lang="en-US" altLang="zh-CN" sz="2400" b="1" dirty="0">
                <a:latin typeface="Trebuchet MS" panose="020B0603020202020204" pitchFamily="34" charset="0"/>
                <a:cs typeface="Times New Roman" panose="02020603050405020304" pitchFamily="18" charset="0"/>
              </a:rPr>
              <a:t>Rooted Trees and Their Applications</a:t>
            </a:r>
            <a:endParaRPr lang="zh-CN" altLang="en-US" sz="2400" b="1" dirty="0">
              <a:solidFill>
                <a:srgbClr val="3D557A"/>
              </a:solidFill>
              <a:highlight>
                <a:srgbClr val="FF0000"/>
              </a:highlight>
              <a:latin typeface="Trebuchet MS" panose="020B0603020202020204" pitchFamily="34" charset="0"/>
            </a:endParaRPr>
          </a:p>
        </p:txBody>
      </p:sp>
      <p:sp>
        <p:nvSpPr>
          <p:cNvPr id="13" name="矩形 12"/>
          <p:cNvSpPr/>
          <p:nvPr/>
        </p:nvSpPr>
        <p:spPr>
          <a:xfrm>
            <a:off x="824682" y="0"/>
            <a:ext cx="175443" cy="628650"/>
          </a:xfrm>
          <a:prstGeom prst="rect">
            <a:avLst/>
          </a:prstGeom>
          <a:solidFill>
            <a:srgbClr val="CFA57C"/>
          </a:solidFill>
          <a:ln cmpd="sng">
            <a:gradFill flip="none" rotWithShape="1">
              <a:gsLst>
                <a:gs pos="50000">
                  <a:schemeClr val="accent2">
                    <a:lumMod val="60000"/>
                    <a:lumOff val="40000"/>
                  </a:schemeClr>
                </a:gs>
                <a:gs pos="0">
                  <a:schemeClr val="accent2">
                    <a:lumMod val="20000"/>
                    <a:lumOff val="80000"/>
                  </a:schemeClr>
                </a:gs>
                <a:gs pos="95000">
                  <a:schemeClr val="accent2"/>
                </a:gs>
              </a:gsLst>
              <a:path path="circle">
                <a:fillToRect l="50000" t="-80000" r="50000" b="180000"/>
              </a:path>
              <a:tileRect/>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22" name="Picture 6" descr="D:\MBA工作\LOGO\同济经管LOGO反白.png"/>
          <p:cNvPicPr>
            <a:picLocks noChangeAspect="1" noChangeArrowheads="1"/>
          </p:cNvPicPr>
          <p:nvPr/>
        </p:nvPicPr>
        <p:blipFill>
          <a:blip r:embed="rId3" cstate="email">
            <a:extLst>
              <a:ext uri="{28A0092B-C50C-407E-A947-70E740481C1C}">
                <a14:useLocalDpi xmlns:a14="http://schemas.microsoft.com/office/drawing/2010/main" val="0"/>
              </a:ext>
            </a:extLst>
          </a:blip>
          <a:srcRect/>
          <a:stretch>
            <a:fillRect/>
          </a:stretch>
        </p:blipFill>
        <p:spPr bwMode="auto">
          <a:xfrm>
            <a:off x="10267423" y="165688"/>
            <a:ext cx="1386605" cy="462962"/>
          </a:xfrm>
          <a:prstGeom prst="rect">
            <a:avLst/>
          </a:prstGeom>
          <a:noFill/>
          <a:extLst>
            <a:ext uri="{909E8E84-426E-40DD-AFC4-6F175D3DCCD1}">
              <a14:hiddenFill xmlns:a14="http://schemas.microsoft.com/office/drawing/2010/main">
                <a:solidFill>
                  <a:srgbClr val="FFFFFF"/>
                </a:solidFill>
              </a14:hiddenFill>
            </a:ext>
          </a:extLst>
        </p:spPr>
      </p:pic>
      <p:pic>
        <p:nvPicPr>
          <p:cNvPr id="2" name="图片 1" descr="微信图片_20220318113523"/>
          <p:cNvPicPr>
            <a:picLocks noChangeAspect="1"/>
          </p:cNvPicPr>
          <p:nvPr userDrawn="1"/>
        </p:nvPicPr>
        <p:blipFill>
          <a:blip r:embed="rId4"/>
          <a:stretch>
            <a:fillRect/>
          </a:stretch>
        </p:blipFill>
        <p:spPr>
          <a:xfrm>
            <a:off x="9291877" y="6115050"/>
            <a:ext cx="2244725" cy="361315"/>
          </a:xfrm>
          <a:prstGeom prst="rect">
            <a:avLst/>
          </a:prstGeom>
        </p:spPr>
      </p:pic>
      <p:sp>
        <p:nvSpPr>
          <p:cNvPr id="18" name="Rectangle 2">
            <a:extLst>
              <a:ext uri="{FF2B5EF4-FFF2-40B4-BE49-F238E27FC236}">
                <a16:creationId xmlns:a16="http://schemas.microsoft.com/office/drawing/2014/main" id="{E217C615-1D49-4D07-B850-D36106D7AA9A}"/>
              </a:ext>
            </a:extLst>
          </p:cNvPr>
          <p:cNvSpPr>
            <a:spLocks noChangeArrowheads="1"/>
          </p:cNvSpPr>
          <p:nvPr/>
        </p:nvSpPr>
        <p:spPr bwMode="auto">
          <a:xfrm>
            <a:off x="1000125" y="815365"/>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8" name="Rectangle 3">
            <a:extLst>
              <a:ext uri="{FF2B5EF4-FFF2-40B4-BE49-F238E27FC236}">
                <a16:creationId xmlns:a16="http://schemas.microsoft.com/office/drawing/2014/main" id="{97F08C45-3D15-45C1-A5A3-D1EB58DC91FE}"/>
              </a:ext>
            </a:extLst>
          </p:cNvPr>
          <p:cNvSpPr txBox="1">
            <a:spLocks noChangeArrowheads="1"/>
          </p:cNvSpPr>
          <p:nvPr/>
        </p:nvSpPr>
        <p:spPr>
          <a:xfrm>
            <a:off x="1000125" y="914400"/>
            <a:ext cx="9877336" cy="5788025"/>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20000"/>
              </a:lnSpc>
              <a:spcBef>
                <a:spcPts val="600"/>
              </a:spcBef>
              <a:buClr>
                <a:srgbClr val="0B61FF"/>
              </a:buClr>
              <a:buSzPct val="80000"/>
              <a:buFont typeface="Wingdings" panose="05000000000000000000" pitchFamily="2" charset="2"/>
              <a:buChar char="n"/>
            </a:pPr>
            <a:r>
              <a:rPr lang="en-US" sz="2400" b="1" dirty="0">
                <a:solidFill>
                  <a:srgbClr val="0B61FF"/>
                </a:solidFill>
                <a:latin typeface="Trebuchet MS" panose="020B0603020202020204" pitchFamily="34" charset="0"/>
              </a:rPr>
              <a:t>7.2.1 Rooted Trees and Their Classifications</a:t>
            </a:r>
          </a:p>
          <a:p>
            <a:pPr>
              <a:lnSpc>
                <a:spcPct val="120000"/>
              </a:lnSpc>
              <a:spcBef>
                <a:spcPts val="600"/>
              </a:spcBef>
              <a:buClr>
                <a:srgbClr val="0B61FF"/>
              </a:buClr>
              <a:buSzPct val="80000"/>
              <a:buFont typeface="Wingdings" panose="05000000000000000000" pitchFamily="2" charset="2"/>
              <a:buChar char="n"/>
            </a:pPr>
            <a:r>
              <a:rPr lang="en-US" sz="2400" b="1" dirty="0">
                <a:latin typeface="Trebuchet MS" panose="020B0603020202020204" pitchFamily="34" charset="0"/>
              </a:rPr>
              <a:t>7.2.2 Optimal Trees and the Huffman Algorithm</a:t>
            </a:r>
          </a:p>
          <a:p>
            <a:pPr>
              <a:lnSpc>
                <a:spcPct val="120000"/>
              </a:lnSpc>
              <a:spcBef>
                <a:spcPts val="600"/>
              </a:spcBef>
              <a:buClr>
                <a:srgbClr val="0B61FF"/>
              </a:buClr>
              <a:buSzPct val="80000"/>
              <a:buFont typeface="Wingdings" panose="05000000000000000000" pitchFamily="2" charset="2"/>
              <a:buChar char="n"/>
            </a:pPr>
            <a:r>
              <a:rPr lang="en-US" sz="2400" b="1" dirty="0">
                <a:latin typeface="Trebuchet MS" panose="020B0603020202020204" pitchFamily="34" charset="0"/>
              </a:rPr>
              <a:t>7.2.3 Optimal Prefix Codes</a:t>
            </a:r>
          </a:p>
          <a:p>
            <a:pPr>
              <a:lnSpc>
                <a:spcPct val="120000"/>
              </a:lnSpc>
              <a:spcBef>
                <a:spcPts val="600"/>
              </a:spcBef>
              <a:buClr>
                <a:srgbClr val="0B61FF"/>
              </a:buClr>
              <a:buSzPct val="80000"/>
              <a:buFont typeface="Wingdings" panose="05000000000000000000" pitchFamily="2" charset="2"/>
              <a:buChar char="n"/>
            </a:pPr>
            <a:r>
              <a:rPr lang="en-US" sz="2400" b="1" dirty="0">
                <a:latin typeface="Trebuchet MS" panose="020B0603020202020204" pitchFamily="34" charset="0"/>
              </a:rPr>
              <a:t>7.2.4 Traversals of Rooted Trees and Their Applications</a:t>
            </a:r>
            <a:endParaRPr lang="en-US" sz="2400" dirty="0">
              <a:latin typeface="Trebuchet MS" panose="020B0603020202020204" pitchFamily="34" charset="0"/>
            </a:endParaRPr>
          </a:p>
          <a:p>
            <a:pPr marL="723900" indent="354013">
              <a:lnSpc>
                <a:spcPct val="120000"/>
              </a:lnSpc>
              <a:spcBef>
                <a:spcPts val="600"/>
              </a:spcBef>
              <a:buClr>
                <a:srgbClr val="0B61FF"/>
              </a:buClr>
              <a:buSzPct val="120000"/>
              <a:buFont typeface="Arial" panose="020B0604020202020204" pitchFamily="34" charset="0"/>
              <a:buChar char="•"/>
              <a:tabLst>
                <a:tab pos="804863" algn="l"/>
                <a:tab pos="1077913" algn="l"/>
              </a:tabLst>
            </a:pPr>
            <a:r>
              <a:rPr lang="en-US" sz="2400" dirty="0" err="1">
                <a:latin typeface="Trebuchet MS" panose="020B0603020202020204" pitchFamily="34" charset="0"/>
              </a:rPr>
              <a:t>Inorder</a:t>
            </a:r>
            <a:r>
              <a:rPr lang="en-US" sz="2400" dirty="0">
                <a:latin typeface="Trebuchet MS" panose="020B0603020202020204" pitchFamily="34" charset="0"/>
              </a:rPr>
              <a:t> Traversal, Preorder Traversal, and </a:t>
            </a:r>
            <a:r>
              <a:rPr lang="en-US" sz="2400" dirty="0" err="1">
                <a:latin typeface="Trebuchet MS" panose="020B0603020202020204" pitchFamily="34" charset="0"/>
              </a:rPr>
              <a:t>Postorder</a:t>
            </a:r>
            <a:r>
              <a:rPr lang="en-US" sz="2400" dirty="0">
                <a:latin typeface="Trebuchet MS" panose="020B0603020202020204" pitchFamily="34" charset="0"/>
              </a:rPr>
              <a:t> Traversal</a:t>
            </a:r>
          </a:p>
          <a:p>
            <a:pPr marL="723900" indent="354013">
              <a:lnSpc>
                <a:spcPct val="120000"/>
              </a:lnSpc>
              <a:spcBef>
                <a:spcPts val="600"/>
              </a:spcBef>
              <a:buClr>
                <a:srgbClr val="0B61FF"/>
              </a:buClr>
              <a:buSzPct val="120000"/>
              <a:buFont typeface="Arial" panose="020B0604020202020204" pitchFamily="34" charset="0"/>
              <a:buChar char="•"/>
              <a:tabLst>
                <a:tab pos="804863" algn="l"/>
                <a:tab pos="1077913" algn="l"/>
              </a:tabLst>
            </a:pPr>
            <a:r>
              <a:rPr lang="en-US" sz="2400" dirty="0">
                <a:latin typeface="Trebuchet MS" panose="020B0603020202020204" pitchFamily="34" charset="0"/>
              </a:rPr>
              <a:t>Polish Notation and Reverse Polish Notation</a:t>
            </a:r>
          </a:p>
        </p:txBody>
      </p:sp>
    </p:spTree>
    <p:extLst>
      <p:ext uri="{BB962C8B-B14F-4D97-AF65-F5344CB8AC3E}">
        <p14:creationId xmlns:p14="http://schemas.microsoft.com/office/powerpoint/2010/main" val="142722980"/>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0" y="0"/>
            <a:ext cx="12192000" cy="762000"/>
          </a:xfrm>
          <a:prstGeom prst="rect">
            <a:avLst/>
          </a:prstGeom>
          <a:solidFill>
            <a:srgbClr val="002F7C"/>
          </a:solidFill>
        </p:spPr>
        <p:style>
          <a:lnRef idx="2">
            <a:schemeClr val="dk1">
              <a:shade val="50000"/>
            </a:schemeClr>
          </a:lnRef>
          <a:fillRef idx="1">
            <a:schemeClr val="dk1"/>
          </a:fillRef>
          <a:effectRef idx="0">
            <a:schemeClr val="dk1"/>
          </a:effectRef>
          <a:fontRef idx="minor">
            <a:schemeClr val="lt1"/>
          </a:fontRef>
        </p:style>
        <p:txBody>
          <a:bodyPr rtlCol="0" anchor="ctr"/>
          <a:lstStyle/>
          <a:p>
            <a:pPr>
              <a:lnSpc>
                <a:spcPct val="120000"/>
              </a:lnSpc>
              <a:spcBef>
                <a:spcPts val="600"/>
              </a:spcBef>
              <a:buClr>
                <a:srgbClr val="0B61FF"/>
              </a:buClr>
              <a:buSzPct val="80000"/>
            </a:pPr>
            <a:r>
              <a:rPr lang="zh-CN" altLang="en-US" sz="2000" b="1" dirty="0">
                <a:latin typeface="Times New Roman" panose="02020603050405020304" pitchFamily="18" charset="0"/>
                <a:ea typeface="宋体" panose="02010600030101010101" pitchFamily="2" charset="-122"/>
                <a:cs typeface="Times New Roman" panose="02020603050405020304" pitchFamily="18" charset="0"/>
              </a:rPr>
              <a:t>                </a:t>
            </a:r>
            <a:r>
              <a:rPr lang="en-US" altLang="zh-CN" sz="2000" b="1" dirty="0">
                <a:latin typeface="Trebuchet MS" panose="020B0603020202020204" pitchFamily="34" charset="0"/>
              </a:rPr>
              <a:t>7.2.1 Rooted Trees and Their Classifications</a:t>
            </a:r>
          </a:p>
          <a:p>
            <a:r>
              <a:rPr lang="en-US" altLang="zh-CN" sz="2400" b="1" dirty="0">
                <a:latin typeface="Times New Roman" panose="02020603050405020304" pitchFamily="18" charset="0"/>
                <a:ea typeface="宋体" panose="02010600030101010101" pitchFamily="2" charset="-122"/>
                <a:cs typeface="Times New Roman" panose="02020603050405020304" pitchFamily="18" charset="0"/>
              </a:rPr>
              <a:t>                  </a:t>
            </a:r>
            <a:r>
              <a:rPr lang="en-US" altLang="zh-CN" sz="2800" b="1" dirty="0">
                <a:solidFill>
                  <a:srgbClr val="C00000"/>
                </a:solidFill>
                <a:latin typeface="Cambria Math" panose="02040503050406030204" pitchFamily="18" charset="0"/>
                <a:ea typeface="Cambria Math" panose="02040503050406030204" pitchFamily="18" charset="0"/>
                <a:cs typeface="Times New Roman" panose="02020603050405020304" pitchFamily="18" charset="0"/>
              </a:rPr>
              <a:t>⤷</a:t>
            </a:r>
            <a:r>
              <a:rPr lang="zh-CN" altLang="en-US" sz="2400" b="1" dirty="0"/>
              <a:t> </a:t>
            </a:r>
            <a:r>
              <a:rPr lang="en-US" altLang="zh-CN" sz="2400" b="1" dirty="0">
                <a:latin typeface="Trebuchet MS" panose="020B0603020202020204" pitchFamily="34" charset="0"/>
              </a:rPr>
              <a:t>Directed Tree vs. Rooted Tree</a:t>
            </a:r>
            <a:endParaRPr lang="zh-CN" altLang="en-US" sz="2400" b="1" dirty="0">
              <a:solidFill>
                <a:srgbClr val="3D557A"/>
              </a:solidFill>
              <a:highlight>
                <a:srgbClr val="FF0000"/>
              </a:highlight>
              <a:latin typeface="Trebuchet MS" panose="020B0603020202020204" pitchFamily="34" charset="0"/>
            </a:endParaRPr>
          </a:p>
        </p:txBody>
      </p:sp>
      <p:sp>
        <p:nvSpPr>
          <p:cNvPr id="13" name="矩形 12"/>
          <p:cNvSpPr/>
          <p:nvPr/>
        </p:nvSpPr>
        <p:spPr>
          <a:xfrm>
            <a:off x="824682" y="0"/>
            <a:ext cx="175443" cy="628650"/>
          </a:xfrm>
          <a:prstGeom prst="rect">
            <a:avLst/>
          </a:prstGeom>
          <a:solidFill>
            <a:srgbClr val="CFA57C"/>
          </a:solidFill>
          <a:ln cmpd="sng">
            <a:gradFill flip="none" rotWithShape="1">
              <a:gsLst>
                <a:gs pos="50000">
                  <a:schemeClr val="accent2">
                    <a:lumMod val="60000"/>
                    <a:lumOff val="40000"/>
                  </a:schemeClr>
                </a:gs>
                <a:gs pos="0">
                  <a:schemeClr val="accent2">
                    <a:lumMod val="20000"/>
                    <a:lumOff val="80000"/>
                  </a:schemeClr>
                </a:gs>
                <a:gs pos="95000">
                  <a:schemeClr val="accent2"/>
                </a:gs>
              </a:gsLst>
              <a:path path="circle">
                <a:fillToRect l="50000" t="-80000" r="50000" b="180000"/>
              </a:path>
              <a:tileRect/>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22" name="Picture 6" descr="D:\MBA工作\LOGO\同济经管LOGO反白.png"/>
          <p:cNvPicPr>
            <a:picLocks noChangeAspect="1" noChangeArrowheads="1"/>
          </p:cNvPicPr>
          <p:nvPr/>
        </p:nvPicPr>
        <p:blipFill>
          <a:blip r:embed="rId3" cstate="email">
            <a:extLst>
              <a:ext uri="{28A0092B-C50C-407E-A947-70E740481C1C}">
                <a14:useLocalDpi xmlns:a14="http://schemas.microsoft.com/office/drawing/2010/main" val="0"/>
              </a:ext>
            </a:extLst>
          </a:blip>
          <a:srcRect/>
          <a:stretch>
            <a:fillRect/>
          </a:stretch>
        </p:blipFill>
        <p:spPr bwMode="auto">
          <a:xfrm>
            <a:off x="10267423" y="165688"/>
            <a:ext cx="1386605" cy="462962"/>
          </a:xfrm>
          <a:prstGeom prst="rect">
            <a:avLst/>
          </a:prstGeom>
          <a:noFill/>
          <a:extLst>
            <a:ext uri="{909E8E84-426E-40DD-AFC4-6F175D3DCCD1}">
              <a14:hiddenFill xmlns:a14="http://schemas.microsoft.com/office/drawing/2010/main">
                <a:solidFill>
                  <a:srgbClr val="FFFFFF"/>
                </a:solidFill>
              </a14:hiddenFill>
            </a:ext>
          </a:extLst>
        </p:spPr>
      </p:pic>
      <p:pic>
        <p:nvPicPr>
          <p:cNvPr id="2" name="图片 1" descr="微信图片_20220318113523"/>
          <p:cNvPicPr>
            <a:picLocks noChangeAspect="1"/>
          </p:cNvPicPr>
          <p:nvPr userDrawn="1"/>
        </p:nvPicPr>
        <p:blipFill>
          <a:blip r:embed="rId4"/>
          <a:stretch>
            <a:fillRect/>
          </a:stretch>
        </p:blipFill>
        <p:spPr>
          <a:xfrm>
            <a:off x="9291877" y="6115050"/>
            <a:ext cx="2244725" cy="361315"/>
          </a:xfrm>
          <a:prstGeom prst="rect">
            <a:avLst/>
          </a:prstGeom>
        </p:spPr>
      </p:pic>
      <p:sp>
        <p:nvSpPr>
          <p:cNvPr id="18" name="Rectangle 2">
            <a:extLst>
              <a:ext uri="{FF2B5EF4-FFF2-40B4-BE49-F238E27FC236}">
                <a16:creationId xmlns:a16="http://schemas.microsoft.com/office/drawing/2014/main" id="{E217C615-1D49-4D07-B850-D36106D7AA9A}"/>
              </a:ext>
            </a:extLst>
          </p:cNvPr>
          <p:cNvSpPr>
            <a:spLocks noChangeArrowheads="1"/>
          </p:cNvSpPr>
          <p:nvPr/>
        </p:nvSpPr>
        <p:spPr bwMode="auto">
          <a:xfrm>
            <a:off x="1000125" y="815365"/>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8" name="Rectangle 3">
            <a:extLst>
              <a:ext uri="{FF2B5EF4-FFF2-40B4-BE49-F238E27FC236}">
                <a16:creationId xmlns:a16="http://schemas.microsoft.com/office/drawing/2014/main" id="{97F08C45-3D15-45C1-A5A3-D1EB58DC91FE}"/>
              </a:ext>
            </a:extLst>
          </p:cNvPr>
          <p:cNvSpPr txBox="1">
            <a:spLocks noChangeArrowheads="1"/>
          </p:cNvSpPr>
          <p:nvPr/>
        </p:nvSpPr>
        <p:spPr>
          <a:xfrm>
            <a:off x="423081" y="772148"/>
            <a:ext cx="11546005" cy="5819722"/>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eaLnBrk="1" hangingPunct="1">
              <a:lnSpc>
                <a:spcPct val="120000"/>
              </a:lnSpc>
              <a:spcBef>
                <a:spcPts val="0"/>
              </a:spcBef>
              <a:buClr>
                <a:srgbClr val="0B61FF"/>
              </a:buClr>
              <a:buSzPct val="80000"/>
              <a:buFont typeface="Wingdings" panose="05000000000000000000" pitchFamily="2" charset="2"/>
              <a:buChar char="n"/>
            </a:pPr>
            <a:r>
              <a:rPr lang="en-US" sz="2400" b="1" i="1" dirty="0">
                <a:solidFill>
                  <a:srgbClr val="0B61FF"/>
                </a:solidFill>
                <a:latin typeface="Trebuchet MS" panose="020B0603020202020204" pitchFamily="34" charset="0"/>
              </a:rPr>
              <a:t>Directed Tree</a:t>
            </a:r>
            <a:r>
              <a:rPr lang="en-US" sz="2400" b="1" dirty="0">
                <a:latin typeface="Trebuchet MS" panose="020B0603020202020204" pitchFamily="34" charset="0"/>
              </a:rPr>
              <a:t>:</a:t>
            </a:r>
            <a:r>
              <a:rPr lang="en-US" sz="2400" dirty="0">
                <a:latin typeface="Trebuchet MS" panose="020B0603020202020204" pitchFamily="34" charset="0"/>
              </a:rPr>
              <a:t> A directed graph that becomes an undirected tree when edge directions are ignored.</a:t>
            </a:r>
          </a:p>
          <a:p>
            <a:pPr eaLnBrk="1" hangingPunct="1">
              <a:lnSpc>
                <a:spcPct val="120000"/>
              </a:lnSpc>
              <a:spcBef>
                <a:spcPts val="0"/>
              </a:spcBef>
              <a:buClr>
                <a:srgbClr val="0B61FF"/>
              </a:buClr>
              <a:buSzPct val="80000"/>
              <a:buFont typeface="Wingdings" panose="05000000000000000000" pitchFamily="2" charset="2"/>
              <a:buChar char="n"/>
            </a:pPr>
            <a:r>
              <a:rPr lang="en-US" sz="2400" b="1" i="1" dirty="0">
                <a:solidFill>
                  <a:srgbClr val="0B61FF"/>
                </a:solidFill>
                <a:latin typeface="Trebuchet MS" panose="020B0603020202020204" pitchFamily="34" charset="0"/>
              </a:rPr>
              <a:t>Rooted Tree</a:t>
            </a:r>
            <a:r>
              <a:rPr lang="en-US" sz="2400" b="1" dirty="0">
                <a:latin typeface="Trebuchet MS" panose="020B0603020202020204" pitchFamily="34" charset="0"/>
              </a:rPr>
              <a:t>:</a:t>
            </a:r>
            <a:r>
              <a:rPr lang="en-US" sz="2400" dirty="0">
                <a:latin typeface="Trebuchet MS" panose="020B0603020202020204" pitchFamily="34" charset="0"/>
              </a:rPr>
              <a:t> A nontrivial directed tree in which exactly one vertex has in-degree </a:t>
            </a:r>
            <a:r>
              <a:rPr lang="en-US" sz="2400" b="1" dirty="0">
                <a:latin typeface="Trebuchet MS" panose="020B0603020202020204" pitchFamily="34" charset="0"/>
              </a:rPr>
              <a:t>0</a:t>
            </a:r>
            <a:r>
              <a:rPr lang="en-US" sz="2400" dirty="0">
                <a:latin typeface="Trebuchet MS" panose="020B0603020202020204" pitchFamily="34" charset="0"/>
              </a:rPr>
              <a:t> (</a:t>
            </a:r>
            <a:r>
              <a:rPr lang="en-US" sz="2400" b="1" i="1" dirty="0">
                <a:solidFill>
                  <a:srgbClr val="0B61FF"/>
                </a:solidFill>
                <a:latin typeface="Trebuchet MS" panose="020B0603020202020204" pitchFamily="34" charset="0"/>
              </a:rPr>
              <a:t>the root</a:t>
            </a:r>
            <a:r>
              <a:rPr lang="en-US" sz="2400" dirty="0">
                <a:latin typeface="Trebuchet MS" panose="020B0603020202020204" pitchFamily="34" charset="0"/>
              </a:rPr>
              <a:t>), and all other vertices have in-degree </a:t>
            </a:r>
            <a:r>
              <a:rPr lang="en-US" sz="2400" b="1" dirty="0">
                <a:latin typeface="Trebuchet MS" panose="020B0603020202020204" pitchFamily="34" charset="0"/>
              </a:rPr>
              <a:t>1</a:t>
            </a:r>
            <a:r>
              <a:rPr lang="en-US" sz="2400" dirty="0">
                <a:latin typeface="Trebuchet MS" panose="020B0603020202020204" pitchFamily="34" charset="0"/>
              </a:rPr>
              <a:t>.</a:t>
            </a:r>
          </a:p>
          <a:p>
            <a:pPr eaLnBrk="1" hangingPunct="1">
              <a:lnSpc>
                <a:spcPct val="120000"/>
              </a:lnSpc>
              <a:spcBef>
                <a:spcPts val="0"/>
              </a:spcBef>
              <a:buClr>
                <a:srgbClr val="0B61FF"/>
              </a:buClr>
              <a:buSzPct val="80000"/>
              <a:buFont typeface="Wingdings" panose="05000000000000000000" pitchFamily="2" charset="2"/>
              <a:buChar char="n"/>
            </a:pPr>
            <a:r>
              <a:rPr lang="en-US" sz="2400" b="1" dirty="0">
                <a:latin typeface="Trebuchet MS" panose="020B0603020202020204" pitchFamily="34" charset="0"/>
              </a:rPr>
              <a:t>Root:</a:t>
            </a:r>
            <a:r>
              <a:rPr lang="en-US" sz="2400" dirty="0">
                <a:latin typeface="Trebuchet MS" panose="020B0603020202020204" pitchFamily="34" charset="0"/>
              </a:rPr>
              <a:t> The vertex with </a:t>
            </a:r>
            <a:r>
              <a:rPr lang="en-US" sz="2400" b="1" dirty="0">
                <a:solidFill>
                  <a:srgbClr val="0B61FF"/>
                </a:solidFill>
                <a:latin typeface="Trebuchet MS" panose="020B0603020202020204" pitchFamily="34" charset="0"/>
              </a:rPr>
              <a:t>in-degree 0</a:t>
            </a:r>
            <a:r>
              <a:rPr lang="en-US" sz="2400" dirty="0">
                <a:latin typeface="Trebuchet MS" panose="020B0603020202020204" pitchFamily="34" charset="0"/>
              </a:rPr>
              <a:t> in a directed tree.</a:t>
            </a:r>
          </a:p>
          <a:p>
            <a:pPr eaLnBrk="1" hangingPunct="1">
              <a:lnSpc>
                <a:spcPct val="120000"/>
              </a:lnSpc>
              <a:spcBef>
                <a:spcPts val="0"/>
              </a:spcBef>
              <a:buClr>
                <a:srgbClr val="0B61FF"/>
              </a:buClr>
              <a:buSzPct val="80000"/>
              <a:buFont typeface="Wingdings" panose="05000000000000000000" pitchFamily="2" charset="2"/>
              <a:buChar char="n"/>
            </a:pPr>
            <a:r>
              <a:rPr lang="en-US" sz="2400" b="1" dirty="0">
                <a:latin typeface="Trebuchet MS" panose="020B0603020202020204" pitchFamily="34" charset="0"/>
              </a:rPr>
              <a:t>Leaf:</a:t>
            </a:r>
            <a:r>
              <a:rPr lang="en-US" sz="2400" dirty="0">
                <a:latin typeface="Trebuchet MS" panose="020B0603020202020204" pitchFamily="34" charset="0"/>
              </a:rPr>
              <a:t> A vertex with in-degree </a:t>
            </a:r>
            <a:r>
              <a:rPr lang="en-US" sz="2400" b="1" dirty="0">
                <a:latin typeface="Trebuchet MS" panose="020B0603020202020204" pitchFamily="34" charset="0"/>
              </a:rPr>
              <a:t>1</a:t>
            </a:r>
            <a:r>
              <a:rPr lang="en-US" sz="2400" dirty="0">
                <a:latin typeface="Trebuchet MS" panose="020B0603020202020204" pitchFamily="34" charset="0"/>
              </a:rPr>
              <a:t> and </a:t>
            </a:r>
            <a:r>
              <a:rPr lang="en-US" sz="2400" b="1" i="1" dirty="0">
                <a:solidFill>
                  <a:srgbClr val="0B61FF"/>
                </a:solidFill>
                <a:latin typeface="Trebuchet MS" panose="020B0603020202020204" pitchFamily="34" charset="0"/>
              </a:rPr>
              <a:t>out-degree 0</a:t>
            </a:r>
            <a:r>
              <a:rPr lang="en-US" sz="2400" dirty="0">
                <a:latin typeface="Trebuchet MS" panose="020B0603020202020204" pitchFamily="34" charset="0"/>
              </a:rPr>
              <a:t> in a directed tree.</a:t>
            </a:r>
          </a:p>
          <a:p>
            <a:pPr eaLnBrk="1" hangingPunct="1">
              <a:lnSpc>
                <a:spcPct val="120000"/>
              </a:lnSpc>
              <a:spcBef>
                <a:spcPts val="0"/>
              </a:spcBef>
              <a:buClr>
                <a:srgbClr val="0B61FF"/>
              </a:buClr>
              <a:buSzPct val="80000"/>
              <a:buFont typeface="Wingdings" panose="05000000000000000000" pitchFamily="2" charset="2"/>
              <a:buChar char="n"/>
            </a:pPr>
            <a:r>
              <a:rPr lang="en-US" sz="2400" b="1" dirty="0">
                <a:latin typeface="Trebuchet MS" panose="020B0603020202020204" pitchFamily="34" charset="0"/>
              </a:rPr>
              <a:t>Internal Vertex:</a:t>
            </a:r>
            <a:r>
              <a:rPr lang="en-US" sz="2400" dirty="0">
                <a:latin typeface="Trebuchet MS" panose="020B0603020202020204" pitchFamily="34" charset="0"/>
              </a:rPr>
              <a:t> A vertex with in-degree </a:t>
            </a:r>
            <a:r>
              <a:rPr lang="en-US" sz="2400" b="1" dirty="0">
                <a:latin typeface="Trebuchet MS" panose="020B0603020202020204" pitchFamily="34" charset="0"/>
              </a:rPr>
              <a:t>1</a:t>
            </a:r>
            <a:r>
              <a:rPr lang="en-US" sz="2400" dirty="0">
                <a:latin typeface="Trebuchet MS" panose="020B0603020202020204" pitchFamily="34" charset="0"/>
              </a:rPr>
              <a:t> and </a:t>
            </a:r>
            <a:r>
              <a:rPr lang="en-US" sz="2400" b="1" i="1" dirty="0">
                <a:solidFill>
                  <a:srgbClr val="0B61FF"/>
                </a:solidFill>
                <a:latin typeface="Trebuchet MS" panose="020B0603020202020204" pitchFamily="34" charset="0"/>
              </a:rPr>
              <a:t>out-degree greater than 0 </a:t>
            </a:r>
            <a:r>
              <a:rPr lang="en-US" sz="2400" dirty="0">
                <a:latin typeface="Trebuchet MS" panose="020B0603020202020204" pitchFamily="34" charset="0"/>
              </a:rPr>
              <a:t>in a directed tree.</a:t>
            </a:r>
          </a:p>
          <a:p>
            <a:pPr eaLnBrk="1" hangingPunct="1">
              <a:lnSpc>
                <a:spcPct val="120000"/>
              </a:lnSpc>
              <a:spcBef>
                <a:spcPts val="0"/>
              </a:spcBef>
              <a:buClr>
                <a:srgbClr val="0B61FF"/>
              </a:buClr>
              <a:buSzPct val="80000"/>
              <a:buFont typeface="Wingdings" panose="05000000000000000000" pitchFamily="2" charset="2"/>
              <a:buChar char="n"/>
            </a:pPr>
            <a:r>
              <a:rPr lang="en-US" sz="2400" b="1" dirty="0">
                <a:latin typeface="Trebuchet MS" panose="020B0603020202020204" pitchFamily="34" charset="0"/>
              </a:rPr>
              <a:t>Branching Vertex:</a:t>
            </a:r>
            <a:r>
              <a:rPr lang="en-US" sz="2400" dirty="0">
                <a:latin typeface="Trebuchet MS" panose="020B0603020202020204" pitchFamily="34" charset="0"/>
              </a:rPr>
              <a:t> A general term referring to both the </a:t>
            </a:r>
            <a:r>
              <a:rPr lang="en-US" sz="2400" b="1" i="1" dirty="0">
                <a:solidFill>
                  <a:srgbClr val="0B61FF"/>
                </a:solidFill>
                <a:latin typeface="Trebuchet MS" panose="020B0603020202020204" pitchFamily="34" charset="0"/>
              </a:rPr>
              <a:t>root and internal vertices</a:t>
            </a:r>
            <a:r>
              <a:rPr lang="en-US" sz="2400" dirty="0">
                <a:latin typeface="Trebuchet MS" panose="020B0603020202020204" pitchFamily="34" charset="0"/>
              </a:rPr>
              <a:t>.</a:t>
            </a:r>
          </a:p>
          <a:p>
            <a:pPr eaLnBrk="1" hangingPunct="1">
              <a:lnSpc>
                <a:spcPct val="120000"/>
              </a:lnSpc>
              <a:spcBef>
                <a:spcPts val="0"/>
              </a:spcBef>
              <a:buClr>
                <a:srgbClr val="0B61FF"/>
              </a:buClr>
              <a:buSzPct val="80000"/>
              <a:buFont typeface="Wingdings" panose="05000000000000000000" pitchFamily="2" charset="2"/>
              <a:buChar char="n"/>
            </a:pPr>
            <a:r>
              <a:rPr lang="en-US" sz="2400" b="1" dirty="0">
                <a:latin typeface="Trebuchet MS" panose="020B0603020202020204" pitchFamily="34" charset="0"/>
              </a:rPr>
              <a:t>Level of a Vertex </a:t>
            </a:r>
            <a:r>
              <a:rPr lang="en-US" sz="2400" b="1" i="1" dirty="0">
                <a:latin typeface="Trebuchet MS" panose="020B0603020202020204" pitchFamily="34" charset="0"/>
              </a:rPr>
              <a:t>v</a:t>
            </a:r>
            <a:r>
              <a:rPr lang="en-US" sz="2400" b="1" dirty="0">
                <a:latin typeface="Trebuchet MS" panose="020B0603020202020204" pitchFamily="34" charset="0"/>
              </a:rPr>
              <a:t>:</a:t>
            </a:r>
            <a:r>
              <a:rPr lang="en-US" sz="2400" dirty="0">
                <a:latin typeface="Trebuchet MS" panose="020B0603020202020204" pitchFamily="34" charset="0"/>
              </a:rPr>
              <a:t> The </a:t>
            </a:r>
            <a:r>
              <a:rPr lang="en-US" sz="2400" b="1" i="1" dirty="0">
                <a:solidFill>
                  <a:srgbClr val="0B61FF"/>
                </a:solidFill>
                <a:latin typeface="Trebuchet MS" panose="020B0603020202020204" pitchFamily="34" charset="0"/>
              </a:rPr>
              <a:t>length of the path </a:t>
            </a:r>
            <a:r>
              <a:rPr lang="en-US" sz="2400" dirty="0">
                <a:latin typeface="Trebuchet MS" panose="020B0603020202020204" pitchFamily="34" charset="0"/>
              </a:rPr>
              <a:t>from the root to vertex </a:t>
            </a:r>
            <a:r>
              <a:rPr lang="en-US" sz="2400" b="1" i="1" dirty="0">
                <a:latin typeface="Trebuchet MS" panose="020B0603020202020204" pitchFamily="34" charset="0"/>
              </a:rPr>
              <a:t>v</a:t>
            </a:r>
            <a:r>
              <a:rPr lang="en-US" sz="2400" dirty="0">
                <a:latin typeface="Trebuchet MS" panose="020B0603020202020204" pitchFamily="34" charset="0"/>
              </a:rPr>
              <a:t>.</a:t>
            </a:r>
          </a:p>
          <a:p>
            <a:pPr eaLnBrk="1" hangingPunct="1">
              <a:lnSpc>
                <a:spcPct val="120000"/>
              </a:lnSpc>
              <a:spcBef>
                <a:spcPts val="0"/>
              </a:spcBef>
              <a:buClr>
                <a:srgbClr val="0B61FF"/>
              </a:buClr>
              <a:buSzPct val="80000"/>
              <a:buFont typeface="Wingdings" panose="05000000000000000000" pitchFamily="2" charset="2"/>
              <a:buChar char="n"/>
            </a:pPr>
            <a:r>
              <a:rPr lang="en-US" sz="2400" b="1" dirty="0">
                <a:latin typeface="Trebuchet MS" panose="020B0603020202020204" pitchFamily="34" charset="0"/>
              </a:rPr>
              <a:t>Height of the Tree:</a:t>
            </a:r>
            <a:r>
              <a:rPr lang="en-US" sz="2400" dirty="0">
                <a:latin typeface="Trebuchet MS" panose="020B0603020202020204" pitchFamily="34" charset="0"/>
              </a:rPr>
              <a:t> The </a:t>
            </a:r>
            <a:r>
              <a:rPr lang="en-US" sz="2400" b="1" i="1" dirty="0">
                <a:solidFill>
                  <a:srgbClr val="0B61FF"/>
                </a:solidFill>
                <a:latin typeface="Trebuchet MS" panose="020B0603020202020204" pitchFamily="34" charset="0"/>
              </a:rPr>
              <a:t>maximum level </a:t>
            </a:r>
            <a:r>
              <a:rPr lang="en-US" sz="2400" dirty="0">
                <a:latin typeface="Trebuchet MS" panose="020B0603020202020204" pitchFamily="34" charset="0"/>
              </a:rPr>
              <a:t>among all vertices in the directed tree.</a:t>
            </a:r>
            <a:endParaRPr lang="zh-CN" altLang="en-US" sz="2400" b="1" dirty="0">
              <a:latin typeface="Trebuchet MS" panose="020B0603020202020204" pitchFamily="34" charset="0"/>
            </a:endParaRPr>
          </a:p>
        </p:txBody>
      </p:sp>
    </p:spTree>
    <p:extLst>
      <p:ext uri="{BB962C8B-B14F-4D97-AF65-F5344CB8AC3E}">
        <p14:creationId xmlns:p14="http://schemas.microsoft.com/office/powerpoint/2010/main" val="3482281179"/>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8">
                                            <p:txEl>
                                              <p:pRg st="1" end="1"/>
                                            </p:txEl>
                                          </p:spTgt>
                                        </p:tgtEl>
                                        <p:attrNameLst>
                                          <p:attrName>style.visibility</p:attrName>
                                        </p:attrNameLst>
                                      </p:cBhvr>
                                      <p:to>
                                        <p:strVal val="visible"/>
                                      </p:to>
                                    </p:set>
                                    <p:animEffect transition="in" filter="fade">
                                      <p:cBhvr>
                                        <p:cTn id="7" dur="1000"/>
                                        <p:tgtEl>
                                          <p:spTgt spid="8">
                                            <p:txEl>
                                              <p:pRg st="1" end="1"/>
                                            </p:txEl>
                                          </p:spTgt>
                                        </p:tgtEl>
                                      </p:cBhvr>
                                    </p:animEffect>
                                    <p:anim calcmode="lin" valueType="num">
                                      <p:cBhvr>
                                        <p:cTn id="8" dur="1000" fill="hold"/>
                                        <p:tgtEl>
                                          <p:spTgt spid="8">
                                            <p:txEl>
                                              <p:pRg st="1" end="1"/>
                                            </p:txEl>
                                          </p:spTgt>
                                        </p:tgtEl>
                                        <p:attrNameLst>
                                          <p:attrName>ppt_x</p:attrName>
                                        </p:attrNameLst>
                                      </p:cBhvr>
                                      <p:tavLst>
                                        <p:tav tm="0">
                                          <p:val>
                                            <p:strVal val="#ppt_x"/>
                                          </p:val>
                                        </p:tav>
                                        <p:tav tm="100000">
                                          <p:val>
                                            <p:strVal val="#ppt_x"/>
                                          </p:val>
                                        </p:tav>
                                      </p:tavLst>
                                    </p:anim>
                                    <p:anim calcmode="lin" valueType="num">
                                      <p:cBhvr>
                                        <p:cTn id="9" dur="1000" fill="hold"/>
                                        <p:tgtEl>
                                          <p:spTgt spid="8">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8">
                                            <p:txEl>
                                              <p:pRg st="2" end="2"/>
                                            </p:txEl>
                                          </p:spTgt>
                                        </p:tgtEl>
                                        <p:attrNameLst>
                                          <p:attrName>style.visibility</p:attrName>
                                        </p:attrNameLst>
                                      </p:cBhvr>
                                      <p:to>
                                        <p:strVal val="visible"/>
                                      </p:to>
                                    </p:set>
                                    <p:animEffect transition="in" filter="fade">
                                      <p:cBhvr>
                                        <p:cTn id="14" dur="1000"/>
                                        <p:tgtEl>
                                          <p:spTgt spid="8">
                                            <p:txEl>
                                              <p:pRg st="2" end="2"/>
                                            </p:txEl>
                                          </p:spTgt>
                                        </p:tgtEl>
                                      </p:cBhvr>
                                    </p:animEffect>
                                    <p:anim calcmode="lin" valueType="num">
                                      <p:cBhvr>
                                        <p:cTn id="15" dur="1000" fill="hold"/>
                                        <p:tgtEl>
                                          <p:spTgt spid="8">
                                            <p:txEl>
                                              <p:pRg st="2" end="2"/>
                                            </p:txEl>
                                          </p:spTgt>
                                        </p:tgtEl>
                                        <p:attrNameLst>
                                          <p:attrName>ppt_x</p:attrName>
                                        </p:attrNameLst>
                                      </p:cBhvr>
                                      <p:tavLst>
                                        <p:tav tm="0">
                                          <p:val>
                                            <p:strVal val="#ppt_x"/>
                                          </p:val>
                                        </p:tav>
                                        <p:tav tm="100000">
                                          <p:val>
                                            <p:strVal val="#ppt_x"/>
                                          </p:val>
                                        </p:tav>
                                      </p:tavLst>
                                    </p:anim>
                                    <p:anim calcmode="lin" valueType="num">
                                      <p:cBhvr>
                                        <p:cTn id="16" dur="1000" fill="hold"/>
                                        <p:tgtEl>
                                          <p:spTgt spid="8">
                                            <p:txEl>
                                              <p:pRg st="2" end="2"/>
                                            </p:txEl>
                                          </p:spTgt>
                                        </p:tgtEl>
                                        <p:attrNameLst>
                                          <p:attrName>ppt_y</p:attrName>
                                        </p:attrNameLst>
                                      </p:cBhvr>
                                      <p:tavLst>
                                        <p:tav tm="0">
                                          <p:val>
                                            <p:strVal val="#ppt_y+.1"/>
                                          </p:val>
                                        </p:tav>
                                        <p:tav tm="100000">
                                          <p:val>
                                            <p:strVal val="#ppt_y"/>
                                          </p:val>
                                        </p:tav>
                                      </p:tavLst>
                                    </p:anim>
                                  </p:childTnLst>
                                </p:cTn>
                              </p:par>
                              <p:par>
                                <p:cTn id="17" presetID="42" presetClass="entr" presetSubtype="0" fill="hold" nodeType="withEffect">
                                  <p:stCondLst>
                                    <p:cond delay="0"/>
                                  </p:stCondLst>
                                  <p:childTnLst>
                                    <p:set>
                                      <p:cBhvr>
                                        <p:cTn id="18" dur="1" fill="hold">
                                          <p:stCondLst>
                                            <p:cond delay="0"/>
                                          </p:stCondLst>
                                        </p:cTn>
                                        <p:tgtEl>
                                          <p:spTgt spid="8">
                                            <p:txEl>
                                              <p:pRg st="3" end="3"/>
                                            </p:txEl>
                                          </p:spTgt>
                                        </p:tgtEl>
                                        <p:attrNameLst>
                                          <p:attrName>style.visibility</p:attrName>
                                        </p:attrNameLst>
                                      </p:cBhvr>
                                      <p:to>
                                        <p:strVal val="visible"/>
                                      </p:to>
                                    </p:set>
                                    <p:animEffect transition="in" filter="fade">
                                      <p:cBhvr>
                                        <p:cTn id="19" dur="1000"/>
                                        <p:tgtEl>
                                          <p:spTgt spid="8">
                                            <p:txEl>
                                              <p:pRg st="3" end="3"/>
                                            </p:txEl>
                                          </p:spTgt>
                                        </p:tgtEl>
                                      </p:cBhvr>
                                    </p:animEffect>
                                    <p:anim calcmode="lin" valueType="num">
                                      <p:cBhvr>
                                        <p:cTn id="20" dur="1000" fill="hold"/>
                                        <p:tgtEl>
                                          <p:spTgt spid="8">
                                            <p:txEl>
                                              <p:pRg st="3" end="3"/>
                                            </p:txEl>
                                          </p:spTgt>
                                        </p:tgtEl>
                                        <p:attrNameLst>
                                          <p:attrName>ppt_x</p:attrName>
                                        </p:attrNameLst>
                                      </p:cBhvr>
                                      <p:tavLst>
                                        <p:tav tm="0">
                                          <p:val>
                                            <p:strVal val="#ppt_x"/>
                                          </p:val>
                                        </p:tav>
                                        <p:tav tm="100000">
                                          <p:val>
                                            <p:strVal val="#ppt_x"/>
                                          </p:val>
                                        </p:tav>
                                      </p:tavLst>
                                    </p:anim>
                                    <p:anim calcmode="lin" valueType="num">
                                      <p:cBhvr>
                                        <p:cTn id="21" dur="1000" fill="hold"/>
                                        <p:tgtEl>
                                          <p:spTgt spid="8">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22" fill="hold">
                      <p:stCondLst>
                        <p:cond delay="indefinite"/>
                      </p:stCondLst>
                      <p:childTnLst>
                        <p:par>
                          <p:cTn id="23" fill="hold">
                            <p:stCondLst>
                              <p:cond delay="0"/>
                            </p:stCondLst>
                            <p:childTnLst>
                              <p:par>
                                <p:cTn id="24" presetID="42" presetClass="entr" presetSubtype="0" fill="hold" nodeType="clickEffect">
                                  <p:stCondLst>
                                    <p:cond delay="0"/>
                                  </p:stCondLst>
                                  <p:childTnLst>
                                    <p:set>
                                      <p:cBhvr>
                                        <p:cTn id="25" dur="1" fill="hold">
                                          <p:stCondLst>
                                            <p:cond delay="0"/>
                                          </p:stCondLst>
                                        </p:cTn>
                                        <p:tgtEl>
                                          <p:spTgt spid="8">
                                            <p:txEl>
                                              <p:pRg st="4" end="4"/>
                                            </p:txEl>
                                          </p:spTgt>
                                        </p:tgtEl>
                                        <p:attrNameLst>
                                          <p:attrName>style.visibility</p:attrName>
                                        </p:attrNameLst>
                                      </p:cBhvr>
                                      <p:to>
                                        <p:strVal val="visible"/>
                                      </p:to>
                                    </p:set>
                                    <p:animEffect transition="in" filter="fade">
                                      <p:cBhvr>
                                        <p:cTn id="26" dur="1000"/>
                                        <p:tgtEl>
                                          <p:spTgt spid="8">
                                            <p:txEl>
                                              <p:pRg st="4" end="4"/>
                                            </p:txEl>
                                          </p:spTgt>
                                        </p:tgtEl>
                                      </p:cBhvr>
                                    </p:animEffect>
                                    <p:anim calcmode="lin" valueType="num">
                                      <p:cBhvr>
                                        <p:cTn id="27" dur="1000" fill="hold"/>
                                        <p:tgtEl>
                                          <p:spTgt spid="8">
                                            <p:txEl>
                                              <p:pRg st="4" end="4"/>
                                            </p:txEl>
                                          </p:spTgt>
                                        </p:tgtEl>
                                        <p:attrNameLst>
                                          <p:attrName>ppt_x</p:attrName>
                                        </p:attrNameLst>
                                      </p:cBhvr>
                                      <p:tavLst>
                                        <p:tav tm="0">
                                          <p:val>
                                            <p:strVal val="#ppt_x"/>
                                          </p:val>
                                        </p:tav>
                                        <p:tav tm="100000">
                                          <p:val>
                                            <p:strVal val="#ppt_x"/>
                                          </p:val>
                                        </p:tav>
                                      </p:tavLst>
                                    </p:anim>
                                    <p:anim calcmode="lin" valueType="num">
                                      <p:cBhvr>
                                        <p:cTn id="28" dur="1000" fill="hold"/>
                                        <p:tgtEl>
                                          <p:spTgt spid="8">
                                            <p:txEl>
                                              <p:pRg st="4" end="4"/>
                                            </p:txEl>
                                          </p:spTgt>
                                        </p:tgtEl>
                                        <p:attrNameLst>
                                          <p:attrName>ppt_y</p:attrName>
                                        </p:attrNameLst>
                                      </p:cBhvr>
                                      <p:tavLst>
                                        <p:tav tm="0">
                                          <p:val>
                                            <p:strVal val="#ppt_y+.1"/>
                                          </p:val>
                                        </p:tav>
                                        <p:tav tm="100000">
                                          <p:val>
                                            <p:strVal val="#ppt_y"/>
                                          </p:val>
                                        </p:tav>
                                      </p:tavLst>
                                    </p:anim>
                                  </p:childTnLst>
                                </p:cTn>
                              </p:par>
                              <p:par>
                                <p:cTn id="29" presetID="42" presetClass="entr" presetSubtype="0" fill="hold" nodeType="withEffect">
                                  <p:stCondLst>
                                    <p:cond delay="0"/>
                                  </p:stCondLst>
                                  <p:childTnLst>
                                    <p:set>
                                      <p:cBhvr>
                                        <p:cTn id="30" dur="1" fill="hold">
                                          <p:stCondLst>
                                            <p:cond delay="0"/>
                                          </p:stCondLst>
                                        </p:cTn>
                                        <p:tgtEl>
                                          <p:spTgt spid="8">
                                            <p:txEl>
                                              <p:pRg st="5" end="5"/>
                                            </p:txEl>
                                          </p:spTgt>
                                        </p:tgtEl>
                                        <p:attrNameLst>
                                          <p:attrName>style.visibility</p:attrName>
                                        </p:attrNameLst>
                                      </p:cBhvr>
                                      <p:to>
                                        <p:strVal val="visible"/>
                                      </p:to>
                                    </p:set>
                                    <p:animEffect transition="in" filter="fade">
                                      <p:cBhvr>
                                        <p:cTn id="31" dur="1000"/>
                                        <p:tgtEl>
                                          <p:spTgt spid="8">
                                            <p:txEl>
                                              <p:pRg st="5" end="5"/>
                                            </p:txEl>
                                          </p:spTgt>
                                        </p:tgtEl>
                                      </p:cBhvr>
                                    </p:animEffect>
                                    <p:anim calcmode="lin" valueType="num">
                                      <p:cBhvr>
                                        <p:cTn id="32" dur="1000" fill="hold"/>
                                        <p:tgtEl>
                                          <p:spTgt spid="8">
                                            <p:txEl>
                                              <p:pRg st="5" end="5"/>
                                            </p:txEl>
                                          </p:spTgt>
                                        </p:tgtEl>
                                        <p:attrNameLst>
                                          <p:attrName>ppt_x</p:attrName>
                                        </p:attrNameLst>
                                      </p:cBhvr>
                                      <p:tavLst>
                                        <p:tav tm="0">
                                          <p:val>
                                            <p:strVal val="#ppt_x"/>
                                          </p:val>
                                        </p:tav>
                                        <p:tav tm="100000">
                                          <p:val>
                                            <p:strVal val="#ppt_x"/>
                                          </p:val>
                                        </p:tav>
                                      </p:tavLst>
                                    </p:anim>
                                    <p:anim calcmode="lin" valueType="num">
                                      <p:cBhvr>
                                        <p:cTn id="33" dur="1000" fill="hold"/>
                                        <p:tgtEl>
                                          <p:spTgt spid="8">
                                            <p:txEl>
                                              <p:pRg st="5" end="5"/>
                                            </p:txEl>
                                          </p:spTgt>
                                        </p:tgtEl>
                                        <p:attrNameLst>
                                          <p:attrName>ppt_y</p:attrName>
                                        </p:attrNameLst>
                                      </p:cBhvr>
                                      <p:tavLst>
                                        <p:tav tm="0">
                                          <p:val>
                                            <p:strVal val="#ppt_y+.1"/>
                                          </p:val>
                                        </p:tav>
                                        <p:tav tm="100000">
                                          <p:val>
                                            <p:strVal val="#ppt_y"/>
                                          </p:val>
                                        </p:tav>
                                      </p:tavLst>
                                    </p:anim>
                                  </p:childTnLst>
                                </p:cTn>
                              </p:par>
                            </p:childTnLst>
                          </p:cTn>
                        </p:par>
                      </p:childTnLst>
                    </p:cTn>
                  </p:par>
                  <p:par>
                    <p:cTn id="34" fill="hold">
                      <p:stCondLst>
                        <p:cond delay="indefinite"/>
                      </p:stCondLst>
                      <p:childTnLst>
                        <p:par>
                          <p:cTn id="35" fill="hold">
                            <p:stCondLst>
                              <p:cond delay="0"/>
                            </p:stCondLst>
                            <p:childTnLst>
                              <p:par>
                                <p:cTn id="36" presetID="42" presetClass="entr" presetSubtype="0" fill="hold" nodeType="clickEffect">
                                  <p:stCondLst>
                                    <p:cond delay="0"/>
                                  </p:stCondLst>
                                  <p:childTnLst>
                                    <p:set>
                                      <p:cBhvr>
                                        <p:cTn id="37" dur="1" fill="hold">
                                          <p:stCondLst>
                                            <p:cond delay="0"/>
                                          </p:stCondLst>
                                        </p:cTn>
                                        <p:tgtEl>
                                          <p:spTgt spid="8">
                                            <p:txEl>
                                              <p:pRg st="6" end="6"/>
                                            </p:txEl>
                                          </p:spTgt>
                                        </p:tgtEl>
                                        <p:attrNameLst>
                                          <p:attrName>style.visibility</p:attrName>
                                        </p:attrNameLst>
                                      </p:cBhvr>
                                      <p:to>
                                        <p:strVal val="visible"/>
                                      </p:to>
                                    </p:set>
                                    <p:animEffect transition="in" filter="fade">
                                      <p:cBhvr>
                                        <p:cTn id="38" dur="1000"/>
                                        <p:tgtEl>
                                          <p:spTgt spid="8">
                                            <p:txEl>
                                              <p:pRg st="6" end="6"/>
                                            </p:txEl>
                                          </p:spTgt>
                                        </p:tgtEl>
                                      </p:cBhvr>
                                    </p:animEffect>
                                    <p:anim calcmode="lin" valueType="num">
                                      <p:cBhvr>
                                        <p:cTn id="39" dur="1000" fill="hold"/>
                                        <p:tgtEl>
                                          <p:spTgt spid="8">
                                            <p:txEl>
                                              <p:pRg st="6" end="6"/>
                                            </p:txEl>
                                          </p:spTgt>
                                        </p:tgtEl>
                                        <p:attrNameLst>
                                          <p:attrName>ppt_x</p:attrName>
                                        </p:attrNameLst>
                                      </p:cBhvr>
                                      <p:tavLst>
                                        <p:tav tm="0">
                                          <p:val>
                                            <p:strVal val="#ppt_x"/>
                                          </p:val>
                                        </p:tav>
                                        <p:tav tm="100000">
                                          <p:val>
                                            <p:strVal val="#ppt_x"/>
                                          </p:val>
                                        </p:tav>
                                      </p:tavLst>
                                    </p:anim>
                                    <p:anim calcmode="lin" valueType="num">
                                      <p:cBhvr>
                                        <p:cTn id="40" dur="1000" fill="hold"/>
                                        <p:tgtEl>
                                          <p:spTgt spid="8">
                                            <p:txEl>
                                              <p:pRg st="6" end="6"/>
                                            </p:txEl>
                                          </p:spTgt>
                                        </p:tgtEl>
                                        <p:attrNameLst>
                                          <p:attrName>ppt_y</p:attrName>
                                        </p:attrNameLst>
                                      </p:cBhvr>
                                      <p:tavLst>
                                        <p:tav tm="0">
                                          <p:val>
                                            <p:strVal val="#ppt_y+.1"/>
                                          </p:val>
                                        </p:tav>
                                        <p:tav tm="100000">
                                          <p:val>
                                            <p:strVal val="#ppt_y"/>
                                          </p:val>
                                        </p:tav>
                                      </p:tavLst>
                                    </p:anim>
                                  </p:childTnLst>
                                </p:cTn>
                              </p:par>
                              <p:par>
                                <p:cTn id="41" presetID="42" presetClass="entr" presetSubtype="0" fill="hold" nodeType="withEffect">
                                  <p:stCondLst>
                                    <p:cond delay="0"/>
                                  </p:stCondLst>
                                  <p:childTnLst>
                                    <p:set>
                                      <p:cBhvr>
                                        <p:cTn id="42" dur="1" fill="hold">
                                          <p:stCondLst>
                                            <p:cond delay="0"/>
                                          </p:stCondLst>
                                        </p:cTn>
                                        <p:tgtEl>
                                          <p:spTgt spid="8">
                                            <p:txEl>
                                              <p:pRg st="7" end="7"/>
                                            </p:txEl>
                                          </p:spTgt>
                                        </p:tgtEl>
                                        <p:attrNameLst>
                                          <p:attrName>style.visibility</p:attrName>
                                        </p:attrNameLst>
                                      </p:cBhvr>
                                      <p:to>
                                        <p:strVal val="visible"/>
                                      </p:to>
                                    </p:set>
                                    <p:animEffect transition="in" filter="fade">
                                      <p:cBhvr>
                                        <p:cTn id="43" dur="1000"/>
                                        <p:tgtEl>
                                          <p:spTgt spid="8">
                                            <p:txEl>
                                              <p:pRg st="7" end="7"/>
                                            </p:txEl>
                                          </p:spTgt>
                                        </p:tgtEl>
                                      </p:cBhvr>
                                    </p:animEffect>
                                    <p:anim calcmode="lin" valueType="num">
                                      <p:cBhvr>
                                        <p:cTn id="44" dur="1000" fill="hold"/>
                                        <p:tgtEl>
                                          <p:spTgt spid="8">
                                            <p:txEl>
                                              <p:pRg st="7" end="7"/>
                                            </p:txEl>
                                          </p:spTgt>
                                        </p:tgtEl>
                                        <p:attrNameLst>
                                          <p:attrName>ppt_x</p:attrName>
                                        </p:attrNameLst>
                                      </p:cBhvr>
                                      <p:tavLst>
                                        <p:tav tm="0">
                                          <p:val>
                                            <p:strVal val="#ppt_x"/>
                                          </p:val>
                                        </p:tav>
                                        <p:tav tm="100000">
                                          <p:val>
                                            <p:strVal val="#ppt_x"/>
                                          </p:val>
                                        </p:tav>
                                      </p:tavLst>
                                    </p:anim>
                                    <p:anim calcmode="lin" valueType="num">
                                      <p:cBhvr>
                                        <p:cTn id="45" dur="1000" fill="hold"/>
                                        <p:tgtEl>
                                          <p:spTgt spid="8">
                                            <p:txEl>
                                              <p:pRg st="7" end="7"/>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0" y="0"/>
            <a:ext cx="12192000" cy="762000"/>
          </a:xfrm>
          <a:prstGeom prst="rect">
            <a:avLst/>
          </a:prstGeom>
          <a:solidFill>
            <a:srgbClr val="002F7C"/>
          </a:solidFill>
        </p:spPr>
        <p:style>
          <a:lnRef idx="2">
            <a:schemeClr val="dk1">
              <a:shade val="50000"/>
            </a:schemeClr>
          </a:lnRef>
          <a:fillRef idx="1">
            <a:schemeClr val="dk1"/>
          </a:fillRef>
          <a:effectRef idx="0">
            <a:schemeClr val="dk1"/>
          </a:effectRef>
          <a:fontRef idx="minor">
            <a:schemeClr val="lt1"/>
          </a:fontRef>
        </p:style>
        <p:txBody>
          <a:bodyPr rtlCol="0" anchor="ctr"/>
          <a:lstStyle/>
          <a:p>
            <a:pPr>
              <a:lnSpc>
                <a:spcPct val="120000"/>
              </a:lnSpc>
              <a:spcBef>
                <a:spcPts val="600"/>
              </a:spcBef>
              <a:buClr>
                <a:srgbClr val="0B61FF"/>
              </a:buClr>
              <a:buSzPct val="80000"/>
            </a:pPr>
            <a:r>
              <a:rPr lang="zh-CN" altLang="en-US" sz="2000" b="1" dirty="0">
                <a:latin typeface="Times New Roman" panose="02020603050405020304" pitchFamily="18" charset="0"/>
                <a:ea typeface="宋体" panose="02010600030101010101" pitchFamily="2" charset="-122"/>
                <a:cs typeface="Times New Roman" panose="02020603050405020304" pitchFamily="18" charset="0"/>
              </a:rPr>
              <a:t>               </a:t>
            </a:r>
            <a:r>
              <a:rPr lang="en-US" altLang="zh-CN" sz="2000" b="1" dirty="0">
                <a:latin typeface="Trebuchet MS" panose="020B0603020202020204" pitchFamily="34" charset="0"/>
              </a:rPr>
              <a:t>7.2.1 Rooted Trees and Their Classifications</a:t>
            </a:r>
          </a:p>
          <a:p>
            <a:r>
              <a:rPr lang="en-US" altLang="zh-CN" sz="2000" b="1" dirty="0">
                <a:latin typeface="Times New Roman" panose="02020603050405020304" pitchFamily="18" charset="0"/>
                <a:cs typeface="Times New Roman" panose="02020603050405020304" pitchFamily="18" charset="0"/>
              </a:rPr>
              <a:t>                  </a:t>
            </a:r>
            <a:r>
              <a:rPr lang="en-US" altLang="zh-CN" sz="2400" b="1" dirty="0">
                <a:solidFill>
                  <a:srgbClr val="C00000"/>
                </a:solidFill>
                <a:latin typeface="Cambria Math" panose="02040503050406030204" pitchFamily="18" charset="0"/>
                <a:ea typeface="Cambria Math" panose="02040503050406030204" pitchFamily="18" charset="0"/>
                <a:cs typeface="Times New Roman" panose="02020603050405020304" pitchFamily="18" charset="0"/>
              </a:rPr>
              <a:t>⤷</a:t>
            </a:r>
            <a:r>
              <a:rPr lang="zh-CN" altLang="en-US" sz="2000" b="1" dirty="0"/>
              <a:t> </a:t>
            </a:r>
            <a:r>
              <a:rPr lang="en-US" altLang="zh-CN" sz="2400" b="1" dirty="0">
                <a:latin typeface="Trebuchet MS" panose="020B0603020202020204" pitchFamily="34" charset="0"/>
              </a:rPr>
              <a:t>Drawing a Rooted Tree(</a:t>
            </a:r>
            <a:r>
              <a:rPr lang="en-US" altLang="zh-CN" sz="2400" b="1" dirty="0">
                <a:solidFill>
                  <a:srgbClr val="C00000"/>
                </a:solidFill>
                <a:latin typeface="Trebuchet MS" panose="020B0603020202020204" pitchFamily="34" charset="0"/>
              </a:rPr>
              <a:t>e.g.</a:t>
            </a:r>
            <a:r>
              <a:rPr lang="en-US" altLang="zh-CN" sz="2400" b="1" dirty="0">
                <a:latin typeface="Trebuchet MS" panose="020B0603020202020204" pitchFamily="34" charset="0"/>
              </a:rPr>
              <a:t>)</a:t>
            </a:r>
            <a:endParaRPr lang="zh-CN" altLang="en-US" sz="2400" b="1" dirty="0">
              <a:solidFill>
                <a:srgbClr val="3D557A"/>
              </a:solidFill>
              <a:highlight>
                <a:srgbClr val="FF0000"/>
              </a:highlight>
              <a:latin typeface="Trebuchet MS" panose="020B0603020202020204" pitchFamily="34" charset="0"/>
            </a:endParaRPr>
          </a:p>
        </p:txBody>
      </p:sp>
      <p:sp>
        <p:nvSpPr>
          <p:cNvPr id="13" name="矩形 12"/>
          <p:cNvSpPr/>
          <p:nvPr/>
        </p:nvSpPr>
        <p:spPr>
          <a:xfrm>
            <a:off x="824682" y="0"/>
            <a:ext cx="175443" cy="628650"/>
          </a:xfrm>
          <a:prstGeom prst="rect">
            <a:avLst/>
          </a:prstGeom>
          <a:solidFill>
            <a:srgbClr val="CFA57C"/>
          </a:solidFill>
          <a:ln cmpd="sng">
            <a:gradFill flip="none" rotWithShape="1">
              <a:gsLst>
                <a:gs pos="50000">
                  <a:schemeClr val="accent2">
                    <a:lumMod val="60000"/>
                    <a:lumOff val="40000"/>
                  </a:schemeClr>
                </a:gs>
                <a:gs pos="0">
                  <a:schemeClr val="accent2">
                    <a:lumMod val="20000"/>
                    <a:lumOff val="80000"/>
                  </a:schemeClr>
                </a:gs>
                <a:gs pos="95000">
                  <a:schemeClr val="accent2"/>
                </a:gs>
              </a:gsLst>
              <a:path path="circle">
                <a:fillToRect l="50000" t="-80000" r="50000" b="180000"/>
              </a:path>
              <a:tileRect/>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22" name="Picture 6" descr="D:\MBA工作\LOGO\同济经管LOGO反白.png"/>
          <p:cNvPicPr>
            <a:picLocks noChangeAspect="1" noChangeArrowheads="1"/>
          </p:cNvPicPr>
          <p:nvPr/>
        </p:nvPicPr>
        <p:blipFill>
          <a:blip r:embed="rId3" cstate="email">
            <a:extLst>
              <a:ext uri="{28A0092B-C50C-407E-A947-70E740481C1C}">
                <a14:useLocalDpi xmlns:a14="http://schemas.microsoft.com/office/drawing/2010/main" val="0"/>
              </a:ext>
            </a:extLst>
          </a:blip>
          <a:srcRect/>
          <a:stretch>
            <a:fillRect/>
          </a:stretch>
        </p:blipFill>
        <p:spPr bwMode="auto">
          <a:xfrm>
            <a:off x="10267423" y="165688"/>
            <a:ext cx="1386605" cy="462962"/>
          </a:xfrm>
          <a:prstGeom prst="rect">
            <a:avLst/>
          </a:prstGeom>
          <a:noFill/>
          <a:extLst>
            <a:ext uri="{909E8E84-426E-40DD-AFC4-6F175D3DCCD1}">
              <a14:hiddenFill xmlns:a14="http://schemas.microsoft.com/office/drawing/2010/main">
                <a:solidFill>
                  <a:srgbClr val="FFFFFF"/>
                </a:solidFill>
              </a14:hiddenFill>
            </a:ext>
          </a:extLst>
        </p:spPr>
      </p:pic>
      <p:pic>
        <p:nvPicPr>
          <p:cNvPr id="2" name="图片 1" descr="微信图片_20220318113523"/>
          <p:cNvPicPr>
            <a:picLocks noChangeAspect="1"/>
          </p:cNvPicPr>
          <p:nvPr userDrawn="1"/>
        </p:nvPicPr>
        <p:blipFill>
          <a:blip r:embed="rId4"/>
          <a:stretch>
            <a:fillRect/>
          </a:stretch>
        </p:blipFill>
        <p:spPr>
          <a:xfrm>
            <a:off x="9291877" y="6115050"/>
            <a:ext cx="2244725" cy="361315"/>
          </a:xfrm>
          <a:prstGeom prst="rect">
            <a:avLst/>
          </a:prstGeom>
        </p:spPr>
      </p:pic>
      <p:sp>
        <p:nvSpPr>
          <p:cNvPr id="18" name="Rectangle 2">
            <a:extLst>
              <a:ext uri="{FF2B5EF4-FFF2-40B4-BE49-F238E27FC236}">
                <a16:creationId xmlns:a16="http://schemas.microsoft.com/office/drawing/2014/main" id="{E217C615-1D49-4D07-B850-D36106D7AA9A}"/>
              </a:ext>
            </a:extLst>
          </p:cNvPr>
          <p:cNvSpPr>
            <a:spLocks noChangeArrowheads="1"/>
          </p:cNvSpPr>
          <p:nvPr/>
        </p:nvSpPr>
        <p:spPr bwMode="auto">
          <a:xfrm>
            <a:off x="1000125" y="815365"/>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8" name="Rectangle 3">
            <a:extLst>
              <a:ext uri="{FF2B5EF4-FFF2-40B4-BE49-F238E27FC236}">
                <a16:creationId xmlns:a16="http://schemas.microsoft.com/office/drawing/2014/main" id="{97F08C45-3D15-45C1-A5A3-D1EB58DC91FE}"/>
              </a:ext>
            </a:extLst>
          </p:cNvPr>
          <p:cNvSpPr txBox="1">
            <a:spLocks noChangeArrowheads="1"/>
          </p:cNvSpPr>
          <p:nvPr/>
        </p:nvSpPr>
        <p:spPr>
          <a:xfrm>
            <a:off x="1000125" y="914400"/>
            <a:ext cx="9877336" cy="5788025"/>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just" eaLnBrk="1" hangingPunct="1">
              <a:spcBef>
                <a:spcPct val="25000"/>
              </a:spcBef>
              <a:buFontTx/>
              <a:buNone/>
            </a:pPr>
            <a:endParaRPr lang="en-US" altLang="zh-CN" sz="2800" b="1" dirty="0">
              <a:solidFill>
                <a:srgbClr val="FF0000"/>
              </a:solidFill>
            </a:endParaRPr>
          </a:p>
          <a:p>
            <a:pPr marL="0" indent="0" eaLnBrk="1" hangingPunct="1">
              <a:spcBef>
                <a:spcPct val="40000"/>
              </a:spcBef>
              <a:buNone/>
            </a:pPr>
            <a:endParaRPr lang="zh-CN" altLang="en-US" b="1" dirty="0"/>
          </a:p>
        </p:txBody>
      </p:sp>
      <p:sp>
        <p:nvSpPr>
          <p:cNvPr id="9" name="Rectangle 3">
            <a:extLst>
              <a:ext uri="{FF2B5EF4-FFF2-40B4-BE49-F238E27FC236}">
                <a16:creationId xmlns:a16="http://schemas.microsoft.com/office/drawing/2014/main" id="{39A670A6-F93A-4E5E-8A8F-54D6333E6FDA}"/>
              </a:ext>
            </a:extLst>
          </p:cNvPr>
          <p:cNvSpPr txBox="1">
            <a:spLocks noChangeArrowheads="1"/>
          </p:cNvSpPr>
          <p:nvPr/>
        </p:nvSpPr>
        <p:spPr>
          <a:xfrm>
            <a:off x="912402" y="870107"/>
            <a:ext cx="7431497" cy="4692494"/>
          </a:xfrm>
          <a:prstGeom prst="rect">
            <a:avLst/>
          </a:prstGeom>
          <a:no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20000"/>
              </a:lnSpc>
              <a:spcBef>
                <a:spcPts val="300"/>
              </a:spcBef>
              <a:buClr>
                <a:srgbClr val="0B61FF"/>
              </a:buClr>
              <a:buSzPct val="80000"/>
              <a:buFont typeface="Wingdings" panose="05000000000000000000" pitchFamily="2" charset="2"/>
              <a:buChar char="n"/>
            </a:pPr>
            <a:r>
              <a:rPr lang="en-US" sz="2400" b="1" dirty="0">
                <a:latin typeface="Trebuchet MS" panose="020B0603020202020204" pitchFamily="34" charset="0"/>
              </a:rPr>
              <a:t>Example</a:t>
            </a:r>
            <a:r>
              <a:rPr lang="zh-CN" altLang="en-US" sz="2400" dirty="0">
                <a:latin typeface="Trebuchet MS" panose="020B0603020202020204" pitchFamily="34" charset="0"/>
              </a:rPr>
              <a:t>：</a:t>
            </a:r>
            <a:r>
              <a:rPr lang="en-US" sz="2400" dirty="0">
                <a:latin typeface="Trebuchet MS" panose="020B0603020202020204" pitchFamily="34" charset="0"/>
              </a:rPr>
              <a:t>(as shown in the diagram on the right):</a:t>
            </a:r>
          </a:p>
          <a:p>
            <a:pPr marL="444500" indent="-177800">
              <a:lnSpc>
                <a:spcPct val="120000"/>
              </a:lnSpc>
              <a:spcBef>
                <a:spcPts val="300"/>
              </a:spcBef>
              <a:buClr>
                <a:srgbClr val="0B61FF"/>
              </a:buClr>
              <a:buSzPct val="120000"/>
            </a:pPr>
            <a:r>
              <a:rPr lang="en-US" sz="2400" b="1" i="1" dirty="0">
                <a:latin typeface="Trebuchet MS" panose="020B0603020202020204" pitchFamily="34" charset="0"/>
              </a:rPr>
              <a:t>a</a:t>
            </a:r>
            <a:r>
              <a:rPr lang="en-US" sz="2400" dirty="0">
                <a:latin typeface="Trebuchet MS" panose="020B0603020202020204" pitchFamily="34" charset="0"/>
              </a:rPr>
              <a:t> is the root.</a:t>
            </a:r>
          </a:p>
          <a:p>
            <a:pPr marL="444500" indent="-177800">
              <a:lnSpc>
                <a:spcPct val="120000"/>
              </a:lnSpc>
              <a:spcBef>
                <a:spcPts val="300"/>
              </a:spcBef>
              <a:buClr>
                <a:srgbClr val="0B61FF"/>
              </a:buClr>
              <a:buSzPct val="120000"/>
            </a:pPr>
            <a:r>
              <a:rPr lang="en-US" sz="2400" b="1" i="1" dirty="0" err="1">
                <a:latin typeface="Trebuchet MS" panose="020B0603020202020204" pitchFamily="34" charset="0"/>
              </a:rPr>
              <a:t>b,e,f,h,I</a:t>
            </a:r>
            <a:r>
              <a:rPr lang="en-US" sz="2400" dirty="0">
                <a:latin typeface="Trebuchet MS" panose="020B0603020202020204" pitchFamily="34" charset="0"/>
              </a:rPr>
              <a:t> are the leaves.</a:t>
            </a:r>
          </a:p>
          <a:p>
            <a:pPr marL="444500" indent="-177800">
              <a:lnSpc>
                <a:spcPct val="120000"/>
              </a:lnSpc>
              <a:spcBef>
                <a:spcPts val="300"/>
              </a:spcBef>
              <a:buClr>
                <a:srgbClr val="0B61FF"/>
              </a:buClr>
              <a:buSzPct val="120000"/>
            </a:pPr>
            <a:r>
              <a:rPr lang="en-US" sz="2400" b="1" i="1" dirty="0" err="1">
                <a:latin typeface="Trebuchet MS" panose="020B0603020202020204" pitchFamily="34" charset="0"/>
              </a:rPr>
              <a:t>c,d,g</a:t>
            </a:r>
            <a:r>
              <a:rPr lang="en-US" sz="2400" b="1" i="1" dirty="0">
                <a:latin typeface="Trebuchet MS" panose="020B0603020202020204" pitchFamily="34" charset="0"/>
              </a:rPr>
              <a:t> </a:t>
            </a:r>
            <a:r>
              <a:rPr lang="en-US" sz="2400" dirty="0">
                <a:latin typeface="Trebuchet MS" panose="020B0603020202020204" pitchFamily="34" charset="0"/>
              </a:rPr>
              <a:t>are internal vertices.</a:t>
            </a:r>
          </a:p>
          <a:p>
            <a:pPr marL="444500" indent="-177800">
              <a:lnSpc>
                <a:spcPct val="120000"/>
              </a:lnSpc>
              <a:spcBef>
                <a:spcPts val="300"/>
              </a:spcBef>
              <a:buClr>
                <a:srgbClr val="0B61FF"/>
              </a:buClr>
              <a:buSzPct val="120000"/>
            </a:pPr>
            <a:r>
              <a:rPr lang="en-US" sz="2400" b="1" i="1" dirty="0" err="1">
                <a:latin typeface="Trebuchet MS" panose="020B0603020202020204" pitchFamily="34" charset="0"/>
              </a:rPr>
              <a:t>a,c,d,g</a:t>
            </a:r>
            <a:r>
              <a:rPr lang="en-US" sz="2400" dirty="0">
                <a:latin typeface="Trebuchet MS" panose="020B0603020202020204" pitchFamily="34" charset="0"/>
              </a:rPr>
              <a:t> are branching vertices.</a:t>
            </a:r>
          </a:p>
          <a:p>
            <a:pPr marL="444500" indent="-177800">
              <a:lnSpc>
                <a:spcPct val="120000"/>
              </a:lnSpc>
              <a:spcBef>
                <a:spcPts val="300"/>
              </a:spcBef>
              <a:buClr>
                <a:srgbClr val="0B61FF"/>
              </a:buClr>
              <a:buSzPct val="120000"/>
            </a:pPr>
            <a:r>
              <a:rPr lang="en-US" sz="2400" b="1" i="1" dirty="0">
                <a:latin typeface="Trebuchet MS" panose="020B0603020202020204" pitchFamily="34" charset="0"/>
              </a:rPr>
              <a:t>a</a:t>
            </a:r>
            <a:r>
              <a:rPr lang="en-US" sz="2400" dirty="0">
                <a:latin typeface="Trebuchet MS" panose="020B0603020202020204" pitchFamily="34" charset="0"/>
              </a:rPr>
              <a:t> is at level 0; level 1 contains </a:t>
            </a:r>
            <a:r>
              <a:rPr lang="en-US" sz="2400" b="1" i="1" dirty="0" err="1">
                <a:latin typeface="Trebuchet MS" panose="020B0603020202020204" pitchFamily="34" charset="0"/>
              </a:rPr>
              <a:t>b,c</a:t>
            </a:r>
            <a:r>
              <a:rPr lang="en-US" sz="2400" dirty="0">
                <a:latin typeface="Trebuchet MS" panose="020B0603020202020204" pitchFamily="34" charset="0"/>
              </a:rPr>
              <a:t>; level 2 contains </a:t>
            </a:r>
            <a:r>
              <a:rPr lang="en-US" sz="2400" b="1" i="1" dirty="0" err="1">
                <a:latin typeface="Trebuchet MS" panose="020B0603020202020204" pitchFamily="34" charset="0"/>
              </a:rPr>
              <a:t>d,e,f</a:t>
            </a:r>
            <a:r>
              <a:rPr lang="en-US" sz="2400">
                <a:latin typeface="Trebuchet MS" panose="020B0603020202020204" pitchFamily="34" charset="0"/>
              </a:rPr>
              <a:t>; level </a:t>
            </a:r>
            <a:r>
              <a:rPr lang="en-US" sz="2400" dirty="0">
                <a:latin typeface="Trebuchet MS" panose="020B0603020202020204" pitchFamily="34" charset="0"/>
              </a:rPr>
              <a:t>3 contains </a:t>
            </a:r>
            <a:r>
              <a:rPr lang="en-US" sz="2400" b="1" i="1" dirty="0" err="1">
                <a:latin typeface="Trebuchet MS" panose="020B0603020202020204" pitchFamily="34" charset="0"/>
              </a:rPr>
              <a:t>g,h</a:t>
            </a:r>
            <a:r>
              <a:rPr lang="en-US" sz="2400" dirty="0">
                <a:latin typeface="Trebuchet MS" panose="020B0603020202020204" pitchFamily="34" charset="0"/>
              </a:rPr>
              <a:t>; level 4 contains </a:t>
            </a:r>
            <a:r>
              <a:rPr lang="en-US" sz="2400" b="1" i="1" dirty="0" err="1">
                <a:latin typeface="Trebuchet MS" panose="020B0603020202020204" pitchFamily="34" charset="0"/>
              </a:rPr>
              <a:t>i</a:t>
            </a:r>
            <a:r>
              <a:rPr lang="en-US" sz="2400" dirty="0">
                <a:latin typeface="Trebuchet MS" panose="020B0603020202020204" pitchFamily="34" charset="0"/>
              </a:rPr>
              <a:t>.</a:t>
            </a:r>
          </a:p>
          <a:p>
            <a:pPr marL="444500" indent="-177800">
              <a:lnSpc>
                <a:spcPct val="120000"/>
              </a:lnSpc>
              <a:spcBef>
                <a:spcPts val="300"/>
              </a:spcBef>
              <a:buClr>
                <a:srgbClr val="0B61FF"/>
              </a:buClr>
              <a:buSzPct val="120000"/>
            </a:pPr>
            <a:r>
              <a:rPr lang="en-US" sz="2400" dirty="0">
                <a:latin typeface="Trebuchet MS" panose="020B0603020202020204" pitchFamily="34" charset="0"/>
              </a:rPr>
              <a:t>The height of the tree is 4.</a:t>
            </a:r>
          </a:p>
        </p:txBody>
      </p:sp>
      <p:pic>
        <p:nvPicPr>
          <p:cNvPr id="10" name="Picture 5" descr="16-12(1)">
            <a:extLst>
              <a:ext uri="{FF2B5EF4-FFF2-40B4-BE49-F238E27FC236}">
                <a16:creationId xmlns:a16="http://schemas.microsoft.com/office/drawing/2014/main" id="{791E9AD5-2503-4FBB-B86C-74EDBCFF1935}"/>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8506840" y="1373492"/>
            <a:ext cx="2092325" cy="3810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458997670"/>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9">
                                            <p:txEl>
                                              <p:pRg st="1" end="1"/>
                                            </p:txEl>
                                          </p:spTgt>
                                        </p:tgtEl>
                                        <p:attrNameLst>
                                          <p:attrName>style.visibility</p:attrName>
                                        </p:attrNameLst>
                                      </p:cBhvr>
                                      <p:to>
                                        <p:strVal val="visible"/>
                                      </p:to>
                                    </p:set>
                                    <p:animEffect transition="in" filter="fade">
                                      <p:cBhvr>
                                        <p:cTn id="7" dur="1000"/>
                                        <p:tgtEl>
                                          <p:spTgt spid="9">
                                            <p:txEl>
                                              <p:pRg st="1" end="1"/>
                                            </p:txEl>
                                          </p:spTgt>
                                        </p:tgtEl>
                                      </p:cBhvr>
                                    </p:animEffect>
                                    <p:anim calcmode="lin" valueType="num">
                                      <p:cBhvr>
                                        <p:cTn id="8" dur="1000" fill="hold"/>
                                        <p:tgtEl>
                                          <p:spTgt spid="9">
                                            <p:txEl>
                                              <p:pRg st="1" end="1"/>
                                            </p:txEl>
                                          </p:spTgt>
                                        </p:tgtEl>
                                        <p:attrNameLst>
                                          <p:attrName>ppt_x</p:attrName>
                                        </p:attrNameLst>
                                      </p:cBhvr>
                                      <p:tavLst>
                                        <p:tav tm="0">
                                          <p:val>
                                            <p:strVal val="#ppt_x"/>
                                          </p:val>
                                        </p:tav>
                                        <p:tav tm="100000">
                                          <p:val>
                                            <p:strVal val="#ppt_x"/>
                                          </p:val>
                                        </p:tav>
                                      </p:tavLst>
                                    </p:anim>
                                    <p:anim calcmode="lin" valueType="num">
                                      <p:cBhvr>
                                        <p:cTn id="9" dur="1000" fill="hold"/>
                                        <p:tgtEl>
                                          <p:spTgt spid="9">
                                            <p:txEl>
                                              <p:pRg st="1" end="1"/>
                                            </p:txEl>
                                          </p:spTgt>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9">
                                            <p:txEl>
                                              <p:pRg st="2" end="2"/>
                                            </p:txEl>
                                          </p:spTgt>
                                        </p:tgtEl>
                                        <p:attrNameLst>
                                          <p:attrName>style.visibility</p:attrName>
                                        </p:attrNameLst>
                                      </p:cBhvr>
                                      <p:to>
                                        <p:strVal val="visible"/>
                                      </p:to>
                                    </p:set>
                                    <p:animEffect transition="in" filter="fade">
                                      <p:cBhvr>
                                        <p:cTn id="12" dur="1000"/>
                                        <p:tgtEl>
                                          <p:spTgt spid="9">
                                            <p:txEl>
                                              <p:pRg st="2" end="2"/>
                                            </p:txEl>
                                          </p:spTgt>
                                        </p:tgtEl>
                                      </p:cBhvr>
                                    </p:animEffect>
                                    <p:anim calcmode="lin" valueType="num">
                                      <p:cBhvr>
                                        <p:cTn id="13" dur="1000" fill="hold"/>
                                        <p:tgtEl>
                                          <p:spTgt spid="9">
                                            <p:txEl>
                                              <p:pRg st="2" end="2"/>
                                            </p:txEl>
                                          </p:spTgt>
                                        </p:tgtEl>
                                        <p:attrNameLst>
                                          <p:attrName>ppt_x</p:attrName>
                                        </p:attrNameLst>
                                      </p:cBhvr>
                                      <p:tavLst>
                                        <p:tav tm="0">
                                          <p:val>
                                            <p:strVal val="#ppt_x"/>
                                          </p:val>
                                        </p:tav>
                                        <p:tav tm="100000">
                                          <p:val>
                                            <p:strVal val="#ppt_x"/>
                                          </p:val>
                                        </p:tav>
                                      </p:tavLst>
                                    </p:anim>
                                    <p:anim calcmode="lin" valueType="num">
                                      <p:cBhvr>
                                        <p:cTn id="14" dur="1000" fill="hold"/>
                                        <p:tgtEl>
                                          <p:spTgt spid="9">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42" presetClass="entr" presetSubtype="0" fill="hold" nodeType="clickEffect">
                                  <p:stCondLst>
                                    <p:cond delay="0"/>
                                  </p:stCondLst>
                                  <p:childTnLst>
                                    <p:set>
                                      <p:cBhvr>
                                        <p:cTn id="18" dur="1" fill="hold">
                                          <p:stCondLst>
                                            <p:cond delay="0"/>
                                          </p:stCondLst>
                                        </p:cTn>
                                        <p:tgtEl>
                                          <p:spTgt spid="9">
                                            <p:txEl>
                                              <p:pRg st="3" end="3"/>
                                            </p:txEl>
                                          </p:spTgt>
                                        </p:tgtEl>
                                        <p:attrNameLst>
                                          <p:attrName>style.visibility</p:attrName>
                                        </p:attrNameLst>
                                      </p:cBhvr>
                                      <p:to>
                                        <p:strVal val="visible"/>
                                      </p:to>
                                    </p:set>
                                    <p:animEffect transition="in" filter="fade">
                                      <p:cBhvr>
                                        <p:cTn id="19" dur="1000"/>
                                        <p:tgtEl>
                                          <p:spTgt spid="9">
                                            <p:txEl>
                                              <p:pRg st="3" end="3"/>
                                            </p:txEl>
                                          </p:spTgt>
                                        </p:tgtEl>
                                      </p:cBhvr>
                                    </p:animEffect>
                                    <p:anim calcmode="lin" valueType="num">
                                      <p:cBhvr>
                                        <p:cTn id="20" dur="1000" fill="hold"/>
                                        <p:tgtEl>
                                          <p:spTgt spid="9">
                                            <p:txEl>
                                              <p:pRg st="3" end="3"/>
                                            </p:txEl>
                                          </p:spTgt>
                                        </p:tgtEl>
                                        <p:attrNameLst>
                                          <p:attrName>ppt_x</p:attrName>
                                        </p:attrNameLst>
                                      </p:cBhvr>
                                      <p:tavLst>
                                        <p:tav tm="0">
                                          <p:val>
                                            <p:strVal val="#ppt_x"/>
                                          </p:val>
                                        </p:tav>
                                        <p:tav tm="100000">
                                          <p:val>
                                            <p:strVal val="#ppt_x"/>
                                          </p:val>
                                        </p:tav>
                                      </p:tavLst>
                                    </p:anim>
                                    <p:anim calcmode="lin" valueType="num">
                                      <p:cBhvr>
                                        <p:cTn id="21" dur="1000" fill="hold"/>
                                        <p:tgtEl>
                                          <p:spTgt spid="9">
                                            <p:txEl>
                                              <p:pRg st="3" end="3"/>
                                            </p:txEl>
                                          </p:spTgt>
                                        </p:tgtEl>
                                        <p:attrNameLst>
                                          <p:attrName>ppt_y</p:attrName>
                                        </p:attrNameLst>
                                      </p:cBhvr>
                                      <p:tavLst>
                                        <p:tav tm="0">
                                          <p:val>
                                            <p:strVal val="#ppt_y+.1"/>
                                          </p:val>
                                        </p:tav>
                                        <p:tav tm="100000">
                                          <p:val>
                                            <p:strVal val="#ppt_y"/>
                                          </p:val>
                                        </p:tav>
                                      </p:tavLst>
                                    </p:anim>
                                  </p:childTnLst>
                                </p:cTn>
                              </p:par>
                              <p:par>
                                <p:cTn id="22" presetID="42" presetClass="entr" presetSubtype="0" fill="hold" nodeType="withEffect">
                                  <p:stCondLst>
                                    <p:cond delay="0"/>
                                  </p:stCondLst>
                                  <p:childTnLst>
                                    <p:set>
                                      <p:cBhvr>
                                        <p:cTn id="23" dur="1" fill="hold">
                                          <p:stCondLst>
                                            <p:cond delay="0"/>
                                          </p:stCondLst>
                                        </p:cTn>
                                        <p:tgtEl>
                                          <p:spTgt spid="9">
                                            <p:txEl>
                                              <p:pRg st="4" end="4"/>
                                            </p:txEl>
                                          </p:spTgt>
                                        </p:tgtEl>
                                        <p:attrNameLst>
                                          <p:attrName>style.visibility</p:attrName>
                                        </p:attrNameLst>
                                      </p:cBhvr>
                                      <p:to>
                                        <p:strVal val="visible"/>
                                      </p:to>
                                    </p:set>
                                    <p:animEffect transition="in" filter="fade">
                                      <p:cBhvr>
                                        <p:cTn id="24" dur="1000"/>
                                        <p:tgtEl>
                                          <p:spTgt spid="9">
                                            <p:txEl>
                                              <p:pRg st="4" end="4"/>
                                            </p:txEl>
                                          </p:spTgt>
                                        </p:tgtEl>
                                      </p:cBhvr>
                                    </p:animEffect>
                                    <p:anim calcmode="lin" valueType="num">
                                      <p:cBhvr>
                                        <p:cTn id="25" dur="1000" fill="hold"/>
                                        <p:tgtEl>
                                          <p:spTgt spid="9">
                                            <p:txEl>
                                              <p:pRg st="4" end="4"/>
                                            </p:txEl>
                                          </p:spTgt>
                                        </p:tgtEl>
                                        <p:attrNameLst>
                                          <p:attrName>ppt_x</p:attrName>
                                        </p:attrNameLst>
                                      </p:cBhvr>
                                      <p:tavLst>
                                        <p:tav tm="0">
                                          <p:val>
                                            <p:strVal val="#ppt_x"/>
                                          </p:val>
                                        </p:tav>
                                        <p:tav tm="100000">
                                          <p:val>
                                            <p:strVal val="#ppt_x"/>
                                          </p:val>
                                        </p:tav>
                                      </p:tavLst>
                                    </p:anim>
                                    <p:anim calcmode="lin" valueType="num">
                                      <p:cBhvr>
                                        <p:cTn id="26" dur="1000" fill="hold"/>
                                        <p:tgtEl>
                                          <p:spTgt spid="9">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42" presetClass="entr" presetSubtype="0" fill="hold" nodeType="clickEffect">
                                  <p:stCondLst>
                                    <p:cond delay="0"/>
                                  </p:stCondLst>
                                  <p:childTnLst>
                                    <p:set>
                                      <p:cBhvr>
                                        <p:cTn id="30" dur="1" fill="hold">
                                          <p:stCondLst>
                                            <p:cond delay="0"/>
                                          </p:stCondLst>
                                        </p:cTn>
                                        <p:tgtEl>
                                          <p:spTgt spid="9">
                                            <p:txEl>
                                              <p:pRg st="5" end="5"/>
                                            </p:txEl>
                                          </p:spTgt>
                                        </p:tgtEl>
                                        <p:attrNameLst>
                                          <p:attrName>style.visibility</p:attrName>
                                        </p:attrNameLst>
                                      </p:cBhvr>
                                      <p:to>
                                        <p:strVal val="visible"/>
                                      </p:to>
                                    </p:set>
                                    <p:animEffect transition="in" filter="fade">
                                      <p:cBhvr>
                                        <p:cTn id="31" dur="1000"/>
                                        <p:tgtEl>
                                          <p:spTgt spid="9">
                                            <p:txEl>
                                              <p:pRg st="5" end="5"/>
                                            </p:txEl>
                                          </p:spTgt>
                                        </p:tgtEl>
                                      </p:cBhvr>
                                    </p:animEffect>
                                    <p:anim calcmode="lin" valueType="num">
                                      <p:cBhvr>
                                        <p:cTn id="32" dur="1000" fill="hold"/>
                                        <p:tgtEl>
                                          <p:spTgt spid="9">
                                            <p:txEl>
                                              <p:pRg st="5" end="5"/>
                                            </p:txEl>
                                          </p:spTgt>
                                        </p:tgtEl>
                                        <p:attrNameLst>
                                          <p:attrName>ppt_x</p:attrName>
                                        </p:attrNameLst>
                                      </p:cBhvr>
                                      <p:tavLst>
                                        <p:tav tm="0">
                                          <p:val>
                                            <p:strVal val="#ppt_x"/>
                                          </p:val>
                                        </p:tav>
                                        <p:tav tm="100000">
                                          <p:val>
                                            <p:strVal val="#ppt_x"/>
                                          </p:val>
                                        </p:tav>
                                      </p:tavLst>
                                    </p:anim>
                                    <p:anim calcmode="lin" valueType="num">
                                      <p:cBhvr>
                                        <p:cTn id="33" dur="1000" fill="hold"/>
                                        <p:tgtEl>
                                          <p:spTgt spid="9">
                                            <p:txEl>
                                              <p:pRg st="5" end="5"/>
                                            </p:txEl>
                                          </p:spTgt>
                                        </p:tgtEl>
                                        <p:attrNameLst>
                                          <p:attrName>ppt_y</p:attrName>
                                        </p:attrNameLst>
                                      </p:cBhvr>
                                      <p:tavLst>
                                        <p:tav tm="0">
                                          <p:val>
                                            <p:strVal val="#ppt_y+.1"/>
                                          </p:val>
                                        </p:tav>
                                        <p:tav tm="100000">
                                          <p:val>
                                            <p:strVal val="#ppt_y"/>
                                          </p:val>
                                        </p:tav>
                                      </p:tavLst>
                                    </p:anim>
                                  </p:childTnLst>
                                </p:cTn>
                              </p:par>
                            </p:childTnLst>
                          </p:cTn>
                        </p:par>
                      </p:childTnLst>
                    </p:cTn>
                  </p:par>
                  <p:par>
                    <p:cTn id="34" fill="hold">
                      <p:stCondLst>
                        <p:cond delay="indefinite"/>
                      </p:stCondLst>
                      <p:childTnLst>
                        <p:par>
                          <p:cTn id="35" fill="hold">
                            <p:stCondLst>
                              <p:cond delay="0"/>
                            </p:stCondLst>
                            <p:childTnLst>
                              <p:par>
                                <p:cTn id="36" presetID="42" presetClass="entr" presetSubtype="0" fill="hold" nodeType="clickEffect">
                                  <p:stCondLst>
                                    <p:cond delay="0"/>
                                  </p:stCondLst>
                                  <p:childTnLst>
                                    <p:set>
                                      <p:cBhvr>
                                        <p:cTn id="37" dur="1" fill="hold">
                                          <p:stCondLst>
                                            <p:cond delay="0"/>
                                          </p:stCondLst>
                                        </p:cTn>
                                        <p:tgtEl>
                                          <p:spTgt spid="9">
                                            <p:txEl>
                                              <p:pRg st="6" end="6"/>
                                            </p:txEl>
                                          </p:spTgt>
                                        </p:tgtEl>
                                        <p:attrNameLst>
                                          <p:attrName>style.visibility</p:attrName>
                                        </p:attrNameLst>
                                      </p:cBhvr>
                                      <p:to>
                                        <p:strVal val="visible"/>
                                      </p:to>
                                    </p:set>
                                    <p:animEffect transition="in" filter="fade">
                                      <p:cBhvr>
                                        <p:cTn id="38" dur="1000"/>
                                        <p:tgtEl>
                                          <p:spTgt spid="9">
                                            <p:txEl>
                                              <p:pRg st="6" end="6"/>
                                            </p:txEl>
                                          </p:spTgt>
                                        </p:tgtEl>
                                      </p:cBhvr>
                                    </p:animEffect>
                                    <p:anim calcmode="lin" valueType="num">
                                      <p:cBhvr>
                                        <p:cTn id="39" dur="1000" fill="hold"/>
                                        <p:tgtEl>
                                          <p:spTgt spid="9">
                                            <p:txEl>
                                              <p:pRg st="6" end="6"/>
                                            </p:txEl>
                                          </p:spTgt>
                                        </p:tgtEl>
                                        <p:attrNameLst>
                                          <p:attrName>ppt_x</p:attrName>
                                        </p:attrNameLst>
                                      </p:cBhvr>
                                      <p:tavLst>
                                        <p:tav tm="0">
                                          <p:val>
                                            <p:strVal val="#ppt_x"/>
                                          </p:val>
                                        </p:tav>
                                        <p:tav tm="100000">
                                          <p:val>
                                            <p:strVal val="#ppt_x"/>
                                          </p:val>
                                        </p:tav>
                                      </p:tavLst>
                                    </p:anim>
                                    <p:anim calcmode="lin" valueType="num">
                                      <p:cBhvr>
                                        <p:cTn id="40" dur="1000" fill="hold"/>
                                        <p:tgtEl>
                                          <p:spTgt spid="9">
                                            <p:txEl>
                                              <p:pRg st="6" end="6"/>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0" y="0"/>
            <a:ext cx="12192000" cy="762000"/>
          </a:xfrm>
          <a:prstGeom prst="rect">
            <a:avLst/>
          </a:prstGeom>
          <a:solidFill>
            <a:srgbClr val="002F7C"/>
          </a:solidFill>
        </p:spPr>
        <p:style>
          <a:lnRef idx="2">
            <a:schemeClr val="dk1">
              <a:shade val="50000"/>
            </a:schemeClr>
          </a:lnRef>
          <a:fillRef idx="1">
            <a:schemeClr val="dk1"/>
          </a:fillRef>
          <a:effectRef idx="0">
            <a:schemeClr val="dk1"/>
          </a:effectRef>
          <a:fontRef idx="minor">
            <a:schemeClr val="lt1"/>
          </a:fontRef>
        </p:style>
        <p:txBody>
          <a:bodyPr rtlCol="0" anchor="ctr"/>
          <a:lstStyle/>
          <a:p>
            <a:pPr>
              <a:lnSpc>
                <a:spcPct val="120000"/>
              </a:lnSpc>
              <a:spcBef>
                <a:spcPts val="600"/>
              </a:spcBef>
              <a:buClr>
                <a:srgbClr val="0B61FF"/>
              </a:buClr>
              <a:buSzPct val="80000"/>
            </a:pPr>
            <a:r>
              <a:rPr lang="zh-CN" altLang="en-US" sz="2000" b="1" dirty="0">
                <a:latin typeface="Times New Roman" panose="02020603050405020304" pitchFamily="18" charset="0"/>
                <a:ea typeface="宋体" panose="02010600030101010101" pitchFamily="2" charset="-122"/>
                <a:cs typeface="Times New Roman" panose="02020603050405020304" pitchFamily="18" charset="0"/>
              </a:rPr>
              <a:t>                </a:t>
            </a:r>
            <a:r>
              <a:rPr lang="en-US" altLang="zh-CN" sz="2000" b="1" dirty="0">
                <a:latin typeface="Trebuchet MS" panose="020B0603020202020204" pitchFamily="34" charset="0"/>
              </a:rPr>
              <a:t>7.2.1 Rooted Trees and Their Classifications</a:t>
            </a:r>
          </a:p>
          <a:p>
            <a:r>
              <a:rPr lang="en-US" altLang="zh-CN" sz="2000" b="1" dirty="0">
                <a:latin typeface="Times New Roman" panose="02020603050405020304" pitchFamily="18" charset="0"/>
                <a:cs typeface="Times New Roman" panose="02020603050405020304" pitchFamily="18" charset="0"/>
              </a:rPr>
              <a:t>                  </a:t>
            </a:r>
            <a:r>
              <a:rPr lang="en-US" altLang="zh-CN" sz="2400" b="1" dirty="0">
                <a:solidFill>
                  <a:srgbClr val="C00000"/>
                </a:solidFill>
                <a:latin typeface="Cambria Math" panose="02040503050406030204" pitchFamily="18" charset="0"/>
                <a:ea typeface="Cambria Math" panose="02040503050406030204" pitchFamily="18" charset="0"/>
                <a:cs typeface="Times New Roman" panose="02020603050405020304" pitchFamily="18" charset="0"/>
              </a:rPr>
              <a:t>⤷</a:t>
            </a:r>
            <a:r>
              <a:rPr lang="zh-CN" altLang="en-US" sz="2000" b="1" dirty="0"/>
              <a:t> </a:t>
            </a:r>
            <a:r>
              <a:rPr lang="en-US" altLang="zh-CN" sz="2400" b="1" dirty="0">
                <a:latin typeface="Trebuchet MS" panose="020B0603020202020204" pitchFamily="34" charset="0"/>
              </a:rPr>
              <a:t>Viewing a Rooted Tree as a Family Tree</a:t>
            </a:r>
            <a:endParaRPr lang="zh-CN" altLang="en-US" sz="2400" b="1" dirty="0">
              <a:solidFill>
                <a:srgbClr val="3D557A"/>
              </a:solidFill>
              <a:highlight>
                <a:srgbClr val="FF0000"/>
              </a:highlight>
              <a:latin typeface="Trebuchet MS" panose="020B0603020202020204" pitchFamily="34" charset="0"/>
            </a:endParaRPr>
          </a:p>
        </p:txBody>
      </p:sp>
      <p:sp>
        <p:nvSpPr>
          <p:cNvPr id="13" name="矩形 12"/>
          <p:cNvSpPr/>
          <p:nvPr/>
        </p:nvSpPr>
        <p:spPr>
          <a:xfrm>
            <a:off x="824682" y="0"/>
            <a:ext cx="175443" cy="628650"/>
          </a:xfrm>
          <a:prstGeom prst="rect">
            <a:avLst/>
          </a:prstGeom>
          <a:solidFill>
            <a:srgbClr val="CFA57C"/>
          </a:solidFill>
          <a:ln cmpd="sng">
            <a:gradFill flip="none" rotWithShape="1">
              <a:gsLst>
                <a:gs pos="50000">
                  <a:schemeClr val="accent2">
                    <a:lumMod val="60000"/>
                    <a:lumOff val="40000"/>
                  </a:schemeClr>
                </a:gs>
                <a:gs pos="0">
                  <a:schemeClr val="accent2">
                    <a:lumMod val="20000"/>
                    <a:lumOff val="80000"/>
                  </a:schemeClr>
                </a:gs>
                <a:gs pos="95000">
                  <a:schemeClr val="accent2"/>
                </a:gs>
              </a:gsLst>
              <a:path path="circle">
                <a:fillToRect l="50000" t="-80000" r="50000" b="180000"/>
              </a:path>
              <a:tileRect/>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22" name="Picture 6" descr="D:\MBA工作\LOGO\同济经管LOGO反白.png"/>
          <p:cNvPicPr>
            <a:picLocks noChangeAspect="1" noChangeArrowheads="1"/>
          </p:cNvPicPr>
          <p:nvPr/>
        </p:nvPicPr>
        <p:blipFill>
          <a:blip r:embed="rId3" cstate="email">
            <a:extLst>
              <a:ext uri="{28A0092B-C50C-407E-A947-70E740481C1C}">
                <a14:useLocalDpi xmlns:a14="http://schemas.microsoft.com/office/drawing/2010/main" val="0"/>
              </a:ext>
            </a:extLst>
          </a:blip>
          <a:srcRect/>
          <a:stretch>
            <a:fillRect/>
          </a:stretch>
        </p:blipFill>
        <p:spPr bwMode="auto">
          <a:xfrm>
            <a:off x="10267423" y="165688"/>
            <a:ext cx="1386605" cy="462962"/>
          </a:xfrm>
          <a:prstGeom prst="rect">
            <a:avLst/>
          </a:prstGeom>
          <a:noFill/>
          <a:extLst>
            <a:ext uri="{909E8E84-426E-40DD-AFC4-6F175D3DCCD1}">
              <a14:hiddenFill xmlns:a14="http://schemas.microsoft.com/office/drawing/2010/main">
                <a:solidFill>
                  <a:srgbClr val="FFFFFF"/>
                </a:solidFill>
              </a14:hiddenFill>
            </a:ext>
          </a:extLst>
        </p:spPr>
      </p:pic>
      <p:pic>
        <p:nvPicPr>
          <p:cNvPr id="2" name="图片 1" descr="微信图片_20220318113523"/>
          <p:cNvPicPr>
            <a:picLocks noChangeAspect="1"/>
          </p:cNvPicPr>
          <p:nvPr userDrawn="1"/>
        </p:nvPicPr>
        <p:blipFill>
          <a:blip r:embed="rId4"/>
          <a:stretch>
            <a:fillRect/>
          </a:stretch>
        </p:blipFill>
        <p:spPr>
          <a:xfrm>
            <a:off x="9291877" y="6115050"/>
            <a:ext cx="2244725" cy="361315"/>
          </a:xfrm>
          <a:prstGeom prst="rect">
            <a:avLst/>
          </a:prstGeom>
        </p:spPr>
      </p:pic>
      <p:sp>
        <p:nvSpPr>
          <p:cNvPr id="18" name="Rectangle 2">
            <a:extLst>
              <a:ext uri="{FF2B5EF4-FFF2-40B4-BE49-F238E27FC236}">
                <a16:creationId xmlns:a16="http://schemas.microsoft.com/office/drawing/2014/main" id="{E217C615-1D49-4D07-B850-D36106D7AA9A}"/>
              </a:ext>
            </a:extLst>
          </p:cNvPr>
          <p:cNvSpPr>
            <a:spLocks noChangeArrowheads="1"/>
          </p:cNvSpPr>
          <p:nvPr/>
        </p:nvSpPr>
        <p:spPr bwMode="auto">
          <a:xfrm>
            <a:off x="1000125" y="815365"/>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8" name="Rectangle 3">
            <a:extLst>
              <a:ext uri="{FF2B5EF4-FFF2-40B4-BE49-F238E27FC236}">
                <a16:creationId xmlns:a16="http://schemas.microsoft.com/office/drawing/2014/main" id="{97F08C45-3D15-45C1-A5A3-D1EB58DC91FE}"/>
              </a:ext>
            </a:extLst>
          </p:cNvPr>
          <p:cNvSpPr txBox="1">
            <a:spLocks noChangeArrowheads="1"/>
          </p:cNvSpPr>
          <p:nvPr/>
        </p:nvSpPr>
        <p:spPr>
          <a:xfrm>
            <a:off x="1000125" y="914401"/>
            <a:ext cx="9877336" cy="5128234"/>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R="0" lvl="0" algn="l" defTabSz="914400" rtl="0" eaLnBrk="0" fontAlgn="base" latinLnBrk="0" hangingPunct="0">
              <a:lnSpc>
                <a:spcPct val="120000"/>
              </a:lnSpc>
              <a:spcBef>
                <a:spcPct val="0"/>
              </a:spcBef>
              <a:spcAft>
                <a:spcPct val="0"/>
              </a:spcAft>
              <a:buClr>
                <a:srgbClr val="0B61FF"/>
              </a:buClr>
              <a:buSzPct val="80000"/>
              <a:buFont typeface="Wingdings" panose="05000000000000000000" pitchFamily="2" charset="2"/>
              <a:buChar char="n"/>
              <a:tabLst/>
            </a:pPr>
            <a:r>
              <a:rPr kumimoji="0" lang="en-US" altLang="en-US" sz="2400" b="0" i="0" u="none" strike="noStrike" cap="none" normalizeH="0" baseline="0" dirty="0">
                <a:ln>
                  <a:noFill/>
                </a:ln>
                <a:solidFill>
                  <a:schemeClr val="tx1"/>
                </a:solidFill>
                <a:effectLst/>
                <a:latin typeface="Trebuchet MS" panose="020B0603020202020204" pitchFamily="34" charset="0"/>
              </a:rPr>
              <a:t>If vertex </a:t>
            </a:r>
            <a:r>
              <a:rPr kumimoji="0" lang="en-US" altLang="en-US" sz="2400" b="1" i="1" u="none" strike="noStrike" cap="none" normalizeH="0" baseline="0" dirty="0">
                <a:ln>
                  <a:noFill/>
                </a:ln>
                <a:solidFill>
                  <a:schemeClr val="tx1"/>
                </a:solidFill>
                <a:effectLst/>
                <a:latin typeface="Trebuchet MS" panose="020B0603020202020204" pitchFamily="34" charset="0"/>
              </a:rPr>
              <a:t>a</a:t>
            </a:r>
            <a:r>
              <a:rPr kumimoji="0" lang="en-US" altLang="en-US" sz="2400" b="0" i="0" u="none" strike="noStrike" cap="none" normalizeH="0" baseline="0" dirty="0">
                <a:ln>
                  <a:noFill/>
                </a:ln>
                <a:solidFill>
                  <a:schemeClr val="tx1"/>
                </a:solidFill>
                <a:effectLst/>
                <a:latin typeface="Trebuchet MS" panose="020B0603020202020204" pitchFamily="34" charset="0"/>
              </a:rPr>
              <a:t> is adjacent to vertex </a:t>
            </a:r>
            <a:r>
              <a:rPr kumimoji="0" lang="en-US" altLang="en-US" sz="2400" b="1" i="1" u="none" strike="noStrike" cap="none" normalizeH="0" baseline="0" dirty="0">
                <a:ln>
                  <a:noFill/>
                </a:ln>
                <a:solidFill>
                  <a:schemeClr val="tx1"/>
                </a:solidFill>
                <a:effectLst/>
                <a:latin typeface="Trebuchet MS" panose="020B0603020202020204" pitchFamily="34" charset="0"/>
              </a:rPr>
              <a:t>b</a:t>
            </a:r>
            <a:r>
              <a:rPr kumimoji="0" lang="en-US" altLang="en-US" sz="2400" b="0" i="0" u="none" strike="noStrike" cap="none" normalizeH="0" baseline="0" dirty="0">
                <a:ln>
                  <a:noFill/>
                </a:ln>
                <a:solidFill>
                  <a:schemeClr val="tx1"/>
                </a:solidFill>
                <a:effectLst/>
                <a:latin typeface="Trebuchet MS" panose="020B0603020202020204" pitchFamily="34" charset="0"/>
              </a:rPr>
              <a:t>, then </a:t>
            </a:r>
            <a:r>
              <a:rPr kumimoji="0" lang="en-US" altLang="en-US" sz="2400" b="1" i="1" u="none" strike="noStrike" cap="none" normalizeH="0" baseline="0" dirty="0">
                <a:ln>
                  <a:noFill/>
                </a:ln>
                <a:solidFill>
                  <a:schemeClr val="tx1"/>
                </a:solidFill>
                <a:effectLst/>
                <a:latin typeface="Trebuchet MS" panose="020B0603020202020204" pitchFamily="34" charset="0"/>
              </a:rPr>
              <a:t>b</a:t>
            </a:r>
            <a:r>
              <a:rPr kumimoji="0" lang="en-US" altLang="en-US" sz="2400" b="0" i="0" u="none" strike="noStrike" cap="none" normalizeH="0" baseline="0" dirty="0">
                <a:ln>
                  <a:noFill/>
                </a:ln>
                <a:solidFill>
                  <a:schemeClr val="tx1"/>
                </a:solidFill>
                <a:effectLst/>
                <a:latin typeface="Trebuchet MS" panose="020B0603020202020204" pitchFamily="34" charset="0"/>
              </a:rPr>
              <a:t> is called the </a:t>
            </a:r>
            <a:r>
              <a:rPr kumimoji="0" lang="en-US" altLang="en-US" sz="2400" b="1" i="1" u="none" strike="noStrike" cap="none" normalizeH="0" baseline="0" dirty="0">
                <a:ln>
                  <a:noFill/>
                </a:ln>
                <a:solidFill>
                  <a:srgbClr val="0B61FF"/>
                </a:solidFill>
                <a:effectLst/>
                <a:latin typeface="Trebuchet MS" panose="020B0603020202020204" pitchFamily="34" charset="0"/>
              </a:rPr>
              <a:t>child</a:t>
            </a:r>
            <a:r>
              <a:rPr kumimoji="0" lang="en-US" altLang="en-US" sz="2400" b="0" i="0" u="none" strike="noStrike" cap="none" normalizeH="0" baseline="0" dirty="0">
                <a:ln>
                  <a:noFill/>
                </a:ln>
                <a:solidFill>
                  <a:schemeClr val="tx1"/>
                </a:solidFill>
                <a:effectLst/>
                <a:latin typeface="Trebuchet MS" panose="020B0603020202020204" pitchFamily="34" charset="0"/>
              </a:rPr>
              <a:t> of </a:t>
            </a:r>
            <a:r>
              <a:rPr kumimoji="0" lang="en-US" altLang="en-US" sz="2400" b="1" i="1" u="none" strike="noStrike" cap="none" normalizeH="0" baseline="0" dirty="0">
                <a:ln>
                  <a:noFill/>
                </a:ln>
                <a:solidFill>
                  <a:schemeClr val="tx1"/>
                </a:solidFill>
                <a:effectLst/>
                <a:latin typeface="Trebuchet MS" panose="020B0603020202020204" pitchFamily="34" charset="0"/>
              </a:rPr>
              <a:t>a</a:t>
            </a:r>
            <a:r>
              <a:rPr kumimoji="0" lang="en-US" altLang="en-US" sz="2400" b="0" i="0" u="none" strike="noStrike" cap="none" normalizeH="0" baseline="0" dirty="0">
                <a:ln>
                  <a:noFill/>
                </a:ln>
                <a:solidFill>
                  <a:schemeClr val="tx1"/>
                </a:solidFill>
                <a:effectLst/>
                <a:latin typeface="Trebuchet MS" panose="020B0603020202020204" pitchFamily="34" charset="0"/>
              </a:rPr>
              <a:t>, and </a:t>
            </a:r>
            <a:r>
              <a:rPr kumimoji="0" lang="en-US" altLang="en-US" sz="2400" b="1" i="1" u="none" strike="noStrike" cap="none" normalizeH="0" baseline="0" dirty="0">
                <a:ln>
                  <a:noFill/>
                </a:ln>
                <a:solidFill>
                  <a:schemeClr val="tx1"/>
                </a:solidFill>
                <a:effectLst/>
                <a:latin typeface="Trebuchet MS" panose="020B0603020202020204" pitchFamily="34" charset="0"/>
              </a:rPr>
              <a:t>a</a:t>
            </a:r>
            <a:r>
              <a:rPr kumimoji="0" lang="en-US" altLang="en-US" sz="2400" b="0" i="0" u="none" strike="noStrike" cap="none" normalizeH="0" baseline="0" dirty="0">
                <a:ln>
                  <a:noFill/>
                </a:ln>
                <a:solidFill>
                  <a:schemeClr val="tx1"/>
                </a:solidFill>
                <a:effectLst/>
                <a:latin typeface="Trebuchet MS" panose="020B0603020202020204" pitchFamily="34" charset="0"/>
              </a:rPr>
              <a:t> is the </a:t>
            </a:r>
            <a:r>
              <a:rPr lang="en-US" altLang="en-US" sz="2400" b="1" i="1" dirty="0">
                <a:solidFill>
                  <a:srgbClr val="0B61FF"/>
                </a:solidFill>
                <a:latin typeface="Trebuchet MS" panose="020B0603020202020204" pitchFamily="34" charset="0"/>
              </a:rPr>
              <a:t>parent</a:t>
            </a:r>
            <a:r>
              <a:rPr kumimoji="0" lang="en-US" altLang="en-US" sz="2400" b="0" i="0" u="none" strike="noStrike" cap="none" normalizeH="0" baseline="0" dirty="0">
                <a:ln>
                  <a:noFill/>
                </a:ln>
                <a:solidFill>
                  <a:schemeClr val="tx1"/>
                </a:solidFill>
                <a:effectLst/>
                <a:latin typeface="Trebuchet MS" panose="020B0603020202020204" pitchFamily="34" charset="0"/>
              </a:rPr>
              <a:t> of </a:t>
            </a:r>
            <a:r>
              <a:rPr kumimoji="0" lang="en-US" altLang="en-US" sz="2400" b="1" i="1" u="none" strike="noStrike" cap="none" normalizeH="0" baseline="0" dirty="0">
                <a:ln>
                  <a:noFill/>
                </a:ln>
                <a:solidFill>
                  <a:schemeClr val="tx1"/>
                </a:solidFill>
                <a:effectLst/>
                <a:latin typeface="Trebuchet MS" panose="020B0603020202020204" pitchFamily="34" charset="0"/>
              </a:rPr>
              <a:t>b</a:t>
            </a:r>
            <a:r>
              <a:rPr kumimoji="0" lang="en-US" altLang="en-US" sz="2400" b="0" i="0" u="none" strike="noStrike" cap="none" normalizeH="0" baseline="0" dirty="0">
                <a:ln>
                  <a:noFill/>
                </a:ln>
                <a:solidFill>
                  <a:schemeClr val="tx1"/>
                </a:solidFill>
                <a:effectLst/>
                <a:latin typeface="Trebuchet MS" panose="020B0603020202020204" pitchFamily="34" charset="0"/>
              </a:rPr>
              <a:t>.</a:t>
            </a:r>
          </a:p>
          <a:p>
            <a:pPr marR="0" lvl="0" algn="l" defTabSz="914400" rtl="0" eaLnBrk="0" fontAlgn="base" latinLnBrk="0" hangingPunct="0">
              <a:lnSpc>
                <a:spcPct val="120000"/>
              </a:lnSpc>
              <a:spcBef>
                <a:spcPct val="0"/>
              </a:spcBef>
              <a:spcAft>
                <a:spcPct val="0"/>
              </a:spcAft>
              <a:buClr>
                <a:srgbClr val="0B61FF"/>
              </a:buClr>
              <a:buSzPct val="80000"/>
              <a:buFont typeface="Wingdings" panose="05000000000000000000" pitchFamily="2" charset="2"/>
              <a:buChar char="n"/>
              <a:tabLst/>
            </a:pPr>
            <a:r>
              <a:rPr kumimoji="0" lang="en-US" altLang="en-US" sz="2400" b="0" i="0" u="none" strike="noStrike" cap="none" normalizeH="0" baseline="0" dirty="0">
                <a:ln>
                  <a:noFill/>
                </a:ln>
                <a:solidFill>
                  <a:schemeClr val="tx1"/>
                </a:solidFill>
                <a:effectLst/>
                <a:latin typeface="Trebuchet MS" panose="020B0603020202020204" pitchFamily="34" charset="0"/>
              </a:rPr>
              <a:t>If </a:t>
            </a:r>
            <a:r>
              <a:rPr kumimoji="0" lang="en-US" altLang="en-US" sz="2400" b="1" i="1" u="none" strike="noStrike" cap="none" normalizeH="0" baseline="0" dirty="0">
                <a:ln>
                  <a:noFill/>
                </a:ln>
                <a:solidFill>
                  <a:schemeClr val="tx1"/>
                </a:solidFill>
                <a:effectLst/>
                <a:latin typeface="Trebuchet MS" panose="020B0603020202020204" pitchFamily="34" charset="0"/>
              </a:rPr>
              <a:t>b</a:t>
            </a:r>
            <a:r>
              <a:rPr kumimoji="0" lang="en-US" altLang="en-US" sz="2400" b="0" i="0" u="none" strike="noStrike" cap="none" normalizeH="0" baseline="0" dirty="0">
                <a:ln>
                  <a:noFill/>
                </a:ln>
                <a:solidFill>
                  <a:schemeClr val="tx1"/>
                </a:solidFill>
                <a:effectLst/>
                <a:latin typeface="Trebuchet MS" panose="020B0603020202020204" pitchFamily="34" charset="0"/>
              </a:rPr>
              <a:t> and </a:t>
            </a:r>
            <a:r>
              <a:rPr kumimoji="0" lang="en-US" altLang="en-US" sz="2400" b="1" i="1" u="none" strike="noStrike" cap="none" normalizeH="0" baseline="0" dirty="0">
                <a:ln>
                  <a:noFill/>
                </a:ln>
                <a:solidFill>
                  <a:schemeClr val="tx1"/>
                </a:solidFill>
                <a:effectLst/>
                <a:latin typeface="Trebuchet MS" panose="020B0603020202020204" pitchFamily="34" charset="0"/>
              </a:rPr>
              <a:t>c</a:t>
            </a:r>
            <a:r>
              <a:rPr kumimoji="0" lang="en-US" altLang="en-US" sz="2400" b="0" i="0" u="none" strike="noStrike" cap="none" normalizeH="0" baseline="0" dirty="0">
                <a:ln>
                  <a:noFill/>
                </a:ln>
                <a:solidFill>
                  <a:schemeClr val="tx1"/>
                </a:solidFill>
                <a:effectLst/>
                <a:latin typeface="Trebuchet MS" panose="020B0603020202020204" pitchFamily="34" charset="0"/>
              </a:rPr>
              <a:t> are both children of the same vertex, they are called </a:t>
            </a:r>
            <a:r>
              <a:rPr lang="en-US" altLang="en-US" sz="2400" b="1" i="1" dirty="0">
                <a:solidFill>
                  <a:srgbClr val="0B61FF"/>
                </a:solidFill>
                <a:latin typeface="Trebuchet MS" panose="020B0603020202020204" pitchFamily="34" charset="0"/>
              </a:rPr>
              <a:t>siblings</a:t>
            </a:r>
            <a:r>
              <a:rPr kumimoji="0" lang="en-US" altLang="en-US" sz="2400" b="0" i="0" u="none" strike="noStrike" cap="none" normalizeH="0" baseline="0" dirty="0">
                <a:ln>
                  <a:noFill/>
                </a:ln>
                <a:solidFill>
                  <a:schemeClr val="tx1"/>
                </a:solidFill>
                <a:effectLst/>
                <a:latin typeface="Trebuchet MS" panose="020B0603020202020204" pitchFamily="34" charset="0"/>
              </a:rPr>
              <a:t>.</a:t>
            </a:r>
          </a:p>
          <a:p>
            <a:pPr marR="0" lvl="0" algn="l" defTabSz="914400" rtl="0" eaLnBrk="0" fontAlgn="base" latinLnBrk="0" hangingPunct="0">
              <a:lnSpc>
                <a:spcPct val="120000"/>
              </a:lnSpc>
              <a:spcBef>
                <a:spcPct val="0"/>
              </a:spcBef>
              <a:spcAft>
                <a:spcPct val="0"/>
              </a:spcAft>
              <a:buClr>
                <a:srgbClr val="0B61FF"/>
              </a:buClr>
              <a:buSzPct val="80000"/>
              <a:buFont typeface="Wingdings" panose="05000000000000000000" pitchFamily="2" charset="2"/>
              <a:buChar char="n"/>
              <a:tabLst/>
            </a:pPr>
            <a:r>
              <a:rPr kumimoji="0" lang="en-US" altLang="en-US" sz="2400" b="0" i="0" u="none" strike="noStrike" cap="none" normalizeH="0" baseline="0" dirty="0">
                <a:ln>
                  <a:noFill/>
                </a:ln>
                <a:solidFill>
                  <a:schemeClr val="tx1"/>
                </a:solidFill>
                <a:effectLst/>
                <a:latin typeface="Trebuchet MS" panose="020B0603020202020204" pitchFamily="34" charset="0"/>
              </a:rPr>
              <a:t>If </a:t>
            </a:r>
            <a:r>
              <a:rPr kumimoji="0" lang="en-US" altLang="en-US" sz="2400" b="1" i="1" u="none" strike="noStrike" cap="none" normalizeH="0" baseline="0" dirty="0" err="1">
                <a:ln>
                  <a:noFill/>
                </a:ln>
                <a:solidFill>
                  <a:schemeClr val="tx1"/>
                </a:solidFill>
                <a:effectLst/>
                <a:latin typeface="Trebuchet MS" panose="020B0603020202020204" pitchFamily="34" charset="0"/>
              </a:rPr>
              <a:t>a</a:t>
            </a:r>
            <a:r>
              <a:rPr kumimoji="0" lang="en-US" altLang="en-US" sz="2400" b="1" i="0" u="none" strike="noStrike" cap="none" normalizeH="0" baseline="0" dirty="0" err="1">
                <a:ln>
                  <a:noFill/>
                </a:ln>
                <a:solidFill>
                  <a:schemeClr val="tx1"/>
                </a:solidFill>
                <a:effectLst/>
                <a:latin typeface="Trebuchet MS" panose="020B0603020202020204" pitchFamily="34" charset="0"/>
              </a:rPr>
              <a:t>≠</a:t>
            </a:r>
            <a:r>
              <a:rPr kumimoji="0" lang="en-US" altLang="en-US" sz="2400" b="1" i="1" u="none" strike="noStrike" cap="none" normalizeH="0" baseline="0" dirty="0" err="1">
                <a:ln>
                  <a:noFill/>
                </a:ln>
                <a:solidFill>
                  <a:schemeClr val="tx1"/>
                </a:solidFill>
                <a:effectLst/>
                <a:latin typeface="Trebuchet MS" panose="020B0603020202020204" pitchFamily="34" charset="0"/>
              </a:rPr>
              <a:t>b</a:t>
            </a:r>
            <a:r>
              <a:rPr kumimoji="0" lang="en-US" altLang="en-US" sz="2400" b="1" i="0" u="none" strike="noStrike" cap="none" normalizeH="0" baseline="0" dirty="0">
                <a:ln>
                  <a:noFill/>
                </a:ln>
                <a:solidFill>
                  <a:schemeClr val="tx1"/>
                </a:solidFill>
                <a:effectLst/>
                <a:latin typeface="Trebuchet MS" panose="020B0603020202020204" pitchFamily="34" charset="0"/>
              </a:rPr>
              <a:t> </a:t>
            </a:r>
            <a:r>
              <a:rPr kumimoji="0" lang="en-US" altLang="en-US" sz="2400" b="0" i="0" u="none" strike="noStrike" cap="none" normalizeH="0" baseline="0" dirty="0">
                <a:ln>
                  <a:noFill/>
                </a:ln>
                <a:solidFill>
                  <a:schemeClr val="tx1"/>
                </a:solidFill>
                <a:effectLst/>
                <a:latin typeface="Trebuchet MS" panose="020B0603020202020204" pitchFamily="34" charset="0"/>
              </a:rPr>
              <a:t>and </a:t>
            </a:r>
            <a:r>
              <a:rPr kumimoji="0" lang="en-US" altLang="en-US" sz="2400" b="1" i="1" u="none" strike="noStrike" cap="none" normalizeH="0" baseline="0" dirty="0">
                <a:ln>
                  <a:noFill/>
                </a:ln>
                <a:solidFill>
                  <a:schemeClr val="tx1"/>
                </a:solidFill>
                <a:effectLst/>
                <a:latin typeface="Trebuchet MS" panose="020B0603020202020204" pitchFamily="34" charset="0"/>
              </a:rPr>
              <a:t>a</a:t>
            </a:r>
            <a:r>
              <a:rPr kumimoji="0" lang="en-US" altLang="en-US" sz="2400" b="0" i="0" u="none" strike="noStrike" cap="none" normalizeH="0" baseline="0" dirty="0">
                <a:ln>
                  <a:noFill/>
                </a:ln>
                <a:solidFill>
                  <a:schemeClr val="tx1"/>
                </a:solidFill>
                <a:effectLst/>
                <a:latin typeface="Trebuchet MS" panose="020B0603020202020204" pitchFamily="34" charset="0"/>
              </a:rPr>
              <a:t> can reach </a:t>
            </a:r>
            <a:r>
              <a:rPr kumimoji="0" lang="en-US" altLang="en-US" sz="2400" b="1" i="1" u="none" strike="noStrike" cap="none" normalizeH="0" baseline="0" dirty="0">
                <a:ln>
                  <a:noFill/>
                </a:ln>
                <a:solidFill>
                  <a:schemeClr val="tx1"/>
                </a:solidFill>
                <a:effectLst/>
                <a:latin typeface="Trebuchet MS" panose="020B0603020202020204" pitchFamily="34" charset="0"/>
              </a:rPr>
              <a:t>b</a:t>
            </a:r>
            <a:r>
              <a:rPr kumimoji="0" lang="en-US" altLang="en-US" sz="2400" b="0" i="0" u="none" strike="noStrike" cap="none" normalizeH="0" baseline="0" dirty="0">
                <a:ln>
                  <a:noFill/>
                </a:ln>
                <a:solidFill>
                  <a:schemeClr val="tx1"/>
                </a:solidFill>
                <a:effectLst/>
                <a:latin typeface="Trebuchet MS" panose="020B0603020202020204" pitchFamily="34" charset="0"/>
              </a:rPr>
              <a:t>, then </a:t>
            </a:r>
            <a:r>
              <a:rPr kumimoji="0" lang="en-US" altLang="en-US" sz="2400" b="1" i="1" u="none" strike="noStrike" cap="none" normalizeH="0" baseline="0" dirty="0">
                <a:ln>
                  <a:noFill/>
                </a:ln>
                <a:solidFill>
                  <a:schemeClr val="tx1"/>
                </a:solidFill>
                <a:effectLst/>
                <a:latin typeface="Trebuchet MS" panose="020B0603020202020204" pitchFamily="34" charset="0"/>
              </a:rPr>
              <a:t>a</a:t>
            </a:r>
            <a:r>
              <a:rPr kumimoji="0" lang="en-US" altLang="en-US" sz="2400" b="0" i="0" u="none" strike="noStrike" cap="none" normalizeH="0" baseline="0" dirty="0">
                <a:ln>
                  <a:noFill/>
                </a:ln>
                <a:solidFill>
                  <a:schemeClr val="tx1"/>
                </a:solidFill>
                <a:effectLst/>
                <a:latin typeface="Trebuchet MS" panose="020B0603020202020204" pitchFamily="34" charset="0"/>
              </a:rPr>
              <a:t> is an </a:t>
            </a:r>
            <a:r>
              <a:rPr lang="en-US" altLang="en-US" sz="2400" b="1" i="1" dirty="0">
                <a:solidFill>
                  <a:srgbClr val="0B61FF"/>
                </a:solidFill>
                <a:latin typeface="Trebuchet MS" panose="020B0603020202020204" pitchFamily="34" charset="0"/>
              </a:rPr>
              <a:t>ancestor</a:t>
            </a:r>
            <a:r>
              <a:rPr kumimoji="0" lang="en-US" altLang="en-US" sz="2400" b="0" i="0" u="none" strike="noStrike" cap="none" normalizeH="0" baseline="0" dirty="0">
                <a:ln>
                  <a:noFill/>
                </a:ln>
                <a:solidFill>
                  <a:schemeClr val="tx1"/>
                </a:solidFill>
                <a:effectLst/>
                <a:latin typeface="Trebuchet MS" panose="020B0603020202020204" pitchFamily="34" charset="0"/>
              </a:rPr>
              <a:t> of </a:t>
            </a:r>
            <a:r>
              <a:rPr kumimoji="0" lang="en-US" altLang="en-US" sz="2400" b="1" i="1" u="none" strike="noStrike" cap="none" normalizeH="0" baseline="0" dirty="0">
                <a:ln>
                  <a:noFill/>
                </a:ln>
                <a:solidFill>
                  <a:schemeClr val="tx1"/>
                </a:solidFill>
                <a:effectLst/>
                <a:latin typeface="Trebuchet MS" panose="020B0603020202020204" pitchFamily="34" charset="0"/>
              </a:rPr>
              <a:t>b</a:t>
            </a:r>
            <a:r>
              <a:rPr kumimoji="0" lang="en-US" altLang="en-US" sz="2400" b="0" i="0" u="none" strike="noStrike" cap="none" normalizeH="0" baseline="0" dirty="0">
                <a:ln>
                  <a:noFill/>
                </a:ln>
                <a:solidFill>
                  <a:schemeClr val="tx1"/>
                </a:solidFill>
                <a:effectLst/>
                <a:latin typeface="Trebuchet MS" panose="020B0603020202020204" pitchFamily="34" charset="0"/>
              </a:rPr>
              <a:t>, and </a:t>
            </a:r>
            <a:r>
              <a:rPr kumimoji="0" lang="en-US" altLang="en-US" sz="2400" b="1" i="1" u="none" strike="noStrike" cap="none" normalizeH="0" baseline="0" dirty="0">
                <a:ln>
                  <a:noFill/>
                </a:ln>
                <a:solidFill>
                  <a:schemeClr val="tx1"/>
                </a:solidFill>
                <a:effectLst/>
                <a:latin typeface="Trebuchet MS" panose="020B0603020202020204" pitchFamily="34" charset="0"/>
              </a:rPr>
              <a:t>b</a:t>
            </a:r>
            <a:r>
              <a:rPr kumimoji="0" lang="en-US" altLang="en-US" sz="2400" b="0" i="0" u="none" strike="noStrike" cap="none" normalizeH="0" baseline="0" dirty="0">
                <a:ln>
                  <a:noFill/>
                </a:ln>
                <a:solidFill>
                  <a:schemeClr val="tx1"/>
                </a:solidFill>
                <a:effectLst/>
                <a:latin typeface="Trebuchet MS" panose="020B0603020202020204" pitchFamily="34" charset="0"/>
              </a:rPr>
              <a:t> is a </a:t>
            </a:r>
            <a:r>
              <a:rPr lang="en-US" altLang="en-US" sz="2400" b="1" i="1" dirty="0">
                <a:solidFill>
                  <a:srgbClr val="0B61FF"/>
                </a:solidFill>
                <a:latin typeface="Trebuchet MS" panose="020B0603020202020204" pitchFamily="34" charset="0"/>
              </a:rPr>
              <a:t>descendant</a:t>
            </a:r>
            <a:r>
              <a:rPr kumimoji="0" lang="en-US" altLang="en-US" sz="2400" b="0" i="0" u="none" strike="noStrike" cap="none" normalizeH="0" baseline="0" dirty="0">
                <a:ln>
                  <a:noFill/>
                </a:ln>
                <a:solidFill>
                  <a:schemeClr val="tx1"/>
                </a:solidFill>
                <a:effectLst/>
                <a:latin typeface="Trebuchet MS" panose="020B0603020202020204" pitchFamily="34" charset="0"/>
              </a:rPr>
              <a:t> of </a:t>
            </a:r>
            <a:r>
              <a:rPr kumimoji="0" lang="en-US" altLang="en-US" sz="2400" b="1" i="1" u="none" strike="noStrike" cap="none" normalizeH="0" baseline="0" dirty="0">
                <a:ln>
                  <a:noFill/>
                </a:ln>
                <a:solidFill>
                  <a:schemeClr val="tx1"/>
                </a:solidFill>
                <a:effectLst/>
                <a:latin typeface="Trebuchet MS" panose="020B0603020202020204" pitchFamily="34" charset="0"/>
              </a:rPr>
              <a:t>a</a:t>
            </a:r>
            <a:r>
              <a:rPr kumimoji="0" lang="en-US" altLang="en-US" sz="2400" b="0" i="0" u="none" strike="noStrike" cap="none" normalizeH="0" baseline="0" dirty="0">
                <a:ln>
                  <a:noFill/>
                </a:ln>
                <a:solidFill>
                  <a:schemeClr val="tx1"/>
                </a:solidFill>
                <a:effectLst/>
                <a:latin typeface="Trebuchet MS" panose="020B0603020202020204" pitchFamily="34" charset="0"/>
              </a:rPr>
              <a:t>.</a:t>
            </a:r>
          </a:p>
          <a:p>
            <a:pPr marR="0" lvl="0" algn="l" defTabSz="914400" rtl="0" eaLnBrk="0" fontAlgn="base" latinLnBrk="0" hangingPunct="0">
              <a:lnSpc>
                <a:spcPct val="120000"/>
              </a:lnSpc>
              <a:spcBef>
                <a:spcPct val="0"/>
              </a:spcBef>
              <a:spcAft>
                <a:spcPct val="0"/>
              </a:spcAft>
              <a:buClr>
                <a:srgbClr val="0B61FF"/>
              </a:buClr>
              <a:buSzPct val="80000"/>
              <a:buFont typeface="Wingdings" panose="05000000000000000000" pitchFamily="2" charset="2"/>
              <a:buChar char="n"/>
              <a:tabLst/>
            </a:pPr>
            <a:r>
              <a:rPr kumimoji="0" lang="en-US" altLang="en-US" sz="2400" b="0" i="0" u="none" strike="noStrike" cap="none" normalizeH="0" baseline="0" dirty="0">
                <a:ln>
                  <a:noFill/>
                </a:ln>
                <a:solidFill>
                  <a:schemeClr val="tx1"/>
                </a:solidFill>
                <a:effectLst/>
                <a:latin typeface="Trebuchet MS" panose="020B0603020202020204" pitchFamily="34" charset="0"/>
              </a:rPr>
              <a:t>Let </a:t>
            </a:r>
            <a:r>
              <a:rPr kumimoji="0" lang="en-US" altLang="en-US" sz="2400" b="1" i="1" u="none" strike="noStrike" cap="none" normalizeH="0" baseline="0" dirty="0">
                <a:ln>
                  <a:noFill/>
                </a:ln>
                <a:solidFill>
                  <a:schemeClr val="tx1"/>
                </a:solidFill>
                <a:effectLst/>
                <a:latin typeface="Trebuchet MS" panose="020B0603020202020204" pitchFamily="34" charset="0"/>
              </a:rPr>
              <a:t>v</a:t>
            </a:r>
            <a:r>
              <a:rPr kumimoji="0" lang="en-US" altLang="en-US" sz="2400" b="0" i="0" u="none" strike="noStrike" cap="none" normalizeH="0" baseline="0" dirty="0">
                <a:ln>
                  <a:noFill/>
                </a:ln>
                <a:solidFill>
                  <a:schemeClr val="tx1"/>
                </a:solidFill>
                <a:effectLst/>
                <a:latin typeface="Trebuchet MS" panose="020B0603020202020204" pitchFamily="34" charset="0"/>
              </a:rPr>
              <a:t> be a vertex in the rooted tree that is not the root. The subgraph induced by </a:t>
            </a:r>
            <a:r>
              <a:rPr kumimoji="0" lang="en-US" altLang="en-US" sz="2400" b="1" i="1" u="none" strike="noStrike" cap="none" normalizeH="0" baseline="0" dirty="0">
                <a:ln>
                  <a:noFill/>
                </a:ln>
                <a:solidFill>
                  <a:schemeClr val="tx1"/>
                </a:solidFill>
                <a:effectLst/>
                <a:latin typeface="Trebuchet MS" panose="020B0603020202020204" pitchFamily="34" charset="0"/>
              </a:rPr>
              <a:t>v</a:t>
            </a:r>
            <a:r>
              <a:rPr kumimoji="0" lang="en-US" altLang="en-US" sz="2400" b="0" i="0" u="none" strike="noStrike" cap="none" normalizeH="0" baseline="0" dirty="0">
                <a:ln>
                  <a:noFill/>
                </a:ln>
                <a:solidFill>
                  <a:schemeClr val="tx1"/>
                </a:solidFill>
                <a:effectLst/>
                <a:latin typeface="Trebuchet MS" panose="020B0603020202020204" pitchFamily="34" charset="0"/>
              </a:rPr>
              <a:t> and all its descendants is called the </a:t>
            </a:r>
            <a:r>
              <a:rPr lang="en-US" altLang="en-US" sz="2400" b="1" i="1" dirty="0">
                <a:solidFill>
                  <a:srgbClr val="0B61FF"/>
                </a:solidFill>
                <a:latin typeface="Trebuchet MS" panose="020B0603020202020204" pitchFamily="34" charset="0"/>
              </a:rPr>
              <a:t>subtree rooted</a:t>
            </a:r>
            <a:r>
              <a:rPr kumimoji="0" lang="en-US" altLang="en-US" sz="2400" b="1" i="0" u="none" strike="noStrike" cap="none" normalizeH="0" baseline="0" dirty="0">
                <a:ln>
                  <a:noFill/>
                </a:ln>
                <a:solidFill>
                  <a:schemeClr val="tx1"/>
                </a:solidFill>
                <a:effectLst/>
                <a:latin typeface="Trebuchet MS" panose="020B0603020202020204" pitchFamily="34" charset="0"/>
              </a:rPr>
              <a:t> </a:t>
            </a:r>
            <a:r>
              <a:rPr kumimoji="0" lang="en-US" altLang="en-US" sz="2400" i="0" u="none" strike="noStrike" cap="none" normalizeH="0" baseline="0" dirty="0">
                <a:ln>
                  <a:noFill/>
                </a:ln>
                <a:solidFill>
                  <a:schemeClr val="tx1"/>
                </a:solidFill>
                <a:effectLst/>
                <a:latin typeface="Trebuchet MS" panose="020B0603020202020204" pitchFamily="34" charset="0"/>
              </a:rPr>
              <a:t>at</a:t>
            </a:r>
            <a:r>
              <a:rPr kumimoji="0" lang="en-US" altLang="en-US" sz="2400" b="1" i="0" u="none" strike="noStrike" cap="none" normalizeH="0" baseline="0" dirty="0">
                <a:ln>
                  <a:noFill/>
                </a:ln>
                <a:solidFill>
                  <a:schemeClr val="tx1"/>
                </a:solidFill>
                <a:effectLst/>
                <a:latin typeface="Trebuchet MS" panose="020B0603020202020204" pitchFamily="34" charset="0"/>
              </a:rPr>
              <a:t> </a:t>
            </a:r>
            <a:r>
              <a:rPr kumimoji="0" lang="en-US" altLang="en-US" sz="2400" b="1" i="1" u="none" strike="noStrike" cap="none" normalizeH="0" baseline="0" dirty="0">
                <a:ln>
                  <a:noFill/>
                </a:ln>
                <a:solidFill>
                  <a:schemeClr val="tx1"/>
                </a:solidFill>
                <a:effectLst/>
                <a:latin typeface="Trebuchet MS" panose="020B0603020202020204" pitchFamily="34" charset="0"/>
              </a:rPr>
              <a:t>v</a:t>
            </a:r>
            <a:r>
              <a:rPr kumimoji="0" lang="en-US" altLang="en-US" sz="2400" b="0" i="0" u="none" strike="noStrike" cap="none" normalizeH="0" baseline="0" dirty="0">
                <a:ln>
                  <a:noFill/>
                </a:ln>
                <a:solidFill>
                  <a:schemeClr val="tx1"/>
                </a:solidFill>
                <a:effectLst/>
                <a:latin typeface="Trebuchet MS" panose="020B0603020202020204" pitchFamily="34" charset="0"/>
              </a:rPr>
              <a:t>.</a:t>
            </a:r>
          </a:p>
          <a:p>
            <a:pPr marR="0" lvl="0" algn="l" defTabSz="914400" rtl="0" eaLnBrk="0" fontAlgn="base" latinLnBrk="0" hangingPunct="0">
              <a:lnSpc>
                <a:spcPct val="120000"/>
              </a:lnSpc>
              <a:spcBef>
                <a:spcPct val="0"/>
              </a:spcBef>
              <a:spcAft>
                <a:spcPct val="0"/>
              </a:spcAft>
              <a:buClr>
                <a:srgbClr val="0B61FF"/>
              </a:buClr>
              <a:buSzPct val="80000"/>
              <a:buFont typeface="Wingdings" panose="05000000000000000000" pitchFamily="2" charset="2"/>
              <a:buChar char="n"/>
              <a:tabLst/>
            </a:pPr>
            <a:r>
              <a:rPr kumimoji="0" lang="en-US" altLang="en-US" sz="2400" b="0" i="0" u="none" strike="noStrike" cap="none" normalizeH="0" baseline="0" dirty="0">
                <a:ln>
                  <a:noFill/>
                </a:ln>
                <a:solidFill>
                  <a:schemeClr val="tx1"/>
                </a:solidFill>
                <a:effectLst/>
                <a:latin typeface="Trebuchet MS" panose="020B0603020202020204" pitchFamily="34" charset="0"/>
              </a:rPr>
              <a:t>If a fixed order is assigned to the vertices at each level of a rooted tree, it is called an </a:t>
            </a:r>
            <a:r>
              <a:rPr lang="en-US" altLang="en-US" sz="2400" b="1" i="1" dirty="0">
                <a:solidFill>
                  <a:srgbClr val="0B61FF"/>
                </a:solidFill>
                <a:latin typeface="Trebuchet MS" panose="020B0603020202020204" pitchFamily="34" charset="0"/>
              </a:rPr>
              <a:t>ordered tree</a:t>
            </a:r>
            <a:r>
              <a:rPr kumimoji="0" lang="en-US" altLang="en-US" sz="2400" b="0" i="0" u="none" strike="noStrike" cap="none" normalizeH="0" baseline="0" dirty="0">
                <a:ln>
                  <a:noFill/>
                </a:ln>
                <a:solidFill>
                  <a:schemeClr val="tx1"/>
                </a:solidFill>
                <a:effectLst/>
                <a:latin typeface="Trebuchet MS" panose="020B0603020202020204" pitchFamily="34" charset="0"/>
              </a:rPr>
              <a:t>.</a:t>
            </a:r>
          </a:p>
          <a:p>
            <a:pPr eaLnBrk="1" hangingPunct="1">
              <a:buFontTx/>
              <a:buNone/>
            </a:pPr>
            <a:endParaRPr lang="zh-CN" altLang="en-US" sz="2400" b="1" dirty="0">
              <a:latin typeface="Trebuchet MS" panose="020B0603020202020204" pitchFamily="34" charset="0"/>
              <a:cs typeface="Times New Roman" panose="02020603050405020304" pitchFamily="18" charset="0"/>
            </a:endParaRPr>
          </a:p>
        </p:txBody>
      </p:sp>
    </p:spTree>
    <p:extLst>
      <p:ext uri="{BB962C8B-B14F-4D97-AF65-F5344CB8AC3E}">
        <p14:creationId xmlns:p14="http://schemas.microsoft.com/office/powerpoint/2010/main" val="426456590"/>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8">
                                            <p:txEl>
                                              <p:pRg st="1" end="1"/>
                                            </p:txEl>
                                          </p:spTgt>
                                        </p:tgtEl>
                                        <p:attrNameLst>
                                          <p:attrName>style.visibility</p:attrName>
                                        </p:attrNameLst>
                                      </p:cBhvr>
                                      <p:to>
                                        <p:strVal val="visible"/>
                                      </p:to>
                                    </p:set>
                                    <p:animEffect transition="in" filter="fade">
                                      <p:cBhvr>
                                        <p:cTn id="7" dur="1000"/>
                                        <p:tgtEl>
                                          <p:spTgt spid="8">
                                            <p:txEl>
                                              <p:pRg st="1" end="1"/>
                                            </p:txEl>
                                          </p:spTgt>
                                        </p:tgtEl>
                                      </p:cBhvr>
                                    </p:animEffect>
                                    <p:anim calcmode="lin" valueType="num">
                                      <p:cBhvr>
                                        <p:cTn id="8" dur="1000" fill="hold"/>
                                        <p:tgtEl>
                                          <p:spTgt spid="8">
                                            <p:txEl>
                                              <p:pRg st="1" end="1"/>
                                            </p:txEl>
                                          </p:spTgt>
                                        </p:tgtEl>
                                        <p:attrNameLst>
                                          <p:attrName>ppt_x</p:attrName>
                                        </p:attrNameLst>
                                      </p:cBhvr>
                                      <p:tavLst>
                                        <p:tav tm="0">
                                          <p:val>
                                            <p:strVal val="#ppt_x"/>
                                          </p:val>
                                        </p:tav>
                                        <p:tav tm="100000">
                                          <p:val>
                                            <p:strVal val="#ppt_x"/>
                                          </p:val>
                                        </p:tav>
                                      </p:tavLst>
                                    </p:anim>
                                    <p:anim calcmode="lin" valueType="num">
                                      <p:cBhvr>
                                        <p:cTn id="9" dur="1000" fill="hold"/>
                                        <p:tgtEl>
                                          <p:spTgt spid="8">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8">
                                            <p:txEl>
                                              <p:pRg st="2" end="2"/>
                                            </p:txEl>
                                          </p:spTgt>
                                        </p:tgtEl>
                                        <p:attrNameLst>
                                          <p:attrName>style.visibility</p:attrName>
                                        </p:attrNameLst>
                                      </p:cBhvr>
                                      <p:to>
                                        <p:strVal val="visible"/>
                                      </p:to>
                                    </p:set>
                                    <p:animEffect transition="in" filter="fade">
                                      <p:cBhvr>
                                        <p:cTn id="14" dur="1000"/>
                                        <p:tgtEl>
                                          <p:spTgt spid="8">
                                            <p:txEl>
                                              <p:pRg st="2" end="2"/>
                                            </p:txEl>
                                          </p:spTgt>
                                        </p:tgtEl>
                                      </p:cBhvr>
                                    </p:animEffect>
                                    <p:anim calcmode="lin" valueType="num">
                                      <p:cBhvr>
                                        <p:cTn id="15" dur="1000" fill="hold"/>
                                        <p:tgtEl>
                                          <p:spTgt spid="8">
                                            <p:txEl>
                                              <p:pRg st="2" end="2"/>
                                            </p:txEl>
                                          </p:spTgt>
                                        </p:tgtEl>
                                        <p:attrNameLst>
                                          <p:attrName>ppt_x</p:attrName>
                                        </p:attrNameLst>
                                      </p:cBhvr>
                                      <p:tavLst>
                                        <p:tav tm="0">
                                          <p:val>
                                            <p:strVal val="#ppt_x"/>
                                          </p:val>
                                        </p:tav>
                                        <p:tav tm="100000">
                                          <p:val>
                                            <p:strVal val="#ppt_x"/>
                                          </p:val>
                                        </p:tav>
                                      </p:tavLst>
                                    </p:anim>
                                    <p:anim calcmode="lin" valueType="num">
                                      <p:cBhvr>
                                        <p:cTn id="16" dur="1000" fill="hold"/>
                                        <p:tgtEl>
                                          <p:spTgt spid="8">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nodeType="clickEffect">
                                  <p:stCondLst>
                                    <p:cond delay="0"/>
                                  </p:stCondLst>
                                  <p:childTnLst>
                                    <p:set>
                                      <p:cBhvr>
                                        <p:cTn id="20" dur="1" fill="hold">
                                          <p:stCondLst>
                                            <p:cond delay="0"/>
                                          </p:stCondLst>
                                        </p:cTn>
                                        <p:tgtEl>
                                          <p:spTgt spid="8">
                                            <p:txEl>
                                              <p:pRg st="3" end="3"/>
                                            </p:txEl>
                                          </p:spTgt>
                                        </p:tgtEl>
                                        <p:attrNameLst>
                                          <p:attrName>style.visibility</p:attrName>
                                        </p:attrNameLst>
                                      </p:cBhvr>
                                      <p:to>
                                        <p:strVal val="visible"/>
                                      </p:to>
                                    </p:set>
                                    <p:animEffect transition="in" filter="fade">
                                      <p:cBhvr>
                                        <p:cTn id="21" dur="1000"/>
                                        <p:tgtEl>
                                          <p:spTgt spid="8">
                                            <p:txEl>
                                              <p:pRg st="3" end="3"/>
                                            </p:txEl>
                                          </p:spTgt>
                                        </p:tgtEl>
                                      </p:cBhvr>
                                    </p:animEffect>
                                    <p:anim calcmode="lin" valueType="num">
                                      <p:cBhvr>
                                        <p:cTn id="22" dur="1000" fill="hold"/>
                                        <p:tgtEl>
                                          <p:spTgt spid="8">
                                            <p:txEl>
                                              <p:pRg st="3" end="3"/>
                                            </p:txEl>
                                          </p:spTgt>
                                        </p:tgtEl>
                                        <p:attrNameLst>
                                          <p:attrName>ppt_x</p:attrName>
                                        </p:attrNameLst>
                                      </p:cBhvr>
                                      <p:tavLst>
                                        <p:tav tm="0">
                                          <p:val>
                                            <p:strVal val="#ppt_x"/>
                                          </p:val>
                                        </p:tav>
                                        <p:tav tm="100000">
                                          <p:val>
                                            <p:strVal val="#ppt_x"/>
                                          </p:val>
                                        </p:tav>
                                      </p:tavLst>
                                    </p:anim>
                                    <p:anim calcmode="lin" valueType="num">
                                      <p:cBhvr>
                                        <p:cTn id="23" dur="1000" fill="hold"/>
                                        <p:tgtEl>
                                          <p:spTgt spid="8">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nodeType="clickEffect">
                                  <p:stCondLst>
                                    <p:cond delay="0"/>
                                  </p:stCondLst>
                                  <p:childTnLst>
                                    <p:set>
                                      <p:cBhvr>
                                        <p:cTn id="27" dur="1" fill="hold">
                                          <p:stCondLst>
                                            <p:cond delay="0"/>
                                          </p:stCondLst>
                                        </p:cTn>
                                        <p:tgtEl>
                                          <p:spTgt spid="8">
                                            <p:txEl>
                                              <p:pRg st="4" end="4"/>
                                            </p:txEl>
                                          </p:spTgt>
                                        </p:tgtEl>
                                        <p:attrNameLst>
                                          <p:attrName>style.visibility</p:attrName>
                                        </p:attrNameLst>
                                      </p:cBhvr>
                                      <p:to>
                                        <p:strVal val="visible"/>
                                      </p:to>
                                    </p:set>
                                    <p:animEffect transition="in" filter="fade">
                                      <p:cBhvr>
                                        <p:cTn id="28" dur="1000"/>
                                        <p:tgtEl>
                                          <p:spTgt spid="8">
                                            <p:txEl>
                                              <p:pRg st="4" end="4"/>
                                            </p:txEl>
                                          </p:spTgt>
                                        </p:tgtEl>
                                      </p:cBhvr>
                                    </p:animEffect>
                                    <p:anim calcmode="lin" valueType="num">
                                      <p:cBhvr>
                                        <p:cTn id="29" dur="1000" fill="hold"/>
                                        <p:tgtEl>
                                          <p:spTgt spid="8">
                                            <p:txEl>
                                              <p:pRg st="4" end="4"/>
                                            </p:txEl>
                                          </p:spTgt>
                                        </p:tgtEl>
                                        <p:attrNameLst>
                                          <p:attrName>ppt_x</p:attrName>
                                        </p:attrNameLst>
                                      </p:cBhvr>
                                      <p:tavLst>
                                        <p:tav tm="0">
                                          <p:val>
                                            <p:strVal val="#ppt_x"/>
                                          </p:val>
                                        </p:tav>
                                        <p:tav tm="100000">
                                          <p:val>
                                            <p:strVal val="#ppt_x"/>
                                          </p:val>
                                        </p:tav>
                                      </p:tavLst>
                                    </p:anim>
                                    <p:anim calcmode="lin" valueType="num">
                                      <p:cBhvr>
                                        <p:cTn id="30" dur="1000" fill="hold"/>
                                        <p:tgtEl>
                                          <p:spTgt spid="8">
                                            <p:txEl>
                                              <p:pRg st="4" end="4"/>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0" y="0"/>
            <a:ext cx="12192000" cy="762000"/>
          </a:xfrm>
          <a:prstGeom prst="rect">
            <a:avLst/>
          </a:prstGeom>
          <a:solidFill>
            <a:srgbClr val="002F7C"/>
          </a:solidFill>
        </p:spPr>
        <p:style>
          <a:lnRef idx="2">
            <a:schemeClr val="dk1">
              <a:shade val="50000"/>
            </a:schemeClr>
          </a:lnRef>
          <a:fillRef idx="1">
            <a:schemeClr val="dk1"/>
          </a:fillRef>
          <a:effectRef idx="0">
            <a:schemeClr val="dk1"/>
          </a:effectRef>
          <a:fontRef idx="minor">
            <a:schemeClr val="lt1"/>
          </a:fontRef>
        </p:style>
        <p:txBody>
          <a:bodyPr rtlCol="0" anchor="ctr"/>
          <a:lstStyle/>
          <a:p>
            <a:pPr>
              <a:lnSpc>
                <a:spcPct val="120000"/>
              </a:lnSpc>
              <a:spcBef>
                <a:spcPts val="600"/>
              </a:spcBef>
              <a:buClr>
                <a:srgbClr val="0B61FF"/>
              </a:buClr>
              <a:buSzPct val="80000"/>
            </a:pPr>
            <a:r>
              <a:rPr lang="zh-CN" altLang="en-US" sz="2000" b="1" dirty="0">
                <a:latin typeface="Times New Roman" panose="02020603050405020304" pitchFamily="18" charset="0"/>
                <a:ea typeface="宋体" panose="02010600030101010101" pitchFamily="2" charset="-122"/>
                <a:cs typeface="Times New Roman" panose="02020603050405020304" pitchFamily="18" charset="0"/>
              </a:rPr>
              <a:t>                </a:t>
            </a:r>
            <a:r>
              <a:rPr lang="en-US" altLang="zh-CN" sz="2000" b="1" dirty="0">
                <a:latin typeface="Trebuchet MS" panose="020B0603020202020204" pitchFamily="34" charset="0"/>
              </a:rPr>
              <a:t>7.2.1 Rooted Trees and Their Classifications</a:t>
            </a:r>
          </a:p>
          <a:p>
            <a:r>
              <a:rPr lang="en-US" altLang="zh-CN" sz="2000" b="1" dirty="0">
                <a:latin typeface="Trebuchet MS" panose="020B0603020202020204" pitchFamily="34" charset="0"/>
                <a:cs typeface="Times New Roman" panose="02020603050405020304" pitchFamily="18" charset="0"/>
              </a:rPr>
              <a:t>                  </a:t>
            </a:r>
            <a:r>
              <a:rPr lang="en-US" altLang="zh-CN" sz="2400" b="1" dirty="0">
                <a:solidFill>
                  <a:srgbClr val="C00000"/>
                </a:solidFill>
                <a:latin typeface="Trebuchet MS" panose="020B0603020202020204" pitchFamily="34" charset="0"/>
                <a:ea typeface="Cambria Math" panose="02040503050406030204" pitchFamily="18" charset="0"/>
                <a:cs typeface="Times New Roman" panose="02020603050405020304" pitchFamily="18" charset="0"/>
              </a:rPr>
              <a:t>⤷</a:t>
            </a:r>
            <a:r>
              <a:rPr lang="zh-CN" altLang="en-US" sz="2000" b="1" dirty="0">
                <a:latin typeface="Trebuchet MS" panose="020B0603020202020204" pitchFamily="34" charset="0"/>
              </a:rPr>
              <a:t> </a:t>
            </a:r>
            <a:r>
              <a:rPr lang="en-US" altLang="zh-CN" sz="2400" b="1" dirty="0">
                <a:latin typeface="Trebuchet MS" panose="020B0603020202020204" pitchFamily="34" charset="0"/>
              </a:rPr>
              <a:t>r-</a:t>
            </a:r>
            <a:r>
              <a:rPr lang="en-US" altLang="zh-CN" sz="2400" b="1" dirty="0" err="1">
                <a:latin typeface="Trebuchet MS" panose="020B0603020202020204" pitchFamily="34" charset="0"/>
              </a:rPr>
              <a:t>ary</a:t>
            </a:r>
            <a:r>
              <a:rPr lang="en-US" altLang="zh-CN" sz="2400" b="1" dirty="0">
                <a:latin typeface="Trebuchet MS" panose="020B0603020202020204" pitchFamily="34" charset="0"/>
              </a:rPr>
              <a:t> Tree and Ordered r-</a:t>
            </a:r>
            <a:r>
              <a:rPr lang="en-US" altLang="zh-CN" sz="2400" b="1" dirty="0" err="1">
                <a:latin typeface="Trebuchet MS" panose="020B0603020202020204" pitchFamily="34" charset="0"/>
              </a:rPr>
              <a:t>ary</a:t>
            </a:r>
            <a:r>
              <a:rPr lang="en-US" altLang="zh-CN" sz="2400" b="1" dirty="0">
                <a:latin typeface="Trebuchet MS" panose="020B0603020202020204" pitchFamily="34" charset="0"/>
              </a:rPr>
              <a:t> Tree </a:t>
            </a:r>
            <a:endParaRPr lang="zh-CN" altLang="en-US" sz="2400" b="1" dirty="0">
              <a:solidFill>
                <a:srgbClr val="3D557A"/>
              </a:solidFill>
              <a:highlight>
                <a:srgbClr val="FF0000"/>
              </a:highlight>
              <a:latin typeface="Trebuchet MS" panose="020B0603020202020204" pitchFamily="34" charset="0"/>
            </a:endParaRPr>
          </a:p>
        </p:txBody>
      </p:sp>
      <p:sp>
        <p:nvSpPr>
          <p:cNvPr id="13" name="矩形 12"/>
          <p:cNvSpPr/>
          <p:nvPr/>
        </p:nvSpPr>
        <p:spPr>
          <a:xfrm>
            <a:off x="824682" y="0"/>
            <a:ext cx="175443" cy="628650"/>
          </a:xfrm>
          <a:prstGeom prst="rect">
            <a:avLst/>
          </a:prstGeom>
          <a:solidFill>
            <a:srgbClr val="CFA57C"/>
          </a:solidFill>
          <a:ln cmpd="sng">
            <a:gradFill flip="none" rotWithShape="1">
              <a:gsLst>
                <a:gs pos="50000">
                  <a:schemeClr val="accent2">
                    <a:lumMod val="60000"/>
                    <a:lumOff val="40000"/>
                  </a:schemeClr>
                </a:gs>
                <a:gs pos="0">
                  <a:schemeClr val="accent2">
                    <a:lumMod val="20000"/>
                    <a:lumOff val="80000"/>
                  </a:schemeClr>
                </a:gs>
                <a:gs pos="95000">
                  <a:schemeClr val="accent2"/>
                </a:gs>
              </a:gsLst>
              <a:path path="circle">
                <a:fillToRect l="50000" t="-80000" r="50000" b="180000"/>
              </a:path>
              <a:tileRect/>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22" name="Picture 6" descr="D:\MBA工作\LOGO\同济经管LOGO反白.png"/>
          <p:cNvPicPr>
            <a:picLocks noChangeAspect="1" noChangeArrowheads="1"/>
          </p:cNvPicPr>
          <p:nvPr/>
        </p:nvPicPr>
        <p:blipFill>
          <a:blip r:embed="rId3" cstate="email">
            <a:extLst>
              <a:ext uri="{28A0092B-C50C-407E-A947-70E740481C1C}">
                <a14:useLocalDpi xmlns:a14="http://schemas.microsoft.com/office/drawing/2010/main" val="0"/>
              </a:ext>
            </a:extLst>
          </a:blip>
          <a:srcRect/>
          <a:stretch>
            <a:fillRect/>
          </a:stretch>
        </p:blipFill>
        <p:spPr bwMode="auto">
          <a:xfrm>
            <a:off x="10267423" y="165688"/>
            <a:ext cx="1386605" cy="462962"/>
          </a:xfrm>
          <a:prstGeom prst="rect">
            <a:avLst/>
          </a:prstGeom>
          <a:noFill/>
          <a:extLst>
            <a:ext uri="{909E8E84-426E-40DD-AFC4-6F175D3DCCD1}">
              <a14:hiddenFill xmlns:a14="http://schemas.microsoft.com/office/drawing/2010/main">
                <a:solidFill>
                  <a:srgbClr val="FFFFFF"/>
                </a:solidFill>
              </a14:hiddenFill>
            </a:ext>
          </a:extLst>
        </p:spPr>
      </p:pic>
      <p:pic>
        <p:nvPicPr>
          <p:cNvPr id="2" name="图片 1" descr="微信图片_20220318113523"/>
          <p:cNvPicPr>
            <a:picLocks noChangeAspect="1"/>
          </p:cNvPicPr>
          <p:nvPr userDrawn="1"/>
        </p:nvPicPr>
        <p:blipFill>
          <a:blip r:embed="rId4"/>
          <a:stretch>
            <a:fillRect/>
          </a:stretch>
        </p:blipFill>
        <p:spPr>
          <a:xfrm>
            <a:off x="9291877" y="6115050"/>
            <a:ext cx="2244725" cy="361315"/>
          </a:xfrm>
          <a:prstGeom prst="rect">
            <a:avLst/>
          </a:prstGeom>
        </p:spPr>
      </p:pic>
      <p:sp>
        <p:nvSpPr>
          <p:cNvPr id="8" name="Rectangle 3">
            <a:extLst>
              <a:ext uri="{FF2B5EF4-FFF2-40B4-BE49-F238E27FC236}">
                <a16:creationId xmlns:a16="http://schemas.microsoft.com/office/drawing/2014/main" id="{97F08C45-3D15-45C1-A5A3-D1EB58DC91FE}"/>
              </a:ext>
            </a:extLst>
          </p:cNvPr>
          <p:cNvSpPr txBox="1">
            <a:spLocks noChangeArrowheads="1"/>
          </p:cNvSpPr>
          <p:nvPr/>
        </p:nvSpPr>
        <p:spPr>
          <a:xfrm>
            <a:off x="824682" y="796290"/>
            <a:ext cx="9877336" cy="5788025"/>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00000"/>
              </a:lnSpc>
              <a:spcBef>
                <a:spcPts val="0"/>
              </a:spcBef>
              <a:buClr>
                <a:srgbClr val="0B61FF"/>
              </a:buClr>
              <a:buSzPct val="80000"/>
              <a:buFont typeface="Wingdings" panose="05000000000000000000" pitchFamily="2" charset="2"/>
              <a:buChar char="n"/>
            </a:pPr>
            <a:r>
              <a:rPr lang="en-US" sz="2400" dirty="0">
                <a:latin typeface="Trebuchet MS" panose="020B0603020202020204" pitchFamily="34" charset="0"/>
              </a:rPr>
              <a:t>Rooted trees can be </a:t>
            </a:r>
            <a:r>
              <a:rPr lang="en-US" sz="2400" b="1" i="1" dirty="0">
                <a:solidFill>
                  <a:srgbClr val="0B61FF"/>
                </a:solidFill>
                <a:latin typeface="Trebuchet MS" panose="020B0603020202020204" pitchFamily="34" charset="0"/>
              </a:rPr>
              <a:t>further classified </a:t>
            </a:r>
            <a:r>
              <a:rPr lang="en-US" sz="2400" dirty="0">
                <a:latin typeface="Trebuchet MS" panose="020B0603020202020204" pitchFamily="34" charset="0"/>
              </a:rPr>
              <a:t>based on the number of child nodes per parent, the order of child nodes, the regularity of the structure, and the completeness of the tree.</a:t>
            </a:r>
          </a:p>
          <a:p>
            <a:pPr marL="361950" indent="-180975">
              <a:lnSpc>
                <a:spcPct val="100000"/>
              </a:lnSpc>
              <a:spcBef>
                <a:spcPts val="0"/>
              </a:spcBef>
              <a:buClr>
                <a:srgbClr val="0B61FF"/>
              </a:buClr>
              <a:buSzPct val="120000"/>
            </a:pPr>
            <a:r>
              <a:rPr lang="en-US" sz="2400" b="1" i="1" dirty="0">
                <a:solidFill>
                  <a:srgbClr val="0B61FF"/>
                </a:solidFill>
                <a:latin typeface="Trebuchet MS" panose="020B0603020202020204" pitchFamily="34" charset="0"/>
              </a:rPr>
              <a:t>r-</a:t>
            </a:r>
            <a:r>
              <a:rPr lang="en-US" sz="2400" b="1" i="1" dirty="0" err="1">
                <a:solidFill>
                  <a:srgbClr val="0B61FF"/>
                </a:solidFill>
                <a:latin typeface="Trebuchet MS" panose="020B0603020202020204" pitchFamily="34" charset="0"/>
              </a:rPr>
              <a:t>ary</a:t>
            </a:r>
            <a:r>
              <a:rPr lang="en-US" sz="2400" b="1" i="1" dirty="0">
                <a:solidFill>
                  <a:srgbClr val="0B61FF"/>
                </a:solidFill>
                <a:latin typeface="Trebuchet MS" panose="020B0603020202020204" pitchFamily="34" charset="0"/>
              </a:rPr>
              <a:t> Tree</a:t>
            </a:r>
            <a:r>
              <a:rPr lang="en-US" sz="2400" b="1" dirty="0">
                <a:latin typeface="Trebuchet MS" panose="020B0603020202020204" pitchFamily="34" charset="0"/>
              </a:rPr>
              <a:t>:</a:t>
            </a:r>
            <a:r>
              <a:rPr lang="en-US" sz="2400" dirty="0">
                <a:latin typeface="Trebuchet MS" panose="020B0603020202020204" pitchFamily="34" charset="0"/>
              </a:rPr>
              <a:t> A rooted tree in which each branching vertex has at most </a:t>
            </a:r>
            <a:r>
              <a:rPr lang="en-US" sz="2400" b="1" i="1" dirty="0">
                <a:solidFill>
                  <a:srgbClr val="FF0000"/>
                </a:solidFill>
                <a:latin typeface="Trebuchet MS" panose="020B0603020202020204" pitchFamily="34" charset="0"/>
              </a:rPr>
              <a:t>r</a:t>
            </a:r>
            <a:r>
              <a:rPr lang="en-US" sz="2400" dirty="0">
                <a:latin typeface="Trebuchet MS" panose="020B0603020202020204" pitchFamily="34" charset="0"/>
              </a:rPr>
              <a:t> children.</a:t>
            </a:r>
          </a:p>
          <a:p>
            <a:pPr marL="361950" indent="-180975">
              <a:lnSpc>
                <a:spcPct val="100000"/>
              </a:lnSpc>
              <a:spcBef>
                <a:spcPts val="0"/>
              </a:spcBef>
              <a:buClr>
                <a:srgbClr val="0B61FF"/>
              </a:buClr>
              <a:buSzPct val="120000"/>
            </a:pPr>
            <a:r>
              <a:rPr lang="en-US" sz="2400" b="1" i="1" dirty="0">
                <a:solidFill>
                  <a:srgbClr val="0B61FF"/>
                </a:solidFill>
                <a:latin typeface="Trebuchet MS" panose="020B0603020202020204" pitchFamily="34" charset="0"/>
              </a:rPr>
              <a:t>r-</a:t>
            </a:r>
            <a:r>
              <a:rPr lang="en-US" sz="2400" b="1" i="1" dirty="0" err="1">
                <a:solidFill>
                  <a:srgbClr val="0B61FF"/>
                </a:solidFill>
                <a:latin typeface="Trebuchet MS" panose="020B0603020202020204" pitchFamily="34" charset="0"/>
              </a:rPr>
              <a:t>ary</a:t>
            </a:r>
            <a:r>
              <a:rPr lang="en-US" sz="2400" b="1" i="1" dirty="0">
                <a:solidFill>
                  <a:srgbClr val="0B61FF"/>
                </a:solidFill>
                <a:latin typeface="Trebuchet MS" panose="020B0603020202020204" pitchFamily="34" charset="0"/>
              </a:rPr>
              <a:t> Regular Tree</a:t>
            </a:r>
            <a:r>
              <a:rPr lang="en-US" sz="2400" b="1" dirty="0">
                <a:latin typeface="Trebuchet MS" panose="020B0603020202020204" pitchFamily="34" charset="0"/>
              </a:rPr>
              <a:t>:</a:t>
            </a:r>
            <a:r>
              <a:rPr lang="en-US" sz="2400" dirty="0">
                <a:latin typeface="Trebuchet MS" panose="020B0603020202020204" pitchFamily="34" charset="0"/>
              </a:rPr>
              <a:t> A rooted tree in which each branching vertex has exactly </a:t>
            </a:r>
            <a:r>
              <a:rPr lang="en-US" sz="2400" b="1" i="1" dirty="0">
                <a:solidFill>
                  <a:srgbClr val="FF0000"/>
                </a:solidFill>
                <a:latin typeface="Trebuchet MS" panose="020B0603020202020204" pitchFamily="34" charset="0"/>
              </a:rPr>
              <a:t>r</a:t>
            </a:r>
            <a:r>
              <a:rPr lang="en-US" sz="2400" dirty="0">
                <a:latin typeface="Trebuchet MS" panose="020B0603020202020204" pitchFamily="34" charset="0"/>
              </a:rPr>
              <a:t> children.</a:t>
            </a:r>
          </a:p>
          <a:p>
            <a:pPr marL="361950" indent="-180975">
              <a:lnSpc>
                <a:spcPct val="100000"/>
              </a:lnSpc>
              <a:spcBef>
                <a:spcPts val="0"/>
              </a:spcBef>
              <a:buClr>
                <a:srgbClr val="0B61FF"/>
              </a:buClr>
              <a:buSzPct val="120000"/>
            </a:pPr>
            <a:r>
              <a:rPr lang="en-US" sz="2400" b="1" i="1" dirty="0">
                <a:solidFill>
                  <a:srgbClr val="0B61FF"/>
                </a:solidFill>
                <a:latin typeface="Trebuchet MS" panose="020B0603020202020204" pitchFamily="34" charset="0"/>
              </a:rPr>
              <a:t>Complete r-</a:t>
            </a:r>
            <a:r>
              <a:rPr lang="en-US" sz="2400" b="1" i="1" dirty="0" err="1">
                <a:solidFill>
                  <a:srgbClr val="0B61FF"/>
                </a:solidFill>
                <a:latin typeface="Trebuchet MS" panose="020B0603020202020204" pitchFamily="34" charset="0"/>
              </a:rPr>
              <a:t>ary</a:t>
            </a:r>
            <a:r>
              <a:rPr lang="en-US" sz="2400" b="1" i="1" dirty="0">
                <a:solidFill>
                  <a:srgbClr val="0B61FF"/>
                </a:solidFill>
                <a:latin typeface="Trebuchet MS" panose="020B0603020202020204" pitchFamily="34" charset="0"/>
              </a:rPr>
              <a:t> Regular Tree</a:t>
            </a:r>
            <a:r>
              <a:rPr lang="en-US" sz="2400" b="1" dirty="0">
                <a:latin typeface="Trebuchet MS" panose="020B0603020202020204" pitchFamily="34" charset="0"/>
              </a:rPr>
              <a:t>:</a:t>
            </a:r>
            <a:r>
              <a:rPr lang="en-US" sz="2400" dirty="0">
                <a:latin typeface="Trebuchet MS" panose="020B0603020202020204" pitchFamily="34" charset="0"/>
              </a:rPr>
              <a:t> An r-</a:t>
            </a:r>
            <a:r>
              <a:rPr lang="en-US" sz="2400" dirty="0" err="1">
                <a:latin typeface="Trebuchet MS" panose="020B0603020202020204" pitchFamily="34" charset="0"/>
              </a:rPr>
              <a:t>ary</a:t>
            </a:r>
            <a:r>
              <a:rPr lang="en-US" sz="2400" dirty="0">
                <a:latin typeface="Trebuchet MS" panose="020B0603020202020204" pitchFamily="34" charset="0"/>
              </a:rPr>
              <a:t> regular tree in which all leaves are at the same level.</a:t>
            </a:r>
          </a:p>
          <a:p>
            <a:pPr marL="361950" indent="-180975">
              <a:lnSpc>
                <a:spcPct val="100000"/>
              </a:lnSpc>
              <a:spcBef>
                <a:spcPts val="0"/>
              </a:spcBef>
              <a:buClr>
                <a:srgbClr val="0B61FF"/>
              </a:buClr>
              <a:buSzPct val="120000"/>
            </a:pPr>
            <a:r>
              <a:rPr lang="en-US" sz="2400" b="1" i="1" dirty="0">
                <a:solidFill>
                  <a:srgbClr val="0B61FF"/>
                </a:solidFill>
                <a:latin typeface="Trebuchet MS" panose="020B0603020202020204" pitchFamily="34" charset="0"/>
              </a:rPr>
              <a:t>Ordered r-</a:t>
            </a:r>
            <a:r>
              <a:rPr lang="en-US" sz="2400" b="1" i="1" dirty="0" err="1">
                <a:solidFill>
                  <a:srgbClr val="0B61FF"/>
                </a:solidFill>
                <a:latin typeface="Trebuchet MS" panose="020B0603020202020204" pitchFamily="34" charset="0"/>
              </a:rPr>
              <a:t>ary</a:t>
            </a:r>
            <a:r>
              <a:rPr lang="en-US" sz="2400" b="1" i="1" dirty="0">
                <a:solidFill>
                  <a:srgbClr val="0B61FF"/>
                </a:solidFill>
                <a:latin typeface="Trebuchet MS" panose="020B0603020202020204" pitchFamily="34" charset="0"/>
              </a:rPr>
              <a:t> Tree</a:t>
            </a:r>
            <a:r>
              <a:rPr lang="en-US" sz="2400" b="1" dirty="0">
                <a:latin typeface="Trebuchet MS" panose="020B0603020202020204" pitchFamily="34" charset="0"/>
              </a:rPr>
              <a:t>:</a:t>
            </a:r>
            <a:r>
              <a:rPr lang="en-US" sz="2400" dirty="0">
                <a:latin typeface="Trebuchet MS" panose="020B0603020202020204" pitchFamily="34" charset="0"/>
              </a:rPr>
              <a:t> An r-</a:t>
            </a:r>
            <a:r>
              <a:rPr lang="en-US" sz="2400" dirty="0" err="1">
                <a:latin typeface="Trebuchet MS" panose="020B0603020202020204" pitchFamily="34" charset="0"/>
              </a:rPr>
              <a:t>ary</a:t>
            </a:r>
            <a:r>
              <a:rPr lang="en-US" sz="2400" dirty="0">
                <a:latin typeface="Trebuchet MS" panose="020B0603020202020204" pitchFamily="34" charset="0"/>
              </a:rPr>
              <a:t> tree in which a specific order is assigned to the children of each vertex.</a:t>
            </a:r>
          </a:p>
          <a:p>
            <a:pPr marL="361950" indent="-180975">
              <a:lnSpc>
                <a:spcPct val="100000"/>
              </a:lnSpc>
              <a:spcBef>
                <a:spcPts val="0"/>
              </a:spcBef>
              <a:buClr>
                <a:srgbClr val="0B61FF"/>
              </a:buClr>
              <a:buSzPct val="120000"/>
            </a:pPr>
            <a:r>
              <a:rPr lang="en-US" sz="2400" b="1" i="1" dirty="0">
                <a:solidFill>
                  <a:srgbClr val="0B61FF"/>
                </a:solidFill>
                <a:latin typeface="Trebuchet MS" panose="020B0603020202020204" pitchFamily="34" charset="0"/>
              </a:rPr>
              <a:t>Ordered r-</a:t>
            </a:r>
            <a:r>
              <a:rPr lang="en-US" sz="2400" b="1" i="1" dirty="0" err="1">
                <a:solidFill>
                  <a:srgbClr val="0B61FF"/>
                </a:solidFill>
                <a:latin typeface="Trebuchet MS" panose="020B0603020202020204" pitchFamily="34" charset="0"/>
              </a:rPr>
              <a:t>ary</a:t>
            </a:r>
            <a:r>
              <a:rPr lang="en-US" sz="2400" b="1" i="1" dirty="0">
                <a:solidFill>
                  <a:srgbClr val="0B61FF"/>
                </a:solidFill>
                <a:latin typeface="Trebuchet MS" panose="020B0603020202020204" pitchFamily="34" charset="0"/>
              </a:rPr>
              <a:t> Regular Tree</a:t>
            </a:r>
            <a:r>
              <a:rPr lang="en-US" sz="2400" b="1" dirty="0">
                <a:latin typeface="Trebuchet MS" panose="020B0603020202020204" pitchFamily="34" charset="0"/>
              </a:rPr>
              <a:t>:</a:t>
            </a:r>
            <a:r>
              <a:rPr lang="en-US" sz="2400" dirty="0">
                <a:latin typeface="Trebuchet MS" panose="020B0603020202020204" pitchFamily="34" charset="0"/>
              </a:rPr>
              <a:t> An ordered tree in which each branching vertex has exactly </a:t>
            </a:r>
            <a:r>
              <a:rPr lang="en-US" sz="2400" b="1" i="1" dirty="0">
                <a:solidFill>
                  <a:srgbClr val="FF0000"/>
                </a:solidFill>
                <a:latin typeface="Trebuchet MS" panose="020B0603020202020204" pitchFamily="34" charset="0"/>
              </a:rPr>
              <a:t>r</a:t>
            </a:r>
            <a:r>
              <a:rPr lang="en-US" sz="2400" dirty="0">
                <a:latin typeface="Trebuchet MS" panose="020B0603020202020204" pitchFamily="34" charset="0"/>
              </a:rPr>
              <a:t> ordered children.</a:t>
            </a:r>
          </a:p>
          <a:p>
            <a:pPr marL="361950" indent="-180975">
              <a:lnSpc>
                <a:spcPct val="100000"/>
              </a:lnSpc>
              <a:spcBef>
                <a:spcPts val="0"/>
              </a:spcBef>
              <a:buClr>
                <a:srgbClr val="0B61FF"/>
              </a:buClr>
              <a:buSzPct val="120000"/>
            </a:pPr>
            <a:r>
              <a:rPr lang="en-US" sz="2400" b="1" i="1" dirty="0">
                <a:solidFill>
                  <a:srgbClr val="0B61FF"/>
                </a:solidFill>
                <a:latin typeface="Trebuchet MS" panose="020B0603020202020204" pitchFamily="34" charset="0"/>
              </a:rPr>
              <a:t>Ordered Complete r-</a:t>
            </a:r>
            <a:r>
              <a:rPr lang="en-US" sz="2400" b="1" i="1" dirty="0" err="1">
                <a:solidFill>
                  <a:srgbClr val="0B61FF"/>
                </a:solidFill>
                <a:latin typeface="Trebuchet MS" panose="020B0603020202020204" pitchFamily="34" charset="0"/>
              </a:rPr>
              <a:t>ary</a:t>
            </a:r>
            <a:r>
              <a:rPr lang="en-US" sz="2400" b="1" i="1" dirty="0">
                <a:solidFill>
                  <a:srgbClr val="0B61FF"/>
                </a:solidFill>
                <a:latin typeface="Trebuchet MS" panose="020B0603020202020204" pitchFamily="34" charset="0"/>
              </a:rPr>
              <a:t> Regular Tree</a:t>
            </a:r>
            <a:r>
              <a:rPr lang="en-US" sz="2400" b="1" dirty="0">
                <a:latin typeface="Trebuchet MS" panose="020B0603020202020204" pitchFamily="34" charset="0"/>
              </a:rPr>
              <a:t>:</a:t>
            </a:r>
            <a:r>
              <a:rPr lang="en-US" sz="2400" dirty="0">
                <a:latin typeface="Trebuchet MS" panose="020B0603020202020204" pitchFamily="34" charset="0"/>
              </a:rPr>
              <a:t> An ordered r-</a:t>
            </a:r>
            <a:r>
              <a:rPr lang="en-US" sz="2400" dirty="0" err="1">
                <a:latin typeface="Trebuchet MS" panose="020B0603020202020204" pitchFamily="34" charset="0"/>
              </a:rPr>
              <a:t>ary</a:t>
            </a:r>
            <a:r>
              <a:rPr lang="en-US" sz="2400" dirty="0">
                <a:latin typeface="Trebuchet MS" panose="020B0603020202020204" pitchFamily="34" charset="0"/>
              </a:rPr>
              <a:t> regular tree in which all leaves are at the same level.</a:t>
            </a:r>
          </a:p>
        </p:txBody>
      </p:sp>
    </p:spTree>
    <p:extLst>
      <p:ext uri="{BB962C8B-B14F-4D97-AF65-F5344CB8AC3E}">
        <p14:creationId xmlns:p14="http://schemas.microsoft.com/office/powerpoint/2010/main" val="4288992621"/>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8">
                                            <p:txEl>
                                              <p:pRg st="1" end="1"/>
                                            </p:txEl>
                                          </p:spTgt>
                                        </p:tgtEl>
                                        <p:attrNameLst>
                                          <p:attrName>style.visibility</p:attrName>
                                        </p:attrNameLst>
                                      </p:cBhvr>
                                      <p:to>
                                        <p:strVal val="visible"/>
                                      </p:to>
                                    </p:set>
                                    <p:animEffect transition="in" filter="fade">
                                      <p:cBhvr>
                                        <p:cTn id="7" dur="1000"/>
                                        <p:tgtEl>
                                          <p:spTgt spid="8">
                                            <p:txEl>
                                              <p:pRg st="1" end="1"/>
                                            </p:txEl>
                                          </p:spTgt>
                                        </p:tgtEl>
                                      </p:cBhvr>
                                    </p:animEffect>
                                    <p:anim calcmode="lin" valueType="num">
                                      <p:cBhvr>
                                        <p:cTn id="8" dur="1000" fill="hold"/>
                                        <p:tgtEl>
                                          <p:spTgt spid="8">
                                            <p:txEl>
                                              <p:pRg st="1" end="1"/>
                                            </p:txEl>
                                          </p:spTgt>
                                        </p:tgtEl>
                                        <p:attrNameLst>
                                          <p:attrName>ppt_x</p:attrName>
                                        </p:attrNameLst>
                                      </p:cBhvr>
                                      <p:tavLst>
                                        <p:tav tm="0">
                                          <p:val>
                                            <p:strVal val="#ppt_x"/>
                                          </p:val>
                                        </p:tav>
                                        <p:tav tm="100000">
                                          <p:val>
                                            <p:strVal val="#ppt_x"/>
                                          </p:val>
                                        </p:tav>
                                      </p:tavLst>
                                    </p:anim>
                                    <p:anim calcmode="lin" valueType="num">
                                      <p:cBhvr>
                                        <p:cTn id="9" dur="1000" fill="hold"/>
                                        <p:tgtEl>
                                          <p:spTgt spid="8">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8">
                                            <p:txEl>
                                              <p:pRg st="2" end="2"/>
                                            </p:txEl>
                                          </p:spTgt>
                                        </p:tgtEl>
                                        <p:attrNameLst>
                                          <p:attrName>style.visibility</p:attrName>
                                        </p:attrNameLst>
                                      </p:cBhvr>
                                      <p:to>
                                        <p:strVal val="visible"/>
                                      </p:to>
                                    </p:set>
                                    <p:animEffect transition="in" filter="fade">
                                      <p:cBhvr>
                                        <p:cTn id="14" dur="1000"/>
                                        <p:tgtEl>
                                          <p:spTgt spid="8">
                                            <p:txEl>
                                              <p:pRg st="2" end="2"/>
                                            </p:txEl>
                                          </p:spTgt>
                                        </p:tgtEl>
                                      </p:cBhvr>
                                    </p:animEffect>
                                    <p:anim calcmode="lin" valueType="num">
                                      <p:cBhvr>
                                        <p:cTn id="15" dur="1000" fill="hold"/>
                                        <p:tgtEl>
                                          <p:spTgt spid="8">
                                            <p:txEl>
                                              <p:pRg st="2" end="2"/>
                                            </p:txEl>
                                          </p:spTgt>
                                        </p:tgtEl>
                                        <p:attrNameLst>
                                          <p:attrName>ppt_x</p:attrName>
                                        </p:attrNameLst>
                                      </p:cBhvr>
                                      <p:tavLst>
                                        <p:tav tm="0">
                                          <p:val>
                                            <p:strVal val="#ppt_x"/>
                                          </p:val>
                                        </p:tav>
                                        <p:tav tm="100000">
                                          <p:val>
                                            <p:strVal val="#ppt_x"/>
                                          </p:val>
                                        </p:tav>
                                      </p:tavLst>
                                    </p:anim>
                                    <p:anim calcmode="lin" valueType="num">
                                      <p:cBhvr>
                                        <p:cTn id="16" dur="1000" fill="hold"/>
                                        <p:tgtEl>
                                          <p:spTgt spid="8">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nodeType="clickEffect">
                                  <p:stCondLst>
                                    <p:cond delay="0"/>
                                  </p:stCondLst>
                                  <p:childTnLst>
                                    <p:set>
                                      <p:cBhvr>
                                        <p:cTn id="20" dur="1" fill="hold">
                                          <p:stCondLst>
                                            <p:cond delay="0"/>
                                          </p:stCondLst>
                                        </p:cTn>
                                        <p:tgtEl>
                                          <p:spTgt spid="8">
                                            <p:txEl>
                                              <p:pRg st="3" end="3"/>
                                            </p:txEl>
                                          </p:spTgt>
                                        </p:tgtEl>
                                        <p:attrNameLst>
                                          <p:attrName>style.visibility</p:attrName>
                                        </p:attrNameLst>
                                      </p:cBhvr>
                                      <p:to>
                                        <p:strVal val="visible"/>
                                      </p:to>
                                    </p:set>
                                    <p:animEffect transition="in" filter="fade">
                                      <p:cBhvr>
                                        <p:cTn id="21" dur="1000"/>
                                        <p:tgtEl>
                                          <p:spTgt spid="8">
                                            <p:txEl>
                                              <p:pRg st="3" end="3"/>
                                            </p:txEl>
                                          </p:spTgt>
                                        </p:tgtEl>
                                      </p:cBhvr>
                                    </p:animEffect>
                                    <p:anim calcmode="lin" valueType="num">
                                      <p:cBhvr>
                                        <p:cTn id="22" dur="1000" fill="hold"/>
                                        <p:tgtEl>
                                          <p:spTgt spid="8">
                                            <p:txEl>
                                              <p:pRg st="3" end="3"/>
                                            </p:txEl>
                                          </p:spTgt>
                                        </p:tgtEl>
                                        <p:attrNameLst>
                                          <p:attrName>ppt_x</p:attrName>
                                        </p:attrNameLst>
                                      </p:cBhvr>
                                      <p:tavLst>
                                        <p:tav tm="0">
                                          <p:val>
                                            <p:strVal val="#ppt_x"/>
                                          </p:val>
                                        </p:tav>
                                        <p:tav tm="100000">
                                          <p:val>
                                            <p:strVal val="#ppt_x"/>
                                          </p:val>
                                        </p:tav>
                                      </p:tavLst>
                                    </p:anim>
                                    <p:anim calcmode="lin" valueType="num">
                                      <p:cBhvr>
                                        <p:cTn id="23" dur="1000" fill="hold"/>
                                        <p:tgtEl>
                                          <p:spTgt spid="8">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nodeType="clickEffect">
                                  <p:stCondLst>
                                    <p:cond delay="0"/>
                                  </p:stCondLst>
                                  <p:childTnLst>
                                    <p:set>
                                      <p:cBhvr>
                                        <p:cTn id="27" dur="1" fill="hold">
                                          <p:stCondLst>
                                            <p:cond delay="0"/>
                                          </p:stCondLst>
                                        </p:cTn>
                                        <p:tgtEl>
                                          <p:spTgt spid="8">
                                            <p:txEl>
                                              <p:pRg st="4" end="4"/>
                                            </p:txEl>
                                          </p:spTgt>
                                        </p:tgtEl>
                                        <p:attrNameLst>
                                          <p:attrName>style.visibility</p:attrName>
                                        </p:attrNameLst>
                                      </p:cBhvr>
                                      <p:to>
                                        <p:strVal val="visible"/>
                                      </p:to>
                                    </p:set>
                                    <p:animEffect transition="in" filter="fade">
                                      <p:cBhvr>
                                        <p:cTn id="28" dur="1000"/>
                                        <p:tgtEl>
                                          <p:spTgt spid="8">
                                            <p:txEl>
                                              <p:pRg st="4" end="4"/>
                                            </p:txEl>
                                          </p:spTgt>
                                        </p:tgtEl>
                                      </p:cBhvr>
                                    </p:animEffect>
                                    <p:anim calcmode="lin" valueType="num">
                                      <p:cBhvr>
                                        <p:cTn id="29" dur="1000" fill="hold"/>
                                        <p:tgtEl>
                                          <p:spTgt spid="8">
                                            <p:txEl>
                                              <p:pRg st="4" end="4"/>
                                            </p:txEl>
                                          </p:spTgt>
                                        </p:tgtEl>
                                        <p:attrNameLst>
                                          <p:attrName>ppt_x</p:attrName>
                                        </p:attrNameLst>
                                      </p:cBhvr>
                                      <p:tavLst>
                                        <p:tav tm="0">
                                          <p:val>
                                            <p:strVal val="#ppt_x"/>
                                          </p:val>
                                        </p:tav>
                                        <p:tav tm="100000">
                                          <p:val>
                                            <p:strVal val="#ppt_x"/>
                                          </p:val>
                                        </p:tav>
                                      </p:tavLst>
                                    </p:anim>
                                    <p:anim calcmode="lin" valueType="num">
                                      <p:cBhvr>
                                        <p:cTn id="30" dur="1000" fill="hold"/>
                                        <p:tgtEl>
                                          <p:spTgt spid="8">
                                            <p:txEl>
                                              <p:pRg st="4" end="4"/>
                                            </p:txEl>
                                          </p:spTgt>
                                        </p:tgtEl>
                                        <p:attrNameLst>
                                          <p:attrName>ppt_y</p:attrName>
                                        </p:attrNameLst>
                                      </p:cBhvr>
                                      <p:tavLst>
                                        <p:tav tm="0">
                                          <p:val>
                                            <p:strVal val="#ppt_y+.1"/>
                                          </p:val>
                                        </p:tav>
                                        <p:tav tm="100000">
                                          <p:val>
                                            <p:strVal val="#ppt_y"/>
                                          </p:val>
                                        </p:tav>
                                      </p:tavLst>
                                    </p:anim>
                                  </p:childTnLst>
                                </p:cTn>
                              </p:par>
                              <p:par>
                                <p:cTn id="31" presetID="42" presetClass="entr" presetSubtype="0" fill="hold" nodeType="withEffect">
                                  <p:stCondLst>
                                    <p:cond delay="0"/>
                                  </p:stCondLst>
                                  <p:childTnLst>
                                    <p:set>
                                      <p:cBhvr>
                                        <p:cTn id="32" dur="1" fill="hold">
                                          <p:stCondLst>
                                            <p:cond delay="0"/>
                                          </p:stCondLst>
                                        </p:cTn>
                                        <p:tgtEl>
                                          <p:spTgt spid="8">
                                            <p:txEl>
                                              <p:pRg st="5" end="5"/>
                                            </p:txEl>
                                          </p:spTgt>
                                        </p:tgtEl>
                                        <p:attrNameLst>
                                          <p:attrName>style.visibility</p:attrName>
                                        </p:attrNameLst>
                                      </p:cBhvr>
                                      <p:to>
                                        <p:strVal val="visible"/>
                                      </p:to>
                                    </p:set>
                                    <p:animEffect transition="in" filter="fade">
                                      <p:cBhvr>
                                        <p:cTn id="33" dur="1000"/>
                                        <p:tgtEl>
                                          <p:spTgt spid="8">
                                            <p:txEl>
                                              <p:pRg st="5" end="5"/>
                                            </p:txEl>
                                          </p:spTgt>
                                        </p:tgtEl>
                                      </p:cBhvr>
                                    </p:animEffect>
                                    <p:anim calcmode="lin" valueType="num">
                                      <p:cBhvr>
                                        <p:cTn id="34" dur="1000" fill="hold"/>
                                        <p:tgtEl>
                                          <p:spTgt spid="8">
                                            <p:txEl>
                                              <p:pRg st="5" end="5"/>
                                            </p:txEl>
                                          </p:spTgt>
                                        </p:tgtEl>
                                        <p:attrNameLst>
                                          <p:attrName>ppt_x</p:attrName>
                                        </p:attrNameLst>
                                      </p:cBhvr>
                                      <p:tavLst>
                                        <p:tav tm="0">
                                          <p:val>
                                            <p:strVal val="#ppt_x"/>
                                          </p:val>
                                        </p:tav>
                                        <p:tav tm="100000">
                                          <p:val>
                                            <p:strVal val="#ppt_x"/>
                                          </p:val>
                                        </p:tav>
                                      </p:tavLst>
                                    </p:anim>
                                    <p:anim calcmode="lin" valueType="num">
                                      <p:cBhvr>
                                        <p:cTn id="35" dur="1000" fill="hold"/>
                                        <p:tgtEl>
                                          <p:spTgt spid="8">
                                            <p:txEl>
                                              <p:pRg st="5" end="5"/>
                                            </p:txEl>
                                          </p:spTgt>
                                        </p:tgtEl>
                                        <p:attrNameLst>
                                          <p:attrName>ppt_y</p:attrName>
                                        </p:attrNameLst>
                                      </p:cBhvr>
                                      <p:tavLst>
                                        <p:tav tm="0">
                                          <p:val>
                                            <p:strVal val="#ppt_y+.1"/>
                                          </p:val>
                                        </p:tav>
                                        <p:tav tm="100000">
                                          <p:val>
                                            <p:strVal val="#ppt_y"/>
                                          </p:val>
                                        </p:tav>
                                      </p:tavLst>
                                    </p:anim>
                                  </p:childTnLst>
                                </p:cTn>
                              </p:par>
                            </p:childTnLst>
                          </p:cTn>
                        </p:par>
                      </p:childTnLst>
                    </p:cTn>
                  </p:par>
                  <p:par>
                    <p:cTn id="36" fill="hold">
                      <p:stCondLst>
                        <p:cond delay="indefinite"/>
                      </p:stCondLst>
                      <p:childTnLst>
                        <p:par>
                          <p:cTn id="37" fill="hold">
                            <p:stCondLst>
                              <p:cond delay="0"/>
                            </p:stCondLst>
                            <p:childTnLst>
                              <p:par>
                                <p:cTn id="38" presetID="42" presetClass="entr" presetSubtype="0" fill="hold" nodeType="clickEffect">
                                  <p:stCondLst>
                                    <p:cond delay="0"/>
                                  </p:stCondLst>
                                  <p:childTnLst>
                                    <p:set>
                                      <p:cBhvr>
                                        <p:cTn id="39" dur="1" fill="hold">
                                          <p:stCondLst>
                                            <p:cond delay="0"/>
                                          </p:stCondLst>
                                        </p:cTn>
                                        <p:tgtEl>
                                          <p:spTgt spid="8">
                                            <p:txEl>
                                              <p:pRg st="6" end="6"/>
                                            </p:txEl>
                                          </p:spTgt>
                                        </p:tgtEl>
                                        <p:attrNameLst>
                                          <p:attrName>style.visibility</p:attrName>
                                        </p:attrNameLst>
                                      </p:cBhvr>
                                      <p:to>
                                        <p:strVal val="visible"/>
                                      </p:to>
                                    </p:set>
                                    <p:animEffect transition="in" filter="fade">
                                      <p:cBhvr>
                                        <p:cTn id="40" dur="1000"/>
                                        <p:tgtEl>
                                          <p:spTgt spid="8">
                                            <p:txEl>
                                              <p:pRg st="6" end="6"/>
                                            </p:txEl>
                                          </p:spTgt>
                                        </p:tgtEl>
                                      </p:cBhvr>
                                    </p:animEffect>
                                    <p:anim calcmode="lin" valueType="num">
                                      <p:cBhvr>
                                        <p:cTn id="41" dur="1000" fill="hold"/>
                                        <p:tgtEl>
                                          <p:spTgt spid="8">
                                            <p:txEl>
                                              <p:pRg st="6" end="6"/>
                                            </p:txEl>
                                          </p:spTgt>
                                        </p:tgtEl>
                                        <p:attrNameLst>
                                          <p:attrName>ppt_x</p:attrName>
                                        </p:attrNameLst>
                                      </p:cBhvr>
                                      <p:tavLst>
                                        <p:tav tm="0">
                                          <p:val>
                                            <p:strVal val="#ppt_x"/>
                                          </p:val>
                                        </p:tav>
                                        <p:tav tm="100000">
                                          <p:val>
                                            <p:strVal val="#ppt_x"/>
                                          </p:val>
                                        </p:tav>
                                      </p:tavLst>
                                    </p:anim>
                                    <p:anim calcmode="lin" valueType="num">
                                      <p:cBhvr>
                                        <p:cTn id="42" dur="1000" fill="hold"/>
                                        <p:tgtEl>
                                          <p:spTgt spid="8">
                                            <p:txEl>
                                              <p:pRg st="6" end="6"/>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0" y="0"/>
            <a:ext cx="12192000" cy="762000"/>
          </a:xfrm>
          <a:prstGeom prst="rect">
            <a:avLst/>
          </a:prstGeom>
          <a:solidFill>
            <a:srgbClr val="002F7C"/>
          </a:solidFill>
        </p:spPr>
        <p:style>
          <a:lnRef idx="2">
            <a:schemeClr val="dk1">
              <a:shade val="50000"/>
            </a:schemeClr>
          </a:lnRef>
          <a:fillRef idx="1">
            <a:schemeClr val="dk1"/>
          </a:fillRef>
          <a:effectRef idx="0">
            <a:schemeClr val="dk1"/>
          </a:effectRef>
          <a:fontRef idx="minor">
            <a:schemeClr val="lt1"/>
          </a:fontRef>
        </p:style>
        <p:txBody>
          <a:bodyPr rtlCol="0" anchor="ctr"/>
          <a:lstStyle/>
          <a:p>
            <a:r>
              <a:rPr lang="zh-CN" altLang="en-US" sz="2000" b="1" dirty="0">
                <a:latin typeface="Times New Roman" panose="02020603050405020304" pitchFamily="18" charset="0"/>
                <a:ea typeface="宋体" panose="02010600030101010101" pitchFamily="2" charset="-122"/>
                <a:cs typeface="Times New Roman" panose="02020603050405020304" pitchFamily="18" charset="0"/>
              </a:rPr>
              <a:t>               </a:t>
            </a:r>
            <a:r>
              <a:rPr lang="en-US" altLang="zh-CN" sz="2400" b="1" dirty="0">
                <a:latin typeface="Trebuchet MS" panose="020B0603020202020204" pitchFamily="34" charset="0"/>
                <a:ea typeface="宋体" panose="02010600030101010101" pitchFamily="2" charset="-122"/>
                <a:cs typeface="Times New Roman" panose="02020603050405020304" pitchFamily="18" charset="0"/>
              </a:rPr>
              <a:t>7.2 </a:t>
            </a:r>
            <a:r>
              <a:rPr lang="en-US" altLang="zh-CN" sz="2400" b="1" dirty="0">
                <a:latin typeface="Trebuchet MS" panose="020B0603020202020204" pitchFamily="34" charset="0"/>
                <a:cs typeface="Times New Roman" panose="02020603050405020304" pitchFamily="18" charset="0"/>
              </a:rPr>
              <a:t>Rooted Trees and Their Applications</a:t>
            </a:r>
            <a:endParaRPr lang="zh-CN" altLang="en-US" sz="2400" b="1" dirty="0">
              <a:solidFill>
                <a:srgbClr val="3D557A"/>
              </a:solidFill>
              <a:highlight>
                <a:srgbClr val="FF0000"/>
              </a:highlight>
              <a:latin typeface="Trebuchet MS" panose="020B0603020202020204" pitchFamily="34" charset="0"/>
            </a:endParaRPr>
          </a:p>
        </p:txBody>
      </p:sp>
      <p:sp>
        <p:nvSpPr>
          <p:cNvPr id="13" name="矩形 12"/>
          <p:cNvSpPr/>
          <p:nvPr/>
        </p:nvSpPr>
        <p:spPr>
          <a:xfrm>
            <a:off x="824682" y="0"/>
            <a:ext cx="175443" cy="628650"/>
          </a:xfrm>
          <a:prstGeom prst="rect">
            <a:avLst/>
          </a:prstGeom>
          <a:solidFill>
            <a:srgbClr val="CFA57C"/>
          </a:solidFill>
          <a:ln cmpd="sng">
            <a:gradFill flip="none" rotWithShape="1">
              <a:gsLst>
                <a:gs pos="50000">
                  <a:schemeClr val="accent2">
                    <a:lumMod val="60000"/>
                    <a:lumOff val="40000"/>
                  </a:schemeClr>
                </a:gs>
                <a:gs pos="0">
                  <a:schemeClr val="accent2">
                    <a:lumMod val="20000"/>
                    <a:lumOff val="80000"/>
                  </a:schemeClr>
                </a:gs>
                <a:gs pos="95000">
                  <a:schemeClr val="accent2"/>
                </a:gs>
              </a:gsLst>
              <a:path path="circle">
                <a:fillToRect l="50000" t="-80000" r="50000" b="180000"/>
              </a:path>
              <a:tileRect/>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22" name="Picture 6" descr="D:\MBA工作\LOGO\同济经管LOGO反白.png"/>
          <p:cNvPicPr>
            <a:picLocks noChangeAspect="1" noChangeArrowheads="1"/>
          </p:cNvPicPr>
          <p:nvPr/>
        </p:nvPicPr>
        <p:blipFill>
          <a:blip r:embed="rId3" cstate="email">
            <a:extLst>
              <a:ext uri="{28A0092B-C50C-407E-A947-70E740481C1C}">
                <a14:useLocalDpi xmlns:a14="http://schemas.microsoft.com/office/drawing/2010/main" val="0"/>
              </a:ext>
            </a:extLst>
          </a:blip>
          <a:srcRect/>
          <a:stretch>
            <a:fillRect/>
          </a:stretch>
        </p:blipFill>
        <p:spPr bwMode="auto">
          <a:xfrm>
            <a:off x="10267423" y="165688"/>
            <a:ext cx="1386605" cy="462962"/>
          </a:xfrm>
          <a:prstGeom prst="rect">
            <a:avLst/>
          </a:prstGeom>
          <a:noFill/>
          <a:extLst>
            <a:ext uri="{909E8E84-426E-40DD-AFC4-6F175D3DCCD1}">
              <a14:hiddenFill xmlns:a14="http://schemas.microsoft.com/office/drawing/2010/main">
                <a:solidFill>
                  <a:srgbClr val="FFFFFF"/>
                </a:solidFill>
              </a14:hiddenFill>
            </a:ext>
          </a:extLst>
        </p:spPr>
      </p:pic>
      <p:pic>
        <p:nvPicPr>
          <p:cNvPr id="2" name="图片 1" descr="微信图片_20220318113523"/>
          <p:cNvPicPr>
            <a:picLocks noChangeAspect="1"/>
          </p:cNvPicPr>
          <p:nvPr userDrawn="1"/>
        </p:nvPicPr>
        <p:blipFill>
          <a:blip r:embed="rId4"/>
          <a:stretch>
            <a:fillRect/>
          </a:stretch>
        </p:blipFill>
        <p:spPr>
          <a:xfrm>
            <a:off x="9291877" y="6115050"/>
            <a:ext cx="2244725" cy="361315"/>
          </a:xfrm>
          <a:prstGeom prst="rect">
            <a:avLst/>
          </a:prstGeom>
        </p:spPr>
      </p:pic>
      <p:sp>
        <p:nvSpPr>
          <p:cNvPr id="18" name="Rectangle 2">
            <a:extLst>
              <a:ext uri="{FF2B5EF4-FFF2-40B4-BE49-F238E27FC236}">
                <a16:creationId xmlns:a16="http://schemas.microsoft.com/office/drawing/2014/main" id="{E217C615-1D49-4D07-B850-D36106D7AA9A}"/>
              </a:ext>
            </a:extLst>
          </p:cNvPr>
          <p:cNvSpPr>
            <a:spLocks noChangeArrowheads="1"/>
          </p:cNvSpPr>
          <p:nvPr/>
        </p:nvSpPr>
        <p:spPr bwMode="auto">
          <a:xfrm>
            <a:off x="1000125" y="815365"/>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8" name="Rectangle 3">
            <a:extLst>
              <a:ext uri="{FF2B5EF4-FFF2-40B4-BE49-F238E27FC236}">
                <a16:creationId xmlns:a16="http://schemas.microsoft.com/office/drawing/2014/main" id="{97F08C45-3D15-45C1-A5A3-D1EB58DC91FE}"/>
              </a:ext>
            </a:extLst>
          </p:cNvPr>
          <p:cNvSpPr txBox="1">
            <a:spLocks noChangeArrowheads="1"/>
          </p:cNvSpPr>
          <p:nvPr/>
        </p:nvSpPr>
        <p:spPr>
          <a:xfrm>
            <a:off x="1000125" y="914400"/>
            <a:ext cx="9877336" cy="5788025"/>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20000"/>
              </a:lnSpc>
              <a:spcBef>
                <a:spcPts val="600"/>
              </a:spcBef>
              <a:buClr>
                <a:srgbClr val="0B61FF"/>
              </a:buClr>
              <a:buSzPct val="80000"/>
              <a:buFont typeface="Wingdings" panose="05000000000000000000" pitchFamily="2" charset="2"/>
              <a:buChar char="n"/>
            </a:pPr>
            <a:r>
              <a:rPr lang="en-US" sz="2400" b="1" dirty="0">
                <a:solidFill>
                  <a:schemeClr val="bg2">
                    <a:lumMod val="75000"/>
                  </a:schemeClr>
                </a:solidFill>
                <a:latin typeface="Trebuchet MS" panose="020B0603020202020204" pitchFamily="34" charset="0"/>
              </a:rPr>
              <a:t>7.2.1 Rooted Trees and Their Classifications</a:t>
            </a:r>
          </a:p>
          <a:p>
            <a:pPr>
              <a:lnSpc>
                <a:spcPct val="120000"/>
              </a:lnSpc>
              <a:spcBef>
                <a:spcPts val="600"/>
              </a:spcBef>
              <a:buClr>
                <a:srgbClr val="0B61FF"/>
              </a:buClr>
              <a:buSzPct val="80000"/>
              <a:buFont typeface="Wingdings" panose="05000000000000000000" pitchFamily="2" charset="2"/>
              <a:buChar char="n"/>
            </a:pPr>
            <a:r>
              <a:rPr lang="en-US" sz="2400" b="1" dirty="0">
                <a:solidFill>
                  <a:srgbClr val="0B61FF"/>
                </a:solidFill>
                <a:latin typeface="Trebuchet MS" panose="020B0603020202020204" pitchFamily="34" charset="0"/>
              </a:rPr>
              <a:t>7.2.2 Optimal Trees and the Huffman Algorithm</a:t>
            </a:r>
          </a:p>
          <a:p>
            <a:pPr>
              <a:lnSpc>
                <a:spcPct val="120000"/>
              </a:lnSpc>
              <a:spcBef>
                <a:spcPts val="600"/>
              </a:spcBef>
              <a:buClr>
                <a:srgbClr val="0B61FF"/>
              </a:buClr>
              <a:buSzPct val="80000"/>
              <a:buFont typeface="Wingdings" panose="05000000000000000000" pitchFamily="2" charset="2"/>
              <a:buChar char="n"/>
            </a:pPr>
            <a:r>
              <a:rPr lang="en-US" sz="2400" b="1" dirty="0">
                <a:latin typeface="Trebuchet MS" panose="020B0603020202020204" pitchFamily="34" charset="0"/>
              </a:rPr>
              <a:t>7.2.3 Optimal Prefix Codes</a:t>
            </a:r>
          </a:p>
          <a:p>
            <a:pPr>
              <a:lnSpc>
                <a:spcPct val="120000"/>
              </a:lnSpc>
              <a:spcBef>
                <a:spcPts val="600"/>
              </a:spcBef>
              <a:buClr>
                <a:srgbClr val="0B61FF"/>
              </a:buClr>
              <a:buSzPct val="80000"/>
              <a:buFont typeface="Wingdings" panose="05000000000000000000" pitchFamily="2" charset="2"/>
              <a:buChar char="n"/>
            </a:pPr>
            <a:r>
              <a:rPr lang="en-US" sz="2400" b="1" dirty="0">
                <a:latin typeface="Trebuchet MS" panose="020B0603020202020204" pitchFamily="34" charset="0"/>
              </a:rPr>
              <a:t>7.2.4 Traversals of Rooted Trees and Their Applications</a:t>
            </a:r>
            <a:endParaRPr lang="en-US" sz="2400" dirty="0">
              <a:latin typeface="Trebuchet MS" panose="020B0603020202020204" pitchFamily="34" charset="0"/>
            </a:endParaRPr>
          </a:p>
          <a:p>
            <a:pPr marL="723900" indent="354013">
              <a:lnSpc>
                <a:spcPct val="120000"/>
              </a:lnSpc>
              <a:spcBef>
                <a:spcPts val="600"/>
              </a:spcBef>
              <a:buClr>
                <a:srgbClr val="0B61FF"/>
              </a:buClr>
              <a:buSzPct val="120000"/>
              <a:buFont typeface="Arial" panose="020B0604020202020204" pitchFamily="34" charset="0"/>
              <a:buChar char="•"/>
              <a:tabLst>
                <a:tab pos="804863" algn="l"/>
                <a:tab pos="1077913" algn="l"/>
              </a:tabLst>
            </a:pPr>
            <a:r>
              <a:rPr lang="en-US" sz="2400" dirty="0" err="1">
                <a:latin typeface="Trebuchet MS" panose="020B0603020202020204" pitchFamily="34" charset="0"/>
              </a:rPr>
              <a:t>Inorder</a:t>
            </a:r>
            <a:r>
              <a:rPr lang="en-US" sz="2400" dirty="0">
                <a:latin typeface="Trebuchet MS" panose="020B0603020202020204" pitchFamily="34" charset="0"/>
              </a:rPr>
              <a:t> Traversal, Preorder Traversal, and </a:t>
            </a:r>
            <a:r>
              <a:rPr lang="en-US" sz="2400" dirty="0" err="1">
                <a:latin typeface="Trebuchet MS" panose="020B0603020202020204" pitchFamily="34" charset="0"/>
              </a:rPr>
              <a:t>Postorder</a:t>
            </a:r>
            <a:r>
              <a:rPr lang="en-US" sz="2400" dirty="0">
                <a:latin typeface="Trebuchet MS" panose="020B0603020202020204" pitchFamily="34" charset="0"/>
              </a:rPr>
              <a:t> Traversal</a:t>
            </a:r>
          </a:p>
          <a:p>
            <a:pPr marL="723900" indent="354013">
              <a:lnSpc>
                <a:spcPct val="120000"/>
              </a:lnSpc>
              <a:spcBef>
                <a:spcPts val="600"/>
              </a:spcBef>
              <a:buClr>
                <a:srgbClr val="0B61FF"/>
              </a:buClr>
              <a:buSzPct val="120000"/>
              <a:buFont typeface="Arial" panose="020B0604020202020204" pitchFamily="34" charset="0"/>
              <a:buChar char="•"/>
              <a:tabLst>
                <a:tab pos="804863" algn="l"/>
                <a:tab pos="1077913" algn="l"/>
              </a:tabLst>
            </a:pPr>
            <a:r>
              <a:rPr lang="en-US" sz="2400" dirty="0">
                <a:latin typeface="Trebuchet MS" panose="020B0603020202020204" pitchFamily="34" charset="0"/>
              </a:rPr>
              <a:t>Polish Notation and Reverse Polish Notation</a:t>
            </a:r>
          </a:p>
        </p:txBody>
      </p:sp>
    </p:spTree>
    <p:extLst>
      <p:ext uri="{BB962C8B-B14F-4D97-AF65-F5344CB8AC3E}">
        <p14:creationId xmlns:p14="http://schemas.microsoft.com/office/powerpoint/2010/main" val="2930717101"/>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0" y="0"/>
            <a:ext cx="12192000" cy="762000"/>
          </a:xfrm>
          <a:prstGeom prst="rect">
            <a:avLst/>
          </a:prstGeom>
          <a:solidFill>
            <a:srgbClr val="002F7C"/>
          </a:solidFill>
        </p:spPr>
        <p:style>
          <a:lnRef idx="2">
            <a:schemeClr val="dk1">
              <a:shade val="50000"/>
            </a:schemeClr>
          </a:lnRef>
          <a:fillRef idx="1">
            <a:schemeClr val="dk1"/>
          </a:fillRef>
          <a:effectRef idx="0">
            <a:schemeClr val="dk1"/>
          </a:effectRef>
          <a:fontRef idx="minor">
            <a:schemeClr val="lt1"/>
          </a:fontRef>
        </p:style>
        <p:txBody>
          <a:bodyPr rtlCol="0" anchor="ctr"/>
          <a:lstStyle/>
          <a:p>
            <a:pPr>
              <a:buClr>
                <a:srgbClr val="0B61FF"/>
              </a:buClr>
              <a:buSzPct val="80000"/>
            </a:pPr>
            <a:r>
              <a:rPr lang="zh-CN" altLang="en-US" sz="2000" b="1" dirty="0">
                <a:latin typeface="Times New Roman" panose="02020603050405020304" pitchFamily="18" charset="0"/>
                <a:ea typeface="宋体" panose="02010600030101010101" pitchFamily="2" charset="-122"/>
                <a:cs typeface="Times New Roman" panose="02020603050405020304" pitchFamily="18" charset="0"/>
              </a:rPr>
              <a:t>               </a:t>
            </a:r>
            <a:r>
              <a:rPr lang="en-US" altLang="zh-CN" sz="2000" b="1" dirty="0">
                <a:latin typeface="Trebuchet MS" panose="020B0603020202020204" pitchFamily="34" charset="0"/>
              </a:rPr>
              <a:t>7.2.2 Optimal Trees and the Huffman Algorithm</a:t>
            </a:r>
          </a:p>
          <a:p>
            <a:pPr>
              <a:buClr>
                <a:srgbClr val="0B61FF"/>
              </a:buClr>
              <a:buSzPct val="80000"/>
            </a:pPr>
            <a:r>
              <a:rPr lang="en-US" altLang="zh-CN" sz="2000" b="1" dirty="0">
                <a:solidFill>
                  <a:srgbClr val="C00000"/>
                </a:solidFill>
                <a:latin typeface="Trebuchet MS" panose="020B0603020202020204" pitchFamily="34" charset="0"/>
                <a:ea typeface="Cambria Math" panose="02040503050406030204" pitchFamily="18" charset="0"/>
                <a:cs typeface="Times New Roman" panose="02020603050405020304" pitchFamily="18" charset="0"/>
              </a:rPr>
              <a:t>                   </a:t>
            </a:r>
            <a:r>
              <a:rPr lang="en-US" altLang="zh-CN" sz="2400" b="1" dirty="0">
                <a:solidFill>
                  <a:srgbClr val="C00000"/>
                </a:solidFill>
                <a:latin typeface="Trebuchet MS" panose="020B0603020202020204" pitchFamily="34" charset="0"/>
                <a:ea typeface="Cambria Math" panose="02040503050406030204" pitchFamily="18" charset="0"/>
                <a:cs typeface="Times New Roman" panose="02020603050405020304" pitchFamily="18" charset="0"/>
              </a:rPr>
              <a:t>⤷</a:t>
            </a:r>
            <a:r>
              <a:rPr lang="zh-CN" altLang="en-US" sz="2400" b="1" dirty="0">
                <a:latin typeface="Trebuchet MS" panose="020B0603020202020204" pitchFamily="34" charset="0"/>
              </a:rPr>
              <a:t> </a:t>
            </a:r>
            <a:r>
              <a:rPr lang="en-US" altLang="zh-CN" sz="2400" b="1" dirty="0">
                <a:latin typeface="Trebuchet MS" panose="020B0603020202020204" pitchFamily="34" charset="0"/>
              </a:rPr>
              <a:t>Optimal Binary Tree</a:t>
            </a:r>
          </a:p>
        </p:txBody>
      </p:sp>
      <p:sp>
        <p:nvSpPr>
          <p:cNvPr id="13" name="矩形 12"/>
          <p:cNvSpPr/>
          <p:nvPr/>
        </p:nvSpPr>
        <p:spPr>
          <a:xfrm>
            <a:off x="824682" y="0"/>
            <a:ext cx="175443" cy="628650"/>
          </a:xfrm>
          <a:prstGeom prst="rect">
            <a:avLst/>
          </a:prstGeom>
          <a:solidFill>
            <a:srgbClr val="CFA57C"/>
          </a:solidFill>
          <a:ln cmpd="sng">
            <a:gradFill flip="none" rotWithShape="1">
              <a:gsLst>
                <a:gs pos="50000">
                  <a:schemeClr val="accent2">
                    <a:lumMod val="60000"/>
                    <a:lumOff val="40000"/>
                  </a:schemeClr>
                </a:gs>
                <a:gs pos="0">
                  <a:schemeClr val="accent2">
                    <a:lumMod val="20000"/>
                    <a:lumOff val="80000"/>
                  </a:schemeClr>
                </a:gs>
                <a:gs pos="95000">
                  <a:schemeClr val="accent2"/>
                </a:gs>
              </a:gsLst>
              <a:path path="circle">
                <a:fillToRect l="50000" t="-80000" r="50000" b="180000"/>
              </a:path>
              <a:tileRect/>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22" name="Picture 6" descr="D:\MBA工作\LOGO\同济经管LOGO反白.png"/>
          <p:cNvPicPr>
            <a:picLocks noChangeAspect="1" noChangeArrowheads="1"/>
          </p:cNvPicPr>
          <p:nvPr/>
        </p:nvPicPr>
        <p:blipFill>
          <a:blip r:embed="rId3" cstate="email">
            <a:extLst>
              <a:ext uri="{28A0092B-C50C-407E-A947-70E740481C1C}">
                <a14:useLocalDpi xmlns:a14="http://schemas.microsoft.com/office/drawing/2010/main" val="0"/>
              </a:ext>
            </a:extLst>
          </a:blip>
          <a:srcRect/>
          <a:stretch>
            <a:fillRect/>
          </a:stretch>
        </p:blipFill>
        <p:spPr bwMode="auto">
          <a:xfrm>
            <a:off x="10267423" y="165688"/>
            <a:ext cx="1386605" cy="462962"/>
          </a:xfrm>
          <a:prstGeom prst="rect">
            <a:avLst/>
          </a:prstGeom>
          <a:noFill/>
          <a:extLst>
            <a:ext uri="{909E8E84-426E-40DD-AFC4-6F175D3DCCD1}">
              <a14:hiddenFill xmlns:a14="http://schemas.microsoft.com/office/drawing/2010/main">
                <a:solidFill>
                  <a:srgbClr val="FFFFFF"/>
                </a:solidFill>
              </a14:hiddenFill>
            </a:ext>
          </a:extLst>
        </p:spPr>
      </p:pic>
      <p:pic>
        <p:nvPicPr>
          <p:cNvPr id="2" name="图片 1" descr="微信图片_20220318113523"/>
          <p:cNvPicPr>
            <a:picLocks noChangeAspect="1"/>
          </p:cNvPicPr>
          <p:nvPr userDrawn="1"/>
        </p:nvPicPr>
        <p:blipFill>
          <a:blip r:embed="rId4"/>
          <a:stretch>
            <a:fillRect/>
          </a:stretch>
        </p:blipFill>
        <p:spPr>
          <a:xfrm>
            <a:off x="9291877" y="6115050"/>
            <a:ext cx="2244725" cy="361315"/>
          </a:xfrm>
          <a:prstGeom prst="rect">
            <a:avLst/>
          </a:prstGeom>
        </p:spPr>
      </p:pic>
      <p:sp>
        <p:nvSpPr>
          <p:cNvPr id="18" name="Rectangle 2">
            <a:extLst>
              <a:ext uri="{FF2B5EF4-FFF2-40B4-BE49-F238E27FC236}">
                <a16:creationId xmlns:a16="http://schemas.microsoft.com/office/drawing/2014/main" id="{E217C615-1D49-4D07-B850-D36106D7AA9A}"/>
              </a:ext>
            </a:extLst>
          </p:cNvPr>
          <p:cNvSpPr>
            <a:spLocks noChangeArrowheads="1"/>
          </p:cNvSpPr>
          <p:nvPr/>
        </p:nvSpPr>
        <p:spPr bwMode="auto">
          <a:xfrm>
            <a:off x="1000125" y="815365"/>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8" name="Rectangle 3">
            <a:extLst>
              <a:ext uri="{FF2B5EF4-FFF2-40B4-BE49-F238E27FC236}">
                <a16:creationId xmlns:a16="http://schemas.microsoft.com/office/drawing/2014/main" id="{97F08C45-3D15-45C1-A5A3-D1EB58DC91FE}"/>
              </a:ext>
            </a:extLst>
          </p:cNvPr>
          <p:cNvSpPr txBox="1">
            <a:spLocks noChangeArrowheads="1"/>
          </p:cNvSpPr>
          <p:nvPr/>
        </p:nvSpPr>
        <p:spPr>
          <a:xfrm>
            <a:off x="1000125" y="914401"/>
            <a:ext cx="9877336" cy="562279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just" eaLnBrk="1" hangingPunct="1">
              <a:spcBef>
                <a:spcPct val="45000"/>
              </a:spcBef>
              <a:buFontTx/>
              <a:buNone/>
            </a:pPr>
            <a:endParaRPr lang="en-US" altLang="zh-CN" sz="2800" b="1" i="1" dirty="0">
              <a:solidFill>
                <a:srgbClr val="FF3300"/>
              </a:solidFill>
            </a:endParaRPr>
          </a:p>
        </p:txBody>
      </p:sp>
      <p:sp>
        <p:nvSpPr>
          <p:cNvPr id="10" name="Text Box 7">
            <a:extLst>
              <a:ext uri="{FF2B5EF4-FFF2-40B4-BE49-F238E27FC236}">
                <a16:creationId xmlns:a16="http://schemas.microsoft.com/office/drawing/2014/main" id="{F2CE684F-5526-4209-8410-B9B9892AD9B4}"/>
              </a:ext>
            </a:extLst>
          </p:cNvPr>
          <p:cNvSpPr txBox="1">
            <a:spLocks noChangeArrowheads="1"/>
          </p:cNvSpPr>
          <p:nvPr/>
        </p:nvSpPr>
        <p:spPr bwMode="auto">
          <a:xfrm>
            <a:off x="756963" y="788817"/>
            <a:ext cx="9877336" cy="37539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o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266700" indent="-266700">
              <a:lnSpc>
                <a:spcPct val="120000"/>
              </a:lnSpc>
              <a:spcBef>
                <a:spcPts val="300"/>
              </a:spcBef>
              <a:buClr>
                <a:srgbClr val="0B61FF"/>
              </a:buClr>
              <a:buSzPct val="80000"/>
              <a:buFont typeface="Wingdings" panose="05000000000000000000" pitchFamily="2" charset="2"/>
              <a:buChar char="n"/>
            </a:pPr>
            <a:r>
              <a:rPr lang="en-US" sz="2400" b="1" dirty="0">
                <a:latin typeface="Trebuchet MS" panose="020B0603020202020204" pitchFamily="34" charset="0"/>
              </a:rPr>
              <a:t>Definition7.1</a:t>
            </a:r>
            <a:r>
              <a:rPr kumimoji="0" lang="zh-CN" altLang="en-US" sz="2400" b="1" dirty="0">
                <a:latin typeface="Trebuchet MS" panose="020B0603020202020204" pitchFamily="34" charset="0"/>
                <a:cs typeface="Times New Roman" panose="02020603050405020304" pitchFamily="18" charset="0"/>
              </a:rPr>
              <a:t>：</a:t>
            </a:r>
            <a:r>
              <a:rPr kumimoji="0" lang="en-US" altLang="zh-CN" sz="2400" dirty="0">
                <a:latin typeface="Trebuchet MS" panose="020B0603020202020204" pitchFamily="34" charset="0"/>
                <a:cs typeface="Times New Roman" panose="02020603050405020304" pitchFamily="18" charset="0"/>
              </a:rPr>
              <a:t>Let</a:t>
            </a:r>
            <a:r>
              <a:rPr kumimoji="0" lang="en-US" altLang="zh-CN" sz="2400" b="1" dirty="0">
                <a:latin typeface="Trebuchet MS" panose="020B0603020202020204" pitchFamily="34" charset="0"/>
                <a:cs typeface="Times New Roman" panose="02020603050405020304" pitchFamily="18" charset="0"/>
              </a:rPr>
              <a:t> </a:t>
            </a:r>
            <a:r>
              <a:rPr lang="en-US" altLang="zh-CN" sz="2400" b="1" i="1" dirty="0">
                <a:latin typeface="Trebuchet MS" panose="020B0603020202020204" pitchFamily="34" charset="0"/>
              </a:rPr>
              <a:t>T</a:t>
            </a:r>
            <a:r>
              <a:rPr lang="en-US" altLang="zh-CN" sz="2400" dirty="0">
                <a:latin typeface="Trebuchet MS" panose="020B0603020202020204" pitchFamily="34" charset="0"/>
              </a:rPr>
              <a:t> </a:t>
            </a:r>
            <a:r>
              <a:rPr lang="en-US" sz="2400" dirty="0">
                <a:latin typeface="Trebuchet MS" panose="020B0603020202020204" pitchFamily="34" charset="0"/>
              </a:rPr>
              <a:t>be a binary tree with</a:t>
            </a:r>
            <a:r>
              <a:rPr kumimoji="0" lang="en-US" sz="2400" b="1" dirty="0">
                <a:latin typeface="Trebuchet MS" panose="020B0603020202020204" pitchFamily="34" charset="0"/>
                <a:cs typeface="Times New Roman" panose="02020603050405020304" pitchFamily="18" charset="0"/>
              </a:rPr>
              <a:t> </a:t>
            </a:r>
            <a:r>
              <a:rPr kumimoji="0" lang="en-US" altLang="zh-CN" sz="2400" b="1" i="1" dirty="0">
                <a:latin typeface="Trebuchet MS" panose="020B0603020202020204" pitchFamily="34" charset="0"/>
                <a:cs typeface="Times New Roman" panose="02020603050405020304" pitchFamily="18" charset="0"/>
              </a:rPr>
              <a:t>t</a:t>
            </a:r>
            <a:r>
              <a:rPr kumimoji="0" lang="zh-CN" altLang="en-US" sz="2400" b="1" i="1" dirty="0">
                <a:latin typeface="Trebuchet MS" panose="020B0603020202020204" pitchFamily="34" charset="0"/>
                <a:cs typeface="Times New Roman" panose="02020603050405020304" pitchFamily="18" charset="0"/>
              </a:rPr>
              <a:t> </a:t>
            </a:r>
            <a:r>
              <a:rPr kumimoji="0" lang="en-US" altLang="zh-CN" sz="2400" b="1" i="1" dirty="0">
                <a:latin typeface="Trebuchet MS" panose="020B0603020202020204" pitchFamily="34" charset="0"/>
                <a:cs typeface="Times New Roman" panose="02020603050405020304" pitchFamily="18" charset="0"/>
              </a:rPr>
              <a:t>leaves</a:t>
            </a:r>
            <a:r>
              <a:rPr kumimoji="0" lang="en-US" altLang="zh-CN" sz="2400" b="1" dirty="0">
                <a:latin typeface="Trebuchet MS" panose="020B0603020202020204" pitchFamily="34" charset="0"/>
                <a:cs typeface="Times New Roman" panose="02020603050405020304" pitchFamily="18" charset="0"/>
              </a:rPr>
              <a:t> </a:t>
            </a:r>
            <a:r>
              <a:rPr kumimoji="0" lang="en-US" altLang="zh-CN" sz="2400" b="1" i="1" dirty="0">
                <a:latin typeface="Trebuchet MS" panose="020B0603020202020204" pitchFamily="34" charset="0"/>
                <a:cs typeface="Times New Roman" panose="02020603050405020304" pitchFamily="18" charset="0"/>
              </a:rPr>
              <a:t>v</a:t>
            </a:r>
            <a:r>
              <a:rPr kumimoji="0" lang="en-US" altLang="zh-CN" sz="2400" b="1" baseline="-30000" dirty="0">
                <a:latin typeface="Trebuchet MS" panose="020B0603020202020204" pitchFamily="34" charset="0"/>
                <a:cs typeface="Times New Roman" panose="02020603050405020304" pitchFamily="18" charset="0"/>
              </a:rPr>
              <a:t>1</a:t>
            </a:r>
            <a:r>
              <a:rPr kumimoji="0" lang="en-US" altLang="zh-CN" sz="2400" b="1" dirty="0">
                <a:latin typeface="Trebuchet MS" panose="020B0603020202020204" pitchFamily="34" charset="0"/>
                <a:cs typeface="Times New Roman" panose="02020603050405020304" pitchFamily="18" charset="0"/>
              </a:rPr>
              <a:t>, </a:t>
            </a:r>
            <a:r>
              <a:rPr kumimoji="0" lang="en-US" altLang="zh-CN" sz="2400" b="1" i="1" dirty="0">
                <a:latin typeface="Trebuchet MS" panose="020B0603020202020204" pitchFamily="34" charset="0"/>
                <a:cs typeface="Times New Roman" panose="02020603050405020304" pitchFamily="18" charset="0"/>
              </a:rPr>
              <a:t>v</a:t>
            </a:r>
            <a:r>
              <a:rPr kumimoji="0" lang="en-US" altLang="zh-CN" sz="2400" b="1" baseline="-30000" dirty="0">
                <a:latin typeface="Trebuchet MS" panose="020B0603020202020204" pitchFamily="34" charset="0"/>
                <a:cs typeface="Times New Roman" panose="02020603050405020304" pitchFamily="18" charset="0"/>
              </a:rPr>
              <a:t>2</a:t>
            </a:r>
            <a:r>
              <a:rPr kumimoji="0" lang="en-US" altLang="zh-CN" sz="2400" b="1" dirty="0">
                <a:latin typeface="Trebuchet MS" panose="020B0603020202020204" pitchFamily="34" charset="0"/>
                <a:cs typeface="Times New Roman" panose="02020603050405020304" pitchFamily="18" charset="0"/>
              </a:rPr>
              <a:t>, …, </a:t>
            </a:r>
            <a:r>
              <a:rPr kumimoji="0" lang="en-US" altLang="zh-CN" sz="2400" b="1" i="1" dirty="0" err="1">
                <a:latin typeface="Trebuchet MS" panose="020B0603020202020204" pitchFamily="34" charset="0"/>
                <a:cs typeface="Times New Roman" panose="02020603050405020304" pitchFamily="18" charset="0"/>
              </a:rPr>
              <a:t>v</a:t>
            </a:r>
            <a:r>
              <a:rPr kumimoji="0" lang="en-US" altLang="zh-CN" sz="2400" b="1" i="1" baseline="-30000" dirty="0" err="1">
                <a:latin typeface="Trebuchet MS" panose="020B0603020202020204" pitchFamily="34" charset="0"/>
                <a:cs typeface="Times New Roman" panose="02020603050405020304" pitchFamily="18" charset="0"/>
              </a:rPr>
              <a:t>t</a:t>
            </a:r>
            <a:r>
              <a:rPr kumimoji="0" lang="en-US" altLang="zh-CN" sz="2400" b="1" dirty="0">
                <a:latin typeface="Trebuchet MS" panose="020B0603020202020204" pitchFamily="34" charset="0"/>
                <a:cs typeface="Times New Roman" panose="02020603050405020304" pitchFamily="18" charset="0"/>
              </a:rPr>
              <a:t>, </a:t>
            </a:r>
            <a:r>
              <a:rPr lang="en-US" sz="2400" dirty="0">
                <a:latin typeface="Trebuchet MS" panose="020B0603020202020204" pitchFamily="34" charset="0"/>
              </a:rPr>
              <a:t>and let the weights of the leaves be </a:t>
            </a:r>
            <a:r>
              <a:rPr kumimoji="0" lang="en-US" altLang="zh-CN" sz="2400" b="1" i="1" dirty="0">
                <a:latin typeface="Trebuchet MS" panose="020B0603020202020204" pitchFamily="34" charset="0"/>
                <a:cs typeface="Times New Roman" panose="02020603050405020304" pitchFamily="18" charset="0"/>
              </a:rPr>
              <a:t>w</a:t>
            </a:r>
            <a:r>
              <a:rPr kumimoji="0" lang="en-US" altLang="zh-CN" sz="2400" b="1" baseline="-30000" dirty="0">
                <a:latin typeface="Trebuchet MS" panose="020B0603020202020204" pitchFamily="34" charset="0"/>
                <a:cs typeface="Times New Roman" panose="02020603050405020304" pitchFamily="18" charset="0"/>
              </a:rPr>
              <a:t>1</a:t>
            </a:r>
            <a:r>
              <a:rPr kumimoji="0" lang="en-US" altLang="zh-CN" sz="2400" b="1" dirty="0">
                <a:latin typeface="Trebuchet MS" panose="020B0603020202020204" pitchFamily="34" charset="0"/>
                <a:cs typeface="Times New Roman" panose="02020603050405020304" pitchFamily="18" charset="0"/>
              </a:rPr>
              <a:t>, </a:t>
            </a:r>
            <a:r>
              <a:rPr kumimoji="0" lang="en-US" altLang="zh-CN" sz="2400" b="1" i="1" dirty="0">
                <a:latin typeface="Trebuchet MS" panose="020B0603020202020204" pitchFamily="34" charset="0"/>
                <a:cs typeface="Times New Roman" panose="02020603050405020304" pitchFamily="18" charset="0"/>
              </a:rPr>
              <a:t>w</a:t>
            </a:r>
            <a:r>
              <a:rPr kumimoji="0" lang="en-US" altLang="zh-CN" sz="2400" b="1" baseline="-30000" dirty="0">
                <a:latin typeface="Trebuchet MS" panose="020B0603020202020204" pitchFamily="34" charset="0"/>
                <a:cs typeface="Times New Roman" panose="02020603050405020304" pitchFamily="18" charset="0"/>
              </a:rPr>
              <a:t>2</a:t>
            </a:r>
            <a:r>
              <a:rPr kumimoji="0" lang="en-US" altLang="zh-CN" sz="2400" b="1" dirty="0">
                <a:latin typeface="Trebuchet MS" panose="020B0603020202020204" pitchFamily="34" charset="0"/>
                <a:cs typeface="Times New Roman" panose="02020603050405020304" pitchFamily="18" charset="0"/>
              </a:rPr>
              <a:t>, …, </a:t>
            </a:r>
            <a:r>
              <a:rPr kumimoji="0" lang="en-US" altLang="zh-CN" sz="2400" b="1" i="1" dirty="0">
                <a:latin typeface="Trebuchet MS" panose="020B0603020202020204" pitchFamily="34" charset="0"/>
                <a:cs typeface="Times New Roman" panose="02020603050405020304" pitchFamily="18" charset="0"/>
              </a:rPr>
              <a:t>w</a:t>
            </a:r>
            <a:r>
              <a:rPr kumimoji="0" lang="en-US" altLang="zh-CN" sz="2400" b="1" i="1" baseline="-30000" dirty="0">
                <a:latin typeface="Trebuchet MS" panose="020B0603020202020204" pitchFamily="34" charset="0"/>
                <a:cs typeface="Times New Roman" panose="02020603050405020304" pitchFamily="18" charset="0"/>
              </a:rPr>
              <a:t>t</a:t>
            </a:r>
            <a:r>
              <a:rPr kumimoji="0" lang="en-US" altLang="zh-CN" sz="2400" b="1" i="1" dirty="0">
                <a:latin typeface="Trebuchet MS" panose="020B0603020202020204" pitchFamily="34" charset="0"/>
                <a:cs typeface="Times New Roman" panose="02020603050405020304" pitchFamily="18" charset="0"/>
              </a:rPr>
              <a:t>.</a:t>
            </a:r>
            <a:r>
              <a:rPr kumimoji="0" lang="en-US" altLang="zh-CN" sz="2400" b="1" i="1" baseline="-30000" dirty="0">
                <a:latin typeface="Trebuchet MS" panose="020B0603020202020204" pitchFamily="34" charset="0"/>
                <a:cs typeface="Times New Roman" panose="02020603050405020304" pitchFamily="18" charset="0"/>
              </a:rPr>
              <a:t> </a:t>
            </a:r>
          </a:p>
          <a:p>
            <a:pPr marL="361950" indent="-180975">
              <a:lnSpc>
                <a:spcPct val="120000"/>
              </a:lnSpc>
              <a:spcBef>
                <a:spcPts val="300"/>
              </a:spcBef>
              <a:buClr>
                <a:srgbClr val="0B61FF"/>
              </a:buClr>
              <a:buSzPct val="120000"/>
              <a:buFont typeface="Arial" panose="020B0604020202020204" pitchFamily="34" charset="0"/>
              <a:buChar char="•"/>
            </a:pPr>
            <a:r>
              <a:rPr lang="en-US" sz="2400" dirty="0">
                <a:latin typeface="Trebuchet MS" panose="020B0603020202020204" pitchFamily="34" charset="0"/>
              </a:rPr>
              <a:t>The </a:t>
            </a:r>
            <a:r>
              <a:rPr lang="en-US" sz="2400" b="1" dirty="0">
                <a:latin typeface="Trebuchet MS" panose="020B0603020202020204" pitchFamily="34" charset="0"/>
              </a:rPr>
              <a:t>weight</a:t>
            </a:r>
            <a:r>
              <a:rPr lang="en-US" sz="2400" dirty="0">
                <a:latin typeface="Trebuchet MS" panose="020B0603020202020204" pitchFamily="34" charset="0"/>
              </a:rPr>
              <a:t> of tree </a:t>
            </a:r>
            <a:r>
              <a:rPr lang="en-US" sz="2400" b="1" i="1" dirty="0">
                <a:latin typeface="Trebuchet MS" panose="020B0603020202020204" pitchFamily="34" charset="0"/>
              </a:rPr>
              <a:t>T</a:t>
            </a:r>
            <a:r>
              <a:rPr lang="en-US" sz="2400" dirty="0">
                <a:latin typeface="Trebuchet MS" panose="020B0603020202020204" pitchFamily="34" charset="0"/>
              </a:rPr>
              <a:t> is defined as:                   ,</a:t>
            </a:r>
            <a:r>
              <a:rPr kumimoji="0" lang="en-US" altLang="zh-CN" sz="2400" b="1" dirty="0">
                <a:latin typeface="Trebuchet MS" panose="020B0603020202020204" pitchFamily="34" charset="0"/>
                <a:cs typeface="Times New Roman" panose="02020603050405020304" pitchFamily="18" charset="0"/>
              </a:rPr>
              <a:t> </a:t>
            </a:r>
            <a:r>
              <a:rPr lang="en-US" sz="2400" dirty="0">
                <a:latin typeface="Trebuchet MS" panose="020B0603020202020204" pitchFamily="34" charset="0"/>
              </a:rPr>
              <a:t>where </a:t>
            </a:r>
            <a:r>
              <a:rPr kumimoji="0" lang="en-US" altLang="zh-CN" sz="2400" b="1" i="1" dirty="0">
                <a:latin typeface="Trebuchet MS" panose="020B0603020202020204" pitchFamily="34" charset="0"/>
                <a:cs typeface="Times New Roman" panose="02020603050405020304" pitchFamily="18" charset="0"/>
              </a:rPr>
              <a:t>l</a:t>
            </a:r>
            <a:r>
              <a:rPr kumimoji="0" lang="en-US" altLang="zh-CN" sz="2400" b="1" dirty="0">
                <a:latin typeface="Trebuchet MS" panose="020B0603020202020204" pitchFamily="34" charset="0"/>
                <a:cs typeface="Times New Roman" panose="02020603050405020304" pitchFamily="18" charset="0"/>
              </a:rPr>
              <a:t>(</a:t>
            </a:r>
            <a:r>
              <a:rPr kumimoji="0" lang="en-US" altLang="zh-CN" sz="2400" b="1" i="1" dirty="0">
                <a:latin typeface="Trebuchet MS" panose="020B0603020202020204" pitchFamily="34" charset="0"/>
                <a:cs typeface="Times New Roman" panose="02020603050405020304" pitchFamily="18" charset="0"/>
              </a:rPr>
              <a:t>v</a:t>
            </a:r>
            <a:r>
              <a:rPr kumimoji="0" lang="en-US" altLang="zh-CN" sz="2400" b="1" i="1" baseline="-30000" dirty="0">
                <a:latin typeface="Trebuchet MS" panose="020B0603020202020204" pitchFamily="34" charset="0"/>
                <a:cs typeface="Times New Roman" panose="02020603050405020304" pitchFamily="18" charset="0"/>
              </a:rPr>
              <a:t>i</a:t>
            </a:r>
            <a:r>
              <a:rPr kumimoji="0" lang="en-US" altLang="zh-CN" sz="2400" b="1" dirty="0">
                <a:latin typeface="Trebuchet MS" panose="020B0603020202020204" pitchFamily="34" charset="0"/>
                <a:cs typeface="Times New Roman" panose="02020603050405020304" pitchFamily="18" charset="0"/>
              </a:rPr>
              <a:t>) </a:t>
            </a:r>
            <a:r>
              <a:rPr lang="en-US" sz="2400" dirty="0">
                <a:latin typeface="Trebuchet MS" panose="020B0603020202020204" pitchFamily="34" charset="0"/>
              </a:rPr>
              <a:t>is the level (depth) of leaf </a:t>
            </a:r>
            <a:r>
              <a:rPr kumimoji="0" lang="en-US" altLang="zh-CN" sz="2400" b="1" i="1" dirty="0">
                <a:latin typeface="Trebuchet MS" panose="020B0603020202020204" pitchFamily="34" charset="0"/>
                <a:cs typeface="Times New Roman" panose="02020603050405020304" pitchFamily="18" charset="0"/>
              </a:rPr>
              <a:t>v</a:t>
            </a:r>
            <a:r>
              <a:rPr kumimoji="0" lang="en-US" altLang="zh-CN" sz="2400" b="1" i="1" baseline="-30000" dirty="0">
                <a:latin typeface="Trebuchet MS" panose="020B0603020202020204" pitchFamily="34" charset="0"/>
                <a:cs typeface="Times New Roman" panose="02020603050405020304" pitchFamily="18" charset="0"/>
              </a:rPr>
              <a:t>i</a:t>
            </a:r>
            <a:r>
              <a:rPr kumimoji="0" lang="en-US" altLang="zh-CN" sz="2400" b="1" i="1" dirty="0">
                <a:latin typeface="Trebuchet MS" panose="020B0603020202020204" pitchFamily="34" charset="0"/>
                <a:cs typeface="Times New Roman" panose="02020603050405020304" pitchFamily="18" charset="0"/>
              </a:rPr>
              <a:t>.</a:t>
            </a:r>
          </a:p>
          <a:p>
            <a:pPr marL="361950" indent="-180975">
              <a:lnSpc>
                <a:spcPct val="120000"/>
              </a:lnSpc>
              <a:spcBef>
                <a:spcPts val="300"/>
              </a:spcBef>
              <a:buClr>
                <a:srgbClr val="0B61FF"/>
              </a:buClr>
              <a:buSzPct val="120000"/>
              <a:buFont typeface="Arial" panose="020B0604020202020204" pitchFamily="34" charset="0"/>
              <a:buChar char="•"/>
            </a:pPr>
            <a:r>
              <a:rPr lang="en-US" sz="2400" dirty="0">
                <a:latin typeface="Trebuchet MS" panose="020B0603020202020204" pitchFamily="34" charset="0"/>
              </a:rPr>
              <a:t>Among all binary trees with </a:t>
            </a:r>
            <a:r>
              <a:rPr lang="en-US" sz="2400" b="1" i="1" dirty="0">
                <a:latin typeface="Trebuchet MS" panose="020B0603020202020204" pitchFamily="34" charset="0"/>
              </a:rPr>
              <a:t>t</a:t>
            </a:r>
            <a:r>
              <a:rPr lang="en-US" sz="2400" dirty="0">
                <a:latin typeface="Trebuchet MS" panose="020B0603020202020204" pitchFamily="34" charset="0"/>
              </a:rPr>
              <a:t> leaves and weights </a:t>
            </a:r>
            <a:r>
              <a:rPr kumimoji="0" lang="en-US" altLang="zh-CN" sz="2400" b="1" i="1" dirty="0">
                <a:latin typeface="Trebuchet MS" panose="020B0603020202020204" pitchFamily="34" charset="0"/>
                <a:cs typeface="Times New Roman" panose="02020603050405020304" pitchFamily="18" charset="0"/>
              </a:rPr>
              <a:t>w</a:t>
            </a:r>
            <a:r>
              <a:rPr kumimoji="0" lang="en-US" altLang="zh-CN" sz="2400" b="1" baseline="-30000" dirty="0">
                <a:latin typeface="Trebuchet MS" panose="020B0603020202020204" pitchFamily="34" charset="0"/>
                <a:cs typeface="Times New Roman" panose="02020603050405020304" pitchFamily="18" charset="0"/>
              </a:rPr>
              <a:t>1</a:t>
            </a:r>
            <a:r>
              <a:rPr kumimoji="0" lang="en-US" altLang="zh-CN" sz="2400" b="1" dirty="0">
                <a:latin typeface="Trebuchet MS" panose="020B0603020202020204" pitchFamily="34" charset="0"/>
                <a:cs typeface="Times New Roman" panose="02020603050405020304" pitchFamily="18" charset="0"/>
              </a:rPr>
              <a:t>, </a:t>
            </a:r>
            <a:r>
              <a:rPr kumimoji="0" lang="en-US" altLang="zh-CN" sz="2400" b="1" i="1" dirty="0">
                <a:latin typeface="Trebuchet MS" panose="020B0603020202020204" pitchFamily="34" charset="0"/>
                <a:cs typeface="Times New Roman" panose="02020603050405020304" pitchFamily="18" charset="0"/>
              </a:rPr>
              <a:t>w</a:t>
            </a:r>
            <a:r>
              <a:rPr kumimoji="0" lang="en-US" altLang="zh-CN" sz="2400" b="1" baseline="-30000" dirty="0">
                <a:latin typeface="Trebuchet MS" panose="020B0603020202020204" pitchFamily="34" charset="0"/>
                <a:cs typeface="Times New Roman" panose="02020603050405020304" pitchFamily="18" charset="0"/>
              </a:rPr>
              <a:t>2</a:t>
            </a:r>
            <a:r>
              <a:rPr kumimoji="0" lang="en-US" altLang="zh-CN" sz="2400" b="1" dirty="0">
                <a:latin typeface="Trebuchet MS" panose="020B0603020202020204" pitchFamily="34" charset="0"/>
                <a:cs typeface="Times New Roman" panose="02020603050405020304" pitchFamily="18" charset="0"/>
              </a:rPr>
              <a:t>, …, </a:t>
            </a:r>
            <a:r>
              <a:rPr kumimoji="0" lang="en-US" altLang="zh-CN" sz="2400" b="1" i="1" dirty="0" err="1">
                <a:latin typeface="Trebuchet MS" panose="020B0603020202020204" pitchFamily="34" charset="0"/>
                <a:cs typeface="Times New Roman" panose="02020603050405020304" pitchFamily="18" charset="0"/>
              </a:rPr>
              <a:t>w</a:t>
            </a:r>
            <a:r>
              <a:rPr kumimoji="0" lang="en-US" altLang="zh-CN" sz="2400" b="1" i="1" baseline="-30000" dirty="0" err="1">
                <a:latin typeface="Trebuchet MS" panose="020B0603020202020204" pitchFamily="34" charset="0"/>
                <a:cs typeface="Times New Roman" panose="02020603050405020304" pitchFamily="18" charset="0"/>
              </a:rPr>
              <a:t>t</a:t>
            </a:r>
            <a:r>
              <a:rPr kumimoji="0" lang="en-US" altLang="zh-CN" sz="2400" b="1" i="1" baseline="-30000" dirty="0">
                <a:latin typeface="Trebuchet MS" panose="020B0603020202020204" pitchFamily="34" charset="0"/>
                <a:cs typeface="Times New Roman" panose="02020603050405020304" pitchFamily="18" charset="0"/>
              </a:rPr>
              <a:t> </a:t>
            </a:r>
            <a:r>
              <a:rPr lang="en-US" sz="2400" dirty="0">
                <a:latin typeface="Trebuchet MS" panose="020B0603020202020204" pitchFamily="34" charset="0"/>
              </a:rPr>
              <a:t>​, the one with the minimum total weight </a:t>
            </a:r>
            <a:r>
              <a:rPr kumimoji="0" lang="en-US" altLang="zh-CN" sz="2400" b="1" i="1" dirty="0">
                <a:latin typeface="Trebuchet MS" panose="020B0603020202020204" pitchFamily="34" charset="0"/>
                <a:cs typeface="Times New Roman" panose="02020603050405020304" pitchFamily="18" charset="0"/>
              </a:rPr>
              <a:t>W</a:t>
            </a:r>
            <a:r>
              <a:rPr kumimoji="0" lang="en-US" altLang="zh-CN" sz="2400" b="1" dirty="0">
                <a:latin typeface="Trebuchet MS" panose="020B0603020202020204" pitchFamily="34" charset="0"/>
                <a:cs typeface="Times New Roman" panose="02020603050405020304" pitchFamily="18" charset="0"/>
              </a:rPr>
              <a:t>(</a:t>
            </a:r>
            <a:r>
              <a:rPr kumimoji="0" lang="en-US" altLang="zh-CN" sz="2400" b="1" i="1" dirty="0">
                <a:latin typeface="Trebuchet MS" panose="020B0603020202020204" pitchFamily="34" charset="0"/>
                <a:cs typeface="Times New Roman" panose="02020603050405020304" pitchFamily="18" charset="0"/>
              </a:rPr>
              <a:t>T</a:t>
            </a:r>
            <a:r>
              <a:rPr kumimoji="0" lang="en-US" altLang="zh-CN" sz="2400" b="1" dirty="0">
                <a:latin typeface="Trebuchet MS" panose="020B0603020202020204" pitchFamily="34" charset="0"/>
                <a:cs typeface="Times New Roman" panose="02020603050405020304" pitchFamily="18" charset="0"/>
              </a:rPr>
              <a:t>), </a:t>
            </a:r>
            <a:r>
              <a:rPr lang="en-US" sz="2400" dirty="0">
                <a:latin typeface="Trebuchet MS" panose="020B0603020202020204" pitchFamily="34" charset="0"/>
              </a:rPr>
              <a:t>) is called the </a:t>
            </a:r>
            <a:r>
              <a:rPr lang="en-US" sz="2400" b="1" i="1" dirty="0">
                <a:solidFill>
                  <a:srgbClr val="0B61FF"/>
                </a:solidFill>
                <a:latin typeface="Trebuchet MS" panose="020B0603020202020204" pitchFamily="34" charset="0"/>
              </a:rPr>
              <a:t>optimal binary tree</a:t>
            </a:r>
            <a:r>
              <a:rPr lang="en-US" sz="2400" dirty="0">
                <a:latin typeface="Trebuchet MS" panose="020B0603020202020204" pitchFamily="34" charset="0"/>
              </a:rPr>
              <a:t>.</a:t>
            </a:r>
            <a:endParaRPr kumimoji="0" lang="en-US" altLang="zh-CN" sz="2400" b="1" dirty="0">
              <a:latin typeface="Trebuchet MS" panose="020B0603020202020204" pitchFamily="34" charset="0"/>
              <a:cs typeface="Times New Roman" panose="02020603050405020304" pitchFamily="18" charset="0"/>
            </a:endParaRPr>
          </a:p>
          <a:p>
            <a:pPr marL="342900" indent="-342900">
              <a:lnSpc>
                <a:spcPct val="120000"/>
              </a:lnSpc>
              <a:spcBef>
                <a:spcPts val="300"/>
              </a:spcBef>
              <a:buClr>
                <a:srgbClr val="0B61FF"/>
              </a:buClr>
              <a:buSzPct val="80000"/>
              <a:buFont typeface="Wingdings" panose="05000000000000000000" pitchFamily="2" charset="2"/>
              <a:buChar char="n"/>
            </a:pPr>
            <a:r>
              <a:rPr kumimoji="0" lang="en-US" altLang="zh-CN" sz="2400" b="1" dirty="0">
                <a:latin typeface="Trebuchet MS" panose="020B0603020202020204" pitchFamily="34" charset="0"/>
              </a:rPr>
              <a:t>Example</a:t>
            </a:r>
            <a:r>
              <a:rPr kumimoji="0" lang="zh-CN" altLang="en-US" sz="2400" b="1" dirty="0">
                <a:latin typeface="Trebuchet MS" panose="020B0603020202020204" pitchFamily="34" charset="0"/>
              </a:rPr>
              <a:t>：</a:t>
            </a:r>
          </a:p>
          <a:p>
            <a:pPr eaLnBrk="1" hangingPunct="1">
              <a:spcBef>
                <a:spcPct val="80000"/>
              </a:spcBef>
              <a:buClr>
                <a:schemeClr val="bg2"/>
              </a:buClr>
              <a:buSzPct val="75000"/>
              <a:buFont typeface="Wingdings" panose="05000000000000000000" pitchFamily="2" charset="2"/>
              <a:buNone/>
            </a:pPr>
            <a:endParaRPr kumimoji="0" lang="zh-CN" altLang="en-US" sz="2400" b="1" dirty="0">
              <a:cs typeface="Times New Roman" panose="02020603050405020304" pitchFamily="18" charset="0"/>
            </a:endParaRPr>
          </a:p>
        </p:txBody>
      </p:sp>
      <p:graphicFrame>
        <p:nvGraphicFramePr>
          <p:cNvPr id="11" name="Object 0">
            <a:extLst>
              <a:ext uri="{FF2B5EF4-FFF2-40B4-BE49-F238E27FC236}">
                <a16:creationId xmlns:a16="http://schemas.microsoft.com/office/drawing/2014/main" id="{A0C0E3B9-19FB-45DC-BBEB-31CB836BE96F}"/>
              </a:ext>
            </a:extLst>
          </p:cNvPr>
          <p:cNvGraphicFramePr>
            <a:graphicFrameLocks noChangeAspect="1"/>
          </p:cNvGraphicFramePr>
          <p:nvPr>
            <p:extLst>
              <p:ext uri="{D42A27DB-BD31-4B8C-83A1-F6EECF244321}">
                <p14:modId xmlns:p14="http://schemas.microsoft.com/office/powerpoint/2010/main" val="1706775333"/>
              </p:ext>
            </p:extLst>
          </p:nvPr>
        </p:nvGraphicFramePr>
        <p:xfrm>
          <a:off x="6089331" y="1670406"/>
          <a:ext cx="1607628" cy="708145"/>
        </p:xfrm>
        <a:graphic>
          <a:graphicData uri="http://schemas.openxmlformats.org/presentationml/2006/ole">
            <mc:AlternateContent xmlns:mc="http://schemas.openxmlformats.org/markup-compatibility/2006">
              <mc:Choice xmlns:v="urn:schemas-microsoft-com:vml" Requires="v">
                <p:oleObj name="Equation" r:id="rId5" imgW="1104900" imgH="431800" progId="Equation.DSMT4">
                  <p:embed/>
                </p:oleObj>
              </mc:Choice>
              <mc:Fallback>
                <p:oleObj name="Equation" r:id="rId5" imgW="1104900" imgH="431800" progId="Equation.DSMT4">
                  <p:embed/>
                  <p:pic>
                    <p:nvPicPr>
                      <p:cNvPr id="11" name="Object 0">
                        <a:extLst>
                          <a:ext uri="{FF2B5EF4-FFF2-40B4-BE49-F238E27FC236}">
                            <a16:creationId xmlns:a16="http://schemas.microsoft.com/office/drawing/2014/main" id="{A0C0E3B9-19FB-45DC-BBEB-31CB836BE96F}"/>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089331" y="1670406"/>
                        <a:ext cx="1607628" cy="708145"/>
                      </a:xfrm>
                      <a:prstGeom prst="rect">
                        <a:avLst/>
                      </a:prstGeom>
                      <a:noFill/>
                      <a:ln>
                        <a:noFill/>
                      </a:ln>
                    </p:spPr>
                  </p:pic>
                </p:oleObj>
              </mc:Fallback>
            </mc:AlternateContent>
          </a:graphicData>
        </a:graphic>
      </p:graphicFrame>
      <p:grpSp>
        <p:nvGrpSpPr>
          <p:cNvPr id="6" name="组合 5">
            <a:extLst>
              <a:ext uri="{FF2B5EF4-FFF2-40B4-BE49-F238E27FC236}">
                <a16:creationId xmlns:a16="http://schemas.microsoft.com/office/drawing/2014/main" id="{FA5881FD-347C-413B-88FE-BCB3C4BDF73D}"/>
              </a:ext>
            </a:extLst>
          </p:cNvPr>
          <p:cNvGrpSpPr/>
          <p:nvPr/>
        </p:nvGrpSpPr>
        <p:grpSpPr>
          <a:xfrm>
            <a:off x="2734424" y="4215947"/>
            <a:ext cx="1905000" cy="2321251"/>
            <a:chOff x="2734424" y="4215947"/>
            <a:chExt cx="1905000" cy="2321251"/>
          </a:xfrm>
        </p:grpSpPr>
        <p:grpSp>
          <p:nvGrpSpPr>
            <p:cNvPr id="15" name="Group 30">
              <a:extLst>
                <a:ext uri="{FF2B5EF4-FFF2-40B4-BE49-F238E27FC236}">
                  <a16:creationId xmlns:a16="http://schemas.microsoft.com/office/drawing/2014/main" id="{DE9B139A-4EF8-4BC3-A866-AFF084037C5C}"/>
                </a:ext>
              </a:extLst>
            </p:cNvPr>
            <p:cNvGrpSpPr>
              <a:grpSpLocks/>
            </p:cNvGrpSpPr>
            <p:nvPr/>
          </p:nvGrpSpPr>
          <p:grpSpPr bwMode="auto">
            <a:xfrm>
              <a:off x="2734424" y="4215947"/>
              <a:ext cx="1905000" cy="1752600"/>
              <a:chOff x="768" y="2832"/>
              <a:chExt cx="1200" cy="1104"/>
            </a:xfrm>
            <a:noFill/>
          </p:grpSpPr>
          <p:pic>
            <p:nvPicPr>
              <p:cNvPr id="36" name="Picture 10" descr="E:\插图\离散\图7-10(1).tif">
                <a:extLst>
                  <a:ext uri="{FF2B5EF4-FFF2-40B4-BE49-F238E27FC236}">
                    <a16:creationId xmlns:a16="http://schemas.microsoft.com/office/drawing/2014/main" id="{585AC86B-F666-4DB1-AD44-C4C5E8A19513}"/>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864" y="2832"/>
                <a:ext cx="983" cy="864"/>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pic>
          <p:sp>
            <p:nvSpPr>
              <p:cNvPr id="37" name="Text Box 15">
                <a:extLst>
                  <a:ext uri="{FF2B5EF4-FFF2-40B4-BE49-F238E27FC236}">
                    <a16:creationId xmlns:a16="http://schemas.microsoft.com/office/drawing/2014/main" id="{4D65B9E1-7DB5-405E-9C2B-42BB953B748D}"/>
                  </a:ext>
                </a:extLst>
              </p:cNvPr>
              <p:cNvSpPr txBox="1">
                <a:spLocks noChangeArrowheads="1"/>
              </p:cNvSpPr>
              <p:nvPr/>
            </p:nvSpPr>
            <p:spPr bwMode="auto">
              <a:xfrm>
                <a:off x="1680" y="3360"/>
                <a:ext cx="288" cy="288"/>
              </a:xfrm>
              <a:prstGeom prst="rect">
                <a:avLst/>
              </a:prstGeom>
              <a:grpFill/>
              <a:ln>
                <a:noFill/>
              </a:ln>
              <a:extLst>
                <a:ext uri="{91240B29-F687-4F45-9708-019B960494DF}">
                  <a14:hiddenLine xmlns:a14="http://schemas.microsoft.com/office/drawing/2010/main" w="6350">
                    <a:solidFill>
                      <a:srgbClr val="000000"/>
                    </a:solidFill>
                    <a:miter lim="800000"/>
                    <a:headEnd/>
                    <a:tailEnd/>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FontTx/>
                  <a:buNone/>
                </a:pPr>
                <a:r>
                  <a:rPr kumimoji="0" lang="zh-CN" altLang="en-US" sz="2400" b="1"/>
                  <a:t>1</a:t>
                </a:r>
              </a:p>
            </p:txBody>
          </p:sp>
          <p:sp>
            <p:nvSpPr>
              <p:cNvPr id="38" name="Text Box 18">
                <a:extLst>
                  <a:ext uri="{FF2B5EF4-FFF2-40B4-BE49-F238E27FC236}">
                    <a16:creationId xmlns:a16="http://schemas.microsoft.com/office/drawing/2014/main" id="{014FEB41-F067-45D9-85E9-052CFC349C64}"/>
                  </a:ext>
                </a:extLst>
              </p:cNvPr>
              <p:cNvSpPr txBox="1">
                <a:spLocks noChangeArrowheads="1"/>
              </p:cNvSpPr>
              <p:nvPr/>
            </p:nvSpPr>
            <p:spPr bwMode="auto">
              <a:xfrm>
                <a:off x="1104" y="3648"/>
                <a:ext cx="288" cy="288"/>
              </a:xfrm>
              <a:prstGeom prst="rect">
                <a:avLst/>
              </a:prstGeom>
              <a:grpFill/>
              <a:ln>
                <a:noFill/>
              </a:ln>
              <a:extLst>
                <a:ext uri="{91240B29-F687-4F45-9708-019B960494DF}">
                  <a14:hiddenLine xmlns:a14="http://schemas.microsoft.com/office/drawing/2010/main" w="6350">
                    <a:solidFill>
                      <a:srgbClr val="000000"/>
                    </a:solidFill>
                    <a:miter lim="800000"/>
                    <a:headEnd/>
                    <a:tailEnd/>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FontTx/>
                  <a:buNone/>
                </a:pPr>
                <a:r>
                  <a:rPr kumimoji="0" lang="zh-CN" altLang="en-US" sz="2400" b="1" dirty="0"/>
                  <a:t>3</a:t>
                </a:r>
              </a:p>
            </p:txBody>
          </p:sp>
          <p:sp>
            <p:nvSpPr>
              <p:cNvPr id="39" name="Text Box 21">
                <a:extLst>
                  <a:ext uri="{FF2B5EF4-FFF2-40B4-BE49-F238E27FC236}">
                    <a16:creationId xmlns:a16="http://schemas.microsoft.com/office/drawing/2014/main" id="{840CFBFF-B385-4C4F-AEFA-0A10E50E732F}"/>
                  </a:ext>
                </a:extLst>
              </p:cNvPr>
              <p:cNvSpPr txBox="1">
                <a:spLocks noChangeArrowheads="1"/>
              </p:cNvSpPr>
              <p:nvPr/>
            </p:nvSpPr>
            <p:spPr bwMode="auto">
              <a:xfrm>
                <a:off x="1200" y="3360"/>
                <a:ext cx="288" cy="288"/>
              </a:xfrm>
              <a:prstGeom prst="rect">
                <a:avLst/>
              </a:prstGeom>
              <a:grpFill/>
              <a:ln>
                <a:noFill/>
              </a:ln>
              <a:extLst>
                <a:ext uri="{91240B29-F687-4F45-9708-019B960494DF}">
                  <a14:hiddenLine xmlns:a14="http://schemas.microsoft.com/office/drawing/2010/main" w="6350">
                    <a:solidFill>
                      <a:srgbClr val="000000"/>
                    </a:solidFill>
                    <a:miter lim="800000"/>
                    <a:headEnd/>
                    <a:tailEnd/>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FontTx/>
                  <a:buNone/>
                </a:pPr>
                <a:r>
                  <a:rPr kumimoji="0" lang="zh-CN" altLang="en-US" sz="2400" b="1" dirty="0"/>
                  <a:t>4</a:t>
                </a:r>
              </a:p>
            </p:txBody>
          </p:sp>
          <p:sp>
            <p:nvSpPr>
              <p:cNvPr id="40" name="Text Box 24">
                <a:extLst>
                  <a:ext uri="{FF2B5EF4-FFF2-40B4-BE49-F238E27FC236}">
                    <a16:creationId xmlns:a16="http://schemas.microsoft.com/office/drawing/2014/main" id="{DB76483A-E93F-43A4-831A-3CD92BDAC064}"/>
                  </a:ext>
                </a:extLst>
              </p:cNvPr>
              <p:cNvSpPr txBox="1">
                <a:spLocks noChangeArrowheads="1"/>
              </p:cNvSpPr>
              <p:nvPr/>
            </p:nvSpPr>
            <p:spPr bwMode="auto">
              <a:xfrm>
                <a:off x="1392" y="3360"/>
                <a:ext cx="288" cy="288"/>
              </a:xfrm>
              <a:prstGeom prst="rect">
                <a:avLst/>
              </a:prstGeom>
              <a:grpFill/>
              <a:ln>
                <a:noFill/>
              </a:ln>
              <a:extLst>
                <a:ext uri="{91240B29-F687-4F45-9708-019B960494DF}">
                  <a14:hiddenLine xmlns:a14="http://schemas.microsoft.com/office/drawing/2010/main" w="6350">
                    <a:solidFill>
                      <a:srgbClr val="000000"/>
                    </a:solidFill>
                    <a:miter lim="800000"/>
                    <a:headEnd/>
                    <a:tailEnd/>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FontTx/>
                  <a:buNone/>
                </a:pPr>
                <a:r>
                  <a:rPr kumimoji="0" lang="zh-CN" altLang="en-US" sz="2400" b="1" dirty="0"/>
                  <a:t>5</a:t>
                </a:r>
              </a:p>
            </p:txBody>
          </p:sp>
          <p:sp>
            <p:nvSpPr>
              <p:cNvPr id="41" name="Text Box 27">
                <a:extLst>
                  <a:ext uri="{FF2B5EF4-FFF2-40B4-BE49-F238E27FC236}">
                    <a16:creationId xmlns:a16="http://schemas.microsoft.com/office/drawing/2014/main" id="{76287366-C09A-4353-A130-337DE061DCE2}"/>
                  </a:ext>
                </a:extLst>
              </p:cNvPr>
              <p:cNvSpPr txBox="1">
                <a:spLocks noChangeArrowheads="1"/>
              </p:cNvSpPr>
              <p:nvPr/>
            </p:nvSpPr>
            <p:spPr bwMode="auto">
              <a:xfrm>
                <a:off x="768" y="3648"/>
                <a:ext cx="288" cy="288"/>
              </a:xfrm>
              <a:prstGeom prst="rect">
                <a:avLst/>
              </a:prstGeom>
              <a:grpFill/>
              <a:ln>
                <a:noFill/>
              </a:ln>
              <a:extLst>
                <a:ext uri="{91240B29-F687-4F45-9708-019B960494DF}">
                  <a14:hiddenLine xmlns:a14="http://schemas.microsoft.com/office/drawing/2010/main" w="6350">
                    <a:solidFill>
                      <a:srgbClr val="000000"/>
                    </a:solidFill>
                    <a:miter lim="800000"/>
                    <a:headEnd/>
                    <a:tailEnd/>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FontTx/>
                  <a:buNone/>
                </a:pPr>
                <a:r>
                  <a:rPr kumimoji="0" lang="zh-CN" altLang="en-US" sz="2400" b="1"/>
                  <a:t>6</a:t>
                </a:r>
              </a:p>
            </p:txBody>
          </p:sp>
        </p:grpSp>
        <p:sp>
          <p:nvSpPr>
            <p:cNvPr id="19" name="Text Box 33">
              <a:extLst>
                <a:ext uri="{FF2B5EF4-FFF2-40B4-BE49-F238E27FC236}">
                  <a16:creationId xmlns:a16="http://schemas.microsoft.com/office/drawing/2014/main" id="{06930207-46B4-4E06-8F16-B87B9A5490ED}"/>
                </a:ext>
              </a:extLst>
            </p:cNvPr>
            <p:cNvSpPr txBox="1">
              <a:spLocks noChangeArrowheads="1"/>
            </p:cNvSpPr>
            <p:nvPr/>
          </p:nvSpPr>
          <p:spPr bwMode="auto">
            <a:xfrm>
              <a:off x="2770357" y="6079998"/>
              <a:ext cx="1752600" cy="457200"/>
            </a:xfrm>
            <a:prstGeom prst="rect">
              <a:avLst/>
            </a:prstGeom>
            <a:noFill/>
            <a:ln>
              <a:noFill/>
            </a:ln>
            <a:extLst>
              <a:ext uri="{91240B29-F687-4F45-9708-019B960494DF}">
                <a14:hiddenLine xmlns:a14="http://schemas.microsoft.com/office/drawing/2010/main" w="6350">
                  <a:solidFill>
                    <a:srgbClr val="000000"/>
                  </a:solidFill>
                  <a:miter lim="800000"/>
                  <a:headEnd/>
                  <a:tailEnd/>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FontTx/>
                <a:buNone/>
              </a:pPr>
              <a:r>
                <a:rPr kumimoji="0" lang="en-US" altLang="zh-CN" sz="2400" b="1" i="1" dirty="0"/>
                <a:t>W</a:t>
              </a:r>
              <a:r>
                <a:rPr kumimoji="0" lang="en-US" altLang="zh-CN" sz="2400" b="1" dirty="0"/>
                <a:t>(</a:t>
              </a:r>
              <a:r>
                <a:rPr kumimoji="0" lang="en-US" altLang="zh-CN" sz="2400" b="1" i="1" dirty="0"/>
                <a:t>T</a:t>
              </a:r>
              <a:r>
                <a:rPr kumimoji="0" lang="en-US" altLang="zh-CN" sz="2400" b="1" baseline="-25000" dirty="0"/>
                <a:t>1</a:t>
              </a:r>
              <a:r>
                <a:rPr kumimoji="0" lang="en-US" altLang="zh-CN" sz="2400" b="1" dirty="0"/>
                <a:t>)=47</a:t>
              </a:r>
            </a:p>
          </p:txBody>
        </p:sp>
      </p:grpSp>
      <p:grpSp>
        <p:nvGrpSpPr>
          <p:cNvPr id="7" name="组合 6">
            <a:extLst>
              <a:ext uri="{FF2B5EF4-FFF2-40B4-BE49-F238E27FC236}">
                <a16:creationId xmlns:a16="http://schemas.microsoft.com/office/drawing/2014/main" id="{0B795977-5414-4BDC-A448-97843B494795}"/>
              </a:ext>
            </a:extLst>
          </p:cNvPr>
          <p:cNvGrpSpPr/>
          <p:nvPr/>
        </p:nvGrpSpPr>
        <p:grpSpPr>
          <a:xfrm>
            <a:off x="4890906" y="3763644"/>
            <a:ext cx="1888468" cy="2718942"/>
            <a:chOff x="4890906" y="3763644"/>
            <a:chExt cx="1888468" cy="2718942"/>
          </a:xfrm>
        </p:grpSpPr>
        <p:grpSp>
          <p:nvGrpSpPr>
            <p:cNvPr id="16" name="Group 31">
              <a:extLst>
                <a:ext uri="{FF2B5EF4-FFF2-40B4-BE49-F238E27FC236}">
                  <a16:creationId xmlns:a16="http://schemas.microsoft.com/office/drawing/2014/main" id="{93E0DA46-6DE6-4B82-930C-E09A023F700A}"/>
                </a:ext>
              </a:extLst>
            </p:cNvPr>
            <p:cNvGrpSpPr>
              <a:grpSpLocks/>
            </p:cNvGrpSpPr>
            <p:nvPr/>
          </p:nvGrpSpPr>
          <p:grpSpPr bwMode="auto">
            <a:xfrm>
              <a:off x="5020424" y="3763644"/>
              <a:ext cx="1758950" cy="2286000"/>
              <a:chOff x="2304" y="2640"/>
              <a:chExt cx="1108" cy="1440"/>
            </a:xfrm>
            <a:noFill/>
          </p:grpSpPr>
          <p:pic>
            <p:nvPicPr>
              <p:cNvPr id="30" name="Picture 11" descr="E:\插图\离散\图7-10(2).tif">
                <a:extLst>
                  <a:ext uri="{FF2B5EF4-FFF2-40B4-BE49-F238E27FC236}">
                    <a16:creationId xmlns:a16="http://schemas.microsoft.com/office/drawing/2014/main" id="{4C4ACFE8-3164-4212-94B0-1DF519D63AE4}"/>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400" y="2640"/>
                <a:ext cx="1012" cy="1227"/>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pic>
          <p:sp>
            <p:nvSpPr>
              <p:cNvPr id="31" name="Text Box 16">
                <a:extLst>
                  <a:ext uri="{FF2B5EF4-FFF2-40B4-BE49-F238E27FC236}">
                    <a16:creationId xmlns:a16="http://schemas.microsoft.com/office/drawing/2014/main" id="{205807FD-DD94-48AC-8D69-9D10B70F7FF1}"/>
                  </a:ext>
                </a:extLst>
              </p:cNvPr>
              <p:cNvSpPr txBox="1">
                <a:spLocks noChangeArrowheads="1"/>
              </p:cNvSpPr>
              <p:nvPr/>
            </p:nvSpPr>
            <p:spPr bwMode="auto">
              <a:xfrm>
                <a:off x="2304" y="3792"/>
                <a:ext cx="288" cy="288"/>
              </a:xfrm>
              <a:prstGeom prst="rect">
                <a:avLst/>
              </a:prstGeom>
              <a:grpFill/>
              <a:ln>
                <a:noFill/>
              </a:ln>
              <a:extLst>
                <a:ext uri="{91240B29-F687-4F45-9708-019B960494DF}">
                  <a14:hiddenLine xmlns:a14="http://schemas.microsoft.com/office/drawing/2010/main" w="6350">
                    <a:solidFill>
                      <a:srgbClr val="000000"/>
                    </a:solidFill>
                    <a:miter lim="800000"/>
                    <a:headEnd/>
                    <a:tailEnd/>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FontTx/>
                  <a:buNone/>
                </a:pPr>
                <a:r>
                  <a:rPr kumimoji="0" lang="zh-CN" altLang="en-US" sz="2400" b="1"/>
                  <a:t>1</a:t>
                </a:r>
              </a:p>
            </p:txBody>
          </p:sp>
          <p:sp>
            <p:nvSpPr>
              <p:cNvPr id="32" name="Text Box 19">
                <a:extLst>
                  <a:ext uri="{FF2B5EF4-FFF2-40B4-BE49-F238E27FC236}">
                    <a16:creationId xmlns:a16="http://schemas.microsoft.com/office/drawing/2014/main" id="{C194E175-4FAC-4401-A2A7-407A0CF8387C}"/>
                  </a:ext>
                </a:extLst>
              </p:cNvPr>
              <p:cNvSpPr txBox="1">
                <a:spLocks noChangeArrowheads="1"/>
              </p:cNvSpPr>
              <p:nvPr/>
            </p:nvSpPr>
            <p:spPr bwMode="auto">
              <a:xfrm>
                <a:off x="3072" y="2976"/>
                <a:ext cx="288" cy="288"/>
              </a:xfrm>
              <a:prstGeom prst="rect">
                <a:avLst/>
              </a:prstGeom>
              <a:grpFill/>
              <a:ln>
                <a:noFill/>
              </a:ln>
              <a:extLst>
                <a:ext uri="{91240B29-F687-4F45-9708-019B960494DF}">
                  <a14:hiddenLine xmlns:a14="http://schemas.microsoft.com/office/drawing/2010/main" w="6350">
                    <a:solidFill>
                      <a:srgbClr val="000000"/>
                    </a:solidFill>
                    <a:miter lim="800000"/>
                    <a:headEnd/>
                    <a:tailEnd/>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FontTx/>
                  <a:buNone/>
                </a:pPr>
                <a:r>
                  <a:rPr kumimoji="0" lang="zh-CN" altLang="en-US" sz="2400" b="1"/>
                  <a:t>3</a:t>
                </a:r>
              </a:p>
            </p:txBody>
          </p:sp>
          <p:sp>
            <p:nvSpPr>
              <p:cNvPr id="33" name="Text Box 22">
                <a:extLst>
                  <a:ext uri="{FF2B5EF4-FFF2-40B4-BE49-F238E27FC236}">
                    <a16:creationId xmlns:a16="http://schemas.microsoft.com/office/drawing/2014/main" id="{2A6781F6-A8EC-4BA5-9FE4-1A2F929657D1}"/>
                  </a:ext>
                </a:extLst>
              </p:cNvPr>
              <p:cNvSpPr txBox="1">
                <a:spLocks noChangeArrowheads="1"/>
              </p:cNvSpPr>
              <p:nvPr/>
            </p:nvSpPr>
            <p:spPr bwMode="auto">
              <a:xfrm>
                <a:off x="2928" y="3216"/>
                <a:ext cx="288" cy="288"/>
              </a:xfrm>
              <a:prstGeom prst="rect">
                <a:avLst/>
              </a:prstGeom>
              <a:grpFill/>
              <a:ln>
                <a:noFill/>
              </a:ln>
              <a:extLst>
                <a:ext uri="{91240B29-F687-4F45-9708-019B960494DF}">
                  <a14:hiddenLine xmlns:a14="http://schemas.microsoft.com/office/drawing/2010/main" w="6350">
                    <a:solidFill>
                      <a:srgbClr val="000000"/>
                    </a:solidFill>
                    <a:miter lim="800000"/>
                    <a:headEnd/>
                    <a:tailEnd/>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FontTx/>
                  <a:buNone/>
                </a:pPr>
                <a:r>
                  <a:rPr kumimoji="0" lang="zh-CN" altLang="en-US" sz="2400" b="1" dirty="0"/>
                  <a:t>4</a:t>
                </a:r>
              </a:p>
            </p:txBody>
          </p:sp>
          <p:sp>
            <p:nvSpPr>
              <p:cNvPr id="34" name="Text Box 25">
                <a:extLst>
                  <a:ext uri="{FF2B5EF4-FFF2-40B4-BE49-F238E27FC236}">
                    <a16:creationId xmlns:a16="http://schemas.microsoft.com/office/drawing/2014/main" id="{579A6237-9812-4E98-B5EF-EB9E3E6EC541}"/>
                  </a:ext>
                </a:extLst>
              </p:cNvPr>
              <p:cNvSpPr txBox="1">
                <a:spLocks noChangeArrowheads="1"/>
              </p:cNvSpPr>
              <p:nvPr/>
            </p:nvSpPr>
            <p:spPr bwMode="auto">
              <a:xfrm>
                <a:off x="2784" y="3552"/>
                <a:ext cx="288" cy="288"/>
              </a:xfrm>
              <a:prstGeom prst="rect">
                <a:avLst/>
              </a:prstGeom>
              <a:grpFill/>
              <a:ln>
                <a:noFill/>
              </a:ln>
              <a:extLst>
                <a:ext uri="{91240B29-F687-4F45-9708-019B960494DF}">
                  <a14:hiddenLine xmlns:a14="http://schemas.microsoft.com/office/drawing/2010/main" w="6350">
                    <a:solidFill>
                      <a:srgbClr val="000000"/>
                    </a:solidFill>
                    <a:miter lim="800000"/>
                    <a:headEnd/>
                    <a:tailEnd/>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FontTx/>
                  <a:buNone/>
                </a:pPr>
                <a:r>
                  <a:rPr kumimoji="0" lang="zh-CN" altLang="en-US" sz="2400" b="1"/>
                  <a:t>5</a:t>
                </a:r>
              </a:p>
            </p:txBody>
          </p:sp>
          <p:sp>
            <p:nvSpPr>
              <p:cNvPr id="35" name="Text Box 28">
                <a:extLst>
                  <a:ext uri="{FF2B5EF4-FFF2-40B4-BE49-F238E27FC236}">
                    <a16:creationId xmlns:a16="http://schemas.microsoft.com/office/drawing/2014/main" id="{A41D2B41-F26F-416F-A4E7-A48406E4303C}"/>
                  </a:ext>
                </a:extLst>
              </p:cNvPr>
              <p:cNvSpPr txBox="1">
                <a:spLocks noChangeArrowheads="1"/>
              </p:cNvSpPr>
              <p:nvPr/>
            </p:nvSpPr>
            <p:spPr bwMode="auto">
              <a:xfrm>
                <a:off x="2640" y="3792"/>
                <a:ext cx="288" cy="288"/>
              </a:xfrm>
              <a:prstGeom prst="rect">
                <a:avLst/>
              </a:prstGeom>
              <a:grpFill/>
              <a:ln>
                <a:noFill/>
              </a:ln>
              <a:extLst>
                <a:ext uri="{91240B29-F687-4F45-9708-019B960494DF}">
                  <a14:hiddenLine xmlns:a14="http://schemas.microsoft.com/office/drawing/2010/main" w="6350">
                    <a:solidFill>
                      <a:srgbClr val="000000"/>
                    </a:solidFill>
                    <a:miter lim="800000"/>
                    <a:headEnd/>
                    <a:tailEnd/>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FontTx/>
                  <a:buNone/>
                </a:pPr>
                <a:r>
                  <a:rPr kumimoji="0" lang="zh-CN" altLang="en-US" sz="2400" b="1"/>
                  <a:t>6</a:t>
                </a:r>
              </a:p>
            </p:txBody>
          </p:sp>
        </p:grpSp>
        <p:sp>
          <p:nvSpPr>
            <p:cNvPr id="21" name="Text Box 34">
              <a:extLst>
                <a:ext uri="{FF2B5EF4-FFF2-40B4-BE49-F238E27FC236}">
                  <a16:creationId xmlns:a16="http://schemas.microsoft.com/office/drawing/2014/main" id="{EB198C53-31DB-4C25-B746-5AE7A3A78E08}"/>
                </a:ext>
              </a:extLst>
            </p:cNvPr>
            <p:cNvSpPr txBox="1">
              <a:spLocks noChangeArrowheads="1"/>
            </p:cNvSpPr>
            <p:nvPr/>
          </p:nvSpPr>
          <p:spPr bwMode="auto">
            <a:xfrm>
              <a:off x="4890906" y="6025386"/>
              <a:ext cx="1752600" cy="457200"/>
            </a:xfrm>
            <a:prstGeom prst="rect">
              <a:avLst/>
            </a:prstGeom>
            <a:noFill/>
            <a:ln>
              <a:noFill/>
            </a:ln>
            <a:extLst>
              <a:ext uri="{91240B29-F687-4F45-9708-019B960494DF}">
                <a14:hiddenLine xmlns:a14="http://schemas.microsoft.com/office/drawing/2010/main" w="6350">
                  <a:solidFill>
                    <a:srgbClr val="000000"/>
                  </a:solidFill>
                  <a:miter lim="800000"/>
                  <a:headEnd/>
                  <a:tailEnd/>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FontTx/>
                <a:buNone/>
              </a:pPr>
              <a:r>
                <a:rPr kumimoji="0" lang="en-US" altLang="zh-CN" sz="2400" b="1" i="1" dirty="0"/>
                <a:t>W</a:t>
              </a:r>
              <a:r>
                <a:rPr kumimoji="0" lang="en-US" altLang="zh-CN" sz="2400" b="1" dirty="0"/>
                <a:t>(</a:t>
              </a:r>
              <a:r>
                <a:rPr kumimoji="0" lang="en-US" altLang="zh-CN" sz="2400" b="1" i="1" dirty="0"/>
                <a:t>T</a:t>
              </a:r>
              <a:r>
                <a:rPr kumimoji="0" lang="en-US" altLang="zh-CN" sz="2400" b="1" baseline="-25000" dirty="0"/>
                <a:t>2</a:t>
              </a:r>
              <a:r>
                <a:rPr kumimoji="0" lang="en-US" altLang="zh-CN" sz="2400" b="1" dirty="0"/>
                <a:t>)=54</a:t>
              </a:r>
            </a:p>
          </p:txBody>
        </p:sp>
      </p:grpSp>
      <p:grpSp>
        <p:nvGrpSpPr>
          <p:cNvPr id="42" name="组合 41">
            <a:extLst>
              <a:ext uri="{FF2B5EF4-FFF2-40B4-BE49-F238E27FC236}">
                <a16:creationId xmlns:a16="http://schemas.microsoft.com/office/drawing/2014/main" id="{8D5F6B55-E99B-49E6-AC06-26587FF0C036}"/>
              </a:ext>
            </a:extLst>
          </p:cNvPr>
          <p:cNvGrpSpPr/>
          <p:nvPr/>
        </p:nvGrpSpPr>
        <p:grpSpPr>
          <a:xfrm>
            <a:off x="7312774" y="4177847"/>
            <a:ext cx="1905000" cy="2225845"/>
            <a:chOff x="7312774" y="4177847"/>
            <a:chExt cx="1905000" cy="2225845"/>
          </a:xfrm>
        </p:grpSpPr>
        <p:grpSp>
          <p:nvGrpSpPr>
            <p:cNvPr id="17" name="Group 32">
              <a:extLst>
                <a:ext uri="{FF2B5EF4-FFF2-40B4-BE49-F238E27FC236}">
                  <a16:creationId xmlns:a16="http://schemas.microsoft.com/office/drawing/2014/main" id="{94557162-54BC-4344-9D4E-4B060F4B8105}"/>
                </a:ext>
              </a:extLst>
            </p:cNvPr>
            <p:cNvGrpSpPr>
              <a:grpSpLocks/>
            </p:cNvGrpSpPr>
            <p:nvPr/>
          </p:nvGrpSpPr>
          <p:grpSpPr bwMode="auto">
            <a:xfrm>
              <a:off x="7312774" y="4177847"/>
              <a:ext cx="1905000" cy="1752600"/>
              <a:chOff x="3840" y="2880"/>
              <a:chExt cx="1200" cy="1104"/>
            </a:xfrm>
            <a:noFill/>
          </p:grpSpPr>
          <p:pic>
            <p:nvPicPr>
              <p:cNvPr id="24" name="Picture 12" descr="E:\插图\离散\图7-10(3).tif">
                <a:extLst>
                  <a:ext uri="{FF2B5EF4-FFF2-40B4-BE49-F238E27FC236}">
                    <a16:creationId xmlns:a16="http://schemas.microsoft.com/office/drawing/2014/main" id="{56274385-B15B-4DE0-9E7A-5A269CE87BAC}"/>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3865" y="2880"/>
                <a:ext cx="1031" cy="88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pic>
          <p:sp>
            <p:nvSpPr>
              <p:cNvPr id="25" name="Text Box 17">
                <a:extLst>
                  <a:ext uri="{FF2B5EF4-FFF2-40B4-BE49-F238E27FC236}">
                    <a16:creationId xmlns:a16="http://schemas.microsoft.com/office/drawing/2014/main" id="{9DA0875C-5DF9-4BB2-9046-476590C834FE}"/>
                  </a:ext>
                </a:extLst>
              </p:cNvPr>
              <p:cNvSpPr txBox="1">
                <a:spLocks noChangeArrowheads="1"/>
              </p:cNvSpPr>
              <p:nvPr/>
            </p:nvSpPr>
            <p:spPr bwMode="auto">
              <a:xfrm>
                <a:off x="4464" y="3696"/>
                <a:ext cx="288" cy="288"/>
              </a:xfrm>
              <a:prstGeom prst="rect">
                <a:avLst/>
              </a:prstGeom>
              <a:grpFill/>
              <a:ln>
                <a:noFill/>
              </a:ln>
              <a:extLst>
                <a:ext uri="{91240B29-F687-4F45-9708-019B960494DF}">
                  <a14:hiddenLine xmlns:a14="http://schemas.microsoft.com/office/drawing/2010/main" w="6350">
                    <a:solidFill>
                      <a:srgbClr val="000000"/>
                    </a:solidFill>
                    <a:miter lim="800000"/>
                    <a:headEnd/>
                    <a:tailEnd/>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FontTx/>
                  <a:buNone/>
                </a:pPr>
                <a:r>
                  <a:rPr kumimoji="0" lang="zh-CN" altLang="en-US" sz="2400" b="1"/>
                  <a:t>1</a:t>
                </a:r>
              </a:p>
            </p:txBody>
          </p:sp>
          <p:sp>
            <p:nvSpPr>
              <p:cNvPr id="26" name="Text Box 20">
                <a:extLst>
                  <a:ext uri="{FF2B5EF4-FFF2-40B4-BE49-F238E27FC236}">
                    <a16:creationId xmlns:a16="http://schemas.microsoft.com/office/drawing/2014/main" id="{DC41F48B-ACCA-4310-8C1C-6C77C1CAF3C0}"/>
                  </a:ext>
                </a:extLst>
              </p:cNvPr>
              <p:cNvSpPr txBox="1">
                <a:spLocks noChangeArrowheads="1"/>
              </p:cNvSpPr>
              <p:nvPr/>
            </p:nvSpPr>
            <p:spPr bwMode="auto">
              <a:xfrm>
                <a:off x="4128" y="3408"/>
                <a:ext cx="288" cy="288"/>
              </a:xfrm>
              <a:prstGeom prst="rect">
                <a:avLst/>
              </a:prstGeom>
              <a:grpFill/>
              <a:ln>
                <a:noFill/>
              </a:ln>
              <a:extLst>
                <a:ext uri="{91240B29-F687-4F45-9708-019B960494DF}">
                  <a14:hiddenLine xmlns:a14="http://schemas.microsoft.com/office/drawing/2010/main" w="6350">
                    <a:solidFill>
                      <a:srgbClr val="000000"/>
                    </a:solidFill>
                    <a:miter lim="800000"/>
                    <a:headEnd/>
                    <a:tailEnd/>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FontTx/>
                  <a:buNone/>
                </a:pPr>
                <a:r>
                  <a:rPr kumimoji="0" lang="zh-CN" altLang="en-US" sz="2400" b="1"/>
                  <a:t>3</a:t>
                </a:r>
              </a:p>
            </p:txBody>
          </p:sp>
          <p:sp>
            <p:nvSpPr>
              <p:cNvPr id="27" name="Text Box 23">
                <a:extLst>
                  <a:ext uri="{FF2B5EF4-FFF2-40B4-BE49-F238E27FC236}">
                    <a16:creationId xmlns:a16="http://schemas.microsoft.com/office/drawing/2014/main" id="{A868A97B-2D21-4C27-992D-D40CD1E3FBDA}"/>
                  </a:ext>
                </a:extLst>
              </p:cNvPr>
              <p:cNvSpPr txBox="1">
                <a:spLocks noChangeArrowheads="1"/>
              </p:cNvSpPr>
              <p:nvPr/>
            </p:nvSpPr>
            <p:spPr bwMode="auto">
              <a:xfrm>
                <a:off x="4752" y="3696"/>
                <a:ext cx="288" cy="288"/>
              </a:xfrm>
              <a:prstGeom prst="rect">
                <a:avLst/>
              </a:prstGeom>
              <a:grpFill/>
              <a:ln>
                <a:noFill/>
              </a:ln>
              <a:extLst>
                <a:ext uri="{91240B29-F687-4F45-9708-019B960494DF}">
                  <a14:hiddenLine xmlns:a14="http://schemas.microsoft.com/office/drawing/2010/main" w="6350">
                    <a:solidFill>
                      <a:srgbClr val="000000"/>
                    </a:solidFill>
                    <a:miter lim="800000"/>
                    <a:headEnd/>
                    <a:tailEnd/>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FontTx/>
                  <a:buNone/>
                </a:pPr>
                <a:r>
                  <a:rPr kumimoji="0" lang="zh-CN" altLang="en-US" sz="2400" b="1"/>
                  <a:t>4</a:t>
                </a:r>
              </a:p>
            </p:txBody>
          </p:sp>
          <p:sp>
            <p:nvSpPr>
              <p:cNvPr id="28" name="Text Box 26">
                <a:extLst>
                  <a:ext uri="{FF2B5EF4-FFF2-40B4-BE49-F238E27FC236}">
                    <a16:creationId xmlns:a16="http://schemas.microsoft.com/office/drawing/2014/main" id="{366DBF4F-67B8-4D18-AC30-4AAFBCFA3660}"/>
                  </a:ext>
                </a:extLst>
              </p:cNvPr>
              <p:cNvSpPr txBox="1">
                <a:spLocks noChangeArrowheads="1"/>
              </p:cNvSpPr>
              <p:nvPr/>
            </p:nvSpPr>
            <p:spPr bwMode="auto">
              <a:xfrm>
                <a:off x="4320" y="3408"/>
                <a:ext cx="288" cy="288"/>
              </a:xfrm>
              <a:prstGeom prst="rect">
                <a:avLst/>
              </a:prstGeom>
              <a:grpFill/>
              <a:ln>
                <a:noFill/>
              </a:ln>
              <a:extLst>
                <a:ext uri="{91240B29-F687-4F45-9708-019B960494DF}">
                  <a14:hiddenLine xmlns:a14="http://schemas.microsoft.com/office/drawing/2010/main" w="6350">
                    <a:solidFill>
                      <a:srgbClr val="000000"/>
                    </a:solidFill>
                    <a:miter lim="800000"/>
                    <a:headEnd/>
                    <a:tailEnd/>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FontTx/>
                  <a:buNone/>
                </a:pPr>
                <a:r>
                  <a:rPr kumimoji="0" lang="zh-CN" altLang="en-US" sz="2400" b="1" dirty="0"/>
                  <a:t>5</a:t>
                </a:r>
              </a:p>
            </p:txBody>
          </p:sp>
          <p:sp>
            <p:nvSpPr>
              <p:cNvPr id="29" name="Text Box 29">
                <a:extLst>
                  <a:ext uri="{FF2B5EF4-FFF2-40B4-BE49-F238E27FC236}">
                    <a16:creationId xmlns:a16="http://schemas.microsoft.com/office/drawing/2014/main" id="{04DB18E3-B7A6-4174-9816-0276A47CEAB2}"/>
                  </a:ext>
                </a:extLst>
              </p:cNvPr>
              <p:cNvSpPr txBox="1">
                <a:spLocks noChangeArrowheads="1"/>
              </p:cNvSpPr>
              <p:nvPr/>
            </p:nvSpPr>
            <p:spPr bwMode="auto">
              <a:xfrm>
                <a:off x="3840" y="3408"/>
                <a:ext cx="288" cy="288"/>
              </a:xfrm>
              <a:prstGeom prst="rect">
                <a:avLst/>
              </a:prstGeom>
              <a:grpFill/>
              <a:ln>
                <a:noFill/>
              </a:ln>
              <a:extLst>
                <a:ext uri="{91240B29-F687-4F45-9708-019B960494DF}">
                  <a14:hiddenLine xmlns:a14="http://schemas.microsoft.com/office/drawing/2010/main" w="6350">
                    <a:solidFill>
                      <a:srgbClr val="000000"/>
                    </a:solidFill>
                    <a:miter lim="800000"/>
                    <a:headEnd/>
                    <a:tailEnd/>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FontTx/>
                  <a:buNone/>
                </a:pPr>
                <a:r>
                  <a:rPr kumimoji="0" lang="zh-CN" altLang="en-US" sz="2400" b="1"/>
                  <a:t>6</a:t>
                </a:r>
              </a:p>
            </p:txBody>
          </p:sp>
        </p:grpSp>
        <p:sp>
          <p:nvSpPr>
            <p:cNvPr id="23" name="Text Box 35">
              <a:extLst>
                <a:ext uri="{FF2B5EF4-FFF2-40B4-BE49-F238E27FC236}">
                  <a16:creationId xmlns:a16="http://schemas.microsoft.com/office/drawing/2014/main" id="{E1A8685D-F26E-4B9A-916F-1DF1FCCE91A0}"/>
                </a:ext>
              </a:extLst>
            </p:cNvPr>
            <p:cNvSpPr txBox="1">
              <a:spLocks noChangeArrowheads="1"/>
            </p:cNvSpPr>
            <p:nvPr/>
          </p:nvSpPr>
          <p:spPr bwMode="auto">
            <a:xfrm>
              <a:off x="7379405" y="5946492"/>
              <a:ext cx="1752600" cy="457200"/>
            </a:xfrm>
            <a:prstGeom prst="rect">
              <a:avLst/>
            </a:prstGeom>
            <a:noFill/>
            <a:ln>
              <a:noFill/>
            </a:ln>
            <a:extLst>
              <a:ext uri="{91240B29-F687-4F45-9708-019B960494DF}">
                <a14:hiddenLine xmlns:a14="http://schemas.microsoft.com/office/drawing/2010/main" w="6350">
                  <a:solidFill>
                    <a:srgbClr val="000000"/>
                  </a:solidFill>
                  <a:miter lim="800000"/>
                  <a:headEnd/>
                  <a:tailEnd/>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FontTx/>
                <a:buNone/>
              </a:pPr>
              <a:r>
                <a:rPr kumimoji="0" lang="en-US" altLang="zh-CN" sz="2400" b="1" i="1" dirty="0"/>
                <a:t>W</a:t>
              </a:r>
              <a:r>
                <a:rPr kumimoji="0" lang="en-US" altLang="zh-CN" sz="2400" b="1" dirty="0"/>
                <a:t>(</a:t>
              </a:r>
              <a:r>
                <a:rPr kumimoji="0" lang="en-US" altLang="zh-CN" sz="2400" b="1" i="1" dirty="0"/>
                <a:t>T</a:t>
              </a:r>
              <a:r>
                <a:rPr kumimoji="0" lang="en-US" altLang="zh-CN" sz="2400" b="1" baseline="-25000" dirty="0"/>
                <a:t>3</a:t>
              </a:r>
              <a:r>
                <a:rPr kumimoji="0" lang="en-US" altLang="zh-CN" sz="2400" b="1" dirty="0"/>
                <a:t>)=43</a:t>
              </a:r>
            </a:p>
          </p:txBody>
        </p:sp>
      </p:grpSp>
    </p:spTree>
    <p:extLst>
      <p:ext uri="{BB962C8B-B14F-4D97-AF65-F5344CB8AC3E}">
        <p14:creationId xmlns:p14="http://schemas.microsoft.com/office/powerpoint/2010/main" val="3709053748"/>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10">
                                            <p:txEl>
                                              <p:pRg st="1" end="1"/>
                                            </p:txEl>
                                          </p:spTgt>
                                        </p:tgtEl>
                                        <p:attrNameLst>
                                          <p:attrName>style.visibility</p:attrName>
                                        </p:attrNameLst>
                                      </p:cBhvr>
                                      <p:to>
                                        <p:strVal val="visible"/>
                                      </p:to>
                                    </p:set>
                                    <p:animEffect transition="in" filter="fade">
                                      <p:cBhvr>
                                        <p:cTn id="7" dur="1000"/>
                                        <p:tgtEl>
                                          <p:spTgt spid="10">
                                            <p:txEl>
                                              <p:pRg st="1" end="1"/>
                                            </p:txEl>
                                          </p:spTgt>
                                        </p:tgtEl>
                                      </p:cBhvr>
                                    </p:animEffect>
                                    <p:anim calcmode="lin" valueType="num">
                                      <p:cBhvr>
                                        <p:cTn id="8" dur="1000" fill="hold"/>
                                        <p:tgtEl>
                                          <p:spTgt spid="10">
                                            <p:txEl>
                                              <p:pRg st="1" end="1"/>
                                            </p:txEl>
                                          </p:spTgt>
                                        </p:tgtEl>
                                        <p:attrNameLst>
                                          <p:attrName>ppt_x</p:attrName>
                                        </p:attrNameLst>
                                      </p:cBhvr>
                                      <p:tavLst>
                                        <p:tav tm="0">
                                          <p:val>
                                            <p:strVal val="#ppt_x"/>
                                          </p:val>
                                        </p:tav>
                                        <p:tav tm="100000">
                                          <p:val>
                                            <p:strVal val="#ppt_x"/>
                                          </p:val>
                                        </p:tav>
                                      </p:tavLst>
                                    </p:anim>
                                    <p:anim calcmode="lin" valueType="num">
                                      <p:cBhvr>
                                        <p:cTn id="9" dur="1000" fill="hold"/>
                                        <p:tgtEl>
                                          <p:spTgt spid="10">
                                            <p:txEl>
                                              <p:pRg st="1" end="1"/>
                                            </p:txEl>
                                          </p:spTgt>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11"/>
                                        </p:tgtEl>
                                        <p:attrNameLst>
                                          <p:attrName>style.visibility</p:attrName>
                                        </p:attrNameLst>
                                      </p:cBhvr>
                                      <p:to>
                                        <p:strVal val="visible"/>
                                      </p:to>
                                    </p:set>
                                    <p:animEffect transition="in" filter="fade">
                                      <p:cBhvr>
                                        <p:cTn id="12" dur="1000"/>
                                        <p:tgtEl>
                                          <p:spTgt spid="11"/>
                                        </p:tgtEl>
                                      </p:cBhvr>
                                    </p:animEffect>
                                    <p:anim calcmode="lin" valueType="num">
                                      <p:cBhvr>
                                        <p:cTn id="13" dur="1000" fill="hold"/>
                                        <p:tgtEl>
                                          <p:spTgt spid="11"/>
                                        </p:tgtEl>
                                        <p:attrNameLst>
                                          <p:attrName>ppt_x</p:attrName>
                                        </p:attrNameLst>
                                      </p:cBhvr>
                                      <p:tavLst>
                                        <p:tav tm="0">
                                          <p:val>
                                            <p:strVal val="#ppt_x"/>
                                          </p:val>
                                        </p:tav>
                                        <p:tav tm="100000">
                                          <p:val>
                                            <p:strVal val="#ppt_x"/>
                                          </p:val>
                                        </p:tav>
                                      </p:tavLst>
                                    </p:anim>
                                    <p:anim calcmode="lin" valueType="num">
                                      <p:cBhvr>
                                        <p:cTn id="14" dur="1000" fill="hold"/>
                                        <p:tgtEl>
                                          <p:spTgt spid="11"/>
                                        </p:tgtEl>
                                        <p:attrNameLst>
                                          <p:attrName>ppt_y</p:attrName>
                                        </p:attrNameLst>
                                      </p:cBhvr>
                                      <p:tavLst>
                                        <p:tav tm="0">
                                          <p:val>
                                            <p:strVal val="#ppt_y+.1"/>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42" presetClass="entr" presetSubtype="0" fill="hold" nodeType="clickEffect">
                                  <p:stCondLst>
                                    <p:cond delay="0"/>
                                  </p:stCondLst>
                                  <p:childTnLst>
                                    <p:set>
                                      <p:cBhvr>
                                        <p:cTn id="18" dur="1" fill="hold">
                                          <p:stCondLst>
                                            <p:cond delay="0"/>
                                          </p:stCondLst>
                                        </p:cTn>
                                        <p:tgtEl>
                                          <p:spTgt spid="10">
                                            <p:txEl>
                                              <p:pRg st="2" end="2"/>
                                            </p:txEl>
                                          </p:spTgt>
                                        </p:tgtEl>
                                        <p:attrNameLst>
                                          <p:attrName>style.visibility</p:attrName>
                                        </p:attrNameLst>
                                      </p:cBhvr>
                                      <p:to>
                                        <p:strVal val="visible"/>
                                      </p:to>
                                    </p:set>
                                    <p:animEffect transition="in" filter="fade">
                                      <p:cBhvr>
                                        <p:cTn id="19" dur="1000"/>
                                        <p:tgtEl>
                                          <p:spTgt spid="10">
                                            <p:txEl>
                                              <p:pRg st="2" end="2"/>
                                            </p:txEl>
                                          </p:spTgt>
                                        </p:tgtEl>
                                      </p:cBhvr>
                                    </p:animEffect>
                                    <p:anim calcmode="lin" valueType="num">
                                      <p:cBhvr>
                                        <p:cTn id="20" dur="1000" fill="hold"/>
                                        <p:tgtEl>
                                          <p:spTgt spid="10">
                                            <p:txEl>
                                              <p:pRg st="2" end="2"/>
                                            </p:txEl>
                                          </p:spTgt>
                                        </p:tgtEl>
                                        <p:attrNameLst>
                                          <p:attrName>ppt_x</p:attrName>
                                        </p:attrNameLst>
                                      </p:cBhvr>
                                      <p:tavLst>
                                        <p:tav tm="0">
                                          <p:val>
                                            <p:strVal val="#ppt_x"/>
                                          </p:val>
                                        </p:tav>
                                        <p:tav tm="100000">
                                          <p:val>
                                            <p:strVal val="#ppt_x"/>
                                          </p:val>
                                        </p:tav>
                                      </p:tavLst>
                                    </p:anim>
                                    <p:anim calcmode="lin" valueType="num">
                                      <p:cBhvr>
                                        <p:cTn id="21" dur="1000" fill="hold"/>
                                        <p:tgtEl>
                                          <p:spTgt spid="10">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22" fill="hold">
                      <p:stCondLst>
                        <p:cond delay="indefinite"/>
                      </p:stCondLst>
                      <p:childTnLst>
                        <p:par>
                          <p:cTn id="23" fill="hold">
                            <p:stCondLst>
                              <p:cond delay="0"/>
                            </p:stCondLst>
                            <p:childTnLst>
                              <p:par>
                                <p:cTn id="24" presetID="42" presetClass="entr" presetSubtype="0" fill="hold" nodeType="clickEffect">
                                  <p:stCondLst>
                                    <p:cond delay="0"/>
                                  </p:stCondLst>
                                  <p:childTnLst>
                                    <p:set>
                                      <p:cBhvr>
                                        <p:cTn id="25" dur="1" fill="hold">
                                          <p:stCondLst>
                                            <p:cond delay="0"/>
                                          </p:stCondLst>
                                        </p:cTn>
                                        <p:tgtEl>
                                          <p:spTgt spid="10">
                                            <p:txEl>
                                              <p:pRg st="3" end="3"/>
                                            </p:txEl>
                                          </p:spTgt>
                                        </p:tgtEl>
                                        <p:attrNameLst>
                                          <p:attrName>style.visibility</p:attrName>
                                        </p:attrNameLst>
                                      </p:cBhvr>
                                      <p:to>
                                        <p:strVal val="visible"/>
                                      </p:to>
                                    </p:set>
                                    <p:animEffect transition="in" filter="fade">
                                      <p:cBhvr>
                                        <p:cTn id="26" dur="1000"/>
                                        <p:tgtEl>
                                          <p:spTgt spid="10">
                                            <p:txEl>
                                              <p:pRg st="3" end="3"/>
                                            </p:txEl>
                                          </p:spTgt>
                                        </p:tgtEl>
                                      </p:cBhvr>
                                    </p:animEffect>
                                    <p:anim calcmode="lin" valueType="num">
                                      <p:cBhvr>
                                        <p:cTn id="27" dur="1000" fill="hold"/>
                                        <p:tgtEl>
                                          <p:spTgt spid="10">
                                            <p:txEl>
                                              <p:pRg st="3" end="3"/>
                                            </p:txEl>
                                          </p:spTgt>
                                        </p:tgtEl>
                                        <p:attrNameLst>
                                          <p:attrName>ppt_x</p:attrName>
                                        </p:attrNameLst>
                                      </p:cBhvr>
                                      <p:tavLst>
                                        <p:tav tm="0">
                                          <p:val>
                                            <p:strVal val="#ppt_x"/>
                                          </p:val>
                                        </p:tav>
                                        <p:tav tm="100000">
                                          <p:val>
                                            <p:strVal val="#ppt_x"/>
                                          </p:val>
                                        </p:tav>
                                      </p:tavLst>
                                    </p:anim>
                                    <p:anim calcmode="lin" valueType="num">
                                      <p:cBhvr>
                                        <p:cTn id="28" dur="1000" fill="hold"/>
                                        <p:tgtEl>
                                          <p:spTgt spid="10">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29" fill="hold">
                      <p:stCondLst>
                        <p:cond delay="indefinite"/>
                      </p:stCondLst>
                      <p:childTnLst>
                        <p:par>
                          <p:cTn id="30" fill="hold">
                            <p:stCondLst>
                              <p:cond delay="0"/>
                            </p:stCondLst>
                            <p:childTnLst>
                              <p:par>
                                <p:cTn id="31" presetID="2" presetClass="entr" presetSubtype="4" fill="hold" nodeType="clickEffect">
                                  <p:stCondLst>
                                    <p:cond delay="0"/>
                                  </p:stCondLst>
                                  <p:childTnLst>
                                    <p:set>
                                      <p:cBhvr>
                                        <p:cTn id="32" dur="1" fill="hold">
                                          <p:stCondLst>
                                            <p:cond delay="0"/>
                                          </p:stCondLst>
                                        </p:cTn>
                                        <p:tgtEl>
                                          <p:spTgt spid="6"/>
                                        </p:tgtEl>
                                        <p:attrNameLst>
                                          <p:attrName>style.visibility</p:attrName>
                                        </p:attrNameLst>
                                      </p:cBhvr>
                                      <p:to>
                                        <p:strVal val="visible"/>
                                      </p:to>
                                    </p:set>
                                    <p:anim calcmode="lin" valueType="num">
                                      <p:cBhvr additive="base">
                                        <p:cTn id="33" dur="500" fill="hold"/>
                                        <p:tgtEl>
                                          <p:spTgt spid="6"/>
                                        </p:tgtEl>
                                        <p:attrNameLst>
                                          <p:attrName>ppt_x</p:attrName>
                                        </p:attrNameLst>
                                      </p:cBhvr>
                                      <p:tavLst>
                                        <p:tav tm="0">
                                          <p:val>
                                            <p:strVal val="#ppt_x"/>
                                          </p:val>
                                        </p:tav>
                                        <p:tav tm="100000">
                                          <p:val>
                                            <p:strVal val="#ppt_x"/>
                                          </p:val>
                                        </p:tav>
                                      </p:tavLst>
                                    </p:anim>
                                    <p:anim calcmode="lin" valueType="num">
                                      <p:cBhvr additive="base">
                                        <p:cTn id="34" dur="500" fill="hold"/>
                                        <p:tgtEl>
                                          <p:spTgt spid="6"/>
                                        </p:tgtEl>
                                        <p:attrNameLst>
                                          <p:attrName>ppt_y</p:attrName>
                                        </p:attrNameLst>
                                      </p:cBhvr>
                                      <p:tavLst>
                                        <p:tav tm="0">
                                          <p:val>
                                            <p:strVal val="1+#ppt_h/2"/>
                                          </p:val>
                                        </p:tav>
                                        <p:tav tm="100000">
                                          <p:val>
                                            <p:strVal val="#ppt_y"/>
                                          </p:val>
                                        </p:tav>
                                      </p:tavLst>
                                    </p:anim>
                                  </p:childTnLst>
                                </p:cTn>
                              </p:par>
                            </p:childTnLst>
                          </p:cTn>
                        </p:par>
                      </p:childTnLst>
                    </p:cTn>
                  </p:par>
                  <p:par>
                    <p:cTn id="35" fill="hold">
                      <p:stCondLst>
                        <p:cond delay="indefinite"/>
                      </p:stCondLst>
                      <p:childTnLst>
                        <p:par>
                          <p:cTn id="36" fill="hold">
                            <p:stCondLst>
                              <p:cond delay="0"/>
                            </p:stCondLst>
                            <p:childTnLst>
                              <p:par>
                                <p:cTn id="37" presetID="2" presetClass="entr" presetSubtype="4" fill="hold" nodeType="clickEffect">
                                  <p:stCondLst>
                                    <p:cond delay="0"/>
                                  </p:stCondLst>
                                  <p:childTnLst>
                                    <p:set>
                                      <p:cBhvr>
                                        <p:cTn id="38" dur="1" fill="hold">
                                          <p:stCondLst>
                                            <p:cond delay="0"/>
                                          </p:stCondLst>
                                        </p:cTn>
                                        <p:tgtEl>
                                          <p:spTgt spid="7"/>
                                        </p:tgtEl>
                                        <p:attrNameLst>
                                          <p:attrName>style.visibility</p:attrName>
                                        </p:attrNameLst>
                                      </p:cBhvr>
                                      <p:to>
                                        <p:strVal val="visible"/>
                                      </p:to>
                                    </p:set>
                                    <p:anim calcmode="lin" valueType="num">
                                      <p:cBhvr additive="base">
                                        <p:cTn id="39" dur="500" fill="hold"/>
                                        <p:tgtEl>
                                          <p:spTgt spid="7"/>
                                        </p:tgtEl>
                                        <p:attrNameLst>
                                          <p:attrName>ppt_x</p:attrName>
                                        </p:attrNameLst>
                                      </p:cBhvr>
                                      <p:tavLst>
                                        <p:tav tm="0">
                                          <p:val>
                                            <p:strVal val="#ppt_x"/>
                                          </p:val>
                                        </p:tav>
                                        <p:tav tm="100000">
                                          <p:val>
                                            <p:strVal val="#ppt_x"/>
                                          </p:val>
                                        </p:tav>
                                      </p:tavLst>
                                    </p:anim>
                                    <p:anim calcmode="lin" valueType="num">
                                      <p:cBhvr additive="base">
                                        <p:cTn id="40" dur="500" fill="hold"/>
                                        <p:tgtEl>
                                          <p:spTgt spid="7"/>
                                        </p:tgtEl>
                                        <p:attrNameLst>
                                          <p:attrName>ppt_y</p:attrName>
                                        </p:attrNameLst>
                                      </p:cBhvr>
                                      <p:tavLst>
                                        <p:tav tm="0">
                                          <p:val>
                                            <p:strVal val="1+#ppt_h/2"/>
                                          </p:val>
                                        </p:tav>
                                        <p:tav tm="100000">
                                          <p:val>
                                            <p:strVal val="#ppt_y"/>
                                          </p:val>
                                        </p:tav>
                                      </p:tavLst>
                                    </p:anim>
                                  </p:childTnLst>
                                </p:cTn>
                              </p:par>
                            </p:childTnLst>
                          </p:cTn>
                        </p:par>
                      </p:childTnLst>
                    </p:cTn>
                  </p:par>
                  <p:par>
                    <p:cTn id="41" fill="hold">
                      <p:stCondLst>
                        <p:cond delay="indefinite"/>
                      </p:stCondLst>
                      <p:childTnLst>
                        <p:par>
                          <p:cTn id="42" fill="hold">
                            <p:stCondLst>
                              <p:cond delay="0"/>
                            </p:stCondLst>
                            <p:childTnLst>
                              <p:par>
                                <p:cTn id="43" presetID="2" presetClass="entr" presetSubtype="4" fill="hold" nodeType="clickEffect">
                                  <p:stCondLst>
                                    <p:cond delay="0"/>
                                  </p:stCondLst>
                                  <p:childTnLst>
                                    <p:set>
                                      <p:cBhvr>
                                        <p:cTn id="44" dur="1" fill="hold">
                                          <p:stCondLst>
                                            <p:cond delay="0"/>
                                          </p:stCondLst>
                                        </p:cTn>
                                        <p:tgtEl>
                                          <p:spTgt spid="42"/>
                                        </p:tgtEl>
                                        <p:attrNameLst>
                                          <p:attrName>style.visibility</p:attrName>
                                        </p:attrNameLst>
                                      </p:cBhvr>
                                      <p:to>
                                        <p:strVal val="visible"/>
                                      </p:to>
                                    </p:set>
                                    <p:anim calcmode="lin" valueType="num">
                                      <p:cBhvr additive="base">
                                        <p:cTn id="45" dur="500" fill="hold"/>
                                        <p:tgtEl>
                                          <p:spTgt spid="42"/>
                                        </p:tgtEl>
                                        <p:attrNameLst>
                                          <p:attrName>ppt_x</p:attrName>
                                        </p:attrNameLst>
                                      </p:cBhvr>
                                      <p:tavLst>
                                        <p:tav tm="0">
                                          <p:val>
                                            <p:strVal val="#ppt_x"/>
                                          </p:val>
                                        </p:tav>
                                        <p:tav tm="100000">
                                          <p:val>
                                            <p:strVal val="#ppt_x"/>
                                          </p:val>
                                        </p:tav>
                                      </p:tavLst>
                                    </p:anim>
                                    <p:anim calcmode="lin" valueType="num">
                                      <p:cBhvr additive="base">
                                        <p:cTn id="46" dur="500" fill="hold"/>
                                        <p:tgtEl>
                                          <p:spTgt spid="4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0" y="0"/>
            <a:ext cx="12192000" cy="762000"/>
          </a:xfrm>
          <a:prstGeom prst="rect">
            <a:avLst/>
          </a:prstGeom>
          <a:solidFill>
            <a:srgbClr val="002F7C"/>
          </a:solidFill>
        </p:spPr>
        <p:style>
          <a:lnRef idx="2">
            <a:schemeClr val="dk1">
              <a:shade val="50000"/>
            </a:schemeClr>
          </a:lnRef>
          <a:fillRef idx="1">
            <a:schemeClr val="dk1"/>
          </a:fillRef>
          <a:effectRef idx="0">
            <a:schemeClr val="dk1"/>
          </a:effectRef>
          <a:fontRef idx="minor">
            <a:schemeClr val="lt1"/>
          </a:fontRef>
        </p:style>
        <p:txBody>
          <a:bodyPr rtlCol="0" anchor="ctr"/>
          <a:lstStyle/>
          <a:p>
            <a:pPr>
              <a:buClr>
                <a:srgbClr val="0B61FF"/>
              </a:buClr>
              <a:buSzPct val="80000"/>
            </a:pPr>
            <a:r>
              <a:rPr lang="zh-CN" altLang="en-US" sz="2000" b="1" dirty="0">
                <a:latin typeface="Times New Roman" panose="02020603050405020304" pitchFamily="18" charset="0"/>
                <a:ea typeface="宋体" panose="02010600030101010101" pitchFamily="2" charset="-122"/>
                <a:cs typeface="Times New Roman" panose="02020603050405020304" pitchFamily="18" charset="0"/>
              </a:rPr>
              <a:t>               </a:t>
            </a:r>
            <a:r>
              <a:rPr lang="en-US" altLang="zh-CN" sz="2000" b="1" dirty="0">
                <a:latin typeface="Trebuchet MS" panose="020B0603020202020204" pitchFamily="34" charset="0"/>
              </a:rPr>
              <a:t>7.2.2 Optimal Trees and the Huffman Algorithm</a:t>
            </a:r>
          </a:p>
          <a:p>
            <a:pPr>
              <a:buClr>
                <a:srgbClr val="0B61FF"/>
              </a:buClr>
              <a:buSzPct val="80000"/>
            </a:pPr>
            <a:r>
              <a:rPr lang="en-US" altLang="zh-CN" sz="2000" b="1" dirty="0">
                <a:solidFill>
                  <a:srgbClr val="C00000"/>
                </a:solidFill>
                <a:latin typeface="Trebuchet MS" panose="020B0603020202020204" pitchFamily="34" charset="0"/>
                <a:ea typeface="Cambria Math" panose="02040503050406030204" pitchFamily="18" charset="0"/>
                <a:cs typeface="Times New Roman" panose="02020603050405020304" pitchFamily="18" charset="0"/>
              </a:rPr>
              <a:t>              </a:t>
            </a:r>
            <a:r>
              <a:rPr lang="en-US" altLang="zh-CN" sz="2400" b="1" dirty="0">
                <a:solidFill>
                  <a:srgbClr val="C00000"/>
                </a:solidFill>
                <a:latin typeface="Trebuchet MS" panose="020B0603020202020204" pitchFamily="34" charset="0"/>
                <a:ea typeface="Cambria Math" panose="02040503050406030204" pitchFamily="18" charset="0"/>
                <a:cs typeface="Times New Roman" panose="02020603050405020304" pitchFamily="18" charset="0"/>
              </a:rPr>
              <a:t>⤷</a:t>
            </a:r>
            <a:r>
              <a:rPr lang="zh-CN" altLang="en-US" sz="2400" b="1" dirty="0">
                <a:latin typeface="Trebuchet MS" panose="020B0603020202020204" pitchFamily="34" charset="0"/>
              </a:rPr>
              <a:t> </a:t>
            </a:r>
            <a:r>
              <a:rPr lang="en-US" altLang="zh-CN" sz="2400" b="1" dirty="0">
                <a:latin typeface="Trebuchet MS" panose="020B0603020202020204" pitchFamily="34" charset="0"/>
              </a:rPr>
              <a:t>Static Huffman Coding Algorithm</a:t>
            </a:r>
          </a:p>
        </p:txBody>
      </p:sp>
      <p:sp>
        <p:nvSpPr>
          <p:cNvPr id="13" name="矩形 12"/>
          <p:cNvSpPr/>
          <p:nvPr/>
        </p:nvSpPr>
        <p:spPr>
          <a:xfrm>
            <a:off x="824682" y="0"/>
            <a:ext cx="175443" cy="628650"/>
          </a:xfrm>
          <a:prstGeom prst="rect">
            <a:avLst/>
          </a:prstGeom>
          <a:solidFill>
            <a:srgbClr val="CFA57C"/>
          </a:solidFill>
          <a:ln cmpd="sng">
            <a:gradFill flip="none" rotWithShape="1">
              <a:gsLst>
                <a:gs pos="50000">
                  <a:schemeClr val="accent2">
                    <a:lumMod val="60000"/>
                    <a:lumOff val="40000"/>
                  </a:schemeClr>
                </a:gs>
                <a:gs pos="0">
                  <a:schemeClr val="accent2">
                    <a:lumMod val="20000"/>
                    <a:lumOff val="80000"/>
                  </a:schemeClr>
                </a:gs>
                <a:gs pos="95000">
                  <a:schemeClr val="accent2"/>
                </a:gs>
              </a:gsLst>
              <a:path path="circle">
                <a:fillToRect l="50000" t="-80000" r="50000" b="180000"/>
              </a:path>
              <a:tileRect/>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22" name="Picture 6" descr="D:\MBA工作\LOGO\同济经管LOGO反白.png"/>
          <p:cNvPicPr>
            <a:picLocks noChangeAspect="1" noChangeArrowheads="1"/>
          </p:cNvPicPr>
          <p:nvPr/>
        </p:nvPicPr>
        <p:blipFill>
          <a:blip r:embed="rId3" cstate="email">
            <a:extLst>
              <a:ext uri="{28A0092B-C50C-407E-A947-70E740481C1C}">
                <a14:useLocalDpi xmlns:a14="http://schemas.microsoft.com/office/drawing/2010/main" val="0"/>
              </a:ext>
            </a:extLst>
          </a:blip>
          <a:srcRect/>
          <a:stretch>
            <a:fillRect/>
          </a:stretch>
        </p:blipFill>
        <p:spPr bwMode="auto">
          <a:xfrm>
            <a:off x="10267423" y="165688"/>
            <a:ext cx="1386605" cy="462962"/>
          </a:xfrm>
          <a:prstGeom prst="rect">
            <a:avLst/>
          </a:prstGeom>
          <a:noFill/>
          <a:extLst>
            <a:ext uri="{909E8E84-426E-40DD-AFC4-6F175D3DCCD1}">
              <a14:hiddenFill xmlns:a14="http://schemas.microsoft.com/office/drawing/2010/main">
                <a:solidFill>
                  <a:srgbClr val="FFFFFF"/>
                </a:solidFill>
              </a14:hiddenFill>
            </a:ext>
          </a:extLst>
        </p:spPr>
      </p:pic>
      <p:pic>
        <p:nvPicPr>
          <p:cNvPr id="2" name="图片 1" descr="微信图片_20220318113523"/>
          <p:cNvPicPr>
            <a:picLocks noChangeAspect="1"/>
          </p:cNvPicPr>
          <p:nvPr userDrawn="1"/>
        </p:nvPicPr>
        <p:blipFill>
          <a:blip r:embed="rId4"/>
          <a:stretch>
            <a:fillRect/>
          </a:stretch>
        </p:blipFill>
        <p:spPr>
          <a:xfrm>
            <a:off x="9291877" y="6115050"/>
            <a:ext cx="2244725" cy="361315"/>
          </a:xfrm>
          <a:prstGeom prst="rect">
            <a:avLst/>
          </a:prstGeom>
        </p:spPr>
      </p:pic>
      <p:sp>
        <p:nvSpPr>
          <p:cNvPr id="18" name="Rectangle 2">
            <a:extLst>
              <a:ext uri="{FF2B5EF4-FFF2-40B4-BE49-F238E27FC236}">
                <a16:creationId xmlns:a16="http://schemas.microsoft.com/office/drawing/2014/main" id="{E217C615-1D49-4D07-B850-D36106D7AA9A}"/>
              </a:ext>
            </a:extLst>
          </p:cNvPr>
          <p:cNvSpPr>
            <a:spLocks noChangeArrowheads="1"/>
          </p:cNvSpPr>
          <p:nvPr/>
        </p:nvSpPr>
        <p:spPr bwMode="auto">
          <a:xfrm>
            <a:off x="1000125" y="815365"/>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8" name="Rectangle 3">
            <a:extLst>
              <a:ext uri="{FF2B5EF4-FFF2-40B4-BE49-F238E27FC236}">
                <a16:creationId xmlns:a16="http://schemas.microsoft.com/office/drawing/2014/main" id="{97F08C45-3D15-45C1-A5A3-D1EB58DC91FE}"/>
              </a:ext>
            </a:extLst>
          </p:cNvPr>
          <p:cNvSpPr txBox="1">
            <a:spLocks noChangeArrowheads="1"/>
          </p:cNvSpPr>
          <p:nvPr/>
        </p:nvSpPr>
        <p:spPr>
          <a:xfrm>
            <a:off x="756522" y="794339"/>
            <a:ext cx="10780080" cy="5197538"/>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20000"/>
              </a:lnSpc>
              <a:spcBef>
                <a:spcPts val="300"/>
              </a:spcBef>
              <a:buClr>
                <a:srgbClr val="0B61FF"/>
              </a:buClr>
              <a:buSzPct val="80000"/>
              <a:buFont typeface="Wingdings" panose="05000000000000000000" pitchFamily="2" charset="2"/>
              <a:buChar char="n"/>
            </a:pPr>
            <a:r>
              <a:rPr lang="en-US" sz="2400" b="1" dirty="0">
                <a:latin typeface="Trebuchet MS" panose="020B0603020202020204" pitchFamily="34" charset="0"/>
              </a:rPr>
              <a:t>Huffman Algorithm</a:t>
            </a:r>
            <a:r>
              <a:rPr lang="en-US" altLang="zh-CN" sz="2400" b="1" dirty="0">
                <a:latin typeface="Trebuchet MS" panose="020B0603020202020204" pitchFamily="34" charset="0"/>
              </a:rPr>
              <a:t>: </a:t>
            </a:r>
            <a:r>
              <a:rPr lang="en-US" altLang="zh-CN" sz="2400" dirty="0">
                <a:latin typeface="Trebuchet MS" panose="020B0603020202020204" pitchFamily="34" charset="0"/>
              </a:rPr>
              <a:t>Constructing the </a:t>
            </a:r>
            <a:r>
              <a:rPr lang="en-US" altLang="zh-CN" sz="2400" b="1" i="1" dirty="0">
                <a:solidFill>
                  <a:srgbClr val="0B61FF"/>
                </a:solidFill>
                <a:latin typeface="Trebuchet MS" panose="020B0603020202020204" pitchFamily="34" charset="0"/>
              </a:rPr>
              <a:t>Optimal Binary (Huffman) Tree</a:t>
            </a:r>
            <a:r>
              <a:rPr lang="en-US" altLang="zh-CN" sz="2400" dirty="0">
                <a:latin typeface="Trebuchet MS" panose="020B0603020202020204" pitchFamily="34" charset="0"/>
              </a:rPr>
              <a:t>.</a:t>
            </a:r>
            <a:endParaRPr lang="en-US" altLang="zh-CN" sz="2400" b="1" dirty="0">
              <a:latin typeface="Trebuchet MS" panose="020B0603020202020204" pitchFamily="34" charset="0"/>
            </a:endParaRPr>
          </a:p>
          <a:p>
            <a:pPr marL="0" indent="179388">
              <a:lnSpc>
                <a:spcPct val="120000"/>
              </a:lnSpc>
              <a:spcBef>
                <a:spcPts val="0"/>
              </a:spcBef>
              <a:buClr>
                <a:srgbClr val="0B61FF"/>
              </a:buClr>
              <a:buSzPct val="80000"/>
              <a:buNone/>
            </a:pPr>
            <a:r>
              <a:rPr lang="en-US" sz="2400" dirty="0">
                <a:latin typeface="Trebuchet MS" panose="020B0603020202020204" pitchFamily="34" charset="0"/>
              </a:rPr>
              <a:t>Given real numbers </a:t>
            </a:r>
            <a:r>
              <a:rPr lang="en-US" altLang="zh-CN" sz="2400" b="1" i="1" dirty="0">
                <a:latin typeface="Trebuchet MS" panose="020B0603020202020204" pitchFamily="34" charset="0"/>
                <a:cs typeface="Times New Roman" panose="02020603050405020304" pitchFamily="18" charset="0"/>
              </a:rPr>
              <a:t>w</a:t>
            </a:r>
            <a:r>
              <a:rPr lang="en-US" altLang="zh-CN" sz="2400" b="1" baseline="-30000" dirty="0">
                <a:latin typeface="Trebuchet MS" panose="020B0603020202020204" pitchFamily="34" charset="0"/>
                <a:cs typeface="Times New Roman" panose="02020603050405020304" pitchFamily="18" charset="0"/>
              </a:rPr>
              <a:t>1</a:t>
            </a:r>
            <a:r>
              <a:rPr lang="en-US" altLang="zh-CN" sz="2400" b="1" dirty="0">
                <a:latin typeface="Trebuchet MS" panose="020B0603020202020204" pitchFamily="34" charset="0"/>
                <a:cs typeface="Times New Roman" panose="02020603050405020304" pitchFamily="18" charset="0"/>
              </a:rPr>
              <a:t>, </a:t>
            </a:r>
            <a:r>
              <a:rPr lang="en-US" altLang="zh-CN" sz="2400" b="1" i="1" dirty="0">
                <a:latin typeface="Trebuchet MS" panose="020B0603020202020204" pitchFamily="34" charset="0"/>
                <a:cs typeface="Times New Roman" panose="02020603050405020304" pitchFamily="18" charset="0"/>
              </a:rPr>
              <a:t>w</a:t>
            </a:r>
            <a:r>
              <a:rPr lang="en-US" altLang="zh-CN" sz="2400" b="1" baseline="-30000" dirty="0">
                <a:latin typeface="Trebuchet MS" panose="020B0603020202020204" pitchFamily="34" charset="0"/>
                <a:cs typeface="Times New Roman" panose="02020603050405020304" pitchFamily="18" charset="0"/>
              </a:rPr>
              <a:t>2</a:t>
            </a:r>
            <a:r>
              <a:rPr lang="en-US" altLang="zh-CN" sz="2400" b="1" dirty="0">
                <a:latin typeface="Trebuchet MS" panose="020B0603020202020204" pitchFamily="34" charset="0"/>
                <a:cs typeface="Times New Roman" panose="02020603050405020304" pitchFamily="18" charset="0"/>
              </a:rPr>
              <a:t>, …, </a:t>
            </a:r>
            <a:r>
              <a:rPr lang="en-US" altLang="zh-CN" sz="2400" b="1" i="1" dirty="0" err="1">
                <a:latin typeface="Trebuchet MS" panose="020B0603020202020204" pitchFamily="34" charset="0"/>
                <a:cs typeface="Times New Roman" panose="02020603050405020304" pitchFamily="18" charset="0"/>
              </a:rPr>
              <a:t>w</a:t>
            </a:r>
            <a:r>
              <a:rPr lang="en-US" altLang="zh-CN" sz="2400" b="1" i="1" baseline="-30000" dirty="0" err="1">
                <a:latin typeface="Trebuchet MS" panose="020B0603020202020204" pitchFamily="34" charset="0"/>
                <a:cs typeface="Times New Roman" panose="02020603050405020304" pitchFamily="18" charset="0"/>
              </a:rPr>
              <a:t>t</a:t>
            </a:r>
            <a:r>
              <a:rPr lang="en-US" altLang="zh-CN" sz="2400" b="1" dirty="0">
                <a:latin typeface="Trebuchet MS" panose="020B0603020202020204" pitchFamily="34" charset="0"/>
                <a:cs typeface="Times New Roman" panose="02020603050405020304" pitchFamily="18" charset="0"/>
              </a:rPr>
              <a:t> </a:t>
            </a:r>
            <a:r>
              <a:rPr lang="en-US" sz="2400" dirty="0">
                <a:latin typeface="Trebuchet MS" panose="020B0603020202020204" pitchFamily="34" charset="0"/>
              </a:rPr>
              <a:t>​:</a:t>
            </a:r>
          </a:p>
          <a:p>
            <a:pPr marL="536575" indent="-357188">
              <a:lnSpc>
                <a:spcPct val="120000"/>
              </a:lnSpc>
              <a:spcBef>
                <a:spcPts val="300"/>
              </a:spcBef>
              <a:buNone/>
            </a:pPr>
            <a:r>
              <a:rPr lang="en-US" sz="2400" b="1" dirty="0">
                <a:solidFill>
                  <a:srgbClr val="0B61FF"/>
                </a:solidFill>
                <a:latin typeface="宋体" panose="02010600030101010101" pitchFamily="2" charset="-122"/>
                <a:ea typeface="宋体" panose="02010600030101010101" pitchFamily="2" charset="-122"/>
              </a:rPr>
              <a:t>①</a:t>
            </a:r>
            <a:r>
              <a:rPr lang="en-US" altLang="zh-CN" sz="2400" dirty="0">
                <a:latin typeface="Trebuchet MS" panose="020B0603020202020204" pitchFamily="34" charset="0"/>
              </a:rPr>
              <a:t>Create t leaves, each assigned a weight of </a:t>
            </a:r>
            <a:r>
              <a:rPr lang="en-US" altLang="zh-CN" sz="2400" b="1" i="1" dirty="0">
                <a:latin typeface="Trebuchet MS" panose="020B0603020202020204" pitchFamily="34" charset="0"/>
                <a:cs typeface="Times New Roman" panose="02020603050405020304" pitchFamily="18" charset="0"/>
              </a:rPr>
              <a:t>w</a:t>
            </a:r>
            <a:r>
              <a:rPr lang="en-US" altLang="zh-CN" sz="2400" b="1" baseline="-30000" dirty="0">
                <a:latin typeface="Trebuchet MS" panose="020B0603020202020204" pitchFamily="34" charset="0"/>
                <a:cs typeface="Times New Roman" panose="02020603050405020304" pitchFamily="18" charset="0"/>
              </a:rPr>
              <a:t>1</a:t>
            </a:r>
            <a:r>
              <a:rPr lang="en-US" altLang="zh-CN" sz="2400" b="1" dirty="0">
                <a:latin typeface="Trebuchet MS" panose="020B0603020202020204" pitchFamily="34" charset="0"/>
                <a:cs typeface="Times New Roman" panose="02020603050405020304" pitchFamily="18" charset="0"/>
              </a:rPr>
              <a:t>, </a:t>
            </a:r>
            <a:r>
              <a:rPr lang="en-US" altLang="zh-CN" sz="2400" b="1" i="1" dirty="0">
                <a:latin typeface="Trebuchet MS" panose="020B0603020202020204" pitchFamily="34" charset="0"/>
                <a:cs typeface="Times New Roman" panose="02020603050405020304" pitchFamily="18" charset="0"/>
              </a:rPr>
              <a:t>w</a:t>
            </a:r>
            <a:r>
              <a:rPr lang="en-US" altLang="zh-CN" sz="2400" b="1" baseline="-30000" dirty="0">
                <a:latin typeface="Trebuchet MS" panose="020B0603020202020204" pitchFamily="34" charset="0"/>
                <a:cs typeface="Times New Roman" panose="02020603050405020304" pitchFamily="18" charset="0"/>
              </a:rPr>
              <a:t>2</a:t>
            </a:r>
            <a:r>
              <a:rPr lang="en-US" altLang="zh-CN" sz="2400" b="1" dirty="0">
                <a:latin typeface="Trebuchet MS" panose="020B0603020202020204" pitchFamily="34" charset="0"/>
                <a:cs typeface="Times New Roman" panose="02020603050405020304" pitchFamily="18" charset="0"/>
              </a:rPr>
              <a:t>, …, </a:t>
            </a:r>
            <a:r>
              <a:rPr lang="en-US" altLang="zh-CN" sz="2400" b="1" i="1" dirty="0" err="1">
                <a:latin typeface="Trebuchet MS" panose="020B0603020202020204" pitchFamily="34" charset="0"/>
                <a:cs typeface="Times New Roman" panose="02020603050405020304" pitchFamily="18" charset="0"/>
              </a:rPr>
              <a:t>w</a:t>
            </a:r>
            <a:r>
              <a:rPr lang="en-US" altLang="zh-CN" sz="2400" b="1" i="1" baseline="-30000" dirty="0" err="1">
                <a:latin typeface="Trebuchet MS" panose="020B0603020202020204" pitchFamily="34" charset="0"/>
                <a:cs typeface="Times New Roman" panose="02020603050405020304" pitchFamily="18" charset="0"/>
              </a:rPr>
              <a:t>t</a:t>
            </a:r>
            <a:r>
              <a:rPr lang="en-US" altLang="zh-CN" sz="2400" b="1" i="1" baseline="-30000" dirty="0">
                <a:latin typeface="Trebuchet MS" panose="020B0603020202020204" pitchFamily="34" charset="0"/>
                <a:cs typeface="Times New Roman" panose="02020603050405020304" pitchFamily="18" charset="0"/>
              </a:rPr>
              <a:t> </a:t>
            </a:r>
            <a:r>
              <a:rPr lang="en-US" altLang="zh-CN" sz="2400" dirty="0">
                <a:latin typeface="Trebuchet MS" panose="020B0603020202020204" pitchFamily="34" charset="0"/>
              </a:rPr>
              <a:t>respectively.</a:t>
            </a:r>
          </a:p>
          <a:p>
            <a:pPr marL="536575" indent="-357188">
              <a:lnSpc>
                <a:spcPct val="120000"/>
              </a:lnSpc>
              <a:spcBef>
                <a:spcPts val="300"/>
              </a:spcBef>
              <a:buNone/>
            </a:pPr>
            <a:r>
              <a:rPr lang="en-US" altLang="zh-CN" sz="2400" b="1" dirty="0">
                <a:solidFill>
                  <a:srgbClr val="0B61FF"/>
                </a:solidFill>
                <a:latin typeface="Trebuchet MS" panose="020B0603020202020204" pitchFamily="34" charset="0"/>
              </a:rPr>
              <a:t>②</a:t>
            </a:r>
            <a:r>
              <a:rPr lang="en-US" sz="2400" dirty="0">
                <a:latin typeface="Trebuchet MS" panose="020B0603020202020204" pitchFamily="34" charset="0"/>
              </a:rPr>
              <a:t>Among all vertices with in-degree </a:t>
            </a:r>
            <a:r>
              <a:rPr lang="en-US" sz="2400" b="1" dirty="0">
                <a:latin typeface="Trebuchet MS" panose="020B0603020202020204" pitchFamily="34" charset="0"/>
              </a:rPr>
              <a:t>0</a:t>
            </a:r>
            <a:r>
              <a:rPr lang="en-US" sz="2400" dirty="0">
                <a:latin typeface="Trebuchet MS" panose="020B0603020202020204" pitchFamily="34" charset="0"/>
              </a:rPr>
              <a:t> (not necessarily leaves), select the two with the smallest weights. Create a new branching node with these two as its children. The weight of the new node is the sum of its two children's weights.</a:t>
            </a:r>
          </a:p>
          <a:p>
            <a:pPr marL="536575" indent="-357188">
              <a:lnSpc>
                <a:spcPct val="120000"/>
              </a:lnSpc>
              <a:spcBef>
                <a:spcPts val="300"/>
              </a:spcBef>
              <a:buNone/>
            </a:pPr>
            <a:r>
              <a:rPr lang="en-US" sz="2400" b="1" dirty="0">
                <a:solidFill>
                  <a:srgbClr val="0B61FF"/>
                </a:solidFill>
                <a:latin typeface="Trebuchet MS" panose="020B0603020202020204" pitchFamily="34" charset="0"/>
                <a:ea typeface="宋体" panose="02010600030101010101" pitchFamily="2" charset="-122"/>
              </a:rPr>
              <a:t>③</a:t>
            </a:r>
            <a:r>
              <a:rPr lang="en-US" sz="2400" dirty="0">
                <a:latin typeface="Trebuchet MS" panose="020B0603020202020204" pitchFamily="34" charset="0"/>
              </a:rPr>
              <a:t>Repeat step </a:t>
            </a:r>
            <a:r>
              <a:rPr lang="en-US" altLang="zh-CN" sz="2400" b="1" dirty="0">
                <a:solidFill>
                  <a:srgbClr val="0B61FF"/>
                </a:solidFill>
                <a:latin typeface="Trebuchet MS" panose="020B0603020202020204" pitchFamily="34" charset="0"/>
              </a:rPr>
              <a:t>②</a:t>
            </a:r>
            <a:r>
              <a:rPr lang="en-US" sz="2400" dirty="0">
                <a:latin typeface="Trebuchet MS" panose="020B0603020202020204" pitchFamily="34" charset="0"/>
              </a:rPr>
              <a:t> until there is only one vertex with in-degree </a:t>
            </a:r>
            <a:r>
              <a:rPr lang="en-US" sz="2400" b="1" dirty="0">
                <a:latin typeface="Trebuchet MS" panose="020B0603020202020204" pitchFamily="34" charset="0"/>
              </a:rPr>
              <a:t>0 </a:t>
            </a:r>
            <a:r>
              <a:rPr lang="en-US" sz="2400" dirty="0">
                <a:latin typeface="Trebuchet MS" panose="020B0603020202020204" pitchFamily="34" charset="0"/>
              </a:rPr>
              <a:t>remaining.</a:t>
            </a:r>
          </a:p>
          <a:p>
            <a:pPr>
              <a:lnSpc>
                <a:spcPct val="120000"/>
              </a:lnSpc>
              <a:spcBef>
                <a:spcPts val="300"/>
              </a:spcBef>
              <a:buClr>
                <a:srgbClr val="0B61FF"/>
              </a:buClr>
              <a:buSzPct val="80000"/>
              <a:buFont typeface="Wingdings" panose="05000000000000000000" pitchFamily="2" charset="2"/>
              <a:buChar char="n"/>
            </a:pPr>
            <a:r>
              <a:rPr lang="en-US" sz="2400" dirty="0">
                <a:latin typeface="Trebuchet MS" panose="020B0603020202020204" pitchFamily="34" charset="0"/>
              </a:rPr>
              <a:t>The total weight </a:t>
            </a:r>
            <a:r>
              <a:rPr lang="en-US" altLang="zh-CN" sz="2400" b="1" i="1" dirty="0">
                <a:latin typeface="Trebuchet MS" panose="020B0603020202020204" pitchFamily="34" charset="0"/>
                <a:cs typeface="Times New Roman" panose="02020603050405020304" pitchFamily="18" charset="0"/>
              </a:rPr>
              <a:t>W</a:t>
            </a:r>
            <a:r>
              <a:rPr lang="en-US" altLang="zh-CN" sz="2400" b="1" dirty="0">
                <a:latin typeface="Trebuchet MS" panose="020B0603020202020204" pitchFamily="34" charset="0"/>
                <a:cs typeface="Times New Roman" panose="02020603050405020304" pitchFamily="18" charset="0"/>
              </a:rPr>
              <a:t>(</a:t>
            </a:r>
            <a:r>
              <a:rPr lang="en-US" altLang="zh-CN" sz="2400" b="1" i="1" dirty="0">
                <a:latin typeface="Trebuchet MS" panose="020B0603020202020204" pitchFamily="34" charset="0"/>
                <a:cs typeface="Times New Roman" panose="02020603050405020304" pitchFamily="18" charset="0"/>
              </a:rPr>
              <a:t>T</a:t>
            </a:r>
            <a:r>
              <a:rPr lang="en-US" altLang="zh-CN" sz="2400" b="1" dirty="0">
                <a:latin typeface="Trebuchet MS" panose="020B0603020202020204" pitchFamily="34" charset="0"/>
                <a:cs typeface="Times New Roman" panose="02020603050405020304" pitchFamily="18" charset="0"/>
              </a:rPr>
              <a:t>) </a:t>
            </a:r>
            <a:r>
              <a:rPr lang="en-US" sz="2400" dirty="0">
                <a:latin typeface="Trebuchet MS" panose="020B0603020202020204" pitchFamily="34" charset="0"/>
              </a:rPr>
              <a:t>is the sum of the weights of all branching nodes. The resulting binary tree is the </a:t>
            </a:r>
            <a:r>
              <a:rPr lang="en-US" sz="2400" b="1" i="1" dirty="0">
                <a:solidFill>
                  <a:srgbClr val="0B61FF"/>
                </a:solidFill>
                <a:latin typeface="Trebuchet MS" panose="020B0603020202020204" pitchFamily="34" charset="0"/>
              </a:rPr>
              <a:t>optimal binary tree</a:t>
            </a:r>
            <a:r>
              <a:rPr lang="en-US" sz="2400" dirty="0">
                <a:latin typeface="Trebuchet MS" panose="020B0603020202020204" pitchFamily="34" charset="0"/>
              </a:rPr>
              <a:t>, having the </a:t>
            </a:r>
            <a:r>
              <a:rPr lang="en-US" sz="2400" b="1" i="1" dirty="0">
                <a:solidFill>
                  <a:srgbClr val="0B61FF"/>
                </a:solidFill>
                <a:latin typeface="Trebuchet MS" panose="020B0603020202020204" pitchFamily="34" charset="0"/>
              </a:rPr>
              <a:t>minimum weighted path length</a:t>
            </a:r>
            <a:r>
              <a:rPr lang="en-US" sz="2400" dirty="0">
                <a:latin typeface="Trebuchet MS" panose="020B0603020202020204" pitchFamily="34" charset="0"/>
              </a:rPr>
              <a:t>.</a:t>
            </a:r>
          </a:p>
        </p:txBody>
      </p:sp>
    </p:spTree>
    <p:extLst>
      <p:ext uri="{BB962C8B-B14F-4D97-AF65-F5344CB8AC3E}">
        <p14:creationId xmlns:p14="http://schemas.microsoft.com/office/powerpoint/2010/main" val="2901646260"/>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8">
                                            <p:txEl>
                                              <p:pRg st="1" end="1"/>
                                            </p:txEl>
                                          </p:spTgt>
                                        </p:tgtEl>
                                        <p:attrNameLst>
                                          <p:attrName>style.visibility</p:attrName>
                                        </p:attrNameLst>
                                      </p:cBhvr>
                                      <p:to>
                                        <p:strVal val="visible"/>
                                      </p:to>
                                    </p:set>
                                    <p:animEffect transition="in" filter="fade">
                                      <p:cBhvr>
                                        <p:cTn id="7" dur="1000"/>
                                        <p:tgtEl>
                                          <p:spTgt spid="8">
                                            <p:txEl>
                                              <p:pRg st="1" end="1"/>
                                            </p:txEl>
                                          </p:spTgt>
                                        </p:tgtEl>
                                      </p:cBhvr>
                                    </p:animEffect>
                                    <p:anim calcmode="lin" valueType="num">
                                      <p:cBhvr>
                                        <p:cTn id="8" dur="1000" fill="hold"/>
                                        <p:tgtEl>
                                          <p:spTgt spid="8">
                                            <p:txEl>
                                              <p:pRg st="1" end="1"/>
                                            </p:txEl>
                                          </p:spTgt>
                                        </p:tgtEl>
                                        <p:attrNameLst>
                                          <p:attrName>ppt_x</p:attrName>
                                        </p:attrNameLst>
                                      </p:cBhvr>
                                      <p:tavLst>
                                        <p:tav tm="0">
                                          <p:val>
                                            <p:strVal val="#ppt_x"/>
                                          </p:val>
                                        </p:tav>
                                        <p:tav tm="100000">
                                          <p:val>
                                            <p:strVal val="#ppt_x"/>
                                          </p:val>
                                        </p:tav>
                                      </p:tavLst>
                                    </p:anim>
                                    <p:anim calcmode="lin" valueType="num">
                                      <p:cBhvr>
                                        <p:cTn id="9" dur="1000" fill="hold"/>
                                        <p:tgtEl>
                                          <p:spTgt spid="8">
                                            <p:txEl>
                                              <p:pRg st="1" end="1"/>
                                            </p:txEl>
                                          </p:spTgt>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8">
                                            <p:txEl>
                                              <p:pRg st="2" end="2"/>
                                            </p:txEl>
                                          </p:spTgt>
                                        </p:tgtEl>
                                        <p:attrNameLst>
                                          <p:attrName>style.visibility</p:attrName>
                                        </p:attrNameLst>
                                      </p:cBhvr>
                                      <p:to>
                                        <p:strVal val="visible"/>
                                      </p:to>
                                    </p:set>
                                    <p:animEffect transition="in" filter="fade">
                                      <p:cBhvr>
                                        <p:cTn id="12" dur="1000"/>
                                        <p:tgtEl>
                                          <p:spTgt spid="8">
                                            <p:txEl>
                                              <p:pRg st="2" end="2"/>
                                            </p:txEl>
                                          </p:spTgt>
                                        </p:tgtEl>
                                      </p:cBhvr>
                                    </p:animEffect>
                                    <p:anim calcmode="lin" valueType="num">
                                      <p:cBhvr>
                                        <p:cTn id="13" dur="1000" fill="hold"/>
                                        <p:tgtEl>
                                          <p:spTgt spid="8">
                                            <p:txEl>
                                              <p:pRg st="2" end="2"/>
                                            </p:txEl>
                                          </p:spTgt>
                                        </p:tgtEl>
                                        <p:attrNameLst>
                                          <p:attrName>ppt_x</p:attrName>
                                        </p:attrNameLst>
                                      </p:cBhvr>
                                      <p:tavLst>
                                        <p:tav tm="0">
                                          <p:val>
                                            <p:strVal val="#ppt_x"/>
                                          </p:val>
                                        </p:tav>
                                        <p:tav tm="100000">
                                          <p:val>
                                            <p:strVal val="#ppt_x"/>
                                          </p:val>
                                        </p:tav>
                                      </p:tavLst>
                                    </p:anim>
                                    <p:anim calcmode="lin" valueType="num">
                                      <p:cBhvr>
                                        <p:cTn id="14" dur="1000" fill="hold"/>
                                        <p:tgtEl>
                                          <p:spTgt spid="8">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42" presetClass="entr" presetSubtype="0" fill="hold" nodeType="clickEffect">
                                  <p:stCondLst>
                                    <p:cond delay="0"/>
                                  </p:stCondLst>
                                  <p:childTnLst>
                                    <p:set>
                                      <p:cBhvr>
                                        <p:cTn id="18" dur="1" fill="hold">
                                          <p:stCondLst>
                                            <p:cond delay="0"/>
                                          </p:stCondLst>
                                        </p:cTn>
                                        <p:tgtEl>
                                          <p:spTgt spid="8">
                                            <p:txEl>
                                              <p:pRg st="3" end="3"/>
                                            </p:txEl>
                                          </p:spTgt>
                                        </p:tgtEl>
                                        <p:attrNameLst>
                                          <p:attrName>style.visibility</p:attrName>
                                        </p:attrNameLst>
                                      </p:cBhvr>
                                      <p:to>
                                        <p:strVal val="visible"/>
                                      </p:to>
                                    </p:set>
                                    <p:animEffect transition="in" filter="fade">
                                      <p:cBhvr>
                                        <p:cTn id="19" dur="1000"/>
                                        <p:tgtEl>
                                          <p:spTgt spid="8">
                                            <p:txEl>
                                              <p:pRg st="3" end="3"/>
                                            </p:txEl>
                                          </p:spTgt>
                                        </p:tgtEl>
                                      </p:cBhvr>
                                    </p:animEffect>
                                    <p:anim calcmode="lin" valueType="num">
                                      <p:cBhvr>
                                        <p:cTn id="20" dur="1000" fill="hold"/>
                                        <p:tgtEl>
                                          <p:spTgt spid="8">
                                            <p:txEl>
                                              <p:pRg st="3" end="3"/>
                                            </p:txEl>
                                          </p:spTgt>
                                        </p:tgtEl>
                                        <p:attrNameLst>
                                          <p:attrName>ppt_x</p:attrName>
                                        </p:attrNameLst>
                                      </p:cBhvr>
                                      <p:tavLst>
                                        <p:tav tm="0">
                                          <p:val>
                                            <p:strVal val="#ppt_x"/>
                                          </p:val>
                                        </p:tav>
                                        <p:tav tm="100000">
                                          <p:val>
                                            <p:strVal val="#ppt_x"/>
                                          </p:val>
                                        </p:tav>
                                      </p:tavLst>
                                    </p:anim>
                                    <p:anim calcmode="lin" valueType="num">
                                      <p:cBhvr>
                                        <p:cTn id="21" dur="1000" fill="hold"/>
                                        <p:tgtEl>
                                          <p:spTgt spid="8">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22" fill="hold">
                      <p:stCondLst>
                        <p:cond delay="indefinite"/>
                      </p:stCondLst>
                      <p:childTnLst>
                        <p:par>
                          <p:cTn id="23" fill="hold">
                            <p:stCondLst>
                              <p:cond delay="0"/>
                            </p:stCondLst>
                            <p:childTnLst>
                              <p:par>
                                <p:cTn id="24" presetID="42" presetClass="entr" presetSubtype="0" fill="hold" nodeType="clickEffect">
                                  <p:stCondLst>
                                    <p:cond delay="0"/>
                                  </p:stCondLst>
                                  <p:childTnLst>
                                    <p:set>
                                      <p:cBhvr>
                                        <p:cTn id="25" dur="1" fill="hold">
                                          <p:stCondLst>
                                            <p:cond delay="0"/>
                                          </p:stCondLst>
                                        </p:cTn>
                                        <p:tgtEl>
                                          <p:spTgt spid="8">
                                            <p:txEl>
                                              <p:pRg st="4" end="4"/>
                                            </p:txEl>
                                          </p:spTgt>
                                        </p:tgtEl>
                                        <p:attrNameLst>
                                          <p:attrName>style.visibility</p:attrName>
                                        </p:attrNameLst>
                                      </p:cBhvr>
                                      <p:to>
                                        <p:strVal val="visible"/>
                                      </p:to>
                                    </p:set>
                                    <p:animEffect transition="in" filter="fade">
                                      <p:cBhvr>
                                        <p:cTn id="26" dur="1000"/>
                                        <p:tgtEl>
                                          <p:spTgt spid="8">
                                            <p:txEl>
                                              <p:pRg st="4" end="4"/>
                                            </p:txEl>
                                          </p:spTgt>
                                        </p:tgtEl>
                                      </p:cBhvr>
                                    </p:animEffect>
                                    <p:anim calcmode="lin" valueType="num">
                                      <p:cBhvr>
                                        <p:cTn id="27" dur="1000" fill="hold"/>
                                        <p:tgtEl>
                                          <p:spTgt spid="8">
                                            <p:txEl>
                                              <p:pRg st="4" end="4"/>
                                            </p:txEl>
                                          </p:spTgt>
                                        </p:tgtEl>
                                        <p:attrNameLst>
                                          <p:attrName>ppt_x</p:attrName>
                                        </p:attrNameLst>
                                      </p:cBhvr>
                                      <p:tavLst>
                                        <p:tav tm="0">
                                          <p:val>
                                            <p:strVal val="#ppt_x"/>
                                          </p:val>
                                        </p:tav>
                                        <p:tav tm="100000">
                                          <p:val>
                                            <p:strVal val="#ppt_x"/>
                                          </p:val>
                                        </p:tav>
                                      </p:tavLst>
                                    </p:anim>
                                    <p:anim calcmode="lin" valueType="num">
                                      <p:cBhvr>
                                        <p:cTn id="28" dur="1000" fill="hold"/>
                                        <p:tgtEl>
                                          <p:spTgt spid="8">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29" fill="hold">
                      <p:stCondLst>
                        <p:cond delay="indefinite"/>
                      </p:stCondLst>
                      <p:childTnLst>
                        <p:par>
                          <p:cTn id="30" fill="hold">
                            <p:stCondLst>
                              <p:cond delay="0"/>
                            </p:stCondLst>
                            <p:childTnLst>
                              <p:par>
                                <p:cTn id="31" presetID="42" presetClass="entr" presetSubtype="0" fill="hold" nodeType="clickEffect">
                                  <p:stCondLst>
                                    <p:cond delay="0"/>
                                  </p:stCondLst>
                                  <p:childTnLst>
                                    <p:set>
                                      <p:cBhvr>
                                        <p:cTn id="32" dur="1" fill="hold">
                                          <p:stCondLst>
                                            <p:cond delay="0"/>
                                          </p:stCondLst>
                                        </p:cTn>
                                        <p:tgtEl>
                                          <p:spTgt spid="8">
                                            <p:txEl>
                                              <p:pRg st="5" end="5"/>
                                            </p:txEl>
                                          </p:spTgt>
                                        </p:tgtEl>
                                        <p:attrNameLst>
                                          <p:attrName>style.visibility</p:attrName>
                                        </p:attrNameLst>
                                      </p:cBhvr>
                                      <p:to>
                                        <p:strVal val="visible"/>
                                      </p:to>
                                    </p:set>
                                    <p:animEffect transition="in" filter="fade">
                                      <p:cBhvr>
                                        <p:cTn id="33" dur="1000"/>
                                        <p:tgtEl>
                                          <p:spTgt spid="8">
                                            <p:txEl>
                                              <p:pRg st="5" end="5"/>
                                            </p:txEl>
                                          </p:spTgt>
                                        </p:tgtEl>
                                      </p:cBhvr>
                                    </p:animEffect>
                                    <p:anim calcmode="lin" valueType="num">
                                      <p:cBhvr>
                                        <p:cTn id="34" dur="1000" fill="hold"/>
                                        <p:tgtEl>
                                          <p:spTgt spid="8">
                                            <p:txEl>
                                              <p:pRg st="5" end="5"/>
                                            </p:txEl>
                                          </p:spTgt>
                                        </p:tgtEl>
                                        <p:attrNameLst>
                                          <p:attrName>ppt_x</p:attrName>
                                        </p:attrNameLst>
                                      </p:cBhvr>
                                      <p:tavLst>
                                        <p:tav tm="0">
                                          <p:val>
                                            <p:strVal val="#ppt_x"/>
                                          </p:val>
                                        </p:tav>
                                        <p:tav tm="100000">
                                          <p:val>
                                            <p:strVal val="#ppt_x"/>
                                          </p:val>
                                        </p:tav>
                                      </p:tavLst>
                                    </p:anim>
                                    <p:anim calcmode="lin" valueType="num">
                                      <p:cBhvr>
                                        <p:cTn id="35" dur="1000" fill="hold"/>
                                        <p:tgtEl>
                                          <p:spTgt spid="8">
                                            <p:txEl>
                                              <p:pRg st="5" end="5"/>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0" y="0"/>
            <a:ext cx="12192000" cy="762000"/>
          </a:xfrm>
          <a:prstGeom prst="rect">
            <a:avLst/>
          </a:prstGeom>
          <a:solidFill>
            <a:srgbClr val="002F7C"/>
          </a:solidFill>
        </p:spPr>
        <p:style>
          <a:lnRef idx="2">
            <a:schemeClr val="dk1">
              <a:shade val="50000"/>
            </a:schemeClr>
          </a:lnRef>
          <a:fillRef idx="1">
            <a:schemeClr val="dk1"/>
          </a:fillRef>
          <a:effectRef idx="0">
            <a:schemeClr val="dk1"/>
          </a:effectRef>
          <a:fontRef idx="minor">
            <a:schemeClr val="lt1"/>
          </a:fontRef>
        </p:style>
        <p:txBody>
          <a:bodyPr rtlCol="0" anchor="ctr"/>
          <a:lstStyle/>
          <a:p>
            <a:pPr>
              <a:buClr>
                <a:srgbClr val="0B61FF"/>
              </a:buClr>
              <a:buSzPct val="80000"/>
            </a:pPr>
            <a:r>
              <a:rPr lang="zh-CN" altLang="en-US" sz="2000" b="1" dirty="0">
                <a:latin typeface="Times New Roman" panose="02020603050405020304" pitchFamily="18" charset="0"/>
                <a:ea typeface="宋体" panose="02010600030101010101" pitchFamily="2" charset="-122"/>
                <a:cs typeface="Times New Roman" panose="02020603050405020304" pitchFamily="18" charset="0"/>
              </a:rPr>
              <a:t>               </a:t>
            </a:r>
            <a:r>
              <a:rPr lang="en-US" altLang="zh-CN" sz="2000" b="1" dirty="0">
                <a:latin typeface="Trebuchet MS" panose="020B0603020202020204" pitchFamily="34" charset="0"/>
              </a:rPr>
              <a:t>7.2.2 Optimal Trees and the Huffman Algorithm</a:t>
            </a:r>
          </a:p>
          <a:p>
            <a:pPr>
              <a:buClr>
                <a:srgbClr val="0B61FF"/>
              </a:buClr>
              <a:buSzPct val="80000"/>
            </a:pPr>
            <a:r>
              <a:rPr lang="en-US" altLang="zh-CN" sz="2000" b="1" dirty="0">
                <a:solidFill>
                  <a:srgbClr val="C00000"/>
                </a:solidFill>
                <a:latin typeface="Trebuchet MS" panose="020B0603020202020204" pitchFamily="34" charset="0"/>
                <a:ea typeface="Cambria Math" panose="02040503050406030204" pitchFamily="18" charset="0"/>
                <a:cs typeface="Times New Roman" panose="02020603050405020304" pitchFamily="18" charset="0"/>
              </a:rPr>
              <a:t>              </a:t>
            </a:r>
            <a:r>
              <a:rPr lang="en-US" altLang="zh-CN" sz="2400" b="1" dirty="0">
                <a:solidFill>
                  <a:srgbClr val="C00000"/>
                </a:solidFill>
                <a:latin typeface="Trebuchet MS" panose="020B0603020202020204" pitchFamily="34" charset="0"/>
                <a:ea typeface="Cambria Math" panose="02040503050406030204" pitchFamily="18" charset="0"/>
                <a:cs typeface="Times New Roman" panose="02020603050405020304" pitchFamily="18" charset="0"/>
              </a:rPr>
              <a:t>⤷</a:t>
            </a:r>
            <a:r>
              <a:rPr lang="zh-CN" altLang="en-US" sz="2400" b="1" dirty="0">
                <a:latin typeface="Trebuchet MS" panose="020B0603020202020204" pitchFamily="34" charset="0"/>
              </a:rPr>
              <a:t> </a:t>
            </a:r>
            <a:r>
              <a:rPr lang="en-US" altLang="zh-CN" sz="2400" b="1" dirty="0">
                <a:latin typeface="Trebuchet MS" panose="020B0603020202020204" pitchFamily="34" charset="0"/>
              </a:rPr>
              <a:t>Static Huffman Coding Algorithm(</a:t>
            </a:r>
            <a:r>
              <a:rPr lang="en-US" altLang="zh-CN" sz="2400" b="1" dirty="0">
                <a:solidFill>
                  <a:srgbClr val="C00000"/>
                </a:solidFill>
                <a:latin typeface="Trebuchet MS" panose="020B0603020202020204" pitchFamily="34" charset="0"/>
              </a:rPr>
              <a:t>e.g.</a:t>
            </a:r>
            <a:r>
              <a:rPr lang="en-US" altLang="zh-CN" sz="2400" b="1" dirty="0">
                <a:latin typeface="Trebuchet MS" panose="020B0603020202020204" pitchFamily="34" charset="0"/>
              </a:rPr>
              <a:t>)</a:t>
            </a:r>
          </a:p>
        </p:txBody>
      </p:sp>
      <p:sp>
        <p:nvSpPr>
          <p:cNvPr id="13" name="矩形 12"/>
          <p:cNvSpPr/>
          <p:nvPr/>
        </p:nvSpPr>
        <p:spPr>
          <a:xfrm>
            <a:off x="824682" y="0"/>
            <a:ext cx="175443" cy="628650"/>
          </a:xfrm>
          <a:prstGeom prst="rect">
            <a:avLst/>
          </a:prstGeom>
          <a:solidFill>
            <a:srgbClr val="CFA57C"/>
          </a:solidFill>
          <a:ln cmpd="sng">
            <a:gradFill flip="none" rotWithShape="1">
              <a:gsLst>
                <a:gs pos="50000">
                  <a:schemeClr val="accent2">
                    <a:lumMod val="60000"/>
                    <a:lumOff val="40000"/>
                  </a:schemeClr>
                </a:gs>
                <a:gs pos="0">
                  <a:schemeClr val="accent2">
                    <a:lumMod val="20000"/>
                    <a:lumOff val="80000"/>
                  </a:schemeClr>
                </a:gs>
                <a:gs pos="95000">
                  <a:schemeClr val="accent2"/>
                </a:gs>
              </a:gsLst>
              <a:path path="circle">
                <a:fillToRect l="50000" t="-80000" r="50000" b="180000"/>
              </a:path>
              <a:tileRect/>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22" name="Picture 6" descr="D:\MBA工作\LOGO\同济经管LOGO反白.png"/>
          <p:cNvPicPr>
            <a:picLocks noChangeAspect="1" noChangeArrowheads="1"/>
          </p:cNvPicPr>
          <p:nvPr/>
        </p:nvPicPr>
        <p:blipFill>
          <a:blip r:embed="rId3" cstate="email">
            <a:extLst>
              <a:ext uri="{28A0092B-C50C-407E-A947-70E740481C1C}">
                <a14:useLocalDpi xmlns:a14="http://schemas.microsoft.com/office/drawing/2010/main" val="0"/>
              </a:ext>
            </a:extLst>
          </a:blip>
          <a:srcRect/>
          <a:stretch>
            <a:fillRect/>
          </a:stretch>
        </p:blipFill>
        <p:spPr bwMode="auto">
          <a:xfrm>
            <a:off x="10267423" y="165688"/>
            <a:ext cx="1386605" cy="462962"/>
          </a:xfrm>
          <a:prstGeom prst="rect">
            <a:avLst/>
          </a:prstGeom>
          <a:noFill/>
          <a:extLst>
            <a:ext uri="{909E8E84-426E-40DD-AFC4-6F175D3DCCD1}">
              <a14:hiddenFill xmlns:a14="http://schemas.microsoft.com/office/drawing/2010/main">
                <a:solidFill>
                  <a:srgbClr val="FFFFFF"/>
                </a:solidFill>
              </a14:hiddenFill>
            </a:ext>
          </a:extLst>
        </p:spPr>
      </p:pic>
      <p:pic>
        <p:nvPicPr>
          <p:cNvPr id="2" name="图片 1" descr="微信图片_20220318113523"/>
          <p:cNvPicPr>
            <a:picLocks noChangeAspect="1"/>
          </p:cNvPicPr>
          <p:nvPr userDrawn="1"/>
        </p:nvPicPr>
        <p:blipFill>
          <a:blip r:embed="rId4"/>
          <a:stretch>
            <a:fillRect/>
          </a:stretch>
        </p:blipFill>
        <p:spPr>
          <a:xfrm>
            <a:off x="9291877" y="6115050"/>
            <a:ext cx="2244725" cy="361315"/>
          </a:xfrm>
          <a:prstGeom prst="rect">
            <a:avLst/>
          </a:prstGeom>
        </p:spPr>
      </p:pic>
      <p:sp>
        <p:nvSpPr>
          <p:cNvPr id="18" name="Rectangle 2">
            <a:extLst>
              <a:ext uri="{FF2B5EF4-FFF2-40B4-BE49-F238E27FC236}">
                <a16:creationId xmlns:a16="http://schemas.microsoft.com/office/drawing/2014/main" id="{E217C615-1D49-4D07-B850-D36106D7AA9A}"/>
              </a:ext>
            </a:extLst>
          </p:cNvPr>
          <p:cNvSpPr>
            <a:spLocks noChangeArrowheads="1"/>
          </p:cNvSpPr>
          <p:nvPr/>
        </p:nvSpPr>
        <p:spPr bwMode="auto">
          <a:xfrm>
            <a:off x="1000125" y="815365"/>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8" name="Rectangle 3">
            <a:extLst>
              <a:ext uri="{FF2B5EF4-FFF2-40B4-BE49-F238E27FC236}">
                <a16:creationId xmlns:a16="http://schemas.microsoft.com/office/drawing/2014/main" id="{97F08C45-3D15-45C1-A5A3-D1EB58DC91FE}"/>
              </a:ext>
            </a:extLst>
          </p:cNvPr>
          <p:cNvSpPr txBox="1">
            <a:spLocks noChangeArrowheads="1"/>
          </p:cNvSpPr>
          <p:nvPr/>
        </p:nvSpPr>
        <p:spPr>
          <a:xfrm>
            <a:off x="1000125" y="914400"/>
            <a:ext cx="9877336" cy="5788025"/>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just" eaLnBrk="1" hangingPunct="1">
              <a:lnSpc>
                <a:spcPct val="115000"/>
              </a:lnSpc>
              <a:buFontTx/>
              <a:buNone/>
            </a:pPr>
            <a:endParaRPr lang="zh-CN" altLang="en-US" sz="2800" b="1" dirty="0"/>
          </a:p>
        </p:txBody>
      </p:sp>
      <p:sp>
        <p:nvSpPr>
          <p:cNvPr id="9" name="Rectangle 3">
            <a:extLst>
              <a:ext uri="{FF2B5EF4-FFF2-40B4-BE49-F238E27FC236}">
                <a16:creationId xmlns:a16="http://schemas.microsoft.com/office/drawing/2014/main" id="{520254EB-7221-45D9-8E79-00A591883735}"/>
              </a:ext>
            </a:extLst>
          </p:cNvPr>
          <p:cNvSpPr txBox="1">
            <a:spLocks noChangeArrowheads="1"/>
          </p:cNvSpPr>
          <p:nvPr/>
        </p:nvSpPr>
        <p:spPr>
          <a:xfrm>
            <a:off x="792104" y="715863"/>
            <a:ext cx="5151496" cy="3282333"/>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20000"/>
              </a:lnSpc>
              <a:spcBef>
                <a:spcPts val="0"/>
              </a:spcBef>
              <a:buClr>
                <a:srgbClr val="0B61FF"/>
              </a:buClr>
              <a:buSzPct val="80000"/>
              <a:buFont typeface="Wingdings" panose="05000000000000000000" pitchFamily="2" charset="2"/>
              <a:buChar char="n"/>
            </a:pPr>
            <a:r>
              <a:rPr lang="en-US" sz="2400" b="1" dirty="0">
                <a:latin typeface="Trebuchet MS" panose="020B0603020202020204" pitchFamily="34" charset="0"/>
              </a:rPr>
              <a:t>Example: </a:t>
            </a:r>
            <a:r>
              <a:rPr lang="en-US" sz="2400" dirty="0">
                <a:latin typeface="Trebuchet MS" panose="020B0603020202020204" pitchFamily="34" charset="0"/>
              </a:rPr>
              <a:t>Find the optimal binary tree with weights 1, 3, 4, 5, and 6, and compute its total weight.</a:t>
            </a:r>
          </a:p>
          <a:p>
            <a:pPr>
              <a:lnSpc>
                <a:spcPct val="120000"/>
              </a:lnSpc>
              <a:spcBef>
                <a:spcPts val="0"/>
              </a:spcBef>
              <a:buClr>
                <a:srgbClr val="0B61FF"/>
              </a:buClr>
              <a:buSzPct val="80000"/>
              <a:buFont typeface="Wingdings" panose="05000000000000000000" pitchFamily="2" charset="2"/>
              <a:buChar char="n"/>
            </a:pPr>
            <a:r>
              <a:rPr lang="en-US" sz="2400" b="1" dirty="0">
                <a:latin typeface="Trebuchet MS" panose="020B0603020202020204" pitchFamily="34" charset="0"/>
              </a:rPr>
              <a:t>Solution:</a:t>
            </a:r>
            <a:br>
              <a:rPr lang="en-US" sz="2400" dirty="0">
                <a:latin typeface="Trebuchet MS" panose="020B0603020202020204" pitchFamily="34" charset="0"/>
              </a:rPr>
            </a:br>
            <a:r>
              <a:rPr lang="en-US" sz="2400" dirty="0">
                <a:latin typeface="Trebuchet MS" panose="020B0603020202020204" pitchFamily="34" charset="0"/>
              </a:rPr>
              <a:t>Steps </a:t>
            </a:r>
            <a:r>
              <a:rPr lang="en-US" sz="2400" b="1" dirty="0">
                <a:latin typeface="Trebuchet MS" panose="020B0603020202020204" pitchFamily="34" charset="0"/>
              </a:rPr>
              <a:t>(a)</a:t>
            </a:r>
            <a:r>
              <a:rPr lang="en-US" sz="2400" dirty="0">
                <a:latin typeface="Trebuchet MS" panose="020B0603020202020204" pitchFamily="34" charset="0"/>
              </a:rPr>
              <a:t> through </a:t>
            </a:r>
            <a:r>
              <a:rPr lang="en-US" sz="2400" b="1" dirty="0">
                <a:latin typeface="Trebuchet MS" panose="020B0603020202020204" pitchFamily="34" charset="0"/>
              </a:rPr>
              <a:t>(e)</a:t>
            </a:r>
            <a:r>
              <a:rPr lang="en-US" sz="2400" dirty="0">
                <a:latin typeface="Trebuchet MS" panose="020B0603020202020204" pitchFamily="34" charset="0"/>
              </a:rPr>
              <a:t> show the computation process using the Huffman algorithm.</a:t>
            </a:r>
            <a:endParaRPr kumimoji="0" lang="en-US" altLang="zh-CN" sz="2400" b="1" dirty="0">
              <a:latin typeface="Trebuchet MS" panose="020B0603020202020204" pitchFamily="34" charset="0"/>
            </a:endParaRPr>
          </a:p>
          <a:p>
            <a:pPr>
              <a:buFontTx/>
              <a:buNone/>
            </a:pPr>
            <a:endParaRPr lang="zh-CN" altLang="en-US" sz="2400" b="1" dirty="0">
              <a:solidFill>
                <a:srgbClr val="00B0F0"/>
              </a:solidFill>
              <a:latin typeface="Trebuchet MS" panose="020B0603020202020204" pitchFamily="34" charset="0"/>
            </a:endParaRPr>
          </a:p>
        </p:txBody>
      </p:sp>
      <p:grpSp>
        <p:nvGrpSpPr>
          <p:cNvPr id="10" name="组合 52">
            <a:extLst>
              <a:ext uri="{FF2B5EF4-FFF2-40B4-BE49-F238E27FC236}">
                <a16:creationId xmlns:a16="http://schemas.microsoft.com/office/drawing/2014/main" id="{28E666FA-A4E5-492D-8766-4DEE9C927E59}"/>
              </a:ext>
            </a:extLst>
          </p:cNvPr>
          <p:cNvGrpSpPr>
            <a:grpSpLocks/>
          </p:cNvGrpSpPr>
          <p:nvPr/>
        </p:nvGrpSpPr>
        <p:grpSpPr bwMode="auto">
          <a:xfrm>
            <a:off x="6626799" y="1763054"/>
            <a:ext cx="2143125" cy="833438"/>
            <a:chOff x="500034" y="4500570"/>
            <a:chExt cx="2143140" cy="833430"/>
          </a:xfrm>
        </p:grpSpPr>
        <p:sp>
          <p:nvSpPr>
            <p:cNvPr id="11" name="Text Box 4">
              <a:extLst>
                <a:ext uri="{FF2B5EF4-FFF2-40B4-BE49-F238E27FC236}">
                  <a16:creationId xmlns:a16="http://schemas.microsoft.com/office/drawing/2014/main" id="{635B07C8-CD9B-4410-B8F4-B79674CF59C0}"/>
                </a:ext>
              </a:extLst>
            </p:cNvPr>
            <p:cNvSpPr txBox="1">
              <a:spLocks noChangeArrowheads="1"/>
            </p:cNvSpPr>
            <p:nvPr/>
          </p:nvSpPr>
          <p:spPr bwMode="auto">
            <a:xfrm>
              <a:off x="547662" y="4572000"/>
              <a:ext cx="381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FontTx/>
                <a:buNone/>
              </a:pPr>
              <a:r>
                <a:rPr kumimoji="0" lang="zh-CN" altLang="en-US" sz="2400" b="1"/>
                <a:t>1</a:t>
              </a:r>
            </a:p>
          </p:txBody>
        </p:sp>
        <p:sp>
          <p:nvSpPr>
            <p:cNvPr id="12" name="Text Box 12">
              <a:extLst>
                <a:ext uri="{FF2B5EF4-FFF2-40B4-BE49-F238E27FC236}">
                  <a16:creationId xmlns:a16="http://schemas.microsoft.com/office/drawing/2014/main" id="{004D4D17-3D99-45E3-A37B-25F9008726B0}"/>
                </a:ext>
              </a:extLst>
            </p:cNvPr>
            <p:cNvSpPr txBox="1">
              <a:spLocks noChangeArrowheads="1"/>
            </p:cNvSpPr>
            <p:nvPr/>
          </p:nvSpPr>
          <p:spPr bwMode="auto">
            <a:xfrm>
              <a:off x="1000100" y="4572000"/>
              <a:ext cx="381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FontTx/>
                <a:buNone/>
              </a:pPr>
              <a:r>
                <a:rPr kumimoji="0" lang="zh-CN" altLang="en-US" sz="2400" b="1"/>
                <a:t>3</a:t>
              </a:r>
            </a:p>
          </p:txBody>
        </p:sp>
        <p:sp>
          <p:nvSpPr>
            <p:cNvPr id="14" name="Text Box 16">
              <a:extLst>
                <a:ext uri="{FF2B5EF4-FFF2-40B4-BE49-F238E27FC236}">
                  <a16:creationId xmlns:a16="http://schemas.microsoft.com/office/drawing/2014/main" id="{468068C1-FB02-4495-A536-BFE1959390A2}"/>
                </a:ext>
              </a:extLst>
            </p:cNvPr>
            <p:cNvSpPr txBox="1">
              <a:spLocks noChangeArrowheads="1"/>
            </p:cNvSpPr>
            <p:nvPr/>
          </p:nvSpPr>
          <p:spPr bwMode="auto">
            <a:xfrm>
              <a:off x="1357290" y="4572008"/>
              <a:ext cx="381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FontTx/>
                <a:buNone/>
              </a:pPr>
              <a:r>
                <a:rPr kumimoji="0" lang="zh-CN" altLang="en-US" sz="2400" b="1" dirty="0"/>
                <a:t>4</a:t>
              </a:r>
            </a:p>
          </p:txBody>
        </p:sp>
        <p:sp>
          <p:nvSpPr>
            <p:cNvPr id="15" name="Text Box 33">
              <a:extLst>
                <a:ext uri="{FF2B5EF4-FFF2-40B4-BE49-F238E27FC236}">
                  <a16:creationId xmlns:a16="http://schemas.microsoft.com/office/drawing/2014/main" id="{08B0583D-3EFA-40FE-8983-04BADBDCE2C9}"/>
                </a:ext>
              </a:extLst>
            </p:cNvPr>
            <p:cNvSpPr txBox="1">
              <a:spLocks noChangeArrowheads="1"/>
            </p:cNvSpPr>
            <p:nvPr/>
          </p:nvSpPr>
          <p:spPr bwMode="auto">
            <a:xfrm>
              <a:off x="1247756" y="4876800"/>
              <a:ext cx="609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FontTx/>
                <a:buNone/>
              </a:pPr>
              <a:r>
                <a:rPr kumimoji="0" lang="zh-CN" altLang="en-US" sz="2400" b="1" dirty="0"/>
                <a:t>(</a:t>
              </a:r>
              <a:r>
                <a:rPr kumimoji="0" lang="en-US" altLang="zh-CN" sz="2400" b="1" dirty="0"/>
                <a:t>a)</a:t>
              </a:r>
            </a:p>
          </p:txBody>
        </p:sp>
        <p:pic>
          <p:nvPicPr>
            <p:cNvPr id="16" name="Picture 5" descr="E:\插图\离散\图7-11(a).tif">
              <a:extLst>
                <a:ext uri="{FF2B5EF4-FFF2-40B4-BE49-F238E27FC236}">
                  <a16:creationId xmlns:a16="http://schemas.microsoft.com/office/drawing/2014/main" id="{36B45829-A698-451D-A2DE-0C6C0D27DC5A}"/>
                </a:ext>
              </a:extLst>
            </p:cNvPr>
            <p:cNvPicPr>
              <a:picLocks noChangeAspect="1" noChangeArrowheads="1"/>
            </p:cNvPicPr>
            <p:nvPr/>
          </p:nvPicPr>
          <p:blipFill>
            <a:blip r:embed="rId5">
              <a:extLst>
                <a:ext uri="{28A0092B-C50C-407E-A947-70E740481C1C}">
                  <a14:useLocalDpi xmlns:a14="http://schemas.microsoft.com/office/drawing/2010/main" val="0"/>
                </a:ext>
              </a:extLst>
            </a:blip>
            <a:srcRect l="58389" t="87891"/>
            <a:stretch>
              <a:fillRect/>
            </a:stretch>
          </p:blipFill>
          <p:spPr bwMode="auto">
            <a:xfrm>
              <a:off x="1357290" y="4500570"/>
              <a:ext cx="285752" cy="1428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7" name="Picture 5" descr="E:\插图\离散\图7-11(a).tif">
              <a:extLst>
                <a:ext uri="{FF2B5EF4-FFF2-40B4-BE49-F238E27FC236}">
                  <a16:creationId xmlns:a16="http://schemas.microsoft.com/office/drawing/2014/main" id="{4981B8DA-93A5-40F9-8931-FE1C98FAC01F}"/>
                </a:ext>
              </a:extLst>
            </p:cNvPr>
            <p:cNvPicPr>
              <a:picLocks noChangeAspect="1" noChangeArrowheads="1"/>
            </p:cNvPicPr>
            <p:nvPr/>
          </p:nvPicPr>
          <p:blipFill>
            <a:blip r:embed="rId5">
              <a:extLst>
                <a:ext uri="{28A0092B-C50C-407E-A947-70E740481C1C}">
                  <a14:useLocalDpi xmlns:a14="http://schemas.microsoft.com/office/drawing/2010/main" val="0"/>
                </a:ext>
              </a:extLst>
            </a:blip>
            <a:srcRect l="58389" t="87891"/>
            <a:stretch>
              <a:fillRect/>
            </a:stretch>
          </p:blipFill>
          <p:spPr bwMode="auto">
            <a:xfrm>
              <a:off x="928662" y="4500570"/>
              <a:ext cx="285752" cy="1428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9" name="Picture 5" descr="E:\插图\离散\图7-11(a).tif">
              <a:extLst>
                <a:ext uri="{FF2B5EF4-FFF2-40B4-BE49-F238E27FC236}">
                  <a16:creationId xmlns:a16="http://schemas.microsoft.com/office/drawing/2014/main" id="{EEA80D85-606C-45FB-8C93-AD2D7B128116}"/>
                </a:ext>
              </a:extLst>
            </p:cNvPr>
            <p:cNvPicPr>
              <a:picLocks noChangeAspect="1" noChangeArrowheads="1"/>
            </p:cNvPicPr>
            <p:nvPr/>
          </p:nvPicPr>
          <p:blipFill>
            <a:blip r:embed="rId5">
              <a:extLst>
                <a:ext uri="{28A0092B-C50C-407E-A947-70E740481C1C}">
                  <a14:useLocalDpi xmlns:a14="http://schemas.microsoft.com/office/drawing/2010/main" val="0"/>
                </a:ext>
              </a:extLst>
            </a:blip>
            <a:srcRect l="58389" t="87891"/>
            <a:stretch>
              <a:fillRect/>
            </a:stretch>
          </p:blipFill>
          <p:spPr bwMode="auto">
            <a:xfrm>
              <a:off x="2214546" y="4500570"/>
              <a:ext cx="285752" cy="1428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1" name="Picture 5" descr="E:\插图\离散\图7-11(a).tif">
              <a:extLst>
                <a:ext uri="{FF2B5EF4-FFF2-40B4-BE49-F238E27FC236}">
                  <a16:creationId xmlns:a16="http://schemas.microsoft.com/office/drawing/2014/main" id="{986EBA80-2FD1-44B2-8A23-91815C02BD17}"/>
                </a:ext>
              </a:extLst>
            </p:cNvPr>
            <p:cNvPicPr>
              <a:picLocks noChangeAspect="1" noChangeArrowheads="1"/>
            </p:cNvPicPr>
            <p:nvPr/>
          </p:nvPicPr>
          <p:blipFill>
            <a:blip r:embed="rId5">
              <a:extLst>
                <a:ext uri="{28A0092B-C50C-407E-A947-70E740481C1C}">
                  <a14:useLocalDpi xmlns:a14="http://schemas.microsoft.com/office/drawing/2010/main" val="0"/>
                </a:ext>
              </a:extLst>
            </a:blip>
            <a:srcRect l="58389" t="87891"/>
            <a:stretch>
              <a:fillRect/>
            </a:stretch>
          </p:blipFill>
          <p:spPr bwMode="auto">
            <a:xfrm>
              <a:off x="1785918" y="4500570"/>
              <a:ext cx="285752" cy="1428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3" name="Picture 5" descr="E:\插图\离散\图7-11(a).tif">
              <a:extLst>
                <a:ext uri="{FF2B5EF4-FFF2-40B4-BE49-F238E27FC236}">
                  <a16:creationId xmlns:a16="http://schemas.microsoft.com/office/drawing/2014/main" id="{81FD9D60-7963-454D-845E-87BD4929B023}"/>
                </a:ext>
              </a:extLst>
            </p:cNvPr>
            <p:cNvPicPr>
              <a:picLocks noChangeAspect="1" noChangeArrowheads="1"/>
            </p:cNvPicPr>
            <p:nvPr/>
          </p:nvPicPr>
          <p:blipFill>
            <a:blip r:embed="rId5">
              <a:extLst>
                <a:ext uri="{28A0092B-C50C-407E-A947-70E740481C1C}">
                  <a14:useLocalDpi xmlns:a14="http://schemas.microsoft.com/office/drawing/2010/main" val="0"/>
                </a:ext>
              </a:extLst>
            </a:blip>
            <a:srcRect l="58389" t="87891"/>
            <a:stretch>
              <a:fillRect/>
            </a:stretch>
          </p:blipFill>
          <p:spPr bwMode="auto">
            <a:xfrm>
              <a:off x="928662" y="4500570"/>
              <a:ext cx="285752" cy="1428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4" name="Picture 5" descr="E:\插图\离散\图7-11(a).tif">
              <a:extLst>
                <a:ext uri="{FF2B5EF4-FFF2-40B4-BE49-F238E27FC236}">
                  <a16:creationId xmlns:a16="http://schemas.microsoft.com/office/drawing/2014/main" id="{FA25D167-A80A-4BBF-9CAF-99F5E443942D}"/>
                </a:ext>
              </a:extLst>
            </p:cNvPr>
            <p:cNvPicPr>
              <a:picLocks noChangeAspect="1" noChangeArrowheads="1"/>
            </p:cNvPicPr>
            <p:nvPr/>
          </p:nvPicPr>
          <p:blipFill>
            <a:blip r:embed="rId5">
              <a:extLst>
                <a:ext uri="{28A0092B-C50C-407E-A947-70E740481C1C}">
                  <a14:useLocalDpi xmlns:a14="http://schemas.microsoft.com/office/drawing/2010/main" val="0"/>
                </a:ext>
              </a:extLst>
            </a:blip>
            <a:srcRect l="58389" t="87891"/>
            <a:stretch>
              <a:fillRect/>
            </a:stretch>
          </p:blipFill>
          <p:spPr bwMode="auto">
            <a:xfrm>
              <a:off x="500034" y="4500570"/>
              <a:ext cx="285752" cy="1428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5" name="Text Box 16">
              <a:extLst>
                <a:ext uri="{FF2B5EF4-FFF2-40B4-BE49-F238E27FC236}">
                  <a16:creationId xmlns:a16="http://schemas.microsoft.com/office/drawing/2014/main" id="{F564F2A9-A5BF-4E82-A57D-51F7DA836956}"/>
                </a:ext>
              </a:extLst>
            </p:cNvPr>
            <p:cNvSpPr txBox="1">
              <a:spLocks noChangeArrowheads="1"/>
            </p:cNvSpPr>
            <p:nvPr/>
          </p:nvSpPr>
          <p:spPr bwMode="auto">
            <a:xfrm>
              <a:off x="1833546" y="4572008"/>
              <a:ext cx="381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FontTx/>
                <a:buNone/>
              </a:pPr>
              <a:r>
                <a:rPr kumimoji="0" lang="en-US" altLang="zh-CN" sz="2400" b="1" dirty="0"/>
                <a:t>5</a:t>
              </a:r>
              <a:endParaRPr kumimoji="0" lang="zh-CN" altLang="en-US" sz="2400" b="1" dirty="0"/>
            </a:p>
          </p:txBody>
        </p:sp>
        <p:sp>
          <p:nvSpPr>
            <p:cNvPr id="26" name="Text Box 16">
              <a:extLst>
                <a:ext uri="{FF2B5EF4-FFF2-40B4-BE49-F238E27FC236}">
                  <a16:creationId xmlns:a16="http://schemas.microsoft.com/office/drawing/2014/main" id="{6530C2D0-6106-4D2A-A62F-6B7E665C617B}"/>
                </a:ext>
              </a:extLst>
            </p:cNvPr>
            <p:cNvSpPr txBox="1">
              <a:spLocks noChangeArrowheads="1"/>
            </p:cNvSpPr>
            <p:nvPr/>
          </p:nvSpPr>
          <p:spPr bwMode="auto">
            <a:xfrm>
              <a:off x="2262174" y="4572008"/>
              <a:ext cx="381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FontTx/>
                <a:buNone/>
              </a:pPr>
              <a:r>
                <a:rPr kumimoji="0" lang="en-US" altLang="zh-CN" sz="2400" b="1" dirty="0"/>
                <a:t>6</a:t>
              </a:r>
              <a:endParaRPr kumimoji="0" lang="zh-CN" altLang="en-US" sz="2400" b="1" dirty="0"/>
            </a:p>
          </p:txBody>
        </p:sp>
      </p:grpSp>
      <p:grpSp>
        <p:nvGrpSpPr>
          <p:cNvPr id="27" name="组合 53">
            <a:extLst>
              <a:ext uri="{FF2B5EF4-FFF2-40B4-BE49-F238E27FC236}">
                <a16:creationId xmlns:a16="http://schemas.microsoft.com/office/drawing/2014/main" id="{C214FD80-22F1-4E18-BC84-CF554DBDC7BF}"/>
              </a:ext>
            </a:extLst>
          </p:cNvPr>
          <p:cNvGrpSpPr>
            <a:grpSpLocks/>
          </p:cNvGrpSpPr>
          <p:nvPr/>
        </p:nvGrpSpPr>
        <p:grpSpPr bwMode="auto">
          <a:xfrm>
            <a:off x="9212760" y="882333"/>
            <a:ext cx="2271713" cy="1905000"/>
            <a:chOff x="3729038" y="3276600"/>
            <a:chExt cx="2271722" cy="1905000"/>
          </a:xfrm>
        </p:grpSpPr>
        <p:sp>
          <p:nvSpPr>
            <p:cNvPr id="28" name="Text Box 4">
              <a:extLst>
                <a:ext uri="{FF2B5EF4-FFF2-40B4-BE49-F238E27FC236}">
                  <a16:creationId xmlns:a16="http://schemas.microsoft.com/office/drawing/2014/main" id="{92EAD053-FCFA-48E3-9F41-B53A9F5798A0}"/>
                </a:ext>
              </a:extLst>
            </p:cNvPr>
            <p:cNvSpPr txBox="1">
              <a:spLocks noChangeArrowheads="1"/>
            </p:cNvSpPr>
            <p:nvPr/>
          </p:nvSpPr>
          <p:spPr bwMode="auto">
            <a:xfrm>
              <a:off x="3729038" y="4419600"/>
              <a:ext cx="381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FontTx/>
                <a:buNone/>
              </a:pPr>
              <a:r>
                <a:rPr kumimoji="0" lang="zh-CN" altLang="en-US" sz="2400" b="1"/>
                <a:t>1</a:t>
              </a:r>
            </a:p>
          </p:txBody>
        </p:sp>
        <p:pic>
          <p:nvPicPr>
            <p:cNvPr id="29" name="Picture 5" descr="E:\插图\离散\图7-11(a).tif">
              <a:extLst>
                <a:ext uri="{FF2B5EF4-FFF2-40B4-BE49-F238E27FC236}">
                  <a16:creationId xmlns:a16="http://schemas.microsoft.com/office/drawing/2014/main" id="{422E0282-C5FD-4358-A29E-A0361459166B}"/>
                </a:ext>
              </a:extLst>
            </p:cNvPr>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3805238" y="3276600"/>
              <a:ext cx="703263" cy="1219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0" name="Text Box 12">
              <a:extLst>
                <a:ext uri="{FF2B5EF4-FFF2-40B4-BE49-F238E27FC236}">
                  <a16:creationId xmlns:a16="http://schemas.microsoft.com/office/drawing/2014/main" id="{DA3CF5DC-7C0D-4E79-9A96-BACD2055ED71}"/>
                </a:ext>
              </a:extLst>
            </p:cNvPr>
            <p:cNvSpPr txBox="1">
              <a:spLocks noChangeArrowheads="1"/>
            </p:cNvSpPr>
            <p:nvPr/>
          </p:nvSpPr>
          <p:spPr bwMode="auto">
            <a:xfrm>
              <a:off x="4262438" y="4419600"/>
              <a:ext cx="381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FontTx/>
                <a:buNone/>
              </a:pPr>
              <a:r>
                <a:rPr kumimoji="0" lang="zh-CN" altLang="en-US" sz="2400" b="1"/>
                <a:t>3</a:t>
              </a:r>
            </a:p>
          </p:txBody>
        </p:sp>
        <p:sp>
          <p:nvSpPr>
            <p:cNvPr id="31" name="Text Box 16">
              <a:extLst>
                <a:ext uri="{FF2B5EF4-FFF2-40B4-BE49-F238E27FC236}">
                  <a16:creationId xmlns:a16="http://schemas.microsoft.com/office/drawing/2014/main" id="{F88E4DA0-296A-4767-9EEE-89206F3DDC7F}"/>
                </a:ext>
              </a:extLst>
            </p:cNvPr>
            <p:cNvSpPr txBox="1">
              <a:spLocks noChangeArrowheads="1"/>
            </p:cNvSpPr>
            <p:nvPr/>
          </p:nvSpPr>
          <p:spPr bwMode="auto">
            <a:xfrm>
              <a:off x="3957638" y="3429000"/>
              <a:ext cx="381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FontTx/>
                <a:buNone/>
              </a:pPr>
              <a:r>
                <a:rPr kumimoji="0" lang="zh-CN" altLang="en-US" sz="2400" b="1"/>
                <a:t>4</a:t>
              </a:r>
            </a:p>
          </p:txBody>
        </p:sp>
        <p:sp>
          <p:nvSpPr>
            <p:cNvPr id="32" name="Text Box 33">
              <a:extLst>
                <a:ext uri="{FF2B5EF4-FFF2-40B4-BE49-F238E27FC236}">
                  <a16:creationId xmlns:a16="http://schemas.microsoft.com/office/drawing/2014/main" id="{0362623A-7BA0-4EEB-ABF1-BF0E3DA278E7}"/>
                </a:ext>
              </a:extLst>
            </p:cNvPr>
            <p:cNvSpPr txBox="1">
              <a:spLocks noChangeArrowheads="1"/>
            </p:cNvSpPr>
            <p:nvPr/>
          </p:nvSpPr>
          <p:spPr bwMode="auto">
            <a:xfrm>
              <a:off x="4605342" y="4724400"/>
              <a:ext cx="609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FontTx/>
                <a:buNone/>
              </a:pPr>
              <a:r>
                <a:rPr kumimoji="0" lang="zh-CN" altLang="en-US" sz="2400" b="1"/>
                <a:t>(</a:t>
              </a:r>
              <a:r>
                <a:rPr kumimoji="0" lang="en-US" altLang="zh-CN" sz="2400" b="1"/>
                <a:t>b)</a:t>
              </a:r>
            </a:p>
          </p:txBody>
        </p:sp>
        <p:pic>
          <p:nvPicPr>
            <p:cNvPr id="33" name="Picture 5" descr="E:\插图\离散\图7-11(a).tif">
              <a:extLst>
                <a:ext uri="{FF2B5EF4-FFF2-40B4-BE49-F238E27FC236}">
                  <a16:creationId xmlns:a16="http://schemas.microsoft.com/office/drawing/2014/main" id="{A19FA385-1131-429C-AF8E-85C49F988D74}"/>
                </a:ext>
              </a:extLst>
            </p:cNvPr>
            <p:cNvPicPr>
              <a:picLocks noChangeAspect="1" noChangeArrowheads="1"/>
            </p:cNvPicPr>
            <p:nvPr/>
          </p:nvPicPr>
          <p:blipFill>
            <a:blip r:embed="rId5">
              <a:extLst>
                <a:ext uri="{28A0092B-C50C-407E-A947-70E740481C1C}">
                  <a14:useLocalDpi xmlns:a14="http://schemas.microsoft.com/office/drawing/2010/main" val="0"/>
                </a:ext>
              </a:extLst>
            </a:blip>
            <a:srcRect l="58389" t="87891"/>
            <a:stretch>
              <a:fillRect/>
            </a:stretch>
          </p:blipFill>
          <p:spPr bwMode="auto">
            <a:xfrm>
              <a:off x="4714876" y="4357694"/>
              <a:ext cx="285752" cy="1428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4" name="Picture 5" descr="E:\插图\离散\图7-11(a).tif">
              <a:extLst>
                <a:ext uri="{FF2B5EF4-FFF2-40B4-BE49-F238E27FC236}">
                  <a16:creationId xmlns:a16="http://schemas.microsoft.com/office/drawing/2014/main" id="{7EB133C0-138E-4C96-A38D-C018DC63D988}"/>
                </a:ext>
              </a:extLst>
            </p:cNvPr>
            <p:cNvPicPr>
              <a:picLocks noChangeAspect="1" noChangeArrowheads="1"/>
            </p:cNvPicPr>
            <p:nvPr/>
          </p:nvPicPr>
          <p:blipFill>
            <a:blip r:embed="rId5">
              <a:extLst>
                <a:ext uri="{28A0092B-C50C-407E-A947-70E740481C1C}">
                  <a14:useLocalDpi xmlns:a14="http://schemas.microsoft.com/office/drawing/2010/main" val="0"/>
                </a:ext>
              </a:extLst>
            </a:blip>
            <a:srcRect l="58389" t="87891"/>
            <a:stretch>
              <a:fillRect/>
            </a:stretch>
          </p:blipFill>
          <p:spPr bwMode="auto">
            <a:xfrm>
              <a:off x="5572132" y="4357694"/>
              <a:ext cx="285752" cy="1428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5" name="Picture 5" descr="E:\插图\离散\图7-11(a).tif">
              <a:extLst>
                <a:ext uri="{FF2B5EF4-FFF2-40B4-BE49-F238E27FC236}">
                  <a16:creationId xmlns:a16="http://schemas.microsoft.com/office/drawing/2014/main" id="{1FC9DBAC-D721-4C31-BE88-931B10E9D1BF}"/>
                </a:ext>
              </a:extLst>
            </p:cNvPr>
            <p:cNvPicPr>
              <a:picLocks noChangeAspect="1" noChangeArrowheads="1"/>
            </p:cNvPicPr>
            <p:nvPr/>
          </p:nvPicPr>
          <p:blipFill>
            <a:blip r:embed="rId5">
              <a:extLst>
                <a:ext uri="{28A0092B-C50C-407E-A947-70E740481C1C}">
                  <a14:useLocalDpi xmlns:a14="http://schemas.microsoft.com/office/drawing/2010/main" val="0"/>
                </a:ext>
              </a:extLst>
            </a:blip>
            <a:srcRect l="58389" t="87891"/>
            <a:stretch>
              <a:fillRect/>
            </a:stretch>
          </p:blipFill>
          <p:spPr bwMode="auto">
            <a:xfrm>
              <a:off x="5143504" y="4357694"/>
              <a:ext cx="285752" cy="1428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6" name="Text Box 16">
              <a:extLst>
                <a:ext uri="{FF2B5EF4-FFF2-40B4-BE49-F238E27FC236}">
                  <a16:creationId xmlns:a16="http://schemas.microsoft.com/office/drawing/2014/main" id="{8CDFE481-93E5-4BC8-A65C-114832F8F40A}"/>
                </a:ext>
              </a:extLst>
            </p:cNvPr>
            <p:cNvSpPr txBox="1">
              <a:spLocks noChangeArrowheads="1"/>
            </p:cNvSpPr>
            <p:nvPr/>
          </p:nvSpPr>
          <p:spPr bwMode="auto">
            <a:xfrm>
              <a:off x="4714876" y="4429132"/>
              <a:ext cx="381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FontTx/>
                <a:buNone/>
              </a:pPr>
              <a:r>
                <a:rPr kumimoji="0" lang="zh-CN" altLang="en-US" sz="2400" b="1"/>
                <a:t>4</a:t>
              </a:r>
            </a:p>
          </p:txBody>
        </p:sp>
        <p:sp>
          <p:nvSpPr>
            <p:cNvPr id="37" name="Text Box 16">
              <a:extLst>
                <a:ext uri="{FF2B5EF4-FFF2-40B4-BE49-F238E27FC236}">
                  <a16:creationId xmlns:a16="http://schemas.microsoft.com/office/drawing/2014/main" id="{FD08226C-6320-4FD6-8823-E35F3DFE6224}"/>
                </a:ext>
              </a:extLst>
            </p:cNvPr>
            <p:cNvSpPr txBox="1">
              <a:spLocks noChangeArrowheads="1"/>
            </p:cNvSpPr>
            <p:nvPr/>
          </p:nvSpPr>
          <p:spPr bwMode="auto">
            <a:xfrm>
              <a:off x="5191132" y="4429132"/>
              <a:ext cx="381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FontTx/>
                <a:buNone/>
              </a:pPr>
              <a:r>
                <a:rPr kumimoji="0" lang="en-US" altLang="zh-CN" sz="2400" b="1"/>
                <a:t>5</a:t>
              </a:r>
              <a:endParaRPr kumimoji="0" lang="zh-CN" altLang="en-US" sz="2400" b="1"/>
            </a:p>
          </p:txBody>
        </p:sp>
        <p:sp>
          <p:nvSpPr>
            <p:cNvPr id="38" name="Text Box 16">
              <a:extLst>
                <a:ext uri="{FF2B5EF4-FFF2-40B4-BE49-F238E27FC236}">
                  <a16:creationId xmlns:a16="http://schemas.microsoft.com/office/drawing/2014/main" id="{52245812-A991-496C-8A4F-7F30305A59E0}"/>
                </a:ext>
              </a:extLst>
            </p:cNvPr>
            <p:cNvSpPr txBox="1">
              <a:spLocks noChangeArrowheads="1"/>
            </p:cNvSpPr>
            <p:nvPr/>
          </p:nvSpPr>
          <p:spPr bwMode="auto">
            <a:xfrm>
              <a:off x="5619760" y="4429132"/>
              <a:ext cx="381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FontTx/>
                <a:buNone/>
              </a:pPr>
              <a:r>
                <a:rPr kumimoji="0" lang="en-US" altLang="zh-CN" sz="2400" b="1"/>
                <a:t>6</a:t>
              </a:r>
              <a:endParaRPr kumimoji="0" lang="zh-CN" altLang="en-US" sz="2400" b="1"/>
            </a:p>
          </p:txBody>
        </p:sp>
      </p:grpSp>
      <p:grpSp>
        <p:nvGrpSpPr>
          <p:cNvPr id="39" name="组合 54">
            <a:extLst>
              <a:ext uri="{FF2B5EF4-FFF2-40B4-BE49-F238E27FC236}">
                <a16:creationId xmlns:a16="http://schemas.microsoft.com/office/drawing/2014/main" id="{B18E82FF-716D-4139-B6F9-4DF2DE0D2903}"/>
              </a:ext>
            </a:extLst>
          </p:cNvPr>
          <p:cNvGrpSpPr>
            <a:grpSpLocks/>
          </p:cNvGrpSpPr>
          <p:nvPr/>
        </p:nvGrpSpPr>
        <p:grpSpPr bwMode="auto">
          <a:xfrm>
            <a:off x="1165805" y="3794137"/>
            <a:ext cx="2076450" cy="2286000"/>
            <a:chOff x="6138863" y="2895600"/>
            <a:chExt cx="2076475" cy="2286000"/>
          </a:xfrm>
        </p:grpSpPr>
        <p:pic>
          <p:nvPicPr>
            <p:cNvPr id="40" name="Picture 6" descr="E:\插图\离散\图7-11(b).tif">
              <a:extLst>
                <a:ext uri="{FF2B5EF4-FFF2-40B4-BE49-F238E27FC236}">
                  <a16:creationId xmlns:a16="http://schemas.microsoft.com/office/drawing/2014/main" id="{1F9F5A88-3557-4022-B77E-95E90C2A7E8E}"/>
                </a:ext>
              </a:extLst>
            </p:cNvPr>
            <p:cNvPicPr>
              <a:picLocks noChangeAspect="1" noChangeArrowheads="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6215063" y="3276600"/>
              <a:ext cx="989013" cy="1219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1" name="Text Box 9">
              <a:extLst>
                <a:ext uri="{FF2B5EF4-FFF2-40B4-BE49-F238E27FC236}">
                  <a16:creationId xmlns:a16="http://schemas.microsoft.com/office/drawing/2014/main" id="{F87E60D2-9314-408B-9564-EC35CB6B97E8}"/>
                </a:ext>
              </a:extLst>
            </p:cNvPr>
            <p:cNvSpPr txBox="1">
              <a:spLocks noChangeArrowheads="1"/>
            </p:cNvSpPr>
            <p:nvPr/>
          </p:nvSpPr>
          <p:spPr bwMode="auto">
            <a:xfrm>
              <a:off x="6138863" y="4419600"/>
              <a:ext cx="381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FontTx/>
                <a:buNone/>
              </a:pPr>
              <a:r>
                <a:rPr kumimoji="0" lang="zh-CN" altLang="en-US" sz="2400" b="1"/>
                <a:t>1</a:t>
              </a:r>
            </a:p>
          </p:txBody>
        </p:sp>
        <p:sp>
          <p:nvSpPr>
            <p:cNvPr id="42" name="Text Box 13">
              <a:extLst>
                <a:ext uri="{FF2B5EF4-FFF2-40B4-BE49-F238E27FC236}">
                  <a16:creationId xmlns:a16="http://schemas.microsoft.com/office/drawing/2014/main" id="{89A50E6E-3611-473A-9D57-6F68A8B98C29}"/>
                </a:ext>
              </a:extLst>
            </p:cNvPr>
            <p:cNvSpPr txBox="1">
              <a:spLocks noChangeArrowheads="1"/>
            </p:cNvSpPr>
            <p:nvPr/>
          </p:nvSpPr>
          <p:spPr bwMode="auto">
            <a:xfrm>
              <a:off x="6672263" y="4419600"/>
              <a:ext cx="381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FontTx/>
                <a:buNone/>
              </a:pPr>
              <a:r>
                <a:rPr kumimoji="0" lang="zh-CN" altLang="en-US" sz="2400" b="1"/>
                <a:t>3</a:t>
              </a:r>
            </a:p>
          </p:txBody>
        </p:sp>
        <p:sp>
          <p:nvSpPr>
            <p:cNvPr id="43" name="Text Box 17">
              <a:extLst>
                <a:ext uri="{FF2B5EF4-FFF2-40B4-BE49-F238E27FC236}">
                  <a16:creationId xmlns:a16="http://schemas.microsoft.com/office/drawing/2014/main" id="{25D7F959-F9D0-43DF-91D1-71570E6427AE}"/>
                </a:ext>
              </a:extLst>
            </p:cNvPr>
            <p:cNvSpPr txBox="1">
              <a:spLocks noChangeArrowheads="1"/>
            </p:cNvSpPr>
            <p:nvPr/>
          </p:nvSpPr>
          <p:spPr bwMode="auto">
            <a:xfrm>
              <a:off x="6291263" y="3505200"/>
              <a:ext cx="381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FontTx/>
                <a:buNone/>
              </a:pPr>
              <a:r>
                <a:rPr kumimoji="0" lang="zh-CN" altLang="en-US" sz="2400" b="1"/>
                <a:t>4</a:t>
              </a:r>
            </a:p>
          </p:txBody>
        </p:sp>
        <p:sp>
          <p:nvSpPr>
            <p:cNvPr id="44" name="Text Box 20">
              <a:extLst>
                <a:ext uri="{FF2B5EF4-FFF2-40B4-BE49-F238E27FC236}">
                  <a16:creationId xmlns:a16="http://schemas.microsoft.com/office/drawing/2014/main" id="{2EBA9743-94B9-40C4-B360-44B72F77118B}"/>
                </a:ext>
              </a:extLst>
            </p:cNvPr>
            <p:cNvSpPr txBox="1">
              <a:spLocks noChangeArrowheads="1"/>
            </p:cNvSpPr>
            <p:nvPr/>
          </p:nvSpPr>
          <p:spPr bwMode="auto">
            <a:xfrm>
              <a:off x="6977063" y="3886200"/>
              <a:ext cx="381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FontTx/>
                <a:buNone/>
              </a:pPr>
              <a:r>
                <a:rPr kumimoji="0" lang="zh-CN" altLang="en-US" sz="2400" b="1" dirty="0"/>
                <a:t>4</a:t>
              </a:r>
            </a:p>
          </p:txBody>
        </p:sp>
        <p:sp>
          <p:nvSpPr>
            <p:cNvPr id="45" name="Text Box 27">
              <a:extLst>
                <a:ext uri="{FF2B5EF4-FFF2-40B4-BE49-F238E27FC236}">
                  <a16:creationId xmlns:a16="http://schemas.microsoft.com/office/drawing/2014/main" id="{7AC8CC9C-F797-4F2D-BA7D-BCDD9339A1A1}"/>
                </a:ext>
              </a:extLst>
            </p:cNvPr>
            <p:cNvSpPr txBox="1">
              <a:spLocks noChangeArrowheads="1"/>
            </p:cNvSpPr>
            <p:nvPr/>
          </p:nvSpPr>
          <p:spPr bwMode="auto">
            <a:xfrm>
              <a:off x="6672263" y="2895600"/>
              <a:ext cx="381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FontTx/>
                <a:buNone/>
              </a:pPr>
              <a:r>
                <a:rPr kumimoji="0" lang="zh-CN" altLang="en-US" sz="2400" b="1"/>
                <a:t>8</a:t>
              </a:r>
            </a:p>
          </p:txBody>
        </p:sp>
        <p:sp>
          <p:nvSpPr>
            <p:cNvPr id="46" name="Text Box 34">
              <a:extLst>
                <a:ext uri="{FF2B5EF4-FFF2-40B4-BE49-F238E27FC236}">
                  <a16:creationId xmlns:a16="http://schemas.microsoft.com/office/drawing/2014/main" id="{6E2225F4-EF3C-4914-A396-F7D172419845}"/>
                </a:ext>
              </a:extLst>
            </p:cNvPr>
            <p:cNvSpPr txBox="1">
              <a:spLocks noChangeArrowheads="1"/>
            </p:cNvSpPr>
            <p:nvPr/>
          </p:nvSpPr>
          <p:spPr bwMode="auto">
            <a:xfrm>
              <a:off x="6891358" y="4724400"/>
              <a:ext cx="609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FontTx/>
                <a:buNone/>
              </a:pPr>
              <a:r>
                <a:rPr kumimoji="0" lang="zh-CN" altLang="en-US" sz="2400" b="1"/>
                <a:t>(</a:t>
              </a:r>
              <a:r>
                <a:rPr kumimoji="0" lang="en-US" altLang="zh-CN" sz="2400" b="1"/>
                <a:t>c)</a:t>
              </a:r>
            </a:p>
          </p:txBody>
        </p:sp>
        <p:pic>
          <p:nvPicPr>
            <p:cNvPr id="47" name="Picture 5" descr="E:\插图\离散\图7-11(a).tif">
              <a:extLst>
                <a:ext uri="{FF2B5EF4-FFF2-40B4-BE49-F238E27FC236}">
                  <a16:creationId xmlns:a16="http://schemas.microsoft.com/office/drawing/2014/main" id="{FFD04666-C103-47A1-8ABB-80A28436A896}"/>
                </a:ext>
              </a:extLst>
            </p:cNvPr>
            <p:cNvPicPr>
              <a:picLocks noChangeAspect="1" noChangeArrowheads="1"/>
            </p:cNvPicPr>
            <p:nvPr/>
          </p:nvPicPr>
          <p:blipFill>
            <a:blip r:embed="rId5">
              <a:extLst>
                <a:ext uri="{28A0092B-C50C-407E-A947-70E740481C1C}">
                  <a14:useLocalDpi xmlns:a14="http://schemas.microsoft.com/office/drawing/2010/main" val="0"/>
                </a:ext>
              </a:extLst>
            </a:blip>
            <a:srcRect l="58389" t="87891"/>
            <a:stretch>
              <a:fillRect/>
            </a:stretch>
          </p:blipFill>
          <p:spPr bwMode="auto">
            <a:xfrm>
              <a:off x="7786710" y="3829056"/>
              <a:ext cx="285752" cy="1428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8" name="Picture 5" descr="E:\插图\离散\图7-11(a).tif">
              <a:extLst>
                <a:ext uri="{FF2B5EF4-FFF2-40B4-BE49-F238E27FC236}">
                  <a16:creationId xmlns:a16="http://schemas.microsoft.com/office/drawing/2014/main" id="{5055F27A-C870-4C59-8BDF-DCEABE725FC8}"/>
                </a:ext>
              </a:extLst>
            </p:cNvPr>
            <p:cNvPicPr>
              <a:picLocks noChangeAspect="1" noChangeArrowheads="1"/>
            </p:cNvPicPr>
            <p:nvPr/>
          </p:nvPicPr>
          <p:blipFill>
            <a:blip r:embed="rId5">
              <a:extLst>
                <a:ext uri="{28A0092B-C50C-407E-A947-70E740481C1C}">
                  <a14:useLocalDpi xmlns:a14="http://schemas.microsoft.com/office/drawing/2010/main" val="0"/>
                </a:ext>
              </a:extLst>
            </a:blip>
            <a:srcRect l="58389" t="87891"/>
            <a:stretch>
              <a:fillRect/>
            </a:stretch>
          </p:blipFill>
          <p:spPr bwMode="auto">
            <a:xfrm>
              <a:off x="7358082" y="3829056"/>
              <a:ext cx="285752" cy="1428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9" name="Text Box 16">
              <a:extLst>
                <a:ext uri="{FF2B5EF4-FFF2-40B4-BE49-F238E27FC236}">
                  <a16:creationId xmlns:a16="http://schemas.microsoft.com/office/drawing/2014/main" id="{7CB65CF8-ECE7-4400-B0C9-E02A018AE27A}"/>
                </a:ext>
              </a:extLst>
            </p:cNvPr>
            <p:cNvSpPr txBox="1">
              <a:spLocks noChangeArrowheads="1"/>
            </p:cNvSpPr>
            <p:nvPr/>
          </p:nvSpPr>
          <p:spPr bwMode="auto">
            <a:xfrm>
              <a:off x="7405710" y="3900494"/>
              <a:ext cx="381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FontTx/>
                <a:buNone/>
              </a:pPr>
              <a:r>
                <a:rPr kumimoji="0" lang="en-US" altLang="zh-CN" sz="2400" b="1"/>
                <a:t>5</a:t>
              </a:r>
              <a:endParaRPr kumimoji="0" lang="zh-CN" altLang="en-US" sz="2400" b="1"/>
            </a:p>
          </p:txBody>
        </p:sp>
        <p:sp>
          <p:nvSpPr>
            <p:cNvPr id="50" name="Text Box 16">
              <a:extLst>
                <a:ext uri="{FF2B5EF4-FFF2-40B4-BE49-F238E27FC236}">
                  <a16:creationId xmlns:a16="http://schemas.microsoft.com/office/drawing/2014/main" id="{F5729020-5C69-4537-A688-6158323A2288}"/>
                </a:ext>
              </a:extLst>
            </p:cNvPr>
            <p:cNvSpPr txBox="1">
              <a:spLocks noChangeArrowheads="1"/>
            </p:cNvSpPr>
            <p:nvPr/>
          </p:nvSpPr>
          <p:spPr bwMode="auto">
            <a:xfrm>
              <a:off x="7834338" y="3900494"/>
              <a:ext cx="381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FontTx/>
                <a:buNone/>
              </a:pPr>
              <a:r>
                <a:rPr kumimoji="0" lang="en-US" altLang="zh-CN" sz="2400" b="1"/>
                <a:t>6</a:t>
              </a:r>
              <a:endParaRPr kumimoji="0" lang="zh-CN" altLang="en-US" sz="2400" b="1"/>
            </a:p>
          </p:txBody>
        </p:sp>
      </p:grpSp>
      <p:grpSp>
        <p:nvGrpSpPr>
          <p:cNvPr id="51" name="Group 39">
            <a:extLst>
              <a:ext uri="{FF2B5EF4-FFF2-40B4-BE49-F238E27FC236}">
                <a16:creationId xmlns:a16="http://schemas.microsoft.com/office/drawing/2014/main" id="{A9D5B615-3B91-4144-8903-97747B5B8A9C}"/>
              </a:ext>
            </a:extLst>
          </p:cNvPr>
          <p:cNvGrpSpPr>
            <a:grpSpLocks/>
          </p:cNvGrpSpPr>
          <p:nvPr/>
        </p:nvGrpSpPr>
        <p:grpSpPr bwMode="auto">
          <a:xfrm>
            <a:off x="3843327" y="3717937"/>
            <a:ext cx="2209800" cy="2362200"/>
            <a:chOff x="2448" y="2208"/>
            <a:chExt cx="1392" cy="1488"/>
          </a:xfrm>
        </p:grpSpPr>
        <p:pic>
          <p:nvPicPr>
            <p:cNvPr id="52" name="Picture 7" descr="E:\插图\离散\图7-11(c).tif">
              <a:extLst>
                <a:ext uri="{FF2B5EF4-FFF2-40B4-BE49-F238E27FC236}">
                  <a16:creationId xmlns:a16="http://schemas.microsoft.com/office/drawing/2014/main" id="{001B8952-4C4A-4435-B21E-ED6B51AA8A7A}"/>
                </a:ext>
              </a:extLst>
            </p:cNvPr>
            <p:cNvPicPr>
              <a:picLocks noChangeAspect="1" noChangeArrowheads="1"/>
            </p:cNvPicPr>
            <p:nvPr/>
          </p:nvPicPr>
          <p:blipFill>
            <a:blip r:embed="rId8" cstate="print">
              <a:extLst>
                <a:ext uri="{28A0092B-C50C-407E-A947-70E740481C1C}">
                  <a14:useLocalDpi xmlns:a14="http://schemas.microsoft.com/office/drawing/2010/main" val="0"/>
                </a:ext>
              </a:extLst>
            </a:blip>
            <a:srcRect/>
            <a:stretch>
              <a:fillRect/>
            </a:stretch>
          </p:blipFill>
          <p:spPr bwMode="auto">
            <a:xfrm>
              <a:off x="2496" y="2432"/>
              <a:ext cx="1248" cy="8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3" name="Text Box 10">
              <a:extLst>
                <a:ext uri="{FF2B5EF4-FFF2-40B4-BE49-F238E27FC236}">
                  <a16:creationId xmlns:a16="http://schemas.microsoft.com/office/drawing/2014/main" id="{BD4D48A2-20A9-4814-8264-66B537F4ADCF}"/>
                </a:ext>
              </a:extLst>
            </p:cNvPr>
            <p:cNvSpPr txBox="1">
              <a:spLocks noChangeArrowheads="1"/>
            </p:cNvSpPr>
            <p:nvPr/>
          </p:nvSpPr>
          <p:spPr bwMode="auto">
            <a:xfrm>
              <a:off x="2448" y="3216"/>
              <a:ext cx="240"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FontTx/>
                <a:buNone/>
              </a:pPr>
              <a:r>
                <a:rPr kumimoji="0" lang="zh-CN" altLang="en-US" sz="2400" b="1"/>
                <a:t>1</a:t>
              </a:r>
            </a:p>
          </p:txBody>
        </p:sp>
        <p:sp>
          <p:nvSpPr>
            <p:cNvPr id="54" name="Text Box 14">
              <a:extLst>
                <a:ext uri="{FF2B5EF4-FFF2-40B4-BE49-F238E27FC236}">
                  <a16:creationId xmlns:a16="http://schemas.microsoft.com/office/drawing/2014/main" id="{F1611A6A-B085-440B-AE58-A7A10556F320}"/>
                </a:ext>
              </a:extLst>
            </p:cNvPr>
            <p:cNvSpPr txBox="1">
              <a:spLocks noChangeArrowheads="1"/>
            </p:cNvSpPr>
            <p:nvPr/>
          </p:nvSpPr>
          <p:spPr bwMode="auto">
            <a:xfrm>
              <a:off x="2832" y="3216"/>
              <a:ext cx="240"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FontTx/>
                <a:buNone/>
              </a:pPr>
              <a:r>
                <a:rPr kumimoji="0" lang="zh-CN" altLang="en-US" sz="2400" b="1"/>
                <a:t>3</a:t>
              </a:r>
            </a:p>
          </p:txBody>
        </p:sp>
        <p:sp>
          <p:nvSpPr>
            <p:cNvPr id="55" name="Text Box 18">
              <a:extLst>
                <a:ext uri="{FF2B5EF4-FFF2-40B4-BE49-F238E27FC236}">
                  <a16:creationId xmlns:a16="http://schemas.microsoft.com/office/drawing/2014/main" id="{45BCEB22-0CED-42A8-BD3A-5E1D03F4C14F}"/>
                </a:ext>
              </a:extLst>
            </p:cNvPr>
            <p:cNvSpPr txBox="1">
              <a:spLocks noChangeArrowheads="1"/>
            </p:cNvSpPr>
            <p:nvPr/>
          </p:nvSpPr>
          <p:spPr bwMode="auto">
            <a:xfrm>
              <a:off x="2544" y="2592"/>
              <a:ext cx="240"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FontTx/>
                <a:buNone/>
              </a:pPr>
              <a:r>
                <a:rPr kumimoji="0" lang="zh-CN" altLang="en-US" sz="2400" b="1"/>
                <a:t>4</a:t>
              </a:r>
            </a:p>
          </p:txBody>
        </p:sp>
        <p:sp>
          <p:nvSpPr>
            <p:cNvPr id="56" name="Text Box 21">
              <a:extLst>
                <a:ext uri="{FF2B5EF4-FFF2-40B4-BE49-F238E27FC236}">
                  <a16:creationId xmlns:a16="http://schemas.microsoft.com/office/drawing/2014/main" id="{B111FAEF-1A28-49FC-9AD7-4415EE475F6D}"/>
                </a:ext>
              </a:extLst>
            </p:cNvPr>
            <p:cNvSpPr txBox="1">
              <a:spLocks noChangeArrowheads="1"/>
            </p:cNvSpPr>
            <p:nvPr/>
          </p:nvSpPr>
          <p:spPr bwMode="auto">
            <a:xfrm>
              <a:off x="2976" y="2832"/>
              <a:ext cx="240"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FontTx/>
                <a:buNone/>
              </a:pPr>
              <a:r>
                <a:rPr kumimoji="0" lang="zh-CN" altLang="en-US" sz="2400" b="1"/>
                <a:t>4</a:t>
              </a:r>
            </a:p>
          </p:txBody>
        </p:sp>
        <p:sp>
          <p:nvSpPr>
            <p:cNvPr id="57" name="Text Box 23">
              <a:extLst>
                <a:ext uri="{FF2B5EF4-FFF2-40B4-BE49-F238E27FC236}">
                  <a16:creationId xmlns:a16="http://schemas.microsoft.com/office/drawing/2014/main" id="{6B7514BE-8536-4899-A0C3-C55DFCE41E26}"/>
                </a:ext>
              </a:extLst>
            </p:cNvPr>
            <p:cNvSpPr txBox="1">
              <a:spLocks noChangeArrowheads="1"/>
            </p:cNvSpPr>
            <p:nvPr/>
          </p:nvSpPr>
          <p:spPr bwMode="auto">
            <a:xfrm>
              <a:off x="3216" y="2880"/>
              <a:ext cx="240"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FontTx/>
                <a:buNone/>
              </a:pPr>
              <a:r>
                <a:rPr kumimoji="0" lang="zh-CN" altLang="en-US" sz="2400" b="1"/>
                <a:t>5</a:t>
              </a:r>
            </a:p>
          </p:txBody>
        </p:sp>
        <p:sp>
          <p:nvSpPr>
            <p:cNvPr id="58" name="Text Box 25">
              <a:extLst>
                <a:ext uri="{FF2B5EF4-FFF2-40B4-BE49-F238E27FC236}">
                  <a16:creationId xmlns:a16="http://schemas.microsoft.com/office/drawing/2014/main" id="{AD420B8F-04A1-4D1D-B508-37B37EE84D7F}"/>
                </a:ext>
              </a:extLst>
            </p:cNvPr>
            <p:cNvSpPr txBox="1">
              <a:spLocks noChangeArrowheads="1"/>
            </p:cNvSpPr>
            <p:nvPr/>
          </p:nvSpPr>
          <p:spPr bwMode="auto">
            <a:xfrm>
              <a:off x="3600" y="2880"/>
              <a:ext cx="240"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FontTx/>
                <a:buNone/>
              </a:pPr>
              <a:r>
                <a:rPr kumimoji="0" lang="zh-CN" altLang="en-US" sz="2400" b="1"/>
                <a:t>6</a:t>
              </a:r>
            </a:p>
          </p:txBody>
        </p:sp>
        <p:sp>
          <p:nvSpPr>
            <p:cNvPr id="59" name="Text Box 28">
              <a:extLst>
                <a:ext uri="{FF2B5EF4-FFF2-40B4-BE49-F238E27FC236}">
                  <a16:creationId xmlns:a16="http://schemas.microsoft.com/office/drawing/2014/main" id="{78B0AD51-DB14-4E12-96A5-1066291A86AA}"/>
                </a:ext>
              </a:extLst>
            </p:cNvPr>
            <p:cNvSpPr txBox="1">
              <a:spLocks noChangeArrowheads="1"/>
            </p:cNvSpPr>
            <p:nvPr/>
          </p:nvSpPr>
          <p:spPr bwMode="auto">
            <a:xfrm>
              <a:off x="2784" y="2208"/>
              <a:ext cx="240"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FontTx/>
                <a:buNone/>
              </a:pPr>
              <a:r>
                <a:rPr kumimoji="0" lang="zh-CN" altLang="en-US" sz="2400" b="1"/>
                <a:t>8</a:t>
              </a:r>
            </a:p>
          </p:txBody>
        </p:sp>
        <p:sp>
          <p:nvSpPr>
            <p:cNvPr id="60" name="Text Box 30">
              <a:extLst>
                <a:ext uri="{FF2B5EF4-FFF2-40B4-BE49-F238E27FC236}">
                  <a16:creationId xmlns:a16="http://schemas.microsoft.com/office/drawing/2014/main" id="{552A2635-D3D2-46DD-84F3-261641B1AED7}"/>
                </a:ext>
              </a:extLst>
            </p:cNvPr>
            <p:cNvSpPr txBox="1">
              <a:spLocks noChangeArrowheads="1"/>
            </p:cNvSpPr>
            <p:nvPr/>
          </p:nvSpPr>
          <p:spPr bwMode="auto">
            <a:xfrm>
              <a:off x="3360" y="2208"/>
              <a:ext cx="384"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FontTx/>
                <a:buNone/>
              </a:pPr>
              <a:r>
                <a:rPr kumimoji="0" lang="zh-CN" altLang="en-US" sz="2400" b="1"/>
                <a:t>11</a:t>
              </a:r>
            </a:p>
          </p:txBody>
        </p:sp>
        <p:sp>
          <p:nvSpPr>
            <p:cNvPr id="61" name="Text Box 35">
              <a:extLst>
                <a:ext uri="{FF2B5EF4-FFF2-40B4-BE49-F238E27FC236}">
                  <a16:creationId xmlns:a16="http://schemas.microsoft.com/office/drawing/2014/main" id="{AADC78AD-BD21-4264-8A4A-A11C18C2A427}"/>
                </a:ext>
              </a:extLst>
            </p:cNvPr>
            <p:cNvSpPr txBox="1">
              <a:spLocks noChangeArrowheads="1"/>
            </p:cNvSpPr>
            <p:nvPr/>
          </p:nvSpPr>
          <p:spPr bwMode="auto">
            <a:xfrm>
              <a:off x="3024" y="3408"/>
              <a:ext cx="384"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FontTx/>
                <a:buNone/>
              </a:pPr>
              <a:r>
                <a:rPr kumimoji="0" lang="zh-CN" altLang="en-US" sz="2400" b="1"/>
                <a:t>(</a:t>
              </a:r>
              <a:r>
                <a:rPr kumimoji="0" lang="en-US" altLang="zh-CN" sz="2400" b="1"/>
                <a:t>d)</a:t>
              </a:r>
            </a:p>
          </p:txBody>
        </p:sp>
      </p:grpSp>
      <p:grpSp>
        <p:nvGrpSpPr>
          <p:cNvPr id="62" name="Group 40">
            <a:extLst>
              <a:ext uri="{FF2B5EF4-FFF2-40B4-BE49-F238E27FC236}">
                <a16:creationId xmlns:a16="http://schemas.microsoft.com/office/drawing/2014/main" id="{F5C2C19B-0F03-48AE-9904-25EAF09FA8D0}"/>
              </a:ext>
            </a:extLst>
          </p:cNvPr>
          <p:cNvGrpSpPr>
            <a:grpSpLocks/>
          </p:cNvGrpSpPr>
          <p:nvPr/>
        </p:nvGrpSpPr>
        <p:grpSpPr bwMode="auto">
          <a:xfrm>
            <a:off x="6626799" y="3508511"/>
            <a:ext cx="2057400" cy="2667000"/>
            <a:chOff x="3936" y="1968"/>
            <a:chExt cx="1296" cy="1680"/>
          </a:xfrm>
        </p:grpSpPr>
        <p:pic>
          <p:nvPicPr>
            <p:cNvPr id="63" name="Picture 8" descr="E:\插图\离散\图7-11(d).tif">
              <a:extLst>
                <a:ext uri="{FF2B5EF4-FFF2-40B4-BE49-F238E27FC236}">
                  <a16:creationId xmlns:a16="http://schemas.microsoft.com/office/drawing/2014/main" id="{79FC5254-A948-4B7F-B9D1-72CFBD991101}"/>
                </a:ext>
              </a:extLst>
            </p:cNvPr>
            <p:cNvPicPr>
              <a:picLocks noChangeAspect="1" noChangeArrowheads="1"/>
            </p:cNvPicPr>
            <p:nvPr/>
          </p:nvPicPr>
          <p:blipFill>
            <a:blip r:embed="rId9" cstate="print">
              <a:extLst>
                <a:ext uri="{28A0092B-C50C-407E-A947-70E740481C1C}">
                  <a14:useLocalDpi xmlns:a14="http://schemas.microsoft.com/office/drawing/2010/main" val="0"/>
                </a:ext>
              </a:extLst>
            </a:blip>
            <a:srcRect/>
            <a:stretch>
              <a:fillRect/>
            </a:stretch>
          </p:blipFill>
          <p:spPr bwMode="auto">
            <a:xfrm>
              <a:off x="3984" y="2256"/>
              <a:ext cx="1152" cy="10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4" name="Text Box 11">
              <a:extLst>
                <a:ext uri="{FF2B5EF4-FFF2-40B4-BE49-F238E27FC236}">
                  <a16:creationId xmlns:a16="http://schemas.microsoft.com/office/drawing/2014/main" id="{4AACFE5F-C8AE-4C4B-8F63-A138E76CB815}"/>
                </a:ext>
              </a:extLst>
            </p:cNvPr>
            <p:cNvSpPr txBox="1">
              <a:spLocks noChangeArrowheads="1"/>
            </p:cNvSpPr>
            <p:nvPr/>
          </p:nvSpPr>
          <p:spPr bwMode="auto">
            <a:xfrm>
              <a:off x="3936" y="3216"/>
              <a:ext cx="240"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FontTx/>
                <a:buNone/>
              </a:pPr>
              <a:r>
                <a:rPr kumimoji="0" lang="zh-CN" altLang="en-US" sz="2400" b="1"/>
                <a:t>1</a:t>
              </a:r>
            </a:p>
          </p:txBody>
        </p:sp>
        <p:sp>
          <p:nvSpPr>
            <p:cNvPr id="65" name="Text Box 15">
              <a:extLst>
                <a:ext uri="{FF2B5EF4-FFF2-40B4-BE49-F238E27FC236}">
                  <a16:creationId xmlns:a16="http://schemas.microsoft.com/office/drawing/2014/main" id="{F3A85B7A-E129-4379-BF74-26A770040CEE}"/>
                </a:ext>
              </a:extLst>
            </p:cNvPr>
            <p:cNvSpPr txBox="1">
              <a:spLocks noChangeArrowheads="1"/>
            </p:cNvSpPr>
            <p:nvPr/>
          </p:nvSpPr>
          <p:spPr bwMode="auto">
            <a:xfrm>
              <a:off x="4272" y="3216"/>
              <a:ext cx="240"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FontTx/>
                <a:buNone/>
              </a:pPr>
              <a:r>
                <a:rPr kumimoji="0" lang="zh-CN" altLang="en-US" sz="2400" b="1"/>
                <a:t>3</a:t>
              </a:r>
            </a:p>
          </p:txBody>
        </p:sp>
        <p:sp>
          <p:nvSpPr>
            <p:cNvPr id="66" name="Text Box 19">
              <a:extLst>
                <a:ext uri="{FF2B5EF4-FFF2-40B4-BE49-F238E27FC236}">
                  <a16:creationId xmlns:a16="http://schemas.microsoft.com/office/drawing/2014/main" id="{C09342B0-905E-4FFC-BE8B-D73DF7E0AAB9}"/>
                </a:ext>
              </a:extLst>
            </p:cNvPr>
            <p:cNvSpPr txBox="1">
              <a:spLocks noChangeArrowheads="1"/>
            </p:cNvSpPr>
            <p:nvPr/>
          </p:nvSpPr>
          <p:spPr bwMode="auto">
            <a:xfrm>
              <a:off x="4032" y="2640"/>
              <a:ext cx="240"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FontTx/>
                <a:buNone/>
              </a:pPr>
              <a:r>
                <a:rPr kumimoji="0" lang="zh-CN" altLang="en-US" sz="2400" b="1"/>
                <a:t>4</a:t>
              </a:r>
            </a:p>
          </p:txBody>
        </p:sp>
        <p:sp>
          <p:nvSpPr>
            <p:cNvPr id="67" name="Text Box 22">
              <a:extLst>
                <a:ext uri="{FF2B5EF4-FFF2-40B4-BE49-F238E27FC236}">
                  <a16:creationId xmlns:a16="http://schemas.microsoft.com/office/drawing/2014/main" id="{293F73F7-DE32-4713-9132-560BEC1C6D32}"/>
                </a:ext>
              </a:extLst>
            </p:cNvPr>
            <p:cNvSpPr txBox="1">
              <a:spLocks noChangeArrowheads="1"/>
            </p:cNvSpPr>
            <p:nvPr/>
          </p:nvSpPr>
          <p:spPr bwMode="auto">
            <a:xfrm>
              <a:off x="4416" y="2880"/>
              <a:ext cx="240"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FontTx/>
                <a:buNone/>
              </a:pPr>
              <a:r>
                <a:rPr kumimoji="0" lang="zh-CN" altLang="en-US" sz="2400" b="1" dirty="0"/>
                <a:t>4</a:t>
              </a:r>
            </a:p>
          </p:txBody>
        </p:sp>
        <p:sp>
          <p:nvSpPr>
            <p:cNvPr id="68" name="Text Box 24">
              <a:extLst>
                <a:ext uri="{FF2B5EF4-FFF2-40B4-BE49-F238E27FC236}">
                  <a16:creationId xmlns:a16="http://schemas.microsoft.com/office/drawing/2014/main" id="{275FE983-07C0-4B6E-9DA6-A55836AE7FDE}"/>
                </a:ext>
              </a:extLst>
            </p:cNvPr>
            <p:cNvSpPr txBox="1">
              <a:spLocks noChangeArrowheads="1"/>
            </p:cNvSpPr>
            <p:nvPr/>
          </p:nvSpPr>
          <p:spPr bwMode="auto">
            <a:xfrm>
              <a:off x="4608" y="2880"/>
              <a:ext cx="240"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FontTx/>
                <a:buNone/>
              </a:pPr>
              <a:r>
                <a:rPr kumimoji="0" lang="zh-CN" altLang="en-US" sz="2400" b="1" dirty="0"/>
                <a:t>5</a:t>
              </a:r>
            </a:p>
          </p:txBody>
        </p:sp>
        <p:sp>
          <p:nvSpPr>
            <p:cNvPr id="69" name="Text Box 26">
              <a:extLst>
                <a:ext uri="{FF2B5EF4-FFF2-40B4-BE49-F238E27FC236}">
                  <a16:creationId xmlns:a16="http://schemas.microsoft.com/office/drawing/2014/main" id="{948BB288-9916-4F30-A424-1CE097A91361}"/>
                </a:ext>
              </a:extLst>
            </p:cNvPr>
            <p:cNvSpPr txBox="1">
              <a:spLocks noChangeArrowheads="1"/>
            </p:cNvSpPr>
            <p:nvPr/>
          </p:nvSpPr>
          <p:spPr bwMode="auto">
            <a:xfrm>
              <a:off x="4992" y="2880"/>
              <a:ext cx="240"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FontTx/>
                <a:buNone/>
              </a:pPr>
              <a:r>
                <a:rPr kumimoji="0" lang="zh-CN" altLang="en-US" sz="2400" b="1"/>
                <a:t>6</a:t>
              </a:r>
            </a:p>
          </p:txBody>
        </p:sp>
        <p:sp>
          <p:nvSpPr>
            <p:cNvPr id="70" name="Text Box 29">
              <a:extLst>
                <a:ext uri="{FF2B5EF4-FFF2-40B4-BE49-F238E27FC236}">
                  <a16:creationId xmlns:a16="http://schemas.microsoft.com/office/drawing/2014/main" id="{98214A33-A326-4C5E-8759-85F120B3434E}"/>
                </a:ext>
              </a:extLst>
            </p:cNvPr>
            <p:cNvSpPr txBox="1">
              <a:spLocks noChangeArrowheads="1"/>
            </p:cNvSpPr>
            <p:nvPr/>
          </p:nvSpPr>
          <p:spPr bwMode="auto">
            <a:xfrm>
              <a:off x="4224" y="2304"/>
              <a:ext cx="240"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FontTx/>
                <a:buNone/>
              </a:pPr>
              <a:r>
                <a:rPr kumimoji="0" lang="zh-CN" altLang="en-US" sz="2400" b="1"/>
                <a:t>8</a:t>
              </a:r>
            </a:p>
          </p:txBody>
        </p:sp>
        <p:sp>
          <p:nvSpPr>
            <p:cNvPr id="71" name="Text Box 31">
              <a:extLst>
                <a:ext uri="{FF2B5EF4-FFF2-40B4-BE49-F238E27FC236}">
                  <a16:creationId xmlns:a16="http://schemas.microsoft.com/office/drawing/2014/main" id="{F0AA12D8-29EF-4DD2-B7FA-4C6FB0F97E48}"/>
                </a:ext>
              </a:extLst>
            </p:cNvPr>
            <p:cNvSpPr txBox="1">
              <a:spLocks noChangeArrowheads="1"/>
            </p:cNvSpPr>
            <p:nvPr/>
          </p:nvSpPr>
          <p:spPr bwMode="auto">
            <a:xfrm>
              <a:off x="4848" y="2304"/>
              <a:ext cx="384"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FontTx/>
                <a:buNone/>
              </a:pPr>
              <a:r>
                <a:rPr kumimoji="0" lang="zh-CN" altLang="en-US" sz="2400" b="1"/>
                <a:t>11</a:t>
              </a:r>
            </a:p>
          </p:txBody>
        </p:sp>
        <p:sp>
          <p:nvSpPr>
            <p:cNvPr id="72" name="Text Box 32">
              <a:extLst>
                <a:ext uri="{FF2B5EF4-FFF2-40B4-BE49-F238E27FC236}">
                  <a16:creationId xmlns:a16="http://schemas.microsoft.com/office/drawing/2014/main" id="{AC1490FF-B7DF-4E50-9561-351250AA185B}"/>
                </a:ext>
              </a:extLst>
            </p:cNvPr>
            <p:cNvSpPr txBox="1">
              <a:spLocks noChangeArrowheads="1"/>
            </p:cNvSpPr>
            <p:nvPr/>
          </p:nvSpPr>
          <p:spPr bwMode="auto">
            <a:xfrm>
              <a:off x="4512" y="1968"/>
              <a:ext cx="384"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FontTx/>
                <a:buNone/>
              </a:pPr>
              <a:r>
                <a:rPr kumimoji="0" lang="zh-CN" altLang="en-US" sz="2400" b="1"/>
                <a:t>19</a:t>
              </a:r>
            </a:p>
          </p:txBody>
        </p:sp>
        <p:sp>
          <p:nvSpPr>
            <p:cNvPr id="73" name="Text Box 36">
              <a:extLst>
                <a:ext uri="{FF2B5EF4-FFF2-40B4-BE49-F238E27FC236}">
                  <a16:creationId xmlns:a16="http://schemas.microsoft.com/office/drawing/2014/main" id="{B09FDB1E-33CB-4CEE-9D13-C9FFFDD60AF2}"/>
                </a:ext>
              </a:extLst>
            </p:cNvPr>
            <p:cNvSpPr txBox="1">
              <a:spLocks noChangeArrowheads="1"/>
            </p:cNvSpPr>
            <p:nvPr/>
          </p:nvSpPr>
          <p:spPr bwMode="auto">
            <a:xfrm>
              <a:off x="4464" y="3360"/>
              <a:ext cx="384"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FontTx/>
                <a:buNone/>
              </a:pPr>
              <a:r>
                <a:rPr kumimoji="0" lang="zh-CN" altLang="en-US" sz="2400" b="1" dirty="0"/>
                <a:t>(</a:t>
              </a:r>
              <a:r>
                <a:rPr kumimoji="0" lang="en-US" altLang="zh-CN" sz="2400" b="1" dirty="0"/>
                <a:t>e)</a:t>
              </a:r>
            </a:p>
          </p:txBody>
        </p:sp>
      </p:grpSp>
      <p:sp>
        <p:nvSpPr>
          <p:cNvPr id="97" name="Text Box 41">
            <a:extLst>
              <a:ext uri="{FF2B5EF4-FFF2-40B4-BE49-F238E27FC236}">
                <a16:creationId xmlns:a16="http://schemas.microsoft.com/office/drawing/2014/main" id="{ABD99B74-DEE5-4BB8-8F2C-C151FEE12AFB}"/>
              </a:ext>
            </a:extLst>
          </p:cNvPr>
          <p:cNvSpPr txBox="1">
            <a:spLocks noChangeArrowheads="1"/>
          </p:cNvSpPr>
          <p:nvPr/>
        </p:nvSpPr>
        <p:spPr bwMode="auto">
          <a:xfrm>
            <a:off x="9593758" y="4175137"/>
            <a:ext cx="1828800" cy="830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a14:hiddenLine>
            </a:ext>
          </a:extLst>
        </p:spPr>
        <p:txBody>
          <a:bodyPr wrap="square">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FontTx/>
              <a:buNone/>
            </a:pPr>
            <a:r>
              <a:rPr kumimoji="0" lang="en-US" altLang="zh-CN" sz="2400" b="1" i="1" dirty="0"/>
              <a:t>W</a:t>
            </a:r>
            <a:r>
              <a:rPr kumimoji="0" lang="en-US" altLang="zh-CN" sz="2400" b="1" dirty="0"/>
              <a:t>(</a:t>
            </a:r>
            <a:r>
              <a:rPr kumimoji="0" lang="en-US" altLang="zh-CN" sz="2400" b="1" i="1" dirty="0"/>
              <a:t>T</a:t>
            </a:r>
            <a:r>
              <a:rPr kumimoji="0" lang="en-US" altLang="zh-CN" sz="2400" b="1" dirty="0"/>
              <a:t>)=4+8+11+19=42</a:t>
            </a:r>
          </a:p>
        </p:txBody>
      </p:sp>
    </p:spTree>
    <p:extLst>
      <p:ext uri="{BB962C8B-B14F-4D97-AF65-F5344CB8AC3E}">
        <p14:creationId xmlns:p14="http://schemas.microsoft.com/office/powerpoint/2010/main" val="3936280710"/>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9">
                                            <p:txEl>
                                              <p:pRg st="1" end="1"/>
                                            </p:txEl>
                                          </p:spTgt>
                                        </p:tgtEl>
                                        <p:attrNameLst>
                                          <p:attrName>style.visibility</p:attrName>
                                        </p:attrNameLst>
                                      </p:cBhvr>
                                      <p:to>
                                        <p:strVal val="visible"/>
                                      </p:to>
                                    </p:set>
                                    <p:animEffect transition="in" filter="fade">
                                      <p:cBhvr>
                                        <p:cTn id="7" dur="1000"/>
                                        <p:tgtEl>
                                          <p:spTgt spid="9">
                                            <p:txEl>
                                              <p:pRg st="1" end="1"/>
                                            </p:txEl>
                                          </p:spTgt>
                                        </p:tgtEl>
                                      </p:cBhvr>
                                    </p:animEffect>
                                    <p:anim calcmode="lin" valueType="num">
                                      <p:cBhvr>
                                        <p:cTn id="8" dur="1000" fill="hold"/>
                                        <p:tgtEl>
                                          <p:spTgt spid="9">
                                            <p:txEl>
                                              <p:pRg st="1" end="1"/>
                                            </p:txEl>
                                          </p:spTgt>
                                        </p:tgtEl>
                                        <p:attrNameLst>
                                          <p:attrName>ppt_x</p:attrName>
                                        </p:attrNameLst>
                                      </p:cBhvr>
                                      <p:tavLst>
                                        <p:tav tm="0">
                                          <p:val>
                                            <p:strVal val="#ppt_x"/>
                                          </p:val>
                                        </p:tav>
                                        <p:tav tm="100000">
                                          <p:val>
                                            <p:strVal val="#ppt_x"/>
                                          </p:val>
                                        </p:tav>
                                      </p:tavLst>
                                    </p:anim>
                                    <p:anim calcmode="lin" valueType="num">
                                      <p:cBhvr>
                                        <p:cTn id="9" dur="1000" fill="hold"/>
                                        <p:tgtEl>
                                          <p:spTgt spid="9">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3" presetClass="entr" presetSubtype="10" fill="hold" nodeType="clickEffect">
                                  <p:stCondLst>
                                    <p:cond delay="0"/>
                                  </p:stCondLst>
                                  <p:childTnLst>
                                    <p:set>
                                      <p:cBhvr>
                                        <p:cTn id="13" dur="1" fill="hold">
                                          <p:stCondLst>
                                            <p:cond delay="0"/>
                                          </p:stCondLst>
                                        </p:cTn>
                                        <p:tgtEl>
                                          <p:spTgt spid="10"/>
                                        </p:tgtEl>
                                        <p:attrNameLst>
                                          <p:attrName>style.visibility</p:attrName>
                                        </p:attrNameLst>
                                      </p:cBhvr>
                                      <p:to>
                                        <p:strVal val="visible"/>
                                      </p:to>
                                    </p:set>
                                    <p:animEffect transition="in" filter="blinds(horizontal)">
                                      <p:cBhvr>
                                        <p:cTn id="14" dur="500"/>
                                        <p:tgtEl>
                                          <p:spTgt spid="10"/>
                                        </p:tgtEl>
                                      </p:cBhvr>
                                    </p:animEffec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7"/>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9"/>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51"/>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62"/>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3" presetClass="entr" presetSubtype="10" fill="hold" grpId="0" nodeType="clickEffect">
                                  <p:stCondLst>
                                    <p:cond delay="0"/>
                                  </p:stCondLst>
                                  <p:childTnLst>
                                    <p:set>
                                      <p:cBhvr>
                                        <p:cTn id="34" dur="1" fill="hold">
                                          <p:stCondLst>
                                            <p:cond delay="0"/>
                                          </p:stCondLst>
                                        </p:cTn>
                                        <p:tgtEl>
                                          <p:spTgt spid="97"/>
                                        </p:tgtEl>
                                        <p:attrNameLst>
                                          <p:attrName>style.visibility</p:attrName>
                                        </p:attrNameLst>
                                      </p:cBhvr>
                                      <p:to>
                                        <p:strVal val="visible"/>
                                      </p:to>
                                    </p:set>
                                    <p:animEffect transition="in" filter="blinds(horizontal)">
                                      <p:cBhvr>
                                        <p:cTn id="35" dur="500"/>
                                        <p:tgtEl>
                                          <p:spTgt spid="9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7" grpId="0"/>
    </p:bld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0" y="0"/>
            <a:ext cx="12192000" cy="762000"/>
          </a:xfrm>
          <a:prstGeom prst="rect">
            <a:avLst/>
          </a:prstGeom>
          <a:solidFill>
            <a:srgbClr val="002F7C"/>
          </a:solidFill>
        </p:spPr>
        <p:style>
          <a:lnRef idx="2">
            <a:schemeClr val="dk1">
              <a:shade val="50000"/>
            </a:schemeClr>
          </a:lnRef>
          <a:fillRef idx="1">
            <a:schemeClr val="dk1"/>
          </a:fillRef>
          <a:effectRef idx="0">
            <a:schemeClr val="dk1"/>
          </a:effectRef>
          <a:fontRef idx="minor">
            <a:schemeClr val="lt1"/>
          </a:fontRef>
        </p:style>
        <p:txBody>
          <a:bodyPr rtlCol="0" anchor="ctr"/>
          <a:lstStyle/>
          <a:p>
            <a:r>
              <a:rPr lang="zh-CN" altLang="en-US" sz="2000" b="1" dirty="0">
                <a:latin typeface="Times New Roman" panose="02020603050405020304" pitchFamily="18" charset="0"/>
                <a:ea typeface="宋体" panose="02010600030101010101" pitchFamily="2" charset="-122"/>
                <a:cs typeface="Times New Roman" panose="02020603050405020304" pitchFamily="18" charset="0"/>
              </a:rPr>
              <a:t>               </a:t>
            </a:r>
            <a:r>
              <a:rPr lang="en-US" altLang="zh-CN" sz="2400" b="1" dirty="0">
                <a:latin typeface="Trebuchet MS" panose="020B0603020202020204" pitchFamily="34" charset="0"/>
                <a:ea typeface="宋体" panose="02010600030101010101" pitchFamily="2" charset="-122"/>
                <a:cs typeface="Times New Roman" panose="02020603050405020304" pitchFamily="18" charset="0"/>
              </a:rPr>
              <a:t>7.2 </a:t>
            </a:r>
            <a:r>
              <a:rPr lang="en-US" altLang="zh-CN" sz="2400" b="1" dirty="0">
                <a:latin typeface="Trebuchet MS" panose="020B0603020202020204" pitchFamily="34" charset="0"/>
                <a:cs typeface="Times New Roman" panose="02020603050405020304" pitchFamily="18" charset="0"/>
              </a:rPr>
              <a:t>Rooted Trees and Their Applications</a:t>
            </a:r>
            <a:endParaRPr lang="zh-CN" altLang="en-US" sz="2400" b="1" dirty="0">
              <a:solidFill>
                <a:srgbClr val="3D557A"/>
              </a:solidFill>
              <a:highlight>
                <a:srgbClr val="FF0000"/>
              </a:highlight>
              <a:latin typeface="Trebuchet MS" panose="020B0603020202020204" pitchFamily="34" charset="0"/>
            </a:endParaRPr>
          </a:p>
        </p:txBody>
      </p:sp>
      <p:sp>
        <p:nvSpPr>
          <p:cNvPr id="13" name="矩形 12"/>
          <p:cNvSpPr/>
          <p:nvPr/>
        </p:nvSpPr>
        <p:spPr>
          <a:xfrm>
            <a:off x="824682" y="0"/>
            <a:ext cx="175443" cy="628650"/>
          </a:xfrm>
          <a:prstGeom prst="rect">
            <a:avLst/>
          </a:prstGeom>
          <a:solidFill>
            <a:srgbClr val="CFA57C"/>
          </a:solidFill>
          <a:ln cmpd="sng">
            <a:gradFill flip="none" rotWithShape="1">
              <a:gsLst>
                <a:gs pos="50000">
                  <a:schemeClr val="accent2">
                    <a:lumMod val="60000"/>
                    <a:lumOff val="40000"/>
                  </a:schemeClr>
                </a:gs>
                <a:gs pos="0">
                  <a:schemeClr val="accent2">
                    <a:lumMod val="20000"/>
                    <a:lumOff val="80000"/>
                  </a:schemeClr>
                </a:gs>
                <a:gs pos="95000">
                  <a:schemeClr val="accent2"/>
                </a:gs>
              </a:gsLst>
              <a:path path="circle">
                <a:fillToRect l="50000" t="-80000" r="50000" b="180000"/>
              </a:path>
              <a:tileRect/>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22" name="Picture 6" descr="D:\MBA工作\LOGO\同济经管LOGO反白.png"/>
          <p:cNvPicPr>
            <a:picLocks noChangeAspect="1" noChangeArrowheads="1"/>
          </p:cNvPicPr>
          <p:nvPr/>
        </p:nvPicPr>
        <p:blipFill>
          <a:blip r:embed="rId3" cstate="email">
            <a:extLst>
              <a:ext uri="{28A0092B-C50C-407E-A947-70E740481C1C}">
                <a14:useLocalDpi xmlns:a14="http://schemas.microsoft.com/office/drawing/2010/main" val="0"/>
              </a:ext>
            </a:extLst>
          </a:blip>
          <a:srcRect/>
          <a:stretch>
            <a:fillRect/>
          </a:stretch>
        </p:blipFill>
        <p:spPr bwMode="auto">
          <a:xfrm>
            <a:off x="10267423" y="165688"/>
            <a:ext cx="1386605" cy="462962"/>
          </a:xfrm>
          <a:prstGeom prst="rect">
            <a:avLst/>
          </a:prstGeom>
          <a:noFill/>
          <a:extLst>
            <a:ext uri="{909E8E84-426E-40DD-AFC4-6F175D3DCCD1}">
              <a14:hiddenFill xmlns:a14="http://schemas.microsoft.com/office/drawing/2010/main">
                <a:solidFill>
                  <a:srgbClr val="FFFFFF"/>
                </a:solidFill>
              </a14:hiddenFill>
            </a:ext>
          </a:extLst>
        </p:spPr>
      </p:pic>
      <p:pic>
        <p:nvPicPr>
          <p:cNvPr id="2" name="图片 1" descr="微信图片_20220318113523"/>
          <p:cNvPicPr>
            <a:picLocks noChangeAspect="1"/>
          </p:cNvPicPr>
          <p:nvPr userDrawn="1"/>
        </p:nvPicPr>
        <p:blipFill>
          <a:blip r:embed="rId4"/>
          <a:stretch>
            <a:fillRect/>
          </a:stretch>
        </p:blipFill>
        <p:spPr>
          <a:xfrm>
            <a:off x="9291877" y="6115050"/>
            <a:ext cx="2244725" cy="361315"/>
          </a:xfrm>
          <a:prstGeom prst="rect">
            <a:avLst/>
          </a:prstGeom>
        </p:spPr>
      </p:pic>
      <p:sp>
        <p:nvSpPr>
          <p:cNvPr id="18" name="Rectangle 2">
            <a:extLst>
              <a:ext uri="{FF2B5EF4-FFF2-40B4-BE49-F238E27FC236}">
                <a16:creationId xmlns:a16="http://schemas.microsoft.com/office/drawing/2014/main" id="{E217C615-1D49-4D07-B850-D36106D7AA9A}"/>
              </a:ext>
            </a:extLst>
          </p:cNvPr>
          <p:cNvSpPr>
            <a:spLocks noChangeArrowheads="1"/>
          </p:cNvSpPr>
          <p:nvPr/>
        </p:nvSpPr>
        <p:spPr bwMode="auto">
          <a:xfrm>
            <a:off x="1000125" y="815365"/>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8" name="Rectangle 3">
            <a:extLst>
              <a:ext uri="{FF2B5EF4-FFF2-40B4-BE49-F238E27FC236}">
                <a16:creationId xmlns:a16="http://schemas.microsoft.com/office/drawing/2014/main" id="{97F08C45-3D15-45C1-A5A3-D1EB58DC91FE}"/>
              </a:ext>
            </a:extLst>
          </p:cNvPr>
          <p:cNvSpPr txBox="1">
            <a:spLocks noChangeArrowheads="1"/>
          </p:cNvSpPr>
          <p:nvPr/>
        </p:nvSpPr>
        <p:spPr>
          <a:xfrm>
            <a:off x="1000125" y="914400"/>
            <a:ext cx="9877336" cy="5788025"/>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20000"/>
              </a:lnSpc>
              <a:spcBef>
                <a:spcPts val="600"/>
              </a:spcBef>
              <a:buClr>
                <a:srgbClr val="0B61FF"/>
              </a:buClr>
              <a:buSzPct val="80000"/>
              <a:buFont typeface="Wingdings" panose="05000000000000000000" pitchFamily="2" charset="2"/>
              <a:buChar char="n"/>
            </a:pPr>
            <a:r>
              <a:rPr lang="en-US" sz="2400" b="1" dirty="0">
                <a:solidFill>
                  <a:schemeClr val="bg2">
                    <a:lumMod val="75000"/>
                  </a:schemeClr>
                </a:solidFill>
                <a:latin typeface="Trebuchet MS" panose="020B0603020202020204" pitchFamily="34" charset="0"/>
              </a:rPr>
              <a:t>7.2.1 Rooted Trees and Their Classifications</a:t>
            </a:r>
          </a:p>
          <a:p>
            <a:pPr>
              <a:lnSpc>
                <a:spcPct val="120000"/>
              </a:lnSpc>
              <a:spcBef>
                <a:spcPts val="600"/>
              </a:spcBef>
              <a:buClr>
                <a:srgbClr val="0B61FF"/>
              </a:buClr>
              <a:buSzPct val="80000"/>
              <a:buFont typeface="Wingdings" panose="05000000000000000000" pitchFamily="2" charset="2"/>
              <a:buChar char="n"/>
            </a:pPr>
            <a:r>
              <a:rPr lang="en-US" sz="2400" b="1" dirty="0">
                <a:solidFill>
                  <a:schemeClr val="bg2">
                    <a:lumMod val="75000"/>
                  </a:schemeClr>
                </a:solidFill>
                <a:latin typeface="Trebuchet MS" panose="020B0603020202020204" pitchFamily="34" charset="0"/>
              </a:rPr>
              <a:t>7.2.2 Optimal Trees and the Huffman Algorithm</a:t>
            </a:r>
          </a:p>
          <a:p>
            <a:pPr>
              <a:lnSpc>
                <a:spcPct val="120000"/>
              </a:lnSpc>
              <a:spcBef>
                <a:spcPts val="600"/>
              </a:spcBef>
              <a:buClr>
                <a:srgbClr val="0B61FF"/>
              </a:buClr>
              <a:buSzPct val="80000"/>
              <a:buFont typeface="Wingdings" panose="05000000000000000000" pitchFamily="2" charset="2"/>
              <a:buChar char="n"/>
            </a:pPr>
            <a:r>
              <a:rPr lang="en-US" sz="2400" b="1" dirty="0">
                <a:solidFill>
                  <a:srgbClr val="0B61FF"/>
                </a:solidFill>
                <a:latin typeface="Trebuchet MS" panose="020B0603020202020204" pitchFamily="34" charset="0"/>
              </a:rPr>
              <a:t>7.2.3 Optimal Prefix Codes</a:t>
            </a:r>
          </a:p>
          <a:p>
            <a:pPr>
              <a:lnSpc>
                <a:spcPct val="120000"/>
              </a:lnSpc>
              <a:spcBef>
                <a:spcPts val="600"/>
              </a:spcBef>
              <a:buClr>
                <a:srgbClr val="0B61FF"/>
              </a:buClr>
              <a:buSzPct val="80000"/>
              <a:buFont typeface="Wingdings" panose="05000000000000000000" pitchFamily="2" charset="2"/>
              <a:buChar char="n"/>
            </a:pPr>
            <a:r>
              <a:rPr lang="en-US" sz="2400" b="1" dirty="0">
                <a:latin typeface="Trebuchet MS" panose="020B0603020202020204" pitchFamily="34" charset="0"/>
              </a:rPr>
              <a:t>7.2.4 Traversals of Rooted Trees and Their Applications</a:t>
            </a:r>
            <a:endParaRPr lang="en-US" sz="2400" dirty="0">
              <a:latin typeface="Trebuchet MS" panose="020B0603020202020204" pitchFamily="34" charset="0"/>
            </a:endParaRPr>
          </a:p>
          <a:p>
            <a:pPr marL="723900" indent="354013">
              <a:lnSpc>
                <a:spcPct val="120000"/>
              </a:lnSpc>
              <a:spcBef>
                <a:spcPts val="600"/>
              </a:spcBef>
              <a:buClr>
                <a:srgbClr val="0B61FF"/>
              </a:buClr>
              <a:buSzPct val="120000"/>
              <a:buFont typeface="Arial" panose="020B0604020202020204" pitchFamily="34" charset="0"/>
              <a:buChar char="•"/>
              <a:tabLst>
                <a:tab pos="804863" algn="l"/>
                <a:tab pos="1077913" algn="l"/>
              </a:tabLst>
            </a:pPr>
            <a:r>
              <a:rPr lang="en-US" sz="2400" dirty="0" err="1">
                <a:latin typeface="Trebuchet MS" panose="020B0603020202020204" pitchFamily="34" charset="0"/>
              </a:rPr>
              <a:t>Inorder</a:t>
            </a:r>
            <a:r>
              <a:rPr lang="en-US" sz="2400" dirty="0">
                <a:latin typeface="Trebuchet MS" panose="020B0603020202020204" pitchFamily="34" charset="0"/>
              </a:rPr>
              <a:t> Traversal, Preorder Traversal, and </a:t>
            </a:r>
            <a:r>
              <a:rPr lang="en-US" sz="2400" dirty="0" err="1">
                <a:latin typeface="Trebuchet MS" panose="020B0603020202020204" pitchFamily="34" charset="0"/>
              </a:rPr>
              <a:t>Postorder</a:t>
            </a:r>
            <a:r>
              <a:rPr lang="en-US" sz="2400" dirty="0">
                <a:latin typeface="Trebuchet MS" panose="020B0603020202020204" pitchFamily="34" charset="0"/>
              </a:rPr>
              <a:t> Traversal</a:t>
            </a:r>
          </a:p>
          <a:p>
            <a:pPr marL="723900" indent="354013">
              <a:lnSpc>
                <a:spcPct val="120000"/>
              </a:lnSpc>
              <a:spcBef>
                <a:spcPts val="600"/>
              </a:spcBef>
              <a:buClr>
                <a:srgbClr val="0B61FF"/>
              </a:buClr>
              <a:buSzPct val="120000"/>
              <a:buFont typeface="Arial" panose="020B0604020202020204" pitchFamily="34" charset="0"/>
              <a:buChar char="•"/>
              <a:tabLst>
                <a:tab pos="804863" algn="l"/>
                <a:tab pos="1077913" algn="l"/>
              </a:tabLst>
            </a:pPr>
            <a:r>
              <a:rPr lang="en-US" sz="2400" dirty="0">
                <a:latin typeface="Trebuchet MS" panose="020B0603020202020204" pitchFamily="34" charset="0"/>
              </a:rPr>
              <a:t>Polish Notation and Reverse Polish Notation</a:t>
            </a:r>
          </a:p>
        </p:txBody>
      </p:sp>
    </p:spTree>
    <p:extLst>
      <p:ext uri="{BB962C8B-B14F-4D97-AF65-F5344CB8AC3E}">
        <p14:creationId xmlns:p14="http://schemas.microsoft.com/office/powerpoint/2010/main" val="287781672"/>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0" y="0"/>
            <a:ext cx="12192000" cy="762000"/>
          </a:xfrm>
          <a:prstGeom prst="rect">
            <a:avLst/>
          </a:prstGeom>
          <a:solidFill>
            <a:srgbClr val="002F7C"/>
          </a:solidFill>
        </p:spPr>
        <p:style>
          <a:lnRef idx="2">
            <a:schemeClr val="dk1">
              <a:shade val="50000"/>
            </a:schemeClr>
          </a:lnRef>
          <a:fillRef idx="1">
            <a:schemeClr val="dk1"/>
          </a:fillRef>
          <a:effectRef idx="0">
            <a:schemeClr val="dk1"/>
          </a:effectRef>
          <a:fontRef idx="minor">
            <a:schemeClr val="lt1"/>
          </a:fontRef>
        </p:style>
        <p:txBody>
          <a:bodyPr rtlCol="0" anchor="ctr"/>
          <a:lstStyle/>
          <a:p>
            <a:pPr>
              <a:buClr>
                <a:srgbClr val="0B61FF"/>
              </a:buClr>
              <a:buSzPct val="80000"/>
            </a:pPr>
            <a:r>
              <a:rPr lang="zh-CN" altLang="en-US" sz="2000" b="1" dirty="0">
                <a:latin typeface="Times New Roman" panose="02020603050405020304" pitchFamily="18" charset="0"/>
                <a:ea typeface="宋体" panose="02010600030101010101" pitchFamily="2" charset="-122"/>
                <a:cs typeface="Times New Roman" panose="02020603050405020304" pitchFamily="18" charset="0"/>
              </a:rPr>
              <a:t>               </a:t>
            </a:r>
            <a:r>
              <a:rPr lang="en-US" altLang="zh-CN" sz="2000" b="1" dirty="0">
                <a:latin typeface="Trebuchet MS" panose="020B0603020202020204" pitchFamily="34" charset="0"/>
              </a:rPr>
              <a:t>7.2.3 Optimal Prefix Codes</a:t>
            </a:r>
          </a:p>
          <a:p>
            <a:pPr>
              <a:buClr>
                <a:srgbClr val="0B61FF"/>
              </a:buClr>
              <a:buSzPct val="80000"/>
            </a:pPr>
            <a:r>
              <a:rPr lang="en-US" altLang="zh-CN" sz="2000" b="1" dirty="0">
                <a:solidFill>
                  <a:srgbClr val="C00000"/>
                </a:solidFill>
                <a:latin typeface="Trebuchet MS" panose="020B0603020202020204" pitchFamily="34" charset="0"/>
                <a:ea typeface="Cambria Math" panose="02040503050406030204" pitchFamily="18" charset="0"/>
                <a:cs typeface="Times New Roman" panose="02020603050405020304" pitchFamily="18" charset="0"/>
              </a:rPr>
              <a:t>              </a:t>
            </a:r>
            <a:r>
              <a:rPr lang="en-US" altLang="zh-CN" sz="2400" b="1" dirty="0">
                <a:solidFill>
                  <a:srgbClr val="C00000"/>
                </a:solidFill>
                <a:latin typeface="Trebuchet MS" panose="020B0603020202020204" pitchFamily="34" charset="0"/>
                <a:ea typeface="Cambria Math" panose="02040503050406030204" pitchFamily="18" charset="0"/>
                <a:cs typeface="Times New Roman" panose="02020603050405020304" pitchFamily="18" charset="0"/>
              </a:rPr>
              <a:t>⤷</a:t>
            </a:r>
            <a:r>
              <a:rPr lang="zh-CN" altLang="en-US" sz="2400" b="1" dirty="0">
                <a:latin typeface="Trebuchet MS" panose="020B0603020202020204" pitchFamily="34" charset="0"/>
              </a:rPr>
              <a:t> </a:t>
            </a:r>
            <a:r>
              <a:rPr lang="en-US" altLang="zh-CN" sz="2400" b="1" dirty="0">
                <a:latin typeface="Trebuchet MS" panose="020B0603020202020204" pitchFamily="34" charset="0"/>
              </a:rPr>
              <a:t>Prefix Codes and Binary Prefix Codes</a:t>
            </a:r>
          </a:p>
        </p:txBody>
      </p:sp>
      <p:sp>
        <p:nvSpPr>
          <p:cNvPr id="13" name="矩形 12"/>
          <p:cNvSpPr/>
          <p:nvPr/>
        </p:nvSpPr>
        <p:spPr>
          <a:xfrm>
            <a:off x="824682" y="0"/>
            <a:ext cx="175443" cy="628650"/>
          </a:xfrm>
          <a:prstGeom prst="rect">
            <a:avLst/>
          </a:prstGeom>
          <a:solidFill>
            <a:srgbClr val="CFA57C"/>
          </a:solidFill>
          <a:ln cmpd="sng">
            <a:gradFill flip="none" rotWithShape="1">
              <a:gsLst>
                <a:gs pos="50000">
                  <a:schemeClr val="accent2">
                    <a:lumMod val="60000"/>
                    <a:lumOff val="40000"/>
                  </a:schemeClr>
                </a:gs>
                <a:gs pos="0">
                  <a:schemeClr val="accent2">
                    <a:lumMod val="20000"/>
                    <a:lumOff val="80000"/>
                  </a:schemeClr>
                </a:gs>
                <a:gs pos="95000">
                  <a:schemeClr val="accent2"/>
                </a:gs>
              </a:gsLst>
              <a:path path="circle">
                <a:fillToRect l="50000" t="-80000" r="50000" b="180000"/>
              </a:path>
              <a:tileRect/>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22" name="Picture 6" descr="D:\MBA工作\LOGO\同济经管LOGO反白.png"/>
          <p:cNvPicPr>
            <a:picLocks noChangeAspect="1" noChangeArrowheads="1"/>
          </p:cNvPicPr>
          <p:nvPr/>
        </p:nvPicPr>
        <p:blipFill>
          <a:blip r:embed="rId3" cstate="email">
            <a:extLst>
              <a:ext uri="{28A0092B-C50C-407E-A947-70E740481C1C}">
                <a14:useLocalDpi xmlns:a14="http://schemas.microsoft.com/office/drawing/2010/main" val="0"/>
              </a:ext>
            </a:extLst>
          </a:blip>
          <a:srcRect/>
          <a:stretch>
            <a:fillRect/>
          </a:stretch>
        </p:blipFill>
        <p:spPr bwMode="auto">
          <a:xfrm>
            <a:off x="10267423" y="165688"/>
            <a:ext cx="1386605" cy="462962"/>
          </a:xfrm>
          <a:prstGeom prst="rect">
            <a:avLst/>
          </a:prstGeom>
          <a:noFill/>
          <a:extLst>
            <a:ext uri="{909E8E84-426E-40DD-AFC4-6F175D3DCCD1}">
              <a14:hiddenFill xmlns:a14="http://schemas.microsoft.com/office/drawing/2010/main">
                <a:solidFill>
                  <a:srgbClr val="FFFFFF"/>
                </a:solidFill>
              </a14:hiddenFill>
            </a:ext>
          </a:extLst>
        </p:spPr>
      </p:pic>
      <p:pic>
        <p:nvPicPr>
          <p:cNvPr id="2" name="图片 1" descr="微信图片_20220318113523"/>
          <p:cNvPicPr>
            <a:picLocks noChangeAspect="1"/>
          </p:cNvPicPr>
          <p:nvPr userDrawn="1"/>
        </p:nvPicPr>
        <p:blipFill>
          <a:blip r:embed="rId4"/>
          <a:stretch>
            <a:fillRect/>
          </a:stretch>
        </p:blipFill>
        <p:spPr>
          <a:xfrm>
            <a:off x="9291877" y="6115050"/>
            <a:ext cx="2244725" cy="361315"/>
          </a:xfrm>
          <a:prstGeom prst="rect">
            <a:avLst/>
          </a:prstGeom>
        </p:spPr>
      </p:pic>
      <p:sp>
        <p:nvSpPr>
          <p:cNvPr id="18" name="Rectangle 2">
            <a:extLst>
              <a:ext uri="{FF2B5EF4-FFF2-40B4-BE49-F238E27FC236}">
                <a16:creationId xmlns:a16="http://schemas.microsoft.com/office/drawing/2014/main" id="{E217C615-1D49-4D07-B850-D36106D7AA9A}"/>
              </a:ext>
            </a:extLst>
          </p:cNvPr>
          <p:cNvSpPr>
            <a:spLocks noChangeArrowheads="1"/>
          </p:cNvSpPr>
          <p:nvPr/>
        </p:nvSpPr>
        <p:spPr bwMode="auto">
          <a:xfrm>
            <a:off x="1000125" y="815365"/>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8" name="Rectangle 3">
            <a:extLst>
              <a:ext uri="{FF2B5EF4-FFF2-40B4-BE49-F238E27FC236}">
                <a16:creationId xmlns:a16="http://schemas.microsoft.com/office/drawing/2014/main" id="{97F08C45-3D15-45C1-A5A3-D1EB58DC91FE}"/>
              </a:ext>
            </a:extLst>
          </p:cNvPr>
          <p:cNvSpPr txBox="1">
            <a:spLocks noChangeArrowheads="1"/>
          </p:cNvSpPr>
          <p:nvPr/>
        </p:nvSpPr>
        <p:spPr>
          <a:xfrm>
            <a:off x="1000124" y="914401"/>
            <a:ext cx="10653903" cy="4962938"/>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20000"/>
              </a:lnSpc>
              <a:spcBef>
                <a:spcPts val="300"/>
              </a:spcBef>
              <a:buClr>
                <a:srgbClr val="0B61FF"/>
              </a:buClr>
              <a:buSzPct val="80000"/>
              <a:buFont typeface="Wingdings" panose="05000000000000000000" pitchFamily="2" charset="2"/>
              <a:buChar char="n"/>
            </a:pPr>
            <a:r>
              <a:rPr lang="en-US" sz="2400" b="1" dirty="0">
                <a:latin typeface="Trebuchet MS" panose="020B0603020202020204" pitchFamily="34" charset="0"/>
              </a:rPr>
              <a:t>Definition7.2:</a:t>
            </a:r>
          </a:p>
          <a:p>
            <a:pPr marL="450850" indent="-271463">
              <a:lnSpc>
                <a:spcPct val="120000"/>
              </a:lnSpc>
              <a:spcBef>
                <a:spcPts val="300"/>
              </a:spcBef>
              <a:buClr>
                <a:srgbClr val="0B61FF"/>
              </a:buClr>
              <a:buSzPct val="120000"/>
              <a:tabLst>
                <a:tab pos="265113" algn="l"/>
              </a:tabLst>
            </a:pPr>
            <a:r>
              <a:rPr lang="en-US" sz="2400" dirty="0">
                <a:latin typeface="Trebuchet MS" panose="020B0603020202020204" pitchFamily="34" charset="0"/>
              </a:rPr>
              <a:t>Let </a:t>
            </a:r>
            <a:r>
              <a:rPr lang="zh-CN" altLang="en-US" sz="2400" b="1" i="1" dirty="0">
                <a:latin typeface="Trebuchet MS" panose="020B0603020202020204" pitchFamily="34" charset="0"/>
                <a:cs typeface="Times New Roman" panose="02020603050405020304" pitchFamily="18" charset="0"/>
                <a:sym typeface="Symbol" panose="05050102010706020507" pitchFamily="18" charset="2"/>
              </a:rPr>
              <a:t> </a:t>
            </a:r>
            <a:r>
              <a:rPr lang="zh-CN" altLang="en-US" sz="2400" b="1" dirty="0">
                <a:latin typeface="Trebuchet MS" panose="020B0603020202020204" pitchFamily="34" charset="0"/>
                <a:cs typeface="Times New Roman" panose="02020603050405020304" pitchFamily="18" charset="0"/>
              </a:rPr>
              <a:t>=</a:t>
            </a:r>
            <a:r>
              <a:rPr lang="zh-CN" altLang="en-US" sz="2400" b="1" i="1" dirty="0">
                <a:latin typeface="Trebuchet MS" panose="020B0603020202020204" pitchFamily="34" charset="0"/>
                <a:cs typeface="Times New Roman" panose="02020603050405020304" pitchFamily="18" charset="0"/>
                <a:sym typeface="Symbol" panose="05050102010706020507" pitchFamily="18" charset="2"/>
              </a:rPr>
              <a:t></a:t>
            </a:r>
            <a:r>
              <a:rPr lang="zh-CN" altLang="en-US" sz="2400" b="1" baseline="-30000" dirty="0">
                <a:latin typeface="Trebuchet MS" panose="020B0603020202020204" pitchFamily="34" charset="0"/>
                <a:cs typeface="Times New Roman" panose="02020603050405020304" pitchFamily="18" charset="0"/>
              </a:rPr>
              <a:t>1</a:t>
            </a:r>
            <a:r>
              <a:rPr lang="zh-CN" altLang="en-US" sz="2400" b="1" i="1" dirty="0">
                <a:latin typeface="Trebuchet MS" panose="020B0603020202020204" pitchFamily="34" charset="0"/>
                <a:cs typeface="Times New Roman" panose="02020603050405020304" pitchFamily="18" charset="0"/>
                <a:sym typeface="Symbol" panose="05050102010706020507" pitchFamily="18" charset="2"/>
              </a:rPr>
              <a:t></a:t>
            </a:r>
            <a:r>
              <a:rPr lang="zh-CN" altLang="en-US" sz="2400" b="1" baseline="-30000" dirty="0">
                <a:latin typeface="Trebuchet MS" panose="020B0603020202020204" pitchFamily="34" charset="0"/>
                <a:cs typeface="Times New Roman" panose="02020603050405020304" pitchFamily="18" charset="0"/>
              </a:rPr>
              <a:t>2</a:t>
            </a:r>
            <a:r>
              <a:rPr lang="zh-CN" altLang="en-US" sz="2400" b="1" dirty="0">
                <a:latin typeface="Trebuchet MS" panose="020B0603020202020204" pitchFamily="34" charset="0"/>
                <a:cs typeface="Times New Roman" panose="02020603050405020304" pitchFamily="18" charset="0"/>
              </a:rPr>
              <a:t>…</a:t>
            </a:r>
            <a:r>
              <a:rPr lang="zh-CN" altLang="en-US" sz="2400" b="1" i="1" dirty="0">
                <a:latin typeface="Trebuchet MS" panose="020B0603020202020204" pitchFamily="34" charset="0"/>
                <a:cs typeface="Times New Roman" panose="02020603050405020304" pitchFamily="18" charset="0"/>
                <a:sym typeface="Symbol" panose="05050102010706020507" pitchFamily="18" charset="2"/>
              </a:rPr>
              <a:t></a:t>
            </a:r>
            <a:r>
              <a:rPr lang="en-US" altLang="zh-CN" sz="2400" b="1" i="1" baseline="-30000" dirty="0">
                <a:latin typeface="Trebuchet MS" panose="020B0603020202020204" pitchFamily="34" charset="0"/>
                <a:cs typeface="Times New Roman" panose="02020603050405020304" pitchFamily="18" charset="0"/>
              </a:rPr>
              <a:t>n</a:t>
            </a:r>
            <a:r>
              <a:rPr lang="en-US" altLang="zh-CN" sz="2400" b="1" baseline="-30000" dirty="0">
                <a:latin typeface="Trebuchet MS" panose="020B0603020202020204" pitchFamily="34" charset="0"/>
                <a:cs typeface="Times New Roman" panose="02020603050405020304" pitchFamily="18" charset="0"/>
              </a:rPr>
              <a:t>-1</a:t>
            </a:r>
            <a:r>
              <a:rPr lang="en-US" altLang="zh-CN" sz="2400" b="1" i="1" dirty="0">
                <a:latin typeface="Trebuchet MS" panose="020B0603020202020204" pitchFamily="34" charset="0"/>
                <a:cs typeface="Times New Roman" panose="02020603050405020304" pitchFamily="18" charset="0"/>
                <a:sym typeface="Symbol" panose="05050102010706020507" pitchFamily="18" charset="2"/>
              </a:rPr>
              <a:t></a:t>
            </a:r>
            <a:r>
              <a:rPr lang="en-US" altLang="zh-CN" sz="2400" b="1" i="1" baseline="-30000" dirty="0">
                <a:latin typeface="Trebuchet MS" panose="020B0603020202020204" pitchFamily="34" charset="0"/>
                <a:cs typeface="Times New Roman" panose="02020603050405020304" pitchFamily="18" charset="0"/>
              </a:rPr>
              <a:t>n </a:t>
            </a:r>
            <a:r>
              <a:rPr lang="en-US" sz="2400" dirty="0">
                <a:latin typeface="Trebuchet MS" panose="020B0603020202020204" pitchFamily="34" charset="0"/>
              </a:rPr>
              <a:t>be a string of length </a:t>
            </a:r>
            <a:r>
              <a:rPr lang="en-US" sz="2400" b="1" i="1" dirty="0">
                <a:latin typeface="Trebuchet MS" panose="020B0603020202020204" pitchFamily="34" charset="0"/>
              </a:rPr>
              <a:t>n</a:t>
            </a:r>
            <a:r>
              <a:rPr lang="en-US" sz="2400" dirty="0">
                <a:latin typeface="Trebuchet MS" panose="020B0603020202020204" pitchFamily="34" charset="0"/>
              </a:rPr>
              <a:t>, and let </a:t>
            </a:r>
            <a:r>
              <a:rPr lang="zh-CN" altLang="en-US" sz="2400" b="1" i="1" dirty="0">
                <a:latin typeface="Trebuchet MS" panose="020B0603020202020204" pitchFamily="34" charset="0"/>
                <a:cs typeface="Times New Roman" panose="02020603050405020304" pitchFamily="18" charset="0"/>
                <a:sym typeface="Symbol" panose="05050102010706020507" pitchFamily="18" charset="2"/>
              </a:rPr>
              <a:t></a:t>
            </a:r>
            <a:r>
              <a:rPr lang="zh-CN" altLang="en-US" sz="2400" b="1" baseline="-30000" dirty="0">
                <a:latin typeface="Trebuchet MS" panose="020B0603020202020204" pitchFamily="34" charset="0"/>
                <a:cs typeface="Times New Roman" panose="02020603050405020304" pitchFamily="18" charset="0"/>
              </a:rPr>
              <a:t>1</a:t>
            </a:r>
            <a:r>
              <a:rPr lang="zh-CN" altLang="en-US" sz="2400" b="1" i="1" dirty="0">
                <a:latin typeface="Trebuchet MS" panose="020B0603020202020204" pitchFamily="34" charset="0"/>
                <a:cs typeface="Times New Roman" panose="02020603050405020304" pitchFamily="18" charset="0"/>
                <a:sym typeface="Symbol" panose="05050102010706020507" pitchFamily="18" charset="2"/>
              </a:rPr>
              <a:t></a:t>
            </a:r>
            <a:r>
              <a:rPr lang="zh-CN" altLang="en-US" sz="2400" b="1" baseline="-30000" dirty="0">
                <a:latin typeface="Trebuchet MS" panose="020B0603020202020204" pitchFamily="34" charset="0"/>
                <a:cs typeface="Times New Roman" panose="02020603050405020304" pitchFamily="18" charset="0"/>
              </a:rPr>
              <a:t>2</a:t>
            </a:r>
            <a:r>
              <a:rPr lang="zh-CN" altLang="en-US" sz="2400" b="1" dirty="0">
                <a:latin typeface="Trebuchet MS" panose="020B0603020202020204" pitchFamily="34" charset="0"/>
                <a:cs typeface="Times New Roman" panose="02020603050405020304" pitchFamily="18" charset="0"/>
              </a:rPr>
              <a:t>…</a:t>
            </a:r>
            <a:r>
              <a:rPr lang="zh-CN" altLang="en-US" sz="2400" b="1" i="1" dirty="0">
                <a:latin typeface="Trebuchet MS" panose="020B0603020202020204" pitchFamily="34" charset="0"/>
                <a:cs typeface="Times New Roman" panose="02020603050405020304" pitchFamily="18" charset="0"/>
                <a:sym typeface="Symbol" panose="05050102010706020507" pitchFamily="18" charset="2"/>
              </a:rPr>
              <a:t></a:t>
            </a:r>
            <a:r>
              <a:rPr lang="en-US" altLang="zh-CN" sz="2400" b="1" i="1" baseline="-30000" dirty="0">
                <a:latin typeface="Trebuchet MS" panose="020B0603020202020204" pitchFamily="34" charset="0"/>
                <a:cs typeface="Times New Roman" panose="02020603050405020304" pitchFamily="18" charset="0"/>
              </a:rPr>
              <a:t>j</a:t>
            </a:r>
            <a:r>
              <a:rPr lang="zh-CN" altLang="en-US" sz="2400" b="1" dirty="0">
                <a:latin typeface="Trebuchet MS" panose="020B0603020202020204" pitchFamily="34" charset="0"/>
                <a:cs typeface="Times New Roman" panose="02020603050405020304" pitchFamily="18" charset="0"/>
                <a:sym typeface="Symbol" panose="05050102010706020507" pitchFamily="18" charset="2"/>
              </a:rPr>
              <a:t>（</a:t>
            </a:r>
            <a:r>
              <a:rPr lang="en-US" altLang="zh-CN" sz="2400" b="1" dirty="0">
                <a:latin typeface="Trebuchet MS" panose="020B0603020202020204" pitchFamily="34" charset="0"/>
                <a:cs typeface="Times New Roman" panose="02020603050405020304" pitchFamily="18" charset="0"/>
                <a:sym typeface="Symbol" panose="05050102010706020507" pitchFamily="18" charset="2"/>
              </a:rPr>
              <a:t>1≤ </a:t>
            </a:r>
            <a:r>
              <a:rPr lang="en-US" altLang="zh-CN" sz="2400" b="1" i="1" dirty="0">
                <a:latin typeface="Trebuchet MS" panose="020B0603020202020204" pitchFamily="34" charset="0"/>
                <a:cs typeface="Times New Roman" panose="02020603050405020304" pitchFamily="18" charset="0"/>
                <a:sym typeface="Symbol" panose="05050102010706020507" pitchFamily="18" charset="2"/>
              </a:rPr>
              <a:t>j</a:t>
            </a:r>
            <a:r>
              <a:rPr lang="en-US" altLang="zh-CN" sz="2400" b="1" dirty="0">
                <a:latin typeface="Trebuchet MS" panose="020B0603020202020204" pitchFamily="34" charset="0"/>
                <a:cs typeface="Times New Roman" panose="02020603050405020304" pitchFamily="18" charset="0"/>
                <a:sym typeface="Symbol" panose="05050102010706020507" pitchFamily="18" charset="2"/>
              </a:rPr>
              <a:t> ≤ </a:t>
            </a:r>
            <a:r>
              <a:rPr lang="en-US" altLang="zh-CN" sz="2400" b="1" i="1" dirty="0">
                <a:latin typeface="Trebuchet MS" panose="020B0603020202020204" pitchFamily="34" charset="0"/>
                <a:cs typeface="Times New Roman" panose="02020603050405020304" pitchFamily="18" charset="0"/>
                <a:sym typeface="Symbol" panose="05050102010706020507" pitchFamily="18" charset="2"/>
              </a:rPr>
              <a:t>n</a:t>
            </a:r>
            <a:r>
              <a:rPr lang="zh-CN" altLang="en-US" sz="2400" b="1" dirty="0">
                <a:latin typeface="Trebuchet MS" panose="020B0603020202020204" pitchFamily="34" charset="0"/>
                <a:cs typeface="Times New Roman" panose="02020603050405020304" pitchFamily="18" charset="0"/>
                <a:sym typeface="Symbol" panose="05050102010706020507" pitchFamily="18" charset="2"/>
              </a:rPr>
              <a:t>）</a:t>
            </a:r>
            <a:r>
              <a:rPr lang="en-US" sz="2400" dirty="0">
                <a:latin typeface="Trebuchet MS" panose="020B0603020202020204" pitchFamily="34" charset="0"/>
              </a:rPr>
              <a:t>be a </a:t>
            </a:r>
            <a:r>
              <a:rPr lang="en-US" sz="2400" b="1" i="1" dirty="0">
                <a:solidFill>
                  <a:srgbClr val="0B61FF"/>
                </a:solidFill>
                <a:latin typeface="Trebuchet MS" panose="020B0603020202020204" pitchFamily="34" charset="0"/>
              </a:rPr>
              <a:t>prefix</a:t>
            </a:r>
            <a:r>
              <a:rPr lang="en-US" sz="2400" dirty="0">
                <a:latin typeface="Trebuchet MS" panose="020B0603020202020204" pitchFamily="34" charset="0"/>
              </a:rPr>
              <a:t> of</a:t>
            </a:r>
            <a:r>
              <a:rPr lang="zh-CN" altLang="en-US" sz="2400" b="1" dirty="0">
                <a:latin typeface="Trebuchet MS" panose="020B0603020202020204" pitchFamily="34" charset="0"/>
                <a:cs typeface="Times New Roman" panose="02020603050405020304" pitchFamily="18" charset="0"/>
                <a:sym typeface="Symbol" panose="05050102010706020507" pitchFamily="18" charset="2"/>
              </a:rPr>
              <a:t> </a:t>
            </a:r>
            <a:r>
              <a:rPr lang="zh-CN" altLang="en-US" sz="2400" b="1" i="1" dirty="0">
                <a:latin typeface="Trebuchet MS" panose="020B0603020202020204" pitchFamily="34" charset="0"/>
                <a:cs typeface="Times New Roman" panose="02020603050405020304" pitchFamily="18" charset="0"/>
                <a:sym typeface="Symbol" panose="05050102010706020507" pitchFamily="18" charset="2"/>
              </a:rPr>
              <a:t> </a:t>
            </a:r>
            <a:r>
              <a:rPr lang="zh-CN" altLang="en-US" sz="2400" b="1" dirty="0">
                <a:latin typeface="Trebuchet MS" panose="020B0603020202020204" pitchFamily="34" charset="0"/>
                <a:cs typeface="Times New Roman" panose="02020603050405020304" pitchFamily="18" charset="0"/>
                <a:sym typeface="Symbol" panose="05050102010706020507" pitchFamily="18" charset="2"/>
              </a:rPr>
              <a:t>（</a:t>
            </a:r>
            <a:r>
              <a:rPr lang="en-US" sz="2400" dirty="0">
                <a:latin typeface="Trebuchet MS" panose="020B0603020202020204" pitchFamily="34" charset="0"/>
              </a:rPr>
              <a:t>with length </a:t>
            </a:r>
            <a:r>
              <a:rPr lang="en-US" altLang="zh-CN" sz="2400" b="1" i="1" dirty="0">
                <a:latin typeface="Trebuchet MS" panose="020B0603020202020204" pitchFamily="34" charset="0"/>
                <a:cs typeface="Times New Roman" panose="02020603050405020304" pitchFamily="18" charset="0"/>
                <a:sym typeface="Symbol" panose="05050102010706020507" pitchFamily="18" charset="2"/>
              </a:rPr>
              <a:t>j</a:t>
            </a:r>
            <a:r>
              <a:rPr lang="en-US" altLang="zh-CN" sz="2400" b="1" dirty="0">
                <a:latin typeface="Trebuchet MS" panose="020B0603020202020204" pitchFamily="34" charset="0"/>
                <a:cs typeface="Times New Roman" panose="02020603050405020304" pitchFamily="18" charset="0"/>
                <a:sym typeface="Symbol" panose="05050102010706020507" pitchFamily="18" charset="2"/>
              </a:rPr>
              <a:t> </a:t>
            </a:r>
            <a:r>
              <a:rPr lang="zh-CN" altLang="en-US" sz="2400" b="1" dirty="0">
                <a:latin typeface="Trebuchet MS" panose="020B0603020202020204" pitchFamily="34" charset="0"/>
                <a:cs typeface="Times New Roman" panose="02020603050405020304" pitchFamily="18" charset="0"/>
                <a:sym typeface="Symbol" panose="05050102010706020507" pitchFamily="18" charset="2"/>
              </a:rPr>
              <a:t>）</a:t>
            </a:r>
            <a:r>
              <a:rPr lang="en-US" altLang="zh-CN" sz="2400" b="1" dirty="0">
                <a:latin typeface="Trebuchet MS" panose="020B0603020202020204" pitchFamily="34" charset="0"/>
                <a:cs typeface="Times New Roman" panose="02020603050405020304" pitchFamily="18" charset="0"/>
                <a:sym typeface="Symbol" panose="05050102010706020507" pitchFamily="18" charset="2"/>
              </a:rPr>
              <a:t>.</a:t>
            </a:r>
          </a:p>
          <a:p>
            <a:pPr marL="450850" indent="-271463">
              <a:lnSpc>
                <a:spcPct val="120000"/>
              </a:lnSpc>
              <a:spcBef>
                <a:spcPts val="300"/>
              </a:spcBef>
              <a:buClr>
                <a:srgbClr val="0B61FF"/>
              </a:buClr>
              <a:buSzPct val="120000"/>
              <a:tabLst>
                <a:tab pos="265113" algn="l"/>
              </a:tabLst>
            </a:pPr>
            <a:r>
              <a:rPr lang="en-US" sz="2400" dirty="0">
                <a:latin typeface="Trebuchet MS" panose="020B0603020202020204" pitchFamily="34" charset="0"/>
              </a:rPr>
              <a:t>If no two distinct strings </a:t>
            </a:r>
            <a:r>
              <a:rPr lang="zh-CN" altLang="en-US" sz="2400" b="1" i="1" dirty="0">
                <a:latin typeface="Trebuchet MS" panose="020B0603020202020204" pitchFamily="34" charset="0"/>
                <a:cs typeface="Times New Roman" panose="02020603050405020304" pitchFamily="18" charset="0"/>
                <a:sym typeface="Symbol" panose="05050102010706020507" pitchFamily="18" charset="2"/>
              </a:rPr>
              <a:t></a:t>
            </a:r>
            <a:r>
              <a:rPr lang="en-US" altLang="zh-CN" sz="2400" b="1" i="1" baseline="-30000" dirty="0" err="1">
                <a:latin typeface="Trebuchet MS" panose="020B0603020202020204" pitchFamily="34" charset="0"/>
                <a:cs typeface="Times New Roman" panose="02020603050405020304" pitchFamily="18" charset="0"/>
              </a:rPr>
              <a:t>i</a:t>
            </a:r>
            <a:r>
              <a:rPr lang="zh-CN" altLang="en-US" sz="2400" b="1" dirty="0">
                <a:latin typeface="Trebuchet MS" panose="020B0603020202020204" pitchFamily="34" charset="0"/>
                <a:cs typeface="Times New Roman" panose="02020603050405020304" pitchFamily="18" charset="0"/>
              </a:rPr>
              <a:t>, </a:t>
            </a:r>
            <a:r>
              <a:rPr lang="zh-CN" altLang="en-US" sz="2400" b="1" i="1" dirty="0">
                <a:latin typeface="Trebuchet MS" panose="020B0603020202020204" pitchFamily="34" charset="0"/>
                <a:cs typeface="Times New Roman" panose="02020603050405020304" pitchFamily="18" charset="0"/>
                <a:sym typeface="Symbol" panose="05050102010706020507" pitchFamily="18" charset="2"/>
              </a:rPr>
              <a:t></a:t>
            </a:r>
            <a:r>
              <a:rPr lang="en-US" altLang="zh-CN" sz="2400" b="1" i="1" baseline="-30000" dirty="0">
                <a:latin typeface="Trebuchet MS" panose="020B0603020202020204" pitchFamily="34" charset="0"/>
                <a:cs typeface="Times New Roman" panose="02020603050405020304" pitchFamily="18" charset="0"/>
                <a:sym typeface="Symbol" panose="05050102010706020507" pitchFamily="18" charset="2"/>
              </a:rPr>
              <a:t>j </a:t>
            </a:r>
            <a:r>
              <a:rPr lang="en-US" altLang="zh-CN" sz="2400" b="1" dirty="0">
                <a:latin typeface="Trebuchet MS" panose="020B0603020202020204" pitchFamily="34" charset="0"/>
                <a:cs typeface="Times New Roman" panose="02020603050405020304" pitchFamily="18" charset="0"/>
              </a:rPr>
              <a:t>(</a:t>
            </a:r>
            <a:r>
              <a:rPr lang="en-US" altLang="zh-CN" sz="2400" b="1" i="1" dirty="0" err="1">
                <a:latin typeface="Trebuchet MS" panose="020B0603020202020204" pitchFamily="34" charset="0"/>
                <a:cs typeface="Times New Roman" panose="02020603050405020304" pitchFamily="18" charset="0"/>
              </a:rPr>
              <a:t>i</a:t>
            </a:r>
            <a:r>
              <a:rPr lang="en-US" altLang="zh-CN" sz="2400" b="1" i="1" dirty="0">
                <a:latin typeface="Trebuchet MS" panose="020B0603020202020204" pitchFamily="34" charset="0"/>
                <a:cs typeface="Times New Roman" panose="02020603050405020304" pitchFamily="18" charset="0"/>
              </a:rPr>
              <a:t> </a:t>
            </a:r>
            <a:r>
              <a:rPr lang="en-US" altLang="zh-CN" sz="2400" b="1" dirty="0">
                <a:latin typeface="Trebuchet MS" panose="020B0603020202020204" pitchFamily="34" charset="0"/>
                <a:cs typeface="Times New Roman" panose="02020603050405020304" pitchFamily="18" charset="0"/>
                <a:sym typeface="Symbol" panose="05050102010706020507" pitchFamily="18" charset="2"/>
              </a:rPr>
              <a:t>≠ </a:t>
            </a:r>
            <a:r>
              <a:rPr lang="en-US" altLang="zh-CN" sz="2400" b="1" i="1" dirty="0">
                <a:latin typeface="Trebuchet MS" panose="020B0603020202020204" pitchFamily="34" charset="0"/>
                <a:cs typeface="Times New Roman" panose="02020603050405020304" pitchFamily="18" charset="0"/>
              </a:rPr>
              <a:t>j</a:t>
            </a:r>
            <a:r>
              <a:rPr lang="en-US" altLang="zh-CN" sz="2400" b="1" dirty="0">
                <a:latin typeface="Trebuchet MS" panose="020B0603020202020204" pitchFamily="34" charset="0"/>
                <a:cs typeface="Times New Roman" panose="02020603050405020304" pitchFamily="18" charset="0"/>
              </a:rPr>
              <a:t>) </a:t>
            </a:r>
            <a:r>
              <a:rPr lang="en-US" sz="2400" dirty="0">
                <a:latin typeface="Trebuchet MS" panose="020B0603020202020204" pitchFamily="34" charset="0"/>
              </a:rPr>
              <a:t>in a non-empty set </a:t>
            </a:r>
            <a:r>
              <a:rPr lang="en-US" altLang="zh-CN" sz="2400" b="1" dirty="0">
                <a:latin typeface="Trebuchet MS" panose="020B0603020202020204" pitchFamily="34" charset="0"/>
                <a:cs typeface="Times New Roman" panose="02020603050405020304" pitchFamily="18" charset="0"/>
              </a:rPr>
              <a:t>B=</a:t>
            </a:r>
            <a:r>
              <a:rPr lang="zh-CN" altLang="en-US" sz="2400" b="1" dirty="0">
                <a:latin typeface="Trebuchet MS" panose="020B0603020202020204" pitchFamily="34" charset="0"/>
                <a:cs typeface="Times New Roman" panose="02020603050405020304" pitchFamily="18" charset="0"/>
              </a:rPr>
              <a:t> {</a:t>
            </a:r>
            <a:r>
              <a:rPr lang="zh-CN" altLang="en-US" sz="2400" b="1" i="1" dirty="0">
                <a:latin typeface="Trebuchet MS" panose="020B0603020202020204" pitchFamily="34" charset="0"/>
                <a:cs typeface="Times New Roman" panose="02020603050405020304" pitchFamily="18" charset="0"/>
                <a:sym typeface="Symbol" panose="05050102010706020507" pitchFamily="18" charset="2"/>
              </a:rPr>
              <a:t></a:t>
            </a:r>
            <a:r>
              <a:rPr lang="zh-CN" altLang="en-US" sz="2400" b="1" baseline="-30000" dirty="0">
                <a:latin typeface="Trebuchet MS" panose="020B0603020202020204" pitchFamily="34" charset="0"/>
                <a:cs typeface="Times New Roman" panose="02020603050405020304" pitchFamily="18" charset="0"/>
              </a:rPr>
              <a:t>1</a:t>
            </a:r>
            <a:r>
              <a:rPr lang="zh-CN" altLang="en-US" sz="2400" b="1" dirty="0">
                <a:latin typeface="Trebuchet MS" panose="020B0603020202020204" pitchFamily="34" charset="0"/>
                <a:cs typeface="Times New Roman" panose="02020603050405020304" pitchFamily="18" charset="0"/>
              </a:rPr>
              <a:t>, </a:t>
            </a:r>
            <a:r>
              <a:rPr lang="zh-CN" altLang="en-US" sz="2400" b="1" i="1" dirty="0">
                <a:latin typeface="Trebuchet MS" panose="020B0603020202020204" pitchFamily="34" charset="0"/>
                <a:cs typeface="Times New Roman" panose="02020603050405020304" pitchFamily="18" charset="0"/>
                <a:sym typeface="Symbol" panose="05050102010706020507" pitchFamily="18" charset="2"/>
              </a:rPr>
              <a:t></a:t>
            </a:r>
            <a:r>
              <a:rPr lang="zh-CN" altLang="en-US" sz="2400" b="1" baseline="-30000" dirty="0">
                <a:latin typeface="Trebuchet MS" panose="020B0603020202020204" pitchFamily="34" charset="0"/>
                <a:cs typeface="Times New Roman" panose="02020603050405020304" pitchFamily="18" charset="0"/>
              </a:rPr>
              <a:t>2</a:t>
            </a:r>
            <a:r>
              <a:rPr lang="zh-CN" altLang="en-US" sz="2400" b="1" dirty="0">
                <a:latin typeface="Trebuchet MS" panose="020B0603020202020204" pitchFamily="34" charset="0"/>
                <a:cs typeface="Times New Roman" panose="02020603050405020304" pitchFamily="18" charset="0"/>
              </a:rPr>
              <a:t>, …, </a:t>
            </a:r>
            <a:r>
              <a:rPr lang="zh-CN" altLang="en-US" sz="2400" b="1" i="1" dirty="0">
                <a:latin typeface="Trebuchet MS" panose="020B0603020202020204" pitchFamily="34" charset="0"/>
                <a:cs typeface="Times New Roman" panose="02020603050405020304" pitchFamily="18" charset="0"/>
                <a:sym typeface="Symbol" panose="05050102010706020507" pitchFamily="18" charset="2"/>
              </a:rPr>
              <a:t></a:t>
            </a:r>
            <a:r>
              <a:rPr lang="en-US" altLang="zh-CN" sz="2400" b="1" i="1" baseline="-30000" dirty="0">
                <a:latin typeface="Trebuchet MS" panose="020B0603020202020204" pitchFamily="34" charset="0"/>
                <a:cs typeface="Times New Roman" panose="02020603050405020304" pitchFamily="18" charset="0"/>
              </a:rPr>
              <a:t>m</a:t>
            </a:r>
            <a:r>
              <a:rPr lang="en-US" altLang="zh-CN" sz="2400" b="1" dirty="0">
                <a:latin typeface="Trebuchet MS" panose="020B0603020202020204" pitchFamily="34" charset="0"/>
                <a:cs typeface="Times New Roman" panose="02020603050405020304" pitchFamily="18" charset="0"/>
              </a:rPr>
              <a:t>}</a:t>
            </a:r>
            <a:r>
              <a:rPr lang="en-US" sz="2400" dirty="0">
                <a:latin typeface="Trebuchet MS" panose="020B0603020202020204" pitchFamily="34" charset="0"/>
              </a:rPr>
              <a:t> are prefixes of one another, then B is called a </a:t>
            </a:r>
            <a:r>
              <a:rPr lang="en-US" sz="2400" b="1" i="1" dirty="0">
                <a:solidFill>
                  <a:srgbClr val="0B61FF"/>
                </a:solidFill>
                <a:latin typeface="Trebuchet MS" panose="020B0603020202020204" pitchFamily="34" charset="0"/>
              </a:rPr>
              <a:t>prefix code</a:t>
            </a:r>
            <a:r>
              <a:rPr lang="en-US" sz="2400" dirty="0">
                <a:latin typeface="Trebuchet MS" panose="020B0603020202020204" pitchFamily="34" charset="0"/>
              </a:rPr>
              <a:t>. </a:t>
            </a:r>
          </a:p>
          <a:p>
            <a:pPr marL="450850" indent="-271463">
              <a:lnSpc>
                <a:spcPct val="120000"/>
              </a:lnSpc>
              <a:spcBef>
                <a:spcPts val="300"/>
              </a:spcBef>
              <a:buClr>
                <a:srgbClr val="0B61FF"/>
              </a:buClr>
              <a:buSzPct val="120000"/>
              <a:tabLst>
                <a:tab pos="265113" algn="l"/>
              </a:tabLst>
            </a:pPr>
            <a:r>
              <a:rPr lang="en-US" sz="2400" dirty="0">
                <a:latin typeface="Trebuchet MS" panose="020B0603020202020204" pitchFamily="34" charset="0"/>
              </a:rPr>
              <a:t>A prefix code that uses only two symbols (e.g., 0 and 1) is called a </a:t>
            </a:r>
            <a:r>
              <a:rPr lang="en-US" sz="2400" b="1" i="1" dirty="0">
                <a:solidFill>
                  <a:srgbClr val="0B61FF"/>
                </a:solidFill>
                <a:latin typeface="Trebuchet MS" panose="020B0603020202020204" pitchFamily="34" charset="0"/>
              </a:rPr>
              <a:t>binary prefix code</a:t>
            </a:r>
            <a:r>
              <a:rPr lang="en-US" sz="2400" dirty="0">
                <a:latin typeface="Trebuchet MS" panose="020B0603020202020204" pitchFamily="34" charset="0"/>
              </a:rPr>
              <a:t>.</a:t>
            </a:r>
          </a:p>
          <a:p>
            <a:pPr eaLnBrk="1" hangingPunct="1">
              <a:lnSpc>
                <a:spcPct val="120000"/>
              </a:lnSpc>
              <a:spcBef>
                <a:spcPts val="300"/>
              </a:spcBef>
              <a:buClr>
                <a:srgbClr val="0B61FF"/>
              </a:buClr>
              <a:buSzPct val="80000"/>
              <a:buFont typeface="Wingdings" panose="05000000000000000000" pitchFamily="2" charset="2"/>
              <a:buChar char="n"/>
            </a:pPr>
            <a:r>
              <a:rPr lang="en-US" sz="2400" b="1" dirty="0">
                <a:latin typeface="Trebuchet MS" panose="020B0603020202020204" pitchFamily="34" charset="0"/>
              </a:rPr>
              <a:t>Examples </a:t>
            </a:r>
            <a:r>
              <a:rPr lang="en-US" altLang="zh-CN" sz="2400" b="1" dirty="0">
                <a:latin typeface="Trebuchet MS" panose="020B0603020202020204" pitchFamily="34" charset="0"/>
              </a:rPr>
              <a:t>:</a:t>
            </a:r>
            <a:r>
              <a:rPr lang="zh-CN" altLang="en-US" sz="2400" b="1" dirty="0">
                <a:latin typeface="Trebuchet MS" panose="020B0603020202020204" pitchFamily="34" charset="0"/>
              </a:rPr>
              <a:t>  </a:t>
            </a:r>
            <a:endParaRPr lang="en-US" altLang="zh-CN" sz="2400" b="1" dirty="0">
              <a:latin typeface="Trebuchet MS" panose="020B0603020202020204" pitchFamily="34" charset="0"/>
            </a:endParaRPr>
          </a:p>
          <a:p>
            <a:pPr indent="-49213" eaLnBrk="1" hangingPunct="1">
              <a:lnSpc>
                <a:spcPct val="120000"/>
              </a:lnSpc>
              <a:spcBef>
                <a:spcPts val="300"/>
              </a:spcBef>
              <a:buClr>
                <a:srgbClr val="0B61FF"/>
              </a:buClr>
              <a:buSzPct val="120000"/>
            </a:pPr>
            <a:r>
              <a:rPr lang="zh-CN" altLang="en-US" sz="2400" b="1" dirty="0">
                <a:latin typeface="Trebuchet MS" panose="020B0603020202020204" pitchFamily="34" charset="0"/>
              </a:rPr>
              <a:t> {0,10,110, 1111}, {10,01,001,110}</a:t>
            </a:r>
            <a:r>
              <a:rPr lang="en-US" sz="2400" dirty="0">
                <a:latin typeface="Trebuchet MS" panose="020B0603020202020204" pitchFamily="34" charset="0"/>
              </a:rPr>
              <a:t> are binary prefix codes.</a:t>
            </a:r>
          </a:p>
          <a:p>
            <a:pPr indent="-49213" eaLnBrk="1" hangingPunct="1">
              <a:lnSpc>
                <a:spcPct val="120000"/>
              </a:lnSpc>
              <a:spcBef>
                <a:spcPts val="300"/>
              </a:spcBef>
              <a:buClr>
                <a:srgbClr val="0B61FF"/>
              </a:buClr>
              <a:buSzPct val="120000"/>
            </a:pPr>
            <a:r>
              <a:rPr lang="zh-CN" altLang="en-US" sz="2400" b="1" dirty="0">
                <a:latin typeface="Trebuchet MS" panose="020B0603020202020204" pitchFamily="34" charset="0"/>
              </a:rPr>
              <a:t> {0,10,010, 1010} </a:t>
            </a:r>
            <a:r>
              <a:rPr lang="en-US" sz="2400" dirty="0">
                <a:latin typeface="Trebuchet MS" panose="020B0603020202020204" pitchFamily="34" charset="0"/>
              </a:rPr>
              <a:t>is </a:t>
            </a:r>
            <a:r>
              <a:rPr lang="en-US" sz="2400" b="1" dirty="0">
                <a:latin typeface="Trebuchet MS" panose="020B0603020202020204" pitchFamily="34" charset="0"/>
              </a:rPr>
              <a:t>not</a:t>
            </a:r>
            <a:r>
              <a:rPr lang="en-US" sz="2400" dirty="0">
                <a:latin typeface="Trebuchet MS" panose="020B0603020202020204" pitchFamily="34" charset="0"/>
              </a:rPr>
              <a:t> a prefix code.</a:t>
            </a:r>
            <a:endParaRPr lang="zh-CN" altLang="en-US" sz="2400" b="1" dirty="0">
              <a:latin typeface="Trebuchet MS" panose="020B0603020202020204" pitchFamily="34" charset="0"/>
            </a:endParaRPr>
          </a:p>
        </p:txBody>
      </p:sp>
    </p:spTree>
    <p:extLst>
      <p:ext uri="{BB962C8B-B14F-4D97-AF65-F5344CB8AC3E}">
        <p14:creationId xmlns:p14="http://schemas.microsoft.com/office/powerpoint/2010/main" val="1434615692"/>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8">
                                            <p:txEl>
                                              <p:pRg st="2" end="2"/>
                                            </p:txEl>
                                          </p:spTgt>
                                        </p:tgtEl>
                                        <p:attrNameLst>
                                          <p:attrName>style.visibility</p:attrName>
                                        </p:attrNameLst>
                                      </p:cBhvr>
                                      <p:to>
                                        <p:strVal val="visible"/>
                                      </p:to>
                                    </p:set>
                                    <p:animEffect transition="in" filter="fade">
                                      <p:cBhvr>
                                        <p:cTn id="7" dur="1000"/>
                                        <p:tgtEl>
                                          <p:spTgt spid="8">
                                            <p:txEl>
                                              <p:pRg st="2" end="2"/>
                                            </p:txEl>
                                          </p:spTgt>
                                        </p:tgtEl>
                                      </p:cBhvr>
                                    </p:animEffect>
                                    <p:anim calcmode="lin" valueType="num">
                                      <p:cBhvr>
                                        <p:cTn id="8" dur="1000" fill="hold"/>
                                        <p:tgtEl>
                                          <p:spTgt spid="8">
                                            <p:txEl>
                                              <p:pRg st="2" end="2"/>
                                            </p:txEl>
                                          </p:spTgt>
                                        </p:tgtEl>
                                        <p:attrNameLst>
                                          <p:attrName>ppt_x</p:attrName>
                                        </p:attrNameLst>
                                      </p:cBhvr>
                                      <p:tavLst>
                                        <p:tav tm="0">
                                          <p:val>
                                            <p:strVal val="#ppt_x"/>
                                          </p:val>
                                        </p:tav>
                                        <p:tav tm="100000">
                                          <p:val>
                                            <p:strVal val="#ppt_x"/>
                                          </p:val>
                                        </p:tav>
                                      </p:tavLst>
                                    </p:anim>
                                    <p:anim calcmode="lin" valueType="num">
                                      <p:cBhvr>
                                        <p:cTn id="9" dur="1000" fill="hold"/>
                                        <p:tgtEl>
                                          <p:spTgt spid="8">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8">
                                            <p:txEl>
                                              <p:pRg st="3" end="3"/>
                                            </p:txEl>
                                          </p:spTgt>
                                        </p:tgtEl>
                                        <p:attrNameLst>
                                          <p:attrName>style.visibility</p:attrName>
                                        </p:attrNameLst>
                                      </p:cBhvr>
                                      <p:to>
                                        <p:strVal val="visible"/>
                                      </p:to>
                                    </p:set>
                                    <p:animEffect transition="in" filter="fade">
                                      <p:cBhvr>
                                        <p:cTn id="14" dur="1000"/>
                                        <p:tgtEl>
                                          <p:spTgt spid="8">
                                            <p:txEl>
                                              <p:pRg st="3" end="3"/>
                                            </p:txEl>
                                          </p:spTgt>
                                        </p:tgtEl>
                                      </p:cBhvr>
                                    </p:animEffect>
                                    <p:anim calcmode="lin" valueType="num">
                                      <p:cBhvr>
                                        <p:cTn id="15" dur="1000" fill="hold"/>
                                        <p:tgtEl>
                                          <p:spTgt spid="8">
                                            <p:txEl>
                                              <p:pRg st="3" end="3"/>
                                            </p:txEl>
                                          </p:spTgt>
                                        </p:tgtEl>
                                        <p:attrNameLst>
                                          <p:attrName>ppt_x</p:attrName>
                                        </p:attrNameLst>
                                      </p:cBhvr>
                                      <p:tavLst>
                                        <p:tav tm="0">
                                          <p:val>
                                            <p:strVal val="#ppt_x"/>
                                          </p:val>
                                        </p:tav>
                                        <p:tav tm="100000">
                                          <p:val>
                                            <p:strVal val="#ppt_x"/>
                                          </p:val>
                                        </p:tav>
                                      </p:tavLst>
                                    </p:anim>
                                    <p:anim calcmode="lin" valueType="num">
                                      <p:cBhvr>
                                        <p:cTn id="16" dur="1000" fill="hold"/>
                                        <p:tgtEl>
                                          <p:spTgt spid="8">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nodeType="clickEffect">
                                  <p:stCondLst>
                                    <p:cond delay="0"/>
                                  </p:stCondLst>
                                  <p:childTnLst>
                                    <p:set>
                                      <p:cBhvr>
                                        <p:cTn id="20" dur="1" fill="hold">
                                          <p:stCondLst>
                                            <p:cond delay="0"/>
                                          </p:stCondLst>
                                        </p:cTn>
                                        <p:tgtEl>
                                          <p:spTgt spid="8">
                                            <p:txEl>
                                              <p:pRg st="4" end="4"/>
                                            </p:txEl>
                                          </p:spTgt>
                                        </p:tgtEl>
                                        <p:attrNameLst>
                                          <p:attrName>style.visibility</p:attrName>
                                        </p:attrNameLst>
                                      </p:cBhvr>
                                      <p:to>
                                        <p:strVal val="visible"/>
                                      </p:to>
                                    </p:set>
                                    <p:animEffect transition="in" filter="fade">
                                      <p:cBhvr>
                                        <p:cTn id="21" dur="1000"/>
                                        <p:tgtEl>
                                          <p:spTgt spid="8">
                                            <p:txEl>
                                              <p:pRg st="4" end="4"/>
                                            </p:txEl>
                                          </p:spTgt>
                                        </p:tgtEl>
                                      </p:cBhvr>
                                    </p:animEffect>
                                    <p:anim calcmode="lin" valueType="num">
                                      <p:cBhvr>
                                        <p:cTn id="22" dur="1000" fill="hold"/>
                                        <p:tgtEl>
                                          <p:spTgt spid="8">
                                            <p:txEl>
                                              <p:pRg st="4" end="4"/>
                                            </p:txEl>
                                          </p:spTgt>
                                        </p:tgtEl>
                                        <p:attrNameLst>
                                          <p:attrName>ppt_x</p:attrName>
                                        </p:attrNameLst>
                                      </p:cBhvr>
                                      <p:tavLst>
                                        <p:tav tm="0">
                                          <p:val>
                                            <p:strVal val="#ppt_x"/>
                                          </p:val>
                                        </p:tav>
                                        <p:tav tm="100000">
                                          <p:val>
                                            <p:strVal val="#ppt_x"/>
                                          </p:val>
                                        </p:tav>
                                      </p:tavLst>
                                    </p:anim>
                                    <p:anim calcmode="lin" valueType="num">
                                      <p:cBhvr>
                                        <p:cTn id="23" dur="1000" fill="hold"/>
                                        <p:tgtEl>
                                          <p:spTgt spid="8">
                                            <p:txEl>
                                              <p:pRg st="4" end="4"/>
                                            </p:txEl>
                                          </p:spTgt>
                                        </p:tgtEl>
                                        <p:attrNameLst>
                                          <p:attrName>ppt_y</p:attrName>
                                        </p:attrNameLst>
                                      </p:cBhvr>
                                      <p:tavLst>
                                        <p:tav tm="0">
                                          <p:val>
                                            <p:strVal val="#ppt_y+.1"/>
                                          </p:val>
                                        </p:tav>
                                        <p:tav tm="100000">
                                          <p:val>
                                            <p:strVal val="#ppt_y"/>
                                          </p:val>
                                        </p:tav>
                                      </p:tavLst>
                                    </p:anim>
                                  </p:childTnLst>
                                </p:cTn>
                              </p:par>
                              <p:par>
                                <p:cTn id="24" presetID="42" presetClass="entr" presetSubtype="0" fill="hold" nodeType="withEffect">
                                  <p:stCondLst>
                                    <p:cond delay="0"/>
                                  </p:stCondLst>
                                  <p:childTnLst>
                                    <p:set>
                                      <p:cBhvr>
                                        <p:cTn id="25" dur="1" fill="hold">
                                          <p:stCondLst>
                                            <p:cond delay="0"/>
                                          </p:stCondLst>
                                        </p:cTn>
                                        <p:tgtEl>
                                          <p:spTgt spid="8">
                                            <p:txEl>
                                              <p:pRg st="5" end="5"/>
                                            </p:txEl>
                                          </p:spTgt>
                                        </p:tgtEl>
                                        <p:attrNameLst>
                                          <p:attrName>style.visibility</p:attrName>
                                        </p:attrNameLst>
                                      </p:cBhvr>
                                      <p:to>
                                        <p:strVal val="visible"/>
                                      </p:to>
                                    </p:set>
                                    <p:animEffect transition="in" filter="fade">
                                      <p:cBhvr>
                                        <p:cTn id="26" dur="1000"/>
                                        <p:tgtEl>
                                          <p:spTgt spid="8">
                                            <p:txEl>
                                              <p:pRg st="5" end="5"/>
                                            </p:txEl>
                                          </p:spTgt>
                                        </p:tgtEl>
                                      </p:cBhvr>
                                    </p:animEffect>
                                    <p:anim calcmode="lin" valueType="num">
                                      <p:cBhvr>
                                        <p:cTn id="27" dur="1000" fill="hold"/>
                                        <p:tgtEl>
                                          <p:spTgt spid="8">
                                            <p:txEl>
                                              <p:pRg st="5" end="5"/>
                                            </p:txEl>
                                          </p:spTgt>
                                        </p:tgtEl>
                                        <p:attrNameLst>
                                          <p:attrName>ppt_x</p:attrName>
                                        </p:attrNameLst>
                                      </p:cBhvr>
                                      <p:tavLst>
                                        <p:tav tm="0">
                                          <p:val>
                                            <p:strVal val="#ppt_x"/>
                                          </p:val>
                                        </p:tav>
                                        <p:tav tm="100000">
                                          <p:val>
                                            <p:strVal val="#ppt_x"/>
                                          </p:val>
                                        </p:tav>
                                      </p:tavLst>
                                    </p:anim>
                                    <p:anim calcmode="lin" valueType="num">
                                      <p:cBhvr>
                                        <p:cTn id="28" dur="1000" fill="hold"/>
                                        <p:tgtEl>
                                          <p:spTgt spid="8">
                                            <p:txEl>
                                              <p:pRg st="5" end="5"/>
                                            </p:txEl>
                                          </p:spTgt>
                                        </p:tgtEl>
                                        <p:attrNameLst>
                                          <p:attrName>ppt_y</p:attrName>
                                        </p:attrNameLst>
                                      </p:cBhvr>
                                      <p:tavLst>
                                        <p:tav tm="0">
                                          <p:val>
                                            <p:strVal val="#ppt_y+.1"/>
                                          </p:val>
                                        </p:tav>
                                        <p:tav tm="100000">
                                          <p:val>
                                            <p:strVal val="#ppt_y"/>
                                          </p:val>
                                        </p:tav>
                                      </p:tavLst>
                                    </p:anim>
                                  </p:childTnLst>
                                </p:cTn>
                              </p:par>
                            </p:childTnLst>
                          </p:cTn>
                        </p:par>
                      </p:childTnLst>
                    </p:cTn>
                  </p:par>
                  <p:par>
                    <p:cTn id="29" fill="hold">
                      <p:stCondLst>
                        <p:cond delay="indefinite"/>
                      </p:stCondLst>
                      <p:childTnLst>
                        <p:par>
                          <p:cTn id="30" fill="hold">
                            <p:stCondLst>
                              <p:cond delay="0"/>
                            </p:stCondLst>
                            <p:childTnLst>
                              <p:par>
                                <p:cTn id="31" presetID="42" presetClass="entr" presetSubtype="0" fill="hold" nodeType="clickEffect">
                                  <p:stCondLst>
                                    <p:cond delay="0"/>
                                  </p:stCondLst>
                                  <p:childTnLst>
                                    <p:set>
                                      <p:cBhvr>
                                        <p:cTn id="32" dur="1" fill="hold">
                                          <p:stCondLst>
                                            <p:cond delay="0"/>
                                          </p:stCondLst>
                                        </p:cTn>
                                        <p:tgtEl>
                                          <p:spTgt spid="8">
                                            <p:txEl>
                                              <p:pRg st="6" end="6"/>
                                            </p:txEl>
                                          </p:spTgt>
                                        </p:tgtEl>
                                        <p:attrNameLst>
                                          <p:attrName>style.visibility</p:attrName>
                                        </p:attrNameLst>
                                      </p:cBhvr>
                                      <p:to>
                                        <p:strVal val="visible"/>
                                      </p:to>
                                    </p:set>
                                    <p:animEffect transition="in" filter="fade">
                                      <p:cBhvr>
                                        <p:cTn id="33" dur="1000"/>
                                        <p:tgtEl>
                                          <p:spTgt spid="8">
                                            <p:txEl>
                                              <p:pRg st="6" end="6"/>
                                            </p:txEl>
                                          </p:spTgt>
                                        </p:tgtEl>
                                      </p:cBhvr>
                                    </p:animEffect>
                                    <p:anim calcmode="lin" valueType="num">
                                      <p:cBhvr>
                                        <p:cTn id="34" dur="1000" fill="hold"/>
                                        <p:tgtEl>
                                          <p:spTgt spid="8">
                                            <p:txEl>
                                              <p:pRg st="6" end="6"/>
                                            </p:txEl>
                                          </p:spTgt>
                                        </p:tgtEl>
                                        <p:attrNameLst>
                                          <p:attrName>ppt_x</p:attrName>
                                        </p:attrNameLst>
                                      </p:cBhvr>
                                      <p:tavLst>
                                        <p:tav tm="0">
                                          <p:val>
                                            <p:strVal val="#ppt_x"/>
                                          </p:val>
                                        </p:tav>
                                        <p:tav tm="100000">
                                          <p:val>
                                            <p:strVal val="#ppt_x"/>
                                          </p:val>
                                        </p:tav>
                                      </p:tavLst>
                                    </p:anim>
                                    <p:anim calcmode="lin" valueType="num">
                                      <p:cBhvr>
                                        <p:cTn id="35" dur="1000" fill="hold"/>
                                        <p:tgtEl>
                                          <p:spTgt spid="8">
                                            <p:txEl>
                                              <p:pRg st="6" end="6"/>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0" y="0"/>
            <a:ext cx="12192000" cy="762000"/>
          </a:xfrm>
          <a:prstGeom prst="rect">
            <a:avLst/>
          </a:prstGeom>
          <a:solidFill>
            <a:srgbClr val="002F7C"/>
          </a:solidFill>
        </p:spPr>
        <p:style>
          <a:lnRef idx="2">
            <a:schemeClr val="dk1">
              <a:shade val="50000"/>
            </a:schemeClr>
          </a:lnRef>
          <a:fillRef idx="1">
            <a:schemeClr val="dk1"/>
          </a:fillRef>
          <a:effectRef idx="0">
            <a:schemeClr val="dk1"/>
          </a:effectRef>
          <a:fontRef idx="minor">
            <a:schemeClr val="lt1"/>
          </a:fontRef>
        </p:style>
        <p:txBody>
          <a:bodyPr rtlCol="0" anchor="ctr"/>
          <a:lstStyle/>
          <a:p>
            <a:pPr>
              <a:buClr>
                <a:srgbClr val="0B61FF"/>
              </a:buClr>
              <a:buSzPct val="80000"/>
            </a:pPr>
            <a:r>
              <a:rPr lang="zh-CN" altLang="en-US" sz="2000" b="1" dirty="0">
                <a:latin typeface="Times New Roman" panose="02020603050405020304" pitchFamily="18" charset="0"/>
                <a:ea typeface="宋体" panose="02010600030101010101" pitchFamily="2" charset="-122"/>
                <a:cs typeface="Times New Roman" panose="02020603050405020304" pitchFamily="18" charset="0"/>
              </a:rPr>
              <a:t>                </a:t>
            </a:r>
            <a:r>
              <a:rPr lang="en-US" altLang="zh-CN" sz="2000" b="1" dirty="0">
                <a:latin typeface="Trebuchet MS" panose="020B0603020202020204" pitchFamily="34" charset="0"/>
              </a:rPr>
              <a:t>7.2.3 Optimal Prefix Codes</a:t>
            </a:r>
          </a:p>
          <a:p>
            <a:pPr>
              <a:buClr>
                <a:srgbClr val="0B61FF"/>
              </a:buClr>
              <a:buSzPct val="80000"/>
            </a:pPr>
            <a:r>
              <a:rPr lang="en-US" altLang="zh-CN" sz="2000" b="1" dirty="0">
                <a:solidFill>
                  <a:srgbClr val="C00000"/>
                </a:solidFill>
                <a:latin typeface="Trebuchet MS" panose="020B0603020202020204" pitchFamily="34" charset="0"/>
                <a:ea typeface="Cambria Math" panose="02040503050406030204" pitchFamily="18" charset="0"/>
                <a:cs typeface="Times New Roman" panose="02020603050405020304" pitchFamily="18" charset="0"/>
              </a:rPr>
              <a:t>              </a:t>
            </a:r>
            <a:r>
              <a:rPr lang="en-US" altLang="zh-CN" sz="2400" b="1" dirty="0">
                <a:solidFill>
                  <a:srgbClr val="C00000"/>
                </a:solidFill>
                <a:latin typeface="Trebuchet MS" panose="020B0603020202020204" pitchFamily="34" charset="0"/>
                <a:ea typeface="Cambria Math" panose="02040503050406030204" pitchFamily="18" charset="0"/>
                <a:cs typeface="Times New Roman" panose="02020603050405020304" pitchFamily="18" charset="0"/>
              </a:rPr>
              <a:t>⤷</a:t>
            </a:r>
            <a:r>
              <a:rPr lang="zh-CN" altLang="en-US" sz="2400" b="1" dirty="0">
                <a:latin typeface="Trebuchet MS" panose="020B0603020202020204" pitchFamily="34" charset="0"/>
              </a:rPr>
              <a:t> </a:t>
            </a:r>
            <a:r>
              <a:rPr lang="en-US" altLang="zh-CN" sz="2400" b="1" dirty="0">
                <a:latin typeface="Trebuchet MS" panose="020B0603020202020204" pitchFamily="34" charset="0"/>
              </a:rPr>
              <a:t>Generating Binary Prefix Codes Using a Binary Tree</a:t>
            </a:r>
          </a:p>
        </p:txBody>
      </p:sp>
      <p:sp>
        <p:nvSpPr>
          <p:cNvPr id="13" name="矩形 12"/>
          <p:cNvSpPr/>
          <p:nvPr/>
        </p:nvSpPr>
        <p:spPr>
          <a:xfrm>
            <a:off x="824682" y="0"/>
            <a:ext cx="175443" cy="628650"/>
          </a:xfrm>
          <a:prstGeom prst="rect">
            <a:avLst/>
          </a:prstGeom>
          <a:solidFill>
            <a:srgbClr val="CFA57C"/>
          </a:solidFill>
          <a:ln cmpd="sng">
            <a:gradFill flip="none" rotWithShape="1">
              <a:gsLst>
                <a:gs pos="50000">
                  <a:schemeClr val="accent2">
                    <a:lumMod val="60000"/>
                    <a:lumOff val="40000"/>
                  </a:schemeClr>
                </a:gs>
                <a:gs pos="0">
                  <a:schemeClr val="accent2">
                    <a:lumMod val="20000"/>
                    <a:lumOff val="80000"/>
                  </a:schemeClr>
                </a:gs>
                <a:gs pos="95000">
                  <a:schemeClr val="accent2"/>
                </a:gs>
              </a:gsLst>
              <a:path path="circle">
                <a:fillToRect l="50000" t="-80000" r="50000" b="180000"/>
              </a:path>
              <a:tileRect/>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22" name="Picture 6" descr="D:\MBA工作\LOGO\同济经管LOGO反白.png"/>
          <p:cNvPicPr>
            <a:picLocks noChangeAspect="1" noChangeArrowheads="1"/>
          </p:cNvPicPr>
          <p:nvPr/>
        </p:nvPicPr>
        <p:blipFill>
          <a:blip r:embed="rId3" cstate="email">
            <a:extLst>
              <a:ext uri="{28A0092B-C50C-407E-A947-70E740481C1C}">
                <a14:useLocalDpi xmlns:a14="http://schemas.microsoft.com/office/drawing/2010/main" val="0"/>
              </a:ext>
            </a:extLst>
          </a:blip>
          <a:srcRect/>
          <a:stretch>
            <a:fillRect/>
          </a:stretch>
        </p:blipFill>
        <p:spPr bwMode="auto">
          <a:xfrm>
            <a:off x="10267423" y="165688"/>
            <a:ext cx="1386605" cy="462962"/>
          </a:xfrm>
          <a:prstGeom prst="rect">
            <a:avLst/>
          </a:prstGeom>
          <a:noFill/>
          <a:extLst>
            <a:ext uri="{909E8E84-426E-40DD-AFC4-6F175D3DCCD1}">
              <a14:hiddenFill xmlns:a14="http://schemas.microsoft.com/office/drawing/2010/main">
                <a:solidFill>
                  <a:srgbClr val="FFFFFF"/>
                </a:solidFill>
              </a14:hiddenFill>
            </a:ext>
          </a:extLst>
        </p:spPr>
      </p:pic>
      <p:pic>
        <p:nvPicPr>
          <p:cNvPr id="2" name="图片 1" descr="微信图片_20220318113523"/>
          <p:cNvPicPr>
            <a:picLocks noChangeAspect="1"/>
          </p:cNvPicPr>
          <p:nvPr userDrawn="1"/>
        </p:nvPicPr>
        <p:blipFill>
          <a:blip r:embed="rId4"/>
          <a:stretch>
            <a:fillRect/>
          </a:stretch>
        </p:blipFill>
        <p:spPr>
          <a:xfrm>
            <a:off x="9291877" y="6115050"/>
            <a:ext cx="2244725" cy="361315"/>
          </a:xfrm>
          <a:prstGeom prst="rect">
            <a:avLst/>
          </a:prstGeom>
        </p:spPr>
      </p:pic>
      <p:sp>
        <p:nvSpPr>
          <p:cNvPr id="18" name="Rectangle 2">
            <a:extLst>
              <a:ext uri="{FF2B5EF4-FFF2-40B4-BE49-F238E27FC236}">
                <a16:creationId xmlns:a16="http://schemas.microsoft.com/office/drawing/2014/main" id="{E217C615-1D49-4D07-B850-D36106D7AA9A}"/>
              </a:ext>
            </a:extLst>
          </p:cNvPr>
          <p:cNvSpPr>
            <a:spLocks noChangeArrowheads="1"/>
          </p:cNvSpPr>
          <p:nvPr/>
        </p:nvSpPr>
        <p:spPr bwMode="auto">
          <a:xfrm>
            <a:off x="1000125" y="815365"/>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8" name="Rectangle 3">
            <a:extLst>
              <a:ext uri="{FF2B5EF4-FFF2-40B4-BE49-F238E27FC236}">
                <a16:creationId xmlns:a16="http://schemas.microsoft.com/office/drawing/2014/main" id="{97F08C45-3D15-45C1-A5A3-D1EB58DC91FE}"/>
              </a:ext>
            </a:extLst>
          </p:cNvPr>
          <p:cNvSpPr txBox="1">
            <a:spLocks noChangeArrowheads="1"/>
          </p:cNvSpPr>
          <p:nvPr/>
        </p:nvSpPr>
        <p:spPr>
          <a:xfrm>
            <a:off x="1000125" y="914400"/>
            <a:ext cx="9877336" cy="5788025"/>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just" eaLnBrk="1" hangingPunct="1">
              <a:buFontTx/>
              <a:buNone/>
            </a:pPr>
            <a:endParaRPr lang="en-US" altLang="zh-CN" sz="2800" b="1" dirty="0">
              <a:solidFill>
                <a:srgbClr val="FF0000"/>
              </a:solidFill>
            </a:endParaRPr>
          </a:p>
        </p:txBody>
      </p:sp>
      <p:sp>
        <p:nvSpPr>
          <p:cNvPr id="9" name="Rectangle 3">
            <a:extLst>
              <a:ext uri="{FF2B5EF4-FFF2-40B4-BE49-F238E27FC236}">
                <a16:creationId xmlns:a16="http://schemas.microsoft.com/office/drawing/2014/main" id="{59E042D7-8225-4A86-8392-AC436630CBB8}"/>
              </a:ext>
            </a:extLst>
          </p:cNvPr>
          <p:cNvSpPr txBox="1">
            <a:spLocks noChangeArrowheads="1"/>
          </p:cNvSpPr>
          <p:nvPr/>
        </p:nvSpPr>
        <p:spPr>
          <a:xfrm>
            <a:off x="683528" y="699249"/>
            <a:ext cx="11012557" cy="3472068"/>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10000"/>
              </a:lnSpc>
              <a:spcBef>
                <a:spcPts val="300"/>
              </a:spcBef>
              <a:buClr>
                <a:srgbClr val="0B61FF"/>
              </a:buClr>
              <a:buSzPct val="80000"/>
              <a:buFont typeface="Wingdings" panose="05000000000000000000" pitchFamily="2" charset="2"/>
              <a:buChar char="n"/>
            </a:pPr>
            <a:r>
              <a:rPr lang="en-US" sz="2400" dirty="0">
                <a:latin typeface="Trebuchet MS" panose="020B0603020202020204" pitchFamily="34" charset="0"/>
              </a:rPr>
              <a:t>A binary tree can generate a set of </a:t>
            </a:r>
            <a:r>
              <a:rPr lang="en-US" sz="2400" b="1" i="1" dirty="0">
                <a:solidFill>
                  <a:srgbClr val="0B61FF"/>
                </a:solidFill>
                <a:latin typeface="Trebuchet MS" panose="020B0603020202020204" pitchFamily="34" charset="0"/>
              </a:rPr>
              <a:t>binary prefix codes</a:t>
            </a:r>
            <a:r>
              <a:rPr lang="en-US" sz="2400" dirty="0">
                <a:latin typeface="Trebuchet MS" panose="020B0603020202020204" pitchFamily="34" charset="0"/>
              </a:rPr>
              <a:t>:</a:t>
            </a:r>
          </a:p>
          <a:p>
            <a:pPr marL="0" indent="0">
              <a:lnSpc>
                <a:spcPct val="110000"/>
              </a:lnSpc>
              <a:spcBef>
                <a:spcPts val="300"/>
              </a:spcBef>
              <a:buNone/>
            </a:pPr>
            <a:r>
              <a:rPr lang="en-US" sz="2400" b="1" dirty="0">
                <a:solidFill>
                  <a:srgbClr val="0B61FF"/>
                </a:solidFill>
                <a:latin typeface="宋体" panose="02010600030101010101" pitchFamily="2" charset="-122"/>
                <a:ea typeface="宋体" panose="02010600030101010101" pitchFamily="2" charset="-122"/>
              </a:rPr>
              <a:t>①</a:t>
            </a:r>
            <a:r>
              <a:rPr lang="en-US" sz="2400" dirty="0">
                <a:latin typeface="Trebuchet MS" panose="020B0603020202020204" pitchFamily="34" charset="0"/>
              </a:rPr>
              <a:t>For each branching node, if it has two associated edges, label the </a:t>
            </a:r>
            <a:r>
              <a:rPr lang="en-US" sz="2400" b="1" dirty="0">
                <a:latin typeface="Trebuchet MS" panose="020B0603020202020204" pitchFamily="34" charset="0"/>
              </a:rPr>
              <a:t>left</a:t>
            </a:r>
            <a:r>
              <a:rPr lang="en-US" sz="2400" dirty="0">
                <a:latin typeface="Trebuchet MS" panose="020B0603020202020204" pitchFamily="34" charset="0"/>
              </a:rPr>
              <a:t> edge with </a:t>
            </a:r>
            <a:r>
              <a:rPr lang="en-US" sz="2400" b="1" dirty="0">
                <a:latin typeface="Trebuchet MS" panose="020B0603020202020204" pitchFamily="34" charset="0"/>
              </a:rPr>
              <a:t>0</a:t>
            </a:r>
            <a:r>
              <a:rPr lang="en-US" sz="2400" dirty="0">
                <a:latin typeface="Trebuchet MS" panose="020B0603020202020204" pitchFamily="34" charset="0"/>
              </a:rPr>
              <a:t> and the </a:t>
            </a:r>
            <a:r>
              <a:rPr lang="en-US" sz="2400" b="1" dirty="0">
                <a:latin typeface="Trebuchet MS" panose="020B0603020202020204" pitchFamily="34" charset="0"/>
              </a:rPr>
              <a:t>right</a:t>
            </a:r>
            <a:r>
              <a:rPr lang="en-US" sz="2400" dirty="0">
                <a:latin typeface="Trebuchet MS" panose="020B0603020202020204" pitchFamily="34" charset="0"/>
              </a:rPr>
              <a:t> edge with </a:t>
            </a:r>
            <a:r>
              <a:rPr lang="en-US" sz="2400" b="1" dirty="0">
                <a:latin typeface="Trebuchet MS" panose="020B0603020202020204" pitchFamily="34" charset="0"/>
              </a:rPr>
              <a:t>1</a:t>
            </a:r>
            <a:r>
              <a:rPr lang="en-US" sz="2400" dirty="0">
                <a:latin typeface="Trebuchet MS" panose="020B0603020202020204" pitchFamily="34" charset="0"/>
              </a:rPr>
              <a:t>.</a:t>
            </a:r>
          </a:p>
          <a:p>
            <a:pPr marL="0" indent="0">
              <a:lnSpc>
                <a:spcPct val="110000"/>
              </a:lnSpc>
              <a:spcBef>
                <a:spcPts val="300"/>
              </a:spcBef>
              <a:buNone/>
            </a:pPr>
            <a:r>
              <a:rPr lang="en-US" sz="2400" b="1" dirty="0">
                <a:solidFill>
                  <a:srgbClr val="0B61FF"/>
                </a:solidFill>
                <a:latin typeface="Trebuchet MS" panose="020B0603020202020204" pitchFamily="34" charset="0"/>
                <a:ea typeface="宋体" panose="02010600030101010101" pitchFamily="2" charset="-122"/>
              </a:rPr>
              <a:t>②</a:t>
            </a:r>
            <a:r>
              <a:rPr lang="en-US" sz="2400" dirty="0">
                <a:latin typeface="Trebuchet MS" panose="020B0603020202020204" pitchFamily="34" charset="0"/>
              </a:rPr>
              <a:t>If a branching node has only </a:t>
            </a:r>
            <a:r>
              <a:rPr lang="en-US" sz="2400" b="1" dirty="0">
                <a:latin typeface="Trebuchet MS" panose="020B0603020202020204" pitchFamily="34" charset="0"/>
              </a:rPr>
              <a:t>one</a:t>
            </a:r>
            <a:r>
              <a:rPr lang="en-US" sz="2400" dirty="0">
                <a:latin typeface="Trebuchet MS" panose="020B0603020202020204" pitchFamily="34" charset="0"/>
              </a:rPr>
              <a:t> associated edge, you may label it with either </a:t>
            </a:r>
            <a:r>
              <a:rPr lang="en-US" sz="2400" b="1" dirty="0">
                <a:latin typeface="Trebuchet MS" panose="020B0603020202020204" pitchFamily="34" charset="0"/>
              </a:rPr>
              <a:t>0</a:t>
            </a:r>
            <a:r>
              <a:rPr lang="en-US" sz="2400" dirty="0">
                <a:latin typeface="Trebuchet MS" panose="020B0603020202020204" pitchFamily="34" charset="0"/>
              </a:rPr>
              <a:t> (interpreted as left) or </a:t>
            </a:r>
            <a:r>
              <a:rPr lang="en-US" sz="2400" b="1" dirty="0">
                <a:latin typeface="Trebuchet MS" panose="020B0603020202020204" pitchFamily="34" charset="0"/>
              </a:rPr>
              <a:t>1</a:t>
            </a:r>
            <a:r>
              <a:rPr lang="en-US" sz="2400" dirty="0">
                <a:latin typeface="Trebuchet MS" panose="020B0603020202020204" pitchFamily="34" charset="0"/>
              </a:rPr>
              <a:t> (interpreted as right).</a:t>
            </a:r>
          </a:p>
          <a:p>
            <a:pPr marL="0" indent="0">
              <a:lnSpc>
                <a:spcPct val="110000"/>
              </a:lnSpc>
              <a:spcBef>
                <a:spcPts val="300"/>
              </a:spcBef>
              <a:buNone/>
            </a:pPr>
            <a:r>
              <a:rPr lang="en-US" sz="2400" b="1" dirty="0">
                <a:solidFill>
                  <a:srgbClr val="0B61FF"/>
                </a:solidFill>
                <a:latin typeface="Trebuchet MS" panose="020B0603020202020204" pitchFamily="34" charset="0"/>
                <a:ea typeface="宋体" panose="02010600030101010101" pitchFamily="2" charset="-122"/>
              </a:rPr>
              <a:t>③</a:t>
            </a:r>
            <a:r>
              <a:rPr lang="en-US" sz="2400" dirty="0">
                <a:latin typeface="Trebuchet MS" panose="020B0603020202020204" pitchFamily="34" charset="0"/>
              </a:rPr>
              <a:t>For each leaf, record the sequence of digits along the path from the root to that leaf. The resulting strings form a </a:t>
            </a:r>
            <a:r>
              <a:rPr lang="en-US" altLang="zh-CN" sz="2400" b="1" i="1" dirty="0">
                <a:solidFill>
                  <a:srgbClr val="0B61FF"/>
                </a:solidFill>
                <a:latin typeface="Trebuchet MS" panose="020B0603020202020204" pitchFamily="34" charset="0"/>
              </a:rPr>
              <a:t>binary </a:t>
            </a:r>
            <a:r>
              <a:rPr lang="en-US" sz="2400" b="1" i="1" dirty="0">
                <a:solidFill>
                  <a:srgbClr val="0B61FF"/>
                </a:solidFill>
                <a:latin typeface="Trebuchet MS" panose="020B0603020202020204" pitchFamily="34" charset="0"/>
              </a:rPr>
              <a:t>prefix code</a:t>
            </a:r>
            <a:r>
              <a:rPr lang="en-US" sz="2400" dirty="0">
                <a:latin typeface="Trebuchet MS" panose="020B0603020202020204" pitchFamily="34" charset="0"/>
              </a:rPr>
              <a:t>.</a:t>
            </a:r>
          </a:p>
          <a:p>
            <a:pPr algn="just">
              <a:lnSpc>
                <a:spcPct val="110000"/>
              </a:lnSpc>
              <a:spcBef>
                <a:spcPts val="300"/>
              </a:spcBef>
              <a:buClr>
                <a:srgbClr val="0B61FF"/>
              </a:buClr>
              <a:buSzPct val="80000"/>
              <a:buFont typeface="Wingdings" panose="05000000000000000000" pitchFamily="2" charset="2"/>
              <a:buChar char="n"/>
            </a:pPr>
            <a:r>
              <a:rPr lang="en-US" altLang="zh-CN" sz="2400" b="1" dirty="0">
                <a:latin typeface="Trebuchet MS" panose="020B0603020202020204" pitchFamily="34" charset="0"/>
              </a:rPr>
              <a:t>Examples :</a:t>
            </a:r>
            <a:r>
              <a:rPr lang="zh-CN" altLang="en-US" sz="2400" b="1" dirty="0">
                <a:latin typeface="Trebuchet MS" panose="020B0603020202020204" pitchFamily="34" charset="0"/>
              </a:rPr>
              <a:t>  </a:t>
            </a:r>
            <a:endParaRPr lang="en-US" altLang="zh-CN" sz="2400" b="1" dirty="0">
              <a:latin typeface="Trebuchet MS" panose="020B0603020202020204" pitchFamily="34" charset="0"/>
            </a:endParaRPr>
          </a:p>
          <a:p>
            <a:pPr marL="0" indent="0" algn="just">
              <a:lnSpc>
                <a:spcPct val="110000"/>
              </a:lnSpc>
              <a:buNone/>
            </a:pPr>
            <a:endParaRPr lang="en-US" altLang="zh-CN" b="1" dirty="0">
              <a:latin typeface="Times New Roman" panose="02020603050405020304" pitchFamily="18" charset="0"/>
              <a:cs typeface="Times New Roman" panose="02020603050405020304" pitchFamily="18" charset="0"/>
            </a:endParaRPr>
          </a:p>
          <a:p>
            <a:pPr marL="0" indent="0" algn="just">
              <a:lnSpc>
                <a:spcPct val="110000"/>
              </a:lnSpc>
              <a:buNone/>
            </a:pPr>
            <a:endParaRPr lang="zh-CN" altLang="en-US" b="1" dirty="0">
              <a:latin typeface="Times New Roman" panose="02020603050405020304" pitchFamily="18" charset="0"/>
              <a:cs typeface="Times New Roman" panose="02020603050405020304" pitchFamily="18" charset="0"/>
            </a:endParaRPr>
          </a:p>
        </p:txBody>
      </p:sp>
      <p:pic>
        <p:nvPicPr>
          <p:cNvPr id="16" name="Picture 8" descr="9T10a">
            <a:extLst>
              <a:ext uri="{FF2B5EF4-FFF2-40B4-BE49-F238E27FC236}">
                <a16:creationId xmlns:a16="http://schemas.microsoft.com/office/drawing/2014/main" id="{41F88135-E3D9-404D-89BC-B1B7C966CC4A}"/>
              </a:ext>
            </a:extLst>
          </p:cNvPr>
          <p:cNvPicPr>
            <a:picLocks noChangeAspect="1" noChangeArrowheads="1"/>
          </p:cNvPicPr>
          <p:nvPr/>
        </p:nvPicPr>
        <p:blipFill>
          <a:blip r:embed="rId5" cstate="print">
            <a:extLst>
              <a:ext uri="{28A0092B-C50C-407E-A947-70E740481C1C}">
                <a14:useLocalDpi xmlns:a14="http://schemas.microsoft.com/office/drawing/2010/main" val="0"/>
              </a:ext>
            </a:extLst>
          </a:blip>
          <a:srcRect t="4201" r="2298" b="17175"/>
          <a:stretch>
            <a:fillRect/>
          </a:stretch>
        </p:blipFill>
        <p:spPr bwMode="auto">
          <a:xfrm>
            <a:off x="765048" y="4171317"/>
            <a:ext cx="6544982" cy="2232993"/>
          </a:xfrm>
          <a:prstGeom prst="rect">
            <a:avLst/>
          </a:prstGeom>
          <a:noFill/>
          <a:ln>
            <a:noFill/>
          </a:ln>
        </p:spPr>
      </p:pic>
      <p:sp>
        <p:nvSpPr>
          <p:cNvPr id="17" name="Text Box 6">
            <a:extLst>
              <a:ext uri="{FF2B5EF4-FFF2-40B4-BE49-F238E27FC236}">
                <a16:creationId xmlns:a16="http://schemas.microsoft.com/office/drawing/2014/main" id="{8531D522-B243-40FD-B028-6BD4FF4A1212}"/>
              </a:ext>
            </a:extLst>
          </p:cNvPr>
          <p:cNvSpPr txBox="1">
            <a:spLocks noChangeArrowheads="1"/>
          </p:cNvSpPr>
          <p:nvPr/>
        </p:nvSpPr>
        <p:spPr bwMode="auto">
          <a:xfrm>
            <a:off x="7369664" y="4313667"/>
            <a:ext cx="4326421" cy="16728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a14:hiddenLine>
            </a:ext>
          </a:extLst>
        </p:spPr>
        <p:txBody>
          <a:bodyPr wrap="square">
            <a:no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nSpc>
                <a:spcPct val="120000"/>
              </a:lnSpc>
              <a:spcBef>
                <a:spcPts val="600"/>
              </a:spcBef>
              <a:buNone/>
            </a:pPr>
            <a:r>
              <a:rPr lang="en-US" sz="2400" b="1" dirty="0">
                <a:latin typeface="Trebuchet MS" panose="020B0603020202020204" pitchFamily="34" charset="0"/>
              </a:rPr>
              <a:t>Prefix Code </a:t>
            </a:r>
            <a:r>
              <a:rPr kumimoji="0" lang="zh-CN" altLang="en-US" sz="2400" b="1" dirty="0">
                <a:latin typeface="Trebuchet MS" panose="020B0603020202020204" pitchFamily="34" charset="0"/>
              </a:rPr>
              <a:t>：</a:t>
            </a:r>
            <a:endParaRPr kumimoji="0" lang="en-US" altLang="zh-CN" sz="2400" b="1" dirty="0">
              <a:latin typeface="Trebuchet MS" panose="020B0603020202020204" pitchFamily="34" charset="0"/>
            </a:endParaRPr>
          </a:p>
          <a:p>
            <a:pPr>
              <a:lnSpc>
                <a:spcPct val="120000"/>
              </a:lnSpc>
              <a:spcBef>
                <a:spcPts val="600"/>
              </a:spcBef>
              <a:buNone/>
            </a:pPr>
            <a:r>
              <a:rPr kumimoji="0" lang="zh-CN" altLang="en-US" sz="2400" b="1" dirty="0">
                <a:latin typeface="Trebuchet MS" panose="020B0603020202020204" pitchFamily="34" charset="0"/>
              </a:rPr>
              <a:t>{00, 11, 011, 0100 , 010</a:t>
            </a:r>
            <a:r>
              <a:rPr kumimoji="0" lang="en-US" altLang="zh-CN" sz="2400" b="1" dirty="0">
                <a:latin typeface="Trebuchet MS" panose="020B0603020202020204" pitchFamily="34" charset="0"/>
              </a:rPr>
              <a:t>1</a:t>
            </a:r>
            <a:r>
              <a:rPr kumimoji="0" lang="zh-CN" altLang="en-US" sz="2400" b="1" dirty="0">
                <a:latin typeface="Trebuchet MS" panose="020B0603020202020204" pitchFamily="34" charset="0"/>
              </a:rPr>
              <a:t>}， {00, 1</a:t>
            </a:r>
            <a:r>
              <a:rPr kumimoji="0" lang="en-US" altLang="zh-CN" sz="2400" b="1" dirty="0">
                <a:latin typeface="Trebuchet MS" panose="020B0603020202020204" pitchFamily="34" charset="0"/>
              </a:rPr>
              <a:t>0</a:t>
            </a:r>
            <a:r>
              <a:rPr kumimoji="0" lang="zh-CN" altLang="en-US" sz="2400" b="1" dirty="0">
                <a:latin typeface="Trebuchet MS" panose="020B0603020202020204" pitchFamily="34" charset="0"/>
              </a:rPr>
              <a:t>, 011, 0100 , 010</a:t>
            </a:r>
            <a:r>
              <a:rPr kumimoji="0" lang="en-US" altLang="zh-CN" sz="2400" b="1" dirty="0">
                <a:latin typeface="Trebuchet MS" panose="020B0603020202020204" pitchFamily="34" charset="0"/>
              </a:rPr>
              <a:t>1</a:t>
            </a:r>
            <a:r>
              <a:rPr kumimoji="0" lang="zh-CN" altLang="en-US" sz="2400" b="1" dirty="0"/>
              <a:t>}</a:t>
            </a:r>
          </a:p>
        </p:txBody>
      </p:sp>
    </p:spTree>
    <p:extLst>
      <p:ext uri="{BB962C8B-B14F-4D97-AF65-F5344CB8AC3E}">
        <p14:creationId xmlns:p14="http://schemas.microsoft.com/office/powerpoint/2010/main" val="1827420974"/>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9">
                                            <p:txEl>
                                              <p:pRg st="2" end="2"/>
                                            </p:txEl>
                                          </p:spTgt>
                                        </p:tgtEl>
                                        <p:attrNameLst>
                                          <p:attrName>style.visibility</p:attrName>
                                        </p:attrNameLst>
                                      </p:cBhvr>
                                      <p:to>
                                        <p:strVal val="visible"/>
                                      </p:to>
                                    </p:set>
                                    <p:animEffect transition="in" filter="fade">
                                      <p:cBhvr>
                                        <p:cTn id="7" dur="1000"/>
                                        <p:tgtEl>
                                          <p:spTgt spid="9">
                                            <p:txEl>
                                              <p:pRg st="2" end="2"/>
                                            </p:txEl>
                                          </p:spTgt>
                                        </p:tgtEl>
                                      </p:cBhvr>
                                    </p:animEffect>
                                    <p:anim calcmode="lin" valueType="num">
                                      <p:cBhvr>
                                        <p:cTn id="8" dur="1000" fill="hold"/>
                                        <p:tgtEl>
                                          <p:spTgt spid="9">
                                            <p:txEl>
                                              <p:pRg st="2" end="2"/>
                                            </p:txEl>
                                          </p:spTgt>
                                        </p:tgtEl>
                                        <p:attrNameLst>
                                          <p:attrName>ppt_x</p:attrName>
                                        </p:attrNameLst>
                                      </p:cBhvr>
                                      <p:tavLst>
                                        <p:tav tm="0">
                                          <p:val>
                                            <p:strVal val="#ppt_x"/>
                                          </p:val>
                                        </p:tav>
                                        <p:tav tm="100000">
                                          <p:val>
                                            <p:strVal val="#ppt_x"/>
                                          </p:val>
                                        </p:tav>
                                      </p:tavLst>
                                    </p:anim>
                                    <p:anim calcmode="lin" valueType="num">
                                      <p:cBhvr>
                                        <p:cTn id="9" dur="1000" fill="hold"/>
                                        <p:tgtEl>
                                          <p:spTgt spid="9">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9">
                                            <p:txEl>
                                              <p:pRg st="3" end="3"/>
                                            </p:txEl>
                                          </p:spTgt>
                                        </p:tgtEl>
                                        <p:attrNameLst>
                                          <p:attrName>style.visibility</p:attrName>
                                        </p:attrNameLst>
                                      </p:cBhvr>
                                      <p:to>
                                        <p:strVal val="visible"/>
                                      </p:to>
                                    </p:set>
                                    <p:animEffect transition="in" filter="fade">
                                      <p:cBhvr>
                                        <p:cTn id="14" dur="1000"/>
                                        <p:tgtEl>
                                          <p:spTgt spid="9">
                                            <p:txEl>
                                              <p:pRg st="3" end="3"/>
                                            </p:txEl>
                                          </p:spTgt>
                                        </p:tgtEl>
                                      </p:cBhvr>
                                    </p:animEffect>
                                    <p:anim calcmode="lin" valueType="num">
                                      <p:cBhvr>
                                        <p:cTn id="15" dur="1000" fill="hold"/>
                                        <p:tgtEl>
                                          <p:spTgt spid="9">
                                            <p:txEl>
                                              <p:pRg st="3" end="3"/>
                                            </p:txEl>
                                          </p:spTgt>
                                        </p:tgtEl>
                                        <p:attrNameLst>
                                          <p:attrName>ppt_x</p:attrName>
                                        </p:attrNameLst>
                                      </p:cBhvr>
                                      <p:tavLst>
                                        <p:tav tm="0">
                                          <p:val>
                                            <p:strVal val="#ppt_x"/>
                                          </p:val>
                                        </p:tav>
                                        <p:tav tm="100000">
                                          <p:val>
                                            <p:strVal val="#ppt_x"/>
                                          </p:val>
                                        </p:tav>
                                      </p:tavLst>
                                    </p:anim>
                                    <p:anim calcmode="lin" valueType="num">
                                      <p:cBhvr>
                                        <p:cTn id="16" dur="1000" fill="hold"/>
                                        <p:tgtEl>
                                          <p:spTgt spid="9">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nodeType="clickEffect">
                                  <p:stCondLst>
                                    <p:cond delay="0"/>
                                  </p:stCondLst>
                                  <p:childTnLst>
                                    <p:set>
                                      <p:cBhvr>
                                        <p:cTn id="20" dur="1" fill="hold">
                                          <p:stCondLst>
                                            <p:cond delay="0"/>
                                          </p:stCondLst>
                                        </p:cTn>
                                        <p:tgtEl>
                                          <p:spTgt spid="9">
                                            <p:txEl>
                                              <p:pRg st="4" end="4"/>
                                            </p:txEl>
                                          </p:spTgt>
                                        </p:tgtEl>
                                        <p:attrNameLst>
                                          <p:attrName>style.visibility</p:attrName>
                                        </p:attrNameLst>
                                      </p:cBhvr>
                                      <p:to>
                                        <p:strVal val="visible"/>
                                      </p:to>
                                    </p:set>
                                    <p:animEffect transition="in" filter="fade">
                                      <p:cBhvr>
                                        <p:cTn id="21" dur="1000"/>
                                        <p:tgtEl>
                                          <p:spTgt spid="9">
                                            <p:txEl>
                                              <p:pRg st="4" end="4"/>
                                            </p:txEl>
                                          </p:spTgt>
                                        </p:tgtEl>
                                      </p:cBhvr>
                                    </p:animEffect>
                                    <p:anim calcmode="lin" valueType="num">
                                      <p:cBhvr>
                                        <p:cTn id="22" dur="1000" fill="hold"/>
                                        <p:tgtEl>
                                          <p:spTgt spid="9">
                                            <p:txEl>
                                              <p:pRg st="4" end="4"/>
                                            </p:txEl>
                                          </p:spTgt>
                                        </p:tgtEl>
                                        <p:attrNameLst>
                                          <p:attrName>ppt_x</p:attrName>
                                        </p:attrNameLst>
                                      </p:cBhvr>
                                      <p:tavLst>
                                        <p:tav tm="0">
                                          <p:val>
                                            <p:strVal val="#ppt_x"/>
                                          </p:val>
                                        </p:tav>
                                        <p:tav tm="100000">
                                          <p:val>
                                            <p:strVal val="#ppt_x"/>
                                          </p:val>
                                        </p:tav>
                                      </p:tavLst>
                                    </p:anim>
                                    <p:anim calcmode="lin" valueType="num">
                                      <p:cBhvr>
                                        <p:cTn id="23" dur="1000" fill="hold"/>
                                        <p:tgtEl>
                                          <p:spTgt spid="9">
                                            <p:txEl>
                                              <p:pRg st="4" end="4"/>
                                            </p:txEl>
                                          </p:spTgt>
                                        </p:tgtEl>
                                        <p:attrNameLst>
                                          <p:attrName>ppt_y</p:attrName>
                                        </p:attrNameLst>
                                      </p:cBhvr>
                                      <p:tavLst>
                                        <p:tav tm="0">
                                          <p:val>
                                            <p:strVal val="#ppt_y+.1"/>
                                          </p:val>
                                        </p:tav>
                                        <p:tav tm="100000">
                                          <p:val>
                                            <p:strVal val="#ppt_y"/>
                                          </p:val>
                                        </p:tav>
                                      </p:tavLst>
                                    </p:anim>
                                  </p:childTnLst>
                                </p:cTn>
                              </p:par>
                              <p:par>
                                <p:cTn id="24" presetID="42" presetClass="entr" presetSubtype="0" fill="hold" nodeType="withEffect">
                                  <p:stCondLst>
                                    <p:cond delay="0"/>
                                  </p:stCondLst>
                                  <p:childTnLst>
                                    <p:set>
                                      <p:cBhvr>
                                        <p:cTn id="25" dur="1" fill="hold">
                                          <p:stCondLst>
                                            <p:cond delay="0"/>
                                          </p:stCondLst>
                                        </p:cTn>
                                        <p:tgtEl>
                                          <p:spTgt spid="16"/>
                                        </p:tgtEl>
                                        <p:attrNameLst>
                                          <p:attrName>style.visibility</p:attrName>
                                        </p:attrNameLst>
                                      </p:cBhvr>
                                      <p:to>
                                        <p:strVal val="visible"/>
                                      </p:to>
                                    </p:set>
                                    <p:animEffect transition="in" filter="fade">
                                      <p:cBhvr>
                                        <p:cTn id="26" dur="1000"/>
                                        <p:tgtEl>
                                          <p:spTgt spid="16"/>
                                        </p:tgtEl>
                                      </p:cBhvr>
                                    </p:animEffect>
                                    <p:anim calcmode="lin" valueType="num">
                                      <p:cBhvr>
                                        <p:cTn id="27" dur="1000" fill="hold"/>
                                        <p:tgtEl>
                                          <p:spTgt spid="16"/>
                                        </p:tgtEl>
                                        <p:attrNameLst>
                                          <p:attrName>ppt_x</p:attrName>
                                        </p:attrNameLst>
                                      </p:cBhvr>
                                      <p:tavLst>
                                        <p:tav tm="0">
                                          <p:val>
                                            <p:strVal val="#ppt_x"/>
                                          </p:val>
                                        </p:tav>
                                        <p:tav tm="100000">
                                          <p:val>
                                            <p:strVal val="#ppt_x"/>
                                          </p:val>
                                        </p:tav>
                                      </p:tavLst>
                                    </p:anim>
                                    <p:anim calcmode="lin" valueType="num">
                                      <p:cBhvr>
                                        <p:cTn id="28" dur="1000" fill="hold"/>
                                        <p:tgtEl>
                                          <p:spTgt spid="16"/>
                                        </p:tgtEl>
                                        <p:attrNameLst>
                                          <p:attrName>ppt_y</p:attrName>
                                        </p:attrNameLst>
                                      </p:cBhvr>
                                      <p:tavLst>
                                        <p:tav tm="0">
                                          <p:val>
                                            <p:strVal val="#ppt_y+.1"/>
                                          </p:val>
                                        </p:tav>
                                        <p:tav tm="100000">
                                          <p:val>
                                            <p:strVal val="#ppt_y"/>
                                          </p:val>
                                        </p:tav>
                                      </p:tavLst>
                                    </p:anim>
                                  </p:childTnLst>
                                </p:cTn>
                              </p:par>
                            </p:childTnLst>
                          </p:cTn>
                        </p:par>
                      </p:childTnLst>
                    </p:cTn>
                  </p:par>
                  <p:par>
                    <p:cTn id="29" fill="hold">
                      <p:stCondLst>
                        <p:cond delay="indefinite"/>
                      </p:stCondLst>
                      <p:childTnLst>
                        <p:par>
                          <p:cTn id="30" fill="hold">
                            <p:stCondLst>
                              <p:cond delay="0"/>
                            </p:stCondLst>
                            <p:childTnLst>
                              <p:par>
                                <p:cTn id="31" presetID="42" presetClass="entr" presetSubtype="0" fill="hold" grpId="0" nodeType="clickEffect">
                                  <p:stCondLst>
                                    <p:cond delay="0"/>
                                  </p:stCondLst>
                                  <p:childTnLst>
                                    <p:set>
                                      <p:cBhvr>
                                        <p:cTn id="32" dur="1" fill="hold">
                                          <p:stCondLst>
                                            <p:cond delay="0"/>
                                          </p:stCondLst>
                                        </p:cTn>
                                        <p:tgtEl>
                                          <p:spTgt spid="17"/>
                                        </p:tgtEl>
                                        <p:attrNameLst>
                                          <p:attrName>style.visibility</p:attrName>
                                        </p:attrNameLst>
                                      </p:cBhvr>
                                      <p:to>
                                        <p:strVal val="visible"/>
                                      </p:to>
                                    </p:set>
                                    <p:animEffect transition="in" filter="fade">
                                      <p:cBhvr>
                                        <p:cTn id="33" dur="1000"/>
                                        <p:tgtEl>
                                          <p:spTgt spid="17"/>
                                        </p:tgtEl>
                                      </p:cBhvr>
                                    </p:animEffect>
                                    <p:anim calcmode="lin" valueType="num">
                                      <p:cBhvr>
                                        <p:cTn id="34" dur="1000" fill="hold"/>
                                        <p:tgtEl>
                                          <p:spTgt spid="17"/>
                                        </p:tgtEl>
                                        <p:attrNameLst>
                                          <p:attrName>ppt_x</p:attrName>
                                        </p:attrNameLst>
                                      </p:cBhvr>
                                      <p:tavLst>
                                        <p:tav tm="0">
                                          <p:val>
                                            <p:strVal val="#ppt_x"/>
                                          </p:val>
                                        </p:tav>
                                        <p:tav tm="100000">
                                          <p:val>
                                            <p:strVal val="#ppt_x"/>
                                          </p:val>
                                        </p:tav>
                                      </p:tavLst>
                                    </p:anim>
                                    <p:anim calcmode="lin" valueType="num">
                                      <p:cBhvr>
                                        <p:cTn id="35" dur="1000" fill="hold"/>
                                        <p:tgtEl>
                                          <p:spTgt spid="17"/>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p:bld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0" y="0"/>
            <a:ext cx="12192000" cy="762000"/>
          </a:xfrm>
          <a:prstGeom prst="rect">
            <a:avLst/>
          </a:prstGeom>
          <a:solidFill>
            <a:srgbClr val="002F7C"/>
          </a:solidFill>
        </p:spPr>
        <p:style>
          <a:lnRef idx="2">
            <a:schemeClr val="dk1">
              <a:shade val="50000"/>
            </a:schemeClr>
          </a:lnRef>
          <a:fillRef idx="1">
            <a:schemeClr val="dk1"/>
          </a:fillRef>
          <a:effectRef idx="0">
            <a:schemeClr val="dk1"/>
          </a:effectRef>
          <a:fontRef idx="minor">
            <a:schemeClr val="lt1"/>
          </a:fontRef>
        </p:style>
        <p:txBody>
          <a:bodyPr rtlCol="0" anchor="ctr"/>
          <a:lstStyle/>
          <a:p>
            <a:pPr>
              <a:buClr>
                <a:srgbClr val="0B61FF"/>
              </a:buClr>
              <a:buSzPct val="80000"/>
            </a:pPr>
            <a:r>
              <a:rPr lang="zh-CN" altLang="en-US" sz="2000" b="1" dirty="0">
                <a:latin typeface="Times New Roman" panose="02020603050405020304" pitchFamily="18" charset="0"/>
                <a:ea typeface="宋体" panose="02010600030101010101" pitchFamily="2" charset="-122"/>
                <a:cs typeface="Times New Roman" panose="02020603050405020304" pitchFamily="18" charset="0"/>
              </a:rPr>
              <a:t>               </a:t>
            </a:r>
            <a:r>
              <a:rPr lang="en-US" altLang="zh-CN" sz="2000" b="1" dirty="0">
                <a:latin typeface="Trebuchet MS" panose="020B0603020202020204" pitchFamily="34" charset="0"/>
              </a:rPr>
              <a:t>7.2.3 Optimal Prefix Codes</a:t>
            </a:r>
          </a:p>
          <a:p>
            <a:pPr>
              <a:buClr>
                <a:srgbClr val="0B61FF"/>
              </a:buClr>
              <a:buSzPct val="80000"/>
            </a:pPr>
            <a:r>
              <a:rPr lang="en-US" altLang="zh-CN" b="1" dirty="0">
                <a:solidFill>
                  <a:srgbClr val="C00000"/>
                </a:solidFill>
                <a:latin typeface="Trebuchet MS" panose="020B0603020202020204" pitchFamily="34" charset="0"/>
                <a:ea typeface="Cambria Math" panose="02040503050406030204" pitchFamily="18" charset="0"/>
                <a:cs typeface="Times New Roman" panose="02020603050405020304" pitchFamily="18" charset="0"/>
              </a:rPr>
              <a:t>                 </a:t>
            </a:r>
            <a:r>
              <a:rPr lang="en-US" altLang="zh-CN" sz="2400" b="1" dirty="0">
                <a:solidFill>
                  <a:srgbClr val="C00000"/>
                </a:solidFill>
                <a:latin typeface="Trebuchet MS" panose="020B0603020202020204" pitchFamily="34" charset="0"/>
                <a:ea typeface="Cambria Math" panose="02040503050406030204" pitchFamily="18" charset="0"/>
                <a:cs typeface="Times New Roman" panose="02020603050405020304" pitchFamily="18" charset="0"/>
              </a:rPr>
              <a:t>⤷</a:t>
            </a:r>
            <a:r>
              <a:rPr lang="zh-CN" altLang="en-US" sz="2400" b="1" dirty="0">
                <a:latin typeface="Trebuchet MS" panose="020B0603020202020204" pitchFamily="34" charset="0"/>
              </a:rPr>
              <a:t> </a:t>
            </a:r>
            <a:r>
              <a:rPr lang="en-US" altLang="zh-CN" sz="2400" b="1" dirty="0">
                <a:latin typeface="Trebuchet MS" panose="020B0603020202020204" pitchFamily="34" charset="0"/>
              </a:rPr>
              <a:t>Examples of Binary Prefix Code Applications</a:t>
            </a:r>
          </a:p>
        </p:txBody>
      </p:sp>
      <p:sp>
        <p:nvSpPr>
          <p:cNvPr id="13" name="矩形 12"/>
          <p:cNvSpPr/>
          <p:nvPr/>
        </p:nvSpPr>
        <p:spPr>
          <a:xfrm>
            <a:off x="824682" y="0"/>
            <a:ext cx="175443" cy="628650"/>
          </a:xfrm>
          <a:prstGeom prst="rect">
            <a:avLst/>
          </a:prstGeom>
          <a:solidFill>
            <a:srgbClr val="CFA57C"/>
          </a:solidFill>
          <a:ln cmpd="sng">
            <a:gradFill flip="none" rotWithShape="1">
              <a:gsLst>
                <a:gs pos="50000">
                  <a:schemeClr val="accent2">
                    <a:lumMod val="60000"/>
                    <a:lumOff val="40000"/>
                  </a:schemeClr>
                </a:gs>
                <a:gs pos="0">
                  <a:schemeClr val="accent2">
                    <a:lumMod val="20000"/>
                    <a:lumOff val="80000"/>
                  </a:schemeClr>
                </a:gs>
                <a:gs pos="95000">
                  <a:schemeClr val="accent2"/>
                </a:gs>
              </a:gsLst>
              <a:path path="circle">
                <a:fillToRect l="50000" t="-80000" r="50000" b="180000"/>
              </a:path>
              <a:tileRect/>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22" name="Picture 6" descr="D:\MBA工作\LOGO\同济经管LOGO反白.png"/>
          <p:cNvPicPr>
            <a:picLocks noChangeAspect="1" noChangeArrowheads="1"/>
          </p:cNvPicPr>
          <p:nvPr/>
        </p:nvPicPr>
        <p:blipFill>
          <a:blip r:embed="rId3" cstate="email">
            <a:extLst>
              <a:ext uri="{28A0092B-C50C-407E-A947-70E740481C1C}">
                <a14:useLocalDpi xmlns:a14="http://schemas.microsoft.com/office/drawing/2010/main" val="0"/>
              </a:ext>
            </a:extLst>
          </a:blip>
          <a:srcRect/>
          <a:stretch>
            <a:fillRect/>
          </a:stretch>
        </p:blipFill>
        <p:spPr bwMode="auto">
          <a:xfrm>
            <a:off x="10267423" y="165688"/>
            <a:ext cx="1386605" cy="462962"/>
          </a:xfrm>
          <a:prstGeom prst="rect">
            <a:avLst/>
          </a:prstGeom>
          <a:noFill/>
          <a:extLst>
            <a:ext uri="{909E8E84-426E-40DD-AFC4-6F175D3DCCD1}">
              <a14:hiddenFill xmlns:a14="http://schemas.microsoft.com/office/drawing/2010/main">
                <a:solidFill>
                  <a:srgbClr val="FFFFFF"/>
                </a:solidFill>
              </a14:hiddenFill>
            </a:ext>
          </a:extLst>
        </p:spPr>
      </p:pic>
      <p:pic>
        <p:nvPicPr>
          <p:cNvPr id="2" name="图片 1" descr="微信图片_20220318113523"/>
          <p:cNvPicPr>
            <a:picLocks noChangeAspect="1"/>
          </p:cNvPicPr>
          <p:nvPr userDrawn="1"/>
        </p:nvPicPr>
        <p:blipFill>
          <a:blip r:embed="rId4"/>
          <a:stretch>
            <a:fillRect/>
          </a:stretch>
        </p:blipFill>
        <p:spPr>
          <a:xfrm>
            <a:off x="9291877" y="6115050"/>
            <a:ext cx="2244725" cy="361315"/>
          </a:xfrm>
          <a:prstGeom prst="rect">
            <a:avLst/>
          </a:prstGeom>
        </p:spPr>
      </p:pic>
      <p:sp>
        <p:nvSpPr>
          <p:cNvPr id="18" name="Rectangle 2">
            <a:extLst>
              <a:ext uri="{FF2B5EF4-FFF2-40B4-BE49-F238E27FC236}">
                <a16:creationId xmlns:a16="http://schemas.microsoft.com/office/drawing/2014/main" id="{E217C615-1D49-4D07-B850-D36106D7AA9A}"/>
              </a:ext>
            </a:extLst>
          </p:cNvPr>
          <p:cNvSpPr>
            <a:spLocks noChangeArrowheads="1"/>
          </p:cNvSpPr>
          <p:nvPr/>
        </p:nvSpPr>
        <p:spPr bwMode="auto">
          <a:xfrm>
            <a:off x="1000125" y="815365"/>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8" name="Rectangle 3">
            <a:extLst>
              <a:ext uri="{FF2B5EF4-FFF2-40B4-BE49-F238E27FC236}">
                <a16:creationId xmlns:a16="http://schemas.microsoft.com/office/drawing/2014/main" id="{97F08C45-3D15-45C1-A5A3-D1EB58DC91FE}"/>
              </a:ext>
            </a:extLst>
          </p:cNvPr>
          <p:cNvSpPr txBox="1">
            <a:spLocks noChangeArrowheads="1"/>
          </p:cNvSpPr>
          <p:nvPr/>
        </p:nvSpPr>
        <p:spPr>
          <a:xfrm>
            <a:off x="728870" y="914400"/>
            <a:ext cx="10925158" cy="4591873"/>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10000"/>
              </a:lnSpc>
              <a:spcBef>
                <a:spcPts val="0"/>
              </a:spcBef>
              <a:buClr>
                <a:srgbClr val="0B61FF"/>
              </a:buClr>
              <a:buSzPct val="80000"/>
              <a:buFont typeface="Wingdings" panose="05000000000000000000" pitchFamily="2" charset="2"/>
              <a:buChar char="n"/>
            </a:pPr>
            <a:r>
              <a:rPr lang="en-US" sz="2400" b="1" dirty="0">
                <a:latin typeface="Trebuchet MS" panose="020B0603020202020204" pitchFamily="34" charset="0"/>
              </a:rPr>
              <a:t>Example: </a:t>
            </a:r>
            <a:r>
              <a:rPr lang="en-US" sz="2400" dirty="0">
                <a:latin typeface="Trebuchet MS" panose="020B0603020202020204" pitchFamily="34" charset="0"/>
              </a:rPr>
              <a:t>In communication, suppose the frequency (%) of octal digits is given as follows: 0: 30, 1: 20, 2: 15, 3: 10, 4: 10, 5: 5, 6: 5,7: 5.</a:t>
            </a:r>
          </a:p>
          <a:p>
            <a:pPr marL="450850" indent="-271463">
              <a:lnSpc>
                <a:spcPct val="120000"/>
              </a:lnSpc>
              <a:spcBef>
                <a:spcPts val="300"/>
              </a:spcBef>
              <a:buClr>
                <a:srgbClr val="0B61FF"/>
              </a:buClr>
              <a:buSzPct val="120000"/>
            </a:pPr>
            <a:r>
              <a:rPr lang="en-US" sz="2400" dirty="0">
                <a:latin typeface="Trebuchet MS" panose="020B0603020202020204" pitchFamily="34" charset="0"/>
              </a:rPr>
              <a:t>Using binary prefix codes, find the binary prefix code that transmits the digits with the </a:t>
            </a:r>
            <a:r>
              <a:rPr lang="en-US" sz="2400" b="1" dirty="0">
                <a:latin typeface="Trebuchet MS" panose="020B0603020202020204" pitchFamily="34" charset="0"/>
              </a:rPr>
              <a:t>fewest number of binary bits</a:t>
            </a:r>
            <a:r>
              <a:rPr lang="en-US" sz="2400" dirty="0">
                <a:latin typeface="Trebuchet MS" panose="020B0603020202020204" pitchFamily="34" charset="0"/>
              </a:rPr>
              <a:t> (this is called the </a:t>
            </a:r>
            <a:r>
              <a:rPr lang="en-US" sz="2400" b="1" dirty="0">
                <a:latin typeface="Trebuchet MS" panose="020B0603020202020204" pitchFamily="34" charset="0"/>
              </a:rPr>
              <a:t>optimal prefix code</a:t>
            </a:r>
            <a:r>
              <a:rPr lang="en-US" sz="2400" dirty="0">
                <a:latin typeface="Trebuchet MS" panose="020B0603020202020204" pitchFamily="34" charset="0"/>
              </a:rPr>
              <a:t>).</a:t>
            </a:r>
          </a:p>
          <a:p>
            <a:pPr marL="450850" indent="-271463">
              <a:buClr>
                <a:srgbClr val="0B61FF"/>
              </a:buClr>
              <a:buSzPct val="120000"/>
            </a:pPr>
            <a:r>
              <a:rPr lang="en-US" sz="2400" dirty="0">
                <a:latin typeface="Trebuchet MS" panose="020B0603020202020204" pitchFamily="34" charset="0"/>
              </a:rPr>
              <a:t>Also, calculate the </a:t>
            </a:r>
            <a:r>
              <a:rPr lang="en-US" sz="2400" b="1" dirty="0">
                <a:latin typeface="Trebuchet MS" panose="020B0603020202020204" pitchFamily="34" charset="0"/>
              </a:rPr>
              <a:t>total number of binary digits</a:t>
            </a:r>
            <a:r>
              <a:rPr lang="en-US" sz="2400" dirty="0">
                <a:latin typeface="Trebuchet MS" panose="020B0603020202020204" pitchFamily="34" charset="0"/>
              </a:rPr>
              <a:t> needed to transmit 10,000 octal digits following the given frequency distribution using the optimal prefix code.</a:t>
            </a:r>
          </a:p>
          <a:p>
            <a:pPr marL="450850" indent="-271463">
              <a:buClr>
                <a:srgbClr val="0B61FF"/>
              </a:buClr>
              <a:buSzPct val="120000"/>
            </a:pPr>
            <a:r>
              <a:rPr lang="en-US" sz="2400" dirty="0">
                <a:latin typeface="Trebuchet MS" panose="020B0603020202020204" pitchFamily="34" charset="0"/>
              </a:rPr>
              <a:t>The </a:t>
            </a:r>
            <a:r>
              <a:rPr lang="en-US" sz="2400" b="1" dirty="0">
                <a:latin typeface="Trebuchet MS" panose="020B0603020202020204" pitchFamily="34" charset="0"/>
              </a:rPr>
              <a:t>total number of binary digits</a:t>
            </a:r>
            <a:r>
              <a:rPr lang="en-US" sz="2400" dirty="0">
                <a:latin typeface="Trebuchet MS" panose="020B0603020202020204" pitchFamily="34" charset="0"/>
              </a:rPr>
              <a:t> required if a </a:t>
            </a:r>
            <a:r>
              <a:rPr lang="en-US" sz="2400" b="1" dirty="0">
                <a:latin typeface="Trebuchet MS" panose="020B0603020202020204" pitchFamily="34" charset="0"/>
              </a:rPr>
              <a:t>fixed-length code</a:t>
            </a:r>
            <a:r>
              <a:rPr lang="en-US" sz="2400" dirty="0">
                <a:latin typeface="Trebuchet MS" panose="020B0603020202020204" pitchFamily="34" charset="0"/>
              </a:rPr>
              <a:t> (of length 3) is used for each octal digit instead.</a:t>
            </a:r>
          </a:p>
          <a:p>
            <a:pPr eaLnBrk="1" hangingPunct="1">
              <a:lnSpc>
                <a:spcPct val="110000"/>
              </a:lnSpc>
              <a:buFontTx/>
              <a:buNone/>
            </a:pPr>
            <a:endParaRPr lang="zh-CN" altLang="en-US" sz="28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853375140"/>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8">
                                            <p:txEl>
                                              <p:pRg st="1" end="1"/>
                                            </p:txEl>
                                          </p:spTgt>
                                        </p:tgtEl>
                                        <p:attrNameLst>
                                          <p:attrName>style.visibility</p:attrName>
                                        </p:attrNameLst>
                                      </p:cBhvr>
                                      <p:to>
                                        <p:strVal val="visible"/>
                                      </p:to>
                                    </p:set>
                                    <p:animEffect transition="in" filter="fade">
                                      <p:cBhvr>
                                        <p:cTn id="7" dur="1000"/>
                                        <p:tgtEl>
                                          <p:spTgt spid="8">
                                            <p:txEl>
                                              <p:pRg st="1" end="1"/>
                                            </p:txEl>
                                          </p:spTgt>
                                        </p:tgtEl>
                                      </p:cBhvr>
                                    </p:animEffect>
                                    <p:anim calcmode="lin" valueType="num">
                                      <p:cBhvr>
                                        <p:cTn id="8" dur="1000" fill="hold"/>
                                        <p:tgtEl>
                                          <p:spTgt spid="8">
                                            <p:txEl>
                                              <p:pRg st="1" end="1"/>
                                            </p:txEl>
                                          </p:spTgt>
                                        </p:tgtEl>
                                        <p:attrNameLst>
                                          <p:attrName>ppt_x</p:attrName>
                                        </p:attrNameLst>
                                      </p:cBhvr>
                                      <p:tavLst>
                                        <p:tav tm="0">
                                          <p:val>
                                            <p:strVal val="#ppt_x"/>
                                          </p:val>
                                        </p:tav>
                                        <p:tav tm="100000">
                                          <p:val>
                                            <p:strVal val="#ppt_x"/>
                                          </p:val>
                                        </p:tav>
                                      </p:tavLst>
                                    </p:anim>
                                    <p:anim calcmode="lin" valueType="num">
                                      <p:cBhvr>
                                        <p:cTn id="9" dur="1000" fill="hold"/>
                                        <p:tgtEl>
                                          <p:spTgt spid="8">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8">
                                            <p:txEl>
                                              <p:pRg st="2" end="2"/>
                                            </p:txEl>
                                          </p:spTgt>
                                        </p:tgtEl>
                                        <p:attrNameLst>
                                          <p:attrName>style.visibility</p:attrName>
                                        </p:attrNameLst>
                                      </p:cBhvr>
                                      <p:to>
                                        <p:strVal val="visible"/>
                                      </p:to>
                                    </p:set>
                                    <p:animEffect transition="in" filter="fade">
                                      <p:cBhvr>
                                        <p:cTn id="14" dur="1000"/>
                                        <p:tgtEl>
                                          <p:spTgt spid="8">
                                            <p:txEl>
                                              <p:pRg st="2" end="2"/>
                                            </p:txEl>
                                          </p:spTgt>
                                        </p:tgtEl>
                                      </p:cBhvr>
                                    </p:animEffect>
                                    <p:anim calcmode="lin" valueType="num">
                                      <p:cBhvr>
                                        <p:cTn id="15" dur="1000" fill="hold"/>
                                        <p:tgtEl>
                                          <p:spTgt spid="8">
                                            <p:txEl>
                                              <p:pRg st="2" end="2"/>
                                            </p:txEl>
                                          </p:spTgt>
                                        </p:tgtEl>
                                        <p:attrNameLst>
                                          <p:attrName>ppt_x</p:attrName>
                                        </p:attrNameLst>
                                      </p:cBhvr>
                                      <p:tavLst>
                                        <p:tav tm="0">
                                          <p:val>
                                            <p:strVal val="#ppt_x"/>
                                          </p:val>
                                        </p:tav>
                                        <p:tav tm="100000">
                                          <p:val>
                                            <p:strVal val="#ppt_x"/>
                                          </p:val>
                                        </p:tav>
                                      </p:tavLst>
                                    </p:anim>
                                    <p:anim calcmode="lin" valueType="num">
                                      <p:cBhvr>
                                        <p:cTn id="16" dur="1000" fill="hold"/>
                                        <p:tgtEl>
                                          <p:spTgt spid="8">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nodeType="clickEffect">
                                  <p:stCondLst>
                                    <p:cond delay="0"/>
                                  </p:stCondLst>
                                  <p:childTnLst>
                                    <p:set>
                                      <p:cBhvr>
                                        <p:cTn id="20" dur="1" fill="hold">
                                          <p:stCondLst>
                                            <p:cond delay="0"/>
                                          </p:stCondLst>
                                        </p:cTn>
                                        <p:tgtEl>
                                          <p:spTgt spid="8">
                                            <p:txEl>
                                              <p:pRg st="3" end="3"/>
                                            </p:txEl>
                                          </p:spTgt>
                                        </p:tgtEl>
                                        <p:attrNameLst>
                                          <p:attrName>style.visibility</p:attrName>
                                        </p:attrNameLst>
                                      </p:cBhvr>
                                      <p:to>
                                        <p:strVal val="visible"/>
                                      </p:to>
                                    </p:set>
                                    <p:animEffect transition="in" filter="fade">
                                      <p:cBhvr>
                                        <p:cTn id="21" dur="1000"/>
                                        <p:tgtEl>
                                          <p:spTgt spid="8">
                                            <p:txEl>
                                              <p:pRg st="3" end="3"/>
                                            </p:txEl>
                                          </p:spTgt>
                                        </p:tgtEl>
                                      </p:cBhvr>
                                    </p:animEffect>
                                    <p:anim calcmode="lin" valueType="num">
                                      <p:cBhvr>
                                        <p:cTn id="22" dur="1000" fill="hold"/>
                                        <p:tgtEl>
                                          <p:spTgt spid="8">
                                            <p:txEl>
                                              <p:pRg st="3" end="3"/>
                                            </p:txEl>
                                          </p:spTgt>
                                        </p:tgtEl>
                                        <p:attrNameLst>
                                          <p:attrName>ppt_x</p:attrName>
                                        </p:attrNameLst>
                                      </p:cBhvr>
                                      <p:tavLst>
                                        <p:tav tm="0">
                                          <p:val>
                                            <p:strVal val="#ppt_x"/>
                                          </p:val>
                                        </p:tav>
                                        <p:tav tm="100000">
                                          <p:val>
                                            <p:strVal val="#ppt_x"/>
                                          </p:val>
                                        </p:tav>
                                      </p:tavLst>
                                    </p:anim>
                                    <p:anim calcmode="lin" valueType="num">
                                      <p:cBhvr>
                                        <p:cTn id="23" dur="1000" fill="hold"/>
                                        <p:tgtEl>
                                          <p:spTgt spid="8">
                                            <p:txEl>
                                              <p:pRg st="3" end="3"/>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0" y="0"/>
            <a:ext cx="12192000" cy="762000"/>
          </a:xfrm>
          <a:prstGeom prst="rect">
            <a:avLst/>
          </a:prstGeom>
          <a:solidFill>
            <a:srgbClr val="002F7C"/>
          </a:solidFill>
        </p:spPr>
        <p:style>
          <a:lnRef idx="2">
            <a:schemeClr val="dk1">
              <a:shade val="50000"/>
            </a:schemeClr>
          </a:lnRef>
          <a:fillRef idx="1">
            <a:schemeClr val="dk1"/>
          </a:fillRef>
          <a:effectRef idx="0">
            <a:schemeClr val="dk1"/>
          </a:effectRef>
          <a:fontRef idx="minor">
            <a:schemeClr val="lt1"/>
          </a:fontRef>
        </p:style>
        <p:txBody>
          <a:bodyPr rtlCol="0" anchor="ctr"/>
          <a:lstStyle/>
          <a:p>
            <a:pPr>
              <a:buClr>
                <a:srgbClr val="0B61FF"/>
              </a:buClr>
              <a:buSzPct val="80000"/>
            </a:pPr>
            <a:r>
              <a:rPr lang="zh-CN" altLang="en-US" sz="2000" b="1" dirty="0">
                <a:latin typeface="Times New Roman" panose="02020603050405020304" pitchFamily="18" charset="0"/>
                <a:ea typeface="宋体" panose="02010600030101010101" pitchFamily="2" charset="-122"/>
                <a:cs typeface="Times New Roman" panose="02020603050405020304" pitchFamily="18" charset="0"/>
              </a:rPr>
              <a:t>               </a:t>
            </a:r>
            <a:r>
              <a:rPr lang="en-US" altLang="zh-CN" sz="2000" b="1" dirty="0">
                <a:latin typeface="Trebuchet MS" panose="020B0603020202020204" pitchFamily="34" charset="0"/>
              </a:rPr>
              <a:t>7.2.3 Optimal Prefix Codes</a:t>
            </a:r>
          </a:p>
          <a:p>
            <a:pPr>
              <a:buClr>
                <a:srgbClr val="0B61FF"/>
              </a:buClr>
              <a:buSzPct val="80000"/>
            </a:pPr>
            <a:r>
              <a:rPr lang="en-US" altLang="zh-CN" b="1" dirty="0">
                <a:solidFill>
                  <a:srgbClr val="C00000"/>
                </a:solidFill>
                <a:latin typeface="Trebuchet MS" panose="020B0603020202020204" pitchFamily="34" charset="0"/>
                <a:ea typeface="Cambria Math" panose="02040503050406030204" pitchFamily="18" charset="0"/>
                <a:cs typeface="Times New Roman" panose="02020603050405020304" pitchFamily="18" charset="0"/>
              </a:rPr>
              <a:t>                 </a:t>
            </a:r>
            <a:r>
              <a:rPr lang="en-US" altLang="zh-CN" sz="2400" b="1" dirty="0">
                <a:solidFill>
                  <a:srgbClr val="C00000"/>
                </a:solidFill>
                <a:latin typeface="Trebuchet MS" panose="020B0603020202020204" pitchFamily="34" charset="0"/>
                <a:ea typeface="Cambria Math" panose="02040503050406030204" pitchFamily="18" charset="0"/>
                <a:cs typeface="Times New Roman" panose="02020603050405020304" pitchFamily="18" charset="0"/>
              </a:rPr>
              <a:t>⤷</a:t>
            </a:r>
            <a:r>
              <a:rPr lang="zh-CN" altLang="en-US" sz="2400" b="1" dirty="0">
                <a:latin typeface="Trebuchet MS" panose="020B0603020202020204" pitchFamily="34" charset="0"/>
              </a:rPr>
              <a:t> </a:t>
            </a:r>
            <a:r>
              <a:rPr lang="en-US" altLang="zh-CN" sz="2400" b="1" dirty="0">
                <a:latin typeface="Trebuchet MS" panose="020B0603020202020204" pitchFamily="34" charset="0"/>
              </a:rPr>
              <a:t>Examples of Binary Prefix Code Applications</a:t>
            </a:r>
          </a:p>
        </p:txBody>
      </p:sp>
      <p:sp>
        <p:nvSpPr>
          <p:cNvPr id="13" name="矩形 12"/>
          <p:cNvSpPr/>
          <p:nvPr/>
        </p:nvSpPr>
        <p:spPr>
          <a:xfrm>
            <a:off x="824682" y="0"/>
            <a:ext cx="175443" cy="628650"/>
          </a:xfrm>
          <a:prstGeom prst="rect">
            <a:avLst/>
          </a:prstGeom>
          <a:solidFill>
            <a:srgbClr val="CFA57C"/>
          </a:solidFill>
          <a:ln cmpd="sng">
            <a:gradFill flip="none" rotWithShape="1">
              <a:gsLst>
                <a:gs pos="50000">
                  <a:schemeClr val="accent2">
                    <a:lumMod val="60000"/>
                    <a:lumOff val="40000"/>
                  </a:schemeClr>
                </a:gs>
                <a:gs pos="0">
                  <a:schemeClr val="accent2">
                    <a:lumMod val="20000"/>
                    <a:lumOff val="80000"/>
                  </a:schemeClr>
                </a:gs>
                <a:gs pos="95000">
                  <a:schemeClr val="accent2"/>
                </a:gs>
              </a:gsLst>
              <a:path path="circle">
                <a:fillToRect l="50000" t="-80000" r="50000" b="180000"/>
              </a:path>
              <a:tileRect/>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22" name="Picture 6" descr="D:\MBA工作\LOGO\同济经管LOGO反白.png"/>
          <p:cNvPicPr>
            <a:picLocks noChangeAspect="1" noChangeArrowheads="1"/>
          </p:cNvPicPr>
          <p:nvPr/>
        </p:nvPicPr>
        <p:blipFill>
          <a:blip r:embed="rId3" cstate="email">
            <a:extLst>
              <a:ext uri="{28A0092B-C50C-407E-A947-70E740481C1C}">
                <a14:useLocalDpi xmlns:a14="http://schemas.microsoft.com/office/drawing/2010/main" val="0"/>
              </a:ext>
            </a:extLst>
          </a:blip>
          <a:srcRect/>
          <a:stretch>
            <a:fillRect/>
          </a:stretch>
        </p:blipFill>
        <p:spPr bwMode="auto">
          <a:xfrm>
            <a:off x="10267423" y="165688"/>
            <a:ext cx="1386605" cy="462962"/>
          </a:xfrm>
          <a:prstGeom prst="rect">
            <a:avLst/>
          </a:prstGeom>
          <a:noFill/>
          <a:extLst>
            <a:ext uri="{909E8E84-426E-40DD-AFC4-6F175D3DCCD1}">
              <a14:hiddenFill xmlns:a14="http://schemas.microsoft.com/office/drawing/2010/main">
                <a:solidFill>
                  <a:srgbClr val="FFFFFF"/>
                </a:solidFill>
              </a14:hiddenFill>
            </a:ext>
          </a:extLst>
        </p:spPr>
      </p:pic>
      <p:pic>
        <p:nvPicPr>
          <p:cNvPr id="2" name="图片 1" descr="微信图片_20220318113523"/>
          <p:cNvPicPr>
            <a:picLocks noChangeAspect="1"/>
          </p:cNvPicPr>
          <p:nvPr userDrawn="1"/>
        </p:nvPicPr>
        <p:blipFill>
          <a:blip r:embed="rId4"/>
          <a:stretch>
            <a:fillRect/>
          </a:stretch>
        </p:blipFill>
        <p:spPr>
          <a:xfrm>
            <a:off x="9291877" y="6115050"/>
            <a:ext cx="2244725" cy="361315"/>
          </a:xfrm>
          <a:prstGeom prst="rect">
            <a:avLst/>
          </a:prstGeom>
        </p:spPr>
      </p:pic>
      <p:sp>
        <p:nvSpPr>
          <p:cNvPr id="18" name="Rectangle 2">
            <a:extLst>
              <a:ext uri="{FF2B5EF4-FFF2-40B4-BE49-F238E27FC236}">
                <a16:creationId xmlns:a16="http://schemas.microsoft.com/office/drawing/2014/main" id="{E217C615-1D49-4D07-B850-D36106D7AA9A}"/>
              </a:ext>
            </a:extLst>
          </p:cNvPr>
          <p:cNvSpPr>
            <a:spLocks noChangeArrowheads="1"/>
          </p:cNvSpPr>
          <p:nvPr/>
        </p:nvSpPr>
        <p:spPr bwMode="auto">
          <a:xfrm>
            <a:off x="1000125" y="815365"/>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9" name="文本框 8">
            <a:extLst>
              <a:ext uri="{FF2B5EF4-FFF2-40B4-BE49-F238E27FC236}">
                <a16:creationId xmlns:a16="http://schemas.microsoft.com/office/drawing/2014/main" id="{0F462FFF-A5E2-46E0-98CA-E32A18904F31}"/>
              </a:ext>
            </a:extLst>
          </p:cNvPr>
          <p:cNvSpPr txBox="1"/>
          <p:nvPr/>
        </p:nvSpPr>
        <p:spPr>
          <a:xfrm>
            <a:off x="667463" y="794338"/>
            <a:ext cx="4977964" cy="4572792"/>
          </a:xfrm>
          <a:prstGeom prst="rect">
            <a:avLst/>
          </a:prstGeom>
          <a:noFill/>
        </p:spPr>
        <p:txBody>
          <a:bodyPr wrap="square">
            <a:noAutofit/>
          </a:bodyPr>
          <a:lstStyle/>
          <a:p>
            <a:pPr marL="342900" indent="-342900">
              <a:lnSpc>
                <a:spcPct val="110000"/>
              </a:lnSpc>
              <a:buClr>
                <a:srgbClr val="0B61FF"/>
              </a:buClr>
              <a:buSzPct val="80000"/>
              <a:buFont typeface="Wingdings" panose="05000000000000000000" pitchFamily="2" charset="2"/>
              <a:buChar char="n"/>
            </a:pPr>
            <a:r>
              <a:rPr lang="en-US" sz="2400" b="1" dirty="0">
                <a:latin typeface="Trebuchet MS" panose="020B0603020202020204" pitchFamily="34" charset="0"/>
              </a:rPr>
              <a:t>Solution</a:t>
            </a:r>
            <a:r>
              <a:rPr lang="zh-CN" altLang="en-US" sz="2400" b="1" dirty="0">
                <a:latin typeface="Trebuchet MS" panose="020B0603020202020204" pitchFamily="34" charset="0"/>
                <a:cs typeface="Times New Roman" panose="02020603050405020304" pitchFamily="18" charset="0"/>
              </a:rPr>
              <a:t>：</a:t>
            </a:r>
            <a:endParaRPr lang="en-US" altLang="zh-CN" sz="2400" b="1" dirty="0">
              <a:latin typeface="Trebuchet MS" panose="020B0603020202020204" pitchFamily="34" charset="0"/>
              <a:cs typeface="Times New Roman" panose="02020603050405020304" pitchFamily="18" charset="0"/>
            </a:endParaRPr>
          </a:p>
          <a:p>
            <a:pPr marL="630238" indent="-450850">
              <a:lnSpc>
                <a:spcPct val="120000"/>
              </a:lnSpc>
            </a:pPr>
            <a:r>
              <a:rPr lang="zh-CN" altLang="en-US" sz="2400" b="1" dirty="0">
                <a:solidFill>
                  <a:srgbClr val="0B61FF"/>
                </a:solidFill>
                <a:latin typeface="Trebuchet MS" panose="020B0603020202020204" pitchFamily="34" charset="0"/>
                <a:cs typeface="Times New Roman" panose="02020603050405020304" pitchFamily="18" charset="0"/>
              </a:rPr>
              <a:t>①</a:t>
            </a:r>
            <a:r>
              <a:rPr lang="zh-CN" altLang="en-US" sz="2400" b="1" dirty="0">
                <a:latin typeface="Trebuchet MS" panose="020B0603020202020204" pitchFamily="34" charset="0"/>
                <a:cs typeface="Times New Roman" panose="02020603050405020304" pitchFamily="18" charset="0"/>
              </a:rPr>
              <a:t> </a:t>
            </a:r>
            <a:r>
              <a:rPr lang="en-US" sz="2400" dirty="0">
                <a:latin typeface="Trebuchet MS" panose="020B0603020202020204" pitchFamily="34" charset="0"/>
              </a:rPr>
              <a:t>Use the Huffman algorithm to construct the optimal binary tree, treating the frequencies (multiplied by 100) as the weights.</a:t>
            </a:r>
          </a:p>
          <a:p>
            <a:pPr marL="630238" indent="-450850">
              <a:lnSpc>
                <a:spcPct val="110000"/>
              </a:lnSpc>
            </a:pPr>
            <a:r>
              <a:rPr lang="en-US" altLang="zh-CN" sz="2400" dirty="0">
                <a:latin typeface="Trebuchet MS" panose="020B0603020202020204" pitchFamily="34" charset="0"/>
                <a:cs typeface="Times New Roman" panose="02020603050405020304" pitchFamily="18" charset="0"/>
              </a:rPr>
              <a:t>Let:</a:t>
            </a:r>
            <a:r>
              <a:rPr lang="zh-CN" altLang="en-US" sz="2400" b="1" dirty="0">
                <a:latin typeface="Trebuchet MS" panose="020B0603020202020204" pitchFamily="34" charset="0"/>
                <a:cs typeface="Times New Roman" panose="02020603050405020304" pitchFamily="18" charset="0"/>
              </a:rPr>
              <a:t> </a:t>
            </a:r>
            <a:r>
              <a:rPr lang="en-US" altLang="zh-CN" sz="2400" b="1" i="1" dirty="0">
                <a:latin typeface="Trebuchet MS" panose="020B0603020202020204" pitchFamily="34" charset="0"/>
                <a:cs typeface="Times New Roman" panose="02020603050405020304" pitchFamily="18" charset="0"/>
              </a:rPr>
              <a:t>w</a:t>
            </a:r>
            <a:r>
              <a:rPr lang="en-US" altLang="zh-CN" sz="2400" b="1" baseline="-30000" dirty="0">
                <a:latin typeface="Trebuchet MS" panose="020B0603020202020204" pitchFamily="34" charset="0"/>
                <a:cs typeface="Times New Roman" panose="02020603050405020304" pitchFamily="18" charset="0"/>
              </a:rPr>
              <a:t>1</a:t>
            </a:r>
            <a:r>
              <a:rPr lang="en-US" altLang="zh-CN" sz="2400" b="1" dirty="0">
                <a:latin typeface="Trebuchet MS" panose="020B0603020202020204" pitchFamily="34" charset="0"/>
                <a:cs typeface="Times New Roman" panose="02020603050405020304" pitchFamily="18" charset="0"/>
              </a:rPr>
              <a:t>=5,</a:t>
            </a:r>
            <a:r>
              <a:rPr lang="en-US" altLang="zh-CN" sz="2400" b="1" i="1" dirty="0">
                <a:latin typeface="Trebuchet MS" panose="020B0603020202020204" pitchFamily="34" charset="0"/>
                <a:cs typeface="Times New Roman" panose="02020603050405020304" pitchFamily="18" charset="0"/>
              </a:rPr>
              <a:t>w</a:t>
            </a:r>
            <a:r>
              <a:rPr lang="en-US" altLang="zh-CN" sz="2400" b="1" baseline="-30000" dirty="0">
                <a:latin typeface="Trebuchet MS" panose="020B0603020202020204" pitchFamily="34" charset="0"/>
                <a:cs typeface="Times New Roman" panose="02020603050405020304" pitchFamily="18" charset="0"/>
              </a:rPr>
              <a:t>2</a:t>
            </a:r>
            <a:r>
              <a:rPr lang="en-US" altLang="zh-CN" sz="2400" b="1" dirty="0">
                <a:latin typeface="Trebuchet MS" panose="020B0603020202020204" pitchFamily="34" charset="0"/>
                <a:cs typeface="Times New Roman" panose="02020603050405020304" pitchFamily="18" charset="0"/>
              </a:rPr>
              <a:t>=5,</a:t>
            </a:r>
            <a:r>
              <a:rPr lang="en-US" altLang="zh-CN" sz="2400" b="1" i="1" dirty="0">
                <a:latin typeface="Trebuchet MS" panose="020B0603020202020204" pitchFamily="34" charset="0"/>
                <a:cs typeface="Times New Roman" panose="02020603050405020304" pitchFamily="18" charset="0"/>
              </a:rPr>
              <a:t>w</a:t>
            </a:r>
            <a:r>
              <a:rPr lang="en-US" altLang="zh-CN" sz="2400" b="1" baseline="-30000" dirty="0">
                <a:latin typeface="Trebuchet MS" panose="020B0603020202020204" pitchFamily="34" charset="0"/>
                <a:cs typeface="Times New Roman" panose="02020603050405020304" pitchFamily="18" charset="0"/>
              </a:rPr>
              <a:t>3</a:t>
            </a:r>
            <a:r>
              <a:rPr lang="en-US" altLang="zh-CN" sz="2400" b="1" dirty="0">
                <a:latin typeface="Trebuchet MS" panose="020B0603020202020204" pitchFamily="34" charset="0"/>
                <a:cs typeface="Times New Roman" panose="02020603050405020304" pitchFamily="18" charset="0"/>
              </a:rPr>
              <a:t>=5,</a:t>
            </a:r>
            <a:r>
              <a:rPr lang="en-US" altLang="zh-CN" sz="2400" b="1" i="1" dirty="0">
                <a:latin typeface="Trebuchet MS" panose="020B0603020202020204" pitchFamily="34" charset="0"/>
                <a:cs typeface="Times New Roman" panose="02020603050405020304" pitchFamily="18" charset="0"/>
              </a:rPr>
              <a:t>w</a:t>
            </a:r>
            <a:r>
              <a:rPr lang="en-US" altLang="zh-CN" sz="2400" b="1" baseline="-30000" dirty="0">
                <a:latin typeface="Trebuchet MS" panose="020B0603020202020204" pitchFamily="34" charset="0"/>
                <a:cs typeface="Times New Roman" panose="02020603050405020304" pitchFamily="18" charset="0"/>
              </a:rPr>
              <a:t>4</a:t>
            </a:r>
            <a:r>
              <a:rPr lang="en-US" altLang="zh-CN" sz="2400" b="1" dirty="0">
                <a:latin typeface="Trebuchet MS" panose="020B0603020202020204" pitchFamily="34" charset="0"/>
                <a:cs typeface="Times New Roman" panose="02020603050405020304" pitchFamily="18" charset="0"/>
              </a:rPr>
              <a:t>=10,</a:t>
            </a:r>
            <a:r>
              <a:rPr lang="en-US" altLang="zh-CN" sz="2400" b="1" i="1" dirty="0">
                <a:latin typeface="Trebuchet MS" panose="020B0603020202020204" pitchFamily="34" charset="0"/>
                <a:cs typeface="Times New Roman" panose="02020603050405020304" pitchFamily="18" charset="0"/>
              </a:rPr>
              <a:t>w</a:t>
            </a:r>
            <a:r>
              <a:rPr lang="en-US" altLang="zh-CN" sz="2400" b="1" baseline="-30000" dirty="0">
                <a:latin typeface="Trebuchet MS" panose="020B0603020202020204" pitchFamily="34" charset="0"/>
                <a:cs typeface="Times New Roman" panose="02020603050405020304" pitchFamily="18" charset="0"/>
              </a:rPr>
              <a:t>5</a:t>
            </a:r>
            <a:r>
              <a:rPr lang="en-US" altLang="zh-CN" sz="2400" b="1" dirty="0">
                <a:latin typeface="Trebuchet MS" panose="020B0603020202020204" pitchFamily="34" charset="0"/>
                <a:cs typeface="Times New Roman" panose="02020603050405020304" pitchFamily="18" charset="0"/>
              </a:rPr>
              <a:t>=10,</a:t>
            </a:r>
            <a:r>
              <a:rPr lang="en-US" altLang="zh-CN" sz="2400" b="1" i="1" dirty="0">
                <a:latin typeface="Trebuchet MS" panose="020B0603020202020204" pitchFamily="34" charset="0"/>
                <a:cs typeface="Times New Roman" panose="02020603050405020304" pitchFamily="18" charset="0"/>
              </a:rPr>
              <a:t>w</a:t>
            </a:r>
            <a:r>
              <a:rPr lang="en-US" altLang="zh-CN" sz="2400" b="1" baseline="-30000" dirty="0">
                <a:latin typeface="Trebuchet MS" panose="020B0603020202020204" pitchFamily="34" charset="0"/>
                <a:cs typeface="Times New Roman" panose="02020603050405020304" pitchFamily="18" charset="0"/>
              </a:rPr>
              <a:t>6</a:t>
            </a:r>
            <a:r>
              <a:rPr lang="en-US" altLang="zh-CN" sz="2400" b="1" dirty="0">
                <a:latin typeface="Trebuchet MS" panose="020B0603020202020204" pitchFamily="34" charset="0"/>
                <a:cs typeface="Times New Roman" panose="02020603050405020304" pitchFamily="18" charset="0"/>
              </a:rPr>
              <a:t>=15,</a:t>
            </a:r>
            <a:r>
              <a:rPr lang="en-US" altLang="zh-CN" sz="2400" b="1" i="1" dirty="0">
                <a:latin typeface="Trebuchet MS" panose="020B0603020202020204" pitchFamily="34" charset="0"/>
                <a:cs typeface="Times New Roman" panose="02020603050405020304" pitchFamily="18" charset="0"/>
              </a:rPr>
              <a:t>w</a:t>
            </a:r>
            <a:r>
              <a:rPr lang="en-US" altLang="zh-CN" sz="2400" b="1" baseline="-30000" dirty="0">
                <a:latin typeface="Trebuchet MS" panose="020B0603020202020204" pitchFamily="34" charset="0"/>
                <a:cs typeface="Times New Roman" panose="02020603050405020304" pitchFamily="18" charset="0"/>
              </a:rPr>
              <a:t>7</a:t>
            </a:r>
            <a:r>
              <a:rPr lang="en-US" altLang="zh-CN" sz="2400" b="1" dirty="0">
                <a:latin typeface="Trebuchet MS" panose="020B0603020202020204" pitchFamily="34" charset="0"/>
                <a:cs typeface="Times New Roman" panose="02020603050405020304" pitchFamily="18" charset="0"/>
              </a:rPr>
              <a:t>=20,</a:t>
            </a:r>
            <a:r>
              <a:rPr lang="en-US" altLang="zh-CN" sz="2400" b="1" i="1" dirty="0">
                <a:latin typeface="Trebuchet MS" panose="020B0603020202020204" pitchFamily="34" charset="0"/>
                <a:cs typeface="Times New Roman" panose="02020603050405020304" pitchFamily="18" charset="0"/>
              </a:rPr>
              <a:t>w</a:t>
            </a:r>
            <a:r>
              <a:rPr lang="en-US" altLang="zh-CN" sz="2400" b="1" baseline="-30000" dirty="0">
                <a:latin typeface="Trebuchet MS" panose="020B0603020202020204" pitchFamily="34" charset="0"/>
                <a:cs typeface="Times New Roman" panose="02020603050405020304" pitchFamily="18" charset="0"/>
              </a:rPr>
              <a:t>8</a:t>
            </a:r>
            <a:r>
              <a:rPr lang="en-US" altLang="zh-CN" sz="2400" b="1" dirty="0">
                <a:latin typeface="Trebuchet MS" panose="020B0603020202020204" pitchFamily="34" charset="0"/>
                <a:cs typeface="Times New Roman" panose="02020603050405020304" pitchFamily="18" charset="0"/>
              </a:rPr>
              <a:t>=30.</a:t>
            </a:r>
          </a:p>
          <a:p>
            <a:pPr marL="630238" indent="-450850">
              <a:lnSpc>
                <a:spcPct val="110000"/>
              </a:lnSpc>
            </a:pPr>
            <a:r>
              <a:rPr lang="zh-CN" altLang="en-US" sz="2400" b="1" dirty="0">
                <a:solidFill>
                  <a:srgbClr val="0B61FF"/>
                </a:solidFill>
                <a:latin typeface="Trebuchet MS" panose="020B0603020202020204" pitchFamily="34" charset="0"/>
                <a:cs typeface="Times New Roman" panose="02020603050405020304" pitchFamily="18" charset="0"/>
              </a:rPr>
              <a:t>② </a:t>
            </a:r>
            <a:r>
              <a:rPr lang="en-US" altLang="zh-CN" sz="2400" dirty="0">
                <a:latin typeface="Trebuchet MS" panose="020B0603020202020204" pitchFamily="34" charset="0"/>
              </a:rPr>
              <a:t>Construct the Huffman tree.</a:t>
            </a:r>
            <a:endParaRPr lang="en-US" altLang="zh-CN" sz="2400" b="1" dirty="0">
              <a:latin typeface="Trebuchet MS" panose="020B0603020202020204" pitchFamily="34" charset="0"/>
            </a:endParaRPr>
          </a:p>
          <a:p>
            <a:pPr marL="630238" indent="-450850">
              <a:lnSpc>
                <a:spcPct val="110000"/>
              </a:lnSpc>
            </a:pPr>
            <a:endParaRPr lang="zh-CN" altLang="en-US" sz="2400" b="1" dirty="0">
              <a:latin typeface="Trebuchet MS" panose="020B0603020202020204" pitchFamily="34" charset="0"/>
              <a:cs typeface="Times New Roman" panose="02020603050405020304" pitchFamily="18" charset="0"/>
            </a:endParaRPr>
          </a:p>
        </p:txBody>
      </p:sp>
      <p:pic>
        <p:nvPicPr>
          <p:cNvPr id="10" name="图片 9">
            <a:extLst>
              <a:ext uri="{FF2B5EF4-FFF2-40B4-BE49-F238E27FC236}">
                <a16:creationId xmlns:a16="http://schemas.microsoft.com/office/drawing/2014/main" id="{6DD52C6F-E5DB-454C-9EBD-DD4EF0A46D34}"/>
              </a:ext>
            </a:extLst>
          </p:cNvPr>
          <p:cNvPicPr>
            <a:picLocks noChangeAspect="1"/>
          </p:cNvPicPr>
          <p:nvPr/>
        </p:nvPicPr>
        <p:blipFill>
          <a:blip r:embed="rId5"/>
          <a:stretch>
            <a:fillRect/>
          </a:stretch>
        </p:blipFill>
        <p:spPr>
          <a:xfrm>
            <a:off x="4969278" y="1490870"/>
            <a:ext cx="6555259" cy="4910093"/>
          </a:xfrm>
          <a:prstGeom prst="rect">
            <a:avLst/>
          </a:prstGeom>
        </p:spPr>
      </p:pic>
    </p:spTree>
    <p:extLst>
      <p:ext uri="{BB962C8B-B14F-4D97-AF65-F5344CB8AC3E}">
        <p14:creationId xmlns:p14="http://schemas.microsoft.com/office/powerpoint/2010/main" val="2111397545"/>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9">
                                            <p:txEl>
                                              <p:pRg st="3" end="3"/>
                                            </p:txEl>
                                          </p:spTgt>
                                        </p:tgtEl>
                                        <p:attrNameLst>
                                          <p:attrName>style.visibility</p:attrName>
                                        </p:attrNameLst>
                                      </p:cBhvr>
                                      <p:to>
                                        <p:strVal val="visible"/>
                                      </p:to>
                                    </p:set>
                                    <p:animEffect transition="in" filter="fade">
                                      <p:cBhvr>
                                        <p:cTn id="7" dur="1000"/>
                                        <p:tgtEl>
                                          <p:spTgt spid="9">
                                            <p:txEl>
                                              <p:pRg st="3" end="3"/>
                                            </p:txEl>
                                          </p:spTgt>
                                        </p:tgtEl>
                                      </p:cBhvr>
                                    </p:animEffect>
                                    <p:anim calcmode="lin" valueType="num">
                                      <p:cBhvr>
                                        <p:cTn id="8" dur="1000" fill="hold"/>
                                        <p:tgtEl>
                                          <p:spTgt spid="9">
                                            <p:txEl>
                                              <p:pRg st="3" end="3"/>
                                            </p:txEl>
                                          </p:spTgt>
                                        </p:tgtEl>
                                        <p:attrNameLst>
                                          <p:attrName>ppt_x</p:attrName>
                                        </p:attrNameLst>
                                      </p:cBhvr>
                                      <p:tavLst>
                                        <p:tav tm="0">
                                          <p:val>
                                            <p:strVal val="#ppt_x"/>
                                          </p:val>
                                        </p:tav>
                                        <p:tav tm="100000">
                                          <p:val>
                                            <p:strVal val="#ppt_x"/>
                                          </p:val>
                                        </p:tav>
                                      </p:tavLst>
                                    </p:anim>
                                    <p:anim calcmode="lin" valueType="num">
                                      <p:cBhvr>
                                        <p:cTn id="9" dur="1000" fill="hold"/>
                                        <p:tgtEl>
                                          <p:spTgt spid="9">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10"/>
                                        </p:tgtEl>
                                        <p:attrNameLst>
                                          <p:attrName>style.visibility</p:attrName>
                                        </p:attrNameLst>
                                      </p:cBhvr>
                                      <p:to>
                                        <p:strVal val="visible"/>
                                      </p:to>
                                    </p:set>
                                    <p:animEffect transition="in" filter="fade">
                                      <p:cBhvr>
                                        <p:cTn id="14" dur="1000"/>
                                        <p:tgtEl>
                                          <p:spTgt spid="10"/>
                                        </p:tgtEl>
                                      </p:cBhvr>
                                    </p:animEffect>
                                    <p:anim calcmode="lin" valueType="num">
                                      <p:cBhvr>
                                        <p:cTn id="15" dur="1000" fill="hold"/>
                                        <p:tgtEl>
                                          <p:spTgt spid="10"/>
                                        </p:tgtEl>
                                        <p:attrNameLst>
                                          <p:attrName>ppt_x</p:attrName>
                                        </p:attrNameLst>
                                      </p:cBhvr>
                                      <p:tavLst>
                                        <p:tav tm="0">
                                          <p:val>
                                            <p:strVal val="#ppt_x"/>
                                          </p:val>
                                        </p:tav>
                                        <p:tav tm="100000">
                                          <p:val>
                                            <p:strVal val="#ppt_x"/>
                                          </p:val>
                                        </p:tav>
                                      </p:tavLst>
                                    </p:anim>
                                    <p:anim calcmode="lin" valueType="num">
                                      <p:cBhvr>
                                        <p:cTn id="16" dur="1000" fill="hold"/>
                                        <p:tgtEl>
                                          <p:spTgt spid="10"/>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0" y="0"/>
            <a:ext cx="12192000" cy="762000"/>
          </a:xfrm>
          <a:prstGeom prst="rect">
            <a:avLst/>
          </a:prstGeom>
          <a:solidFill>
            <a:srgbClr val="002F7C"/>
          </a:solidFill>
        </p:spPr>
        <p:style>
          <a:lnRef idx="2">
            <a:schemeClr val="dk1">
              <a:shade val="50000"/>
            </a:schemeClr>
          </a:lnRef>
          <a:fillRef idx="1">
            <a:schemeClr val="dk1"/>
          </a:fillRef>
          <a:effectRef idx="0">
            <a:schemeClr val="dk1"/>
          </a:effectRef>
          <a:fontRef idx="minor">
            <a:schemeClr val="lt1"/>
          </a:fontRef>
        </p:style>
        <p:txBody>
          <a:bodyPr rtlCol="0" anchor="ctr"/>
          <a:lstStyle/>
          <a:p>
            <a:pPr>
              <a:buClr>
                <a:srgbClr val="0B61FF"/>
              </a:buClr>
              <a:buSzPct val="80000"/>
            </a:pPr>
            <a:r>
              <a:rPr lang="zh-CN" altLang="en-US" sz="2000" b="1" dirty="0">
                <a:latin typeface="Times New Roman" panose="02020603050405020304" pitchFamily="18" charset="0"/>
                <a:ea typeface="宋体" panose="02010600030101010101" pitchFamily="2" charset="-122"/>
                <a:cs typeface="Times New Roman" panose="02020603050405020304" pitchFamily="18" charset="0"/>
              </a:rPr>
              <a:t>               </a:t>
            </a:r>
            <a:r>
              <a:rPr lang="en-US" altLang="zh-CN" sz="2000" b="1" dirty="0">
                <a:latin typeface="Trebuchet MS" panose="020B0603020202020204" pitchFamily="34" charset="0"/>
              </a:rPr>
              <a:t>7.2.3 Optimal Prefix Codes</a:t>
            </a:r>
          </a:p>
          <a:p>
            <a:pPr>
              <a:buClr>
                <a:srgbClr val="0B61FF"/>
              </a:buClr>
              <a:buSzPct val="80000"/>
            </a:pPr>
            <a:r>
              <a:rPr lang="en-US" altLang="zh-CN" b="1" dirty="0">
                <a:solidFill>
                  <a:srgbClr val="C00000"/>
                </a:solidFill>
                <a:latin typeface="Trebuchet MS" panose="020B0603020202020204" pitchFamily="34" charset="0"/>
                <a:ea typeface="Cambria Math" panose="02040503050406030204" pitchFamily="18" charset="0"/>
                <a:cs typeface="Times New Roman" panose="02020603050405020304" pitchFamily="18" charset="0"/>
              </a:rPr>
              <a:t>                 </a:t>
            </a:r>
            <a:r>
              <a:rPr lang="en-US" altLang="zh-CN" sz="2400" b="1" dirty="0">
                <a:solidFill>
                  <a:srgbClr val="C00000"/>
                </a:solidFill>
                <a:latin typeface="Trebuchet MS" panose="020B0603020202020204" pitchFamily="34" charset="0"/>
                <a:ea typeface="Cambria Math" panose="02040503050406030204" pitchFamily="18" charset="0"/>
                <a:cs typeface="Times New Roman" panose="02020603050405020304" pitchFamily="18" charset="0"/>
              </a:rPr>
              <a:t>⤷</a:t>
            </a:r>
            <a:r>
              <a:rPr lang="zh-CN" altLang="en-US" sz="2400" b="1" dirty="0">
                <a:latin typeface="Trebuchet MS" panose="020B0603020202020204" pitchFamily="34" charset="0"/>
              </a:rPr>
              <a:t> </a:t>
            </a:r>
            <a:r>
              <a:rPr lang="en-US" altLang="zh-CN" sz="2400" b="1" dirty="0">
                <a:latin typeface="Trebuchet MS" panose="020B0603020202020204" pitchFamily="34" charset="0"/>
              </a:rPr>
              <a:t>Examples of Binary Prefix Code Applications</a:t>
            </a:r>
          </a:p>
        </p:txBody>
      </p:sp>
      <p:sp>
        <p:nvSpPr>
          <p:cNvPr id="13" name="矩形 12"/>
          <p:cNvSpPr/>
          <p:nvPr/>
        </p:nvSpPr>
        <p:spPr>
          <a:xfrm>
            <a:off x="824682" y="0"/>
            <a:ext cx="175443" cy="628650"/>
          </a:xfrm>
          <a:prstGeom prst="rect">
            <a:avLst/>
          </a:prstGeom>
          <a:solidFill>
            <a:srgbClr val="CFA57C"/>
          </a:solidFill>
          <a:ln cmpd="sng">
            <a:gradFill flip="none" rotWithShape="1">
              <a:gsLst>
                <a:gs pos="50000">
                  <a:schemeClr val="accent2">
                    <a:lumMod val="60000"/>
                    <a:lumOff val="40000"/>
                  </a:schemeClr>
                </a:gs>
                <a:gs pos="0">
                  <a:schemeClr val="accent2">
                    <a:lumMod val="20000"/>
                    <a:lumOff val="80000"/>
                  </a:schemeClr>
                </a:gs>
                <a:gs pos="95000">
                  <a:schemeClr val="accent2"/>
                </a:gs>
              </a:gsLst>
              <a:path path="circle">
                <a:fillToRect l="50000" t="-80000" r="50000" b="180000"/>
              </a:path>
              <a:tileRect/>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22" name="Picture 6" descr="D:\MBA工作\LOGO\同济经管LOGO反白.png"/>
          <p:cNvPicPr>
            <a:picLocks noChangeAspect="1" noChangeArrowheads="1"/>
          </p:cNvPicPr>
          <p:nvPr/>
        </p:nvPicPr>
        <p:blipFill>
          <a:blip r:embed="rId3" cstate="email">
            <a:extLst>
              <a:ext uri="{28A0092B-C50C-407E-A947-70E740481C1C}">
                <a14:useLocalDpi xmlns:a14="http://schemas.microsoft.com/office/drawing/2010/main" val="0"/>
              </a:ext>
            </a:extLst>
          </a:blip>
          <a:srcRect/>
          <a:stretch>
            <a:fillRect/>
          </a:stretch>
        </p:blipFill>
        <p:spPr bwMode="auto">
          <a:xfrm>
            <a:off x="10267423" y="165688"/>
            <a:ext cx="1386605" cy="462962"/>
          </a:xfrm>
          <a:prstGeom prst="rect">
            <a:avLst/>
          </a:prstGeom>
          <a:noFill/>
          <a:extLst>
            <a:ext uri="{909E8E84-426E-40DD-AFC4-6F175D3DCCD1}">
              <a14:hiddenFill xmlns:a14="http://schemas.microsoft.com/office/drawing/2010/main">
                <a:solidFill>
                  <a:srgbClr val="FFFFFF"/>
                </a:solidFill>
              </a14:hiddenFill>
            </a:ext>
          </a:extLst>
        </p:spPr>
      </p:pic>
      <p:pic>
        <p:nvPicPr>
          <p:cNvPr id="2" name="图片 1" descr="微信图片_20220318113523"/>
          <p:cNvPicPr>
            <a:picLocks noChangeAspect="1"/>
          </p:cNvPicPr>
          <p:nvPr userDrawn="1"/>
        </p:nvPicPr>
        <p:blipFill>
          <a:blip r:embed="rId4"/>
          <a:stretch>
            <a:fillRect/>
          </a:stretch>
        </p:blipFill>
        <p:spPr>
          <a:xfrm>
            <a:off x="9291877" y="6115050"/>
            <a:ext cx="2244725" cy="361315"/>
          </a:xfrm>
          <a:prstGeom prst="rect">
            <a:avLst/>
          </a:prstGeom>
        </p:spPr>
      </p:pic>
      <p:sp>
        <p:nvSpPr>
          <p:cNvPr id="18" name="Rectangle 2">
            <a:extLst>
              <a:ext uri="{FF2B5EF4-FFF2-40B4-BE49-F238E27FC236}">
                <a16:creationId xmlns:a16="http://schemas.microsoft.com/office/drawing/2014/main" id="{E217C615-1D49-4D07-B850-D36106D7AA9A}"/>
              </a:ext>
            </a:extLst>
          </p:cNvPr>
          <p:cNvSpPr>
            <a:spLocks noChangeArrowheads="1"/>
          </p:cNvSpPr>
          <p:nvPr/>
        </p:nvSpPr>
        <p:spPr bwMode="auto">
          <a:xfrm>
            <a:off x="1000125" y="815365"/>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9" name="文本框 8">
            <a:extLst>
              <a:ext uri="{FF2B5EF4-FFF2-40B4-BE49-F238E27FC236}">
                <a16:creationId xmlns:a16="http://schemas.microsoft.com/office/drawing/2014/main" id="{0F462FFF-A5E2-46E0-98CA-E32A18904F31}"/>
              </a:ext>
            </a:extLst>
          </p:cNvPr>
          <p:cNvSpPr txBox="1"/>
          <p:nvPr/>
        </p:nvSpPr>
        <p:spPr>
          <a:xfrm>
            <a:off x="661430" y="762000"/>
            <a:ext cx="10869139" cy="1855299"/>
          </a:xfrm>
          <a:prstGeom prst="rect">
            <a:avLst/>
          </a:prstGeom>
          <a:noFill/>
        </p:spPr>
        <p:txBody>
          <a:bodyPr wrap="square">
            <a:noAutofit/>
          </a:bodyPr>
          <a:lstStyle/>
          <a:p>
            <a:pPr marL="342900" indent="-342900">
              <a:lnSpc>
                <a:spcPct val="110000"/>
              </a:lnSpc>
              <a:buClr>
                <a:srgbClr val="0B61FF"/>
              </a:buClr>
              <a:buSzPct val="80000"/>
              <a:buFont typeface="Wingdings" panose="05000000000000000000" pitchFamily="2" charset="2"/>
              <a:buChar char="n"/>
            </a:pPr>
            <a:r>
              <a:rPr lang="en-US" sz="2400" b="1" dirty="0">
                <a:latin typeface="Trebuchet MS" panose="020B0603020202020204" pitchFamily="34" charset="0"/>
              </a:rPr>
              <a:t>Solution</a:t>
            </a:r>
            <a:r>
              <a:rPr lang="zh-CN" altLang="en-US" sz="2400" b="1" dirty="0">
                <a:latin typeface="Trebuchet MS" panose="020B0603020202020204" pitchFamily="34" charset="0"/>
                <a:cs typeface="Times New Roman" panose="02020603050405020304" pitchFamily="18" charset="0"/>
              </a:rPr>
              <a:t>：</a:t>
            </a:r>
            <a:endParaRPr lang="en-US" altLang="zh-CN" sz="2400" b="1" dirty="0">
              <a:latin typeface="Trebuchet MS" panose="020B0603020202020204" pitchFamily="34" charset="0"/>
              <a:cs typeface="Times New Roman" panose="02020603050405020304" pitchFamily="18" charset="0"/>
            </a:endParaRPr>
          </a:p>
          <a:p>
            <a:pPr marL="630238" indent="-450850">
              <a:lnSpc>
                <a:spcPct val="110000"/>
              </a:lnSpc>
            </a:pPr>
            <a:r>
              <a:rPr lang="en-US" altLang="zh-CN" sz="2400" b="1" dirty="0">
                <a:solidFill>
                  <a:srgbClr val="0B61FF"/>
                </a:solidFill>
                <a:latin typeface="Trebuchet MS" panose="020B0603020202020204" pitchFamily="34" charset="0"/>
                <a:cs typeface="Times New Roman" panose="02020603050405020304" pitchFamily="18" charset="0"/>
              </a:rPr>
              <a:t>③ </a:t>
            </a:r>
            <a:r>
              <a:rPr lang="en-US" altLang="zh-CN" sz="2400" dirty="0">
                <a:latin typeface="Trebuchet MS" panose="020B0603020202020204" pitchFamily="34" charset="0"/>
              </a:rPr>
              <a:t>Assign codes. For characters with the same frequency, their codes or fixed-length codes can be interchanged without affecting the </a:t>
            </a:r>
            <a:r>
              <a:rPr lang="en-US" altLang="zh-CN" sz="2400" b="1" dirty="0">
                <a:latin typeface="Trebuchet MS" panose="020B0603020202020204" pitchFamily="34" charset="0"/>
              </a:rPr>
              <a:t>validity</a:t>
            </a:r>
            <a:r>
              <a:rPr lang="en-US" altLang="zh-CN" sz="2400" dirty="0">
                <a:latin typeface="Trebuchet MS" panose="020B0603020202020204" pitchFamily="34" charset="0"/>
              </a:rPr>
              <a:t> or </a:t>
            </a:r>
            <a:r>
              <a:rPr lang="en-US" altLang="zh-CN" sz="2400" b="1" dirty="0">
                <a:latin typeface="Trebuchet MS" panose="020B0603020202020204" pitchFamily="34" charset="0"/>
              </a:rPr>
              <a:t>optimality</a:t>
            </a:r>
            <a:r>
              <a:rPr lang="en-US" altLang="zh-CN" sz="2400" dirty="0">
                <a:latin typeface="Trebuchet MS" panose="020B0603020202020204" pitchFamily="34" charset="0"/>
              </a:rPr>
              <a:t> of the encoding.</a:t>
            </a:r>
            <a:endParaRPr lang="en-US" altLang="zh-CN" sz="2400" b="1" dirty="0">
              <a:latin typeface="Trebuchet MS" panose="020B0603020202020204" pitchFamily="34" charset="0"/>
            </a:endParaRPr>
          </a:p>
          <a:p>
            <a:pPr marL="630238" indent="-450850">
              <a:lnSpc>
                <a:spcPct val="110000"/>
              </a:lnSpc>
            </a:pPr>
            <a:endParaRPr lang="en-US" altLang="zh-CN" sz="2400" b="1" dirty="0">
              <a:latin typeface="Trebuchet MS" panose="020B0603020202020204" pitchFamily="34" charset="0"/>
            </a:endParaRPr>
          </a:p>
          <a:p>
            <a:pPr marL="630238" indent="-450850">
              <a:lnSpc>
                <a:spcPct val="110000"/>
              </a:lnSpc>
            </a:pPr>
            <a:endParaRPr lang="zh-CN" altLang="en-US" sz="2400" b="1" dirty="0">
              <a:latin typeface="Trebuchet MS" panose="020B0603020202020204" pitchFamily="34" charset="0"/>
              <a:cs typeface="Times New Roman" panose="02020603050405020304" pitchFamily="18" charset="0"/>
            </a:endParaRPr>
          </a:p>
        </p:txBody>
      </p:sp>
      <p:graphicFrame>
        <p:nvGraphicFramePr>
          <p:cNvPr id="11" name="表格 6">
            <a:extLst>
              <a:ext uri="{FF2B5EF4-FFF2-40B4-BE49-F238E27FC236}">
                <a16:creationId xmlns:a16="http://schemas.microsoft.com/office/drawing/2014/main" id="{9F2973BE-D566-46FA-9049-C3DE5EDDD894}"/>
              </a:ext>
            </a:extLst>
          </p:cNvPr>
          <p:cNvGraphicFramePr>
            <a:graphicFrameLocks noGrp="1"/>
          </p:cNvGraphicFramePr>
          <p:nvPr>
            <p:extLst>
              <p:ext uri="{D42A27DB-BD31-4B8C-83A1-F6EECF244321}">
                <p14:modId xmlns:p14="http://schemas.microsoft.com/office/powerpoint/2010/main" val="2804863440"/>
              </p:ext>
            </p:extLst>
          </p:nvPr>
        </p:nvGraphicFramePr>
        <p:xfrm>
          <a:off x="996958" y="2533380"/>
          <a:ext cx="10300516" cy="2931152"/>
        </p:xfrm>
        <a:graphic>
          <a:graphicData uri="http://schemas.openxmlformats.org/drawingml/2006/table">
            <a:tbl>
              <a:tblPr firstRow="1" bandRow="1">
                <a:tableStyleId>{5C22544A-7EE6-4342-B048-85BDC9FD1C3A}</a:tableStyleId>
              </a:tblPr>
              <a:tblGrid>
                <a:gridCol w="1859451">
                  <a:extLst>
                    <a:ext uri="{9D8B030D-6E8A-4147-A177-3AD203B41FA5}">
                      <a16:colId xmlns:a16="http://schemas.microsoft.com/office/drawing/2014/main" val="4154359370"/>
                    </a:ext>
                  </a:extLst>
                </a:gridCol>
                <a:gridCol w="959390">
                  <a:extLst>
                    <a:ext uri="{9D8B030D-6E8A-4147-A177-3AD203B41FA5}">
                      <a16:colId xmlns:a16="http://schemas.microsoft.com/office/drawing/2014/main" val="1331483046"/>
                    </a:ext>
                  </a:extLst>
                </a:gridCol>
                <a:gridCol w="1064323">
                  <a:extLst>
                    <a:ext uri="{9D8B030D-6E8A-4147-A177-3AD203B41FA5}">
                      <a16:colId xmlns:a16="http://schemas.microsoft.com/office/drawing/2014/main" val="3833036226"/>
                    </a:ext>
                  </a:extLst>
                </a:gridCol>
                <a:gridCol w="1004362">
                  <a:extLst>
                    <a:ext uri="{9D8B030D-6E8A-4147-A177-3AD203B41FA5}">
                      <a16:colId xmlns:a16="http://schemas.microsoft.com/office/drawing/2014/main" val="848854554"/>
                    </a:ext>
                  </a:extLst>
                </a:gridCol>
                <a:gridCol w="1034342">
                  <a:extLst>
                    <a:ext uri="{9D8B030D-6E8A-4147-A177-3AD203B41FA5}">
                      <a16:colId xmlns:a16="http://schemas.microsoft.com/office/drawing/2014/main" val="1090439628"/>
                    </a:ext>
                  </a:extLst>
                </a:gridCol>
                <a:gridCol w="1034038">
                  <a:extLst>
                    <a:ext uri="{9D8B030D-6E8A-4147-A177-3AD203B41FA5}">
                      <a16:colId xmlns:a16="http://schemas.microsoft.com/office/drawing/2014/main" val="2752968567"/>
                    </a:ext>
                  </a:extLst>
                </a:gridCol>
                <a:gridCol w="1033024">
                  <a:extLst>
                    <a:ext uri="{9D8B030D-6E8A-4147-A177-3AD203B41FA5}">
                      <a16:colId xmlns:a16="http://schemas.microsoft.com/office/drawing/2014/main" val="2406532949"/>
                    </a:ext>
                  </a:extLst>
                </a:gridCol>
                <a:gridCol w="1182738">
                  <a:extLst>
                    <a:ext uri="{9D8B030D-6E8A-4147-A177-3AD203B41FA5}">
                      <a16:colId xmlns:a16="http://schemas.microsoft.com/office/drawing/2014/main" val="1085582691"/>
                    </a:ext>
                  </a:extLst>
                </a:gridCol>
                <a:gridCol w="1128848">
                  <a:extLst>
                    <a:ext uri="{9D8B030D-6E8A-4147-A177-3AD203B41FA5}">
                      <a16:colId xmlns:a16="http://schemas.microsoft.com/office/drawing/2014/main" val="3568188800"/>
                    </a:ext>
                  </a:extLst>
                </a:gridCol>
              </a:tblGrid>
              <a:tr h="431792">
                <a:tc>
                  <a:txBody>
                    <a:bodyPr/>
                    <a:lstStyle/>
                    <a:p>
                      <a:r>
                        <a:rPr lang="en-US" sz="2000" kern="1200" dirty="0">
                          <a:solidFill>
                            <a:srgbClr val="0B61FF"/>
                          </a:solidFill>
                          <a:latin typeface="Trebuchet MS" panose="020B0603020202020204" pitchFamily="34" charset="0"/>
                          <a:ea typeface="+mn-ea"/>
                          <a:cs typeface="+mn-cs"/>
                        </a:rPr>
                        <a:t>Digit </a:t>
                      </a:r>
                      <a:endParaRPr lang="zh-CN" altLang="en-US" sz="2000" kern="1200" dirty="0">
                        <a:solidFill>
                          <a:srgbClr val="0B61FF"/>
                        </a:solidFill>
                        <a:latin typeface="Trebuchet MS" panose="020B0603020202020204" pitchFamily="34" charset="0"/>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altLang="zh-CN" sz="2000" b="1" dirty="0">
                          <a:solidFill>
                            <a:schemeClr val="tx1"/>
                          </a:solidFill>
                          <a:latin typeface="Trebuchet MS" panose="020B0603020202020204" pitchFamily="34" charset="0"/>
                          <a:cs typeface="Times New Roman" panose="02020603050405020304" pitchFamily="18" charset="0"/>
                        </a:rPr>
                        <a:t>0</a:t>
                      </a:r>
                      <a:endParaRPr lang="zh-CN" altLang="en-US" sz="2000" b="1" dirty="0">
                        <a:solidFill>
                          <a:schemeClr val="tx1"/>
                        </a:solidFill>
                        <a:latin typeface="Trebuchet MS" panose="020B0603020202020204" pitchFamily="34"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altLang="zh-CN" sz="2000" b="1" dirty="0">
                          <a:solidFill>
                            <a:schemeClr val="tx1"/>
                          </a:solidFill>
                          <a:latin typeface="Trebuchet MS" panose="020B0603020202020204" pitchFamily="34" charset="0"/>
                          <a:cs typeface="Times New Roman" panose="02020603050405020304" pitchFamily="18" charset="0"/>
                        </a:rPr>
                        <a:t>1</a:t>
                      </a:r>
                      <a:endParaRPr lang="zh-CN" altLang="en-US" sz="2000" b="1" dirty="0">
                        <a:solidFill>
                          <a:schemeClr val="tx1"/>
                        </a:solidFill>
                        <a:latin typeface="Trebuchet MS" panose="020B0603020202020204" pitchFamily="34"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altLang="zh-CN" sz="2000" b="1" dirty="0">
                          <a:solidFill>
                            <a:schemeClr val="tx1"/>
                          </a:solidFill>
                          <a:latin typeface="Trebuchet MS" panose="020B0603020202020204" pitchFamily="34" charset="0"/>
                          <a:cs typeface="Times New Roman" panose="02020603050405020304" pitchFamily="18" charset="0"/>
                        </a:rPr>
                        <a:t>2</a:t>
                      </a:r>
                      <a:endParaRPr lang="zh-CN" altLang="en-US" sz="2000" b="1" dirty="0">
                        <a:solidFill>
                          <a:schemeClr val="tx1"/>
                        </a:solidFill>
                        <a:latin typeface="Trebuchet MS" panose="020B0603020202020204" pitchFamily="34"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altLang="zh-CN" sz="2000" b="1" dirty="0">
                          <a:solidFill>
                            <a:schemeClr val="tx1"/>
                          </a:solidFill>
                          <a:latin typeface="Trebuchet MS" panose="020B0603020202020204" pitchFamily="34" charset="0"/>
                          <a:cs typeface="Times New Roman" panose="02020603050405020304" pitchFamily="18" charset="0"/>
                        </a:rPr>
                        <a:t>3</a:t>
                      </a:r>
                      <a:endParaRPr lang="zh-CN" altLang="en-US" sz="2000" b="1" dirty="0">
                        <a:solidFill>
                          <a:schemeClr val="tx1"/>
                        </a:solidFill>
                        <a:latin typeface="Trebuchet MS" panose="020B0603020202020204" pitchFamily="34"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altLang="zh-CN" sz="2000" b="1" dirty="0">
                          <a:solidFill>
                            <a:schemeClr val="tx1"/>
                          </a:solidFill>
                          <a:latin typeface="Trebuchet MS" panose="020B0603020202020204" pitchFamily="34" charset="0"/>
                          <a:cs typeface="Times New Roman" panose="02020603050405020304" pitchFamily="18" charset="0"/>
                        </a:rPr>
                        <a:t>4</a:t>
                      </a:r>
                      <a:endParaRPr lang="zh-CN" altLang="en-US" sz="2000" b="1" dirty="0">
                        <a:solidFill>
                          <a:schemeClr val="tx1"/>
                        </a:solidFill>
                        <a:latin typeface="Trebuchet MS" panose="020B0603020202020204" pitchFamily="34"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altLang="zh-CN" sz="2000" b="1" dirty="0">
                          <a:solidFill>
                            <a:schemeClr val="tx1"/>
                          </a:solidFill>
                          <a:latin typeface="Trebuchet MS" panose="020B0603020202020204" pitchFamily="34" charset="0"/>
                          <a:cs typeface="Times New Roman" panose="02020603050405020304" pitchFamily="18" charset="0"/>
                        </a:rPr>
                        <a:t>5</a:t>
                      </a:r>
                      <a:endParaRPr lang="zh-CN" altLang="en-US" sz="2000" b="1" dirty="0">
                        <a:solidFill>
                          <a:schemeClr val="tx1"/>
                        </a:solidFill>
                        <a:latin typeface="Trebuchet MS" panose="020B0603020202020204" pitchFamily="34"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altLang="zh-CN" sz="2000" b="1" dirty="0">
                          <a:solidFill>
                            <a:schemeClr val="tx1"/>
                          </a:solidFill>
                          <a:latin typeface="Trebuchet MS" panose="020B0603020202020204" pitchFamily="34" charset="0"/>
                          <a:cs typeface="Times New Roman" panose="02020603050405020304" pitchFamily="18" charset="0"/>
                        </a:rPr>
                        <a:t>6</a:t>
                      </a:r>
                      <a:endParaRPr lang="zh-CN" altLang="en-US" sz="2000" b="1" dirty="0">
                        <a:solidFill>
                          <a:schemeClr val="tx1"/>
                        </a:solidFill>
                        <a:latin typeface="Trebuchet MS" panose="020B0603020202020204" pitchFamily="34"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altLang="zh-CN" sz="2000" b="1" dirty="0">
                          <a:solidFill>
                            <a:schemeClr val="tx1"/>
                          </a:solidFill>
                          <a:latin typeface="Trebuchet MS" panose="020B0603020202020204" pitchFamily="34" charset="0"/>
                          <a:cs typeface="Times New Roman" panose="02020603050405020304" pitchFamily="18" charset="0"/>
                        </a:rPr>
                        <a:t>7</a:t>
                      </a:r>
                      <a:endParaRPr lang="zh-CN" altLang="en-US" sz="2000" b="1" dirty="0">
                        <a:solidFill>
                          <a:schemeClr val="tx1"/>
                        </a:solidFill>
                        <a:latin typeface="Trebuchet MS" panose="020B0603020202020204" pitchFamily="34"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767591962"/>
                  </a:ext>
                </a:extLst>
              </a:tr>
              <a:tr h="353169">
                <a:tc>
                  <a:txBody>
                    <a:bodyPr/>
                    <a:lstStyle/>
                    <a:p>
                      <a:r>
                        <a:rPr lang="en-US" sz="2000" b="1" dirty="0">
                          <a:solidFill>
                            <a:srgbClr val="0B61FF"/>
                          </a:solidFill>
                          <a:latin typeface="Trebuchet MS" panose="020B0603020202020204" pitchFamily="34" charset="0"/>
                        </a:rPr>
                        <a:t>Frequency </a:t>
                      </a:r>
                      <a:endParaRPr lang="zh-CN" altLang="en-US" sz="2000" b="1" dirty="0">
                        <a:solidFill>
                          <a:srgbClr val="0B61FF"/>
                        </a:solidFill>
                        <a:latin typeface="Trebuchet MS" panose="020B0603020202020204" pitchFamily="34"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4">
                        <a:lumMod val="20000"/>
                        <a:lumOff val="80000"/>
                      </a:schemeClr>
                    </a:solidFill>
                  </a:tcPr>
                </a:tc>
                <a:tc>
                  <a:txBody>
                    <a:bodyPr/>
                    <a:lstStyle/>
                    <a:p>
                      <a:pPr algn="ctr"/>
                      <a:r>
                        <a:rPr lang="en-US" altLang="zh-CN" sz="2000" b="1" dirty="0">
                          <a:latin typeface="Trebuchet MS" panose="020B0603020202020204" pitchFamily="34" charset="0"/>
                          <a:cs typeface="Times New Roman" panose="02020603050405020304" pitchFamily="18" charset="0"/>
                        </a:rPr>
                        <a:t>30%</a:t>
                      </a:r>
                      <a:endParaRPr lang="zh-CN" altLang="en-US" sz="2000" b="1" dirty="0">
                        <a:latin typeface="Trebuchet MS" panose="020B0603020202020204" pitchFamily="34"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4">
                        <a:lumMod val="20000"/>
                        <a:lumOff val="80000"/>
                      </a:schemeClr>
                    </a:solidFill>
                  </a:tcPr>
                </a:tc>
                <a:tc>
                  <a:txBody>
                    <a:bodyPr/>
                    <a:lstStyle/>
                    <a:p>
                      <a:pPr algn="ctr"/>
                      <a:r>
                        <a:rPr lang="en-US" altLang="zh-CN" sz="2000" b="1" dirty="0">
                          <a:latin typeface="Trebuchet MS" panose="020B0603020202020204" pitchFamily="34" charset="0"/>
                          <a:cs typeface="Times New Roman" panose="02020603050405020304" pitchFamily="18" charset="0"/>
                        </a:rPr>
                        <a:t>20%</a:t>
                      </a:r>
                      <a:endParaRPr lang="zh-CN" altLang="en-US" sz="2000" b="1" dirty="0">
                        <a:latin typeface="Trebuchet MS" panose="020B0603020202020204" pitchFamily="34"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4">
                        <a:lumMod val="20000"/>
                        <a:lumOff val="80000"/>
                      </a:schemeClr>
                    </a:solidFill>
                  </a:tcPr>
                </a:tc>
                <a:tc>
                  <a:txBody>
                    <a:bodyPr/>
                    <a:lstStyle/>
                    <a:p>
                      <a:pPr algn="ctr"/>
                      <a:r>
                        <a:rPr lang="en-US" altLang="zh-CN" sz="2000" b="1" dirty="0">
                          <a:latin typeface="Trebuchet MS" panose="020B0603020202020204" pitchFamily="34" charset="0"/>
                          <a:cs typeface="Times New Roman" panose="02020603050405020304" pitchFamily="18" charset="0"/>
                        </a:rPr>
                        <a:t>15%</a:t>
                      </a:r>
                      <a:endParaRPr lang="zh-CN" altLang="en-US" sz="2000" b="1" dirty="0">
                        <a:latin typeface="Trebuchet MS" panose="020B0603020202020204" pitchFamily="34"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4">
                        <a:lumMod val="20000"/>
                        <a:lumOff val="80000"/>
                      </a:schemeClr>
                    </a:solidFill>
                  </a:tcPr>
                </a:tc>
                <a:tc>
                  <a:txBody>
                    <a:bodyPr/>
                    <a:lstStyle/>
                    <a:p>
                      <a:pPr algn="ctr"/>
                      <a:r>
                        <a:rPr lang="en-US" altLang="zh-CN" sz="2000" b="1" dirty="0">
                          <a:latin typeface="Trebuchet MS" panose="020B0603020202020204" pitchFamily="34" charset="0"/>
                          <a:cs typeface="Times New Roman" panose="02020603050405020304" pitchFamily="18" charset="0"/>
                        </a:rPr>
                        <a:t>10%</a:t>
                      </a:r>
                      <a:endParaRPr lang="zh-CN" altLang="en-US" sz="2000" b="1" dirty="0">
                        <a:latin typeface="Trebuchet MS" panose="020B0603020202020204" pitchFamily="34"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4">
                        <a:lumMod val="20000"/>
                        <a:lumOff val="80000"/>
                      </a:schemeClr>
                    </a:solidFill>
                  </a:tcPr>
                </a:tc>
                <a:tc>
                  <a:txBody>
                    <a:bodyPr/>
                    <a:lstStyle/>
                    <a:p>
                      <a:pPr algn="ctr"/>
                      <a:r>
                        <a:rPr lang="en-US" altLang="zh-CN" sz="2000" b="1" dirty="0">
                          <a:latin typeface="Trebuchet MS" panose="020B0603020202020204" pitchFamily="34" charset="0"/>
                          <a:cs typeface="Times New Roman" panose="02020603050405020304" pitchFamily="18" charset="0"/>
                        </a:rPr>
                        <a:t>10%</a:t>
                      </a:r>
                      <a:endParaRPr lang="zh-CN" altLang="en-US" sz="2000" b="1" dirty="0">
                        <a:latin typeface="Trebuchet MS" panose="020B0603020202020204" pitchFamily="34"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4">
                        <a:lumMod val="20000"/>
                        <a:lumOff val="80000"/>
                      </a:schemeClr>
                    </a:solidFill>
                  </a:tcPr>
                </a:tc>
                <a:tc>
                  <a:txBody>
                    <a:bodyPr/>
                    <a:lstStyle/>
                    <a:p>
                      <a:pPr algn="ctr"/>
                      <a:r>
                        <a:rPr lang="en-US" altLang="zh-CN" sz="2000" b="1" dirty="0">
                          <a:latin typeface="Trebuchet MS" panose="020B0603020202020204" pitchFamily="34" charset="0"/>
                          <a:cs typeface="Times New Roman" panose="02020603050405020304" pitchFamily="18" charset="0"/>
                        </a:rPr>
                        <a:t>5%</a:t>
                      </a:r>
                      <a:endParaRPr lang="zh-CN" altLang="en-US" sz="2000" b="1" dirty="0">
                        <a:latin typeface="Trebuchet MS" panose="020B0603020202020204" pitchFamily="34"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4">
                        <a:lumMod val="20000"/>
                        <a:lumOff val="80000"/>
                      </a:schemeClr>
                    </a:solidFill>
                  </a:tcPr>
                </a:tc>
                <a:tc>
                  <a:txBody>
                    <a:bodyPr/>
                    <a:lstStyle/>
                    <a:p>
                      <a:pPr algn="ctr"/>
                      <a:r>
                        <a:rPr lang="en-US" altLang="zh-CN" sz="2000" b="1" dirty="0">
                          <a:latin typeface="Trebuchet MS" panose="020B0603020202020204" pitchFamily="34" charset="0"/>
                          <a:cs typeface="Times New Roman" panose="02020603050405020304" pitchFamily="18" charset="0"/>
                        </a:rPr>
                        <a:t>5%</a:t>
                      </a:r>
                      <a:endParaRPr lang="zh-CN" altLang="en-US" sz="2000" b="1" dirty="0">
                        <a:latin typeface="Trebuchet MS" panose="020B0603020202020204" pitchFamily="34"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4">
                        <a:lumMod val="20000"/>
                        <a:lumOff val="8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2000" b="1" dirty="0">
                          <a:latin typeface="Trebuchet MS" panose="020B0603020202020204" pitchFamily="34" charset="0"/>
                          <a:cs typeface="Times New Roman" panose="02020603050405020304" pitchFamily="18" charset="0"/>
                        </a:rPr>
                        <a:t>5%</a:t>
                      </a:r>
                      <a:endParaRPr lang="zh-CN" altLang="en-US" sz="2000" b="1" dirty="0">
                        <a:latin typeface="Trebuchet MS" panose="020B0603020202020204" pitchFamily="34"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4">
                        <a:lumMod val="20000"/>
                        <a:lumOff val="80000"/>
                      </a:schemeClr>
                    </a:solidFill>
                  </a:tcPr>
                </a:tc>
                <a:extLst>
                  <a:ext uri="{0D108BD9-81ED-4DB2-BD59-A6C34878D82A}">
                    <a16:rowId xmlns:a16="http://schemas.microsoft.com/office/drawing/2014/main" val="1675536068"/>
                  </a:ext>
                </a:extLst>
              </a:tr>
              <a:tr h="347096">
                <a:tc>
                  <a:txBody>
                    <a:bodyPr/>
                    <a:lstStyle/>
                    <a:p>
                      <a:r>
                        <a:rPr lang="en-US" sz="2000" b="1" dirty="0">
                          <a:solidFill>
                            <a:srgbClr val="0B61FF"/>
                          </a:solidFill>
                          <a:latin typeface="Trebuchet MS" panose="020B0603020202020204" pitchFamily="34" charset="0"/>
                        </a:rPr>
                        <a:t>Huffman Code </a:t>
                      </a:r>
                      <a:endParaRPr lang="zh-CN" altLang="en-US" sz="2000" b="1" dirty="0">
                        <a:solidFill>
                          <a:srgbClr val="0B61FF"/>
                        </a:solidFill>
                        <a:latin typeface="Trebuchet MS" panose="020B0603020202020204" pitchFamily="34"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altLang="zh-CN" sz="2000" b="1" dirty="0">
                          <a:latin typeface="Trebuchet MS" panose="020B0603020202020204" pitchFamily="34" charset="0"/>
                          <a:cs typeface="Times New Roman" panose="02020603050405020304" pitchFamily="18" charset="0"/>
                        </a:rPr>
                        <a:t>01</a:t>
                      </a:r>
                      <a:endParaRPr lang="zh-CN" altLang="en-US" sz="2000" b="1" dirty="0">
                        <a:latin typeface="Trebuchet MS" panose="020B0603020202020204" pitchFamily="34"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altLang="zh-CN" sz="2000" b="1" dirty="0">
                          <a:latin typeface="Trebuchet MS" panose="020B0603020202020204" pitchFamily="34" charset="0"/>
                          <a:cs typeface="Times New Roman" panose="02020603050405020304" pitchFamily="18" charset="0"/>
                        </a:rPr>
                        <a:t>11</a:t>
                      </a:r>
                      <a:endParaRPr lang="zh-CN" altLang="en-US" sz="2000" b="1" dirty="0">
                        <a:latin typeface="Trebuchet MS" panose="020B0603020202020204" pitchFamily="34"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altLang="zh-CN" sz="2000" b="1" dirty="0">
                          <a:latin typeface="Trebuchet MS" panose="020B0603020202020204" pitchFamily="34" charset="0"/>
                          <a:cs typeface="Times New Roman" panose="02020603050405020304" pitchFamily="18" charset="0"/>
                        </a:rPr>
                        <a:t>001</a:t>
                      </a:r>
                      <a:endParaRPr lang="zh-CN" altLang="en-US" sz="2000" b="1" dirty="0">
                        <a:latin typeface="Trebuchet MS" panose="020B0603020202020204" pitchFamily="34"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altLang="zh-CN" sz="2000" b="1" dirty="0">
                          <a:latin typeface="Trebuchet MS" panose="020B0603020202020204" pitchFamily="34" charset="0"/>
                          <a:cs typeface="Times New Roman" panose="02020603050405020304" pitchFamily="18" charset="0"/>
                        </a:rPr>
                        <a:t>100</a:t>
                      </a:r>
                      <a:endParaRPr lang="zh-CN" altLang="en-US" sz="2000" b="1" dirty="0">
                        <a:latin typeface="Trebuchet MS" panose="020B0603020202020204" pitchFamily="34"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altLang="zh-CN" sz="2000" b="1" dirty="0">
                          <a:latin typeface="Trebuchet MS" panose="020B0603020202020204" pitchFamily="34" charset="0"/>
                          <a:cs typeface="Times New Roman" panose="02020603050405020304" pitchFamily="18" charset="0"/>
                        </a:rPr>
                        <a:t>101</a:t>
                      </a:r>
                      <a:endParaRPr lang="zh-CN" altLang="en-US" sz="2000" b="1" dirty="0">
                        <a:latin typeface="Trebuchet MS" panose="020B0603020202020204" pitchFamily="34"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altLang="zh-CN" sz="2000" b="1" dirty="0">
                          <a:latin typeface="Trebuchet MS" panose="020B0603020202020204" pitchFamily="34" charset="0"/>
                          <a:cs typeface="Times New Roman" panose="02020603050405020304" pitchFamily="18" charset="0"/>
                        </a:rPr>
                        <a:t>0001</a:t>
                      </a:r>
                      <a:endParaRPr lang="zh-CN" altLang="en-US" sz="2000" b="1" dirty="0">
                        <a:latin typeface="Trebuchet MS" panose="020B0603020202020204" pitchFamily="34"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altLang="zh-CN" sz="2000" b="1" dirty="0">
                          <a:latin typeface="Trebuchet MS" panose="020B0603020202020204" pitchFamily="34" charset="0"/>
                          <a:cs typeface="Times New Roman" panose="02020603050405020304" pitchFamily="18" charset="0"/>
                        </a:rPr>
                        <a:t>00001</a:t>
                      </a:r>
                      <a:endParaRPr lang="zh-CN" altLang="en-US" sz="2000" b="1" dirty="0">
                        <a:latin typeface="Trebuchet MS" panose="020B0603020202020204" pitchFamily="34"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altLang="zh-CN" sz="2000" b="1" dirty="0">
                          <a:latin typeface="Trebuchet MS" panose="020B0603020202020204" pitchFamily="34" charset="0"/>
                          <a:cs typeface="Times New Roman" panose="02020603050405020304" pitchFamily="18" charset="0"/>
                        </a:rPr>
                        <a:t>00000</a:t>
                      </a:r>
                      <a:endParaRPr lang="zh-CN" altLang="en-US" sz="2000" b="1" dirty="0">
                        <a:latin typeface="Trebuchet MS" panose="020B0603020202020204" pitchFamily="34"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179580931"/>
                  </a:ext>
                </a:extLst>
              </a:tr>
              <a:tr h="347096">
                <a:tc>
                  <a:txBody>
                    <a:bodyPr/>
                    <a:lstStyle/>
                    <a:p>
                      <a:r>
                        <a:rPr lang="en-US" sz="2000" b="1" dirty="0">
                          <a:solidFill>
                            <a:srgbClr val="0B61FF"/>
                          </a:solidFill>
                          <a:latin typeface="Trebuchet MS" panose="020B0603020202020204" pitchFamily="34" charset="0"/>
                        </a:rPr>
                        <a:t>Code Length</a:t>
                      </a:r>
                      <a:endParaRPr lang="zh-CN" altLang="en-US" sz="2000" b="1" dirty="0">
                        <a:solidFill>
                          <a:srgbClr val="0B61FF"/>
                        </a:solidFill>
                        <a:latin typeface="Trebuchet MS" panose="020B0603020202020204" pitchFamily="34"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4">
                        <a:lumMod val="20000"/>
                        <a:lumOff val="80000"/>
                      </a:schemeClr>
                    </a:solidFill>
                  </a:tcPr>
                </a:tc>
                <a:tc>
                  <a:txBody>
                    <a:bodyPr/>
                    <a:lstStyle/>
                    <a:p>
                      <a:pPr algn="ctr"/>
                      <a:r>
                        <a:rPr lang="en-US" altLang="zh-CN" sz="2000" b="1" dirty="0">
                          <a:latin typeface="Trebuchet MS" panose="020B0603020202020204" pitchFamily="34" charset="0"/>
                          <a:cs typeface="Times New Roman" panose="02020603050405020304" pitchFamily="18" charset="0"/>
                        </a:rPr>
                        <a:t>2</a:t>
                      </a:r>
                      <a:endParaRPr lang="zh-CN" altLang="en-US" sz="2000" b="1" dirty="0">
                        <a:latin typeface="Trebuchet MS" panose="020B0603020202020204" pitchFamily="34"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4">
                        <a:lumMod val="20000"/>
                        <a:lumOff val="80000"/>
                      </a:schemeClr>
                    </a:solidFill>
                  </a:tcPr>
                </a:tc>
                <a:tc>
                  <a:txBody>
                    <a:bodyPr/>
                    <a:lstStyle/>
                    <a:p>
                      <a:pPr algn="ctr"/>
                      <a:r>
                        <a:rPr lang="en-US" altLang="zh-CN" sz="2000" b="1" dirty="0">
                          <a:latin typeface="Trebuchet MS" panose="020B0603020202020204" pitchFamily="34" charset="0"/>
                          <a:cs typeface="Times New Roman" panose="02020603050405020304" pitchFamily="18" charset="0"/>
                        </a:rPr>
                        <a:t>2</a:t>
                      </a:r>
                      <a:endParaRPr lang="zh-CN" altLang="en-US" sz="2000" b="1" dirty="0">
                        <a:latin typeface="Trebuchet MS" panose="020B0603020202020204" pitchFamily="34"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4">
                        <a:lumMod val="20000"/>
                        <a:lumOff val="80000"/>
                      </a:schemeClr>
                    </a:solidFill>
                  </a:tcPr>
                </a:tc>
                <a:tc>
                  <a:txBody>
                    <a:bodyPr/>
                    <a:lstStyle/>
                    <a:p>
                      <a:pPr algn="ctr"/>
                      <a:r>
                        <a:rPr lang="en-US" altLang="zh-CN" sz="2000" b="1" dirty="0">
                          <a:latin typeface="Trebuchet MS" panose="020B0603020202020204" pitchFamily="34" charset="0"/>
                          <a:cs typeface="Times New Roman" panose="02020603050405020304" pitchFamily="18" charset="0"/>
                        </a:rPr>
                        <a:t>3</a:t>
                      </a:r>
                      <a:endParaRPr lang="zh-CN" altLang="en-US" sz="2000" b="1" dirty="0">
                        <a:latin typeface="Trebuchet MS" panose="020B0603020202020204" pitchFamily="34"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4">
                        <a:lumMod val="20000"/>
                        <a:lumOff val="80000"/>
                      </a:schemeClr>
                    </a:solidFill>
                  </a:tcPr>
                </a:tc>
                <a:tc>
                  <a:txBody>
                    <a:bodyPr/>
                    <a:lstStyle/>
                    <a:p>
                      <a:pPr algn="ctr"/>
                      <a:r>
                        <a:rPr lang="en-US" altLang="zh-CN" sz="2000" b="1" dirty="0">
                          <a:latin typeface="Trebuchet MS" panose="020B0603020202020204" pitchFamily="34" charset="0"/>
                          <a:cs typeface="Times New Roman" panose="02020603050405020304" pitchFamily="18" charset="0"/>
                        </a:rPr>
                        <a:t>3</a:t>
                      </a:r>
                      <a:endParaRPr lang="zh-CN" altLang="en-US" sz="2000" b="1" dirty="0">
                        <a:latin typeface="Trebuchet MS" panose="020B0603020202020204" pitchFamily="34"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4">
                        <a:lumMod val="20000"/>
                        <a:lumOff val="80000"/>
                      </a:schemeClr>
                    </a:solidFill>
                  </a:tcPr>
                </a:tc>
                <a:tc>
                  <a:txBody>
                    <a:bodyPr/>
                    <a:lstStyle/>
                    <a:p>
                      <a:pPr algn="ctr"/>
                      <a:r>
                        <a:rPr lang="en-US" altLang="zh-CN" sz="2000" b="1" dirty="0">
                          <a:latin typeface="Trebuchet MS" panose="020B0603020202020204" pitchFamily="34" charset="0"/>
                          <a:cs typeface="Times New Roman" panose="02020603050405020304" pitchFamily="18" charset="0"/>
                        </a:rPr>
                        <a:t>3</a:t>
                      </a:r>
                      <a:endParaRPr lang="zh-CN" altLang="en-US" sz="2000" b="1" dirty="0">
                        <a:latin typeface="Trebuchet MS" panose="020B0603020202020204" pitchFamily="34"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4">
                        <a:lumMod val="20000"/>
                        <a:lumOff val="80000"/>
                      </a:schemeClr>
                    </a:solidFill>
                  </a:tcPr>
                </a:tc>
                <a:tc>
                  <a:txBody>
                    <a:bodyPr/>
                    <a:lstStyle/>
                    <a:p>
                      <a:pPr algn="ctr"/>
                      <a:r>
                        <a:rPr lang="en-US" altLang="zh-CN" sz="2000" b="1" dirty="0">
                          <a:latin typeface="Trebuchet MS" panose="020B0603020202020204" pitchFamily="34" charset="0"/>
                          <a:cs typeface="Times New Roman" panose="02020603050405020304" pitchFamily="18" charset="0"/>
                        </a:rPr>
                        <a:t>4</a:t>
                      </a:r>
                      <a:endParaRPr lang="zh-CN" altLang="en-US" sz="2000" b="1" dirty="0">
                        <a:latin typeface="Trebuchet MS" panose="020B0603020202020204" pitchFamily="34"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4">
                        <a:lumMod val="20000"/>
                        <a:lumOff val="80000"/>
                      </a:schemeClr>
                    </a:solidFill>
                  </a:tcPr>
                </a:tc>
                <a:tc>
                  <a:txBody>
                    <a:bodyPr/>
                    <a:lstStyle/>
                    <a:p>
                      <a:pPr algn="ctr"/>
                      <a:r>
                        <a:rPr lang="en-US" altLang="zh-CN" sz="2000" b="1" dirty="0">
                          <a:latin typeface="Trebuchet MS" panose="020B0603020202020204" pitchFamily="34" charset="0"/>
                          <a:cs typeface="Times New Roman" panose="02020603050405020304" pitchFamily="18" charset="0"/>
                        </a:rPr>
                        <a:t>5</a:t>
                      </a:r>
                      <a:endParaRPr lang="zh-CN" altLang="en-US" sz="2000" b="1" dirty="0">
                        <a:latin typeface="Trebuchet MS" panose="020B0603020202020204" pitchFamily="34"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4">
                        <a:lumMod val="20000"/>
                        <a:lumOff val="80000"/>
                      </a:schemeClr>
                    </a:solidFill>
                  </a:tcPr>
                </a:tc>
                <a:tc>
                  <a:txBody>
                    <a:bodyPr/>
                    <a:lstStyle/>
                    <a:p>
                      <a:pPr algn="ctr"/>
                      <a:r>
                        <a:rPr lang="en-US" altLang="zh-CN" sz="2000" b="1" dirty="0">
                          <a:latin typeface="Trebuchet MS" panose="020B0603020202020204" pitchFamily="34" charset="0"/>
                          <a:cs typeface="Times New Roman" panose="02020603050405020304" pitchFamily="18" charset="0"/>
                        </a:rPr>
                        <a:t>5</a:t>
                      </a:r>
                      <a:endParaRPr lang="zh-CN" altLang="en-US" sz="2000" b="1" dirty="0">
                        <a:latin typeface="Trebuchet MS" panose="020B0603020202020204" pitchFamily="34"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4">
                        <a:lumMod val="20000"/>
                        <a:lumOff val="80000"/>
                      </a:schemeClr>
                    </a:solidFill>
                  </a:tcPr>
                </a:tc>
                <a:extLst>
                  <a:ext uri="{0D108BD9-81ED-4DB2-BD59-A6C34878D82A}">
                    <a16:rowId xmlns:a16="http://schemas.microsoft.com/office/drawing/2014/main" val="3087561082"/>
                  </a:ext>
                </a:extLst>
              </a:tr>
              <a:tr h="896506">
                <a:tc>
                  <a:txBody>
                    <a:bodyPr/>
                    <a:lstStyle/>
                    <a:p>
                      <a:r>
                        <a:rPr lang="en-US" sz="2000" b="1" dirty="0">
                          <a:solidFill>
                            <a:srgbClr val="0B61FF"/>
                          </a:solidFill>
                          <a:latin typeface="Trebuchet MS" panose="020B0603020202020204" pitchFamily="34" charset="0"/>
                        </a:rPr>
                        <a:t>Fixed-Length (Length 3) Code</a:t>
                      </a:r>
                      <a:endParaRPr lang="zh-CN" altLang="en-US" sz="2000" b="1" dirty="0">
                        <a:solidFill>
                          <a:srgbClr val="0B61FF"/>
                        </a:solidFill>
                        <a:latin typeface="Trebuchet MS" panose="020B0603020202020204" pitchFamily="34"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altLang="zh-CN" sz="2000" b="1" dirty="0">
                          <a:latin typeface="Trebuchet MS" panose="020B0603020202020204" pitchFamily="34" charset="0"/>
                          <a:cs typeface="Times New Roman" panose="02020603050405020304" pitchFamily="18" charset="0"/>
                        </a:rPr>
                        <a:t>000</a:t>
                      </a:r>
                      <a:endParaRPr lang="zh-CN" altLang="en-US" sz="2000" b="1" dirty="0">
                        <a:latin typeface="Trebuchet MS" panose="020B0603020202020204" pitchFamily="34"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altLang="zh-CN" sz="2000" b="1" dirty="0">
                          <a:latin typeface="Trebuchet MS" panose="020B0603020202020204" pitchFamily="34" charset="0"/>
                          <a:cs typeface="Times New Roman" panose="02020603050405020304" pitchFamily="18" charset="0"/>
                        </a:rPr>
                        <a:t>001</a:t>
                      </a:r>
                      <a:endParaRPr lang="zh-CN" altLang="en-US" sz="2000" b="1" dirty="0">
                        <a:latin typeface="Trebuchet MS" panose="020B0603020202020204" pitchFamily="34"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altLang="zh-CN" sz="2000" b="1" dirty="0">
                          <a:latin typeface="Trebuchet MS" panose="020B0603020202020204" pitchFamily="34" charset="0"/>
                          <a:cs typeface="Times New Roman" panose="02020603050405020304" pitchFamily="18" charset="0"/>
                        </a:rPr>
                        <a:t>010</a:t>
                      </a:r>
                      <a:endParaRPr lang="zh-CN" altLang="en-US" sz="2000" b="1" dirty="0">
                        <a:latin typeface="Trebuchet MS" panose="020B0603020202020204" pitchFamily="34"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altLang="zh-CN" sz="2000" b="1" dirty="0">
                          <a:latin typeface="Trebuchet MS" panose="020B0603020202020204" pitchFamily="34" charset="0"/>
                          <a:cs typeface="Times New Roman" panose="02020603050405020304" pitchFamily="18" charset="0"/>
                        </a:rPr>
                        <a:t>011</a:t>
                      </a:r>
                      <a:endParaRPr lang="zh-CN" altLang="en-US" sz="2000" b="1" dirty="0">
                        <a:latin typeface="Trebuchet MS" panose="020B0603020202020204" pitchFamily="34"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altLang="zh-CN" sz="2000" b="1" dirty="0">
                          <a:latin typeface="Trebuchet MS" panose="020B0603020202020204" pitchFamily="34" charset="0"/>
                          <a:cs typeface="Times New Roman" panose="02020603050405020304" pitchFamily="18" charset="0"/>
                        </a:rPr>
                        <a:t>100</a:t>
                      </a:r>
                      <a:endParaRPr lang="zh-CN" altLang="en-US" sz="2000" b="1" dirty="0">
                        <a:latin typeface="Trebuchet MS" panose="020B0603020202020204" pitchFamily="34"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altLang="zh-CN" sz="2000" b="1" dirty="0">
                          <a:latin typeface="Trebuchet MS" panose="020B0603020202020204" pitchFamily="34" charset="0"/>
                          <a:cs typeface="Times New Roman" panose="02020603050405020304" pitchFamily="18" charset="0"/>
                        </a:rPr>
                        <a:t>101</a:t>
                      </a:r>
                      <a:endParaRPr lang="zh-CN" altLang="en-US" sz="2000" b="1" dirty="0">
                        <a:latin typeface="Trebuchet MS" panose="020B0603020202020204" pitchFamily="34"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altLang="zh-CN" sz="2000" b="1" dirty="0">
                          <a:latin typeface="Trebuchet MS" panose="020B0603020202020204" pitchFamily="34" charset="0"/>
                          <a:cs typeface="Times New Roman" panose="02020603050405020304" pitchFamily="18" charset="0"/>
                        </a:rPr>
                        <a:t>110</a:t>
                      </a:r>
                      <a:endParaRPr lang="zh-CN" altLang="en-US" sz="2000" b="1" dirty="0">
                        <a:latin typeface="Trebuchet MS" panose="020B0603020202020204" pitchFamily="34"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altLang="zh-CN" sz="2000" b="1" dirty="0">
                          <a:latin typeface="Trebuchet MS" panose="020B0603020202020204" pitchFamily="34" charset="0"/>
                          <a:cs typeface="Times New Roman" panose="02020603050405020304" pitchFamily="18" charset="0"/>
                        </a:rPr>
                        <a:t>111</a:t>
                      </a:r>
                      <a:endParaRPr lang="zh-CN" altLang="en-US" sz="2000" b="1" dirty="0">
                        <a:latin typeface="Trebuchet MS" panose="020B0603020202020204" pitchFamily="34"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170110730"/>
                  </a:ext>
                </a:extLst>
              </a:tr>
            </a:tbl>
          </a:graphicData>
        </a:graphic>
      </p:graphicFrame>
    </p:spTree>
    <p:extLst>
      <p:ext uri="{BB962C8B-B14F-4D97-AF65-F5344CB8AC3E}">
        <p14:creationId xmlns:p14="http://schemas.microsoft.com/office/powerpoint/2010/main" val="3790200531"/>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fade">
                                      <p:cBhvr>
                                        <p:cTn id="7" dur="1000"/>
                                        <p:tgtEl>
                                          <p:spTgt spid="11"/>
                                        </p:tgtEl>
                                      </p:cBhvr>
                                    </p:animEffect>
                                    <p:anim calcmode="lin" valueType="num">
                                      <p:cBhvr>
                                        <p:cTn id="8" dur="1000" fill="hold"/>
                                        <p:tgtEl>
                                          <p:spTgt spid="11"/>
                                        </p:tgtEl>
                                        <p:attrNameLst>
                                          <p:attrName>ppt_x</p:attrName>
                                        </p:attrNameLst>
                                      </p:cBhvr>
                                      <p:tavLst>
                                        <p:tav tm="0">
                                          <p:val>
                                            <p:strVal val="#ppt_x"/>
                                          </p:val>
                                        </p:tav>
                                        <p:tav tm="100000">
                                          <p:val>
                                            <p:strVal val="#ppt_x"/>
                                          </p:val>
                                        </p:tav>
                                      </p:tavLst>
                                    </p:anim>
                                    <p:anim calcmode="lin" valueType="num">
                                      <p:cBhvr>
                                        <p:cTn id="9" dur="1000" fill="hold"/>
                                        <p:tgtEl>
                                          <p:spTgt spid="11"/>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0" y="0"/>
            <a:ext cx="12192000" cy="762000"/>
          </a:xfrm>
          <a:prstGeom prst="rect">
            <a:avLst/>
          </a:prstGeom>
          <a:solidFill>
            <a:srgbClr val="002F7C"/>
          </a:solidFill>
        </p:spPr>
        <p:style>
          <a:lnRef idx="2">
            <a:schemeClr val="dk1">
              <a:shade val="50000"/>
            </a:schemeClr>
          </a:lnRef>
          <a:fillRef idx="1">
            <a:schemeClr val="dk1"/>
          </a:fillRef>
          <a:effectRef idx="0">
            <a:schemeClr val="dk1"/>
          </a:effectRef>
          <a:fontRef idx="minor">
            <a:schemeClr val="lt1"/>
          </a:fontRef>
        </p:style>
        <p:txBody>
          <a:bodyPr rtlCol="0" anchor="ctr"/>
          <a:lstStyle/>
          <a:p>
            <a:pPr>
              <a:buClr>
                <a:srgbClr val="0B61FF"/>
              </a:buClr>
              <a:buSzPct val="80000"/>
            </a:pPr>
            <a:r>
              <a:rPr lang="zh-CN" altLang="en-US" sz="2000" b="1" dirty="0">
                <a:latin typeface="Times New Roman" panose="02020603050405020304" pitchFamily="18" charset="0"/>
                <a:ea typeface="宋体" panose="02010600030101010101" pitchFamily="2" charset="-122"/>
                <a:cs typeface="Times New Roman" panose="02020603050405020304" pitchFamily="18" charset="0"/>
              </a:rPr>
              <a:t>               </a:t>
            </a:r>
            <a:r>
              <a:rPr lang="en-US" altLang="zh-CN" sz="2000" b="1" dirty="0">
                <a:latin typeface="Trebuchet MS" panose="020B0603020202020204" pitchFamily="34" charset="0"/>
              </a:rPr>
              <a:t>7.2.3 Optimal Prefix Codes</a:t>
            </a:r>
          </a:p>
          <a:p>
            <a:pPr>
              <a:buClr>
                <a:srgbClr val="0B61FF"/>
              </a:buClr>
              <a:buSzPct val="80000"/>
            </a:pPr>
            <a:r>
              <a:rPr lang="en-US" altLang="zh-CN" b="1" dirty="0">
                <a:solidFill>
                  <a:srgbClr val="C00000"/>
                </a:solidFill>
                <a:latin typeface="Trebuchet MS" panose="020B0603020202020204" pitchFamily="34" charset="0"/>
                <a:ea typeface="Cambria Math" panose="02040503050406030204" pitchFamily="18" charset="0"/>
                <a:cs typeface="Times New Roman" panose="02020603050405020304" pitchFamily="18" charset="0"/>
              </a:rPr>
              <a:t>                 </a:t>
            </a:r>
            <a:r>
              <a:rPr lang="en-US" altLang="zh-CN" sz="2400" b="1" dirty="0">
                <a:solidFill>
                  <a:srgbClr val="C00000"/>
                </a:solidFill>
                <a:latin typeface="Trebuchet MS" panose="020B0603020202020204" pitchFamily="34" charset="0"/>
                <a:ea typeface="Cambria Math" panose="02040503050406030204" pitchFamily="18" charset="0"/>
                <a:cs typeface="Times New Roman" panose="02020603050405020304" pitchFamily="18" charset="0"/>
              </a:rPr>
              <a:t>⤷</a:t>
            </a:r>
            <a:r>
              <a:rPr lang="zh-CN" altLang="en-US" sz="2400" b="1" dirty="0">
                <a:latin typeface="Trebuchet MS" panose="020B0603020202020204" pitchFamily="34" charset="0"/>
              </a:rPr>
              <a:t> </a:t>
            </a:r>
            <a:r>
              <a:rPr lang="en-US" altLang="zh-CN" sz="2400" b="1" dirty="0">
                <a:latin typeface="Trebuchet MS" panose="020B0603020202020204" pitchFamily="34" charset="0"/>
              </a:rPr>
              <a:t>Examples of Binary Prefix Code Applications</a:t>
            </a:r>
          </a:p>
        </p:txBody>
      </p:sp>
      <p:sp>
        <p:nvSpPr>
          <p:cNvPr id="13" name="矩形 12"/>
          <p:cNvSpPr/>
          <p:nvPr/>
        </p:nvSpPr>
        <p:spPr>
          <a:xfrm>
            <a:off x="824682" y="0"/>
            <a:ext cx="175443" cy="628650"/>
          </a:xfrm>
          <a:prstGeom prst="rect">
            <a:avLst/>
          </a:prstGeom>
          <a:solidFill>
            <a:srgbClr val="CFA57C"/>
          </a:solidFill>
          <a:ln cmpd="sng">
            <a:gradFill flip="none" rotWithShape="1">
              <a:gsLst>
                <a:gs pos="50000">
                  <a:schemeClr val="accent2">
                    <a:lumMod val="60000"/>
                    <a:lumOff val="40000"/>
                  </a:schemeClr>
                </a:gs>
                <a:gs pos="0">
                  <a:schemeClr val="accent2">
                    <a:lumMod val="20000"/>
                    <a:lumOff val="80000"/>
                  </a:schemeClr>
                </a:gs>
                <a:gs pos="95000">
                  <a:schemeClr val="accent2"/>
                </a:gs>
              </a:gsLst>
              <a:path path="circle">
                <a:fillToRect l="50000" t="-80000" r="50000" b="180000"/>
              </a:path>
              <a:tileRect/>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22" name="Picture 6" descr="D:\MBA工作\LOGO\同济经管LOGO反白.png"/>
          <p:cNvPicPr>
            <a:picLocks noChangeAspect="1" noChangeArrowheads="1"/>
          </p:cNvPicPr>
          <p:nvPr/>
        </p:nvPicPr>
        <p:blipFill>
          <a:blip r:embed="rId3" cstate="email">
            <a:extLst>
              <a:ext uri="{28A0092B-C50C-407E-A947-70E740481C1C}">
                <a14:useLocalDpi xmlns:a14="http://schemas.microsoft.com/office/drawing/2010/main" val="0"/>
              </a:ext>
            </a:extLst>
          </a:blip>
          <a:srcRect/>
          <a:stretch>
            <a:fillRect/>
          </a:stretch>
        </p:blipFill>
        <p:spPr bwMode="auto">
          <a:xfrm>
            <a:off x="10267423" y="165688"/>
            <a:ext cx="1386605" cy="462962"/>
          </a:xfrm>
          <a:prstGeom prst="rect">
            <a:avLst/>
          </a:prstGeom>
          <a:noFill/>
          <a:extLst>
            <a:ext uri="{909E8E84-426E-40DD-AFC4-6F175D3DCCD1}">
              <a14:hiddenFill xmlns:a14="http://schemas.microsoft.com/office/drawing/2010/main">
                <a:solidFill>
                  <a:srgbClr val="FFFFFF"/>
                </a:solidFill>
              </a14:hiddenFill>
            </a:ext>
          </a:extLst>
        </p:spPr>
      </p:pic>
      <p:pic>
        <p:nvPicPr>
          <p:cNvPr id="2" name="图片 1" descr="微信图片_20220318113523"/>
          <p:cNvPicPr>
            <a:picLocks noChangeAspect="1"/>
          </p:cNvPicPr>
          <p:nvPr userDrawn="1"/>
        </p:nvPicPr>
        <p:blipFill>
          <a:blip r:embed="rId4"/>
          <a:stretch>
            <a:fillRect/>
          </a:stretch>
        </p:blipFill>
        <p:spPr>
          <a:xfrm>
            <a:off x="9291877" y="6115050"/>
            <a:ext cx="2244725" cy="361315"/>
          </a:xfrm>
          <a:prstGeom prst="rect">
            <a:avLst/>
          </a:prstGeom>
        </p:spPr>
      </p:pic>
      <p:sp>
        <p:nvSpPr>
          <p:cNvPr id="18" name="Rectangle 2">
            <a:extLst>
              <a:ext uri="{FF2B5EF4-FFF2-40B4-BE49-F238E27FC236}">
                <a16:creationId xmlns:a16="http://schemas.microsoft.com/office/drawing/2014/main" id="{E217C615-1D49-4D07-B850-D36106D7AA9A}"/>
              </a:ext>
            </a:extLst>
          </p:cNvPr>
          <p:cNvSpPr>
            <a:spLocks noChangeArrowheads="1"/>
          </p:cNvSpPr>
          <p:nvPr/>
        </p:nvSpPr>
        <p:spPr bwMode="auto">
          <a:xfrm>
            <a:off x="1000125" y="815365"/>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9" name="文本框 8">
            <a:extLst>
              <a:ext uri="{FF2B5EF4-FFF2-40B4-BE49-F238E27FC236}">
                <a16:creationId xmlns:a16="http://schemas.microsoft.com/office/drawing/2014/main" id="{0F462FFF-A5E2-46E0-98CA-E32A18904F31}"/>
              </a:ext>
            </a:extLst>
          </p:cNvPr>
          <p:cNvSpPr txBox="1"/>
          <p:nvPr/>
        </p:nvSpPr>
        <p:spPr>
          <a:xfrm>
            <a:off x="661430" y="762000"/>
            <a:ext cx="11212518" cy="4850290"/>
          </a:xfrm>
          <a:prstGeom prst="rect">
            <a:avLst/>
          </a:prstGeom>
          <a:noFill/>
        </p:spPr>
        <p:txBody>
          <a:bodyPr wrap="square">
            <a:noAutofit/>
          </a:bodyPr>
          <a:lstStyle/>
          <a:p>
            <a:pPr marL="342900" indent="-342900">
              <a:lnSpc>
                <a:spcPct val="120000"/>
              </a:lnSpc>
              <a:spcBef>
                <a:spcPts val="600"/>
              </a:spcBef>
              <a:buClr>
                <a:srgbClr val="0B61FF"/>
              </a:buClr>
              <a:buSzPct val="80000"/>
              <a:buFont typeface="Wingdings" panose="05000000000000000000" pitchFamily="2" charset="2"/>
              <a:buChar char="n"/>
            </a:pPr>
            <a:r>
              <a:rPr lang="en-US" sz="2400" b="1" dirty="0">
                <a:latin typeface="Trebuchet MS" panose="020B0603020202020204" pitchFamily="34" charset="0"/>
              </a:rPr>
              <a:t>Solution</a:t>
            </a:r>
            <a:r>
              <a:rPr lang="zh-CN" altLang="en-US" sz="2400" b="1" dirty="0">
                <a:latin typeface="Trebuchet MS" panose="020B0603020202020204" pitchFamily="34" charset="0"/>
                <a:cs typeface="Times New Roman" panose="02020603050405020304" pitchFamily="18" charset="0"/>
              </a:rPr>
              <a:t>：</a:t>
            </a:r>
            <a:endParaRPr lang="en-US" altLang="zh-CN" sz="2400" b="1" dirty="0">
              <a:latin typeface="Trebuchet MS" panose="020B0603020202020204" pitchFamily="34" charset="0"/>
              <a:cs typeface="Times New Roman" panose="02020603050405020304" pitchFamily="18" charset="0"/>
            </a:endParaRPr>
          </a:p>
          <a:p>
            <a:pPr marL="450850" indent="-271463">
              <a:lnSpc>
                <a:spcPct val="120000"/>
              </a:lnSpc>
              <a:spcBef>
                <a:spcPts val="600"/>
              </a:spcBef>
            </a:pPr>
            <a:r>
              <a:rPr lang="zh-CN" altLang="en-US" sz="2400" b="1" dirty="0">
                <a:solidFill>
                  <a:srgbClr val="0B61FF"/>
                </a:solidFill>
                <a:latin typeface="Trebuchet MS" panose="020B0603020202020204" pitchFamily="34" charset="0"/>
                <a:cs typeface="Times New Roman" panose="02020603050405020304" pitchFamily="18" charset="0"/>
              </a:rPr>
              <a:t>④</a:t>
            </a:r>
            <a:r>
              <a:rPr lang="en-US" altLang="zh-CN" sz="2400" dirty="0">
                <a:latin typeface="Trebuchet MS" panose="020B0603020202020204" pitchFamily="34" charset="0"/>
              </a:rPr>
              <a:t>Calculate the number of binary digits required to </a:t>
            </a:r>
            <a:r>
              <a:rPr lang="en-US" altLang="zh-CN" sz="2400" b="1" i="1" dirty="0">
                <a:solidFill>
                  <a:srgbClr val="0B61FF"/>
                </a:solidFill>
                <a:latin typeface="Trebuchet MS" panose="020B0603020202020204" pitchFamily="34" charset="0"/>
              </a:rPr>
              <a:t>transmit 10,000 octal digits </a:t>
            </a:r>
            <a:r>
              <a:rPr lang="en-US" altLang="zh-CN" sz="2400" dirty="0">
                <a:latin typeface="Trebuchet MS" panose="020B0603020202020204" pitchFamily="34" charset="0"/>
              </a:rPr>
              <a:t>according to the given frequency distribution</a:t>
            </a:r>
            <a:r>
              <a:rPr lang="zh-CN" altLang="en-US" sz="2400" b="1" dirty="0">
                <a:latin typeface="Trebuchet MS" panose="020B0603020202020204" pitchFamily="34" charset="0"/>
              </a:rPr>
              <a:t>：</a:t>
            </a:r>
            <a:endParaRPr lang="en-US" altLang="zh-CN" sz="2400" b="1" dirty="0">
              <a:latin typeface="Trebuchet MS" panose="020B0603020202020204" pitchFamily="34" charset="0"/>
            </a:endParaRPr>
          </a:p>
          <a:p>
            <a:pPr marL="522287" indent="-342900">
              <a:lnSpc>
                <a:spcPct val="120000"/>
              </a:lnSpc>
              <a:spcBef>
                <a:spcPts val="600"/>
              </a:spcBef>
              <a:buClr>
                <a:srgbClr val="0B61FF"/>
              </a:buClr>
              <a:buSzPct val="120000"/>
              <a:buFont typeface="Arial" panose="020B0604020202020204" pitchFamily="34" charset="0"/>
              <a:buChar char="•"/>
            </a:pPr>
            <a:r>
              <a:rPr lang="en-US" altLang="zh-CN" sz="2400" b="1" i="1" dirty="0">
                <a:solidFill>
                  <a:srgbClr val="0B61FF"/>
                </a:solidFill>
                <a:latin typeface="Trebuchet MS" panose="020B0603020202020204" pitchFamily="34" charset="0"/>
              </a:rPr>
              <a:t>Huffman encoding </a:t>
            </a:r>
            <a:r>
              <a:rPr lang="en-US" altLang="zh-CN" sz="2400" b="1" dirty="0">
                <a:latin typeface="Trebuchet MS" panose="020B0603020202020204" pitchFamily="34" charset="0"/>
              </a:rPr>
              <a:t>(optimal prefix code):</a:t>
            </a:r>
          </a:p>
          <a:p>
            <a:pPr>
              <a:lnSpc>
                <a:spcPct val="120000"/>
              </a:lnSpc>
              <a:spcBef>
                <a:spcPts val="600"/>
              </a:spcBef>
              <a:buClr>
                <a:srgbClr val="0B61FF"/>
              </a:buClr>
              <a:buSzPct val="120000"/>
            </a:pPr>
            <a:r>
              <a:rPr lang="en-US" altLang="zh-CN" sz="2400" b="1" i="1" dirty="0">
                <a:latin typeface="Trebuchet MS" panose="020B0603020202020204" pitchFamily="34" charset="0"/>
              </a:rPr>
              <a:t>     W</a:t>
            </a:r>
            <a:r>
              <a:rPr lang="en-US" altLang="zh-CN" sz="2400" b="1" dirty="0">
                <a:latin typeface="Trebuchet MS" panose="020B0603020202020204" pitchFamily="34" charset="0"/>
              </a:rPr>
              <a:t>(</a:t>
            </a:r>
            <a:r>
              <a:rPr lang="en-US" altLang="zh-CN" sz="2400" b="1" i="1" dirty="0">
                <a:latin typeface="Trebuchet MS" panose="020B0603020202020204" pitchFamily="34" charset="0"/>
              </a:rPr>
              <a:t>T</a:t>
            </a:r>
            <a:r>
              <a:rPr lang="en-US" altLang="zh-CN" sz="2400" b="1" dirty="0">
                <a:latin typeface="Trebuchet MS" panose="020B0603020202020204" pitchFamily="34" charset="0"/>
              </a:rPr>
              <a:t>)=(3000+2000)*</a:t>
            </a:r>
            <a:r>
              <a:rPr lang="en-US" altLang="zh-CN" sz="2400" b="1" dirty="0">
                <a:solidFill>
                  <a:srgbClr val="FF0000"/>
                </a:solidFill>
                <a:latin typeface="Trebuchet MS" panose="020B0603020202020204" pitchFamily="34" charset="0"/>
              </a:rPr>
              <a:t>2</a:t>
            </a:r>
            <a:r>
              <a:rPr lang="en-US" altLang="zh-CN" sz="2400" b="1" dirty="0">
                <a:latin typeface="Trebuchet MS" panose="020B0603020202020204" pitchFamily="34" charset="0"/>
              </a:rPr>
              <a:t>+(1500+1000+1000)*</a:t>
            </a:r>
            <a:r>
              <a:rPr lang="en-US" altLang="zh-CN" sz="2400" b="1" dirty="0">
                <a:solidFill>
                  <a:srgbClr val="FF0000"/>
                </a:solidFill>
                <a:latin typeface="Trebuchet MS" panose="020B0603020202020204" pitchFamily="34" charset="0"/>
              </a:rPr>
              <a:t>3</a:t>
            </a:r>
            <a:r>
              <a:rPr lang="en-US" altLang="zh-CN" sz="2400" b="1" dirty="0">
                <a:latin typeface="Trebuchet MS" panose="020B0603020202020204" pitchFamily="34" charset="0"/>
              </a:rPr>
              <a:t>+500*</a:t>
            </a:r>
            <a:r>
              <a:rPr lang="en-US" altLang="zh-CN" sz="2400" b="1" dirty="0">
                <a:solidFill>
                  <a:srgbClr val="FF0000"/>
                </a:solidFill>
                <a:latin typeface="Trebuchet MS" panose="020B0603020202020204" pitchFamily="34" charset="0"/>
              </a:rPr>
              <a:t>4</a:t>
            </a:r>
            <a:r>
              <a:rPr lang="en-US" altLang="zh-CN" sz="2400" b="1" dirty="0">
                <a:latin typeface="Trebuchet MS" panose="020B0603020202020204" pitchFamily="34" charset="0"/>
              </a:rPr>
              <a:t>+(500+500)*</a:t>
            </a:r>
            <a:r>
              <a:rPr lang="en-US" altLang="zh-CN" sz="2400" b="1" dirty="0">
                <a:solidFill>
                  <a:srgbClr val="FF0000"/>
                </a:solidFill>
                <a:latin typeface="Trebuchet MS" panose="020B0603020202020204" pitchFamily="34" charset="0"/>
              </a:rPr>
              <a:t>5</a:t>
            </a:r>
            <a:r>
              <a:rPr lang="en-US" altLang="zh-CN" sz="2400" b="1" dirty="0">
                <a:latin typeface="Trebuchet MS" panose="020B0603020202020204" pitchFamily="34" charset="0"/>
              </a:rPr>
              <a:t>=27500.</a:t>
            </a:r>
          </a:p>
          <a:p>
            <a:pPr marL="536575" indent="-357188">
              <a:lnSpc>
                <a:spcPct val="120000"/>
              </a:lnSpc>
              <a:spcBef>
                <a:spcPts val="600"/>
              </a:spcBef>
              <a:buClr>
                <a:srgbClr val="0B61FF"/>
              </a:buClr>
              <a:buSzPct val="120000"/>
              <a:buFont typeface="Arial" panose="020B0604020202020204" pitchFamily="34" charset="0"/>
              <a:buChar char="•"/>
              <a:tabLst>
                <a:tab pos="179388" algn="l"/>
              </a:tabLst>
            </a:pPr>
            <a:r>
              <a:rPr lang="en-US" altLang="zh-CN" sz="2400" b="1" dirty="0">
                <a:latin typeface="Trebuchet MS" panose="020B0603020202020204" pitchFamily="34" charset="0"/>
              </a:rPr>
              <a:t>Fixed-length encoding (length 3):</a:t>
            </a:r>
            <a:br>
              <a:rPr lang="en-US" altLang="zh-CN" sz="2400" dirty="0">
                <a:latin typeface="Trebuchet MS" panose="020B0603020202020204" pitchFamily="34" charset="0"/>
              </a:rPr>
            </a:br>
            <a:r>
              <a:rPr lang="zh-CN" altLang="en-US" sz="2400" b="1" dirty="0">
                <a:latin typeface="Trebuchet MS" panose="020B0603020202020204" pitchFamily="34" charset="0"/>
                <a:cs typeface="Times New Roman" panose="02020603050405020304" pitchFamily="18" charset="0"/>
              </a:rPr>
              <a:t> </a:t>
            </a:r>
            <a:r>
              <a:rPr lang="en-US" altLang="zh-CN" sz="2400" b="1" dirty="0">
                <a:latin typeface="Trebuchet MS" panose="020B0603020202020204" pitchFamily="34" charset="0"/>
                <a:cs typeface="Times New Roman" panose="02020603050405020304" pitchFamily="18" charset="0"/>
              </a:rPr>
              <a:t>10000</a:t>
            </a:r>
            <a:r>
              <a:rPr lang="en-US" altLang="zh-CN" sz="2400" b="1" dirty="0">
                <a:latin typeface="Trebuchet MS" panose="020B0603020202020204" pitchFamily="34" charset="0"/>
              </a:rPr>
              <a:t>*</a:t>
            </a:r>
            <a:r>
              <a:rPr lang="en-US" altLang="zh-CN" sz="2400" b="1" dirty="0">
                <a:solidFill>
                  <a:srgbClr val="FF0000"/>
                </a:solidFill>
                <a:latin typeface="Trebuchet MS" panose="020B0603020202020204" pitchFamily="34" charset="0"/>
              </a:rPr>
              <a:t>3</a:t>
            </a:r>
            <a:r>
              <a:rPr lang="en-US" altLang="zh-CN" sz="2400" b="1" dirty="0">
                <a:latin typeface="Trebuchet MS" panose="020B0603020202020204" pitchFamily="34" charset="0"/>
              </a:rPr>
              <a:t>=30000.</a:t>
            </a:r>
          </a:p>
          <a:p>
            <a:pPr marL="536575" indent="-357188">
              <a:lnSpc>
                <a:spcPct val="120000"/>
              </a:lnSpc>
              <a:spcBef>
                <a:spcPts val="600"/>
              </a:spcBef>
              <a:buClr>
                <a:srgbClr val="0B61FF"/>
              </a:buClr>
              <a:buSzPct val="120000"/>
              <a:buFont typeface="Arial" panose="020B0604020202020204" pitchFamily="34" charset="0"/>
              <a:buChar char="•"/>
            </a:pPr>
            <a:r>
              <a:rPr lang="en-US" altLang="zh-CN" sz="2400" b="1" i="1" dirty="0">
                <a:solidFill>
                  <a:srgbClr val="0B61FF"/>
                </a:solidFill>
                <a:latin typeface="Trebuchet MS" panose="020B0603020202020204" pitchFamily="34" charset="0"/>
              </a:rPr>
              <a:t>Bits saved </a:t>
            </a:r>
            <a:r>
              <a:rPr lang="en-US" altLang="zh-CN" sz="2400" b="1" dirty="0">
                <a:latin typeface="Trebuchet MS" panose="020B0603020202020204" pitchFamily="34" charset="0"/>
              </a:rPr>
              <a:t>by using the optimal prefix code:</a:t>
            </a:r>
            <a:br>
              <a:rPr lang="en-US" altLang="zh-CN" sz="2400" dirty="0">
                <a:latin typeface="Trebuchet MS" panose="020B0603020202020204" pitchFamily="34" charset="0"/>
              </a:rPr>
            </a:br>
            <a:r>
              <a:rPr lang="en-US" altLang="zh-CN" sz="2400" b="1" dirty="0">
                <a:latin typeface="Trebuchet MS" panose="020B0603020202020204" pitchFamily="34" charset="0"/>
              </a:rPr>
              <a:t>30000-27500=2500 </a:t>
            </a:r>
            <a:r>
              <a:rPr lang="zh-CN" altLang="en-US" sz="2400" b="1" dirty="0">
                <a:latin typeface="Trebuchet MS" panose="020B0603020202020204" pitchFamily="34" charset="0"/>
              </a:rPr>
              <a:t>，</a:t>
            </a:r>
            <a:r>
              <a:rPr lang="en-US" altLang="zh-CN" sz="2400" dirty="0">
                <a:latin typeface="Trebuchet MS" panose="020B0603020202020204" pitchFamily="34" charset="0"/>
              </a:rPr>
              <a:t>approximately </a:t>
            </a:r>
            <a:r>
              <a:rPr lang="en-US" altLang="zh-CN" sz="2400" b="1" dirty="0">
                <a:latin typeface="Trebuchet MS" panose="020B0603020202020204" pitchFamily="34" charset="0"/>
              </a:rPr>
              <a:t>8.33% .</a:t>
            </a:r>
          </a:p>
          <a:p>
            <a:pPr marL="630238" indent="-450850">
              <a:lnSpc>
                <a:spcPct val="110000"/>
              </a:lnSpc>
            </a:pPr>
            <a:endParaRPr lang="en-US" altLang="zh-CN" sz="2400" b="1" dirty="0">
              <a:latin typeface="Trebuchet MS" panose="020B0603020202020204" pitchFamily="34" charset="0"/>
            </a:endParaRPr>
          </a:p>
          <a:p>
            <a:pPr marL="630238" indent="-450850">
              <a:lnSpc>
                <a:spcPct val="110000"/>
              </a:lnSpc>
            </a:pPr>
            <a:endParaRPr lang="zh-CN" altLang="en-US" sz="2400" b="1" dirty="0">
              <a:latin typeface="Trebuchet MS" panose="020B0603020202020204" pitchFamily="34" charset="0"/>
              <a:cs typeface="Times New Roman" panose="02020603050405020304" pitchFamily="18" charset="0"/>
            </a:endParaRPr>
          </a:p>
        </p:txBody>
      </p:sp>
    </p:spTree>
    <p:extLst>
      <p:ext uri="{BB962C8B-B14F-4D97-AF65-F5344CB8AC3E}">
        <p14:creationId xmlns:p14="http://schemas.microsoft.com/office/powerpoint/2010/main" val="3574696200"/>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9">
                                            <p:txEl>
                                              <p:pRg st="2" end="2"/>
                                            </p:txEl>
                                          </p:spTgt>
                                        </p:tgtEl>
                                        <p:attrNameLst>
                                          <p:attrName>style.visibility</p:attrName>
                                        </p:attrNameLst>
                                      </p:cBhvr>
                                      <p:to>
                                        <p:strVal val="visible"/>
                                      </p:to>
                                    </p:set>
                                    <p:animEffect transition="in" filter="fade">
                                      <p:cBhvr>
                                        <p:cTn id="7" dur="1000"/>
                                        <p:tgtEl>
                                          <p:spTgt spid="9">
                                            <p:txEl>
                                              <p:pRg st="2" end="2"/>
                                            </p:txEl>
                                          </p:spTgt>
                                        </p:tgtEl>
                                      </p:cBhvr>
                                    </p:animEffect>
                                    <p:anim calcmode="lin" valueType="num">
                                      <p:cBhvr>
                                        <p:cTn id="8" dur="1000" fill="hold"/>
                                        <p:tgtEl>
                                          <p:spTgt spid="9">
                                            <p:txEl>
                                              <p:pRg st="2" end="2"/>
                                            </p:txEl>
                                          </p:spTgt>
                                        </p:tgtEl>
                                        <p:attrNameLst>
                                          <p:attrName>ppt_x</p:attrName>
                                        </p:attrNameLst>
                                      </p:cBhvr>
                                      <p:tavLst>
                                        <p:tav tm="0">
                                          <p:val>
                                            <p:strVal val="#ppt_x"/>
                                          </p:val>
                                        </p:tav>
                                        <p:tav tm="100000">
                                          <p:val>
                                            <p:strVal val="#ppt_x"/>
                                          </p:val>
                                        </p:tav>
                                      </p:tavLst>
                                    </p:anim>
                                    <p:anim calcmode="lin" valueType="num">
                                      <p:cBhvr>
                                        <p:cTn id="9" dur="1000" fill="hold"/>
                                        <p:tgtEl>
                                          <p:spTgt spid="9">
                                            <p:txEl>
                                              <p:pRg st="2" end="2"/>
                                            </p:txEl>
                                          </p:spTgt>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9">
                                            <p:txEl>
                                              <p:pRg st="3" end="3"/>
                                            </p:txEl>
                                          </p:spTgt>
                                        </p:tgtEl>
                                        <p:attrNameLst>
                                          <p:attrName>style.visibility</p:attrName>
                                        </p:attrNameLst>
                                      </p:cBhvr>
                                      <p:to>
                                        <p:strVal val="visible"/>
                                      </p:to>
                                    </p:set>
                                    <p:animEffect transition="in" filter="fade">
                                      <p:cBhvr>
                                        <p:cTn id="12" dur="1000"/>
                                        <p:tgtEl>
                                          <p:spTgt spid="9">
                                            <p:txEl>
                                              <p:pRg st="3" end="3"/>
                                            </p:txEl>
                                          </p:spTgt>
                                        </p:tgtEl>
                                      </p:cBhvr>
                                    </p:animEffect>
                                    <p:anim calcmode="lin" valueType="num">
                                      <p:cBhvr>
                                        <p:cTn id="13" dur="1000" fill="hold"/>
                                        <p:tgtEl>
                                          <p:spTgt spid="9">
                                            <p:txEl>
                                              <p:pRg st="3" end="3"/>
                                            </p:txEl>
                                          </p:spTgt>
                                        </p:tgtEl>
                                        <p:attrNameLst>
                                          <p:attrName>ppt_x</p:attrName>
                                        </p:attrNameLst>
                                      </p:cBhvr>
                                      <p:tavLst>
                                        <p:tav tm="0">
                                          <p:val>
                                            <p:strVal val="#ppt_x"/>
                                          </p:val>
                                        </p:tav>
                                        <p:tav tm="100000">
                                          <p:val>
                                            <p:strVal val="#ppt_x"/>
                                          </p:val>
                                        </p:tav>
                                      </p:tavLst>
                                    </p:anim>
                                    <p:anim calcmode="lin" valueType="num">
                                      <p:cBhvr>
                                        <p:cTn id="14" dur="1000" fill="hold"/>
                                        <p:tgtEl>
                                          <p:spTgt spid="9">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42" presetClass="entr" presetSubtype="0" fill="hold" nodeType="clickEffect">
                                  <p:stCondLst>
                                    <p:cond delay="0"/>
                                  </p:stCondLst>
                                  <p:childTnLst>
                                    <p:set>
                                      <p:cBhvr>
                                        <p:cTn id="18" dur="1" fill="hold">
                                          <p:stCondLst>
                                            <p:cond delay="0"/>
                                          </p:stCondLst>
                                        </p:cTn>
                                        <p:tgtEl>
                                          <p:spTgt spid="9">
                                            <p:txEl>
                                              <p:pRg st="4" end="4"/>
                                            </p:txEl>
                                          </p:spTgt>
                                        </p:tgtEl>
                                        <p:attrNameLst>
                                          <p:attrName>style.visibility</p:attrName>
                                        </p:attrNameLst>
                                      </p:cBhvr>
                                      <p:to>
                                        <p:strVal val="visible"/>
                                      </p:to>
                                    </p:set>
                                    <p:animEffect transition="in" filter="fade">
                                      <p:cBhvr>
                                        <p:cTn id="19" dur="1000"/>
                                        <p:tgtEl>
                                          <p:spTgt spid="9">
                                            <p:txEl>
                                              <p:pRg st="4" end="4"/>
                                            </p:txEl>
                                          </p:spTgt>
                                        </p:tgtEl>
                                      </p:cBhvr>
                                    </p:animEffect>
                                    <p:anim calcmode="lin" valueType="num">
                                      <p:cBhvr>
                                        <p:cTn id="20" dur="1000" fill="hold"/>
                                        <p:tgtEl>
                                          <p:spTgt spid="9">
                                            <p:txEl>
                                              <p:pRg st="4" end="4"/>
                                            </p:txEl>
                                          </p:spTgt>
                                        </p:tgtEl>
                                        <p:attrNameLst>
                                          <p:attrName>ppt_x</p:attrName>
                                        </p:attrNameLst>
                                      </p:cBhvr>
                                      <p:tavLst>
                                        <p:tav tm="0">
                                          <p:val>
                                            <p:strVal val="#ppt_x"/>
                                          </p:val>
                                        </p:tav>
                                        <p:tav tm="100000">
                                          <p:val>
                                            <p:strVal val="#ppt_x"/>
                                          </p:val>
                                        </p:tav>
                                      </p:tavLst>
                                    </p:anim>
                                    <p:anim calcmode="lin" valueType="num">
                                      <p:cBhvr>
                                        <p:cTn id="21" dur="1000" fill="hold"/>
                                        <p:tgtEl>
                                          <p:spTgt spid="9">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22" fill="hold">
                      <p:stCondLst>
                        <p:cond delay="indefinite"/>
                      </p:stCondLst>
                      <p:childTnLst>
                        <p:par>
                          <p:cTn id="23" fill="hold">
                            <p:stCondLst>
                              <p:cond delay="0"/>
                            </p:stCondLst>
                            <p:childTnLst>
                              <p:par>
                                <p:cTn id="24" presetID="42" presetClass="entr" presetSubtype="0" fill="hold" nodeType="clickEffect">
                                  <p:stCondLst>
                                    <p:cond delay="0"/>
                                  </p:stCondLst>
                                  <p:childTnLst>
                                    <p:set>
                                      <p:cBhvr>
                                        <p:cTn id="25" dur="1" fill="hold">
                                          <p:stCondLst>
                                            <p:cond delay="0"/>
                                          </p:stCondLst>
                                        </p:cTn>
                                        <p:tgtEl>
                                          <p:spTgt spid="9">
                                            <p:txEl>
                                              <p:pRg st="5" end="5"/>
                                            </p:txEl>
                                          </p:spTgt>
                                        </p:tgtEl>
                                        <p:attrNameLst>
                                          <p:attrName>style.visibility</p:attrName>
                                        </p:attrNameLst>
                                      </p:cBhvr>
                                      <p:to>
                                        <p:strVal val="visible"/>
                                      </p:to>
                                    </p:set>
                                    <p:animEffect transition="in" filter="fade">
                                      <p:cBhvr>
                                        <p:cTn id="26" dur="1000"/>
                                        <p:tgtEl>
                                          <p:spTgt spid="9">
                                            <p:txEl>
                                              <p:pRg st="5" end="5"/>
                                            </p:txEl>
                                          </p:spTgt>
                                        </p:tgtEl>
                                      </p:cBhvr>
                                    </p:animEffect>
                                    <p:anim calcmode="lin" valueType="num">
                                      <p:cBhvr>
                                        <p:cTn id="27" dur="1000" fill="hold"/>
                                        <p:tgtEl>
                                          <p:spTgt spid="9">
                                            <p:txEl>
                                              <p:pRg st="5" end="5"/>
                                            </p:txEl>
                                          </p:spTgt>
                                        </p:tgtEl>
                                        <p:attrNameLst>
                                          <p:attrName>ppt_x</p:attrName>
                                        </p:attrNameLst>
                                      </p:cBhvr>
                                      <p:tavLst>
                                        <p:tav tm="0">
                                          <p:val>
                                            <p:strVal val="#ppt_x"/>
                                          </p:val>
                                        </p:tav>
                                        <p:tav tm="100000">
                                          <p:val>
                                            <p:strVal val="#ppt_x"/>
                                          </p:val>
                                        </p:tav>
                                      </p:tavLst>
                                    </p:anim>
                                    <p:anim calcmode="lin" valueType="num">
                                      <p:cBhvr>
                                        <p:cTn id="28" dur="1000" fill="hold"/>
                                        <p:tgtEl>
                                          <p:spTgt spid="9">
                                            <p:txEl>
                                              <p:pRg st="5" end="5"/>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0" y="0"/>
            <a:ext cx="12192000" cy="762000"/>
          </a:xfrm>
          <a:prstGeom prst="rect">
            <a:avLst/>
          </a:prstGeom>
          <a:solidFill>
            <a:srgbClr val="002F7C"/>
          </a:solidFill>
        </p:spPr>
        <p:style>
          <a:lnRef idx="2">
            <a:schemeClr val="dk1">
              <a:shade val="50000"/>
            </a:schemeClr>
          </a:lnRef>
          <a:fillRef idx="1">
            <a:schemeClr val="dk1"/>
          </a:fillRef>
          <a:effectRef idx="0">
            <a:schemeClr val="dk1"/>
          </a:effectRef>
          <a:fontRef idx="minor">
            <a:schemeClr val="lt1"/>
          </a:fontRef>
        </p:style>
        <p:txBody>
          <a:bodyPr rtlCol="0" anchor="ctr"/>
          <a:lstStyle/>
          <a:p>
            <a:r>
              <a:rPr lang="zh-CN" altLang="en-US" sz="2000" b="1" dirty="0">
                <a:latin typeface="Times New Roman" panose="02020603050405020304" pitchFamily="18" charset="0"/>
                <a:ea typeface="宋体" panose="02010600030101010101" pitchFamily="2" charset="-122"/>
                <a:cs typeface="Times New Roman" panose="02020603050405020304" pitchFamily="18" charset="0"/>
              </a:rPr>
              <a:t>               </a:t>
            </a:r>
            <a:r>
              <a:rPr lang="en-US" altLang="zh-CN" sz="2400" b="1" dirty="0">
                <a:latin typeface="Trebuchet MS" panose="020B0603020202020204" pitchFamily="34" charset="0"/>
                <a:ea typeface="宋体" panose="02010600030101010101" pitchFamily="2" charset="-122"/>
                <a:cs typeface="Times New Roman" panose="02020603050405020304" pitchFamily="18" charset="0"/>
              </a:rPr>
              <a:t>7.2 </a:t>
            </a:r>
            <a:r>
              <a:rPr lang="en-US" altLang="zh-CN" sz="2400" b="1" dirty="0">
                <a:latin typeface="Trebuchet MS" panose="020B0603020202020204" pitchFamily="34" charset="0"/>
                <a:cs typeface="Times New Roman" panose="02020603050405020304" pitchFamily="18" charset="0"/>
              </a:rPr>
              <a:t>Rooted Trees and Their Applications</a:t>
            </a:r>
            <a:endParaRPr lang="zh-CN" altLang="en-US" sz="2400" b="1" dirty="0">
              <a:solidFill>
                <a:srgbClr val="3D557A"/>
              </a:solidFill>
              <a:highlight>
                <a:srgbClr val="FF0000"/>
              </a:highlight>
              <a:latin typeface="Trebuchet MS" panose="020B0603020202020204" pitchFamily="34" charset="0"/>
            </a:endParaRPr>
          </a:p>
        </p:txBody>
      </p:sp>
      <p:sp>
        <p:nvSpPr>
          <p:cNvPr id="13" name="矩形 12"/>
          <p:cNvSpPr/>
          <p:nvPr/>
        </p:nvSpPr>
        <p:spPr>
          <a:xfrm>
            <a:off x="824682" y="0"/>
            <a:ext cx="175443" cy="628650"/>
          </a:xfrm>
          <a:prstGeom prst="rect">
            <a:avLst/>
          </a:prstGeom>
          <a:solidFill>
            <a:srgbClr val="CFA57C"/>
          </a:solidFill>
          <a:ln cmpd="sng">
            <a:gradFill flip="none" rotWithShape="1">
              <a:gsLst>
                <a:gs pos="50000">
                  <a:schemeClr val="accent2">
                    <a:lumMod val="60000"/>
                    <a:lumOff val="40000"/>
                  </a:schemeClr>
                </a:gs>
                <a:gs pos="0">
                  <a:schemeClr val="accent2">
                    <a:lumMod val="20000"/>
                    <a:lumOff val="80000"/>
                  </a:schemeClr>
                </a:gs>
                <a:gs pos="95000">
                  <a:schemeClr val="accent2"/>
                </a:gs>
              </a:gsLst>
              <a:path path="circle">
                <a:fillToRect l="50000" t="-80000" r="50000" b="180000"/>
              </a:path>
              <a:tileRect/>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22" name="Picture 6" descr="D:\MBA工作\LOGO\同济经管LOGO反白.png"/>
          <p:cNvPicPr>
            <a:picLocks noChangeAspect="1" noChangeArrowheads="1"/>
          </p:cNvPicPr>
          <p:nvPr/>
        </p:nvPicPr>
        <p:blipFill>
          <a:blip r:embed="rId3" cstate="email">
            <a:extLst>
              <a:ext uri="{28A0092B-C50C-407E-A947-70E740481C1C}">
                <a14:useLocalDpi xmlns:a14="http://schemas.microsoft.com/office/drawing/2010/main" val="0"/>
              </a:ext>
            </a:extLst>
          </a:blip>
          <a:srcRect/>
          <a:stretch>
            <a:fillRect/>
          </a:stretch>
        </p:blipFill>
        <p:spPr bwMode="auto">
          <a:xfrm>
            <a:off x="10267423" y="165688"/>
            <a:ext cx="1386605" cy="462962"/>
          </a:xfrm>
          <a:prstGeom prst="rect">
            <a:avLst/>
          </a:prstGeom>
          <a:noFill/>
          <a:extLst>
            <a:ext uri="{909E8E84-426E-40DD-AFC4-6F175D3DCCD1}">
              <a14:hiddenFill xmlns:a14="http://schemas.microsoft.com/office/drawing/2010/main">
                <a:solidFill>
                  <a:srgbClr val="FFFFFF"/>
                </a:solidFill>
              </a14:hiddenFill>
            </a:ext>
          </a:extLst>
        </p:spPr>
      </p:pic>
      <p:pic>
        <p:nvPicPr>
          <p:cNvPr id="2" name="图片 1" descr="微信图片_20220318113523"/>
          <p:cNvPicPr>
            <a:picLocks noChangeAspect="1"/>
          </p:cNvPicPr>
          <p:nvPr userDrawn="1"/>
        </p:nvPicPr>
        <p:blipFill>
          <a:blip r:embed="rId4"/>
          <a:stretch>
            <a:fillRect/>
          </a:stretch>
        </p:blipFill>
        <p:spPr>
          <a:xfrm>
            <a:off x="9291877" y="6115050"/>
            <a:ext cx="2244725" cy="361315"/>
          </a:xfrm>
          <a:prstGeom prst="rect">
            <a:avLst/>
          </a:prstGeom>
        </p:spPr>
      </p:pic>
      <p:sp>
        <p:nvSpPr>
          <p:cNvPr id="18" name="Rectangle 2">
            <a:extLst>
              <a:ext uri="{FF2B5EF4-FFF2-40B4-BE49-F238E27FC236}">
                <a16:creationId xmlns:a16="http://schemas.microsoft.com/office/drawing/2014/main" id="{E217C615-1D49-4D07-B850-D36106D7AA9A}"/>
              </a:ext>
            </a:extLst>
          </p:cNvPr>
          <p:cNvSpPr>
            <a:spLocks noChangeArrowheads="1"/>
          </p:cNvSpPr>
          <p:nvPr/>
        </p:nvSpPr>
        <p:spPr bwMode="auto">
          <a:xfrm>
            <a:off x="1000125" y="815365"/>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8" name="Rectangle 3">
            <a:extLst>
              <a:ext uri="{FF2B5EF4-FFF2-40B4-BE49-F238E27FC236}">
                <a16:creationId xmlns:a16="http://schemas.microsoft.com/office/drawing/2014/main" id="{97F08C45-3D15-45C1-A5A3-D1EB58DC91FE}"/>
              </a:ext>
            </a:extLst>
          </p:cNvPr>
          <p:cNvSpPr txBox="1">
            <a:spLocks noChangeArrowheads="1"/>
          </p:cNvSpPr>
          <p:nvPr/>
        </p:nvSpPr>
        <p:spPr>
          <a:xfrm>
            <a:off x="1000125" y="914400"/>
            <a:ext cx="9877336" cy="5788025"/>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20000"/>
              </a:lnSpc>
              <a:spcBef>
                <a:spcPts val="600"/>
              </a:spcBef>
              <a:buClr>
                <a:srgbClr val="0B61FF"/>
              </a:buClr>
              <a:buSzPct val="80000"/>
              <a:buFont typeface="Wingdings" panose="05000000000000000000" pitchFamily="2" charset="2"/>
              <a:buChar char="n"/>
            </a:pPr>
            <a:r>
              <a:rPr lang="en-US" sz="2400" b="1" dirty="0">
                <a:solidFill>
                  <a:schemeClr val="bg2">
                    <a:lumMod val="75000"/>
                  </a:schemeClr>
                </a:solidFill>
                <a:latin typeface="Trebuchet MS" panose="020B0603020202020204" pitchFamily="34" charset="0"/>
              </a:rPr>
              <a:t>7.2.1 Rooted Trees and Their Classifications</a:t>
            </a:r>
          </a:p>
          <a:p>
            <a:pPr>
              <a:lnSpc>
                <a:spcPct val="120000"/>
              </a:lnSpc>
              <a:spcBef>
                <a:spcPts val="600"/>
              </a:spcBef>
              <a:buClr>
                <a:srgbClr val="0B61FF"/>
              </a:buClr>
              <a:buSzPct val="80000"/>
              <a:buFont typeface="Wingdings" panose="05000000000000000000" pitchFamily="2" charset="2"/>
              <a:buChar char="n"/>
            </a:pPr>
            <a:r>
              <a:rPr lang="en-US" sz="2400" b="1" dirty="0">
                <a:solidFill>
                  <a:schemeClr val="bg2">
                    <a:lumMod val="75000"/>
                  </a:schemeClr>
                </a:solidFill>
                <a:latin typeface="Trebuchet MS" panose="020B0603020202020204" pitchFamily="34" charset="0"/>
              </a:rPr>
              <a:t>7.2.2 Optimal Trees and the Huffman Algorithm</a:t>
            </a:r>
          </a:p>
          <a:p>
            <a:pPr>
              <a:lnSpc>
                <a:spcPct val="120000"/>
              </a:lnSpc>
              <a:spcBef>
                <a:spcPts val="600"/>
              </a:spcBef>
              <a:buClr>
                <a:srgbClr val="0B61FF"/>
              </a:buClr>
              <a:buSzPct val="80000"/>
              <a:buFont typeface="Wingdings" panose="05000000000000000000" pitchFamily="2" charset="2"/>
              <a:buChar char="n"/>
            </a:pPr>
            <a:r>
              <a:rPr lang="en-US" sz="2400" b="1" dirty="0">
                <a:solidFill>
                  <a:schemeClr val="bg2">
                    <a:lumMod val="75000"/>
                  </a:schemeClr>
                </a:solidFill>
                <a:latin typeface="Trebuchet MS" panose="020B0603020202020204" pitchFamily="34" charset="0"/>
              </a:rPr>
              <a:t>7.2.3 Optimal Prefix Codes</a:t>
            </a:r>
          </a:p>
          <a:p>
            <a:pPr>
              <a:lnSpc>
                <a:spcPct val="120000"/>
              </a:lnSpc>
              <a:spcBef>
                <a:spcPts val="600"/>
              </a:spcBef>
              <a:buClr>
                <a:srgbClr val="0B61FF"/>
              </a:buClr>
              <a:buSzPct val="80000"/>
              <a:buFont typeface="Wingdings" panose="05000000000000000000" pitchFamily="2" charset="2"/>
              <a:buChar char="n"/>
            </a:pPr>
            <a:r>
              <a:rPr lang="en-US" sz="2400" b="1" dirty="0">
                <a:solidFill>
                  <a:srgbClr val="0B61FF"/>
                </a:solidFill>
                <a:latin typeface="Trebuchet MS" panose="020B0603020202020204" pitchFamily="34" charset="0"/>
              </a:rPr>
              <a:t>7.2.4 Traversals of Rooted Trees and Their Applications</a:t>
            </a:r>
            <a:endParaRPr lang="en-US" sz="2400" dirty="0">
              <a:solidFill>
                <a:srgbClr val="0B61FF"/>
              </a:solidFill>
              <a:latin typeface="Trebuchet MS" panose="020B0603020202020204" pitchFamily="34" charset="0"/>
            </a:endParaRPr>
          </a:p>
          <a:p>
            <a:pPr marL="723900" indent="354013">
              <a:lnSpc>
                <a:spcPct val="120000"/>
              </a:lnSpc>
              <a:spcBef>
                <a:spcPts val="600"/>
              </a:spcBef>
              <a:buClr>
                <a:srgbClr val="0B61FF"/>
              </a:buClr>
              <a:buSzPct val="120000"/>
              <a:buFont typeface="Arial" panose="020B0604020202020204" pitchFamily="34" charset="0"/>
              <a:buChar char="•"/>
              <a:tabLst>
                <a:tab pos="804863" algn="l"/>
                <a:tab pos="1077913" algn="l"/>
              </a:tabLst>
            </a:pPr>
            <a:r>
              <a:rPr lang="en-US" sz="2400" dirty="0" err="1">
                <a:latin typeface="Trebuchet MS" panose="020B0603020202020204" pitchFamily="34" charset="0"/>
              </a:rPr>
              <a:t>Inorder</a:t>
            </a:r>
            <a:r>
              <a:rPr lang="en-US" sz="2400" dirty="0">
                <a:latin typeface="Trebuchet MS" panose="020B0603020202020204" pitchFamily="34" charset="0"/>
              </a:rPr>
              <a:t> Traversal, Preorder Traversal, and </a:t>
            </a:r>
            <a:r>
              <a:rPr lang="en-US" sz="2400" dirty="0" err="1">
                <a:latin typeface="Trebuchet MS" panose="020B0603020202020204" pitchFamily="34" charset="0"/>
              </a:rPr>
              <a:t>Postorder</a:t>
            </a:r>
            <a:r>
              <a:rPr lang="en-US" sz="2400" dirty="0">
                <a:latin typeface="Trebuchet MS" panose="020B0603020202020204" pitchFamily="34" charset="0"/>
              </a:rPr>
              <a:t> Traversal</a:t>
            </a:r>
          </a:p>
          <a:p>
            <a:pPr marL="723900" indent="354013">
              <a:lnSpc>
                <a:spcPct val="120000"/>
              </a:lnSpc>
              <a:spcBef>
                <a:spcPts val="600"/>
              </a:spcBef>
              <a:buClr>
                <a:srgbClr val="0B61FF"/>
              </a:buClr>
              <a:buSzPct val="120000"/>
              <a:buFont typeface="Arial" panose="020B0604020202020204" pitchFamily="34" charset="0"/>
              <a:buChar char="•"/>
              <a:tabLst>
                <a:tab pos="804863" algn="l"/>
                <a:tab pos="1077913" algn="l"/>
              </a:tabLst>
            </a:pPr>
            <a:r>
              <a:rPr lang="en-US" sz="2400" dirty="0">
                <a:latin typeface="Trebuchet MS" panose="020B0603020202020204" pitchFamily="34" charset="0"/>
              </a:rPr>
              <a:t>Polish Notation and Reverse Polish Notation</a:t>
            </a:r>
          </a:p>
        </p:txBody>
      </p:sp>
    </p:spTree>
    <p:extLst>
      <p:ext uri="{BB962C8B-B14F-4D97-AF65-F5344CB8AC3E}">
        <p14:creationId xmlns:p14="http://schemas.microsoft.com/office/powerpoint/2010/main" val="1068697690"/>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0" y="0"/>
            <a:ext cx="12192000" cy="762000"/>
          </a:xfrm>
          <a:prstGeom prst="rect">
            <a:avLst/>
          </a:prstGeom>
          <a:solidFill>
            <a:srgbClr val="002F7C"/>
          </a:solidFill>
        </p:spPr>
        <p:style>
          <a:lnRef idx="2">
            <a:schemeClr val="dk1">
              <a:shade val="50000"/>
            </a:schemeClr>
          </a:lnRef>
          <a:fillRef idx="1">
            <a:schemeClr val="dk1"/>
          </a:fillRef>
          <a:effectRef idx="0">
            <a:schemeClr val="dk1"/>
          </a:effectRef>
          <a:fontRef idx="minor">
            <a:schemeClr val="lt1"/>
          </a:fontRef>
        </p:style>
        <p:txBody>
          <a:bodyPr rtlCol="0" anchor="ctr"/>
          <a:lstStyle/>
          <a:p>
            <a:pPr>
              <a:buClr>
                <a:srgbClr val="0B61FF"/>
              </a:buClr>
              <a:buSzPct val="80000"/>
            </a:pPr>
            <a:r>
              <a:rPr lang="zh-CN" altLang="en-US" sz="2000" b="1" dirty="0">
                <a:latin typeface="Times New Roman" panose="02020603050405020304" pitchFamily="18" charset="0"/>
                <a:ea typeface="宋体" panose="02010600030101010101" pitchFamily="2" charset="-122"/>
                <a:cs typeface="Times New Roman" panose="02020603050405020304" pitchFamily="18" charset="0"/>
              </a:rPr>
              <a:t>                </a:t>
            </a:r>
            <a:r>
              <a:rPr lang="en-US" altLang="zh-CN" b="1" dirty="0">
                <a:latin typeface="Trebuchet MS" panose="020B0603020202020204" pitchFamily="34" charset="0"/>
              </a:rPr>
              <a:t>7.2.4 Traversals of Rooted Trees and Their Applications</a:t>
            </a:r>
          </a:p>
          <a:p>
            <a:pPr>
              <a:buClr>
                <a:srgbClr val="0B61FF"/>
              </a:buClr>
              <a:buSzPct val="80000"/>
            </a:pPr>
            <a:r>
              <a:rPr lang="en-US" altLang="zh-CN" sz="2000" b="1" dirty="0">
                <a:solidFill>
                  <a:srgbClr val="C00000"/>
                </a:solidFill>
                <a:latin typeface="Trebuchet MS" panose="020B0603020202020204" pitchFamily="34" charset="0"/>
                <a:ea typeface="Cambria Math" panose="02040503050406030204" pitchFamily="18" charset="0"/>
                <a:cs typeface="Times New Roman" panose="02020603050405020304" pitchFamily="18" charset="0"/>
              </a:rPr>
              <a:t>                 ⤷</a:t>
            </a:r>
            <a:r>
              <a:rPr lang="zh-CN" altLang="en-US" sz="2000" b="1" dirty="0">
                <a:latin typeface="Trebuchet MS" panose="020B0603020202020204" pitchFamily="34" charset="0"/>
              </a:rPr>
              <a:t> </a:t>
            </a:r>
            <a:r>
              <a:rPr lang="en-US" altLang="zh-CN" sz="2400" b="1" dirty="0">
                <a:latin typeface="Trebuchet MS" panose="020B0603020202020204" pitchFamily="34" charset="0"/>
              </a:rPr>
              <a:t>Preorder, </a:t>
            </a:r>
            <a:r>
              <a:rPr lang="en-US" altLang="zh-CN" sz="2400" b="1" dirty="0" err="1">
                <a:latin typeface="Trebuchet MS" panose="020B0603020202020204" pitchFamily="34" charset="0"/>
              </a:rPr>
              <a:t>inorder</a:t>
            </a:r>
            <a:r>
              <a:rPr lang="en-US" altLang="zh-CN" sz="2400" b="1" dirty="0">
                <a:latin typeface="Trebuchet MS" panose="020B0603020202020204" pitchFamily="34" charset="0"/>
              </a:rPr>
              <a:t>, and </a:t>
            </a:r>
            <a:r>
              <a:rPr lang="en-US" altLang="zh-CN" sz="2400" b="1" dirty="0" err="1">
                <a:latin typeface="Trebuchet MS" panose="020B0603020202020204" pitchFamily="34" charset="0"/>
              </a:rPr>
              <a:t>postorder</a:t>
            </a:r>
            <a:r>
              <a:rPr lang="en-US" altLang="zh-CN" sz="2400" b="1" dirty="0">
                <a:latin typeface="Trebuchet MS" panose="020B0603020202020204" pitchFamily="34" charset="0"/>
              </a:rPr>
              <a:t> of an ordered rooted tree</a:t>
            </a:r>
          </a:p>
        </p:txBody>
      </p:sp>
      <p:sp>
        <p:nvSpPr>
          <p:cNvPr id="13" name="矩形 12"/>
          <p:cNvSpPr/>
          <p:nvPr/>
        </p:nvSpPr>
        <p:spPr>
          <a:xfrm>
            <a:off x="824682" y="0"/>
            <a:ext cx="175443" cy="628650"/>
          </a:xfrm>
          <a:prstGeom prst="rect">
            <a:avLst/>
          </a:prstGeom>
          <a:solidFill>
            <a:srgbClr val="CFA57C"/>
          </a:solidFill>
          <a:ln cmpd="sng">
            <a:gradFill flip="none" rotWithShape="1">
              <a:gsLst>
                <a:gs pos="50000">
                  <a:schemeClr val="accent2">
                    <a:lumMod val="60000"/>
                    <a:lumOff val="40000"/>
                  </a:schemeClr>
                </a:gs>
                <a:gs pos="0">
                  <a:schemeClr val="accent2">
                    <a:lumMod val="20000"/>
                    <a:lumOff val="80000"/>
                  </a:schemeClr>
                </a:gs>
                <a:gs pos="95000">
                  <a:schemeClr val="accent2"/>
                </a:gs>
              </a:gsLst>
              <a:path path="circle">
                <a:fillToRect l="50000" t="-80000" r="50000" b="180000"/>
              </a:path>
              <a:tileRect/>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22" name="Picture 6" descr="D:\MBA工作\LOGO\同济经管LOGO反白.png"/>
          <p:cNvPicPr>
            <a:picLocks noChangeAspect="1" noChangeArrowheads="1"/>
          </p:cNvPicPr>
          <p:nvPr/>
        </p:nvPicPr>
        <p:blipFill>
          <a:blip r:embed="rId3" cstate="email">
            <a:extLst>
              <a:ext uri="{28A0092B-C50C-407E-A947-70E740481C1C}">
                <a14:useLocalDpi xmlns:a14="http://schemas.microsoft.com/office/drawing/2010/main" val="0"/>
              </a:ext>
            </a:extLst>
          </a:blip>
          <a:srcRect/>
          <a:stretch>
            <a:fillRect/>
          </a:stretch>
        </p:blipFill>
        <p:spPr bwMode="auto">
          <a:xfrm>
            <a:off x="10267423" y="165688"/>
            <a:ext cx="1386605" cy="462962"/>
          </a:xfrm>
          <a:prstGeom prst="rect">
            <a:avLst/>
          </a:prstGeom>
          <a:noFill/>
          <a:extLst>
            <a:ext uri="{909E8E84-426E-40DD-AFC4-6F175D3DCCD1}">
              <a14:hiddenFill xmlns:a14="http://schemas.microsoft.com/office/drawing/2010/main">
                <a:solidFill>
                  <a:srgbClr val="FFFFFF"/>
                </a:solidFill>
              </a14:hiddenFill>
            </a:ext>
          </a:extLst>
        </p:spPr>
      </p:pic>
      <p:pic>
        <p:nvPicPr>
          <p:cNvPr id="2" name="图片 1" descr="微信图片_20220318113523"/>
          <p:cNvPicPr>
            <a:picLocks noChangeAspect="1"/>
          </p:cNvPicPr>
          <p:nvPr userDrawn="1"/>
        </p:nvPicPr>
        <p:blipFill>
          <a:blip r:embed="rId4"/>
          <a:stretch>
            <a:fillRect/>
          </a:stretch>
        </p:blipFill>
        <p:spPr>
          <a:xfrm>
            <a:off x="9291877" y="6115050"/>
            <a:ext cx="2244725" cy="361315"/>
          </a:xfrm>
          <a:prstGeom prst="rect">
            <a:avLst/>
          </a:prstGeom>
        </p:spPr>
      </p:pic>
      <p:sp>
        <p:nvSpPr>
          <p:cNvPr id="18" name="Rectangle 2">
            <a:extLst>
              <a:ext uri="{FF2B5EF4-FFF2-40B4-BE49-F238E27FC236}">
                <a16:creationId xmlns:a16="http://schemas.microsoft.com/office/drawing/2014/main" id="{E217C615-1D49-4D07-B850-D36106D7AA9A}"/>
              </a:ext>
            </a:extLst>
          </p:cNvPr>
          <p:cNvSpPr>
            <a:spLocks noChangeArrowheads="1"/>
          </p:cNvSpPr>
          <p:nvPr/>
        </p:nvSpPr>
        <p:spPr bwMode="auto">
          <a:xfrm>
            <a:off x="1000125" y="815365"/>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8" name="Rectangle 3">
            <a:extLst>
              <a:ext uri="{FF2B5EF4-FFF2-40B4-BE49-F238E27FC236}">
                <a16:creationId xmlns:a16="http://schemas.microsoft.com/office/drawing/2014/main" id="{97F08C45-3D15-45C1-A5A3-D1EB58DC91FE}"/>
              </a:ext>
            </a:extLst>
          </p:cNvPr>
          <p:cNvSpPr txBox="1">
            <a:spLocks noChangeArrowheads="1"/>
          </p:cNvSpPr>
          <p:nvPr/>
        </p:nvSpPr>
        <p:spPr>
          <a:xfrm>
            <a:off x="1000125" y="914400"/>
            <a:ext cx="9877336" cy="4929804"/>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30000"/>
              </a:lnSpc>
              <a:buClr>
                <a:srgbClr val="0B61FF"/>
              </a:buClr>
              <a:buSzPct val="80000"/>
              <a:buFont typeface="Wingdings" panose="05000000000000000000" pitchFamily="2" charset="2"/>
              <a:buChar char="n"/>
            </a:pPr>
            <a:r>
              <a:rPr lang="en-US" sz="2400" b="1" dirty="0">
                <a:latin typeface="Trebuchet MS" panose="020B0603020202020204" pitchFamily="34" charset="0"/>
              </a:rPr>
              <a:t>Traversing (Touring) a </a:t>
            </a:r>
            <a:r>
              <a:rPr lang="en-US" sz="2400" b="1" i="1" dirty="0">
                <a:solidFill>
                  <a:srgbClr val="0B61FF"/>
                </a:solidFill>
                <a:latin typeface="Trebuchet MS" panose="020B0603020202020204" pitchFamily="34" charset="0"/>
              </a:rPr>
              <a:t>Rooted Tree</a:t>
            </a:r>
            <a:r>
              <a:rPr lang="en-US" sz="2400" dirty="0">
                <a:latin typeface="Trebuchet MS" panose="020B0603020202020204" pitchFamily="34" charset="0"/>
              </a:rPr>
              <a:t>:</a:t>
            </a:r>
            <a:br>
              <a:rPr lang="en-US" sz="2400" dirty="0">
                <a:latin typeface="Trebuchet MS" panose="020B0603020202020204" pitchFamily="34" charset="0"/>
              </a:rPr>
            </a:br>
            <a:r>
              <a:rPr lang="en-US" sz="2400" dirty="0">
                <a:latin typeface="Trebuchet MS" panose="020B0603020202020204" pitchFamily="34" charset="0"/>
              </a:rPr>
              <a:t>Visiting each vertex of a rooted tree exactly once.</a:t>
            </a:r>
          </a:p>
          <a:p>
            <a:pPr>
              <a:lnSpc>
                <a:spcPct val="130000"/>
              </a:lnSpc>
              <a:buClr>
                <a:srgbClr val="0B61FF"/>
              </a:buClr>
              <a:buSzPct val="80000"/>
              <a:buFont typeface="Wingdings" panose="05000000000000000000" pitchFamily="2" charset="2"/>
              <a:buChar char="n"/>
            </a:pPr>
            <a:r>
              <a:rPr lang="en-US" sz="2400" b="1" dirty="0">
                <a:latin typeface="Trebuchet MS" panose="020B0603020202020204" pitchFamily="34" charset="0"/>
              </a:rPr>
              <a:t>Traversal methods for a </a:t>
            </a:r>
            <a:r>
              <a:rPr lang="en-US" sz="2400" b="1" i="1" dirty="0">
                <a:solidFill>
                  <a:srgbClr val="0B61FF"/>
                </a:solidFill>
                <a:latin typeface="Trebuchet MS" panose="020B0603020202020204" pitchFamily="34" charset="0"/>
              </a:rPr>
              <a:t>binary ordered tree</a:t>
            </a:r>
            <a:r>
              <a:rPr lang="en-US" sz="2400" dirty="0">
                <a:latin typeface="Trebuchet MS" panose="020B0603020202020204" pitchFamily="34" charset="0"/>
              </a:rPr>
              <a:t>:</a:t>
            </a:r>
          </a:p>
          <a:p>
            <a:pPr marL="0" indent="268288">
              <a:lnSpc>
                <a:spcPct val="130000"/>
              </a:lnSpc>
              <a:buClr>
                <a:srgbClr val="0B61FF"/>
              </a:buClr>
              <a:buSzPct val="80000"/>
              <a:buNone/>
            </a:pPr>
            <a:r>
              <a:rPr lang="en-US" sz="2400" b="1" dirty="0">
                <a:solidFill>
                  <a:srgbClr val="0B61FF"/>
                </a:solidFill>
                <a:latin typeface="Trebuchet MS" panose="020B0603020202020204" pitchFamily="34" charset="0"/>
              </a:rPr>
              <a:t>(1) </a:t>
            </a:r>
            <a:r>
              <a:rPr lang="en-US" sz="2400" b="1" i="1" dirty="0" err="1">
                <a:solidFill>
                  <a:srgbClr val="0B61FF"/>
                </a:solidFill>
                <a:latin typeface="Trebuchet MS" panose="020B0603020202020204" pitchFamily="34" charset="0"/>
              </a:rPr>
              <a:t>Inorder</a:t>
            </a:r>
            <a:r>
              <a:rPr lang="en-US" sz="2400" b="1" i="1" dirty="0">
                <a:solidFill>
                  <a:srgbClr val="0B61FF"/>
                </a:solidFill>
                <a:latin typeface="Trebuchet MS" panose="020B0603020202020204" pitchFamily="34" charset="0"/>
              </a:rPr>
              <a:t> traversal</a:t>
            </a:r>
            <a:r>
              <a:rPr lang="en-US" sz="2400" dirty="0">
                <a:latin typeface="Trebuchet MS" panose="020B0603020202020204" pitchFamily="34" charset="0"/>
              </a:rPr>
              <a:t>: </a:t>
            </a:r>
            <a:r>
              <a:rPr lang="en-US" sz="2400" b="1" dirty="0">
                <a:solidFill>
                  <a:srgbClr val="FF0000"/>
                </a:solidFill>
                <a:latin typeface="Trebuchet MS" panose="020B0603020202020204" pitchFamily="34" charset="0"/>
              </a:rPr>
              <a:t>L</a:t>
            </a:r>
            <a:r>
              <a:rPr lang="en-US" sz="2400" dirty="0">
                <a:latin typeface="Trebuchet MS" panose="020B0603020202020204" pitchFamily="34" charset="0"/>
              </a:rPr>
              <a:t>eft subtree → </a:t>
            </a:r>
            <a:r>
              <a:rPr lang="en-US" sz="2400" b="1" dirty="0">
                <a:latin typeface="Trebuchet MS" panose="020B0603020202020204" pitchFamily="34" charset="0"/>
              </a:rPr>
              <a:t>Root</a:t>
            </a:r>
            <a:r>
              <a:rPr lang="en-US" sz="2400" dirty="0">
                <a:latin typeface="Trebuchet MS" panose="020B0603020202020204" pitchFamily="34" charset="0"/>
              </a:rPr>
              <a:t> → </a:t>
            </a:r>
            <a:r>
              <a:rPr lang="en-US" sz="2400" b="1" dirty="0">
                <a:solidFill>
                  <a:srgbClr val="FF0000"/>
                </a:solidFill>
                <a:latin typeface="Trebuchet MS" panose="020B0603020202020204" pitchFamily="34" charset="0"/>
              </a:rPr>
              <a:t>R</a:t>
            </a:r>
            <a:r>
              <a:rPr lang="en-US" sz="2400" dirty="0">
                <a:latin typeface="Trebuchet MS" panose="020B0603020202020204" pitchFamily="34" charset="0"/>
              </a:rPr>
              <a:t>ight subtree</a:t>
            </a:r>
          </a:p>
          <a:p>
            <a:pPr marL="0" indent="268288">
              <a:lnSpc>
                <a:spcPct val="130000"/>
              </a:lnSpc>
              <a:buClr>
                <a:srgbClr val="0B61FF"/>
              </a:buClr>
              <a:buSzPct val="80000"/>
              <a:buNone/>
            </a:pPr>
            <a:r>
              <a:rPr lang="en-US" sz="2400" b="1" dirty="0">
                <a:solidFill>
                  <a:srgbClr val="0B61FF"/>
                </a:solidFill>
                <a:latin typeface="Trebuchet MS" panose="020B0603020202020204" pitchFamily="34" charset="0"/>
              </a:rPr>
              <a:t>(2)</a:t>
            </a:r>
            <a:r>
              <a:rPr lang="en-US" sz="2400" dirty="0">
                <a:latin typeface="Trebuchet MS" panose="020B0603020202020204" pitchFamily="34" charset="0"/>
              </a:rPr>
              <a:t> </a:t>
            </a:r>
            <a:r>
              <a:rPr lang="en-US" sz="2400" b="1" i="1" dirty="0">
                <a:solidFill>
                  <a:srgbClr val="0B61FF"/>
                </a:solidFill>
                <a:latin typeface="Trebuchet MS" panose="020B0603020202020204" pitchFamily="34" charset="0"/>
              </a:rPr>
              <a:t>Preorder traversal</a:t>
            </a:r>
            <a:r>
              <a:rPr lang="en-US" sz="2400" dirty="0">
                <a:latin typeface="Trebuchet MS" panose="020B0603020202020204" pitchFamily="34" charset="0"/>
              </a:rPr>
              <a:t>: </a:t>
            </a:r>
            <a:r>
              <a:rPr lang="en-US" sz="2400" b="1" dirty="0">
                <a:latin typeface="Trebuchet MS" panose="020B0603020202020204" pitchFamily="34" charset="0"/>
              </a:rPr>
              <a:t>Root</a:t>
            </a:r>
            <a:r>
              <a:rPr lang="en-US" sz="2400" dirty="0">
                <a:latin typeface="Trebuchet MS" panose="020B0603020202020204" pitchFamily="34" charset="0"/>
              </a:rPr>
              <a:t> → </a:t>
            </a:r>
            <a:r>
              <a:rPr lang="en-US" sz="2400" b="1" dirty="0">
                <a:solidFill>
                  <a:srgbClr val="FF0000"/>
                </a:solidFill>
                <a:latin typeface="Trebuchet MS" panose="020B0603020202020204" pitchFamily="34" charset="0"/>
              </a:rPr>
              <a:t>L</a:t>
            </a:r>
            <a:r>
              <a:rPr lang="en-US" sz="2400" dirty="0">
                <a:latin typeface="Trebuchet MS" panose="020B0603020202020204" pitchFamily="34" charset="0"/>
              </a:rPr>
              <a:t>eft subtree → </a:t>
            </a:r>
            <a:r>
              <a:rPr lang="en-US" sz="2400" b="1" dirty="0">
                <a:solidFill>
                  <a:srgbClr val="FF0000"/>
                </a:solidFill>
                <a:latin typeface="Trebuchet MS" panose="020B0603020202020204" pitchFamily="34" charset="0"/>
              </a:rPr>
              <a:t>R</a:t>
            </a:r>
            <a:r>
              <a:rPr lang="en-US" sz="2400" dirty="0">
                <a:latin typeface="Trebuchet MS" panose="020B0603020202020204" pitchFamily="34" charset="0"/>
              </a:rPr>
              <a:t>ight subtree</a:t>
            </a:r>
          </a:p>
          <a:p>
            <a:pPr marL="0" indent="268288">
              <a:lnSpc>
                <a:spcPct val="130000"/>
              </a:lnSpc>
              <a:buClr>
                <a:srgbClr val="0B61FF"/>
              </a:buClr>
              <a:buSzPct val="80000"/>
              <a:buNone/>
            </a:pPr>
            <a:r>
              <a:rPr lang="en-US" sz="2400" b="1" dirty="0">
                <a:solidFill>
                  <a:srgbClr val="0B61FF"/>
                </a:solidFill>
                <a:latin typeface="Trebuchet MS" panose="020B0603020202020204" pitchFamily="34" charset="0"/>
              </a:rPr>
              <a:t>(3)</a:t>
            </a:r>
            <a:r>
              <a:rPr lang="en-US" sz="2400" dirty="0">
                <a:latin typeface="Trebuchet MS" panose="020B0603020202020204" pitchFamily="34" charset="0"/>
              </a:rPr>
              <a:t> </a:t>
            </a:r>
            <a:r>
              <a:rPr lang="en-US" sz="2400" b="1" i="1" dirty="0" err="1">
                <a:solidFill>
                  <a:srgbClr val="0B61FF"/>
                </a:solidFill>
                <a:latin typeface="Trebuchet MS" panose="020B0603020202020204" pitchFamily="34" charset="0"/>
              </a:rPr>
              <a:t>Postorder</a:t>
            </a:r>
            <a:r>
              <a:rPr lang="en-US" sz="2400" b="1" i="1" dirty="0">
                <a:solidFill>
                  <a:srgbClr val="0B61FF"/>
                </a:solidFill>
                <a:latin typeface="Trebuchet MS" panose="020B0603020202020204" pitchFamily="34" charset="0"/>
              </a:rPr>
              <a:t> trave</a:t>
            </a:r>
            <a:r>
              <a:rPr lang="en-US" sz="2400" b="1" dirty="0">
                <a:latin typeface="Trebuchet MS" panose="020B0603020202020204" pitchFamily="34" charset="0"/>
              </a:rPr>
              <a:t>rsal</a:t>
            </a:r>
            <a:r>
              <a:rPr lang="en-US" sz="2400" dirty="0">
                <a:latin typeface="Trebuchet MS" panose="020B0603020202020204" pitchFamily="34" charset="0"/>
              </a:rPr>
              <a:t>: </a:t>
            </a:r>
            <a:r>
              <a:rPr lang="en-US" sz="2400" b="1" dirty="0">
                <a:solidFill>
                  <a:srgbClr val="FF0000"/>
                </a:solidFill>
                <a:latin typeface="Trebuchet MS" panose="020B0603020202020204" pitchFamily="34" charset="0"/>
              </a:rPr>
              <a:t>L</a:t>
            </a:r>
            <a:r>
              <a:rPr lang="en-US" sz="2400" dirty="0">
                <a:latin typeface="Trebuchet MS" panose="020B0603020202020204" pitchFamily="34" charset="0"/>
              </a:rPr>
              <a:t>eft subtree → </a:t>
            </a:r>
            <a:r>
              <a:rPr lang="en-US" sz="2400" b="1" dirty="0">
                <a:solidFill>
                  <a:srgbClr val="FF0000"/>
                </a:solidFill>
                <a:latin typeface="Trebuchet MS" panose="020B0603020202020204" pitchFamily="34" charset="0"/>
              </a:rPr>
              <a:t>R</a:t>
            </a:r>
            <a:r>
              <a:rPr lang="en-US" sz="2400" dirty="0">
                <a:latin typeface="Trebuchet MS" panose="020B0603020202020204" pitchFamily="34" charset="0"/>
              </a:rPr>
              <a:t>ight subtree → </a:t>
            </a:r>
            <a:r>
              <a:rPr lang="en-US" sz="2400" b="1" dirty="0">
                <a:latin typeface="Trebuchet MS" panose="020B0603020202020204" pitchFamily="34" charset="0"/>
              </a:rPr>
              <a:t>Root</a:t>
            </a:r>
          </a:p>
          <a:p>
            <a:pPr marL="446088" indent="-174625">
              <a:lnSpc>
                <a:spcPct val="130000"/>
              </a:lnSpc>
              <a:buClr>
                <a:srgbClr val="0B61FF"/>
              </a:buClr>
              <a:buSzPct val="120000"/>
            </a:pPr>
            <a:r>
              <a:rPr lang="en-US" sz="2400" dirty="0">
                <a:latin typeface="Trebuchet MS" panose="020B0603020202020204" pitchFamily="34" charset="0"/>
              </a:rPr>
              <a:t>When the binary ordered tree is not a full (regular) tree, the left or right subtree may be absent.</a:t>
            </a:r>
          </a:p>
          <a:p>
            <a:pPr marL="804863" indent="-179388">
              <a:buClr>
                <a:srgbClr val="0B61FF"/>
              </a:buClr>
              <a:buSzPct val="120000"/>
            </a:pPr>
            <a:endParaRPr lang="en-US" sz="2400" dirty="0">
              <a:latin typeface="Trebuchet MS" panose="020B0603020202020204" pitchFamily="34" charset="0"/>
            </a:endParaRPr>
          </a:p>
          <a:p>
            <a:pPr marL="804863" indent="-179388">
              <a:buClr>
                <a:srgbClr val="0B61FF"/>
              </a:buClr>
              <a:buSzPct val="120000"/>
            </a:pPr>
            <a:endParaRPr lang="en-US" sz="2400" dirty="0">
              <a:latin typeface="Trebuchet MS" panose="020B0603020202020204" pitchFamily="34" charset="0"/>
            </a:endParaRPr>
          </a:p>
        </p:txBody>
      </p:sp>
    </p:spTree>
    <p:extLst>
      <p:ext uri="{BB962C8B-B14F-4D97-AF65-F5344CB8AC3E}">
        <p14:creationId xmlns:p14="http://schemas.microsoft.com/office/powerpoint/2010/main" val="2603984548"/>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8">
                                            <p:txEl>
                                              <p:pRg st="1" end="1"/>
                                            </p:txEl>
                                          </p:spTgt>
                                        </p:tgtEl>
                                        <p:attrNameLst>
                                          <p:attrName>style.visibility</p:attrName>
                                        </p:attrNameLst>
                                      </p:cBhvr>
                                      <p:to>
                                        <p:strVal val="visible"/>
                                      </p:to>
                                    </p:set>
                                    <p:animEffect transition="in" filter="fade">
                                      <p:cBhvr>
                                        <p:cTn id="7" dur="1000"/>
                                        <p:tgtEl>
                                          <p:spTgt spid="8">
                                            <p:txEl>
                                              <p:pRg st="1" end="1"/>
                                            </p:txEl>
                                          </p:spTgt>
                                        </p:tgtEl>
                                      </p:cBhvr>
                                    </p:animEffect>
                                    <p:anim calcmode="lin" valueType="num">
                                      <p:cBhvr>
                                        <p:cTn id="8" dur="1000" fill="hold"/>
                                        <p:tgtEl>
                                          <p:spTgt spid="8">
                                            <p:txEl>
                                              <p:pRg st="1" end="1"/>
                                            </p:txEl>
                                          </p:spTgt>
                                        </p:tgtEl>
                                        <p:attrNameLst>
                                          <p:attrName>ppt_x</p:attrName>
                                        </p:attrNameLst>
                                      </p:cBhvr>
                                      <p:tavLst>
                                        <p:tav tm="0">
                                          <p:val>
                                            <p:strVal val="#ppt_x"/>
                                          </p:val>
                                        </p:tav>
                                        <p:tav tm="100000">
                                          <p:val>
                                            <p:strVal val="#ppt_x"/>
                                          </p:val>
                                        </p:tav>
                                      </p:tavLst>
                                    </p:anim>
                                    <p:anim calcmode="lin" valueType="num">
                                      <p:cBhvr>
                                        <p:cTn id="9" dur="1000" fill="hold"/>
                                        <p:tgtEl>
                                          <p:spTgt spid="8">
                                            <p:txEl>
                                              <p:pRg st="1" end="1"/>
                                            </p:txEl>
                                          </p:spTgt>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8">
                                            <p:txEl>
                                              <p:pRg st="2" end="2"/>
                                            </p:txEl>
                                          </p:spTgt>
                                        </p:tgtEl>
                                        <p:attrNameLst>
                                          <p:attrName>style.visibility</p:attrName>
                                        </p:attrNameLst>
                                      </p:cBhvr>
                                      <p:to>
                                        <p:strVal val="visible"/>
                                      </p:to>
                                    </p:set>
                                    <p:animEffect transition="in" filter="fade">
                                      <p:cBhvr>
                                        <p:cTn id="12" dur="1000"/>
                                        <p:tgtEl>
                                          <p:spTgt spid="8">
                                            <p:txEl>
                                              <p:pRg st="2" end="2"/>
                                            </p:txEl>
                                          </p:spTgt>
                                        </p:tgtEl>
                                      </p:cBhvr>
                                    </p:animEffect>
                                    <p:anim calcmode="lin" valueType="num">
                                      <p:cBhvr>
                                        <p:cTn id="13" dur="1000" fill="hold"/>
                                        <p:tgtEl>
                                          <p:spTgt spid="8">
                                            <p:txEl>
                                              <p:pRg st="2" end="2"/>
                                            </p:txEl>
                                          </p:spTgt>
                                        </p:tgtEl>
                                        <p:attrNameLst>
                                          <p:attrName>ppt_x</p:attrName>
                                        </p:attrNameLst>
                                      </p:cBhvr>
                                      <p:tavLst>
                                        <p:tav tm="0">
                                          <p:val>
                                            <p:strVal val="#ppt_x"/>
                                          </p:val>
                                        </p:tav>
                                        <p:tav tm="100000">
                                          <p:val>
                                            <p:strVal val="#ppt_x"/>
                                          </p:val>
                                        </p:tav>
                                      </p:tavLst>
                                    </p:anim>
                                    <p:anim calcmode="lin" valueType="num">
                                      <p:cBhvr>
                                        <p:cTn id="14" dur="1000" fill="hold"/>
                                        <p:tgtEl>
                                          <p:spTgt spid="8">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42" presetClass="entr" presetSubtype="0" fill="hold" nodeType="clickEffect">
                                  <p:stCondLst>
                                    <p:cond delay="0"/>
                                  </p:stCondLst>
                                  <p:childTnLst>
                                    <p:set>
                                      <p:cBhvr>
                                        <p:cTn id="18" dur="1" fill="hold">
                                          <p:stCondLst>
                                            <p:cond delay="0"/>
                                          </p:stCondLst>
                                        </p:cTn>
                                        <p:tgtEl>
                                          <p:spTgt spid="8">
                                            <p:txEl>
                                              <p:pRg st="3" end="3"/>
                                            </p:txEl>
                                          </p:spTgt>
                                        </p:tgtEl>
                                        <p:attrNameLst>
                                          <p:attrName>style.visibility</p:attrName>
                                        </p:attrNameLst>
                                      </p:cBhvr>
                                      <p:to>
                                        <p:strVal val="visible"/>
                                      </p:to>
                                    </p:set>
                                    <p:animEffect transition="in" filter="fade">
                                      <p:cBhvr>
                                        <p:cTn id="19" dur="1000"/>
                                        <p:tgtEl>
                                          <p:spTgt spid="8">
                                            <p:txEl>
                                              <p:pRg st="3" end="3"/>
                                            </p:txEl>
                                          </p:spTgt>
                                        </p:tgtEl>
                                      </p:cBhvr>
                                    </p:animEffect>
                                    <p:anim calcmode="lin" valueType="num">
                                      <p:cBhvr>
                                        <p:cTn id="20" dur="1000" fill="hold"/>
                                        <p:tgtEl>
                                          <p:spTgt spid="8">
                                            <p:txEl>
                                              <p:pRg st="3" end="3"/>
                                            </p:txEl>
                                          </p:spTgt>
                                        </p:tgtEl>
                                        <p:attrNameLst>
                                          <p:attrName>ppt_x</p:attrName>
                                        </p:attrNameLst>
                                      </p:cBhvr>
                                      <p:tavLst>
                                        <p:tav tm="0">
                                          <p:val>
                                            <p:strVal val="#ppt_x"/>
                                          </p:val>
                                        </p:tav>
                                        <p:tav tm="100000">
                                          <p:val>
                                            <p:strVal val="#ppt_x"/>
                                          </p:val>
                                        </p:tav>
                                      </p:tavLst>
                                    </p:anim>
                                    <p:anim calcmode="lin" valueType="num">
                                      <p:cBhvr>
                                        <p:cTn id="21" dur="1000" fill="hold"/>
                                        <p:tgtEl>
                                          <p:spTgt spid="8">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22" fill="hold">
                      <p:stCondLst>
                        <p:cond delay="indefinite"/>
                      </p:stCondLst>
                      <p:childTnLst>
                        <p:par>
                          <p:cTn id="23" fill="hold">
                            <p:stCondLst>
                              <p:cond delay="0"/>
                            </p:stCondLst>
                            <p:childTnLst>
                              <p:par>
                                <p:cTn id="24" presetID="42" presetClass="entr" presetSubtype="0" fill="hold" nodeType="clickEffect">
                                  <p:stCondLst>
                                    <p:cond delay="0"/>
                                  </p:stCondLst>
                                  <p:childTnLst>
                                    <p:set>
                                      <p:cBhvr>
                                        <p:cTn id="25" dur="1" fill="hold">
                                          <p:stCondLst>
                                            <p:cond delay="0"/>
                                          </p:stCondLst>
                                        </p:cTn>
                                        <p:tgtEl>
                                          <p:spTgt spid="8">
                                            <p:txEl>
                                              <p:pRg st="4" end="4"/>
                                            </p:txEl>
                                          </p:spTgt>
                                        </p:tgtEl>
                                        <p:attrNameLst>
                                          <p:attrName>style.visibility</p:attrName>
                                        </p:attrNameLst>
                                      </p:cBhvr>
                                      <p:to>
                                        <p:strVal val="visible"/>
                                      </p:to>
                                    </p:set>
                                    <p:animEffect transition="in" filter="fade">
                                      <p:cBhvr>
                                        <p:cTn id="26" dur="1000"/>
                                        <p:tgtEl>
                                          <p:spTgt spid="8">
                                            <p:txEl>
                                              <p:pRg st="4" end="4"/>
                                            </p:txEl>
                                          </p:spTgt>
                                        </p:tgtEl>
                                      </p:cBhvr>
                                    </p:animEffect>
                                    <p:anim calcmode="lin" valueType="num">
                                      <p:cBhvr>
                                        <p:cTn id="27" dur="1000" fill="hold"/>
                                        <p:tgtEl>
                                          <p:spTgt spid="8">
                                            <p:txEl>
                                              <p:pRg st="4" end="4"/>
                                            </p:txEl>
                                          </p:spTgt>
                                        </p:tgtEl>
                                        <p:attrNameLst>
                                          <p:attrName>ppt_x</p:attrName>
                                        </p:attrNameLst>
                                      </p:cBhvr>
                                      <p:tavLst>
                                        <p:tav tm="0">
                                          <p:val>
                                            <p:strVal val="#ppt_x"/>
                                          </p:val>
                                        </p:tav>
                                        <p:tav tm="100000">
                                          <p:val>
                                            <p:strVal val="#ppt_x"/>
                                          </p:val>
                                        </p:tav>
                                      </p:tavLst>
                                    </p:anim>
                                    <p:anim calcmode="lin" valueType="num">
                                      <p:cBhvr>
                                        <p:cTn id="28" dur="1000" fill="hold"/>
                                        <p:tgtEl>
                                          <p:spTgt spid="8">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29" fill="hold">
                      <p:stCondLst>
                        <p:cond delay="indefinite"/>
                      </p:stCondLst>
                      <p:childTnLst>
                        <p:par>
                          <p:cTn id="30" fill="hold">
                            <p:stCondLst>
                              <p:cond delay="0"/>
                            </p:stCondLst>
                            <p:childTnLst>
                              <p:par>
                                <p:cTn id="31" presetID="42" presetClass="entr" presetSubtype="0" fill="hold" nodeType="clickEffect">
                                  <p:stCondLst>
                                    <p:cond delay="0"/>
                                  </p:stCondLst>
                                  <p:childTnLst>
                                    <p:set>
                                      <p:cBhvr>
                                        <p:cTn id="32" dur="1" fill="hold">
                                          <p:stCondLst>
                                            <p:cond delay="0"/>
                                          </p:stCondLst>
                                        </p:cTn>
                                        <p:tgtEl>
                                          <p:spTgt spid="8">
                                            <p:txEl>
                                              <p:pRg st="5" end="5"/>
                                            </p:txEl>
                                          </p:spTgt>
                                        </p:tgtEl>
                                        <p:attrNameLst>
                                          <p:attrName>style.visibility</p:attrName>
                                        </p:attrNameLst>
                                      </p:cBhvr>
                                      <p:to>
                                        <p:strVal val="visible"/>
                                      </p:to>
                                    </p:set>
                                    <p:animEffect transition="in" filter="fade">
                                      <p:cBhvr>
                                        <p:cTn id="33" dur="1000"/>
                                        <p:tgtEl>
                                          <p:spTgt spid="8">
                                            <p:txEl>
                                              <p:pRg st="5" end="5"/>
                                            </p:txEl>
                                          </p:spTgt>
                                        </p:tgtEl>
                                      </p:cBhvr>
                                    </p:animEffect>
                                    <p:anim calcmode="lin" valueType="num">
                                      <p:cBhvr>
                                        <p:cTn id="34" dur="1000" fill="hold"/>
                                        <p:tgtEl>
                                          <p:spTgt spid="8">
                                            <p:txEl>
                                              <p:pRg st="5" end="5"/>
                                            </p:txEl>
                                          </p:spTgt>
                                        </p:tgtEl>
                                        <p:attrNameLst>
                                          <p:attrName>ppt_x</p:attrName>
                                        </p:attrNameLst>
                                      </p:cBhvr>
                                      <p:tavLst>
                                        <p:tav tm="0">
                                          <p:val>
                                            <p:strVal val="#ppt_x"/>
                                          </p:val>
                                        </p:tav>
                                        <p:tav tm="100000">
                                          <p:val>
                                            <p:strVal val="#ppt_x"/>
                                          </p:val>
                                        </p:tav>
                                      </p:tavLst>
                                    </p:anim>
                                    <p:anim calcmode="lin" valueType="num">
                                      <p:cBhvr>
                                        <p:cTn id="35" dur="1000" fill="hold"/>
                                        <p:tgtEl>
                                          <p:spTgt spid="8">
                                            <p:txEl>
                                              <p:pRg st="5" end="5"/>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0" y="0"/>
            <a:ext cx="12192000" cy="762000"/>
          </a:xfrm>
          <a:prstGeom prst="rect">
            <a:avLst/>
          </a:prstGeom>
          <a:solidFill>
            <a:srgbClr val="002F7C"/>
          </a:solidFill>
        </p:spPr>
        <p:style>
          <a:lnRef idx="2">
            <a:schemeClr val="dk1">
              <a:shade val="50000"/>
            </a:schemeClr>
          </a:lnRef>
          <a:fillRef idx="1">
            <a:schemeClr val="dk1"/>
          </a:fillRef>
          <a:effectRef idx="0">
            <a:schemeClr val="dk1"/>
          </a:effectRef>
          <a:fontRef idx="minor">
            <a:schemeClr val="lt1"/>
          </a:fontRef>
        </p:style>
        <p:txBody>
          <a:bodyPr rtlCol="0" anchor="ctr"/>
          <a:lstStyle/>
          <a:p>
            <a:pPr>
              <a:buClr>
                <a:srgbClr val="0B61FF"/>
              </a:buClr>
              <a:buSzPct val="80000"/>
            </a:pPr>
            <a:r>
              <a:rPr lang="zh-CN" altLang="en-US" sz="2000" b="1" dirty="0">
                <a:latin typeface="Times New Roman" panose="02020603050405020304" pitchFamily="18" charset="0"/>
                <a:ea typeface="宋体" panose="02010600030101010101" pitchFamily="2" charset="-122"/>
                <a:cs typeface="Times New Roman" panose="02020603050405020304" pitchFamily="18" charset="0"/>
              </a:rPr>
              <a:t>               </a:t>
            </a:r>
            <a:r>
              <a:rPr lang="en-US" altLang="zh-CN" b="1" dirty="0">
                <a:latin typeface="Trebuchet MS" panose="020B0603020202020204" pitchFamily="34" charset="0"/>
              </a:rPr>
              <a:t>7.2.4 Traversals of Rooted Trees and Their Applications</a:t>
            </a:r>
          </a:p>
          <a:p>
            <a:pPr>
              <a:buClr>
                <a:srgbClr val="0B61FF"/>
              </a:buClr>
              <a:buSzPct val="80000"/>
            </a:pPr>
            <a:r>
              <a:rPr lang="en-US" altLang="zh-CN" sz="2000" b="1" dirty="0">
                <a:solidFill>
                  <a:srgbClr val="C00000"/>
                </a:solidFill>
                <a:latin typeface="Trebuchet MS" panose="020B0603020202020204" pitchFamily="34" charset="0"/>
                <a:ea typeface="Cambria Math" panose="02040503050406030204" pitchFamily="18" charset="0"/>
                <a:cs typeface="Times New Roman" panose="02020603050405020304" pitchFamily="18" charset="0"/>
              </a:rPr>
              <a:t>              ⤷</a:t>
            </a:r>
            <a:r>
              <a:rPr lang="zh-CN" altLang="en-US" sz="2000" b="1" dirty="0">
                <a:latin typeface="Trebuchet MS" panose="020B0603020202020204" pitchFamily="34" charset="0"/>
              </a:rPr>
              <a:t> </a:t>
            </a:r>
            <a:r>
              <a:rPr lang="en-US" altLang="zh-CN" sz="2400" b="1" dirty="0">
                <a:latin typeface="Trebuchet MS" panose="020B0603020202020204" pitchFamily="34" charset="0"/>
              </a:rPr>
              <a:t>Preorder, </a:t>
            </a:r>
            <a:r>
              <a:rPr lang="en-US" altLang="zh-CN" sz="2400" b="1" dirty="0" err="1">
                <a:latin typeface="Trebuchet MS" panose="020B0603020202020204" pitchFamily="34" charset="0"/>
              </a:rPr>
              <a:t>inorder</a:t>
            </a:r>
            <a:r>
              <a:rPr lang="en-US" altLang="zh-CN" sz="2400" b="1" dirty="0">
                <a:latin typeface="Trebuchet MS" panose="020B0603020202020204" pitchFamily="34" charset="0"/>
              </a:rPr>
              <a:t>, and </a:t>
            </a:r>
            <a:r>
              <a:rPr lang="en-US" altLang="zh-CN" sz="2400" b="1" dirty="0" err="1">
                <a:latin typeface="Trebuchet MS" panose="020B0603020202020204" pitchFamily="34" charset="0"/>
              </a:rPr>
              <a:t>postorder</a:t>
            </a:r>
            <a:r>
              <a:rPr lang="en-US" altLang="zh-CN" sz="2400" b="1" dirty="0">
                <a:latin typeface="Trebuchet MS" panose="020B0603020202020204" pitchFamily="34" charset="0"/>
              </a:rPr>
              <a:t> of an ordered rooted tree(</a:t>
            </a:r>
            <a:r>
              <a:rPr lang="en-US" altLang="zh-CN" sz="2400" b="1" dirty="0">
                <a:solidFill>
                  <a:srgbClr val="C00000"/>
                </a:solidFill>
                <a:latin typeface="Trebuchet MS" panose="020B0603020202020204" pitchFamily="34" charset="0"/>
              </a:rPr>
              <a:t>e.g.</a:t>
            </a:r>
            <a:r>
              <a:rPr lang="en-US" altLang="zh-CN" sz="2400" b="1" dirty="0">
                <a:latin typeface="Trebuchet MS" panose="020B0603020202020204" pitchFamily="34" charset="0"/>
              </a:rPr>
              <a:t>)</a:t>
            </a:r>
          </a:p>
        </p:txBody>
      </p:sp>
      <p:sp>
        <p:nvSpPr>
          <p:cNvPr id="13" name="矩形 12"/>
          <p:cNvSpPr/>
          <p:nvPr/>
        </p:nvSpPr>
        <p:spPr>
          <a:xfrm>
            <a:off x="824682" y="0"/>
            <a:ext cx="175443" cy="628650"/>
          </a:xfrm>
          <a:prstGeom prst="rect">
            <a:avLst/>
          </a:prstGeom>
          <a:solidFill>
            <a:srgbClr val="CFA57C"/>
          </a:solidFill>
          <a:ln cmpd="sng">
            <a:gradFill flip="none" rotWithShape="1">
              <a:gsLst>
                <a:gs pos="50000">
                  <a:schemeClr val="accent2">
                    <a:lumMod val="60000"/>
                    <a:lumOff val="40000"/>
                  </a:schemeClr>
                </a:gs>
                <a:gs pos="0">
                  <a:schemeClr val="accent2">
                    <a:lumMod val="20000"/>
                    <a:lumOff val="80000"/>
                  </a:schemeClr>
                </a:gs>
                <a:gs pos="95000">
                  <a:schemeClr val="accent2"/>
                </a:gs>
              </a:gsLst>
              <a:path path="circle">
                <a:fillToRect l="50000" t="-80000" r="50000" b="180000"/>
              </a:path>
              <a:tileRect/>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22" name="Picture 6" descr="D:\MBA工作\LOGO\同济经管LOGO反白.png"/>
          <p:cNvPicPr>
            <a:picLocks noChangeAspect="1" noChangeArrowheads="1"/>
          </p:cNvPicPr>
          <p:nvPr/>
        </p:nvPicPr>
        <p:blipFill>
          <a:blip r:embed="rId3" cstate="email">
            <a:extLst>
              <a:ext uri="{28A0092B-C50C-407E-A947-70E740481C1C}">
                <a14:useLocalDpi xmlns:a14="http://schemas.microsoft.com/office/drawing/2010/main" val="0"/>
              </a:ext>
            </a:extLst>
          </a:blip>
          <a:srcRect/>
          <a:stretch>
            <a:fillRect/>
          </a:stretch>
        </p:blipFill>
        <p:spPr bwMode="auto">
          <a:xfrm>
            <a:off x="10267423" y="165688"/>
            <a:ext cx="1386605" cy="462962"/>
          </a:xfrm>
          <a:prstGeom prst="rect">
            <a:avLst/>
          </a:prstGeom>
          <a:noFill/>
          <a:extLst>
            <a:ext uri="{909E8E84-426E-40DD-AFC4-6F175D3DCCD1}">
              <a14:hiddenFill xmlns:a14="http://schemas.microsoft.com/office/drawing/2010/main">
                <a:solidFill>
                  <a:srgbClr val="FFFFFF"/>
                </a:solidFill>
              </a14:hiddenFill>
            </a:ext>
          </a:extLst>
        </p:spPr>
      </p:pic>
      <p:pic>
        <p:nvPicPr>
          <p:cNvPr id="2" name="图片 1" descr="微信图片_20220318113523"/>
          <p:cNvPicPr>
            <a:picLocks noChangeAspect="1"/>
          </p:cNvPicPr>
          <p:nvPr userDrawn="1"/>
        </p:nvPicPr>
        <p:blipFill>
          <a:blip r:embed="rId4"/>
          <a:stretch>
            <a:fillRect/>
          </a:stretch>
        </p:blipFill>
        <p:spPr>
          <a:xfrm>
            <a:off x="9291877" y="6115050"/>
            <a:ext cx="2244725" cy="361315"/>
          </a:xfrm>
          <a:prstGeom prst="rect">
            <a:avLst/>
          </a:prstGeom>
        </p:spPr>
      </p:pic>
      <p:sp>
        <p:nvSpPr>
          <p:cNvPr id="18" name="Rectangle 2">
            <a:extLst>
              <a:ext uri="{FF2B5EF4-FFF2-40B4-BE49-F238E27FC236}">
                <a16:creationId xmlns:a16="http://schemas.microsoft.com/office/drawing/2014/main" id="{E217C615-1D49-4D07-B850-D36106D7AA9A}"/>
              </a:ext>
            </a:extLst>
          </p:cNvPr>
          <p:cNvSpPr>
            <a:spLocks noChangeArrowheads="1"/>
          </p:cNvSpPr>
          <p:nvPr/>
        </p:nvSpPr>
        <p:spPr bwMode="auto">
          <a:xfrm>
            <a:off x="1000125" y="815365"/>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11" name="文本框 10">
            <a:extLst>
              <a:ext uri="{FF2B5EF4-FFF2-40B4-BE49-F238E27FC236}">
                <a16:creationId xmlns:a16="http://schemas.microsoft.com/office/drawing/2014/main" id="{CD1033EA-696A-48BA-A582-A96A6DA31C21}"/>
              </a:ext>
            </a:extLst>
          </p:cNvPr>
          <p:cNvSpPr txBox="1"/>
          <p:nvPr/>
        </p:nvSpPr>
        <p:spPr>
          <a:xfrm>
            <a:off x="824682" y="1024268"/>
            <a:ext cx="6470640" cy="4114249"/>
          </a:xfrm>
          <a:prstGeom prst="rect">
            <a:avLst/>
          </a:prstGeom>
          <a:noFill/>
        </p:spPr>
        <p:txBody>
          <a:bodyPr wrap="square">
            <a:noAutofit/>
          </a:bodyPr>
          <a:lstStyle/>
          <a:p>
            <a:pPr marL="342900" indent="-342900">
              <a:lnSpc>
                <a:spcPct val="120000"/>
              </a:lnSpc>
              <a:spcBef>
                <a:spcPts val="600"/>
              </a:spcBef>
              <a:buClr>
                <a:srgbClr val="0B61FF"/>
              </a:buClr>
              <a:buSzPct val="80000"/>
              <a:buFont typeface="Wingdings" panose="05000000000000000000" pitchFamily="2" charset="2"/>
              <a:buChar char="n"/>
            </a:pPr>
            <a:r>
              <a:rPr lang="en-US" sz="2400" b="1" dirty="0">
                <a:latin typeface="Trebuchet MS" panose="020B0603020202020204" pitchFamily="34" charset="0"/>
              </a:rPr>
              <a:t>Example</a:t>
            </a:r>
            <a:r>
              <a:rPr lang="en-US" sz="2400" dirty="0">
                <a:latin typeface="Trebuchet MS" panose="020B0603020202020204" pitchFamily="34" charset="0"/>
              </a:rPr>
              <a:t>: The traversal results of the tree on the right are:</a:t>
            </a:r>
          </a:p>
          <a:p>
            <a:pPr indent="179388">
              <a:lnSpc>
                <a:spcPct val="120000"/>
              </a:lnSpc>
              <a:spcBef>
                <a:spcPts val="600"/>
              </a:spcBef>
              <a:buClr>
                <a:srgbClr val="0B61FF"/>
              </a:buClr>
              <a:buSzPct val="80000"/>
            </a:pPr>
            <a:r>
              <a:rPr lang="en-US" sz="2400" b="1" dirty="0">
                <a:solidFill>
                  <a:srgbClr val="0B61FF"/>
                </a:solidFill>
                <a:latin typeface="Trebuchet MS" panose="020B0603020202020204" pitchFamily="34" charset="0"/>
              </a:rPr>
              <a:t>(1) </a:t>
            </a:r>
            <a:r>
              <a:rPr lang="en-US" sz="2400" b="1" dirty="0" err="1">
                <a:latin typeface="Trebuchet MS" panose="020B0603020202020204" pitchFamily="34" charset="0"/>
              </a:rPr>
              <a:t>Inorder</a:t>
            </a:r>
            <a:r>
              <a:rPr lang="en-US" sz="2400" b="1" dirty="0">
                <a:latin typeface="Trebuchet MS" panose="020B0603020202020204" pitchFamily="34" charset="0"/>
              </a:rPr>
              <a:t> traversal</a:t>
            </a:r>
            <a:r>
              <a:rPr lang="en-US" sz="2400" dirty="0">
                <a:latin typeface="Trebuchet MS" panose="020B0603020202020204" pitchFamily="34" charset="0"/>
              </a:rPr>
              <a:t>:    </a:t>
            </a:r>
            <a:r>
              <a:rPr lang="en-US" sz="2400" b="1" i="1" dirty="0">
                <a:latin typeface="Trebuchet MS" panose="020B0603020202020204" pitchFamily="34" charset="0"/>
              </a:rPr>
              <a:t>b </a:t>
            </a:r>
            <a:r>
              <a:rPr lang="en-US" sz="2400" b="1" i="1" u="sng" dirty="0">
                <a:latin typeface="Trebuchet MS" panose="020B0603020202020204" pitchFamily="34" charset="0"/>
              </a:rPr>
              <a:t>a</a:t>
            </a:r>
            <a:r>
              <a:rPr lang="en-US" sz="2400" b="1" i="1" dirty="0">
                <a:latin typeface="Trebuchet MS" panose="020B0603020202020204" pitchFamily="34" charset="0"/>
              </a:rPr>
              <a:t> </a:t>
            </a:r>
            <a:r>
              <a:rPr lang="en-US" sz="2400" b="1" dirty="0">
                <a:latin typeface="Trebuchet MS" panose="020B0603020202020204" pitchFamily="34" charset="0"/>
              </a:rPr>
              <a:t>(</a:t>
            </a:r>
            <a:r>
              <a:rPr lang="en-US" sz="2400" b="1" i="1" dirty="0">
                <a:latin typeface="Trebuchet MS" panose="020B0603020202020204" pitchFamily="34" charset="0"/>
              </a:rPr>
              <a:t>f </a:t>
            </a:r>
            <a:r>
              <a:rPr lang="en-US" sz="2400" b="1" i="1" u="sng" dirty="0">
                <a:latin typeface="Trebuchet MS" panose="020B0603020202020204" pitchFamily="34" charset="0"/>
              </a:rPr>
              <a:t>d</a:t>
            </a:r>
            <a:r>
              <a:rPr lang="en-US" sz="2400" b="1" i="1" dirty="0">
                <a:latin typeface="Trebuchet MS" panose="020B0603020202020204" pitchFamily="34" charset="0"/>
              </a:rPr>
              <a:t> g</a:t>
            </a:r>
            <a:r>
              <a:rPr lang="en-US" sz="2400" b="1" dirty="0">
                <a:latin typeface="Trebuchet MS" panose="020B0603020202020204" pitchFamily="34" charset="0"/>
              </a:rPr>
              <a:t>)</a:t>
            </a:r>
            <a:r>
              <a:rPr lang="en-US" sz="2400" b="1" i="1" dirty="0">
                <a:latin typeface="Trebuchet MS" panose="020B0603020202020204" pitchFamily="34" charset="0"/>
              </a:rPr>
              <a:t> </a:t>
            </a:r>
            <a:r>
              <a:rPr lang="en-US" sz="2400" b="1" i="1" u="sng" dirty="0">
                <a:latin typeface="Trebuchet MS" panose="020B0603020202020204" pitchFamily="34" charset="0"/>
              </a:rPr>
              <a:t>c</a:t>
            </a:r>
            <a:r>
              <a:rPr lang="en-US" sz="2400" b="1" i="1" dirty="0">
                <a:latin typeface="Trebuchet MS" panose="020B0603020202020204" pitchFamily="34" charset="0"/>
              </a:rPr>
              <a:t> e</a:t>
            </a:r>
          </a:p>
          <a:p>
            <a:pPr indent="179388">
              <a:lnSpc>
                <a:spcPct val="120000"/>
              </a:lnSpc>
              <a:spcBef>
                <a:spcPts val="600"/>
              </a:spcBef>
              <a:buClr>
                <a:srgbClr val="0B61FF"/>
              </a:buClr>
              <a:buSzPct val="80000"/>
            </a:pPr>
            <a:r>
              <a:rPr lang="en-US" sz="2400" b="1" dirty="0">
                <a:solidFill>
                  <a:srgbClr val="0B61FF"/>
                </a:solidFill>
                <a:latin typeface="Trebuchet MS" panose="020B0603020202020204" pitchFamily="34" charset="0"/>
              </a:rPr>
              <a:t>(2) </a:t>
            </a:r>
            <a:r>
              <a:rPr lang="en-US" sz="2400" b="1" dirty="0">
                <a:latin typeface="Trebuchet MS" panose="020B0603020202020204" pitchFamily="34" charset="0"/>
              </a:rPr>
              <a:t>Preorder traversal</a:t>
            </a:r>
            <a:r>
              <a:rPr lang="en-US" sz="2400" dirty="0">
                <a:latin typeface="Trebuchet MS" panose="020B0603020202020204" pitchFamily="34" charset="0"/>
              </a:rPr>
              <a:t>:  </a:t>
            </a:r>
            <a:r>
              <a:rPr lang="en-US" sz="2400" b="1" i="1" u="sng" dirty="0">
                <a:latin typeface="Trebuchet MS" panose="020B0603020202020204" pitchFamily="34" charset="0"/>
              </a:rPr>
              <a:t>a</a:t>
            </a:r>
            <a:r>
              <a:rPr lang="en-US" sz="2400" b="1" i="1" dirty="0">
                <a:latin typeface="Trebuchet MS" panose="020B0603020202020204" pitchFamily="34" charset="0"/>
              </a:rPr>
              <a:t> b </a:t>
            </a:r>
            <a:r>
              <a:rPr lang="en-US" sz="2400" b="1" dirty="0">
                <a:latin typeface="Trebuchet MS" panose="020B0603020202020204" pitchFamily="34" charset="0"/>
              </a:rPr>
              <a:t>(</a:t>
            </a:r>
            <a:r>
              <a:rPr lang="en-US" sz="2400" b="1" i="1" u="sng" dirty="0">
                <a:latin typeface="Trebuchet MS" panose="020B0603020202020204" pitchFamily="34" charset="0"/>
              </a:rPr>
              <a:t>c</a:t>
            </a:r>
            <a:r>
              <a:rPr lang="en-US" sz="2400" b="1" i="1" dirty="0">
                <a:latin typeface="Trebuchet MS" panose="020B0603020202020204" pitchFamily="34" charset="0"/>
              </a:rPr>
              <a:t> </a:t>
            </a:r>
            <a:r>
              <a:rPr lang="en-US" sz="2400" b="1" dirty="0">
                <a:latin typeface="Trebuchet MS" panose="020B0603020202020204" pitchFamily="34" charset="0"/>
              </a:rPr>
              <a:t>(</a:t>
            </a:r>
            <a:r>
              <a:rPr lang="en-US" sz="2400" b="1" i="1" u="sng" dirty="0">
                <a:latin typeface="Trebuchet MS" panose="020B0603020202020204" pitchFamily="34" charset="0"/>
              </a:rPr>
              <a:t>d</a:t>
            </a:r>
            <a:r>
              <a:rPr lang="en-US" sz="2400" b="1" i="1" dirty="0">
                <a:latin typeface="Trebuchet MS" panose="020B0603020202020204" pitchFamily="34" charset="0"/>
              </a:rPr>
              <a:t> f g</a:t>
            </a:r>
            <a:r>
              <a:rPr lang="en-US" sz="2400" b="1" dirty="0">
                <a:latin typeface="Trebuchet MS" panose="020B0603020202020204" pitchFamily="34" charset="0"/>
              </a:rPr>
              <a:t>)</a:t>
            </a:r>
            <a:r>
              <a:rPr lang="en-US" sz="2400" b="1" i="1" dirty="0">
                <a:latin typeface="Trebuchet MS" panose="020B0603020202020204" pitchFamily="34" charset="0"/>
              </a:rPr>
              <a:t> e</a:t>
            </a:r>
            <a:r>
              <a:rPr lang="en-US" sz="2400" b="1" dirty="0">
                <a:latin typeface="Trebuchet MS" panose="020B0603020202020204" pitchFamily="34" charset="0"/>
              </a:rPr>
              <a:t>)</a:t>
            </a:r>
          </a:p>
          <a:p>
            <a:pPr indent="179388">
              <a:lnSpc>
                <a:spcPct val="120000"/>
              </a:lnSpc>
              <a:spcBef>
                <a:spcPts val="600"/>
              </a:spcBef>
              <a:buClr>
                <a:srgbClr val="0B61FF"/>
              </a:buClr>
              <a:buSzPct val="80000"/>
            </a:pPr>
            <a:r>
              <a:rPr lang="en-US" sz="2400" b="1" dirty="0">
                <a:solidFill>
                  <a:srgbClr val="0B61FF"/>
                </a:solidFill>
                <a:latin typeface="Trebuchet MS" panose="020B0603020202020204" pitchFamily="34" charset="0"/>
              </a:rPr>
              <a:t>(3) </a:t>
            </a:r>
            <a:r>
              <a:rPr lang="en-US" sz="2400" b="1" dirty="0" err="1">
                <a:latin typeface="Trebuchet MS" panose="020B0603020202020204" pitchFamily="34" charset="0"/>
              </a:rPr>
              <a:t>Postorder</a:t>
            </a:r>
            <a:r>
              <a:rPr lang="en-US" sz="2400" b="1" dirty="0">
                <a:latin typeface="Trebuchet MS" panose="020B0603020202020204" pitchFamily="34" charset="0"/>
              </a:rPr>
              <a:t> traversal</a:t>
            </a:r>
            <a:r>
              <a:rPr lang="en-US" sz="2400" dirty="0">
                <a:latin typeface="Trebuchet MS" panose="020B0603020202020204" pitchFamily="34" charset="0"/>
              </a:rPr>
              <a:t>: </a:t>
            </a:r>
            <a:r>
              <a:rPr lang="en-US" sz="2400" b="1" i="1" dirty="0">
                <a:latin typeface="Trebuchet MS" panose="020B0603020202020204" pitchFamily="34" charset="0"/>
              </a:rPr>
              <a:t>b </a:t>
            </a:r>
            <a:r>
              <a:rPr lang="en-US" sz="2400" b="1" dirty="0">
                <a:latin typeface="Trebuchet MS" panose="020B0603020202020204" pitchFamily="34" charset="0"/>
              </a:rPr>
              <a:t>((</a:t>
            </a:r>
            <a:r>
              <a:rPr lang="en-US" sz="2400" b="1" i="1" dirty="0">
                <a:latin typeface="Trebuchet MS" panose="020B0603020202020204" pitchFamily="34" charset="0"/>
              </a:rPr>
              <a:t>f g </a:t>
            </a:r>
            <a:r>
              <a:rPr lang="en-US" sz="2400" b="1" i="1" u="sng" dirty="0">
                <a:latin typeface="Trebuchet MS" panose="020B0603020202020204" pitchFamily="34" charset="0"/>
              </a:rPr>
              <a:t>d</a:t>
            </a:r>
            <a:r>
              <a:rPr lang="en-US" sz="2400" b="1" i="1" dirty="0">
                <a:latin typeface="Trebuchet MS" panose="020B0603020202020204" pitchFamily="34" charset="0"/>
              </a:rPr>
              <a:t>) e </a:t>
            </a:r>
            <a:r>
              <a:rPr lang="en-US" sz="2400" b="1" i="1" u="sng" dirty="0">
                <a:latin typeface="Trebuchet MS" panose="020B0603020202020204" pitchFamily="34" charset="0"/>
              </a:rPr>
              <a:t>c</a:t>
            </a:r>
            <a:r>
              <a:rPr lang="en-US" sz="2400" b="1" dirty="0">
                <a:latin typeface="Trebuchet MS" panose="020B0603020202020204" pitchFamily="34" charset="0"/>
              </a:rPr>
              <a:t>)</a:t>
            </a:r>
            <a:r>
              <a:rPr lang="en-US" sz="2400" b="1" i="1" dirty="0">
                <a:latin typeface="Trebuchet MS" panose="020B0603020202020204" pitchFamily="34" charset="0"/>
              </a:rPr>
              <a:t> </a:t>
            </a:r>
            <a:r>
              <a:rPr lang="en-US" sz="2400" b="1" i="1" u="sng" dirty="0">
                <a:latin typeface="Trebuchet MS" panose="020B0603020202020204" pitchFamily="34" charset="0"/>
              </a:rPr>
              <a:t>a</a:t>
            </a:r>
          </a:p>
          <a:p>
            <a:pPr marL="342900" indent="-342900">
              <a:lnSpc>
                <a:spcPct val="120000"/>
              </a:lnSpc>
              <a:spcBef>
                <a:spcPts val="600"/>
              </a:spcBef>
              <a:buClr>
                <a:srgbClr val="0B61FF"/>
              </a:buClr>
              <a:buSzPct val="80000"/>
              <a:buFont typeface="Wingdings" panose="05000000000000000000" pitchFamily="2" charset="2"/>
              <a:buChar char="n"/>
            </a:pPr>
            <a:r>
              <a:rPr lang="en-US" sz="2400" b="1" dirty="0">
                <a:latin typeface="Trebuchet MS" panose="020B0603020202020204" pitchFamily="34" charset="0"/>
              </a:rPr>
              <a:t>Note: </a:t>
            </a:r>
            <a:r>
              <a:rPr lang="en-US" sz="2400" dirty="0">
                <a:latin typeface="Trebuchet MS" panose="020B0603020202020204" pitchFamily="34" charset="0"/>
              </a:rPr>
              <a:t>Underlined nodes are (sub)tree roots, and each pair of parentheses encloses a subtree.</a:t>
            </a:r>
          </a:p>
        </p:txBody>
      </p:sp>
      <p:pic>
        <p:nvPicPr>
          <p:cNvPr id="12" name="Picture 4" descr="16-12">
            <a:extLst>
              <a:ext uri="{FF2B5EF4-FFF2-40B4-BE49-F238E27FC236}">
                <a16:creationId xmlns:a16="http://schemas.microsoft.com/office/drawing/2014/main" id="{C04363A7-63A8-4FD9-A5C7-700848A3987E}"/>
              </a:ext>
            </a:extLst>
          </p:cNvPr>
          <p:cNvPicPr>
            <a:picLocks noChangeAspect="1" noChangeArrowheads="1"/>
          </p:cNvPicPr>
          <p:nvPr/>
        </p:nvPicPr>
        <p:blipFill>
          <a:blip r:embed="rId5">
            <a:extLst>
              <a:ext uri="{28A0092B-C50C-407E-A947-70E740481C1C}">
                <a14:useLocalDpi xmlns:a14="http://schemas.microsoft.com/office/drawing/2010/main" val="0"/>
              </a:ext>
            </a:extLst>
          </a:blip>
          <a:srcRect b="33833"/>
          <a:stretch>
            <a:fillRect/>
          </a:stretch>
        </p:blipFill>
        <p:spPr bwMode="auto">
          <a:xfrm>
            <a:off x="7901195" y="1347935"/>
            <a:ext cx="1922463" cy="2438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089165826"/>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11">
                                            <p:txEl>
                                              <p:pRg st="1" end="1"/>
                                            </p:txEl>
                                          </p:spTgt>
                                        </p:tgtEl>
                                        <p:attrNameLst>
                                          <p:attrName>style.visibility</p:attrName>
                                        </p:attrNameLst>
                                      </p:cBhvr>
                                      <p:to>
                                        <p:strVal val="visible"/>
                                      </p:to>
                                    </p:set>
                                    <p:animEffect transition="in" filter="fade">
                                      <p:cBhvr>
                                        <p:cTn id="7" dur="1000"/>
                                        <p:tgtEl>
                                          <p:spTgt spid="11">
                                            <p:txEl>
                                              <p:pRg st="1" end="1"/>
                                            </p:txEl>
                                          </p:spTgt>
                                        </p:tgtEl>
                                      </p:cBhvr>
                                    </p:animEffect>
                                    <p:anim calcmode="lin" valueType="num">
                                      <p:cBhvr>
                                        <p:cTn id="8" dur="1000" fill="hold"/>
                                        <p:tgtEl>
                                          <p:spTgt spid="11">
                                            <p:txEl>
                                              <p:pRg st="1" end="1"/>
                                            </p:txEl>
                                          </p:spTgt>
                                        </p:tgtEl>
                                        <p:attrNameLst>
                                          <p:attrName>ppt_x</p:attrName>
                                        </p:attrNameLst>
                                      </p:cBhvr>
                                      <p:tavLst>
                                        <p:tav tm="0">
                                          <p:val>
                                            <p:strVal val="#ppt_x"/>
                                          </p:val>
                                        </p:tav>
                                        <p:tav tm="100000">
                                          <p:val>
                                            <p:strVal val="#ppt_x"/>
                                          </p:val>
                                        </p:tav>
                                      </p:tavLst>
                                    </p:anim>
                                    <p:anim calcmode="lin" valueType="num">
                                      <p:cBhvr>
                                        <p:cTn id="9" dur="1000" fill="hold"/>
                                        <p:tgtEl>
                                          <p:spTgt spid="11">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11">
                                            <p:txEl>
                                              <p:pRg st="2" end="2"/>
                                            </p:txEl>
                                          </p:spTgt>
                                        </p:tgtEl>
                                        <p:attrNameLst>
                                          <p:attrName>style.visibility</p:attrName>
                                        </p:attrNameLst>
                                      </p:cBhvr>
                                      <p:to>
                                        <p:strVal val="visible"/>
                                      </p:to>
                                    </p:set>
                                    <p:animEffect transition="in" filter="fade">
                                      <p:cBhvr>
                                        <p:cTn id="14" dur="1000"/>
                                        <p:tgtEl>
                                          <p:spTgt spid="11">
                                            <p:txEl>
                                              <p:pRg st="2" end="2"/>
                                            </p:txEl>
                                          </p:spTgt>
                                        </p:tgtEl>
                                      </p:cBhvr>
                                    </p:animEffect>
                                    <p:anim calcmode="lin" valueType="num">
                                      <p:cBhvr>
                                        <p:cTn id="15" dur="1000" fill="hold"/>
                                        <p:tgtEl>
                                          <p:spTgt spid="11">
                                            <p:txEl>
                                              <p:pRg st="2" end="2"/>
                                            </p:txEl>
                                          </p:spTgt>
                                        </p:tgtEl>
                                        <p:attrNameLst>
                                          <p:attrName>ppt_x</p:attrName>
                                        </p:attrNameLst>
                                      </p:cBhvr>
                                      <p:tavLst>
                                        <p:tav tm="0">
                                          <p:val>
                                            <p:strVal val="#ppt_x"/>
                                          </p:val>
                                        </p:tav>
                                        <p:tav tm="100000">
                                          <p:val>
                                            <p:strVal val="#ppt_x"/>
                                          </p:val>
                                        </p:tav>
                                      </p:tavLst>
                                    </p:anim>
                                    <p:anim calcmode="lin" valueType="num">
                                      <p:cBhvr>
                                        <p:cTn id="16" dur="1000" fill="hold"/>
                                        <p:tgtEl>
                                          <p:spTgt spid="11">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nodeType="clickEffect">
                                  <p:stCondLst>
                                    <p:cond delay="0"/>
                                  </p:stCondLst>
                                  <p:childTnLst>
                                    <p:set>
                                      <p:cBhvr>
                                        <p:cTn id="20" dur="1" fill="hold">
                                          <p:stCondLst>
                                            <p:cond delay="0"/>
                                          </p:stCondLst>
                                        </p:cTn>
                                        <p:tgtEl>
                                          <p:spTgt spid="11">
                                            <p:txEl>
                                              <p:pRg st="3" end="3"/>
                                            </p:txEl>
                                          </p:spTgt>
                                        </p:tgtEl>
                                        <p:attrNameLst>
                                          <p:attrName>style.visibility</p:attrName>
                                        </p:attrNameLst>
                                      </p:cBhvr>
                                      <p:to>
                                        <p:strVal val="visible"/>
                                      </p:to>
                                    </p:set>
                                    <p:animEffect transition="in" filter="fade">
                                      <p:cBhvr>
                                        <p:cTn id="21" dur="1000"/>
                                        <p:tgtEl>
                                          <p:spTgt spid="11">
                                            <p:txEl>
                                              <p:pRg st="3" end="3"/>
                                            </p:txEl>
                                          </p:spTgt>
                                        </p:tgtEl>
                                      </p:cBhvr>
                                    </p:animEffect>
                                    <p:anim calcmode="lin" valueType="num">
                                      <p:cBhvr>
                                        <p:cTn id="22" dur="1000" fill="hold"/>
                                        <p:tgtEl>
                                          <p:spTgt spid="11">
                                            <p:txEl>
                                              <p:pRg st="3" end="3"/>
                                            </p:txEl>
                                          </p:spTgt>
                                        </p:tgtEl>
                                        <p:attrNameLst>
                                          <p:attrName>ppt_x</p:attrName>
                                        </p:attrNameLst>
                                      </p:cBhvr>
                                      <p:tavLst>
                                        <p:tav tm="0">
                                          <p:val>
                                            <p:strVal val="#ppt_x"/>
                                          </p:val>
                                        </p:tav>
                                        <p:tav tm="100000">
                                          <p:val>
                                            <p:strVal val="#ppt_x"/>
                                          </p:val>
                                        </p:tav>
                                      </p:tavLst>
                                    </p:anim>
                                    <p:anim calcmode="lin" valueType="num">
                                      <p:cBhvr>
                                        <p:cTn id="23" dur="1000" fill="hold"/>
                                        <p:tgtEl>
                                          <p:spTgt spid="11">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nodeType="clickEffect">
                                  <p:stCondLst>
                                    <p:cond delay="0"/>
                                  </p:stCondLst>
                                  <p:childTnLst>
                                    <p:set>
                                      <p:cBhvr>
                                        <p:cTn id="27" dur="1" fill="hold">
                                          <p:stCondLst>
                                            <p:cond delay="0"/>
                                          </p:stCondLst>
                                        </p:cTn>
                                        <p:tgtEl>
                                          <p:spTgt spid="11">
                                            <p:txEl>
                                              <p:pRg st="4" end="4"/>
                                            </p:txEl>
                                          </p:spTgt>
                                        </p:tgtEl>
                                        <p:attrNameLst>
                                          <p:attrName>style.visibility</p:attrName>
                                        </p:attrNameLst>
                                      </p:cBhvr>
                                      <p:to>
                                        <p:strVal val="visible"/>
                                      </p:to>
                                    </p:set>
                                    <p:animEffect transition="in" filter="fade">
                                      <p:cBhvr>
                                        <p:cTn id="28" dur="1000"/>
                                        <p:tgtEl>
                                          <p:spTgt spid="11">
                                            <p:txEl>
                                              <p:pRg st="4" end="4"/>
                                            </p:txEl>
                                          </p:spTgt>
                                        </p:tgtEl>
                                      </p:cBhvr>
                                    </p:animEffect>
                                    <p:anim calcmode="lin" valueType="num">
                                      <p:cBhvr>
                                        <p:cTn id="29" dur="1000" fill="hold"/>
                                        <p:tgtEl>
                                          <p:spTgt spid="11">
                                            <p:txEl>
                                              <p:pRg st="4" end="4"/>
                                            </p:txEl>
                                          </p:spTgt>
                                        </p:tgtEl>
                                        <p:attrNameLst>
                                          <p:attrName>ppt_x</p:attrName>
                                        </p:attrNameLst>
                                      </p:cBhvr>
                                      <p:tavLst>
                                        <p:tav tm="0">
                                          <p:val>
                                            <p:strVal val="#ppt_x"/>
                                          </p:val>
                                        </p:tav>
                                        <p:tav tm="100000">
                                          <p:val>
                                            <p:strVal val="#ppt_x"/>
                                          </p:val>
                                        </p:tav>
                                      </p:tavLst>
                                    </p:anim>
                                    <p:anim calcmode="lin" valueType="num">
                                      <p:cBhvr>
                                        <p:cTn id="30" dur="1000" fill="hold"/>
                                        <p:tgtEl>
                                          <p:spTgt spid="11">
                                            <p:txEl>
                                              <p:pRg st="4" end="4"/>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0" y="0"/>
            <a:ext cx="12192000" cy="762000"/>
          </a:xfrm>
          <a:prstGeom prst="rect">
            <a:avLst/>
          </a:prstGeom>
          <a:solidFill>
            <a:srgbClr val="002F7C"/>
          </a:solidFill>
        </p:spPr>
        <p:style>
          <a:lnRef idx="2">
            <a:schemeClr val="dk1">
              <a:shade val="50000"/>
            </a:schemeClr>
          </a:lnRef>
          <a:fillRef idx="1">
            <a:schemeClr val="dk1"/>
          </a:fillRef>
          <a:effectRef idx="0">
            <a:schemeClr val="dk1"/>
          </a:effectRef>
          <a:fontRef idx="minor">
            <a:schemeClr val="lt1"/>
          </a:fontRef>
        </p:style>
        <p:txBody>
          <a:bodyPr rtlCol="0" anchor="ctr"/>
          <a:lstStyle/>
          <a:p>
            <a:pPr>
              <a:buClr>
                <a:srgbClr val="0B61FF"/>
              </a:buClr>
              <a:buSzPct val="80000"/>
            </a:pPr>
            <a:r>
              <a:rPr lang="zh-CN" altLang="en-US" sz="2000" b="1" dirty="0">
                <a:latin typeface="Times New Roman" panose="02020603050405020304" pitchFamily="18" charset="0"/>
                <a:ea typeface="宋体" panose="02010600030101010101" pitchFamily="2" charset="-122"/>
                <a:cs typeface="Times New Roman" panose="02020603050405020304" pitchFamily="18" charset="0"/>
              </a:rPr>
              <a:t>                </a:t>
            </a:r>
            <a:r>
              <a:rPr lang="en-US" altLang="zh-CN" sz="2000" b="1" dirty="0">
                <a:latin typeface="Trebuchet MS" panose="020B0603020202020204" pitchFamily="34" charset="0"/>
              </a:rPr>
              <a:t>7.2.4 Traversals of Rooted Trees and Their Applications</a:t>
            </a:r>
          </a:p>
          <a:p>
            <a:pPr>
              <a:buClr>
                <a:srgbClr val="0B61FF"/>
              </a:buClr>
              <a:buSzPct val="80000"/>
            </a:pPr>
            <a:r>
              <a:rPr lang="en-US" altLang="zh-CN" b="1" dirty="0">
                <a:solidFill>
                  <a:srgbClr val="C00000"/>
                </a:solidFill>
                <a:latin typeface="Trebuchet MS" panose="020B0603020202020204" pitchFamily="34" charset="0"/>
                <a:ea typeface="Cambria Math" panose="02040503050406030204" pitchFamily="18" charset="0"/>
                <a:cs typeface="Times New Roman" panose="02020603050405020304" pitchFamily="18" charset="0"/>
              </a:rPr>
              <a:t>                   ⤷</a:t>
            </a:r>
            <a:r>
              <a:rPr lang="zh-CN" altLang="en-US" b="1" dirty="0">
                <a:latin typeface="Trebuchet MS" panose="020B0603020202020204" pitchFamily="34" charset="0"/>
              </a:rPr>
              <a:t> </a:t>
            </a:r>
            <a:r>
              <a:rPr lang="en-US" altLang="zh-CN" sz="2400" b="1" dirty="0">
                <a:latin typeface="Trebuchet MS" panose="020B0603020202020204" pitchFamily="34" charset="0"/>
              </a:rPr>
              <a:t>Expression Tree Construction Rules</a:t>
            </a:r>
          </a:p>
        </p:txBody>
      </p:sp>
      <p:sp>
        <p:nvSpPr>
          <p:cNvPr id="13" name="矩形 12"/>
          <p:cNvSpPr/>
          <p:nvPr/>
        </p:nvSpPr>
        <p:spPr>
          <a:xfrm>
            <a:off x="824682" y="0"/>
            <a:ext cx="175443" cy="628650"/>
          </a:xfrm>
          <a:prstGeom prst="rect">
            <a:avLst/>
          </a:prstGeom>
          <a:solidFill>
            <a:srgbClr val="CFA57C"/>
          </a:solidFill>
          <a:ln cmpd="sng">
            <a:gradFill flip="none" rotWithShape="1">
              <a:gsLst>
                <a:gs pos="50000">
                  <a:schemeClr val="accent2">
                    <a:lumMod val="60000"/>
                    <a:lumOff val="40000"/>
                  </a:schemeClr>
                </a:gs>
                <a:gs pos="0">
                  <a:schemeClr val="accent2">
                    <a:lumMod val="20000"/>
                    <a:lumOff val="80000"/>
                  </a:schemeClr>
                </a:gs>
                <a:gs pos="95000">
                  <a:schemeClr val="accent2"/>
                </a:gs>
              </a:gsLst>
              <a:path path="circle">
                <a:fillToRect l="50000" t="-80000" r="50000" b="180000"/>
              </a:path>
              <a:tileRect/>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22" name="Picture 6" descr="D:\MBA工作\LOGO\同济经管LOGO反白.png"/>
          <p:cNvPicPr>
            <a:picLocks noChangeAspect="1" noChangeArrowheads="1"/>
          </p:cNvPicPr>
          <p:nvPr/>
        </p:nvPicPr>
        <p:blipFill>
          <a:blip r:embed="rId3" cstate="email">
            <a:extLst>
              <a:ext uri="{28A0092B-C50C-407E-A947-70E740481C1C}">
                <a14:useLocalDpi xmlns:a14="http://schemas.microsoft.com/office/drawing/2010/main" val="0"/>
              </a:ext>
            </a:extLst>
          </a:blip>
          <a:srcRect/>
          <a:stretch>
            <a:fillRect/>
          </a:stretch>
        </p:blipFill>
        <p:spPr bwMode="auto">
          <a:xfrm>
            <a:off x="10267423" y="165688"/>
            <a:ext cx="1386605" cy="462962"/>
          </a:xfrm>
          <a:prstGeom prst="rect">
            <a:avLst/>
          </a:prstGeom>
          <a:noFill/>
          <a:extLst>
            <a:ext uri="{909E8E84-426E-40DD-AFC4-6F175D3DCCD1}">
              <a14:hiddenFill xmlns:a14="http://schemas.microsoft.com/office/drawing/2010/main">
                <a:solidFill>
                  <a:srgbClr val="FFFFFF"/>
                </a:solidFill>
              </a14:hiddenFill>
            </a:ext>
          </a:extLst>
        </p:spPr>
      </p:pic>
      <p:pic>
        <p:nvPicPr>
          <p:cNvPr id="2" name="图片 1" descr="微信图片_20220318113523"/>
          <p:cNvPicPr>
            <a:picLocks noChangeAspect="1"/>
          </p:cNvPicPr>
          <p:nvPr userDrawn="1"/>
        </p:nvPicPr>
        <p:blipFill>
          <a:blip r:embed="rId4"/>
          <a:stretch>
            <a:fillRect/>
          </a:stretch>
        </p:blipFill>
        <p:spPr>
          <a:xfrm>
            <a:off x="9291877" y="6115050"/>
            <a:ext cx="2244725" cy="361315"/>
          </a:xfrm>
          <a:prstGeom prst="rect">
            <a:avLst/>
          </a:prstGeom>
        </p:spPr>
      </p:pic>
      <p:sp>
        <p:nvSpPr>
          <p:cNvPr id="18" name="Rectangle 2">
            <a:extLst>
              <a:ext uri="{FF2B5EF4-FFF2-40B4-BE49-F238E27FC236}">
                <a16:creationId xmlns:a16="http://schemas.microsoft.com/office/drawing/2014/main" id="{E217C615-1D49-4D07-B850-D36106D7AA9A}"/>
              </a:ext>
            </a:extLst>
          </p:cNvPr>
          <p:cNvSpPr>
            <a:spLocks noChangeArrowheads="1"/>
          </p:cNvSpPr>
          <p:nvPr/>
        </p:nvSpPr>
        <p:spPr bwMode="auto">
          <a:xfrm>
            <a:off x="1000125" y="815365"/>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8" name="Rectangle 3">
            <a:extLst>
              <a:ext uri="{FF2B5EF4-FFF2-40B4-BE49-F238E27FC236}">
                <a16:creationId xmlns:a16="http://schemas.microsoft.com/office/drawing/2014/main" id="{97F08C45-3D15-45C1-A5A3-D1EB58DC91FE}"/>
              </a:ext>
            </a:extLst>
          </p:cNvPr>
          <p:cNvSpPr txBox="1">
            <a:spLocks noChangeArrowheads="1"/>
          </p:cNvSpPr>
          <p:nvPr/>
        </p:nvSpPr>
        <p:spPr>
          <a:xfrm>
            <a:off x="1000125" y="914400"/>
            <a:ext cx="9877336" cy="5788025"/>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just" eaLnBrk="1" hangingPunct="1">
              <a:buFontTx/>
              <a:buNone/>
            </a:pPr>
            <a:endParaRPr lang="en-US" altLang="zh-CN" sz="2800" b="1" dirty="0"/>
          </a:p>
        </p:txBody>
      </p:sp>
      <p:sp>
        <p:nvSpPr>
          <p:cNvPr id="17" name="Rectangle 3">
            <a:extLst>
              <a:ext uri="{FF2B5EF4-FFF2-40B4-BE49-F238E27FC236}">
                <a16:creationId xmlns:a16="http://schemas.microsoft.com/office/drawing/2014/main" id="{DA41384C-2D2A-450E-AA37-2318F4643BF0}"/>
              </a:ext>
            </a:extLst>
          </p:cNvPr>
          <p:cNvSpPr txBox="1">
            <a:spLocks noChangeArrowheads="1"/>
          </p:cNvSpPr>
          <p:nvPr/>
        </p:nvSpPr>
        <p:spPr>
          <a:xfrm>
            <a:off x="824683" y="727684"/>
            <a:ext cx="8706944" cy="5200649"/>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447675" indent="-447675" eaLnBrk="1" hangingPunct="1">
              <a:lnSpc>
                <a:spcPct val="130000"/>
              </a:lnSpc>
              <a:spcBef>
                <a:spcPts val="0"/>
              </a:spcBef>
              <a:buFont typeface="Wingdings" panose="05000000000000000000" pitchFamily="2" charset="2"/>
              <a:buNone/>
            </a:pPr>
            <a:r>
              <a:rPr lang="en-US" sz="2400" b="1" dirty="0">
                <a:solidFill>
                  <a:srgbClr val="0B61FF"/>
                </a:solidFill>
                <a:latin typeface="Trebuchet MS" panose="020B0603020202020204" pitchFamily="34" charset="0"/>
              </a:rPr>
              <a:t>① </a:t>
            </a:r>
            <a:r>
              <a:rPr lang="en-US" sz="2400" dirty="0">
                <a:latin typeface="Trebuchet MS" panose="020B0603020202020204" pitchFamily="34" charset="0"/>
              </a:rPr>
              <a:t>Place an </a:t>
            </a:r>
            <a:r>
              <a:rPr lang="en-US" sz="2400" b="1" dirty="0">
                <a:latin typeface="Trebuchet MS" panose="020B0603020202020204" pitchFamily="34" charset="0"/>
              </a:rPr>
              <a:t>operator</a:t>
            </a:r>
            <a:r>
              <a:rPr lang="en-US" sz="2400" dirty="0">
                <a:latin typeface="Trebuchet MS" panose="020B0603020202020204" pitchFamily="34" charset="0"/>
              </a:rPr>
              <a:t> at each branching node.</a:t>
            </a:r>
          </a:p>
          <a:p>
            <a:pPr marL="447675" indent="-447675" eaLnBrk="1" hangingPunct="1">
              <a:lnSpc>
                <a:spcPct val="130000"/>
              </a:lnSpc>
              <a:spcBef>
                <a:spcPts val="0"/>
              </a:spcBef>
              <a:buFont typeface="Wingdings" panose="05000000000000000000" pitchFamily="2" charset="2"/>
              <a:buNone/>
            </a:pPr>
            <a:r>
              <a:rPr lang="en-US" sz="2400" b="1" dirty="0">
                <a:solidFill>
                  <a:srgbClr val="0B61FF"/>
                </a:solidFill>
                <a:latin typeface="Trebuchet MS" panose="020B0603020202020204" pitchFamily="34" charset="0"/>
              </a:rPr>
              <a:t>② </a:t>
            </a:r>
            <a:r>
              <a:rPr lang="en-US" sz="2400" dirty="0">
                <a:latin typeface="Trebuchet MS" panose="020B0603020202020204" pitchFamily="34" charset="0"/>
              </a:rPr>
              <a:t>A </a:t>
            </a:r>
            <a:r>
              <a:rPr lang="en-US" sz="2400" b="1" dirty="0">
                <a:latin typeface="Trebuchet MS" panose="020B0603020202020204" pitchFamily="34" charset="0"/>
              </a:rPr>
              <a:t>binary operator</a:t>
            </a:r>
            <a:r>
              <a:rPr lang="en-US" sz="2400" dirty="0">
                <a:latin typeface="Trebuchet MS" panose="020B0603020202020204" pitchFamily="34" charset="0"/>
              </a:rPr>
              <a:t> node has two children. The operation applies to the subexpressions represented by the left and right subtrees. By convention, the </a:t>
            </a:r>
            <a:r>
              <a:rPr lang="en-US" sz="2400" b="1" dirty="0">
                <a:latin typeface="Trebuchet MS" panose="020B0603020202020204" pitchFamily="34" charset="0"/>
              </a:rPr>
              <a:t>minuend</a:t>
            </a:r>
            <a:r>
              <a:rPr lang="en-US" sz="2400" dirty="0">
                <a:latin typeface="Trebuchet MS" panose="020B0603020202020204" pitchFamily="34" charset="0"/>
              </a:rPr>
              <a:t> or </a:t>
            </a:r>
            <a:r>
              <a:rPr lang="en-US" sz="2400" b="1" dirty="0">
                <a:latin typeface="Trebuchet MS" panose="020B0603020202020204" pitchFamily="34" charset="0"/>
              </a:rPr>
              <a:t>dividend</a:t>
            </a:r>
            <a:r>
              <a:rPr lang="en-US" sz="2400" dirty="0">
                <a:latin typeface="Trebuchet MS" panose="020B0603020202020204" pitchFamily="34" charset="0"/>
              </a:rPr>
              <a:t> is placed in the </a:t>
            </a:r>
            <a:r>
              <a:rPr lang="en-US" sz="2400" b="1" dirty="0">
                <a:latin typeface="Trebuchet MS" panose="020B0603020202020204" pitchFamily="34" charset="0"/>
              </a:rPr>
              <a:t>left subtree</a:t>
            </a:r>
            <a:r>
              <a:rPr lang="en-US" sz="2400" dirty="0">
                <a:latin typeface="Trebuchet MS" panose="020B0603020202020204" pitchFamily="34" charset="0"/>
              </a:rPr>
              <a:t>.</a:t>
            </a:r>
          </a:p>
          <a:p>
            <a:pPr marL="447675" indent="-447675" eaLnBrk="1" hangingPunct="1">
              <a:lnSpc>
                <a:spcPct val="130000"/>
              </a:lnSpc>
              <a:spcBef>
                <a:spcPts val="0"/>
              </a:spcBef>
              <a:buFont typeface="Wingdings" panose="05000000000000000000" pitchFamily="2" charset="2"/>
              <a:buNone/>
            </a:pPr>
            <a:r>
              <a:rPr lang="en-US" sz="2400" b="1" dirty="0">
                <a:solidFill>
                  <a:srgbClr val="0B61FF"/>
                </a:solidFill>
                <a:latin typeface="Trebuchet MS" panose="020B0603020202020204" pitchFamily="34" charset="0"/>
              </a:rPr>
              <a:t>③ </a:t>
            </a:r>
            <a:r>
              <a:rPr lang="en-US" sz="2400" dirty="0">
                <a:latin typeface="Trebuchet MS" panose="020B0603020202020204" pitchFamily="34" charset="0"/>
              </a:rPr>
              <a:t>A </a:t>
            </a:r>
            <a:r>
              <a:rPr lang="en-US" sz="2400" b="1" dirty="0">
                <a:latin typeface="Trebuchet MS" panose="020B0603020202020204" pitchFamily="34" charset="0"/>
              </a:rPr>
              <a:t>unary operator</a:t>
            </a:r>
            <a:r>
              <a:rPr lang="en-US" sz="2400" dirty="0">
                <a:latin typeface="Trebuchet MS" panose="020B0603020202020204" pitchFamily="34" charset="0"/>
              </a:rPr>
              <a:t> node has only one child. The operation applies to the subexpression represented by the subtree rooted at that child.</a:t>
            </a:r>
          </a:p>
          <a:p>
            <a:pPr marL="447675" indent="-447675" eaLnBrk="1" hangingPunct="1">
              <a:lnSpc>
                <a:spcPct val="130000"/>
              </a:lnSpc>
              <a:spcBef>
                <a:spcPts val="0"/>
              </a:spcBef>
              <a:buFont typeface="Wingdings" panose="05000000000000000000" pitchFamily="2" charset="2"/>
              <a:buNone/>
            </a:pPr>
            <a:r>
              <a:rPr lang="en-US" sz="2400" b="1" dirty="0">
                <a:solidFill>
                  <a:srgbClr val="0B61FF"/>
                </a:solidFill>
                <a:latin typeface="Trebuchet MS" panose="020B0603020202020204" pitchFamily="34" charset="0"/>
              </a:rPr>
              <a:t>④ </a:t>
            </a:r>
            <a:r>
              <a:rPr lang="en-US" sz="2400" b="1" dirty="0">
                <a:latin typeface="Trebuchet MS" panose="020B0603020202020204" pitchFamily="34" charset="0"/>
              </a:rPr>
              <a:t>Numbers</a:t>
            </a:r>
            <a:r>
              <a:rPr lang="en-US" sz="2400" dirty="0">
                <a:latin typeface="Trebuchet MS" panose="020B0603020202020204" pitchFamily="34" charset="0"/>
              </a:rPr>
              <a:t> and </a:t>
            </a:r>
            <a:r>
              <a:rPr lang="en-US" sz="2400" b="1" dirty="0">
                <a:latin typeface="Trebuchet MS" panose="020B0603020202020204" pitchFamily="34" charset="0"/>
              </a:rPr>
              <a:t>variables</a:t>
            </a:r>
            <a:r>
              <a:rPr lang="en-US" sz="2400" dirty="0">
                <a:latin typeface="Trebuchet MS" panose="020B0603020202020204" pitchFamily="34" charset="0"/>
              </a:rPr>
              <a:t> are placed at the </a:t>
            </a:r>
            <a:r>
              <a:rPr lang="en-US" sz="2400" b="1" dirty="0">
                <a:latin typeface="Trebuchet MS" panose="020B0603020202020204" pitchFamily="34" charset="0"/>
              </a:rPr>
              <a:t>leaves</a:t>
            </a:r>
            <a:r>
              <a:rPr lang="en-US" sz="2400" dirty="0">
                <a:latin typeface="Trebuchet MS" panose="020B0603020202020204" pitchFamily="34" charset="0"/>
              </a:rPr>
              <a:t> of the tree.</a:t>
            </a:r>
            <a:endParaRPr lang="en-US" altLang="zh-CN" sz="2400" b="1" dirty="0">
              <a:latin typeface="Trebuchet MS" panose="020B0603020202020204" pitchFamily="34" charset="0"/>
            </a:endParaRPr>
          </a:p>
        </p:txBody>
      </p:sp>
    </p:spTree>
    <p:extLst>
      <p:ext uri="{BB962C8B-B14F-4D97-AF65-F5344CB8AC3E}">
        <p14:creationId xmlns:p14="http://schemas.microsoft.com/office/powerpoint/2010/main" val="4252568493"/>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0" y="0"/>
            <a:ext cx="12192000" cy="762000"/>
          </a:xfrm>
          <a:prstGeom prst="rect">
            <a:avLst/>
          </a:prstGeom>
          <a:solidFill>
            <a:srgbClr val="002F7C"/>
          </a:solidFill>
        </p:spPr>
        <p:style>
          <a:lnRef idx="2">
            <a:schemeClr val="dk1">
              <a:shade val="50000"/>
            </a:schemeClr>
          </a:lnRef>
          <a:fillRef idx="1">
            <a:schemeClr val="dk1"/>
          </a:fillRef>
          <a:effectRef idx="0">
            <a:schemeClr val="dk1"/>
          </a:effectRef>
          <a:fontRef idx="minor">
            <a:schemeClr val="lt1"/>
          </a:fontRef>
        </p:style>
        <p:txBody>
          <a:bodyPr rtlCol="0" anchor="ctr"/>
          <a:lstStyle/>
          <a:p>
            <a:pPr>
              <a:buClr>
                <a:srgbClr val="0B61FF"/>
              </a:buClr>
              <a:buSzPct val="80000"/>
            </a:pPr>
            <a:r>
              <a:rPr lang="zh-CN" altLang="en-US" sz="2000" b="1" dirty="0">
                <a:latin typeface="Times New Roman" panose="02020603050405020304" pitchFamily="18" charset="0"/>
                <a:ea typeface="宋体" panose="02010600030101010101" pitchFamily="2" charset="-122"/>
                <a:cs typeface="Times New Roman" panose="02020603050405020304" pitchFamily="18" charset="0"/>
              </a:rPr>
              <a:t>                </a:t>
            </a:r>
            <a:r>
              <a:rPr lang="en-US" altLang="zh-CN" sz="2000" b="1" dirty="0">
                <a:latin typeface="Trebuchet MS" panose="020B0603020202020204" pitchFamily="34" charset="0"/>
              </a:rPr>
              <a:t>7.2.4 Traversals of Rooted Trees and Their Applications</a:t>
            </a:r>
          </a:p>
          <a:p>
            <a:pPr>
              <a:buClr>
                <a:srgbClr val="0B61FF"/>
              </a:buClr>
              <a:buSzPct val="80000"/>
            </a:pPr>
            <a:r>
              <a:rPr lang="en-US" altLang="zh-CN" b="1" dirty="0">
                <a:solidFill>
                  <a:srgbClr val="C00000"/>
                </a:solidFill>
                <a:latin typeface="Trebuchet MS" panose="020B0603020202020204" pitchFamily="34" charset="0"/>
                <a:ea typeface="Cambria Math" panose="02040503050406030204" pitchFamily="18" charset="0"/>
                <a:cs typeface="Times New Roman" panose="02020603050405020304" pitchFamily="18" charset="0"/>
              </a:rPr>
              <a:t>                   ⤷</a:t>
            </a:r>
            <a:r>
              <a:rPr lang="zh-CN" altLang="en-US" b="1" dirty="0">
                <a:latin typeface="Trebuchet MS" panose="020B0603020202020204" pitchFamily="34" charset="0"/>
              </a:rPr>
              <a:t> </a:t>
            </a:r>
            <a:r>
              <a:rPr lang="en-US" altLang="zh-CN" sz="2400" b="1" dirty="0">
                <a:latin typeface="Trebuchet MS" panose="020B0603020202020204" pitchFamily="34" charset="0"/>
              </a:rPr>
              <a:t>Expression Tree Construction Rules(</a:t>
            </a:r>
            <a:r>
              <a:rPr lang="en-US" altLang="zh-CN" sz="2400" b="1" dirty="0">
                <a:solidFill>
                  <a:srgbClr val="C00000"/>
                </a:solidFill>
                <a:latin typeface="Trebuchet MS" panose="020B0603020202020204" pitchFamily="34" charset="0"/>
              </a:rPr>
              <a:t>e.g.</a:t>
            </a:r>
            <a:r>
              <a:rPr lang="en-US" altLang="zh-CN" sz="2400" b="1" dirty="0">
                <a:latin typeface="Trebuchet MS" panose="020B0603020202020204" pitchFamily="34" charset="0"/>
              </a:rPr>
              <a:t>)</a:t>
            </a:r>
          </a:p>
        </p:txBody>
      </p:sp>
      <p:sp>
        <p:nvSpPr>
          <p:cNvPr id="13" name="矩形 12"/>
          <p:cNvSpPr/>
          <p:nvPr/>
        </p:nvSpPr>
        <p:spPr>
          <a:xfrm>
            <a:off x="824682" y="0"/>
            <a:ext cx="175443" cy="628650"/>
          </a:xfrm>
          <a:prstGeom prst="rect">
            <a:avLst/>
          </a:prstGeom>
          <a:solidFill>
            <a:srgbClr val="CFA57C"/>
          </a:solidFill>
          <a:ln cmpd="sng">
            <a:gradFill flip="none" rotWithShape="1">
              <a:gsLst>
                <a:gs pos="50000">
                  <a:schemeClr val="accent2">
                    <a:lumMod val="60000"/>
                    <a:lumOff val="40000"/>
                  </a:schemeClr>
                </a:gs>
                <a:gs pos="0">
                  <a:schemeClr val="accent2">
                    <a:lumMod val="20000"/>
                    <a:lumOff val="80000"/>
                  </a:schemeClr>
                </a:gs>
                <a:gs pos="95000">
                  <a:schemeClr val="accent2"/>
                </a:gs>
              </a:gsLst>
              <a:path path="circle">
                <a:fillToRect l="50000" t="-80000" r="50000" b="180000"/>
              </a:path>
              <a:tileRect/>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22" name="Picture 6" descr="D:\MBA工作\LOGO\同济经管LOGO反白.png"/>
          <p:cNvPicPr>
            <a:picLocks noChangeAspect="1" noChangeArrowheads="1"/>
          </p:cNvPicPr>
          <p:nvPr/>
        </p:nvPicPr>
        <p:blipFill>
          <a:blip r:embed="rId3" cstate="email">
            <a:extLst>
              <a:ext uri="{28A0092B-C50C-407E-A947-70E740481C1C}">
                <a14:useLocalDpi xmlns:a14="http://schemas.microsoft.com/office/drawing/2010/main" val="0"/>
              </a:ext>
            </a:extLst>
          </a:blip>
          <a:srcRect/>
          <a:stretch>
            <a:fillRect/>
          </a:stretch>
        </p:blipFill>
        <p:spPr bwMode="auto">
          <a:xfrm>
            <a:off x="10267423" y="165688"/>
            <a:ext cx="1386605" cy="462962"/>
          </a:xfrm>
          <a:prstGeom prst="rect">
            <a:avLst/>
          </a:prstGeom>
          <a:noFill/>
          <a:extLst>
            <a:ext uri="{909E8E84-426E-40DD-AFC4-6F175D3DCCD1}">
              <a14:hiddenFill xmlns:a14="http://schemas.microsoft.com/office/drawing/2010/main">
                <a:solidFill>
                  <a:srgbClr val="FFFFFF"/>
                </a:solidFill>
              </a14:hiddenFill>
            </a:ext>
          </a:extLst>
        </p:spPr>
      </p:pic>
      <p:pic>
        <p:nvPicPr>
          <p:cNvPr id="2" name="图片 1" descr="微信图片_20220318113523"/>
          <p:cNvPicPr>
            <a:picLocks noChangeAspect="1"/>
          </p:cNvPicPr>
          <p:nvPr userDrawn="1"/>
        </p:nvPicPr>
        <p:blipFill>
          <a:blip r:embed="rId4"/>
          <a:stretch>
            <a:fillRect/>
          </a:stretch>
        </p:blipFill>
        <p:spPr>
          <a:xfrm>
            <a:off x="9291877" y="6115050"/>
            <a:ext cx="2244725" cy="361315"/>
          </a:xfrm>
          <a:prstGeom prst="rect">
            <a:avLst/>
          </a:prstGeom>
        </p:spPr>
      </p:pic>
      <p:sp>
        <p:nvSpPr>
          <p:cNvPr id="18" name="Rectangle 2">
            <a:extLst>
              <a:ext uri="{FF2B5EF4-FFF2-40B4-BE49-F238E27FC236}">
                <a16:creationId xmlns:a16="http://schemas.microsoft.com/office/drawing/2014/main" id="{E217C615-1D49-4D07-B850-D36106D7AA9A}"/>
              </a:ext>
            </a:extLst>
          </p:cNvPr>
          <p:cNvSpPr>
            <a:spLocks noChangeArrowheads="1"/>
          </p:cNvSpPr>
          <p:nvPr/>
        </p:nvSpPr>
        <p:spPr bwMode="auto">
          <a:xfrm>
            <a:off x="1000125" y="815365"/>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8" name="Rectangle 3">
            <a:extLst>
              <a:ext uri="{FF2B5EF4-FFF2-40B4-BE49-F238E27FC236}">
                <a16:creationId xmlns:a16="http://schemas.microsoft.com/office/drawing/2014/main" id="{97F08C45-3D15-45C1-A5A3-D1EB58DC91FE}"/>
              </a:ext>
            </a:extLst>
          </p:cNvPr>
          <p:cNvSpPr txBox="1">
            <a:spLocks noChangeArrowheads="1"/>
          </p:cNvSpPr>
          <p:nvPr/>
        </p:nvSpPr>
        <p:spPr>
          <a:xfrm>
            <a:off x="1000125" y="914400"/>
            <a:ext cx="9877336" cy="5788025"/>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just" eaLnBrk="1" hangingPunct="1">
              <a:buFontTx/>
              <a:buNone/>
            </a:pPr>
            <a:endParaRPr lang="en-US" altLang="zh-CN" sz="2800" b="1" dirty="0"/>
          </a:p>
        </p:txBody>
      </p:sp>
      <p:sp>
        <p:nvSpPr>
          <p:cNvPr id="19" name="Text Box 4">
            <a:extLst>
              <a:ext uri="{FF2B5EF4-FFF2-40B4-BE49-F238E27FC236}">
                <a16:creationId xmlns:a16="http://schemas.microsoft.com/office/drawing/2014/main" id="{5EB0FC42-C56E-4B9F-B03F-0725BD09DAE7}"/>
              </a:ext>
            </a:extLst>
          </p:cNvPr>
          <p:cNvSpPr txBox="1">
            <a:spLocks noChangeArrowheads="1"/>
          </p:cNvSpPr>
          <p:nvPr/>
        </p:nvSpPr>
        <p:spPr bwMode="auto">
          <a:xfrm>
            <a:off x="1009871" y="1323874"/>
            <a:ext cx="6280693" cy="3645691"/>
          </a:xfrm>
          <a:prstGeom prst="rect">
            <a:avLst/>
          </a:prstGeom>
          <a:noFill/>
          <a:ln>
            <a:noFill/>
          </a:ln>
        </p:spPr>
        <p:txBody>
          <a:bodyPr wrap="square">
            <a:no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342900" indent="-342900">
              <a:lnSpc>
                <a:spcPct val="130000"/>
              </a:lnSpc>
              <a:buClr>
                <a:srgbClr val="0B61FF"/>
              </a:buClr>
              <a:buSzPct val="80000"/>
              <a:buFont typeface="Wingdings" panose="05000000000000000000" pitchFamily="2" charset="2"/>
              <a:buChar char="n"/>
            </a:pPr>
            <a:r>
              <a:rPr lang="en-US" sz="2400" b="1" dirty="0">
                <a:latin typeface="Trebuchet MS" panose="020B0603020202020204" pitchFamily="34" charset="0"/>
              </a:rPr>
              <a:t>Example:</a:t>
            </a:r>
          </a:p>
          <a:p>
            <a:pPr marL="447675" indent="-179388">
              <a:lnSpc>
                <a:spcPct val="130000"/>
              </a:lnSpc>
              <a:buClr>
                <a:srgbClr val="0B61FF"/>
              </a:buClr>
              <a:buSzPct val="120000"/>
              <a:buFont typeface="Arial" panose="020B0604020202020204" pitchFamily="34" charset="0"/>
              <a:buChar char="•"/>
            </a:pPr>
            <a:r>
              <a:rPr lang="en-US" sz="2400" dirty="0">
                <a:latin typeface="Trebuchet MS" panose="020B0603020202020204" pitchFamily="34" charset="0"/>
              </a:rPr>
              <a:t>The diagram on the right is a binary ordered tree representing the expression </a:t>
            </a:r>
            <a:r>
              <a:rPr lang="en-US" altLang="zh-CN" sz="2400" b="1" dirty="0">
                <a:latin typeface="Trebuchet MS" panose="020B0603020202020204" pitchFamily="34" charset="0"/>
                <a:cs typeface="Times New Roman" panose="02020603050405020304" pitchFamily="18" charset="0"/>
              </a:rPr>
              <a:t>((</a:t>
            </a:r>
            <a:r>
              <a:rPr lang="en-US" altLang="zh-CN" sz="2400" b="1" i="1" dirty="0">
                <a:latin typeface="Trebuchet MS" panose="020B0603020202020204" pitchFamily="34" charset="0"/>
                <a:cs typeface="Times New Roman" panose="02020603050405020304" pitchFamily="18" charset="0"/>
              </a:rPr>
              <a:t>b</a:t>
            </a:r>
            <a:r>
              <a:rPr lang="en-US" altLang="zh-CN" sz="2400" b="1" dirty="0">
                <a:latin typeface="Trebuchet MS" panose="020B0603020202020204" pitchFamily="34" charset="0"/>
                <a:cs typeface="Times New Roman" panose="02020603050405020304" pitchFamily="18" charset="0"/>
              </a:rPr>
              <a:t>+(</a:t>
            </a:r>
            <a:r>
              <a:rPr lang="en-US" altLang="zh-CN" sz="2400" b="1" i="1" dirty="0" err="1">
                <a:latin typeface="Trebuchet MS" panose="020B0603020202020204" pitchFamily="34" charset="0"/>
                <a:cs typeface="Times New Roman" panose="02020603050405020304" pitchFamily="18" charset="0"/>
              </a:rPr>
              <a:t>c</a:t>
            </a:r>
            <a:r>
              <a:rPr lang="en-US" altLang="zh-CN" sz="2400" b="1" dirty="0" err="1">
                <a:latin typeface="Trebuchet MS" panose="020B0603020202020204" pitchFamily="34" charset="0"/>
                <a:cs typeface="Times New Roman" panose="02020603050405020304" pitchFamily="18" charset="0"/>
              </a:rPr>
              <a:t>+</a:t>
            </a:r>
            <a:r>
              <a:rPr lang="en-US" altLang="zh-CN" sz="2400" b="1" i="1" dirty="0" err="1">
                <a:latin typeface="Trebuchet MS" panose="020B0603020202020204" pitchFamily="34" charset="0"/>
                <a:cs typeface="Times New Roman" panose="02020603050405020304" pitchFamily="18" charset="0"/>
              </a:rPr>
              <a:t>d</a:t>
            </a:r>
            <a:r>
              <a:rPr lang="en-US" altLang="zh-CN" sz="2400" b="1" dirty="0">
                <a:latin typeface="Trebuchet MS" panose="020B0603020202020204" pitchFamily="34" charset="0"/>
                <a:cs typeface="Times New Roman" panose="02020603050405020304" pitchFamily="18" charset="0"/>
              </a:rPr>
              <a:t>))</a:t>
            </a:r>
            <a:r>
              <a:rPr lang="en-US" altLang="zh-CN" sz="2400" b="1" dirty="0">
                <a:latin typeface="Trebuchet MS" panose="020B0603020202020204" pitchFamily="34" charset="0"/>
                <a:cs typeface="Times New Roman" panose="02020603050405020304" pitchFamily="18" charset="0"/>
                <a:sym typeface="Symbol" panose="05050102010706020507" pitchFamily="18" charset="2"/>
              </a:rPr>
              <a:t></a:t>
            </a:r>
            <a:r>
              <a:rPr lang="en-US" altLang="zh-CN" sz="2400" b="1" i="1" dirty="0">
                <a:latin typeface="Trebuchet MS" panose="020B0603020202020204" pitchFamily="34" charset="0"/>
                <a:cs typeface="Times New Roman" panose="02020603050405020304" pitchFamily="18" charset="0"/>
              </a:rPr>
              <a:t>a</a:t>
            </a:r>
            <a:r>
              <a:rPr lang="en-US" altLang="zh-CN" sz="2400" b="1" dirty="0">
                <a:latin typeface="Trebuchet MS" panose="020B0603020202020204" pitchFamily="34" charset="0"/>
                <a:cs typeface="Times New Roman" panose="02020603050405020304" pitchFamily="18" charset="0"/>
              </a:rPr>
              <a:t>)</a:t>
            </a:r>
            <a:r>
              <a:rPr lang="en-US" altLang="zh-CN" sz="2400" b="1" dirty="0">
                <a:latin typeface="Trebuchet MS" panose="020B0603020202020204" pitchFamily="34" charset="0"/>
                <a:cs typeface="Times New Roman" panose="02020603050405020304" pitchFamily="18" charset="0"/>
                <a:sym typeface="Symbol" panose="05050102010706020507" pitchFamily="18" charset="2"/>
              </a:rPr>
              <a:t></a:t>
            </a:r>
            <a:r>
              <a:rPr lang="en-US" altLang="zh-CN" sz="2400" b="1" dirty="0">
                <a:latin typeface="Trebuchet MS" panose="020B0603020202020204" pitchFamily="34" charset="0"/>
                <a:cs typeface="Times New Roman" panose="02020603050405020304" pitchFamily="18" charset="0"/>
              </a:rPr>
              <a:t>((</a:t>
            </a:r>
            <a:r>
              <a:rPr lang="en-US" altLang="zh-CN" sz="2400" b="1" i="1" dirty="0" err="1">
                <a:latin typeface="Trebuchet MS" panose="020B0603020202020204" pitchFamily="34" charset="0"/>
                <a:cs typeface="Times New Roman" panose="02020603050405020304" pitchFamily="18" charset="0"/>
              </a:rPr>
              <a:t>e</a:t>
            </a:r>
            <a:r>
              <a:rPr lang="en-US" altLang="zh-CN" sz="2400" b="1" dirty="0" err="1">
                <a:latin typeface="Trebuchet MS" panose="020B0603020202020204" pitchFamily="34" charset="0"/>
                <a:cs typeface="Times New Roman" panose="02020603050405020304" pitchFamily="18" charset="0"/>
                <a:sym typeface="Symbol" panose="05050102010706020507" pitchFamily="18" charset="2"/>
              </a:rPr>
              <a:t></a:t>
            </a:r>
            <a:r>
              <a:rPr lang="en-US" altLang="zh-CN" sz="2400" b="1" i="1" dirty="0" err="1">
                <a:latin typeface="Trebuchet MS" panose="020B0603020202020204" pitchFamily="34" charset="0"/>
                <a:cs typeface="Times New Roman" panose="02020603050405020304" pitchFamily="18" charset="0"/>
              </a:rPr>
              <a:t>f</a:t>
            </a:r>
            <a:r>
              <a:rPr lang="en-US" altLang="zh-CN" sz="2400" b="1" dirty="0">
                <a:latin typeface="Trebuchet MS" panose="020B0603020202020204" pitchFamily="34" charset="0"/>
                <a:cs typeface="Times New Roman" panose="02020603050405020304" pitchFamily="18" charset="0"/>
              </a:rPr>
              <a:t>)</a:t>
            </a:r>
            <a:r>
              <a:rPr lang="en-US" altLang="zh-CN" sz="2400" b="1" dirty="0">
                <a:latin typeface="Trebuchet MS" panose="020B0603020202020204" pitchFamily="34" charset="0"/>
                <a:cs typeface="Times New Roman" panose="02020603050405020304" pitchFamily="18" charset="0"/>
                <a:sym typeface="Symbol" panose="05050102010706020507" pitchFamily="18" charset="2"/>
              </a:rPr>
              <a:t></a:t>
            </a:r>
            <a:r>
              <a:rPr lang="en-US" altLang="zh-CN" sz="2400" b="1" dirty="0">
                <a:latin typeface="Trebuchet MS" panose="020B0603020202020204" pitchFamily="34" charset="0"/>
                <a:cs typeface="Times New Roman" panose="02020603050405020304" pitchFamily="18" charset="0"/>
              </a:rPr>
              <a:t>(</a:t>
            </a:r>
            <a:r>
              <a:rPr lang="en-US" altLang="zh-CN" sz="2400" b="1" i="1" dirty="0" err="1">
                <a:latin typeface="Trebuchet MS" panose="020B0603020202020204" pitchFamily="34" charset="0"/>
                <a:cs typeface="Times New Roman" panose="02020603050405020304" pitchFamily="18" charset="0"/>
              </a:rPr>
              <a:t>g</a:t>
            </a:r>
            <a:r>
              <a:rPr lang="en-US" altLang="zh-CN" sz="2400" b="1" dirty="0" err="1">
                <a:latin typeface="Trebuchet MS" panose="020B0603020202020204" pitchFamily="34" charset="0"/>
                <a:cs typeface="Times New Roman" panose="02020603050405020304" pitchFamily="18" charset="0"/>
              </a:rPr>
              <a:t>+</a:t>
            </a:r>
            <a:r>
              <a:rPr lang="en-US" altLang="zh-CN" sz="2400" b="1" i="1" dirty="0" err="1">
                <a:latin typeface="Trebuchet MS" panose="020B0603020202020204" pitchFamily="34" charset="0"/>
                <a:cs typeface="Times New Roman" panose="02020603050405020304" pitchFamily="18" charset="0"/>
              </a:rPr>
              <a:t>h</a:t>
            </a:r>
            <a:r>
              <a:rPr lang="en-US" altLang="zh-CN" sz="2400" b="1" dirty="0">
                <a:latin typeface="Trebuchet MS" panose="020B0603020202020204" pitchFamily="34" charset="0"/>
                <a:cs typeface="Times New Roman" panose="02020603050405020304" pitchFamily="18" charset="0"/>
              </a:rPr>
              <a:t>)</a:t>
            </a:r>
            <a:r>
              <a:rPr lang="en-US" altLang="zh-CN" sz="2400" b="1" dirty="0">
                <a:latin typeface="Trebuchet MS" panose="020B0603020202020204" pitchFamily="34" charset="0"/>
                <a:cs typeface="Times New Roman" panose="02020603050405020304" pitchFamily="18" charset="0"/>
                <a:sym typeface="Symbol" panose="05050102010706020507" pitchFamily="18" charset="2"/>
              </a:rPr>
              <a:t></a:t>
            </a:r>
            <a:r>
              <a:rPr lang="en-US" altLang="zh-CN" sz="2400" b="1" dirty="0">
                <a:latin typeface="Trebuchet MS" panose="020B0603020202020204" pitchFamily="34" charset="0"/>
                <a:cs typeface="Times New Roman" panose="02020603050405020304" pitchFamily="18" charset="0"/>
              </a:rPr>
              <a:t>(</a:t>
            </a:r>
            <a:r>
              <a:rPr lang="en-US" altLang="zh-CN" sz="2400" b="1" i="1" dirty="0" err="1">
                <a:latin typeface="Trebuchet MS" panose="020B0603020202020204" pitchFamily="34" charset="0"/>
                <a:cs typeface="Times New Roman" panose="02020603050405020304" pitchFamily="18" charset="0"/>
              </a:rPr>
              <a:t>i</a:t>
            </a:r>
            <a:r>
              <a:rPr lang="en-US" altLang="zh-CN" sz="2400" b="1" dirty="0" err="1">
                <a:latin typeface="Trebuchet MS" panose="020B0603020202020204" pitchFamily="34" charset="0"/>
                <a:cs typeface="Times New Roman" panose="02020603050405020304" pitchFamily="18" charset="0"/>
                <a:sym typeface="Symbol" panose="05050102010706020507" pitchFamily="18" charset="2"/>
              </a:rPr>
              <a:t></a:t>
            </a:r>
            <a:r>
              <a:rPr lang="en-US" altLang="zh-CN" sz="2400" b="1" i="1" dirty="0" err="1">
                <a:latin typeface="Trebuchet MS" panose="020B0603020202020204" pitchFamily="34" charset="0"/>
                <a:cs typeface="Times New Roman" panose="02020603050405020304" pitchFamily="18" charset="0"/>
              </a:rPr>
              <a:t>j</a:t>
            </a:r>
            <a:r>
              <a:rPr lang="en-US" altLang="zh-CN" sz="2400" b="1" dirty="0">
                <a:latin typeface="Trebuchet MS" panose="020B0603020202020204" pitchFamily="34" charset="0"/>
                <a:cs typeface="Times New Roman" panose="02020603050405020304" pitchFamily="18" charset="0"/>
              </a:rPr>
              <a:t>))</a:t>
            </a:r>
          </a:p>
          <a:p>
            <a:pPr marL="447675" indent="-179388">
              <a:lnSpc>
                <a:spcPct val="130000"/>
              </a:lnSpc>
              <a:buClr>
                <a:srgbClr val="0B61FF"/>
              </a:buClr>
              <a:buSzPct val="120000"/>
              <a:buFont typeface="Arial" panose="020B0604020202020204" pitchFamily="34" charset="0"/>
              <a:buChar char="•"/>
            </a:pPr>
            <a:r>
              <a:rPr lang="en-US" sz="2400" dirty="0">
                <a:latin typeface="Trebuchet MS" panose="020B0603020202020204" pitchFamily="34" charset="0"/>
              </a:rPr>
              <a:t>The </a:t>
            </a:r>
            <a:r>
              <a:rPr lang="en-US" sz="2400" b="1" dirty="0" err="1">
                <a:latin typeface="Trebuchet MS" panose="020B0603020202020204" pitchFamily="34" charset="0"/>
              </a:rPr>
              <a:t>inorder</a:t>
            </a:r>
            <a:r>
              <a:rPr lang="en-US" sz="2400" b="1" dirty="0">
                <a:latin typeface="Trebuchet MS" panose="020B0603020202020204" pitchFamily="34" charset="0"/>
              </a:rPr>
              <a:t> traversal</a:t>
            </a:r>
            <a:r>
              <a:rPr lang="en-US" sz="2400" dirty="0">
                <a:latin typeface="Trebuchet MS" panose="020B0603020202020204" pitchFamily="34" charset="0"/>
              </a:rPr>
              <a:t> of this binary ordered tree yields the </a:t>
            </a:r>
            <a:r>
              <a:rPr lang="en-US" sz="2400" b="1" dirty="0">
                <a:latin typeface="Trebuchet MS" panose="020B0603020202020204" pitchFamily="34" charset="0"/>
              </a:rPr>
              <a:t>original expression</a:t>
            </a:r>
            <a:r>
              <a:rPr lang="en-US" sz="1400" dirty="0"/>
              <a:t>.</a:t>
            </a:r>
          </a:p>
        </p:txBody>
      </p:sp>
      <p:pic>
        <p:nvPicPr>
          <p:cNvPr id="21" name="Picture 5" descr="16-13">
            <a:extLst>
              <a:ext uri="{FF2B5EF4-FFF2-40B4-BE49-F238E27FC236}">
                <a16:creationId xmlns:a16="http://schemas.microsoft.com/office/drawing/2014/main" id="{FA120379-26E4-4346-9F60-0CC9803D253B}"/>
              </a:ext>
            </a:extLst>
          </p:cNvPr>
          <p:cNvPicPr>
            <a:picLocks noChangeAspect="1" noChangeArrowheads="1"/>
          </p:cNvPicPr>
          <p:nvPr/>
        </p:nvPicPr>
        <p:blipFill>
          <a:blip r:embed="rId5">
            <a:clrChange>
              <a:clrFrom>
                <a:srgbClr val="FFFFFF"/>
              </a:clrFrom>
              <a:clrTo>
                <a:srgbClr val="FFFFFF">
                  <a:alpha val="0"/>
                </a:srgbClr>
              </a:clrTo>
            </a:clrChange>
            <a:extLst>
              <a:ext uri="{28A0092B-C50C-407E-A947-70E740481C1C}">
                <a14:useLocalDpi xmlns:a14="http://schemas.microsoft.com/office/drawing/2010/main" val="0"/>
              </a:ext>
            </a:extLst>
          </a:blip>
          <a:srcRect l="28239" r="14951" b="47244"/>
          <a:stretch>
            <a:fillRect/>
          </a:stretch>
        </p:blipFill>
        <p:spPr bwMode="auto">
          <a:xfrm>
            <a:off x="7290564" y="1503639"/>
            <a:ext cx="3586897" cy="3041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090367179"/>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19">
                                            <p:txEl>
                                              <p:pRg st="1" end="1"/>
                                            </p:txEl>
                                          </p:spTgt>
                                        </p:tgtEl>
                                        <p:attrNameLst>
                                          <p:attrName>style.visibility</p:attrName>
                                        </p:attrNameLst>
                                      </p:cBhvr>
                                      <p:to>
                                        <p:strVal val="visible"/>
                                      </p:to>
                                    </p:set>
                                    <p:animEffect transition="in" filter="fade">
                                      <p:cBhvr>
                                        <p:cTn id="7" dur="1000"/>
                                        <p:tgtEl>
                                          <p:spTgt spid="19">
                                            <p:txEl>
                                              <p:pRg st="1" end="1"/>
                                            </p:txEl>
                                          </p:spTgt>
                                        </p:tgtEl>
                                      </p:cBhvr>
                                    </p:animEffect>
                                    <p:anim calcmode="lin" valueType="num">
                                      <p:cBhvr>
                                        <p:cTn id="8" dur="1000" fill="hold"/>
                                        <p:tgtEl>
                                          <p:spTgt spid="19">
                                            <p:txEl>
                                              <p:pRg st="1" end="1"/>
                                            </p:txEl>
                                          </p:spTgt>
                                        </p:tgtEl>
                                        <p:attrNameLst>
                                          <p:attrName>ppt_x</p:attrName>
                                        </p:attrNameLst>
                                      </p:cBhvr>
                                      <p:tavLst>
                                        <p:tav tm="0">
                                          <p:val>
                                            <p:strVal val="#ppt_x"/>
                                          </p:val>
                                        </p:tav>
                                        <p:tav tm="100000">
                                          <p:val>
                                            <p:strVal val="#ppt_x"/>
                                          </p:val>
                                        </p:tav>
                                      </p:tavLst>
                                    </p:anim>
                                    <p:anim calcmode="lin" valueType="num">
                                      <p:cBhvr>
                                        <p:cTn id="9" dur="1000" fill="hold"/>
                                        <p:tgtEl>
                                          <p:spTgt spid="19">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19">
                                            <p:txEl>
                                              <p:pRg st="2" end="2"/>
                                            </p:txEl>
                                          </p:spTgt>
                                        </p:tgtEl>
                                        <p:attrNameLst>
                                          <p:attrName>style.visibility</p:attrName>
                                        </p:attrNameLst>
                                      </p:cBhvr>
                                      <p:to>
                                        <p:strVal val="visible"/>
                                      </p:to>
                                    </p:set>
                                    <p:animEffect transition="in" filter="fade">
                                      <p:cBhvr>
                                        <p:cTn id="14" dur="1000"/>
                                        <p:tgtEl>
                                          <p:spTgt spid="19">
                                            <p:txEl>
                                              <p:pRg st="2" end="2"/>
                                            </p:txEl>
                                          </p:spTgt>
                                        </p:tgtEl>
                                      </p:cBhvr>
                                    </p:animEffect>
                                    <p:anim calcmode="lin" valueType="num">
                                      <p:cBhvr>
                                        <p:cTn id="15" dur="1000" fill="hold"/>
                                        <p:tgtEl>
                                          <p:spTgt spid="19">
                                            <p:txEl>
                                              <p:pRg st="2" end="2"/>
                                            </p:txEl>
                                          </p:spTgt>
                                        </p:tgtEl>
                                        <p:attrNameLst>
                                          <p:attrName>ppt_x</p:attrName>
                                        </p:attrNameLst>
                                      </p:cBhvr>
                                      <p:tavLst>
                                        <p:tav tm="0">
                                          <p:val>
                                            <p:strVal val="#ppt_x"/>
                                          </p:val>
                                        </p:tav>
                                        <p:tav tm="100000">
                                          <p:val>
                                            <p:strVal val="#ppt_x"/>
                                          </p:val>
                                        </p:tav>
                                      </p:tavLst>
                                    </p:anim>
                                    <p:anim calcmode="lin" valueType="num">
                                      <p:cBhvr>
                                        <p:cTn id="16" dur="1000" fill="hold"/>
                                        <p:tgtEl>
                                          <p:spTgt spid="19">
                                            <p:txEl>
                                              <p:pRg st="2" end="2"/>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0" y="0"/>
            <a:ext cx="12192000" cy="762000"/>
          </a:xfrm>
          <a:prstGeom prst="rect">
            <a:avLst/>
          </a:prstGeom>
          <a:solidFill>
            <a:srgbClr val="002F7C"/>
          </a:solidFill>
        </p:spPr>
        <p:style>
          <a:lnRef idx="2">
            <a:schemeClr val="dk1">
              <a:shade val="50000"/>
            </a:schemeClr>
          </a:lnRef>
          <a:fillRef idx="1">
            <a:schemeClr val="dk1"/>
          </a:fillRef>
          <a:effectRef idx="0">
            <a:schemeClr val="dk1"/>
          </a:effectRef>
          <a:fontRef idx="minor">
            <a:schemeClr val="lt1"/>
          </a:fontRef>
        </p:style>
        <p:txBody>
          <a:bodyPr rtlCol="0" anchor="ctr"/>
          <a:lstStyle/>
          <a:p>
            <a:pPr>
              <a:buClr>
                <a:srgbClr val="0B61FF"/>
              </a:buClr>
              <a:buSzPct val="80000"/>
            </a:pPr>
            <a:r>
              <a:rPr lang="zh-CN" altLang="en-US" sz="2000" b="1" dirty="0">
                <a:latin typeface="Times New Roman" panose="02020603050405020304" pitchFamily="18" charset="0"/>
                <a:ea typeface="宋体" panose="02010600030101010101" pitchFamily="2" charset="-122"/>
                <a:cs typeface="Times New Roman" panose="02020603050405020304" pitchFamily="18" charset="0"/>
              </a:rPr>
              <a:t>                </a:t>
            </a:r>
            <a:r>
              <a:rPr lang="en-US" altLang="zh-CN" sz="2000" b="1" dirty="0">
                <a:latin typeface="Trebuchet MS" panose="020B0603020202020204" pitchFamily="34" charset="0"/>
              </a:rPr>
              <a:t>7.2.4 Traversals of Rooted Trees and Their Applications</a:t>
            </a:r>
          </a:p>
          <a:p>
            <a:pPr>
              <a:buClr>
                <a:srgbClr val="0B61FF"/>
              </a:buClr>
              <a:buSzPct val="80000"/>
            </a:pPr>
            <a:r>
              <a:rPr lang="en-US" altLang="zh-CN" sz="2400" dirty="0">
                <a:solidFill>
                  <a:srgbClr val="C00000"/>
                </a:solidFill>
                <a:latin typeface="Trebuchet MS" panose="020B0603020202020204" pitchFamily="34" charset="0"/>
                <a:ea typeface="Cambria Math" panose="02040503050406030204" pitchFamily="18" charset="0"/>
                <a:cs typeface="Times New Roman" panose="02020603050405020304" pitchFamily="18" charset="0"/>
              </a:rPr>
              <a:t>              ⤷</a:t>
            </a:r>
            <a:r>
              <a:rPr lang="zh-CN" altLang="en-US" sz="2400" dirty="0">
                <a:latin typeface="Trebuchet MS" panose="020B0603020202020204" pitchFamily="34" charset="0"/>
              </a:rPr>
              <a:t> </a:t>
            </a:r>
            <a:r>
              <a:rPr lang="en-US" altLang="zh-CN" sz="2400" dirty="0">
                <a:latin typeface="Trebuchet MS" panose="020B0603020202020204" pitchFamily="34" charset="0"/>
              </a:rPr>
              <a:t>Polish and reverse Polish notations of a rooted tree</a:t>
            </a:r>
          </a:p>
        </p:txBody>
      </p:sp>
      <p:sp>
        <p:nvSpPr>
          <p:cNvPr id="13" name="矩形 12"/>
          <p:cNvSpPr/>
          <p:nvPr/>
        </p:nvSpPr>
        <p:spPr>
          <a:xfrm>
            <a:off x="824682" y="0"/>
            <a:ext cx="175443" cy="628650"/>
          </a:xfrm>
          <a:prstGeom prst="rect">
            <a:avLst/>
          </a:prstGeom>
          <a:solidFill>
            <a:srgbClr val="CFA57C"/>
          </a:solidFill>
          <a:ln cmpd="sng">
            <a:gradFill flip="none" rotWithShape="1">
              <a:gsLst>
                <a:gs pos="50000">
                  <a:schemeClr val="accent2">
                    <a:lumMod val="60000"/>
                    <a:lumOff val="40000"/>
                  </a:schemeClr>
                </a:gs>
                <a:gs pos="0">
                  <a:schemeClr val="accent2">
                    <a:lumMod val="20000"/>
                    <a:lumOff val="80000"/>
                  </a:schemeClr>
                </a:gs>
                <a:gs pos="95000">
                  <a:schemeClr val="accent2"/>
                </a:gs>
              </a:gsLst>
              <a:path path="circle">
                <a:fillToRect l="50000" t="-80000" r="50000" b="180000"/>
              </a:path>
              <a:tileRect/>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22" name="Picture 6" descr="D:\MBA工作\LOGO\同济经管LOGO反白.png"/>
          <p:cNvPicPr>
            <a:picLocks noChangeAspect="1" noChangeArrowheads="1"/>
          </p:cNvPicPr>
          <p:nvPr/>
        </p:nvPicPr>
        <p:blipFill>
          <a:blip r:embed="rId3" cstate="email">
            <a:extLst>
              <a:ext uri="{28A0092B-C50C-407E-A947-70E740481C1C}">
                <a14:useLocalDpi xmlns:a14="http://schemas.microsoft.com/office/drawing/2010/main" val="0"/>
              </a:ext>
            </a:extLst>
          </a:blip>
          <a:srcRect/>
          <a:stretch>
            <a:fillRect/>
          </a:stretch>
        </p:blipFill>
        <p:spPr bwMode="auto">
          <a:xfrm>
            <a:off x="10267423" y="165688"/>
            <a:ext cx="1386605" cy="462962"/>
          </a:xfrm>
          <a:prstGeom prst="rect">
            <a:avLst/>
          </a:prstGeom>
          <a:noFill/>
          <a:extLst>
            <a:ext uri="{909E8E84-426E-40DD-AFC4-6F175D3DCCD1}">
              <a14:hiddenFill xmlns:a14="http://schemas.microsoft.com/office/drawing/2010/main">
                <a:solidFill>
                  <a:srgbClr val="FFFFFF"/>
                </a:solidFill>
              </a14:hiddenFill>
            </a:ext>
          </a:extLst>
        </p:spPr>
      </p:pic>
      <p:pic>
        <p:nvPicPr>
          <p:cNvPr id="2" name="图片 1" descr="微信图片_20220318113523"/>
          <p:cNvPicPr>
            <a:picLocks noChangeAspect="1"/>
          </p:cNvPicPr>
          <p:nvPr userDrawn="1"/>
        </p:nvPicPr>
        <p:blipFill>
          <a:blip r:embed="rId4"/>
          <a:stretch>
            <a:fillRect/>
          </a:stretch>
        </p:blipFill>
        <p:spPr>
          <a:xfrm>
            <a:off x="9291877" y="6115050"/>
            <a:ext cx="2244725" cy="361315"/>
          </a:xfrm>
          <a:prstGeom prst="rect">
            <a:avLst/>
          </a:prstGeom>
        </p:spPr>
      </p:pic>
      <p:sp>
        <p:nvSpPr>
          <p:cNvPr id="18" name="Rectangle 2">
            <a:extLst>
              <a:ext uri="{FF2B5EF4-FFF2-40B4-BE49-F238E27FC236}">
                <a16:creationId xmlns:a16="http://schemas.microsoft.com/office/drawing/2014/main" id="{E217C615-1D49-4D07-B850-D36106D7AA9A}"/>
              </a:ext>
            </a:extLst>
          </p:cNvPr>
          <p:cNvSpPr>
            <a:spLocks noChangeArrowheads="1"/>
          </p:cNvSpPr>
          <p:nvPr/>
        </p:nvSpPr>
        <p:spPr bwMode="auto">
          <a:xfrm>
            <a:off x="1000125" y="815365"/>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8" name="Rectangle 3">
            <a:extLst>
              <a:ext uri="{FF2B5EF4-FFF2-40B4-BE49-F238E27FC236}">
                <a16:creationId xmlns:a16="http://schemas.microsoft.com/office/drawing/2014/main" id="{97F08C45-3D15-45C1-A5A3-D1EB58DC91FE}"/>
              </a:ext>
            </a:extLst>
          </p:cNvPr>
          <p:cNvSpPr txBox="1">
            <a:spLocks noChangeArrowheads="1"/>
          </p:cNvSpPr>
          <p:nvPr/>
        </p:nvSpPr>
        <p:spPr>
          <a:xfrm>
            <a:off x="1000125" y="914400"/>
            <a:ext cx="9877336" cy="5788025"/>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just" eaLnBrk="1" hangingPunct="1">
              <a:buFontTx/>
              <a:buNone/>
            </a:pPr>
            <a:endParaRPr lang="en-US" altLang="zh-CN" sz="2800" b="1" dirty="0"/>
          </a:p>
        </p:txBody>
      </p:sp>
      <p:sp>
        <p:nvSpPr>
          <p:cNvPr id="11" name="Rectangle 3">
            <a:extLst>
              <a:ext uri="{FF2B5EF4-FFF2-40B4-BE49-F238E27FC236}">
                <a16:creationId xmlns:a16="http://schemas.microsoft.com/office/drawing/2014/main" id="{F72E995F-B430-4DEB-AFC9-6BA4CB0EEDFA}"/>
              </a:ext>
            </a:extLst>
          </p:cNvPr>
          <p:cNvSpPr txBox="1">
            <a:spLocks noChangeArrowheads="1"/>
          </p:cNvSpPr>
          <p:nvPr/>
        </p:nvSpPr>
        <p:spPr>
          <a:xfrm>
            <a:off x="824682" y="754801"/>
            <a:ext cx="8915666" cy="2706706"/>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20000"/>
              </a:lnSpc>
              <a:spcBef>
                <a:spcPts val="300"/>
              </a:spcBef>
              <a:buClr>
                <a:srgbClr val="0B61FF"/>
              </a:buClr>
              <a:buSzPct val="80000"/>
              <a:buFont typeface="Wingdings" panose="05000000000000000000" pitchFamily="2" charset="2"/>
              <a:buChar char="n"/>
            </a:pPr>
            <a:r>
              <a:rPr lang="en-US" sz="2400" b="1" i="1" dirty="0">
                <a:solidFill>
                  <a:srgbClr val="0B61FF"/>
                </a:solidFill>
                <a:latin typeface="Trebuchet MS" panose="020B0603020202020204" pitchFamily="34" charset="0"/>
              </a:rPr>
              <a:t>Polish Notation </a:t>
            </a:r>
            <a:r>
              <a:rPr lang="en-US" sz="2400" b="1" dirty="0">
                <a:latin typeface="Trebuchet MS" panose="020B0603020202020204" pitchFamily="34" charset="0"/>
              </a:rPr>
              <a:t>(Prefix Notation):</a:t>
            </a:r>
            <a:br>
              <a:rPr lang="en-US" sz="2400" dirty="0">
                <a:latin typeface="Trebuchet MS" panose="020B0603020202020204" pitchFamily="34" charset="0"/>
              </a:rPr>
            </a:br>
            <a:r>
              <a:rPr lang="en-US" sz="2400" dirty="0">
                <a:latin typeface="Trebuchet MS" panose="020B0603020202020204" pitchFamily="34" charset="0"/>
              </a:rPr>
              <a:t>Traverse the binary ordered tree representing the expression using </a:t>
            </a:r>
            <a:r>
              <a:rPr lang="en-US" sz="2400" b="1" dirty="0">
                <a:latin typeface="Trebuchet MS" panose="020B0603020202020204" pitchFamily="34" charset="0"/>
              </a:rPr>
              <a:t>preorder traversal</a:t>
            </a:r>
            <a:r>
              <a:rPr lang="en-US" sz="2400" dirty="0">
                <a:latin typeface="Trebuchet MS" panose="020B0603020202020204" pitchFamily="34" charset="0"/>
              </a:rPr>
              <a:t>, and omit all parentheses.</a:t>
            </a:r>
          </a:p>
          <a:p>
            <a:pPr>
              <a:lnSpc>
                <a:spcPct val="120000"/>
              </a:lnSpc>
              <a:spcBef>
                <a:spcPts val="300"/>
              </a:spcBef>
              <a:buClr>
                <a:srgbClr val="0B61FF"/>
              </a:buClr>
              <a:buSzPct val="80000"/>
              <a:buFont typeface="Wingdings" panose="05000000000000000000" pitchFamily="2" charset="2"/>
              <a:buChar char="n"/>
            </a:pPr>
            <a:r>
              <a:rPr lang="en-US" sz="2400" b="1" i="1" dirty="0">
                <a:solidFill>
                  <a:srgbClr val="0B61FF"/>
                </a:solidFill>
                <a:latin typeface="Trebuchet MS" panose="020B0603020202020204" pitchFamily="34" charset="0"/>
              </a:rPr>
              <a:t>Reverse Polish Notation </a:t>
            </a:r>
            <a:r>
              <a:rPr lang="en-US" sz="2400" b="1" dirty="0">
                <a:latin typeface="Trebuchet MS" panose="020B0603020202020204" pitchFamily="34" charset="0"/>
              </a:rPr>
              <a:t>(Postfix Notation):</a:t>
            </a:r>
            <a:br>
              <a:rPr lang="en-US" sz="2400" dirty="0">
                <a:latin typeface="Trebuchet MS" panose="020B0603020202020204" pitchFamily="34" charset="0"/>
              </a:rPr>
            </a:br>
            <a:r>
              <a:rPr lang="en-US" sz="2400" dirty="0">
                <a:latin typeface="Trebuchet MS" panose="020B0603020202020204" pitchFamily="34" charset="0"/>
              </a:rPr>
              <a:t>Traverse the binary ordered tree using </a:t>
            </a:r>
            <a:r>
              <a:rPr lang="en-US" sz="2400" b="1" dirty="0" err="1">
                <a:latin typeface="Trebuchet MS" panose="020B0603020202020204" pitchFamily="34" charset="0"/>
              </a:rPr>
              <a:t>postorder</a:t>
            </a:r>
            <a:r>
              <a:rPr lang="en-US" sz="2400" b="1" dirty="0">
                <a:latin typeface="Trebuchet MS" panose="020B0603020202020204" pitchFamily="34" charset="0"/>
              </a:rPr>
              <a:t> traversal</a:t>
            </a:r>
            <a:r>
              <a:rPr lang="en-US" sz="2400" dirty="0">
                <a:latin typeface="Trebuchet MS" panose="020B0603020202020204" pitchFamily="34" charset="0"/>
              </a:rPr>
              <a:t>, and omit all parentheses.</a:t>
            </a:r>
          </a:p>
        </p:txBody>
      </p:sp>
      <p:sp>
        <p:nvSpPr>
          <p:cNvPr id="17" name="文本框 16">
            <a:extLst>
              <a:ext uri="{FF2B5EF4-FFF2-40B4-BE49-F238E27FC236}">
                <a16:creationId xmlns:a16="http://schemas.microsoft.com/office/drawing/2014/main" id="{C0E967E5-B3F3-4B50-85A5-2FD61F058B2D}"/>
              </a:ext>
            </a:extLst>
          </p:cNvPr>
          <p:cNvSpPr txBox="1"/>
          <p:nvPr/>
        </p:nvSpPr>
        <p:spPr>
          <a:xfrm>
            <a:off x="824682" y="3514872"/>
            <a:ext cx="6356602" cy="2904449"/>
          </a:xfrm>
          <a:prstGeom prst="rect">
            <a:avLst/>
          </a:prstGeom>
          <a:noFill/>
        </p:spPr>
        <p:txBody>
          <a:bodyPr wrap="square">
            <a:spAutoFit/>
          </a:bodyPr>
          <a:lstStyle/>
          <a:p>
            <a:pPr marL="268288" indent="-268288">
              <a:lnSpc>
                <a:spcPct val="110000"/>
              </a:lnSpc>
              <a:buClr>
                <a:srgbClr val="0B61FF"/>
              </a:buClr>
              <a:buSzPct val="80000"/>
              <a:buFont typeface="Wingdings" panose="05000000000000000000" pitchFamily="2" charset="2"/>
              <a:buChar char="n"/>
            </a:pPr>
            <a:r>
              <a:rPr lang="en-US" altLang="zh-CN" sz="2400" b="1" dirty="0">
                <a:latin typeface="Trebuchet MS" panose="020B0603020202020204" pitchFamily="34" charset="0"/>
              </a:rPr>
              <a:t>Example: </a:t>
            </a:r>
            <a:r>
              <a:rPr lang="en-US" sz="2400" dirty="0">
                <a:latin typeface="Trebuchet MS" panose="020B0603020202020204" pitchFamily="34" charset="0"/>
              </a:rPr>
              <a:t>The Polish notation and Reverse Polish notation for the expression shown in the diagram on the right are:</a:t>
            </a:r>
          </a:p>
          <a:p>
            <a:pPr marL="342900" indent="-163513">
              <a:lnSpc>
                <a:spcPct val="110000"/>
              </a:lnSpc>
              <a:buClr>
                <a:srgbClr val="0B61FF"/>
              </a:buClr>
              <a:buSzPct val="120000"/>
              <a:buFont typeface="Arial" panose="020B0604020202020204" pitchFamily="34" charset="0"/>
              <a:buChar char="•"/>
            </a:pPr>
            <a:r>
              <a:rPr lang="en-US" sz="2400" dirty="0">
                <a:latin typeface="Trebuchet MS" panose="020B0603020202020204" pitchFamily="34" charset="0"/>
              </a:rPr>
              <a:t>Polish Notation (Prefix):</a:t>
            </a:r>
          </a:p>
          <a:p>
            <a:pPr marL="177800" indent="179388" algn="just">
              <a:lnSpc>
                <a:spcPct val="110000"/>
              </a:lnSpc>
              <a:buClr>
                <a:srgbClr val="0B61FF"/>
              </a:buClr>
              <a:buSzPct val="120000"/>
            </a:pPr>
            <a:r>
              <a:rPr lang="zh-CN" altLang="en-US" sz="2400" b="1" kern="1500" spc="300" dirty="0">
                <a:solidFill>
                  <a:srgbClr val="0B61FF"/>
                </a:solidFill>
                <a:latin typeface="Trebuchet MS" panose="020B0603020202020204" pitchFamily="34" charset="0"/>
                <a:cs typeface="Times New Roman" panose="02020603050405020304" pitchFamily="18" charset="0"/>
                <a:sym typeface="Symbol" panose="05050102010706020507" pitchFamily="18" charset="2"/>
              </a:rPr>
              <a:t></a:t>
            </a:r>
            <a:r>
              <a:rPr lang="en-US" altLang="zh-CN" sz="2400" b="1" i="1" kern="1500" spc="300" dirty="0" err="1">
                <a:solidFill>
                  <a:srgbClr val="0B61FF"/>
                </a:solidFill>
                <a:latin typeface="Trebuchet MS" panose="020B0603020202020204" pitchFamily="34" charset="0"/>
                <a:cs typeface="Times New Roman" panose="02020603050405020304" pitchFamily="18" charset="0"/>
              </a:rPr>
              <a:t>b</a:t>
            </a:r>
            <a:r>
              <a:rPr lang="en-US" altLang="zh-CN" sz="2400" b="1" kern="1500" spc="300" dirty="0" err="1">
                <a:solidFill>
                  <a:srgbClr val="0B61FF"/>
                </a:solidFill>
                <a:latin typeface="Trebuchet MS" panose="020B0603020202020204" pitchFamily="34" charset="0"/>
                <a:cs typeface="Times New Roman" panose="02020603050405020304" pitchFamily="18" charset="0"/>
              </a:rPr>
              <a:t>+</a:t>
            </a:r>
            <a:r>
              <a:rPr lang="en-US" altLang="zh-CN" sz="2400" b="1" i="1" kern="1500" spc="300" dirty="0" err="1">
                <a:solidFill>
                  <a:srgbClr val="0B61FF"/>
                </a:solidFill>
                <a:latin typeface="Trebuchet MS" panose="020B0603020202020204" pitchFamily="34" charset="0"/>
                <a:cs typeface="Times New Roman" panose="02020603050405020304" pitchFamily="18" charset="0"/>
              </a:rPr>
              <a:t>cda</a:t>
            </a:r>
            <a:r>
              <a:rPr lang="en-US" altLang="zh-CN" sz="2400" b="1" kern="1500" spc="300" dirty="0">
                <a:solidFill>
                  <a:srgbClr val="0B61FF"/>
                </a:solidFill>
                <a:latin typeface="Trebuchet MS" panose="020B0603020202020204" pitchFamily="34" charset="0"/>
                <a:cs typeface="Times New Roman" panose="02020603050405020304" pitchFamily="18" charset="0"/>
                <a:sym typeface="Symbol" panose="05050102010706020507" pitchFamily="18" charset="2"/>
              </a:rPr>
              <a:t></a:t>
            </a:r>
            <a:r>
              <a:rPr lang="en-US" altLang="zh-CN" sz="2400" b="1" i="1" kern="1500" spc="300" dirty="0" err="1">
                <a:solidFill>
                  <a:srgbClr val="0B61FF"/>
                </a:solidFill>
                <a:latin typeface="Trebuchet MS" panose="020B0603020202020204" pitchFamily="34" charset="0"/>
                <a:cs typeface="Times New Roman" panose="02020603050405020304" pitchFamily="18" charset="0"/>
              </a:rPr>
              <a:t>ef</a:t>
            </a:r>
            <a:r>
              <a:rPr lang="en-US" altLang="zh-CN" sz="2400" b="1" kern="1500" spc="300" dirty="0">
                <a:solidFill>
                  <a:srgbClr val="0B61FF"/>
                </a:solidFill>
                <a:latin typeface="Trebuchet MS" panose="020B0603020202020204" pitchFamily="34" charset="0"/>
                <a:cs typeface="Times New Roman" panose="02020603050405020304" pitchFamily="18" charset="0"/>
                <a:sym typeface="Symbol" panose="05050102010706020507" pitchFamily="18" charset="2"/>
              </a:rPr>
              <a:t></a:t>
            </a:r>
            <a:r>
              <a:rPr lang="en-US" altLang="zh-CN" sz="2400" b="1" kern="1500" spc="300" dirty="0">
                <a:solidFill>
                  <a:srgbClr val="0B61FF"/>
                </a:solidFill>
                <a:latin typeface="Trebuchet MS" panose="020B0603020202020204" pitchFamily="34" charset="0"/>
                <a:cs typeface="Times New Roman" panose="02020603050405020304" pitchFamily="18" charset="0"/>
              </a:rPr>
              <a:t>+</a:t>
            </a:r>
            <a:r>
              <a:rPr lang="en-US" altLang="zh-CN" sz="2400" b="1" i="1" kern="1500" spc="300" dirty="0" err="1">
                <a:solidFill>
                  <a:srgbClr val="0B61FF"/>
                </a:solidFill>
                <a:latin typeface="Trebuchet MS" panose="020B0603020202020204" pitchFamily="34" charset="0"/>
                <a:cs typeface="Times New Roman" panose="02020603050405020304" pitchFamily="18" charset="0"/>
              </a:rPr>
              <a:t>gh</a:t>
            </a:r>
            <a:r>
              <a:rPr lang="en-US" altLang="zh-CN" sz="2400" b="1" kern="1500" spc="300" dirty="0" err="1">
                <a:solidFill>
                  <a:srgbClr val="0B61FF"/>
                </a:solidFill>
                <a:latin typeface="Trebuchet MS" panose="020B0603020202020204" pitchFamily="34" charset="0"/>
                <a:cs typeface="Times New Roman" panose="02020603050405020304" pitchFamily="18" charset="0"/>
                <a:sym typeface="Symbol" panose="05050102010706020507" pitchFamily="18" charset="2"/>
              </a:rPr>
              <a:t></a:t>
            </a:r>
            <a:r>
              <a:rPr lang="en-US" altLang="zh-CN" sz="2400" b="1" i="1" kern="1500" spc="300" dirty="0" err="1">
                <a:solidFill>
                  <a:srgbClr val="0B61FF"/>
                </a:solidFill>
                <a:latin typeface="Trebuchet MS" panose="020B0603020202020204" pitchFamily="34" charset="0"/>
                <a:cs typeface="Times New Roman" panose="02020603050405020304" pitchFamily="18" charset="0"/>
              </a:rPr>
              <a:t>ij</a:t>
            </a:r>
            <a:endParaRPr lang="en-US" altLang="zh-CN" sz="2400" b="1" i="1" kern="1500" spc="300" dirty="0">
              <a:solidFill>
                <a:srgbClr val="0B61FF"/>
              </a:solidFill>
              <a:latin typeface="Trebuchet MS" panose="020B0603020202020204" pitchFamily="34" charset="0"/>
              <a:cs typeface="Times New Roman" panose="02020603050405020304" pitchFamily="18" charset="0"/>
            </a:endParaRPr>
          </a:p>
          <a:p>
            <a:pPr marL="342900" indent="-163513">
              <a:lnSpc>
                <a:spcPct val="110000"/>
              </a:lnSpc>
              <a:buClr>
                <a:srgbClr val="0B61FF"/>
              </a:buClr>
              <a:buSzPct val="120000"/>
              <a:buFont typeface="Arial" panose="020B0604020202020204" pitchFamily="34" charset="0"/>
              <a:buChar char="•"/>
            </a:pPr>
            <a:r>
              <a:rPr lang="en-US" sz="2400" dirty="0">
                <a:latin typeface="Trebuchet MS" panose="020B0603020202020204" pitchFamily="34" charset="0"/>
              </a:rPr>
              <a:t>Reverse Polish Notation (Postfix)</a:t>
            </a:r>
            <a:r>
              <a:rPr lang="en-US" altLang="zh-CN" sz="2400" b="1" dirty="0">
                <a:latin typeface="Trebuchet MS" panose="020B0603020202020204" pitchFamily="34" charset="0"/>
              </a:rPr>
              <a:t>:</a:t>
            </a:r>
          </a:p>
          <a:p>
            <a:pPr marL="177800" indent="179388">
              <a:lnSpc>
                <a:spcPct val="110000"/>
              </a:lnSpc>
              <a:buClr>
                <a:srgbClr val="0B61FF"/>
              </a:buClr>
              <a:buSzPct val="120000"/>
            </a:pPr>
            <a:r>
              <a:rPr lang="en-US" altLang="zh-CN" sz="2400" b="1" i="1" spc="300" dirty="0" err="1">
                <a:solidFill>
                  <a:srgbClr val="0B61FF"/>
                </a:solidFill>
                <a:latin typeface="Trebuchet MS" panose="020B0603020202020204" pitchFamily="34" charset="0"/>
                <a:cs typeface="Times New Roman" panose="02020603050405020304" pitchFamily="18" charset="0"/>
              </a:rPr>
              <a:t>bcd</a:t>
            </a:r>
            <a:r>
              <a:rPr lang="en-US" altLang="zh-CN" sz="2400" b="1" spc="300" dirty="0">
                <a:solidFill>
                  <a:srgbClr val="0B61FF"/>
                </a:solidFill>
                <a:latin typeface="Trebuchet MS" panose="020B0603020202020204" pitchFamily="34" charset="0"/>
                <a:cs typeface="Times New Roman" panose="02020603050405020304" pitchFamily="18" charset="0"/>
              </a:rPr>
              <a:t>++</a:t>
            </a:r>
            <a:r>
              <a:rPr lang="en-US" altLang="zh-CN" sz="2400" b="1" i="1" spc="300" dirty="0" err="1">
                <a:solidFill>
                  <a:srgbClr val="0B61FF"/>
                </a:solidFill>
                <a:latin typeface="Trebuchet MS" panose="020B0603020202020204" pitchFamily="34" charset="0"/>
                <a:cs typeface="Times New Roman" panose="02020603050405020304" pitchFamily="18" charset="0"/>
              </a:rPr>
              <a:t>a</a:t>
            </a:r>
            <a:r>
              <a:rPr lang="en-US" altLang="zh-CN" sz="2400" b="1" i="1" spc="300" dirty="0" err="1">
                <a:solidFill>
                  <a:srgbClr val="0B61FF"/>
                </a:solidFill>
                <a:latin typeface="Trebuchet MS" panose="020B0603020202020204" pitchFamily="34" charset="0"/>
                <a:cs typeface="Times New Roman" panose="02020603050405020304" pitchFamily="18" charset="0"/>
                <a:sym typeface="Symbol" panose="05050102010706020507" pitchFamily="18" charset="2"/>
              </a:rPr>
              <a:t></a:t>
            </a:r>
            <a:r>
              <a:rPr lang="en-US" altLang="zh-CN" sz="2400" b="1" i="1" spc="300" dirty="0" err="1">
                <a:solidFill>
                  <a:srgbClr val="0B61FF"/>
                </a:solidFill>
                <a:latin typeface="Trebuchet MS" panose="020B0603020202020204" pitchFamily="34" charset="0"/>
                <a:cs typeface="Times New Roman" panose="02020603050405020304" pitchFamily="18" charset="0"/>
              </a:rPr>
              <a:t>ef</a:t>
            </a:r>
            <a:r>
              <a:rPr lang="en-US" altLang="zh-CN" sz="2400" b="1" spc="300" dirty="0" err="1">
                <a:solidFill>
                  <a:srgbClr val="0B61FF"/>
                </a:solidFill>
                <a:latin typeface="Trebuchet MS" panose="020B0603020202020204" pitchFamily="34" charset="0"/>
                <a:cs typeface="Times New Roman" panose="02020603050405020304" pitchFamily="18" charset="0"/>
                <a:sym typeface="Symbol" panose="05050102010706020507" pitchFamily="18" charset="2"/>
              </a:rPr>
              <a:t></a:t>
            </a:r>
            <a:r>
              <a:rPr lang="en-US" altLang="zh-CN" sz="2400" b="1" i="1" spc="300" dirty="0" err="1">
                <a:solidFill>
                  <a:srgbClr val="0B61FF"/>
                </a:solidFill>
                <a:latin typeface="Trebuchet MS" panose="020B0603020202020204" pitchFamily="34" charset="0"/>
                <a:cs typeface="Times New Roman" panose="02020603050405020304" pitchFamily="18" charset="0"/>
              </a:rPr>
              <a:t>gh</a:t>
            </a:r>
            <a:r>
              <a:rPr lang="en-US" altLang="zh-CN" sz="2400" b="1" spc="300" dirty="0" err="1">
                <a:solidFill>
                  <a:srgbClr val="0B61FF"/>
                </a:solidFill>
                <a:latin typeface="Trebuchet MS" panose="020B0603020202020204" pitchFamily="34" charset="0"/>
                <a:cs typeface="Times New Roman" panose="02020603050405020304" pitchFamily="18" charset="0"/>
              </a:rPr>
              <a:t>+</a:t>
            </a:r>
            <a:r>
              <a:rPr lang="en-US" altLang="zh-CN" sz="2400" b="1" i="1" spc="300" dirty="0" err="1">
                <a:solidFill>
                  <a:srgbClr val="0B61FF"/>
                </a:solidFill>
                <a:latin typeface="Trebuchet MS" panose="020B0603020202020204" pitchFamily="34" charset="0"/>
                <a:cs typeface="Times New Roman" panose="02020603050405020304" pitchFamily="18" charset="0"/>
              </a:rPr>
              <a:t>ij</a:t>
            </a:r>
            <a:r>
              <a:rPr lang="en-US" altLang="zh-CN" sz="2400" b="1" spc="300" dirty="0">
                <a:solidFill>
                  <a:srgbClr val="0B61FF"/>
                </a:solidFill>
                <a:latin typeface="Trebuchet MS" panose="020B0603020202020204" pitchFamily="34" charset="0"/>
                <a:cs typeface="Times New Roman" panose="02020603050405020304" pitchFamily="18" charset="0"/>
                <a:sym typeface="Symbol" panose="05050102010706020507" pitchFamily="18" charset="2"/>
              </a:rPr>
              <a:t> </a:t>
            </a:r>
            <a:r>
              <a:rPr lang="en-US" altLang="zh-CN" sz="2400" b="1" spc="300" dirty="0">
                <a:solidFill>
                  <a:srgbClr val="0B61FF"/>
                </a:solidFill>
                <a:latin typeface="Trebuchet MS" panose="020B0603020202020204" pitchFamily="34" charset="0"/>
                <a:cs typeface="Times New Roman" panose="02020603050405020304" pitchFamily="18" charset="0"/>
              </a:rPr>
              <a:t> </a:t>
            </a:r>
          </a:p>
        </p:txBody>
      </p:sp>
      <p:pic>
        <p:nvPicPr>
          <p:cNvPr id="19" name="Picture 7" descr="16-13">
            <a:extLst>
              <a:ext uri="{FF2B5EF4-FFF2-40B4-BE49-F238E27FC236}">
                <a16:creationId xmlns:a16="http://schemas.microsoft.com/office/drawing/2014/main" id="{F6A5D68E-34A2-41BB-9B36-989101949A1D}"/>
              </a:ext>
            </a:extLst>
          </p:cNvPr>
          <p:cNvPicPr>
            <a:picLocks noChangeAspect="1" noChangeArrowheads="1"/>
          </p:cNvPicPr>
          <p:nvPr/>
        </p:nvPicPr>
        <p:blipFill>
          <a:blip r:embed="rId5">
            <a:clrChange>
              <a:clrFrom>
                <a:srgbClr val="FFFFFF"/>
              </a:clrFrom>
              <a:clrTo>
                <a:srgbClr val="FFFFFF">
                  <a:alpha val="0"/>
                </a:srgbClr>
              </a:clrTo>
            </a:clrChange>
            <a:extLst>
              <a:ext uri="{28A0092B-C50C-407E-A947-70E740481C1C}">
                <a14:useLocalDpi xmlns:a14="http://schemas.microsoft.com/office/drawing/2010/main" val="0"/>
              </a:ext>
            </a:extLst>
          </a:blip>
          <a:srcRect l="28239" r="14951" b="47244"/>
          <a:stretch>
            <a:fillRect/>
          </a:stretch>
        </p:blipFill>
        <p:spPr bwMode="auto">
          <a:xfrm>
            <a:off x="6882665" y="3468909"/>
            <a:ext cx="3194878" cy="270887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000366264"/>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11">
                                            <p:txEl>
                                              <p:pRg st="1" end="1"/>
                                            </p:txEl>
                                          </p:spTgt>
                                        </p:tgtEl>
                                        <p:attrNameLst>
                                          <p:attrName>style.visibility</p:attrName>
                                        </p:attrNameLst>
                                      </p:cBhvr>
                                      <p:to>
                                        <p:strVal val="visible"/>
                                      </p:to>
                                    </p:set>
                                    <p:animEffect transition="in" filter="fade">
                                      <p:cBhvr>
                                        <p:cTn id="7" dur="1000"/>
                                        <p:tgtEl>
                                          <p:spTgt spid="11">
                                            <p:txEl>
                                              <p:pRg st="1" end="1"/>
                                            </p:txEl>
                                          </p:spTgt>
                                        </p:tgtEl>
                                      </p:cBhvr>
                                    </p:animEffect>
                                    <p:anim calcmode="lin" valueType="num">
                                      <p:cBhvr>
                                        <p:cTn id="8" dur="1000" fill="hold"/>
                                        <p:tgtEl>
                                          <p:spTgt spid="11">
                                            <p:txEl>
                                              <p:pRg st="1" end="1"/>
                                            </p:txEl>
                                          </p:spTgt>
                                        </p:tgtEl>
                                        <p:attrNameLst>
                                          <p:attrName>ppt_x</p:attrName>
                                        </p:attrNameLst>
                                      </p:cBhvr>
                                      <p:tavLst>
                                        <p:tav tm="0">
                                          <p:val>
                                            <p:strVal val="#ppt_x"/>
                                          </p:val>
                                        </p:tav>
                                        <p:tav tm="100000">
                                          <p:val>
                                            <p:strVal val="#ppt_x"/>
                                          </p:val>
                                        </p:tav>
                                      </p:tavLst>
                                    </p:anim>
                                    <p:anim calcmode="lin" valueType="num">
                                      <p:cBhvr>
                                        <p:cTn id="9" dur="1000" fill="hold"/>
                                        <p:tgtEl>
                                          <p:spTgt spid="11">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17">
                                            <p:txEl>
                                              <p:pRg st="0" end="0"/>
                                            </p:txEl>
                                          </p:spTgt>
                                        </p:tgtEl>
                                        <p:attrNameLst>
                                          <p:attrName>style.visibility</p:attrName>
                                        </p:attrNameLst>
                                      </p:cBhvr>
                                      <p:to>
                                        <p:strVal val="visible"/>
                                      </p:to>
                                    </p:set>
                                    <p:animEffect transition="in" filter="fade">
                                      <p:cBhvr>
                                        <p:cTn id="14" dur="1000"/>
                                        <p:tgtEl>
                                          <p:spTgt spid="17">
                                            <p:txEl>
                                              <p:pRg st="0" end="0"/>
                                            </p:txEl>
                                          </p:spTgt>
                                        </p:tgtEl>
                                      </p:cBhvr>
                                    </p:animEffect>
                                    <p:anim calcmode="lin" valueType="num">
                                      <p:cBhvr>
                                        <p:cTn id="15" dur="1000" fill="hold"/>
                                        <p:tgtEl>
                                          <p:spTgt spid="17">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17">
                                            <p:txEl>
                                              <p:pRg st="0" end="0"/>
                                            </p:txEl>
                                          </p:spTgt>
                                        </p:tgtEl>
                                        <p:attrNameLst>
                                          <p:attrName>ppt_y</p:attrName>
                                        </p:attrNameLst>
                                      </p:cBhvr>
                                      <p:tavLst>
                                        <p:tav tm="0">
                                          <p:val>
                                            <p:strVal val="#ppt_y+.1"/>
                                          </p:val>
                                        </p:tav>
                                        <p:tav tm="100000">
                                          <p:val>
                                            <p:strVal val="#ppt_y"/>
                                          </p:val>
                                        </p:tav>
                                      </p:tavLst>
                                    </p:anim>
                                  </p:childTnLst>
                                </p:cTn>
                              </p:par>
                              <p:par>
                                <p:cTn id="17" presetID="42" presetClass="entr" presetSubtype="0" fill="hold" nodeType="withEffect">
                                  <p:stCondLst>
                                    <p:cond delay="0"/>
                                  </p:stCondLst>
                                  <p:childTnLst>
                                    <p:set>
                                      <p:cBhvr>
                                        <p:cTn id="18" dur="1" fill="hold">
                                          <p:stCondLst>
                                            <p:cond delay="0"/>
                                          </p:stCondLst>
                                        </p:cTn>
                                        <p:tgtEl>
                                          <p:spTgt spid="19"/>
                                        </p:tgtEl>
                                        <p:attrNameLst>
                                          <p:attrName>style.visibility</p:attrName>
                                        </p:attrNameLst>
                                      </p:cBhvr>
                                      <p:to>
                                        <p:strVal val="visible"/>
                                      </p:to>
                                    </p:set>
                                    <p:animEffect transition="in" filter="fade">
                                      <p:cBhvr>
                                        <p:cTn id="19" dur="1000"/>
                                        <p:tgtEl>
                                          <p:spTgt spid="19"/>
                                        </p:tgtEl>
                                      </p:cBhvr>
                                    </p:animEffect>
                                    <p:anim calcmode="lin" valueType="num">
                                      <p:cBhvr>
                                        <p:cTn id="20" dur="1000" fill="hold"/>
                                        <p:tgtEl>
                                          <p:spTgt spid="19"/>
                                        </p:tgtEl>
                                        <p:attrNameLst>
                                          <p:attrName>ppt_x</p:attrName>
                                        </p:attrNameLst>
                                      </p:cBhvr>
                                      <p:tavLst>
                                        <p:tav tm="0">
                                          <p:val>
                                            <p:strVal val="#ppt_x"/>
                                          </p:val>
                                        </p:tav>
                                        <p:tav tm="100000">
                                          <p:val>
                                            <p:strVal val="#ppt_x"/>
                                          </p:val>
                                        </p:tav>
                                      </p:tavLst>
                                    </p:anim>
                                    <p:anim calcmode="lin" valueType="num">
                                      <p:cBhvr>
                                        <p:cTn id="21" dur="1000" fill="hold"/>
                                        <p:tgtEl>
                                          <p:spTgt spid="19"/>
                                        </p:tgtEl>
                                        <p:attrNameLst>
                                          <p:attrName>ppt_y</p:attrName>
                                        </p:attrNameLst>
                                      </p:cBhvr>
                                      <p:tavLst>
                                        <p:tav tm="0">
                                          <p:val>
                                            <p:strVal val="#ppt_y+.1"/>
                                          </p:val>
                                        </p:tav>
                                        <p:tav tm="100000">
                                          <p:val>
                                            <p:strVal val="#ppt_y"/>
                                          </p:val>
                                        </p:tav>
                                      </p:tavLst>
                                    </p:anim>
                                  </p:childTnLst>
                                </p:cTn>
                              </p:par>
                            </p:childTnLst>
                          </p:cTn>
                        </p:par>
                      </p:childTnLst>
                    </p:cTn>
                  </p:par>
                  <p:par>
                    <p:cTn id="22" fill="hold">
                      <p:stCondLst>
                        <p:cond delay="indefinite"/>
                      </p:stCondLst>
                      <p:childTnLst>
                        <p:par>
                          <p:cTn id="23" fill="hold">
                            <p:stCondLst>
                              <p:cond delay="0"/>
                            </p:stCondLst>
                            <p:childTnLst>
                              <p:par>
                                <p:cTn id="24" presetID="42" presetClass="entr" presetSubtype="0" fill="hold" nodeType="clickEffect">
                                  <p:stCondLst>
                                    <p:cond delay="0"/>
                                  </p:stCondLst>
                                  <p:childTnLst>
                                    <p:set>
                                      <p:cBhvr>
                                        <p:cTn id="25" dur="1" fill="hold">
                                          <p:stCondLst>
                                            <p:cond delay="0"/>
                                          </p:stCondLst>
                                        </p:cTn>
                                        <p:tgtEl>
                                          <p:spTgt spid="17">
                                            <p:txEl>
                                              <p:pRg st="1" end="1"/>
                                            </p:txEl>
                                          </p:spTgt>
                                        </p:tgtEl>
                                        <p:attrNameLst>
                                          <p:attrName>style.visibility</p:attrName>
                                        </p:attrNameLst>
                                      </p:cBhvr>
                                      <p:to>
                                        <p:strVal val="visible"/>
                                      </p:to>
                                    </p:set>
                                    <p:animEffect transition="in" filter="fade">
                                      <p:cBhvr>
                                        <p:cTn id="26" dur="1000"/>
                                        <p:tgtEl>
                                          <p:spTgt spid="17">
                                            <p:txEl>
                                              <p:pRg st="1" end="1"/>
                                            </p:txEl>
                                          </p:spTgt>
                                        </p:tgtEl>
                                      </p:cBhvr>
                                    </p:animEffect>
                                    <p:anim calcmode="lin" valueType="num">
                                      <p:cBhvr>
                                        <p:cTn id="27" dur="1000" fill="hold"/>
                                        <p:tgtEl>
                                          <p:spTgt spid="17">
                                            <p:txEl>
                                              <p:pRg st="1" end="1"/>
                                            </p:txEl>
                                          </p:spTgt>
                                        </p:tgtEl>
                                        <p:attrNameLst>
                                          <p:attrName>ppt_x</p:attrName>
                                        </p:attrNameLst>
                                      </p:cBhvr>
                                      <p:tavLst>
                                        <p:tav tm="0">
                                          <p:val>
                                            <p:strVal val="#ppt_x"/>
                                          </p:val>
                                        </p:tav>
                                        <p:tav tm="100000">
                                          <p:val>
                                            <p:strVal val="#ppt_x"/>
                                          </p:val>
                                        </p:tav>
                                      </p:tavLst>
                                    </p:anim>
                                    <p:anim calcmode="lin" valueType="num">
                                      <p:cBhvr>
                                        <p:cTn id="28" dur="1000" fill="hold"/>
                                        <p:tgtEl>
                                          <p:spTgt spid="17">
                                            <p:txEl>
                                              <p:pRg st="1" end="1"/>
                                            </p:txEl>
                                          </p:spTgt>
                                        </p:tgtEl>
                                        <p:attrNameLst>
                                          <p:attrName>ppt_y</p:attrName>
                                        </p:attrNameLst>
                                      </p:cBhvr>
                                      <p:tavLst>
                                        <p:tav tm="0">
                                          <p:val>
                                            <p:strVal val="#ppt_y+.1"/>
                                          </p:val>
                                        </p:tav>
                                        <p:tav tm="100000">
                                          <p:val>
                                            <p:strVal val="#ppt_y"/>
                                          </p:val>
                                        </p:tav>
                                      </p:tavLst>
                                    </p:anim>
                                  </p:childTnLst>
                                </p:cTn>
                              </p:par>
                              <p:par>
                                <p:cTn id="29" presetID="42" presetClass="entr" presetSubtype="0" fill="hold" nodeType="withEffect">
                                  <p:stCondLst>
                                    <p:cond delay="0"/>
                                  </p:stCondLst>
                                  <p:childTnLst>
                                    <p:set>
                                      <p:cBhvr>
                                        <p:cTn id="30" dur="1" fill="hold">
                                          <p:stCondLst>
                                            <p:cond delay="0"/>
                                          </p:stCondLst>
                                        </p:cTn>
                                        <p:tgtEl>
                                          <p:spTgt spid="17">
                                            <p:txEl>
                                              <p:pRg st="2" end="2"/>
                                            </p:txEl>
                                          </p:spTgt>
                                        </p:tgtEl>
                                        <p:attrNameLst>
                                          <p:attrName>style.visibility</p:attrName>
                                        </p:attrNameLst>
                                      </p:cBhvr>
                                      <p:to>
                                        <p:strVal val="visible"/>
                                      </p:to>
                                    </p:set>
                                    <p:animEffect transition="in" filter="fade">
                                      <p:cBhvr>
                                        <p:cTn id="31" dur="1000"/>
                                        <p:tgtEl>
                                          <p:spTgt spid="17">
                                            <p:txEl>
                                              <p:pRg st="2" end="2"/>
                                            </p:txEl>
                                          </p:spTgt>
                                        </p:tgtEl>
                                      </p:cBhvr>
                                    </p:animEffect>
                                    <p:anim calcmode="lin" valueType="num">
                                      <p:cBhvr>
                                        <p:cTn id="32" dur="1000" fill="hold"/>
                                        <p:tgtEl>
                                          <p:spTgt spid="17">
                                            <p:txEl>
                                              <p:pRg st="2" end="2"/>
                                            </p:txEl>
                                          </p:spTgt>
                                        </p:tgtEl>
                                        <p:attrNameLst>
                                          <p:attrName>ppt_x</p:attrName>
                                        </p:attrNameLst>
                                      </p:cBhvr>
                                      <p:tavLst>
                                        <p:tav tm="0">
                                          <p:val>
                                            <p:strVal val="#ppt_x"/>
                                          </p:val>
                                        </p:tav>
                                        <p:tav tm="100000">
                                          <p:val>
                                            <p:strVal val="#ppt_x"/>
                                          </p:val>
                                        </p:tav>
                                      </p:tavLst>
                                    </p:anim>
                                    <p:anim calcmode="lin" valueType="num">
                                      <p:cBhvr>
                                        <p:cTn id="33" dur="1000" fill="hold"/>
                                        <p:tgtEl>
                                          <p:spTgt spid="17">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34" fill="hold">
                      <p:stCondLst>
                        <p:cond delay="indefinite"/>
                      </p:stCondLst>
                      <p:childTnLst>
                        <p:par>
                          <p:cTn id="35" fill="hold">
                            <p:stCondLst>
                              <p:cond delay="0"/>
                            </p:stCondLst>
                            <p:childTnLst>
                              <p:par>
                                <p:cTn id="36" presetID="42" presetClass="entr" presetSubtype="0" fill="hold" nodeType="clickEffect">
                                  <p:stCondLst>
                                    <p:cond delay="0"/>
                                  </p:stCondLst>
                                  <p:childTnLst>
                                    <p:set>
                                      <p:cBhvr>
                                        <p:cTn id="37" dur="1" fill="hold">
                                          <p:stCondLst>
                                            <p:cond delay="0"/>
                                          </p:stCondLst>
                                        </p:cTn>
                                        <p:tgtEl>
                                          <p:spTgt spid="17">
                                            <p:txEl>
                                              <p:pRg st="3" end="3"/>
                                            </p:txEl>
                                          </p:spTgt>
                                        </p:tgtEl>
                                        <p:attrNameLst>
                                          <p:attrName>style.visibility</p:attrName>
                                        </p:attrNameLst>
                                      </p:cBhvr>
                                      <p:to>
                                        <p:strVal val="visible"/>
                                      </p:to>
                                    </p:set>
                                    <p:animEffect transition="in" filter="fade">
                                      <p:cBhvr>
                                        <p:cTn id="38" dur="1000"/>
                                        <p:tgtEl>
                                          <p:spTgt spid="17">
                                            <p:txEl>
                                              <p:pRg st="3" end="3"/>
                                            </p:txEl>
                                          </p:spTgt>
                                        </p:tgtEl>
                                      </p:cBhvr>
                                    </p:animEffect>
                                    <p:anim calcmode="lin" valueType="num">
                                      <p:cBhvr>
                                        <p:cTn id="39" dur="1000" fill="hold"/>
                                        <p:tgtEl>
                                          <p:spTgt spid="17">
                                            <p:txEl>
                                              <p:pRg st="3" end="3"/>
                                            </p:txEl>
                                          </p:spTgt>
                                        </p:tgtEl>
                                        <p:attrNameLst>
                                          <p:attrName>ppt_x</p:attrName>
                                        </p:attrNameLst>
                                      </p:cBhvr>
                                      <p:tavLst>
                                        <p:tav tm="0">
                                          <p:val>
                                            <p:strVal val="#ppt_x"/>
                                          </p:val>
                                        </p:tav>
                                        <p:tav tm="100000">
                                          <p:val>
                                            <p:strVal val="#ppt_x"/>
                                          </p:val>
                                        </p:tav>
                                      </p:tavLst>
                                    </p:anim>
                                    <p:anim calcmode="lin" valueType="num">
                                      <p:cBhvr>
                                        <p:cTn id="40" dur="1000" fill="hold"/>
                                        <p:tgtEl>
                                          <p:spTgt spid="17">
                                            <p:txEl>
                                              <p:pRg st="3" end="3"/>
                                            </p:txEl>
                                          </p:spTgt>
                                        </p:tgtEl>
                                        <p:attrNameLst>
                                          <p:attrName>ppt_y</p:attrName>
                                        </p:attrNameLst>
                                      </p:cBhvr>
                                      <p:tavLst>
                                        <p:tav tm="0">
                                          <p:val>
                                            <p:strVal val="#ppt_y+.1"/>
                                          </p:val>
                                        </p:tav>
                                        <p:tav tm="100000">
                                          <p:val>
                                            <p:strVal val="#ppt_y"/>
                                          </p:val>
                                        </p:tav>
                                      </p:tavLst>
                                    </p:anim>
                                  </p:childTnLst>
                                </p:cTn>
                              </p:par>
                              <p:par>
                                <p:cTn id="41" presetID="42" presetClass="entr" presetSubtype="0" fill="hold" nodeType="withEffect">
                                  <p:stCondLst>
                                    <p:cond delay="0"/>
                                  </p:stCondLst>
                                  <p:childTnLst>
                                    <p:set>
                                      <p:cBhvr>
                                        <p:cTn id="42" dur="1" fill="hold">
                                          <p:stCondLst>
                                            <p:cond delay="0"/>
                                          </p:stCondLst>
                                        </p:cTn>
                                        <p:tgtEl>
                                          <p:spTgt spid="17">
                                            <p:txEl>
                                              <p:pRg st="4" end="4"/>
                                            </p:txEl>
                                          </p:spTgt>
                                        </p:tgtEl>
                                        <p:attrNameLst>
                                          <p:attrName>style.visibility</p:attrName>
                                        </p:attrNameLst>
                                      </p:cBhvr>
                                      <p:to>
                                        <p:strVal val="visible"/>
                                      </p:to>
                                    </p:set>
                                    <p:animEffect transition="in" filter="fade">
                                      <p:cBhvr>
                                        <p:cTn id="43" dur="1000"/>
                                        <p:tgtEl>
                                          <p:spTgt spid="17">
                                            <p:txEl>
                                              <p:pRg st="4" end="4"/>
                                            </p:txEl>
                                          </p:spTgt>
                                        </p:tgtEl>
                                      </p:cBhvr>
                                    </p:animEffect>
                                    <p:anim calcmode="lin" valueType="num">
                                      <p:cBhvr>
                                        <p:cTn id="44" dur="1000" fill="hold"/>
                                        <p:tgtEl>
                                          <p:spTgt spid="17">
                                            <p:txEl>
                                              <p:pRg st="4" end="4"/>
                                            </p:txEl>
                                          </p:spTgt>
                                        </p:tgtEl>
                                        <p:attrNameLst>
                                          <p:attrName>ppt_x</p:attrName>
                                        </p:attrNameLst>
                                      </p:cBhvr>
                                      <p:tavLst>
                                        <p:tav tm="0">
                                          <p:val>
                                            <p:strVal val="#ppt_x"/>
                                          </p:val>
                                        </p:tav>
                                        <p:tav tm="100000">
                                          <p:val>
                                            <p:strVal val="#ppt_x"/>
                                          </p:val>
                                        </p:tav>
                                      </p:tavLst>
                                    </p:anim>
                                    <p:anim calcmode="lin" valueType="num">
                                      <p:cBhvr>
                                        <p:cTn id="45" dur="1000" fill="hold"/>
                                        <p:tgtEl>
                                          <p:spTgt spid="17">
                                            <p:txEl>
                                              <p:pRg st="4" end="4"/>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0" y="0"/>
            <a:ext cx="12192000" cy="762000"/>
          </a:xfrm>
          <a:prstGeom prst="rect">
            <a:avLst/>
          </a:prstGeom>
          <a:solidFill>
            <a:srgbClr val="002F7C"/>
          </a:solidFill>
        </p:spPr>
        <p:style>
          <a:lnRef idx="2">
            <a:schemeClr val="dk1">
              <a:shade val="50000"/>
            </a:schemeClr>
          </a:lnRef>
          <a:fillRef idx="1">
            <a:schemeClr val="dk1"/>
          </a:fillRef>
          <a:effectRef idx="0">
            <a:schemeClr val="dk1"/>
          </a:effectRef>
          <a:fontRef idx="minor">
            <a:schemeClr val="lt1"/>
          </a:fontRef>
        </p:style>
        <p:txBody>
          <a:bodyPr rtlCol="0" anchor="ctr"/>
          <a:lstStyle/>
          <a:p>
            <a:pPr>
              <a:buClr>
                <a:srgbClr val="0B61FF"/>
              </a:buClr>
              <a:buSzPct val="80000"/>
            </a:pPr>
            <a:r>
              <a:rPr lang="zh-CN" altLang="en-US" sz="2000" b="1" dirty="0">
                <a:latin typeface="Times New Roman" panose="02020603050405020304" pitchFamily="18" charset="0"/>
                <a:ea typeface="宋体" panose="02010600030101010101" pitchFamily="2" charset="-122"/>
                <a:cs typeface="Times New Roman" panose="02020603050405020304" pitchFamily="18" charset="0"/>
              </a:rPr>
              <a:t>                </a:t>
            </a:r>
            <a:r>
              <a:rPr lang="en-US" altLang="zh-CN" sz="2000" b="1" dirty="0">
                <a:latin typeface="Trebuchet MS" panose="020B0603020202020204" pitchFamily="34" charset="0"/>
              </a:rPr>
              <a:t>7.2.4 Traversals of Rooted Trees and Their Applications</a:t>
            </a:r>
          </a:p>
          <a:p>
            <a:pPr>
              <a:buClr>
                <a:srgbClr val="0B61FF"/>
              </a:buClr>
              <a:buSzPct val="80000"/>
            </a:pPr>
            <a:r>
              <a:rPr lang="en-US" altLang="zh-CN" sz="2000" b="1" dirty="0">
                <a:solidFill>
                  <a:srgbClr val="C00000"/>
                </a:solidFill>
                <a:latin typeface="Trebuchet MS" panose="020B0603020202020204" pitchFamily="34" charset="0"/>
                <a:ea typeface="Cambria Math" panose="02040503050406030204" pitchFamily="18" charset="0"/>
                <a:cs typeface="Times New Roman" panose="02020603050405020304" pitchFamily="18" charset="0"/>
              </a:rPr>
              <a:t>              </a:t>
            </a:r>
            <a:r>
              <a:rPr lang="en-US" altLang="zh-CN" sz="2400" dirty="0">
                <a:solidFill>
                  <a:srgbClr val="C00000"/>
                </a:solidFill>
                <a:latin typeface="Trebuchet MS" panose="020B0603020202020204" pitchFamily="34" charset="0"/>
                <a:ea typeface="Cambria Math" panose="02040503050406030204" pitchFamily="18" charset="0"/>
                <a:cs typeface="Times New Roman" panose="02020603050405020304" pitchFamily="18" charset="0"/>
              </a:rPr>
              <a:t>⤷</a:t>
            </a:r>
            <a:r>
              <a:rPr lang="zh-CN" altLang="en-US" sz="2400" dirty="0">
                <a:latin typeface="Trebuchet MS" panose="020B0603020202020204" pitchFamily="34" charset="0"/>
              </a:rPr>
              <a:t> </a:t>
            </a:r>
            <a:r>
              <a:rPr lang="en-US" altLang="zh-CN" sz="2400" b="1" dirty="0">
                <a:latin typeface="Trebuchet MS" panose="020B0603020202020204" pitchFamily="34" charset="0"/>
              </a:rPr>
              <a:t>How computers process Polish and reverse Polish notation</a:t>
            </a:r>
          </a:p>
        </p:txBody>
      </p:sp>
      <p:sp>
        <p:nvSpPr>
          <p:cNvPr id="13" name="矩形 12"/>
          <p:cNvSpPr/>
          <p:nvPr/>
        </p:nvSpPr>
        <p:spPr>
          <a:xfrm>
            <a:off x="824682" y="0"/>
            <a:ext cx="175443" cy="628650"/>
          </a:xfrm>
          <a:prstGeom prst="rect">
            <a:avLst/>
          </a:prstGeom>
          <a:solidFill>
            <a:srgbClr val="CFA57C"/>
          </a:solidFill>
          <a:ln cmpd="sng">
            <a:gradFill flip="none" rotWithShape="1">
              <a:gsLst>
                <a:gs pos="50000">
                  <a:schemeClr val="accent2">
                    <a:lumMod val="60000"/>
                    <a:lumOff val="40000"/>
                  </a:schemeClr>
                </a:gs>
                <a:gs pos="0">
                  <a:schemeClr val="accent2">
                    <a:lumMod val="20000"/>
                    <a:lumOff val="80000"/>
                  </a:schemeClr>
                </a:gs>
                <a:gs pos="95000">
                  <a:schemeClr val="accent2"/>
                </a:gs>
              </a:gsLst>
              <a:path path="circle">
                <a:fillToRect l="50000" t="-80000" r="50000" b="180000"/>
              </a:path>
              <a:tileRect/>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22" name="Picture 6" descr="D:\MBA工作\LOGO\同济经管LOGO反白.png"/>
          <p:cNvPicPr>
            <a:picLocks noChangeAspect="1" noChangeArrowheads="1"/>
          </p:cNvPicPr>
          <p:nvPr/>
        </p:nvPicPr>
        <p:blipFill>
          <a:blip r:embed="rId3" cstate="email">
            <a:extLst>
              <a:ext uri="{28A0092B-C50C-407E-A947-70E740481C1C}">
                <a14:useLocalDpi xmlns:a14="http://schemas.microsoft.com/office/drawing/2010/main" val="0"/>
              </a:ext>
            </a:extLst>
          </a:blip>
          <a:srcRect/>
          <a:stretch>
            <a:fillRect/>
          </a:stretch>
        </p:blipFill>
        <p:spPr bwMode="auto">
          <a:xfrm>
            <a:off x="10267423" y="165688"/>
            <a:ext cx="1386605" cy="462962"/>
          </a:xfrm>
          <a:prstGeom prst="rect">
            <a:avLst/>
          </a:prstGeom>
          <a:noFill/>
          <a:extLst>
            <a:ext uri="{909E8E84-426E-40DD-AFC4-6F175D3DCCD1}">
              <a14:hiddenFill xmlns:a14="http://schemas.microsoft.com/office/drawing/2010/main">
                <a:solidFill>
                  <a:srgbClr val="FFFFFF"/>
                </a:solidFill>
              </a14:hiddenFill>
            </a:ext>
          </a:extLst>
        </p:spPr>
      </p:pic>
      <p:pic>
        <p:nvPicPr>
          <p:cNvPr id="2" name="图片 1" descr="微信图片_20220318113523"/>
          <p:cNvPicPr>
            <a:picLocks noChangeAspect="1"/>
          </p:cNvPicPr>
          <p:nvPr userDrawn="1"/>
        </p:nvPicPr>
        <p:blipFill>
          <a:blip r:embed="rId4"/>
          <a:stretch>
            <a:fillRect/>
          </a:stretch>
        </p:blipFill>
        <p:spPr>
          <a:xfrm>
            <a:off x="9291877" y="6115050"/>
            <a:ext cx="2244725" cy="361315"/>
          </a:xfrm>
          <a:prstGeom prst="rect">
            <a:avLst/>
          </a:prstGeom>
        </p:spPr>
      </p:pic>
      <p:sp>
        <p:nvSpPr>
          <p:cNvPr id="18" name="Rectangle 2">
            <a:extLst>
              <a:ext uri="{FF2B5EF4-FFF2-40B4-BE49-F238E27FC236}">
                <a16:creationId xmlns:a16="http://schemas.microsoft.com/office/drawing/2014/main" id="{E217C615-1D49-4D07-B850-D36106D7AA9A}"/>
              </a:ext>
            </a:extLst>
          </p:cNvPr>
          <p:cNvSpPr>
            <a:spLocks noChangeArrowheads="1"/>
          </p:cNvSpPr>
          <p:nvPr/>
        </p:nvSpPr>
        <p:spPr bwMode="auto">
          <a:xfrm>
            <a:off x="1000125" y="815365"/>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8" name="Rectangle 3">
            <a:extLst>
              <a:ext uri="{FF2B5EF4-FFF2-40B4-BE49-F238E27FC236}">
                <a16:creationId xmlns:a16="http://schemas.microsoft.com/office/drawing/2014/main" id="{97F08C45-3D15-45C1-A5A3-D1EB58DC91FE}"/>
              </a:ext>
            </a:extLst>
          </p:cNvPr>
          <p:cNvSpPr txBox="1">
            <a:spLocks noChangeArrowheads="1"/>
          </p:cNvSpPr>
          <p:nvPr/>
        </p:nvSpPr>
        <p:spPr>
          <a:xfrm>
            <a:off x="1000125" y="914400"/>
            <a:ext cx="9877336" cy="5788025"/>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just" eaLnBrk="1" hangingPunct="1">
              <a:buFontTx/>
              <a:buNone/>
            </a:pPr>
            <a:endParaRPr lang="en-US" altLang="zh-CN" sz="2800" b="1" dirty="0"/>
          </a:p>
        </p:txBody>
      </p:sp>
      <p:pic>
        <p:nvPicPr>
          <p:cNvPr id="19" name="Picture 7" descr="16-13">
            <a:extLst>
              <a:ext uri="{FF2B5EF4-FFF2-40B4-BE49-F238E27FC236}">
                <a16:creationId xmlns:a16="http://schemas.microsoft.com/office/drawing/2014/main" id="{F6A5D68E-34A2-41BB-9B36-989101949A1D}"/>
              </a:ext>
            </a:extLst>
          </p:cNvPr>
          <p:cNvPicPr>
            <a:picLocks noChangeAspect="1" noChangeArrowheads="1"/>
          </p:cNvPicPr>
          <p:nvPr/>
        </p:nvPicPr>
        <p:blipFill>
          <a:blip r:embed="rId5">
            <a:clrChange>
              <a:clrFrom>
                <a:srgbClr val="FFFFFF"/>
              </a:clrFrom>
              <a:clrTo>
                <a:srgbClr val="FFFFFF">
                  <a:alpha val="0"/>
                </a:srgbClr>
              </a:clrTo>
            </a:clrChange>
            <a:extLst>
              <a:ext uri="{28A0092B-C50C-407E-A947-70E740481C1C}">
                <a14:useLocalDpi xmlns:a14="http://schemas.microsoft.com/office/drawing/2010/main" val="0"/>
              </a:ext>
            </a:extLst>
          </a:blip>
          <a:srcRect l="28239" r="14951" b="47244"/>
          <a:stretch>
            <a:fillRect/>
          </a:stretch>
        </p:blipFill>
        <p:spPr bwMode="auto">
          <a:xfrm>
            <a:off x="7712696" y="868732"/>
            <a:ext cx="3164765" cy="268334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5" name="文本框 24">
            <a:extLst>
              <a:ext uri="{FF2B5EF4-FFF2-40B4-BE49-F238E27FC236}">
                <a16:creationId xmlns:a16="http://schemas.microsoft.com/office/drawing/2014/main" id="{A727E770-8FED-47F3-9B83-9D12B28FA2F2}"/>
              </a:ext>
            </a:extLst>
          </p:cNvPr>
          <p:cNvSpPr txBox="1"/>
          <p:nvPr/>
        </p:nvSpPr>
        <p:spPr>
          <a:xfrm>
            <a:off x="791622" y="815365"/>
            <a:ext cx="6603091" cy="4364143"/>
          </a:xfrm>
          <a:prstGeom prst="rect">
            <a:avLst/>
          </a:prstGeom>
          <a:noFill/>
        </p:spPr>
        <p:txBody>
          <a:bodyPr wrap="square">
            <a:spAutoFit/>
          </a:bodyPr>
          <a:lstStyle/>
          <a:p>
            <a:pPr marL="342900" indent="-342900">
              <a:lnSpc>
                <a:spcPct val="130000"/>
              </a:lnSpc>
              <a:buClr>
                <a:srgbClr val="0B61FF"/>
              </a:buClr>
              <a:buSzPct val="80000"/>
              <a:buFont typeface="Wingdings" panose="05000000000000000000" pitchFamily="2" charset="2"/>
              <a:buChar char="n"/>
            </a:pPr>
            <a:r>
              <a:rPr lang="en-US" sz="2400" b="1" dirty="0">
                <a:latin typeface="Trebuchet MS" panose="020B0603020202020204" pitchFamily="34" charset="0"/>
              </a:rPr>
              <a:t>Computer Processing Method:</a:t>
            </a:r>
          </a:p>
          <a:p>
            <a:pPr marL="447675" indent="-268288">
              <a:lnSpc>
                <a:spcPct val="130000"/>
              </a:lnSpc>
              <a:buClr>
                <a:srgbClr val="0B61FF"/>
              </a:buClr>
              <a:buSzPct val="120000"/>
              <a:buFont typeface="Arial" panose="020B0604020202020204" pitchFamily="34" charset="0"/>
              <a:buChar char="•"/>
            </a:pPr>
            <a:r>
              <a:rPr lang="en-US" sz="2400" dirty="0">
                <a:latin typeface="Trebuchet MS" panose="020B0603020202020204" pitchFamily="34" charset="0"/>
              </a:rPr>
              <a:t>For an expression represented in </a:t>
            </a:r>
            <a:r>
              <a:rPr lang="en-US" sz="2400" b="1" dirty="0">
                <a:latin typeface="Trebuchet MS" panose="020B0603020202020204" pitchFamily="34" charset="0"/>
              </a:rPr>
              <a:t>Polish notation</a:t>
            </a:r>
            <a:r>
              <a:rPr lang="en-US" sz="2400" dirty="0">
                <a:latin typeface="Trebuchet MS" panose="020B0603020202020204" pitchFamily="34" charset="0"/>
              </a:rPr>
              <a:t>, computation starts from the </a:t>
            </a:r>
            <a:r>
              <a:rPr lang="en-US" sz="2400" b="1" dirty="0">
                <a:latin typeface="Trebuchet MS" panose="020B0603020202020204" pitchFamily="34" charset="0"/>
              </a:rPr>
              <a:t>root node</a:t>
            </a:r>
            <a:r>
              <a:rPr lang="en-US" sz="2400" dirty="0">
                <a:latin typeface="Trebuchet MS" panose="020B0603020202020204" pitchFamily="34" charset="0"/>
              </a:rPr>
              <a:t>—the operator is encountered first, followed by its operands.</a:t>
            </a:r>
          </a:p>
          <a:p>
            <a:pPr marL="447675" indent="-268288">
              <a:lnSpc>
                <a:spcPct val="130000"/>
              </a:lnSpc>
              <a:buClr>
                <a:srgbClr val="0B61FF"/>
              </a:buClr>
              <a:buSzPct val="120000"/>
              <a:buFont typeface="Arial" panose="020B0604020202020204" pitchFamily="34" charset="0"/>
              <a:buChar char="•"/>
            </a:pPr>
            <a:r>
              <a:rPr lang="en-US" sz="2400" dirty="0">
                <a:latin typeface="Trebuchet MS" panose="020B0603020202020204" pitchFamily="34" charset="0"/>
              </a:rPr>
              <a:t>For an expression in </a:t>
            </a:r>
            <a:r>
              <a:rPr lang="en-US" sz="2400" b="1" dirty="0">
                <a:latin typeface="Trebuchet MS" panose="020B0603020202020204" pitchFamily="34" charset="0"/>
              </a:rPr>
              <a:t>Reverse Polish notation</a:t>
            </a:r>
            <a:r>
              <a:rPr lang="en-US" sz="2400" dirty="0">
                <a:latin typeface="Trebuchet MS" panose="020B0603020202020204" pitchFamily="34" charset="0"/>
              </a:rPr>
              <a:t>, computation begins from the </a:t>
            </a:r>
            <a:r>
              <a:rPr lang="en-US" sz="2400" b="1" dirty="0">
                <a:latin typeface="Trebuchet MS" panose="020B0603020202020204" pitchFamily="34" charset="0"/>
              </a:rPr>
              <a:t>leaf nodes</a:t>
            </a:r>
            <a:r>
              <a:rPr lang="en-US" sz="2400" dirty="0">
                <a:latin typeface="Trebuchet MS" panose="020B0603020202020204" pitchFamily="34" charset="0"/>
              </a:rPr>
              <a:t> and proceeds </a:t>
            </a:r>
            <a:r>
              <a:rPr lang="en-US" sz="2400" b="1" dirty="0">
                <a:latin typeface="Trebuchet MS" panose="020B0603020202020204" pitchFamily="34" charset="0"/>
              </a:rPr>
              <a:t>upward step by step</a:t>
            </a:r>
            <a:r>
              <a:rPr lang="en-US" sz="2400" dirty="0">
                <a:latin typeface="Trebuchet MS" panose="020B0603020202020204" pitchFamily="34" charset="0"/>
              </a:rPr>
              <a:t> until reaching the root node.</a:t>
            </a:r>
            <a:endParaRPr lang="zh-CN" altLang="en-US" sz="2400" dirty="0">
              <a:latin typeface="Trebuchet MS" panose="020B0603020202020204" pitchFamily="34" charset="0"/>
            </a:endParaRPr>
          </a:p>
        </p:txBody>
      </p:sp>
      <p:sp>
        <p:nvSpPr>
          <p:cNvPr id="3" name="矩形 2">
            <a:extLst>
              <a:ext uri="{FF2B5EF4-FFF2-40B4-BE49-F238E27FC236}">
                <a16:creationId xmlns:a16="http://schemas.microsoft.com/office/drawing/2014/main" id="{1C200041-60E8-494F-9679-6DCA1DC00D9F}"/>
              </a:ext>
            </a:extLst>
          </p:cNvPr>
          <p:cNvSpPr/>
          <p:nvPr/>
        </p:nvSpPr>
        <p:spPr>
          <a:xfrm>
            <a:off x="7120393" y="3684925"/>
            <a:ext cx="4533635" cy="2091919"/>
          </a:xfrm>
          <a:prstGeom prst="rect">
            <a:avLst/>
          </a:prstGeom>
        </p:spPr>
        <p:txBody>
          <a:bodyPr wrap="square">
            <a:spAutoFit/>
          </a:bodyPr>
          <a:lstStyle/>
          <a:p>
            <a:pPr marL="342900" indent="-163513">
              <a:lnSpc>
                <a:spcPct val="110000"/>
              </a:lnSpc>
              <a:buClr>
                <a:srgbClr val="0B61FF"/>
              </a:buClr>
              <a:buSzPct val="120000"/>
              <a:buFont typeface="Arial" panose="020B0604020202020204" pitchFamily="34" charset="0"/>
              <a:buChar char="•"/>
            </a:pPr>
            <a:r>
              <a:rPr lang="en-US" altLang="zh-CN" sz="2400" dirty="0">
                <a:latin typeface="Trebuchet MS" panose="020B0603020202020204" pitchFamily="34" charset="0"/>
              </a:rPr>
              <a:t>Polish Notation (Prefix):</a:t>
            </a:r>
          </a:p>
          <a:p>
            <a:pPr marL="177800" indent="179388" algn="just">
              <a:lnSpc>
                <a:spcPct val="110000"/>
              </a:lnSpc>
              <a:buClr>
                <a:srgbClr val="0B61FF"/>
              </a:buClr>
              <a:buSzPct val="120000"/>
            </a:pPr>
            <a:r>
              <a:rPr lang="zh-CN" altLang="en-US" sz="2400" b="1" kern="1500" spc="300" dirty="0">
                <a:solidFill>
                  <a:srgbClr val="0B61FF"/>
                </a:solidFill>
                <a:latin typeface="Trebuchet MS" panose="020B0603020202020204" pitchFamily="34" charset="0"/>
                <a:cs typeface="Times New Roman" panose="02020603050405020304" pitchFamily="18" charset="0"/>
                <a:sym typeface="Symbol" panose="05050102010706020507" pitchFamily="18" charset="2"/>
              </a:rPr>
              <a:t></a:t>
            </a:r>
            <a:r>
              <a:rPr lang="en-US" altLang="zh-CN" sz="2400" b="1" i="1" kern="1500" spc="300" dirty="0" err="1">
                <a:solidFill>
                  <a:srgbClr val="0B61FF"/>
                </a:solidFill>
                <a:latin typeface="Trebuchet MS" panose="020B0603020202020204" pitchFamily="34" charset="0"/>
                <a:cs typeface="Times New Roman" panose="02020603050405020304" pitchFamily="18" charset="0"/>
              </a:rPr>
              <a:t>b</a:t>
            </a:r>
            <a:r>
              <a:rPr lang="en-US" altLang="zh-CN" sz="2400" b="1" kern="1500" spc="300" dirty="0" err="1">
                <a:solidFill>
                  <a:srgbClr val="0B61FF"/>
                </a:solidFill>
                <a:latin typeface="Trebuchet MS" panose="020B0603020202020204" pitchFamily="34" charset="0"/>
                <a:cs typeface="Times New Roman" panose="02020603050405020304" pitchFamily="18" charset="0"/>
              </a:rPr>
              <a:t>+</a:t>
            </a:r>
            <a:r>
              <a:rPr lang="en-US" altLang="zh-CN" sz="2400" b="1" i="1" kern="1500" spc="300" dirty="0" err="1">
                <a:solidFill>
                  <a:srgbClr val="0B61FF"/>
                </a:solidFill>
                <a:latin typeface="Trebuchet MS" panose="020B0603020202020204" pitchFamily="34" charset="0"/>
                <a:cs typeface="Times New Roman" panose="02020603050405020304" pitchFamily="18" charset="0"/>
              </a:rPr>
              <a:t>cda</a:t>
            </a:r>
            <a:r>
              <a:rPr lang="en-US" altLang="zh-CN" sz="2400" b="1" kern="1500" spc="300" dirty="0">
                <a:solidFill>
                  <a:srgbClr val="0B61FF"/>
                </a:solidFill>
                <a:latin typeface="Trebuchet MS" panose="020B0603020202020204" pitchFamily="34" charset="0"/>
                <a:cs typeface="Times New Roman" panose="02020603050405020304" pitchFamily="18" charset="0"/>
                <a:sym typeface="Symbol" panose="05050102010706020507" pitchFamily="18" charset="2"/>
              </a:rPr>
              <a:t></a:t>
            </a:r>
            <a:r>
              <a:rPr lang="en-US" altLang="zh-CN" sz="2400" b="1" i="1" kern="1500" spc="300" dirty="0" err="1">
                <a:solidFill>
                  <a:srgbClr val="0B61FF"/>
                </a:solidFill>
                <a:latin typeface="Trebuchet MS" panose="020B0603020202020204" pitchFamily="34" charset="0"/>
                <a:cs typeface="Times New Roman" panose="02020603050405020304" pitchFamily="18" charset="0"/>
              </a:rPr>
              <a:t>ef</a:t>
            </a:r>
            <a:r>
              <a:rPr lang="en-US" altLang="zh-CN" sz="2400" b="1" kern="1500" spc="300" dirty="0">
                <a:solidFill>
                  <a:srgbClr val="0B61FF"/>
                </a:solidFill>
                <a:latin typeface="Trebuchet MS" panose="020B0603020202020204" pitchFamily="34" charset="0"/>
                <a:cs typeface="Times New Roman" panose="02020603050405020304" pitchFamily="18" charset="0"/>
                <a:sym typeface="Symbol" panose="05050102010706020507" pitchFamily="18" charset="2"/>
              </a:rPr>
              <a:t></a:t>
            </a:r>
            <a:r>
              <a:rPr lang="en-US" altLang="zh-CN" sz="2400" b="1" kern="1500" spc="300" dirty="0">
                <a:solidFill>
                  <a:srgbClr val="0B61FF"/>
                </a:solidFill>
                <a:latin typeface="Trebuchet MS" panose="020B0603020202020204" pitchFamily="34" charset="0"/>
                <a:cs typeface="Times New Roman" panose="02020603050405020304" pitchFamily="18" charset="0"/>
              </a:rPr>
              <a:t>+</a:t>
            </a:r>
            <a:r>
              <a:rPr lang="en-US" altLang="zh-CN" sz="2400" b="1" i="1" kern="1500" spc="300" dirty="0" err="1">
                <a:solidFill>
                  <a:srgbClr val="0B61FF"/>
                </a:solidFill>
                <a:latin typeface="Trebuchet MS" panose="020B0603020202020204" pitchFamily="34" charset="0"/>
                <a:cs typeface="Times New Roman" panose="02020603050405020304" pitchFamily="18" charset="0"/>
              </a:rPr>
              <a:t>gh</a:t>
            </a:r>
            <a:r>
              <a:rPr lang="en-US" altLang="zh-CN" sz="2400" b="1" kern="1500" spc="300" dirty="0" err="1">
                <a:solidFill>
                  <a:srgbClr val="0B61FF"/>
                </a:solidFill>
                <a:latin typeface="Trebuchet MS" panose="020B0603020202020204" pitchFamily="34" charset="0"/>
                <a:cs typeface="Times New Roman" panose="02020603050405020304" pitchFamily="18" charset="0"/>
                <a:sym typeface="Symbol" panose="05050102010706020507" pitchFamily="18" charset="2"/>
              </a:rPr>
              <a:t></a:t>
            </a:r>
            <a:r>
              <a:rPr lang="en-US" altLang="zh-CN" sz="2400" b="1" i="1" kern="1500" spc="300" dirty="0" err="1">
                <a:solidFill>
                  <a:srgbClr val="0B61FF"/>
                </a:solidFill>
                <a:latin typeface="Trebuchet MS" panose="020B0603020202020204" pitchFamily="34" charset="0"/>
                <a:cs typeface="Times New Roman" panose="02020603050405020304" pitchFamily="18" charset="0"/>
              </a:rPr>
              <a:t>ij</a:t>
            </a:r>
            <a:endParaRPr lang="en-US" altLang="zh-CN" sz="2400" b="1" i="1" kern="1500" spc="300" dirty="0">
              <a:solidFill>
                <a:srgbClr val="0B61FF"/>
              </a:solidFill>
              <a:latin typeface="Trebuchet MS" panose="020B0603020202020204" pitchFamily="34" charset="0"/>
              <a:cs typeface="Times New Roman" panose="02020603050405020304" pitchFamily="18" charset="0"/>
            </a:endParaRPr>
          </a:p>
          <a:p>
            <a:pPr marL="342900" indent="-163513">
              <a:lnSpc>
                <a:spcPct val="110000"/>
              </a:lnSpc>
              <a:buClr>
                <a:srgbClr val="0B61FF"/>
              </a:buClr>
              <a:buSzPct val="120000"/>
              <a:buFont typeface="Arial" panose="020B0604020202020204" pitchFamily="34" charset="0"/>
              <a:buChar char="•"/>
            </a:pPr>
            <a:r>
              <a:rPr lang="en-US" altLang="zh-CN" sz="2400" dirty="0">
                <a:latin typeface="Trebuchet MS" panose="020B0603020202020204" pitchFamily="34" charset="0"/>
              </a:rPr>
              <a:t>Reverse Polish Notation (Postfix)</a:t>
            </a:r>
            <a:r>
              <a:rPr lang="en-US" altLang="zh-CN" sz="2400" b="1" dirty="0">
                <a:latin typeface="Trebuchet MS" panose="020B0603020202020204" pitchFamily="34" charset="0"/>
              </a:rPr>
              <a:t>:</a:t>
            </a:r>
          </a:p>
          <a:p>
            <a:pPr marL="177800" indent="179388">
              <a:lnSpc>
                <a:spcPct val="110000"/>
              </a:lnSpc>
              <a:buClr>
                <a:srgbClr val="0B61FF"/>
              </a:buClr>
              <a:buSzPct val="120000"/>
            </a:pPr>
            <a:r>
              <a:rPr lang="en-US" altLang="zh-CN" sz="2400" b="1" i="1" spc="300" dirty="0" err="1">
                <a:solidFill>
                  <a:srgbClr val="0B61FF"/>
                </a:solidFill>
                <a:latin typeface="Trebuchet MS" panose="020B0603020202020204" pitchFamily="34" charset="0"/>
                <a:cs typeface="Times New Roman" panose="02020603050405020304" pitchFamily="18" charset="0"/>
              </a:rPr>
              <a:t>bcd</a:t>
            </a:r>
            <a:r>
              <a:rPr lang="en-US" altLang="zh-CN" sz="2400" b="1" spc="300" dirty="0">
                <a:solidFill>
                  <a:srgbClr val="0B61FF"/>
                </a:solidFill>
                <a:latin typeface="Trebuchet MS" panose="020B0603020202020204" pitchFamily="34" charset="0"/>
                <a:cs typeface="Times New Roman" panose="02020603050405020304" pitchFamily="18" charset="0"/>
              </a:rPr>
              <a:t>++</a:t>
            </a:r>
            <a:r>
              <a:rPr lang="en-US" altLang="zh-CN" sz="2400" b="1" i="1" spc="300" dirty="0" err="1">
                <a:solidFill>
                  <a:srgbClr val="0B61FF"/>
                </a:solidFill>
                <a:latin typeface="Trebuchet MS" panose="020B0603020202020204" pitchFamily="34" charset="0"/>
                <a:cs typeface="Times New Roman" panose="02020603050405020304" pitchFamily="18" charset="0"/>
              </a:rPr>
              <a:t>a</a:t>
            </a:r>
            <a:r>
              <a:rPr lang="en-US" altLang="zh-CN" sz="2400" b="1" i="1" spc="300" dirty="0" err="1">
                <a:solidFill>
                  <a:srgbClr val="0B61FF"/>
                </a:solidFill>
                <a:latin typeface="Trebuchet MS" panose="020B0603020202020204" pitchFamily="34" charset="0"/>
                <a:cs typeface="Times New Roman" panose="02020603050405020304" pitchFamily="18" charset="0"/>
                <a:sym typeface="Symbol" panose="05050102010706020507" pitchFamily="18" charset="2"/>
              </a:rPr>
              <a:t></a:t>
            </a:r>
            <a:r>
              <a:rPr lang="en-US" altLang="zh-CN" sz="2400" b="1" i="1" spc="300" dirty="0" err="1">
                <a:solidFill>
                  <a:srgbClr val="0B61FF"/>
                </a:solidFill>
                <a:latin typeface="Trebuchet MS" panose="020B0603020202020204" pitchFamily="34" charset="0"/>
                <a:cs typeface="Times New Roman" panose="02020603050405020304" pitchFamily="18" charset="0"/>
              </a:rPr>
              <a:t>ef</a:t>
            </a:r>
            <a:r>
              <a:rPr lang="en-US" altLang="zh-CN" sz="2400" b="1" spc="300" dirty="0" err="1">
                <a:solidFill>
                  <a:srgbClr val="0B61FF"/>
                </a:solidFill>
                <a:latin typeface="Trebuchet MS" panose="020B0603020202020204" pitchFamily="34" charset="0"/>
                <a:cs typeface="Times New Roman" panose="02020603050405020304" pitchFamily="18" charset="0"/>
                <a:sym typeface="Symbol" panose="05050102010706020507" pitchFamily="18" charset="2"/>
              </a:rPr>
              <a:t></a:t>
            </a:r>
            <a:r>
              <a:rPr lang="en-US" altLang="zh-CN" sz="2400" b="1" i="1" spc="300" dirty="0" err="1">
                <a:solidFill>
                  <a:srgbClr val="0B61FF"/>
                </a:solidFill>
                <a:latin typeface="Trebuchet MS" panose="020B0603020202020204" pitchFamily="34" charset="0"/>
                <a:cs typeface="Times New Roman" panose="02020603050405020304" pitchFamily="18" charset="0"/>
              </a:rPr>
              <a:t>gh</a:t>
            </a:r>
            <a:r>
              <a:rPr lang="en-US" altLang="zh-CN" sz="2400" b="1" spc="300" dirty="0" err="1">
                <a:solidFill>
                  <a:srgbClr val="0B61FF"/>
                </a:solidFill>
                <a:latin typeface="Trebuchet MS" panose="020B0603020202020204" pitchFamily="34" charset="0"/>
                <a:cs typeface="Times New Roman" panose="02020603050405020304" pitchFamily="18" charset="0"/>
              </a:rPr>
              <a:t>+</a:t>
            </a:r>
            <a:r>
              <a:rPr lang="en-US" altLang="zh-CN" sz="2400" b="1" i="1" spc="300" dirty="0" err="1">
                <a:solidFill>
                  <a:srgbClr val="0B61FF"/>
                </a:solidFill>
                <a:latin typeface="Trebuchet MS" panose="020B0603020202020204" pitchFamily="34" charset="0"/>
                <a:cs typeface="Times New Roman" panose="02020603050405020304" pitchFamily="18" charset="0"/>
              </a:rPr>
              <a:t>ij</a:t>
            </a:r>
            <a:r>
              <a:rPr lang="en-US" altLang="zh-CN" sz="2400" b="1" spc="300" dirty="0">
                <a:solidFill>
                  <a:srgbClr val="0B61FF"/>
                </a:solidFill>
                <a:latin typeface="Trebuchet MS" panose="020B0603020202020204" pitchFamily="34" charset="0"/>
                <a:cs typeface="Times New Roman" panose="02020603050405020304" pitchFamily="18" charset="0"/>
                <a:sym typeface="Symbol" panose="05050102010706020507" pitchFamily="18" charset="2"/>
              </a:rPr>
              <a:t> </a:t>
            </a:r>
            <a:r>
              <a:rPr lang="en-US" altLang="zh-CN" sz="2400" b="1" spc="300" dirty="0">
                <a:solidFill>
                  <a:srgbClr val="0B61FF"/>
                </a:solidFill>
                <a:latin typeface="Trebuchet MS" panose="020B0603020202020204" pitchFamily="34" charset="0"/>
                <a:cs typeface="Times New Roman" panose="02020603050405020304" pitchFamily="18" charset="0"/>
              </a:rPr>
              <a:t> </a:t>
            </a:r>
          </a:p>
        </p:txBody>
      </p:sp>
    </p:spTree>
    <p:extLst>
      <p:ext uri="{BB962C8B-B14F-4D97-AF65-F5344CB8AC3E}">
        <p14:creationId xmlns:p14="http://schemas.microsoft.com/office/powerpoint/2010/main" val="1513043531"/>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25">
                                            <p:txEl>
                                              <p:pRg st="2" end="2"/>
                                            </p:txEl>
                                          </p:spTgt>
                                        </p:tgtEl>
                                        <p:attrNameLst>
                                          <p:attrName>style.visibility</p:attrName>
                                        </p:attrNameLst>
                                      </p:cBhvr>
                                      <p:to>
                                        <p:strVal val="visible"/>
                                      </p:to>
                                    </p:set>
                                    <p:animEffect transition="in" filter="fade">
                                      <p:cBhvr>
                                        <p:cTn id="7" dur="1000"/>
                                        <p:tgtEl>
                                          <p:spTgt spid="25">
                                            <p:txEl>
                                              <p:pRg st="2" end="2"/>
                                            </p:txEl>
                                          </p:spTgt>
                                        </p:tgtEl>
                                      </p:cBhvr>
                                    </p:animEffect>
                                    <p:anim calcmode="lin" valueType="num">
                                      <p:cBhvr>
                                        <p:cTn id="8" dur="1000" fill="hold"/>
                                        <p:tgtEl>
                                          <p:spTgt spid="25">
                                            <p:txEl>
                                              <p:pRg st="2" end="2"/>
                                            </p:txEl>
                                          </p:spTgt>
                                        </p:tgtEl>
                                        <p:attrNameLst>
                                          <p:attrName>ppt_x</p:attrName>
                                        </p:attrNameLst>
                                      </p:cBhvr>
                                      <p:tavLst>
                                        <p:tav tm="0">
                                          <p:val>
                                            <p:strVal val="#ppt_x"/>
                                          </p:val>
                                        </p:tav>
                                        <p:tav tm="100000">
                                          <p:val>
                                            <p:strVal val="#ppt_x"/>
                                          </p:val>
                                        </p:tav>
                                      </p:tavLst>
                                    </p:anim>
                                    <p:anim calcmode="lin" valueType="num">
                                      <p:cBhvr>
                                        <p:cTn id="9" dur="1000" fill="hold"/>
                                        <p:tgtEl>
                                          <p:spTgt spid="25">
                                            <p:txEl>
                                              <p:pRg st="2" end="2"/>
                                            </p:txEl>
                                          </p:spTgt>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3">
                                            <p:txEl>
                                              <p:pRg st="2" end="2"/>
                                            </p:txEl>
                                          </p:spTgt>
                                        </p:tgtEl>
                                        <p:attrNameLst>
                                          <p:attrName>style.visibility</p:attrName>
                                        </p:attrNameLst>
                                      </p:cBhvr>
                                      <p:to>
                                        <p:strVal val="visible"/>
                                      </p:to>
                                    </p:set>
                                    <p:animEffect transition="in" filter="fade">
                                      <p:cBhvr>
                                        <p:cTn id="12" dur="1000"/>
                                        <p:tgtEl>
                                          <p:spTgt spid="3">
                                            <p:txEl>
                                              <p:pRg st="2" end="2"/>
                                            </p:txEl>
                                          </p:spTgt>
                                        </p:tgtEl>
                                      </p:cBhvr>
                                    </p:animEffect>
                                    <p:anim calcmode="lin" valueType="num">
                                      <p:cBhvr>
                                        <p:cTn id="13"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14" dur="1000" fill="hold"/>
                                        <p:tgtEl>
                                          <p:spTgt spid="3">
                                            <p:txEl>
                                              <p:pRg st="2" end="2"/>
                                            </p:txEl>
                                          </p:spTgt>
                                        </p:tgtEl>
                                        <p:attrNameLst>
                                          <p:attrName>ppt_y</p:attrName>
                                        </p:attrNameLst>
                                      </p:cBhvr>
                                      <p:tavLst>
                                        <p:tav tm="0">
                                          <p:val>
                                            <p:strVal val="#ppt_y+.1"/>
                                          </p:val>
                                        </p:tav>
                                        <p:tav tm="100000">
                                          <p:val>
                                            <p:strVal val="#ppt_y"/>
                                          </p:val>
                                        </p:tav>
                                      </p:tavLst>
                                    </p:anim>
                                  </p:childTnLst>
                                </p:cTn>
                              </p:par>
                              <p:par>
                                <p:cTn id="15" presetID="42" presetClass="entr" presetSubtype="0" fill="hold" nodeType="with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animEffect transition="in" filter="fade">
                                      <p:cBhvr>
                                        <p:cTn id="17" dur="1000"/>
                                        <p:tgtEl>
                                          <p:spTgt spid="3">
                                            <p:txEl>
                                              <p:pRg st="3" end="3"/>
                                            </p:txEl>
                                          </p:spTgt>
                                        </p:tgtEl>
                                      </p:cBhvr>
                                    </p:animEffect>
                                    <p:anim calcmode="lin" valueType="num">
                                      <p:cBhvr>
                                        <p:cTn id="18" dur="1000" fill="hold"/>
                                        <p:tgtEl>
                                          <p:spTgt spid="3">
                                            <p:txEl>
                                              <p:pRg st="3" end="3"/>
                                            </p:txEl>
                                          </p:spTgt>
                                        </p:tgtEl>
                                        <p:attrNameLst>
                                          <p:attrName>ppt_x</p:attrName>
                                        </p:attrNameLst>
                                      </p:cBhvr>
                                      <p:tavLst>
                                        <p:tav tm="0">
                                          <p:val>
                                            <p:strVal val="#ppt_x"/>
                                          </p:val>
                                        </p:tav>
                                        <p:tav tm="100000">
                                          <p:val>
                                            <p:strVal val="#ppt_x"/>
                                          </p:val>
                                        </p:tav>
                                      </p:tavLst>
                                    </p:anim>
                                    <p:anim calcmode="lin" valueType="num">
                                      <p:cBhvr>
                                        <p:cTn id="19" dur="1000" fill="hold"/>
                                        <p:tgtEl>
                                          <p:spTgt spid="3">
                                            <p:txEl>
                                              <p:pRg st="3" end="3"/>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0" y="0"/>
            <a:ext cx="12192000" cy="762000"/>
          </a:xfrm>
          <a:prstGeom prst="rect">
            <a:avLst/>
          </a:prstGeom>
          <a:solidFill>
            <a:srgbClr val="002F7C"/>
          </a:solidFill>
        </p:spPr>
        <p:style>
          <a:lnRef idx="2">
            <a:schemeClr val="dk1">
              <a:shade val="50000"/>
            </a:schemeClr>
          </a:lnRef>
          <a:fillRef idx="1">
            <a:schemeClr val="dk1"/>
          </a:fillRef>
          <a:effectRef idx="0">
            <a:schemeClr val="dk1"/>
          </a:effectRef>
          <a:fontRef idx="minor">
            <a:schemeClr val="lt1"/>
          </a:fontRef>
        </p:style>
        <p:txBody>
          <a:bodyPr rtlCol="0" anchor="ctr"/>
          <a:lstStyle/>
          <a:p>
            <a:r>
              <a:rPr lang="en-US" altLang="zh-CN" sz="2400" b="1" dirty="0">
                <a:latin typeface="Trebuchet MS" panose="020B0603020202020204" pitchFamily="34" charset="0"/>
                <a:cs typeface="Times New Roman" panose="02020603050405020304" pitchFamily="18" charset="0"/>
              </a:rPr>
              <a:t>          7.2 Rooted Trees and Their Applications </a:t>
            </a:r>
            <a:r>
              <a:rPr lang="en-US" altLang="zh-CN" sz="2400" b="1" dirty="0">
                <a:solidFill>
                  <a:srgbClr val="CFA57C"/>
                </a:solidFill>
                <a:latin typeface="Trebuchet MS" panose="020B0603020202020204" pitchFamily="34" charset="0"/>
                <a:ea typeface="Cambria Math" panose="02040503050406030204" pitchFamily="18" charset="0"/>
                <a:cs typeface="Times New Roman" panose="02020603050405020304" pitchFamily="18" charset="0"/>
              </a:rPr>
              <a:t>•</a:t>
            </a:r>
            <a:r>
              <a:rPr lang="en-US" altLang="zh-CN" sz="2400" b="1" dirty="0">
                <a:latin typeface="Trebuchet MS" panose="020B0603020202020204" pitchFamily="34" charset="0"/>
                <a:ea typeface="Cambria Math" panose="02040503050406030204" pitchFamily="18" charset="0"/>
                <a:cs typeface="Times New Roman" panose="02020603050405020304" pitchFamily="18" charset="0"/>
              </a:rPr>
              <a:t> </a:t>
            </a:r>
            <a:r>
              <a:rPr lang="en-US" altLang="zh-CN" sz="2400" b="1" dirty="0">
                <a:latin typeface="Trebuchet MS" panose="020B0603020202020204" pitchFamily="34" charset="0"/>
                <a:cs typeface="Times New Roman" panose="02020603050405020304" pitchFamily="18" charset="0"/>
              </a:rPr>
              <a:t>Brief summary</a:t>
            </a:r>
            <a:endParaRPr lang="zh-CN" altLang="en-US" sz="2400" b="1" dirty="0">
              <a:latin typeface="Trebuchet MS" panose="020B0603020202020204" pitchFamily="34" charset="0"/>
              <a:cs typeface="Times New Roman" panose="02020603050405020304" pitchFamily="18" charset="0"/>
            </a:endParaRPr>
          </a:p>
        </p:txBody>
      </p:sp>
      <p:sp>
        <p:nvSpPr>
          <p:cNvPr id="13" name="矩形 12"/>
          <p:cNvSpPr/>
          <p:nvPr/>
        </p:nvSpPr>
        <p:spPr>
          <a:xfrm>
            <a:off x="824682" y="0"/>
            <a:ext cx="175443" cy="628650"/>
          </a:xfrm>
          <a:prstGeom prst="rect">
            <a:avLst/>
          </a:prstGeom>
          <a:solidFill>
            <a:srgbClr val="CFA57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22" name="Picture 6" descr="D:\MBA工作\LOGO\同济经管LOGO反白.png"/>
          <p:cNvPicPr>
            <a:picLocks noChangeAspect="1" noChangeArrowheads="1"/>
          </p:cNvPicPr>
          <p:nvPr/>
        </p:nvPicPr>
        <p:blipFill>
          <a:blip r:embed="rId3" cstate="email">
            <a:extLst>
              <a:ext uri="{28A0092B-C50C-407E-A947-70E740481C1C}">
                <a14:useLocalDpi xmlns:a14="http://schemas.microsoft.com/office/drawing/2010/main" val="0"/>
              </a:ext>
            </a:extLst>
          </a:blip>
          <a:srcRect/>
          <a:stretch>
            <a:fillRect/>
          </a:stretch>
        </p:blipFill>
        <p:spPr bwMode="auto">
          <a:xfrm>
            <a:off x="10267423" y="165688"/>
            <a:ext cx="1386605" cy="462962"/>
          </a:xfrm>
          <a:prstGeom prst="rect">
            <a:avLst/>
          </a:prstGeom>
          <a:noFill/>
          <a:extLst>
            <a:ext uri="{909E8E84-426E-40DD-AFC4-6F175D3DCCD1}">
              <a14:hiddenFill xmlns:a14="http://schemas.microsoft.com/office/drawing/2010/main">
                <a:solidFill>
                  <a:srgbClr val="FFFFFF"/>
                </a:solidFill>
              </a14:hiddenFill>
            </a:ext>
          </a:extLst>
        </p:spPr>
      </p:pic>
      <p:pic>
        <p:nvPicPr>
          <p:cNvPr id="2" name="图片 1" descr="微信图片_20220318113523"/>
          <p:cNvPicPr>
            <a:picLocks noChangeAspect="1"/>
          </p:cNvPicPr>
          <p:nvPr userDrawn="1"/>
        </p:nvPicPr>
        <p:blipFill>
          <a:blip r:embed="rId4"/>
          <a:stretch>
            <a:fillRect/>
          </a:stretch>
        </p:blipFill>
        <p:spPr>
          <a:xfrm>
            <a:off x="9291877" y="6115050"/>
            <a:ext cx="2244725" cy="361315"/>
          </a:xfrm>
          <a:prstGeom prst="rect">
            <a:avLst/>
          </a:prstGeom>
        </p:spPr>
      </p:pic>
      <p:sp>
        <p:nvSpPr>
          <p:cNvPr id="18" name="Rectangle 2">
            <a:extLst>
              <a:ext uri="{FF2B5EF4-FFF2-40B4-BE49-F238E27FC236}">
                <a16:creationId xmlns:a16="http://schemas.microsoft.com/office/drawing/2014/main" id="{E217C615-1D49-4D07-B850-D36106D7AA9A}"/>
              </a:ext>
            </a:extLst>
          </p:cNvPr>
          <p:cNvSpPr>
            <a:spLocks noChangeArrowheads="1"/>
          </p:cNvSpPr>
          <p:nvPr/>
        </p:nvSpPr>
        <p:spPr bwMode="auto">
          <a:xfrm>
            <a:off x="1000125" y="815365"/>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8" name="Rectangle 3">
            <a:extLst>
              <a:ext uri="{FF2B5EF4-FFF2-40B4-BE49-F238E27FC236}">
                <a16:creationId xmlns:a16="http://schemas.microsoft.com/office/drawing/2014/main" id="{8BF31B8E-C90A-43F8-8C26-F34466C89F87}"/>
              </a:ext>
            </a:extLst>
          </p:cNvPr>
          <p:cNvSpPr txBox="1">
            <a:spLocks noChangeArrowheads="1"/>
          </p:cNvSpPr>
          <p:nvPr/>
        </p:nvSpPr>
        <p:spPr>
          <a:xfrm>
            <a:off x="1403350" y="692149"/>
            <a:ext cx="8583131" cy="5582527"/>
          </a:xfrm>
          <a:prstGeom prst="rect">
            <a:avLst/>
          </a:prstGeom>
          <a:extLst>
            <a:ext uri="{91240B29-F687-4F45-9708-019B960494DF}">
              <a14:hiddenLine xmlns:a14="http://schemas.microsoft.com/office/drawing/2010/main" w="3175">
                <a:solidFill>
                  <a:srgbClr val="000000"/>
                </a:solidFill>
                <a:miter lim="800000"/>
                <a:headEnd/>
                <a:tailEnd/>
              </a14:hiddenLine>
            </a:ext>
          </a:extLst>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50000"/>
              </a:lnSpc>
              <a:buFont typeface="Wingdings" panose="05000000000000000000" pitchFamily="2" charset="2"/>
              <a:buNone/>
            </a:pPr>
            <a:r>
              <a:rPr lang="en-US" altLang="zh-CN" sz="2400" b="1" dirty="0"/>
              <a:t>Objective :</a:t>
            </a:r>
          </a:p>
          <a:p>
            <a:pPr>
              <a:lnSpc>
                <a:spcPct val="150000"/>
              </a:lnSpc>
              <a:buFont typeface="Wingdings" panose="05000000000000000000" pitchFamily="2" charset="2"/>
              <a:buNone/>
            </a:pPr>
            <a:endParaRPr lang="en-US" altLang="zh-CN" sz="2400" b="1" dirty="0"/>
          </a:p>
          <a:p>
            <a:pPr>
              <a:lnSpc>
                <a:spcPct val="150000"/>
              </a:lnSpc>
              <a:buFont typeface="Wingdings" panose="05000000000000000000" pitchFamily="2" charset="2"/>
              <a:buNone/>
            </a:pPr>
            <a:endParaRPr lang="en-US" altLang="zh-CN" sz="2400" b="1" dirty="0"/>
          </a:p>
          <a:p>
            <a:pPr>
              <a:lnSpc>
                <a:spcPct val="150000"/>
              </a:lnSpc>
              <a:buNone/>
            </a:pPr>
            <a:r>
              <a:rPr lang="en-US" altLang="zh-CN" sz="2400" b="1" dirty="0"/>
              <a:t>Key Concepts </a:t>
            </a:r>
            <a:r>
              <a:rPr lang="zh-CN" altLang="en-US" sz="2400" b="1" dirty="0"/>
              <a:t>： </a:t>
            </a:r>
            <a:endParaRPr lang="en-US" altLang="zh-CN" sz="2400" b="1" dirty="0"/>
          </a:p>
          <a:p>
            <a:pPr>
              <a:lnSpc>
                <a:spcPct val="150000"/>
              </a:lnSpc>
              <a:buFont typeface="Wingdings" panose="05000000000000000000" pitchFamily="2" charset="2"/>
              <a:buNone/>
            </a:pPr>
            <a:endParaRPr lang="zh-CN" altLang="en-US" sz="2400" b="1" dirty="0"/>
          </a:p>
        </p:txBody>
      </p:sp>
    </p:spTree>
    <p:extLst>
      <p:ext uri="{BB962C8B-B14F-4D97-AF65-F5344CB8AC3E}">
        <p14:creationId xmlns:p14="http://schemas.microsoft.com/office/powerpoint/2010/main" val="957345210"/>
      </p:ext>
    </p:extLst>
  </p:cSld>
  <p:clrMapOvr>
    <a:masterClrMapping/>
  </p:clrMapOvr>
  <mc:AlternateContent xmlns:mc="http://schemas.openxmlformats.org/markup-compatibility/2006" xmlns:p14="http://schemas.microsoft.com/office/powerpoint/2010/main">
    <mc:Choice Requires="p14">
      <p:transition p14:dur="50" advTm="20"/>
    </mc:Choice>
    <mc:Fallback xmlns="">
      <p:transition advTm="20"/>
    </mc:Fallback>
  </mc:AlternateContent>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0" y="0"/>
            <a:ext cx="12192000" cy="762000"/>
          </a:xfrm>
          <a:prstGeom prst="rect">
            <a:avLst/>
          </a:prstGeom>
          <a:solidFill>
            <a:srgbClr val="002F7C"/>
          </a:solidFill>
        </p:spPr>
        <p:style>
          <a:lnRef idx="2">
            <a:schemeClr val="dk1">
              <a:shade val="50000"/>
            </a:schemeClr>
          </a:lnRef>
          <a:fillRef idx="1">
            <a:schemeClr val="dk1"/>
          </a:fillRef>
          <a:effectRef idx="0">
            <a:schemeClr val="dk1"/>
          </a:effectRef>
          <a:fontRef idx="minor">
            <a:schemeClr val="lt1"/>
          </a:fontRef>
        </p:style>
        <p:txBody>
          <a:bodyPr rtlCol="0" anchor="ctr"/>
          <a:lstStyle/>
          <a:p>
            <a:r>
              <a:rPr lang="zh-CN" altLang="en-US" sz="2000" b="1" dirty="0">
                <a:latin typeface="Times New Roman" panose="02020603050405020304" pitchFamily="18" charset="0"/>
                <a:ea typeface="宋体" panose="02010600030101010101" pitchFamily="2" charset="-122"/>
                <a:cs typeface="Times New Roman" panose="02020603050405020304" pitchFamily="18" charset="0"/>
              </a:rPr>
              <a:t>                </a:t>
            </a:r>
            <a:r>
              <a:rPr lang="en-US" altLang="zh-CN" sz="2400" b="1" dirty="0">
                <a:latin typeface="Trebuchet MS" panose="020B0603020202020204" pitchFamily="34" charset="0"/>
              </a:rPr>
              <a:t>Chapter 7: Trees and Their Applications</a:t>
            </a:r>
            <a:r>
              <a:rPr lang="en-US" altLang="zh-CN" sz="2400" b="1" dirty="0">
                <a:solidFill>
                  <a:srgbClr val="CFA57C"/>
                </a:solidFill>
                <a:latin typeface="Trebuchet MS" panose="020B0603020202020204" pitchFamily="34" charset="0"/>
                <a:ea typeface="Cambria Math" panose="02040503050406030204" pitchFamily="18" charset="0"/>
                <a:cs typeface="Times New Roman" panose="02020603050405020304" pitchFamily="18" charset="0"/>
              </a:rPr>
              <a:t> •</a:t>
            </a:r>
            <a:r>
              <a:rPr lang="en-US" altLang="zh-CN" sz="2400" b="1" dirty="0">
                <a:latin typeface="Trebuchet MS" panose="020B0603020202020204" pitchFamily="34" charset="0"/>
                <a:ea typeface="Cambria Math" panose="02040503050406030204" pitchFamily="18" charset="0"/>
                <a:cs typeface="Times New Roman" panose="02020603050405020304" pitchFamily="18" charset="0"/>
              </a:rPr>
              <a:t> </a:t>
            </a:r>
            <a:r>
              <a:rPr lang="en-US" altLang="zh-CN" sz="2400" b="1" dirty="0">
                <a:latin typeface="Trebuchet MS" panose="020B0603020202020204" pitchFamily="34" charset="0"/>
                <a:cs typeface="Times New Roman" panose="02020603050405020304" pitchFamily="18" charset="0"/>
              </a:rPr>
              <a:t>Brief summary</a:t>
            </a:r>
            <a:endParaRPr lang="zh-CN" altLang="en-US" sz="2400" b="1" dirty="0">
              <a:solidFill>
                <a:srgbClr val="3D557A"/>
              </a:solidFill>
              <a:latin typeface="Trebuchet MS" panose="020B0603020202020204" pitchFamily="34" charset="0"/>
            </a:endParaRPr>
          </a:p>
        </p:txBody>
      </p:sp>
      <p:sp>
        <p:nvSpPr>
          <p:cNvPr id="13" name="矩形 12"/>
          <p:cNvSpPr/>
          <p:nvPr/>
        </p:nvSpPr>
        <p:spPr>
          <a:xfrm>
            <a:off x="824682" y="0"/>
            <a:ext cx="175443" cy="628650"/>
          </a:xfrm>
          <a:prstGeom prst="rect">
            <a:avLst/>
          </a:prstGeom>
          <a:solidFill>
            <a:srgbClr val="CFA57C"/>
          </a:solidFill>
          <a:ln cmpd="sng">
            <a:gradFill flip="none" rotWithShape="1">
              <a:gsLst>
                <a:gs pos="50000">
                  <a:schemeClr val="accent2">
                    <a:lumMod val="60000"/>
                    <a:lumOff val="40000"/>
                  </a:schemeClr>
                </a:gs>
                <a:gs pos="0">
                  <a:schemeClr val="accent2">
                    <a:lumMod val="20000"/>
                    <a:lumOff val="80000"/>
                  </a:schemeClr>
                </a:gs>
                <a:gs pos="95000">
                  <a:schemeClr val="accent2"/>
                </a:gs>
              </a:gsLst>
              <a:path path="circle">
                <a:fillToRect l="50000" t="-80000" r="50000" b="180000"/>
              </a:path>
              <a:tileRect/>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22" name="Picture 6" descr="D:\MBA工作\LOGO\同济经管LOGO反白.png"/>
          <p:cNvPicPr>
            <a:picLocks noChangeAspect="1" noChangeArrowheads="1"/>
          </p:cNvPicPr>
          <p:nvPr/>
        </p:nvPicPr>
        <p:blipFill>
          <a:blip r:embed="rId3" cstate="email">
            <a:extLst>
              <a:ext uri="{28A0092B-C50C-407E-A947-70E740481C1C}">
                <a14:useLocalDpi xmlns:a14="http://schemas.microsoft.com/office/drawing/2010/main" val="0"/>
              </a:ext>
            </a:extLst>
          </a:blip>
          <a:srcRect/>
          <a:stretch>
            <a:fillRect/>
          </a:stretch>
        </p:blipFill>
        <p:spPr bwMode="auto">
          <a:xfrm>
            <a:off x="10267423" y="165688"/>
            <a:ext cx="1386605" cy="462962"/>
          </a:xfrm>
          <a:prstGeom prst="rect">
            <a:avLst/>
          </a:prstGeom>
          <a:noFill/>
          <a:extLst>
            <a:ext uri="{909E8E84-426E-40DD-AFC4-6F175D3DCCD1}">
              <a14:hiddenFill xmlns:a14="http://schemas.microsoft.com/office/drawing/2010/main">
                <a:solidFill>
                  <a:srgbClr val="FFFFFF"/>
                </a:solidFill>
              </a14:hiddenFill>
            </a:ext>
          </a:extLst>
        </p:spPr>
      </p:pic>
      <p:pic>
        <p:nvPicPr>
          <p:cNvPr id="2" name="图片 1" descr="微信图片_20220318113523"/>
          <p:cNvPicPr>
            <a:picLocks noChangeAspect="1"/>
          </p:cNvPicPr>
          <p:nvPr userDrawn="1"/>
        </p:nvPicPr>
        <p:blipFill>
          <a:blip r:embed="rId4"/>
          <a:stretch>
            <a:fillRect/>
          </a:stretch>
        </p:blipFill>
        <p:spPr>
          <a:xfrm>
            <a:off x="9291877" y="6115050"/>
            <a:ext cx="2244725" cy="361315"/>
          </a:xfrm>
          <a:prstGeom prst="rect">
            <a:avLst/>
          </a:prstGeom>
        </p:spPr>
      </p:pic>
      <p:sp>
        <p:nvSpPr>
          <p:cNvPr id="18" name="Rectangle 2">
            <a:extLst>
              <a:ext uri="{FF2B5EF4-FFF2-40B4-BE49-F238E27FC236}">
                <a16:creationId xmlns:a16="http://schemas.microsoft.com/office/drawing/2014/main" id="{E217C615-1D49-4D07-B850-D36106D7AA9A}"/>
              </a:ext>
            </a:extLst>
          </p:cNvPr>
          <p:cNvSpPr>
            <a:spLocks noChangeArrowheads="1"/>
          </p:cNvSpPr>
          <p:nvPr/>
        </p:nvSpPr>
        <p:spPr bwMode="auto">
          <a:xfrm>
            <a:off x="1000125" y="815365"/>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8" name="Rectangle 3">
            <a:extLst>
              <a:ext uri="{FF2B5EF4-FFF2-40B4-BE49-F238E27FC236}">
                <a16:creationId xmlns:a16="http://schemas.microsoft.com/office/drawing/2014/main" id="{97F08C45-3D15-45C1-A5A3-D1EB58DC91FE}"/>
              </a:ext>
            </a:extLst>
          </p:cNvPr>
          <p:cNvSpPr txBox="1">
            <a:spLocks noChangeArrowheads="1"/>
          </p:cNvSpPr>
          <p:nvPr/>
        </p:nvSpPr>
        <p:spPr>
          <a:xfrm>
            <a:off x="824681" y="765175"/>
            <a:ext cx="8798289" cy="5788025"/>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indent="1828800">
              <a:lnSpc>
                <a:spcPct val="130000"/>
              </a:lnSpc>
              <a:spcBef>
                <a:spcPts val="600"/>
              </a:spcBef>
              <a:buNone/>
            </a:pPr>
            <a:endParaRPr lang="en-US" altLang="zh-CN" sz="2400" b="1" dirty="0">
              <a:latin typeface="Trebuchet MS" panose="020B0603020202020204" pitchFamily="34" charset="0"/>
            </a:endParaRPr>
          </a:p>
          <a:p>
            <a:pPr>
              <a:lnSpc>
                <a:spcPct val="130000"/>
              </a:lnSpc>
              <a:spcBef>
                <a:spcPts val="600"/>
              </a:spcBef>
              <a:buClr>
                <a:srgbClr val="0B61FF"/>
              </a:buClr>
              <a:buSzPct val="80000"/>
              <a:buFont typeface="Wingdings" panose="05000000000000000000" pitchFamily="2" charset="2"/>
              <a:buChar char="n"/>
            </a:pPr>
            <a:r>
              <a:rPr lang="en-US" altLang="zh-CN" sz="2400" b="1" dirty="0">
                <a:latin typeface="Trebuchet MS" panose="020B0603020202020204" pitchFamily="34" charset="0"/>
              </a:rPr>
              <a:t>7.1 Undirected Trees</a:t>
            </a:r>
          </a:p>
          <a:p>
            <a:pPr>
              <a:lnSpc>
                <a:spcPct val="130000"/>
              </a:lnSpc>
              <a:spcBef>
                <a:spcPts val="600"/>
              </a:spcBef>
              <a:buClr>
                <a:srgbClr val="0B61FF"/>
              </a:buClr>
              <a:buSzPct val="80000"/>
              <a:buFont typeface="Wingdings" panose="05000000000000000000" pitchFamily="2" charset="2"/>
              <a:buChar char="n"/>
            </a:pPr>
            <a:r>
              <a:rPr lang="en-US" altLang="zh-CN" sz="2400" b="1" dirty="0">
                <a:latin typeface="Trebuchet MS" panose="020B0603020202020204" pitchFamily="34" charset="0"/>
              </a:rPr>
              <a:t>7.2 Rooted Trees and Their Applications</a:t>
            </a:r>
            <a:endParaRPr lang="en-US" altLang="zh-CN" sz="2400" dirty="0">
              <a:latin typeface="Trebuchet MS" panose="020B0603020202020204" pitchFamily="34" charset="0"/>
            </a:endParaRPr>
          </a:p>
        </p:txBody>
      </p:sp>
    </p:spTree>
    <p:extLst>
      <p:ext uri="{BB962C8B-B14F-4D97-AF65-F5344CB8AC3E}">
        <p14:creationId xmlns:p14="http://schemas.microsoft.com/office/powerpoint/2010/main" val="1865997908"/>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12948</TotalTime>
  <Words>12602</Words>
  <Application>Microsoft Office PowerPoint</Application>
  <PresentationFormat>宽屏</PresentationFormat>
  <Paragraphs>1141</Paragraphs>
  <Slides>68</Slides>
  <Notes>66</Notes>
  <HiddenSlides>0</HiddenSlides>
  <MMClips>0</MMClips>
  <ScaleCrop>false</ScaleCrop>
  <HeadingPairs>
    <vt:vector size="8" baseType="variant">
      <vt:variant>
        <vt:lpstr>已用的字体</vt:lpstr>
      </vt:variant>
      <vt:variant>
        <vt:i4>15</vt:i4>
      </vt:variant>
      <vt:variant>
        <vt:lpstr>主题</vt:lpstr>
      </vt:variant>
      <vt:variant>
        <vt:i4>1</vt:i4>
      </vt:variant>
      <vt:variant>
        <vt:lpstr>嵌入 OLE 服务器</vt:lpstr>
      </vt:variant>
      <vt:variant>
        <vt:i4>1</vt:i4>
      </vt:variant>
      <vt:variant>
        <vt:lpstr>幻灯片标题</vt:lpstr>
      </vt:variant>
      <vt:variant>
        <vt:i4>68</vt:i4>
      </vt:variant>
    </vt:vector>
  </HeadingPairs>
  <TitlesOfParts>
    <vt:vector size="85" baseType="lpstr">
      <vt:lpstr>Arial Unicode MS</vt:lpstr>
      <vt:lpstr>Monotype Sorts</vt:lpstr>
      <vt:lpstr>ＭＳ Ｐゴシック</vt:lpstr>
      <vt:lpstr>Söhne</vt:lpstr>
      <vt:lpstr>华文行楷</vt:lpstr>
      <vt:lpstr>SimSun</vt:lpstr>
      <vt:lpstr>SimSun</vt:lpstr>
      <vt:lpstr>Arial</vt:lpstr>
      <vt:lpstr>Calibri</vt:lpstr>
      <vt:lpstr>Calibri Light</vt:lpstr>
      <vt:lpstr>Cambria Math</vt:lpstr>
      <vt:lpstr>Symbol</vt:lpstr>
      <vt:lpstr>Times New Roman</vt:lpstr>
      <vt:lpstr>Trebuchet MS</vt:lpstr>
      <vt:lpstr>Wingdings</vt:lpstr>
      <vt:lpstr>Office 主题</vt:lpstr>
      <vt:lpstr>Equation</vt:lpstr>
      <vt:lpstr> Discrete Mathematics 2025 Spring </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Tractability</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 Discrete Mathematics 2025 Spring </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7</dc:title>
  <dc:creator>..</dc:creator>
  <cp:lastModifiedBy>KejiWei</cp:lastModifiedBy>
  <cp:revision>952</cp:revision>
  <dcterms:created xsi:type="dcterms:W3CDTF">2017-07-24T02:14:00Z</dcterms:created>
  <dcterms:modified xsi:type="dcterms:W3CDTF">2025-08-16T14:05:31Z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2052-11.1.0.11365</vt:lpwstr>
  </property>
  <property fmtid="{D5CDD505-2E9C-101B-9397-08002B2CF9AE}" pid="3" name="ICV">
    <vt:lpwstr>73C6946277D1426C8BB6322F8B832BA4</vt:lpwstr>
  </property>
</Properties>
</file>