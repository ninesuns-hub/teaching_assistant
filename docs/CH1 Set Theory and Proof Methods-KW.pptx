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329" r:id="rId2"/>
    <p:sldId id="265" r:id="rId3"/>
    <p:sldId id="463" r:id="rId4"/>
    <p:sldId id="471" r:id="rId5"/>
    <p:sldId id="419" r:id="rId6"/>
    <p:sldId id="420" r:id="rId7"/>
    <p:sldId id="473" r:id="rId8"/>
    <p:sldId id="464" r:id="rId9"/>
    <p:sldId id="422" r:id="rId10"/>
    <p:sldId id="423" r:id="rId11"/>
    <p:sldId id="424" r:id="rId12"/>
    <p:sldId id="425" r:id="rId13"/>
    <p:sldId id="427" r:id="rId14"/>
    <p:sldId id="474" r:id="rId15"/>
    <p:sldId id="429" r:id="rId16"/>
    <p:sldId id="430" r:id="rId17"/>
    <p:sldId id="431" r:id="rId18"/>
    <p:sldId id="476" r:id="rId19"/>
    <p:sldId id="433" r:id="rId20"/>
    <p:sldId id="434" r:id="rId21"/>
    <p:sldId id="435" r:id="rId22"/>
    <p:sldId id="436" r:id="rId23"/>
    <p:sldId id="437" r:id="rId24"/>
    <p:sldId id="438" r:id="rId25"/>
    <p:sldId id="439" r:id="rId26"/>
    <p:sldId id="441" r:id="rId27"/>
    <p:sldId id="442" r:id="rId28"/>
    <p:sldId id="443" r:id="rId29"/>
    <p:sldId id="444" r:id="rId30"/>
    <p:sldId id="445" r:id="rId31"/>
    <p:sldId id="446" r:id="rId32"/>
    <p:sldId id="447" r:id="rId33"/>
    <p:sldId id="466" r:id="rId34"/>
    <p:sldId id="465" r:id="rId35"/>
    <p:sldId id="448" r:id="rId36"/>
    <p:sldId id="449" r:id="rId37"/>
    <p:sldId id="450" r:id="rId38"/>
    <p:sldId id="468" r:id="rId39"/>
    <p:sldId id="451" r:id="rId40"/>
    <p:sldId id="452" r:id="rId41"/>
    <p:sldId id="453" r:id="rId42"/>
    <p:sldId id="469" r:id="rId43"/>
    <p:sldId id="455" r:id="rId44"/>
    <p:sldId id="456" r:id="rId45"/>
    <p:sldId id="479" r:id="rId46"/>
    <p:sldId id="480" r:id="rId47"/>
    <p:sldId id="458" r:id="rId48"/>
    <p:sldId id="459" r:id="rId49"/>
    <p:sldId id="460" r:id="rId50"/>
    <p:sldId id="461" r:id="rId51"/>
    <p:sldId id="417" r:id="rId52"/>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2">
          <p15:clr>
            <a:srgbClr val="A4A3A4"/>
          </p15:clr>
        </p15:guide>
        <p15:guide id="2" pos="379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61FF"/>
    <a:srgbClr val="CFA57C"/>
    <a:srgbClr val="002F7C"/>
    <a:srgbClr val="104AA8"/>
    <a:srgbClr val="0C3EAC"/>
    <a:srgbClr val="3D557A"/>
    <a:srgbClr val="45566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01" autoAdjust="0"/>
    <p:restoredTop sz="66667" autoAdjust="0"/>
  </p:normalViewPr>
  <p:slideViewPr>
    <p:cSldViewPr snapToGrid="0" showGuides="1">
      <p:cViewPr varScale="1">
        <p:scale>
          <a:sx n="67" d="100"/>
          <a:sy n="67" d="100"/>
        </p:scale>
        <p:origin x="68" y="288"/>
      </p:cViewPr>
      <p:guideLst>
        <p:guide orient="horz" pos="2032"/>
        <p:guide pos="3798"/>
      </p:guideLst>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873E485D-0A46-47F7-A37C-0200B173D2B8}" type="datetimeFigureOut">
              <a:rPr lang="zh-CN" altLang="en-US" smtClean="0"/>
              <a:t>2025/3/6</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CAFE74B6-F93C-4D90-BE1A-7EFEDB35C0D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spcBef>
                    <a:spcPct val="50000"/>
                  </a:spcBef>
                </a:pPr>
                <a:r>
                  <a:rPr lang="zh-CN" altLang="en-US" b="1" dirty="0"/>
                  <a:t>集合定义及其表示法</a:t>
                </a:r>
              </a:p>
              <a:p>
                <a:pPr>
                  <a:spcBef>
                    <a:spcPct val="50000"/>
                  </a:spcBef>
                </a:pPr>
                <a:r>
                  <a:rPr lang="zh-CN" altLang="en-US" b="1" dirty="0"/>
                  <a:t>集合的包含</a:t>
                </a:r>
                <a:r>
                  <a:rPr lang="en-US" altLang="zh-CN" b="1" dirty="0"/>
                  <a:t>(</a:t>
                </a:r>
                <a:r>
                  <a:rPr lang="zh-CN" altLang="en-US" b="1" dirty="0"/>
                  <a:t>子集</a:t>
                </a:r>
                <a:r>
                  <a:rPr lang="en-US" altLang="zh-CN" b="1" dirty="0"/>
                  <a:t>)</a:t>
                </a:r>
                <a:r>
                  <a:rPr lang="zh-CN" altLang="en-US" b="1" dirty="0"/>
                  <a:t>与相等</a:t>
                </a:r>
              </a:p>
              <a:p>
                <a:pPr>
                  <a:spcBef>
                    <a:spcPct val="50000"/>
                  </a:spcBef>
                </a:pPr>
                <a:r>
                  <a:rPr lang="zh-CN" altLang="en-US" b="1" dirty="0"/>
                  <a:t>空集与全集</a:t>
                </a:r>
              </a:p>
              <a:p>
                <a:pPr>
                  <a:spcBef>
                    <a:spcPct val="50000"/>
                  </a:spcBef>
                </a:pPr>
                <a:r>
                  <a:rPr lang="zh-CN" altLang="en-US" b="1" dirty="0"/>
                  <a:t>集合运算</a:t>
                </a:r>
                <a:r>
                  <a:rPr lang="en-US" altLang="zh-CN" b="1" dirty="0"/>
                  <a:t>(</a:t>
                </a:r>
                <a:r>
                  <a:rPr lang="zh-CN" altLang="en-US" b="1" dirty="0"/>
                  <a:t>交</a:t>
                </a:r>
                <a14:m>
                  <m:oMath xmlns:m="http://schemas.openxmlformats.org/officeDocument/2006/math">
                    <m:r>
                      <a:rPr lang="zh-CN" altLang="en-US" b="1" i="1" smtClean="0">
                        <a:latin typeface="Cambria Math" panose="02040503050406030204" pitchFamily="18" charset="0"/>
                      </a:rPr>
                      <m:t>∩</m:t>
                    </m:r>
                  </m:oMath>
                </a14:m>
                <a:r>
                  <a:rPr lang="zh-CN" altLang="en-US" b="1" dirty="0"/>
                  <a:t>、并</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m:t>
                    </m:r>
                  </m:oMath>
                </a14:m>
                <a:r>
                  <a:rPr lang="zh-CN" altLang="en-US" b="1" dirty="0"/>
                  <a:t>、相对补</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m:t>
                    </m:r>
                  </m:oMath>
                </a14:m>
                <a:r>
                  <a:rPr lang="zh-CN" altLang="en-US" b="1" dirty="0"/>
                  <a:t>、对称差</a:t>
                </a:r>
                <a14:m>
                  <m:oMath xmlns:m="http://schemas.openxmlformats.org/officeDocument/2006/math">
                    <m:r>
                      <a:rPr lang="en-US" altLang="zh-CN" b="1" i="1" dirty="0" smtClean="0">
                        <a:latin typeface="Cambria Math" panose="02040503050406030204" pitchFamily="18" charset="0"/>
                        <a:sym typeface="Symbol" panose="05050102010706020507" pitchFamily="18" charset="2"/>
                      </a:rPr>
                      <m:t></m:t>
                    </m:r>
                  </m:oMath>
                </a14:m>
                <a:r>
                  <a:rPr lang="zh-CN" altLang="en-US" b="1" dirty="0"/>
                  <a:t>、绝对补</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m:t>
                    </m:r>
                  </m:oMath>
                </a14:m>
                <a:r>
                  <a:rPr lang="en-US" altLang="zh-CN" b="1" dirty="0"/>
                  <a:t>)</a:t>
                </a:r>
              </a:p>
              <a:p>
                <a:pPr>
                  <a:spcBef>
                    <a:spcPct val="50000"/>
                  </a:spcBef>
                </a:pPr>
                <a:r>
                  <a:rPr lang="zh-CN" altLang="en-US" b="1" dirty="0"/>
                  <a:t>集合运算的文氏表示</a:t>
                </a:r>
              </a:p>
              <a:p>
                <a:pPr>
                  <a:spcBef>
                    <a:spcPct val="50000"/>
                  </a:spcBef>
                </a:pPr>
                <a:r>
                  <a:rPr lang="zh-CN" altLang="en-US" b="1" dirty="0"/>
                  <a:t>集合运算基本恒等式</a:t>
                </a:r>
              </a:p>
              <a:p>
                <a:pPr>
                  <a:spcBef>
                    <a:spcPct val="50000"/>
                  </a:spcBef>
                </a:pPr>
                <a:r>
                  <a:rPr lang="zh-CN" altLang="en-US" b="1" dirty="0"/>
                  <a:t>部分恒等式证明</a:t>
                </a:r>
              </a:p>
              <a:p>
                <a:endParaRPr lang="zh-CN" altLang="en-US" dirty="0"/>
              </a:p>
            </p:txBody>
          </p:sp>
        </mc:Choice>
        <mc:Fallback xmlns="">
          <p:sp>
            <p:nvSpPr>
              <p:cNvPr id="3" name="备注占位符 2"/>
              <p:cNvSpPr>
                <a:spLocks noGrp="1"/>
              </p:cNvSpPr>
              <p:nvPr>
                <p:ph type="body" idx="1"/>
              </p:nvPr>
            </p:nvSpPr>
            <p:spPr/>
            <p:txBody>
              <a:bodyPr/>
              <a:lstStyle/>
              <a:p>
                <a:pPr>
                  <a:spcBef>
                    <a:spcPct val="50000"/>
                  </a:spcBef>
                </a:pPr>
                <a:r>
                  <a:rPr lang="zh-CN" altLang="en-US" b="1" dirty="0"/>
                  <a:t>集合定义及其表示法</a:t>
                </a:r>
              </a:p>
              <a:p>
                <a:pPr>
                  <a:spcBef>
                    <a:spcPct val="50000"/>
                  </a:spcBef>
                </a:pPr>
                <a:r>
                  <a:rPr lang="zh-CN" altLang="en-US" b="1" dirty="0"/>
                  <a:t>集合的包含</a:t>
                </a:r>
                <a:r>
                  <a:rPr lang="en-US" altLang="zh-CN" b="1" dirty="0"/>
                  <a:t>(</a:t>
                </a:r>
                <a:r>
                  <a:rPr lang="zh-CN" altLang="en-US" b="1" dirty="0"/>
                  <a:t>子集</a:t>
                </a:r>
                <a:r>
                  <a:rPr lang="en-US" altLang="zh-CN" b="1" dirty="0"/>
                  <a:t>)</a:t>
                </a:r>
                <a:r>
                  <a:rPr lang="zh-CN" altLang="en-US" b="1" dirty="0"/>
                  <a:t>与相等</a:t>
                </a:r>
              </a:p>
              <a:p>
                <a:pPr>
                  <a:spcBef>
                    <a:spcPct val="50000"/>
                  </a:spcBef>
                </a:pPr>
                <a:r>
                  <a:rPr lang="zh-CN" altLang="en-US" b="1" dirty="0"/>
                  <a:t>空集与全集</a:t>
                </a:r>
              </a:p>
              <a:p>
                <a:pPr>
                  <a:spcBef>
                    <a:spcPct val="50000"/>
                  </a:spcBef>
                </a:pPr>
                <a:r>
                  <a:rPr lang="zh-CN" altLang="en-US" b="1" dirty="0"/>
                  <a:t>集合运算</a:t>
                </a:r>
                <a:r>
                  <a:rPr lang="en-US" altLang="zh-CN" b="1" dirty="0"/>
                  <a:t>(</a:t>
                </a:r>
                <a:r>
                  <a:rPr lang="zh-CN" altLang="en-US" b="1" dirty="0"/>
                  <a:t>交</a:t>
                </a:r>
                <a:r>
                  <a:rPr lang="zh-CN" altLang="en-US" b="1" i="0">
                    <a:latin typeface="Cambria Math" panose="02040503050406030204" pitchFamily="18" charset="0"/>
                  </a:rPr>
                  <a:t>∩</a:t>
                </a:r>
                <a:r>
                  <a:rPr lang="zh-CN" altLang="en-US" b="1" dirty="0"/>
                  <a:t>、并</a:t>
                </a:r>
                <a:r>
                  <a:rPr lang="en-US" altLang="zh-CN" b="1" i="0" dirty="0">
                    <a:latin typeface="Cambria Math" panose="02040503050406030204" pitchFamily="18" charset="0"/>
                    <a:ea typeface="Cambria Math" panose="02040503050406030204" pitchFamily="18" charset="0"/>
                    <a:sym typeface="Symbol" panose="05050102010706020507" pitchFamily="18" charset="2"/>
                  </a:rPr>
                  <a:t>∪</a:t>
                </a:r>
                <a:r>
                  <a:rPr lang="zh-CN" altLang="en-US" b="1" dirty="0"/>
                  <a:t>、相对补</a:t>
                </a:r>
                <a:r>
                  <a:rPr lang="en-US" altLang="zh-CN" b="1" i="0" dirty="0">
                    <a:latin typeface="Cambria Math" panose="02040503050406030204" pitchFamily="18" charset="0"/>
                    <a:ea typeface="Cambria Math" panose="02040503050406030204" pitchFamily="18" charset="0"/>
                    <a:sym typeface="Symbol" panose="05050102010706020507" pitchFamily="18" charset="2"/>
                  </a:rPr>
                  <a:t>−</a:t>
                </a:r>
                <a:r>
                  <a:rPr lang="zh-CN" altLang="en-US" b="1" dirty="0"/>
                  <a:t>、对称差</a:t>
                </a:r>
                <a:r>
                  <a:rPr lang="en-US" altLang="zh-CN" b="1" i="0" dirty="0">
                    <a:latin typeface="Cambria Math" panose="02040503050406030204" pitchFamily="18" charset="0"/>
                    <a:sym typeface="Symbol" panose="05050102010706020507" pitchFamily="18" charset="2"/>
                  </a:rPr>
                  <a:t></a:t>
                </a:r>
                <a:r>
                  <a:rPr lang="zh-CN" altLang="en-US" b="1" dirty="0"/>
                  <a:t>、绝对补</a:t>
                </a:r>
                <a:r>
                  <a:rPr lang="en-US" altLang="zh-CN" b="1" i="0" dirty="0">
                    <a:latin typeface="Cambria Math" panose="02040503050406030204" pitchFamily="18" charset="0"/>
                    <a:ea typeface="Cambria Math" panose="02040503050406030204" pitchFamily="18" charset="0"/>
                    <a:sym typeface="Symbol" panose="05050102010706020507" pitchFamily="18" charset="2"/>
                  </a:rPr>
                  <a:t>~</a:t>
                </a:r>
                <a:r>
                  <a:rPr lang="en-US" altLang="zh-CN" b="1" dirty="0"/>
                  <a:t>)</a:t>
                </a:r>
              </a:p>
              <a:p>
                <a:pPr>
                  <a:spcBef>
                    <a:spcPct val="50000"/>
                  </a:spcBef>
                </a:pPr>
                <a:r>
                  <a:rPr lang="zh-CN" altLang="en-US" b="1" dirty="0"/>
                  <a:t>集合运算的文氏表示</a:t>
                </a:r>
              </a:p>
              <a:p>
                <a:pPr>
                  <a:spcBef>
                    <a:spcPct val="50000"/>
                  </a:spcBef>
                </a:pPr>
                <a:r>
                  <a:rPr lang="zh-CN" altLang="en-US" b="1" dirty="0"/>
                  <a:t>集合运算基本恒等式</a:t>
                </a:r>
              </a:p>
              <a:p>
                <a:pPr>
                  <a:spcBef>
                    <a:spcPct val="50000"/>
                  </a:spcBef>
                </a:pPr>
                <a:r>
                  <a:rPr lang="zh-CN" altLang="en-US" b="1" dirty="0"/>
                  <a:t>部分恒等式证明</a:t>
                </a: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3</a:t>
            </a:fld>
            <a:endParaRPr lang="zh-CN" altLang="en-US"/>
          </a:p>
        </p:txBody>
      </p:sp>
    </p:spTree>
    <p:extLst>
      <p:ext uri="{BB962C8B-B14F-4D97-AF65-F5344CB8AC3E}">
        <p14:creationId xmlns:p14="http://schemas.microsoft.com/office/powerpoint/2010/main" val="35247630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a:spcBef>
                    <a:spcPct val="50000"/>
                  </a:spcBef>
                </a:pPr>
                <a:r>
                  <a:rPr lang="zh-CN" altLang="en-US" b="1" dirty="0"/>
                  <a:t>集合定义及其表示法</a:t>
                </a:r>
              </a:p>
              <a:p>
                <a:pPr>
                  <a:spcBef>
                    <a:spcPct val="50000"/>
                  </a:spcBef>
                </a:pPr>
                <a:r>
                  <a:rPr lang="zh-CN" altLang="en-US" b="1" dirty="0"/>
                  <a:t>集合的包含</a:t>
                </a:r>
                <a:r>
                  <a:rPr lang="en-US" altLang="zh-CN" b="1" dirty="0"/>
                  <a:t>(</a:t>
                </a:r>
                <a:r>
                  <a:rPr lang="zh-CN" altLang="en-US" b="1" dirty="0"/>
                  <a:t>子集</a:t>
                </a:r>
                <a:r>
                  <a:rPr lang="en-US" altLang="zh-CN" b="1" dirty="0"/>
                  <a:t>)</a:t>
                </a:r>
                <a:r>
                  <a:rPr lang="zh-CN" altLang="en-US" b="1" dirty="0"/>
                  <a:t>与相等</a:t>
                </a:r>
              </a:p>
              <a:p>
                <a:pPr>
                  <a:spcBef>
                    <a:spcPct val="50000"/>
                  </a:spcBef>
                </a:pPr>
                <a:r>
                  <a:rPr lang="zh-CN" altLang="en-US" b="1" dirty="0"/>
                  <a:t>空集与全集</a:t>
                </a:r>
              </a:p>
              <a:p>
                <a:pPr>
                  <a:spcBef>
                    <a:spcPct val="50000"/>
                  </a:spcBef>
                </a:pPr>
                <a:r>
                  <a:rPr lang="zh-CN" altLang="en-US" b="1" dirty="0"/>
                  <a:t>集合运算</a:t>
                </a:r>
                <a:r>
                  <a:rPr lang="en-US" altLang="zh-CN" b="1" dirty="0"/>
                  <a:t>(</a:t>
                </a:r>
                <a:r>
                  <a:rPr lang="zh-CN" altLang="en-US" b="1" dirty="0"/>
                  <a:t>交</a:t>
                </a:r>
                <a14:m>
                  <m:oMath xmlns:m="http://schemas.openxmlformats.org/officeDocument/2006/math">
                    <m:r>
                      <a:rPr lang="zh-CN" altLang="en-US" b="1" i="1" smtClean="0">
                        <a:latin typeface="Cambria Math" panose="02040503050406030204" pitchFamily="18" charset="0"/>
                      </a:rPr>
                      <m:t>∩</m:t>
                    </m:r>
                  </m:oMath>
                </a14:m>
                <a:r>
                  <a:rPr lang="zh-CN" altLang="en-US" b="1" dirty="0"/>
                  <a:t>、并</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m:t>
                    </m:r>
                  </m:oMath>
                </a14:m>
                <a:r>
                  <a:rPr lang="zh-CN" altLang="en-US" b="1" dirty="0"/>
                  <a:t>、相对补</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m:t>
                    </m:r>
                  </m:oMath>
                </a14:m>
                <a:r>
                  <a:rPr lang="zh-CN" altLang="en-US" b="1" dirty="0"/>
                  <a:t>、对称差</a:t>
                </a:r>
                <a14:m>
                  <m:oMath xmlns:m="http://schemas.openxmlformats.org/officeDocument/2006/math">
                    <m:r>
                      <a:rPr lang="en-US" altLang="zh-CN" b="1" i="1" dirty="0" smtClean="0">
                        <a:latin typeface="Cambria Math" panose="02040503050406030204" pitchFamily="18" charset="0"/>
                        <a:sym typeface="Symbol" panose="05050102010706020507" pitchFamily="18" charset="2"/>
                      </a:rPr>
                      <m:t></m:t>
                    </m:r>
                  </m:oMath>
                </a14:m>
                <a:r>
                  <a:rPr lang="zh-CN" altLang="en-US" b="1" dirty="0"/>
                  <a:t>、绝对补</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sym typeface="Symbol" panose="05050102010706020507" pitchFamily="18" charset="2"/>
                      </a:rPr>
                      <m:t>~</m:t>
                    </m:r>
                  </m:oMath>
                </a14:m>
                <a:r>
                  <a:rPr lang="en-US" altLang="zh-CN" b="1" dirty="0"/>
                  <a:t>)</a:t>
                </a:r>
              </a:p>
              <a:p>
                <a:pPr>
                  <a:spcBef>
                    <a:spcPct val="50000"/>
                  </a:spcBef>
                </a:pPr>
                <a:r>
                  <a:rPr lang="zh-CN" altLang="en-US" b="1" dirty="0"/>
                  <a:t>集合运算的文氏表示</a:t>
                </a:r>
              </a:p>
              <a:p>
                <a:pPr>
                  <a:spcBef>
                    <a:spcPct val="50000"/>
                  </a:spcBef>
                </a:pPr>
                <a:r>
                  <a:rPr lang="zh-CN" altLang="en-US" b="1" dirty="0"/>
                  <a:t>集合运算基本恒等式</a:t>
                </a:r>
              </a:p>
              <a:p>
                <a:pPr>
                  <a:spcBef>
                    <a:spcPct val="50000"/>
                  </a:spcBef>
                </a:pPr>
                <a:r>
                  <a:rPr lang="zh-CN" altLang="en-US" b="1" dirty="0"/>
                  <a:t>部分恒等式证明</a:t>
                </a:r>
              </a:p>
              <a:p>
                <a:pPr eaLnBrk="1" hangingPunct="1">
                  <a:buFontTx/>
                  <a:buNone/>
                </a:pPr>
                <a:r>
                  <a:rPr lang="zh-CN" altLang="en-US" sz="800" b="1" baseline="0" dirty="0"/>
                  <a:t>朴素集合论(康托, </a:t>
                </a:r>
                <a:r>
                  <a:rPr lang="en-US" altLang="zh-CN" sz="800" b="1" baseline="0" dirty="0" err="1"/>
                  <a:t>G.Cantor</a:t>
                </a:r>
                <a:r>
                  <a:rPr lang="en-US" altLang="zh-CN" sz="800" b="1" baseline="0" dirty="0"/>
                  <a:t>),     </a:t>
                </a:r>
                <a:r>
                  <a:rPr lang="zh-CN" altLang="en-US" sz="800" b="1" baseline="0" dirty="0"/>
                  <a:t>罗素(</a:t>
                </a:r>
                <a:r>
                  <a:rPr lang="en-US" altLang="zh-CN" sz="800" b="1" baseline="0" dirty="0"/>
                  <a:t>Russell)</a:t>
                </a:r>
                <a:r>
                  <a:rPr lang="zh-CN" altLang="en-US" sz="800" b="1" baseline="0" dirty="0"/>
                  <a:t>悖论</a:t>
                </a:r>
              </a:p>
              <a:p>
                <a:pPr eaLnBrk="1" hangingPunct="1">
                  <a:spcBef>
                    <a:spcPct val="80000"/>
                  </a:spcBef>
                  <a:buFontTx/>
                  <a:buNone/>
                </a:pPr>
                <a:r>
                  <a:rPr lang="zh-CN" altLang="en-US" sz="800" b="1" baseline="0" dirty="0">
                    <a:solidFill>
                      <a:srgbClr val="FF0000"/>
                    </a:solidFill>
                  </a:rPr>
                  <a:t>集合</a:t>
                </a:r>
                <a:r>
                  <a:rPr lang="zh-CN" altLang="en-US" sz="800" b="1" baseline="0" dirty="0"/>
                  <a:t>是数学中最基本的概念,没有严格的定义 </a:t>
                </a:r>
              </a:p>
              <a:p>
                <a:pPr eaLnBrk="1" hangingPunct="1">
                  <a:buFontTx/>
                  <a:buNone/>
                </a:pPr>
                <a:r>
                  <a:rPr lang="zh-CN" altLang="en-US" sz="800" b="1" baseline="0" dirty="0"/>
                  <a:t>    理解成某些个体组成的整体, 常用</a:t>
                </a:r>
                <a:r>
                  <a:rPr lang="en-US" altLang="zh-CN" sz="800" b="1" i="1" baseline="0" dirty="0"/>
                  <a:t>A,B,C</a:t>
                </a:r>
                <a:r>
                  <a:rPr lang="zh-CN" altLang="en-US" sz="800" b="1" baseline="0" dirty="0"/>
                  <a:t>等表示</a:t>
                </a:r>
              </a:p>
              <a:p>
                <a:pPr eaLnBrk="1" hangingPunct="1">
                  <a:buFontTx/>
                  <a:buNone/>
                </a:pPr>
                <a:r>
                  <a:rPr lang="zh-CN" altLang="en-US" sz="800" b="1" baseline="0" dirty="0">
                    <a:solidFill>
                      <a:srgbClr val="FF0000"/>
                    </a:solidFill>
                  </a:rPr>
                  <a:t>元素</a:t>
                </a:r>
                <a:r>
                  <a:rPr lang="zh-CN" altLang="en-US" sz="800" b="1" baseline="0" dirty="0"/>
                  <a:t>:集合中的个体</a:t>
                </a:r>
              </a:p>
              <a:p>
                <a:pPr eaLnBrk="1" hangingPunct="1">
                  <a:spcBef>
                    <a:spcPct val="80000"/>
                  </a:spcBef>
                  <a:buFontTx/>
                  <a:buNone/>
                </a:pPr>
                <a:r>
                  <a:rPr lang="en-US" altLang="zh-CN" sz="800" b="1" i="1" baseline="0" dirty="0" err="1">
                    <a:solidFill>
                      <a:srgbClr val="FF0000"/>
                    </a:solidFill>
                  </a:rPr>
                  <a:t>x</a:t>
                </a:r>
                <a:r>
                  <a:rPr lang="en-US" altLang="zh-CN" sz="800" b="1" baseline="0" dirty="0" err="1">
                    <a:solidFill>
                      <a:srgbClr val="FF0000"/>
                    </a:solidFill>
                    <a:sym typeface="Symbol" panose="05050102010706020507" pitchFamily="18" charset="2"/>
                  </a:rPr>
                  <a:t></a:t>
                </a:r>
                <a:r>
                  <a:rPr lang="en-US" altLang="zh-CN" sz="800" b="1" i="1" baseline="0" dirty="0" err="1">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en-US" altLang="zh-CN" sz="800" b="1" i="1" baseline="0" dirty="0">
                    <a:solidFill>
                      <a:srgbClr val="FF0000"/>
                    </a:solidFill>
                  </a:rPr>
                  <a:t>x</a:t>
                </a:r>
                <a:r>
                  <a:rPr lang="zh-CN" altLang="en-US" sz="800" b="1" baseline="0" dirty="0">
                    <a:solidFill>
                      <a:srgbClr val="FF0000"/>
                    </a:solidFill>
                    <a:sym typeface="Symbol" panose="05050102010706020507" pitchFamily="18" charset="2"/>
                  </a:rPr>
                  <a:t>属于</a:t>
                </a:r>
                <a:r>
                  <a:rPr lang="en-US" altLang="zh-CN" sz="800" b="1" i="1" baseline="0" dirty="0">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zh-CN" altLang="en-US" sz="800" b="1" baseline="0" dirty="0">
                    <a:sym typeface="Symbol" panose="05050102010706020507" pitchFamily="18" charset="2"/>
                  </a:rPr>
                  <a:t>: </a:t>
                </a:r>
                <a:r>
                  <a:rPr lang="en-US" altLang="zh-CN" sz="800" b="1" i="1" baseline="0" dirty="0"/>
                  <a:t>x</a:t>
                </a:r>
                <a:r>
                  <a:rPr lang="zh-CN" altLang="en-US" sz="800" b="1" baseline="0" dirty="0">
                    <a:sym typeface="Symbol" panose="05050102010706020507" pitchFamily="18" charset="2"/>
                  </a:rPr>
                  <a:t>是</a:t>
                </a:r>
                <a:r>
                  <a:rPr lang="en-US" altLang="zh-CN" sz="800" b="1" i="1" baseline="0" dirty="0">
                    <a:sym typeface="Symbol" panose="05050102010706020507" pitchFamily="18" charset="2"/>
                  </a:rPr>
                  <a:t>A</a:t>
                </a:r>
                <a:r>
                  <a:rPr lang="zh-CN" altLang="en-US" sz="800" b="1" baseline="0" dirty="0">
                    <a:sym typeface="Symbol" panose="05050102010706020507" pitchFamily="18" charset="2"/>
                  </a:rPr>
                  <a:t>的元素 </a:t>
                </a:r>
              </a:p>
              <a:p>
                <a:pPr eaLnBrk="1" hangingPunct="1">
                  <a:buFontTx/>
                  <a:buNone/>
                </a:pPr>
                <a:r>
                  <a:rPr lang="en-US" altLang="zh-CN" sz="800" b="1" i="1" baseline="0" dirty="0" err="1">
                    <a:solidFill>
                      <a:srgbClr val="FF0000"/>
                    </a:solidFill>
                    <a:sym typeface="Symbol" panose="05050102010706020507" pitchFamily="18" charset="2"/>
                  </a:rPr>
                  <a:t>x</a:t>
                </a:r>
                <a:r>
                  <a:rPr lang="en-US" altLang="zh-CN" sz="800" b="1" baseline="0" dirty="0" err="1">
                    <a:solidFill>
                      <a:srgbClr val="FF0000"/>
                    </a:solidFill>
                    <a:sym typeface="Symbol" panose="05050102010706020507" pitchFamily="18" charset="2"/>
                  </a:rPr>
                  <a:t></a:t>
                </a:r>
                <a:r>
                  <a:rPr lang="en-US" altLang="zh-CN" sz="800" b="1" i="1" baseline="0" dirty="0" err="1">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en-US" altLang="zh-CN" sz="800" b="1" i="1" baseline="0" dirty="0">
                    <a:solidFill>
                      <a:srgbClr val="FF0000"/>
                    </a:solidFill>
                  </a:rPr>
                  <a:t>x</a:t>
                </a:r>
                <a:r>
                  <a:rPr lang="zh-CN" altLang="en-US" sz="800" b="1" baseline="0" dirty="0">
                    <a:solidFill>
                      <a:srgbClr val="FF0000"/>
                    </a:solidFill>
                  </a:rPr>
                  <a:t>不</a:t>
                </a:r>
                <a:r>
                  <a:rPr lang="zh-CN" altLang="en-US" sz="800" b="1" baseline="0" dirty="0">
                    <a:solidFill>
                      <a:srgbClr val="FF0000"/>
                    </a:solidFill>
                    <a:sym typeface="Symbol" panose="05050102010706020507" pitchFamily="18" charset="2"/>
                  </a:rPr>
                  <a:t>属于</a:t>
                </a:r>
                <a:r>
                  <a:rPr lang="en-US" altLang="zh-CN" sz="800" b="1" i="1" baseline="0" dirty="0">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zh-CN" altLang="en-US" sz="800" b="1" baseline="0" dirty="0">
                    <a:sym typeface="Symbol" panose="05050102010706020507" pitchFamily="18" charset="2"/>
                  </a:rPr>
                  <a:t>: </a:t>
                </a:r>
                <a:r>
                  <a:rPr lang="en-US" altLang="zh-CN" sz="800" b="1" i="1" baseline="0" dirty="0"/>
                  <a:t>x</a:t>
                </a:r>
                <a:r>
                  <a:rPr lang="zh-CN" altLang="en-US" sz="800" b="1" baseline="0" dirty="0"/>
                  <a:t>不</a:t>
                </a:r>
                <a:r>
                  <a:rPr lang="zh-CN" altLang="en-US" sz="800" b="1" baseline="0" dirty="0">
                    <a:sym typeface="Symbol" panose="05050102010706020507" pitchFamily="18" charset="2"/>
                  </a:rPr>
                  <a:t>是</a:t>
                </a:r>
                <a:r>
                  <a:rPr lang="en-US" altLang="zh-CN" sz="800" b="1" i="1" baseline="0" dirty="0">
                    <a:sym typeface="Symbol" panose="05050102010706020507" pitchFamily="18" charset="2"/>
                  </a:rPr>
                  <a:t>A</a:t>
                </a:r>
                <a:r>
                  <a:rPr lang="zh-CN" altLang="en-US" sz="800" b="1" baseline="0" dirty="0">
                    <a:sym typeface="Symbol" panose="05050102010706020507" pitchFamily="18" charset="2"/>
                  </a:rPr>
                  <a:t>的元素</a:t>
                </a:r>
              </a:p>
              <a:p>
                <a:pPr eaLnBrk="1" hangingPunct="1">
                  <a:spcBef>
                    <a:spcPct val="80000"/>
                  </a:spcBef>
                  <a:buFontTx/>
                  <a:buNone/>
                </a:pPr>
                <a:r>
                  <a:rPr lang="zh-CN" altLang="en-US" sz="800" b="1" baseline="0" dirty="0">
                    <a:solidFill>
                      <a:srgbClr val="FF0000"/>
                    </a:solidFill>
                  </a:rPr>
                  <a:t>无穷集</a:t>
                </a:r>
                <a:r>
                  <a:rPr lang="zh-CN" altLang="en-US" sz="800" b="1" baseline="0" dirty="0"/>
                  <a:t>:元素个数无限的集合</a:t>
                </a:r>
              </a:p>
              <a:p>
                <a:pPr eaLnBrk="1" hangingPunct="1">
                  <a:buFontTx/>
                  <a:buNone/>
                </a:pPr>
                <a:r>
                  <a:rPr lang="zh-CN" altLang="en-US" sz="800" b="1" baseline="0" dirty="0">
                    <a:solidFill>
                      <a:srgbClr val="FF0000"/>
                    </a:solidFill>
                  </a:rPr>
                  <a:t>有穷集(有限集)</a:t>
                </a:r>
                <a:r>
                  <a:rPr lang="zh-CN" altLang="en-US" sz="800" b="1" baseline="0" dirty="0">
                    <a:solidFill>
                      <a:schemeClr val="tx2"/>
                    </a:solidFill>
                  </a:rPr>
                  <a:t>:</a:t>
                </a:r>
                <a:r>
                  <a:rPr lang="zh-CN" altLang="en-US" sz="800" b="1" baseline="0" dirty="0"/>
                  <a:t>元素个数有限的集合.   </a:t>
                </a:r>
                <a:r>
                  <a:rPr lang="zh-CN" altLang="en-US" sz="800" b="1" baseline="0" dirty="0">
                    <a:solidFill>
                      <a:srgbClr val="FF0000"/>
                    </a:solidFill>
                    <a:sym typeface="Symbol" panose="05050102010706020507" pitchFamily="18" charset="2"/>
                  </a:rPr>
                  <a:t>|</a:t>
                </a:r>
                <a:r>
                  <a:rPr lang="en-US" altLang="zh-CN" sz="800" b="1" i="1" baseline="0" dirty="0">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en-US" altLang="zh-CN" sz="800" b="1" baseline="0" dirty="0">
                    <a:sym typeface="Symbol" panose="05050102010706020507" pitchFamily="18" charset="2"/>
                  </a:rPr>
                  <a:t>:</a:t>
                </a:r>
                <a:r>
                  <a:rPr lang="en-US" altLang="zh-CN" sz="800" b="1" i="1" baseline="0" dirty="0">
                    <a:sym typeface="Symbol" panose="05050102010706020507" pitchFamily="18" charset="2"/>
                  </a:rPr>
                  <a:t>A</a:t>
                </a:r>
                <a:r>
                  <a:rPr lang="zh-CN" altLang="en-US" sz="800" b="1" baseline="0" dirty="0">
                    <a:sym typeface="Symbol" panose="05050102010706020507" pitchFamily="18" charset="2"/>
                  </a:rPr>
                  <a:t>中元素个数</a:t>
                </a:r>
                <a:endParaRPr lang="zh-CN" altLang="en-US" sz="800" b="1" baseline="0" dirty="0">
                  <a:solidFill>
                    <a:schemeClr val="tx2"/>
                  </a:solidFill>
                </a:endParaRPr>
              </a:p>
              <a:p>
                <a:pPr eaLnBrk="1" hangingPunct="1">
                  <a:buFontTx/>
                  <a:buNone/>
                </a:pPr>
                <a:r>
                  <a:rPr lang="en-US" altLang="zh-CN" sz="800" b="1" i="1" baseline="0" dirty="0">
                    <a:solidFill>
                      <a:srgbClr val="FF0000"/>
                    </a:solidFill>
                  </a:rPr>
                  <a:t>k</a:t>
                </a:r>
                <a:r>
                  <a:rPr lang="zh-CN" altLang="en-US" sz="800" b="1" baseline="0" dirty="0">
                    <a:solidFill>
                      <a:srgbClr val="FF0000"/>
                    </a:solidFill>
                  </a:rPr>
                  <a:t>元集</a:t>
                </a:r>
                <a:r>
                  <a:rPr lang="zh-CN" altLang="en-US" sz="800" b="1" baseline="0" dirty="0">
                    <a:solidFill>
                      <a:schemeClr val="tx2"/>
                    </a:solidFill>
                  </a:rPr>
                  <a:t>:</a:t>
                </a:r>
                <a:r>
                  <a:rPr lang="en-US" altLang="zh-CN" sz="800" b="1" i="1" baseline="0" dirty="0">
                    <a:solidFill>
                      <a:schemeClr val="tx2"/>
                    </a:solidFill>
                  </a:rPr>
                  <a:t>k</a:t>
                </a:r>
                <a:r>
                  <a:rPr lang="zh-CN" altLang="en-US" sz="800" b="1" baseline="0" dirty="0">
                    <a:solidFill>
                      <a:schemeClr val="tx2"/>
                    </a:solidFill>
                  </a:rPr>
                  <a:t>个元素的集合, </a:t>
                </a:r>
                <a:r>
                  <a:rPr lang="en-US" altLang="zh-CN" sz="800" b="1" i="1" baseline="0" dirty="0">
                    <a:solidFill>
                      <a:schemeClr val="tx2"/>
                    </a:solidFill>
                  </a:rPr>
                  <a:t>k </a:t>
                </a:r>
                <a:r>
                  <a:rPr lang="en-US" altLang="zh-CN" sz="800" b="1" baseline="0" dirty="0">
                    <a:sym typeface="Symbol" panose="05050102010706020507" pitchFamily="18" charset="2"/>
                  </a:rPr>
                  <a:t> 0</a:t>
                </a:r>
                <a:endParaRPr lang="zh-CN" altLang="en-US" sz="800" b="1" baseline="0" dirty="0">
                  <a:sym typeface="Symbol" panose="05050102010706020507" pitchFamily="18" charset="2"/>
                </a:endParaRPr>
              </a:p>
              <a:p>
                <a:endParaRPr lang="zh-CN" altLang="en-US" dirty="0"/>
              </a:p>
            </p:txBody>
          </p:sp>
        </mc:Choice>
        <mc:Fallback xmlns="">
          <p:sp>
            <p:nvSpPr>
              <p:cNvPr id="3" name="备注占位符 2"/>
              <p:cNvSpPr>
                <a:spLocks noGrp="1"/>
              </p:cNvSpPr>
              <p:nvPr>
                <p:ph type="body" idx="1"/>
              </p:nvPr>
            </p:nvSpPr>
            <p:spPr/>
            <p:txBody>
              <a:bodyPr/>
              <a:lstStyle/>
              <a:p>
                <a:pPr>
                  <a:spcBef>
                    <a:spcPct val="50000"/>
                  </a:spcBef>
                </a:pPr>
                <a:r>
                  <a:rPr lang="zh-CN" altLang="en-US" b="1" dirty="0"/>
                  <a:t>集合定义及其表示法</a:t>
                </a:r>
              </a:p>
              <a:p>
                <a:pPr>
                  <a:spcBef>
                    <a:spcPct val="50000"/>
                  </a:spcBef>
                </a:pPr>
                <a:r>
                  <a:rPr lang="zh-CN" altLang="en-US" b="1" dirty="0"/>
                  <a:t>集合的包含</a:t>
                </a:r>
                <a:r>
                  <a:rPr lang="en-US" altLang="zh-CN" b="1" dirty="0"/>
                  <a:t>(</a:t>
                </a:r>
                <a:r>
                  <a:rPr lang="zh-CN" altLang="en-US" b="1" dirty="0"/>
                  <a:t>子集</a:t>
                </a:r>
                <a:r>
                  <a:rPr lang="en-US" altLang="zh-CN" b="1" dirty="0"/>
                  <a:t>)</a:t>
                </a:r>
                <a:r>
                  <a:rPr lang="zh-CN" altLang="en-US" b="1" dirty="0"/>
                  <a:t>与相等</a:t>
                </a:r>
              </a:p>
              <a:p>
                <a:pPr>
                  <a:spcBef>
                    <a:spcPct val="50000"/>
                  </a:spcBef>
                </a:pPr>
                <a:r>
                  <a:rPr lang="zh-CN" altLang="en-US" b="1" dirty="0"/>
                  <a:t>空集与全集</a:t>
                </a:r>
              </a:p>
              <a:p>
                <a:pPr>
                  <a:spcBef>
                    <a:spcPct val="50000"/>
                  </a:spcBef>
                </a:pPr>
                <a:r>
                  <a:rPr lang="zh-CN" altLang="en-US" b="1" dirty="0"/>
                  <a:t>集合运算</a:t>
                </a:r>
                <a:r>
                  <a:rPr lang="en-US" altLang="zh-CN" b="1" dirty="0"/>
                  <a:t>(</a:t>
                </a:r>
                <a:r>
                  <a:rPr lang="zh-CN" altLang="en-US" b="1" dirty="0"/>
                  <a:t>交</a:t>
                </a:r>
                <a:r>
                  <a:rPr lang="zh-CN" altLang="en-US" b="1" i="0">
                    <a:latin typeface="Cambria Math" panose="02040503050406030204" pitchFamily="18" charset="0"/>
                  </a:rPr>
                  <a:t>∩</a:t>
                </a:r>
                <a:r>
                  <a:rPr lang="zh-CN" altLang="en-US" b="1" dirty="0"/>
                  <a:t>、并</a:t>
                </a:r>
                <a:r>
                  <a:rPr lang="en-US" altLang="zh-CN" b="1" i="0" dirty="0">
                    <a:latin typeface="Cambria Math" panose="02040503050406030204" pitchFamily="18" charset="0"/>
                    <a:ea typeface="Cambria Math" panose="02040503050406030204" pitchFamily="18" charset="0"/>
                    <a:sym typeface="Symbol" panose="05050102010706020507" pitchFamily="18" charset="2"/>
                  </a:rPr>
                  <a:t>∪</a:t>
                </a:r>
                <a:r>
                  <a:rPr lang="zh-CN" altLang="en-US" b="1" dirty="0"/>
                  <a:t>、相对补</a:t>
                </a:r>
                <a:r>
                  <a:rPr lang="en-US" altLang="zh-CN" b="1" i="0" dirty="0">
                    <a:latin typeface="Cambria Math" panose="02040503050406030204" pitchFamily="18" charset="0"/>
                    <a:ea typeface="Cambria Math" panose="02040503050406030204" pitchFamily="18" charset="0"/>
                    <a:sym typeface="Symbol" panose="05050102010706020507" pitchFamily="18" charset="2"/>
                  </a:rPr>
                  <a:t>−</a:t>
                </a:r>
                <a:r>
                  <a:rPr lang="zh-CN" altLang="en-US" b="1" dirty="0"/>
                  <a:t>、对称差</a:t>
                </a:r>
                <a:r>
                  <a:rPr lang="en-US" altLang="zh-CN" b="1" i="0" dirty="0">
                    <a:latin typeface="Cambria Math" panose="02040503050406030204" pitchFamily="18" charset="0"/>
                    <a:sym typeface="Symbol" panose="05050102010706020507" pitchFamily="18" charset="2"/>
                  </a:rPr>
                  <a:t></a:t>
                </a:r>
                <a:r>
                  <a:rPr lang="zh-CN" altLang="en-US" b="1" dirty="0"/>
                  <a:t>、绝对补</a:t>
                </a:r>
                <a:r>
                  <a:rPr lang="en-US" altLang="zh-CN" b="1" i="0" dirty="0">
                    <a:latin typeface="Cambria Math" panose="02040503050406030204" pitchFamily="18" charset="0"/>
                    <a:ea typeface="Cambria Math" panose="02040503050406030204" pitchFamily="18" charset="0"/>
                    <a:sym typeface="Symbol" panose="05050102010706020507" pitchFamily="18" charset="2"/>
                  </a:rPr>
                  <a:t>~</a:t>
                </a:r>
                <a:r>
                  <a:rPr lang="en-US" altLang="zh-CN" b="1" dirty="0"/>
                  <a:t>)</a:t>
                </a:r>
              </a:p>
              <a:p>
                <a:pPr>
                  <a:spcBef>
                    <a:spcPct val="50000"/>
                  </a:spcBef>
                </a:pPr>
                <a:r>
                  <a:rPr lang="zh-CN" altLang="en-US" b="1" dirty="0"/>
                  <a:t>集合运算的文氏表示</a:t>
                </a:r>
              </a:p>
              <a:p>
                <a:pPr>
                  <a:spcBef>
                    <a:spcPct val="50000"/>
                  </a:spcBef>
                </a:pPr>
                <a:r>
                  <a:rPr lang="zh-CN" altLang="en-US" b="1" dirty="0"/>
                  <a:t>集合运算基本恒等式</a:t>
                </a:r>
              </a:p>
              <a:p>
                <a:pPr>
                  <a:spcBef>
                    <a:spcPct val="50000"/>
                  </a:spcBef>
                </a:pPr>
                <a:r>
                  <a:rPr lang="zh-CN" altLang="en-US" b="1" dirty="0"/>
                  <a:t>部分恒等式证明</a:t>
                </a:r>
              </a:p>
              <a:p>
                <a:pPr eaLnBrk="1" hangingPunct="1">
                  <a:buFontTx/>
                  <a:buNone/>
                </a:pPr>
                <a:r>
                  <a:rPr lang="zh-CN" altLang="en-US" sz="800" b="1" baseline="0" dirty="0"/>
                  <a:t>朴素集合论(康托, </a:t>
                </a:r>
                <a:r>
                  <a:rPr lang="en-US" altLang="zh-CN" sz="800" b="1" baseline="0" dirty="0" err="1"/>
                  <a:t>G.Cantor</a:t>
                </a:r>
                <a:r>
                  <a:rPr lang="en-US" altLang="zh-CN" sz="800" b="1" baseline="0" dirty="0"/>
                  <a:t>),     </a:t>
                </a:r>
                <a:r>
                  <a:rPr lang="zh-CN" altLang="en-US" sz="800" b="1" baseline="0" dirty="0"/>
                  <a:t>罗素(</a:t>
                </a:r>
                <a:r>
                  <a:rPr lang="en-US" altLang="zh-CN" sz="800" b="1" baseline="0" dirty="0"/>
                  <a:t>Russell)</a:t>
                </a:r>
                <a:r>
                  <a:rPr lang="zh-CN" altLang="en-US" sz="800" b="1" baseline="0" dirty="0"/>
                  <a:t>悖论</a:t>
                </a:r>
              </a:p>
              <a:p>
                <a:pPr eaLnBrk="1" hangingPunct="1">
                  <a:spcBef>
                    <a:spcPct val="80000"/>
                  </a:spcBef>
                  <a:buFontTx/>
                  <a:buNone/>
                </a:pPr>
                <a:r>
                  <a:rPr lang="zh-CN" altLang="en-US" sz="800" b="1" baseline="0" dirty="0">
                    <a:solidFill>
                      <a:srgbClr val="FF0000"/>
                    </a:solidFill>
                  </a:rPr>
                  <a:t>集合</a:t>
                </a:r>
                <a:r>
                  <a:rPr lang="zh-CN" altLang="en-US" sz="800" b="1" baseline="0" dirty="0"/>
                  <a:t>是数学中最基本的概念,没有严格的定义 </a:t>
                </a:r>
              </a:p>
              <a:p>
                <a:pPr eaLnBrk="1" hangingPunct="1">
                  <a:buFontTx/>
                  <a:buNone/>
                </a:pPr>
                <a:r>
                  <a:rPr lang="zh-CN" altLang="en-US" sz="800" b="1" baseline="0" dirty="0"/>
                  <a:t>    理解成某些个体组成的整体, 常用</a:t>
                </a:r>
                <a:r>
                  <a:rPr lang="en-US" altLang="zh-CN" sz="800" b="1" i="1" baseline="0" dirty="0"/>
                  <a:t>A,B,C</a:t>
                </a:r>
                <a:r>
                  <a:rPr lang="zh-CN" altLang="en-US" sz="800" b="1" baseline="0" dirty="0"/>
                  <a:t>等表示</a:t>
                </a:r>
              </a:p>
              <a:p>
                <a:pPr eaLnBrk="1" hangingPunct="1">
                  <a:buFontTx/>
                  <a:buNone/>
                </a:pPr>
                <a:r>
                  <a:rPr lang="zh-CN" altLang="en-US" sz="800" b="1" baseline="0" dirty="0">
                    <a:solidFill>
                      <a:srgbClr val="FF0000"/>
                    </a:solidFill>
                  </a:rPr>
                  <a:t>元素</a:t>
                </a:r>
                <a:r>
                  <a:rPr lang="zh-CN" altLang="en-US" sz="800" b="1" baseline="0" dirty="0"/>
                  <a:t>:集合中的个体</a:t>
                </a:r>
              </a:p>
              <a:p>
                <a:pPr eaLnBrk="1" hangingPunct="1">
                  <a:spcBef>
                    <a:spcPct val="80000"/>
                  </a:spcBef>
                  <a:buFontTx/>
                  <a:buNone/>
                </a:pPr>
                <a:r>
                  <a:rPr lang="en-US" altLang="zh-CN" sz="800" b="1" i="1" baseline="0" dirty="0" err="1">
                    <a:solidFill>
                      <a:srgbClr val="FF0000"/>
                    </a:solidFill>
                  </a:rPr>
                  <a:t>x</a:t>
                </a:r>
                <a:r>
                  <a:rPr lang="en-US" altLang="zh-CN" sz="800" b="1" baseline="0" dirty="0" err="1">
                    <a:solidFill>
                      <a:srgbClr val="FF0000"/>
                    </a:solidFill>
                    <a:sym typeface="Symbol" panose="05050102010706020507" pitchFamily="18" charset="2"/>
                  </a:rPr>
                  <a:t></a:t>
                </a:r>
                <a:r>
                  <a:rPr lang="en-US" altLang="zh-CN" sz="800" b="1" i="1" baseline="0" dirty="0" err="1">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en-US" altLang="zh-CN" sz="800" b="1" i="1" baseline="0" dirty="0">
                    <a:solidFill>
                      <a:srgbClr val="FF0000"/>
                    </a:solidFill>
                  </a:rPr>
                  <a:t>x</a:t>
                </a:r>
                <a:r>
                  <a:rPr lang="zh-CN" altLang="en-US" sz="800" b="1" baseline="0" dirty="0">
                    <a:solidFill>
                      <a:srgbClr val="FF0000"/>
                    </a:solidFill>
                    <a:sym typeface="Symbol" panose="05050102010706020507" pitchFamily="18" charset="2"/>
                  </a:rPr>
                  <a:t>属于</a:t>
                </a:r>
                <a:r>
                  <a:rPr lang="en-US" altLang="zh-CN" sz="800" b="1" i="1" baseline="0" dirty="0">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zh-CN" altLang="en-US" sz="800" b="1" baseline="0" dirty="0">
                    <a:sym typeface="Symbol" panose="05050102010706020507" pitchFamily="18" charset="2"/>
                  </a:rPr>
                  <a:t>: </a:t>
                </a:r>
                <a:r>
                  <a:rPr lang="en-US" altLang="zh-CN" sz="800" b="1" i="1" baseline="0" dirty="0"/>
                  <a:t>x</a:t>
                </a:r>
                <a:r>
                  <a:rPr lang="zh-CN" altLang="en-US" sz="800" b="1" baseline="0" dirty="0">
                    <a:sym typeface="Symbol" panose="05050102010706020507" pitchFamily="18" charset="2"/>
                  </a:rPr>
                  <a:t>是</a:t>
                </a:r>
                <a:r>
                  <a:rPr lang="en-US" altLang="zh-CN" sz="800" b="1" i="1" baseline="0" dirty="0">
                    <a:sym typeface="Symbol" panose="05050102010706020507" pitchFamily="18" charset="2"/>
                  </a:rPr>
                  <a:t>A</a:t>
                </a:r>
                <a:r>
                  <a:rPr lang="zh-CN" altLang="en-US" sz="800" b="1" baseline="0" dirty="0">
                    <a:sym typeface="Symbol" panose="05050102010706020507" pitchFamily="18" charset="2"/>
                  </a:rPr>
                  <a:t>的元素 </a:t>
                </a:r>
              </a:p>
              <a:p>
                <a:pPr eaLnBrk="1" hangingPunct="1">
                  <a:buFontTx/>
                  <a:buNone/>
                </a:pPr>
                <a:r>
                  <a:rPr lang="en-US" altLang="zh-CN" sz="800" b="1" i="1" baseline="0" dirty="0" err="1">
                    <a:solidFill>
                      <a:srgbClr val="FF0000"/>
                    </a:solidFill>
                    <a:sym typeface="Symbol" panose="05050102010706020507" pitchFamily="18" charset="2"/>
                  </a:rPr>
                  <a:t>x</a:t>
                </a:r>
                <a:r>
                  <a:rPr lang="en-US" altLang="zh-CN" sz="800" b="1" baseline="0" dirty="0" err="1">
                    <a:solidFill>
                      <a:srgbClr val="FF0000"/>
                    </a:solidFill>
                    <a:sym typeface="Symbol" panose="05050102010706020507" pitchFamily="18" charset="2"/>
                  </a:rPr>
                  <a:t></a:t>
                </a:r>
                <a:r>
                  <a:rPr lang="en-US" altLang="zh-CN" sz="800" b="1" i="1" baseline="0" dirty="0" err="1">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en-US" altLang="zh-CN" sz="800" b="1" i="1" baseline="0" dirty="0">
                    <a:solidFill>
                      <a:srgbClr val="FF0000"/>
                    </a:solidFill>
                  </a:rPr>
                  <a:t>x</a:t>
                </a:r>
                <a:r>
                  <a:rPr lang="zh-CN" altLang="en-US" sz="800" b="1" baseline="0" dirty="0">
                    <a:solidFill>
                      <a:srgbClr val="FF0000"/>
                    </a:solidFill>
                  </a:rPr>
                  <a:t>不</a:t>
                </a:r>
                <a:r>
                  <a:rPr lang="zh-CN" altLang="en-US" sz="800" b="1" baseline="0" dirty="0">
                    <a:solidFill>
                      <a:srgbClr val="FF0000"/>
                    </a:solidFill>
                    <a:sym typeface="Symbol" panose="05050102010706020507" pitchFamily="18" charset="2"/>
                  </a:rPr>
                  <a:t>属于</a:t>
                </a:r>
                <a:r>
                  <a:rPr lang="en-US" altLang="zh-CN" sz="800" b="1" i="1" baseline="0" dirty="0">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zh-CN" altLang="en-US" sz="800" b="1" baseline="0" dirty="0">
                    <a:sym typeface="Symbol" panose="05050102010706020507" pitchFamily="18" charset="2"/>
                  </a:rPr>
                  <a:t>: </a:t>
                </a:r>
                <a:r>
                  <a:rPr lang="en-US" altLang="zh-CN" sz="800" b="1" i="1" baseline="0" dirty="0"/>
                  <a:t>x</a:t>
                </a:r>
                <a:r>
                  <a:rPr lang="zh-CN" altLang="en-US" sz="800" b="1" baseline="0" dirty="0"/>
                  <a:t>不</a:t>
                </a:r>
                <a:r>
                  <a:rPr lang="zh-CN" altLang="en-US" sz="800" b="1" baseline="0" dirty="0">
                    <a:sym typeface="Symbol" panose="05050102010706020507" pitchFamily="18" charset="2"/>
                  </a:rPr>
                  <a:t>是</a:t>
                </a:r>
                <a:r>
                  <a:rPr lang="en-US" altLang="zh-CN" sz="800" b="1" i="1" baseline="0" dirty="0">
                    <a:sym typeface="Symbol" panose="05050102010706020507" pitchFamily="18" charset="2"/>
                  </a:rPr>
                  <a:t>A</a:t>
                </a:r>
                <a:r>
                  <a:rPr lang="zh-CN" altLang="en-US" sz="800" b="1" baseline="0" dirty="0">
                    <a:sym typeface="Symbol" panose="05050102010706020507" pitchFamily="18" charset="2"/>
                  </a:rPr>
                  <a:t>的元素</a:t>
                </a:r>
              </a:p>
              <a:p>
                <a:pPr eaLnBrk="1" hangingPunct="1">
                  <a:spcBef>
                    <a:spcPct val="80000"/>
                  </a:spcBef>
                  <a:buFontTx/>
                  <a:buNone/>
                </a:pPr>
                <a:r>
                  <a:rPr lang="zh-CN" altLang="en-US" sz="800" b="1" baseline="0" dirty="0">
                    <a:solidFill>
                      <a:srgbClr val="FF0000"/>
                    </a:solidFill>
                  </a:rPr>
                  <a:t>无穷集</a:t>
                </a:r>
                <a:r>
                  <a:rPr lang="zh-CN" altLang="en-US" sz="800" b="1" baseline="0" dirty="0"/>
                  <a:t>:元素个数无限的集合</a:t>
                </a:r>
              </a:p>
              <a:p>
                <a:pPr eaLnBrk="1" hangingPunct="1">
                  <a:buFontTx/>
                  <a:buNone/>
                </a:pPr>
                <a:r>
                  <a:rPr lang="zh-CN" altLang="en-US" sz="800" b="1" baseline="0" dirty="0">
                    <a:solidFill>
                      <a:srgbClr val="FF0000"/>
                    </a:solidFill>
                  </a:rPr>
                  <a:t>有穷集(有限集)</a:t>
                </a:r>
                <a:r>
                  <a:rPr lang="zh-CN" altLang="en-US" sz="800" b="1" baseline="0" dirty="0">
                    <a:solidFill>
                      <a:schemeClr val="tx2"/>
                    </a:solidFill>
                  </a:rPr>
                  <a:t>:</a:t>
                </a:r>
                <a:r>
                  <a:rPr lang="zh-CN" altLang="en-US" sz="800" b="1" baseline="0" dirty="0"/>
                  <a:t>元素个数有限的集合.   </a:t>
                </a:r>
                <a:r>
                  <a:rPr lang="zh-CN" altLang="en-US" sz="800" b="1" baseline="0" dirty="0">
                    <a:solidFill>
                      <a:srgbClr val="FF0000"/>
                    </a:solidFill>
                    <a:sym typeface="Symbol" panose="05050102010706020507" pitchFamily="18" charset="2"/>
                  </a:rPr>
                  <a:t>|</a:t>
                </a:r>
                <a:r>
                  <a:rPr lang="en-US" altLang="zh-CN" sz="800" b="1" i="1" baseline="0" dirty="0">
                    <a:solidFill>
                      <a:srgbClr val="FF0000"/>
                    </a:solidFill>
                    <a:sym typeface="Symbol" panose="05050102010706020507" pitchFamily="18" charset="2"/>
                  </a:rPr>
                  <a:t>A</a:t>
                </a:r>
                <a:r>
                  <a:rPr lang="en-US" altLang="zh-CN" sz="800" b="1" baseline="0" dirty="0">
                    <a:solidFill>
                      <a:srgbClr val="FF0000"/>
                    </a:solidFill>
                    <a:sym typeface="Symbol" panose="05050102010706020507" pitchFamily="18" charset="2"/>
                  </a:rPr>
                  <a:t>|</a:t>
                </a:r>
                <a:r>
                  <a:rPr lang="en-US" altLang="zh-CN" sz="800" b="1" baseline="0" dirty="0">
                    <a:sym typeface="Symbol" panose="05050102010706020507" pitchFamily="18" charset="2"/>
                  </a:rPr>
                  <a:t>:</a:t>
                </a:r>
                <a:r>
                  <a:rPr lang="en-US" altLang="zh-CN" sz="800" b="1" i="1" baseline="0" dirty="0">
                    <a:sym typeface="Symbol" panose="05050102010706020507" pitchFamily="18" charset="2"/>
                  </a:rPr>
                  <a:t>A</a:t>
                </a:r>
                <a:r>
                  <a:rPr lang="zh-CN" altLang="en-US" sz="800" b="1" baseline="0" dirty="0">
                    <a:sym typeface="Symbol" panose="05050102010706020507" pitchFamily="18" charset="2"/>
                  </a:rPr>
                  <a:t>中元素个数</a:t>
                </a:r>
                <a:endParaRPr lang="zh-CN" altLang="en-US" sz="800" b="1" baseline="0" dirty="0">
                  <a:solidFill>
                    <a:schemeClr val="tx2"/>
                  </a:solidFill>
                </a:endParaRPr>
              </a:p>
              <a:p>
                <a:pPr eaLnBrk="1" hangingPunct="1">
                  <a:buFontTx/>
                  <a:buNone/>
                </a:pPr>
                <a:r>
                  <a:rPr lang="en-US" altLang="zh-CN" sz="800" b="1" i="1" baseline="0" dirty="0">
                    <a:solidFill>
                      <a:srgbClr val="FF0000"/>
                    </a:solidFill>
                  </a:rPr>
                  <a:t>k</a:t>
                </a:r>
                <a:r>
                  <a:rPr lang="zh-CN" altLang="en-US" sz="800" b="1" baseline="0" dirty="0">
                    <a:solidFill>
                      <a:srgbClr val="FF0000"/>
                    </a:solidFill>
                  </a:rPr>
                  <a:t>元集</a:t>
                </a:r>
                <a:r>
                  <a:rPr lang="zh-CN" altLang="en-US" sz="800" b="1" baseline="0" dirty="0">
                    <a:solidFill>
                      <a:schemeClr val="tx2"/>
                    </a:solidFill>
                  </a:rPr>
                  <a:t>:</a:t>
                </a:r>
                <a:r>
                  <a:rPr lang="en-US" altLang="zh-CN" sz="800" b="1" i="1" baseline="0" dirty="0">
                    <a:solidFill>
                      <a:schemeClr val="tx2"/>
                    </a:solidFill>
                  </a:rPr>
                  <a:t>k</a:t>
                </a:r>
                <a:r>
                  <a:rPr lang="zh-CN" altLang="en-US" sz="800" b="1" baseline="0" dirty="0">
                    <a:solidFill>
                      <a:schemeClr val="tx2"/>
                    </a:solidFill>
                  </a:rPr>
                  <a:t>个元素的集合, </a:t>
                </a:r>
                <a:r>
                  <a:rPr lang="en-US" altLang="zh-CN" sz="800" b="1" i="1" baseline="0" dirty="0">
                    <a:solidFill>
                      <a:schemeClr val="tx2"/>
                    </a:solidFill>
                  </a:rPr>
                  <a:t>k </a:t>
                </a:r>
                <a:r>
                  <a:rPr lang="en-US" altLang="zh-CN" sz="800" b="1" baseline="0" dirty="0">
                    <a:sym typeface="Symbol" panose="05050102010706020507" pitchFamily="18" charset="2"/>
                  </a:rPr>
                  <a:t> 0</a:t>
                </a:r>
                <a:endParaRPr lang="zh-CN" altLang="en-US" sz="800" b="1" baseline="0" dirty="0">
                  <a:sym typeface="Symbol" panose="05050102010706020507" pitchFamily="18" charset="2"/>
                </a:endParaRPr>
              </a:p>
              <a:p>
                <a:endParaRPr lang="zh-CN" altLang="en-US" dirty="0"/>
              </a:p>
            </p:txBody>
          </p:sp>
        </mc:Fallback>
      </mc:AlternateContent>
      <p:sp>
        <p:nvSpPr>
          <p:cNvPr id="4" name="灯片编号占位符 3"/>
          <p:cNvSpPr>
            <a:spLocks noGrp="1"/>
          </p:cNvSpPr>
          <p:nvPr>
            <p:ph type="sldNum" sz="quarter" idx="10"/>
          </p:nvPr>
        </p:nvSpPr>
        <p:spPr/>
        <p:txBody>
          <a:bodyPr/>
          <a:lstStyle/>
          <a:p>
            <a:fld id="{CAFE74B6-F93C-4D90-BE1A-7EFEDB35C0D4}" type="slidenum">
              <a:rPr lang="zh-CN" altLang="en-US" smtClean="0"/>
              <a:t>4</a:t>
            </a:fld>
            <a:endParaRPr lang="zh-CN" altLang="en-US"/>
          </a:p>
        </p:txBody>
      </p:sp>
    </p:spTree>
    <p:extLst>
      <p:ext uri="{BB962C8B-B14F-4D97-AF65-F5344CB8AC3E}">
        <p14:creationId xmlns:p14="http://schemas.microsoft.com/office/powerpoint/2010/main" val="2727682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buFontTx/>
              <a:buNone/>
            </a:pPr>
            <a:r>
              <a:rPr lang="zh-CN" altLang="en-US" sz="1200" b="1" dirty="0">
                <a:solidFill>
                  <a:srgbClr val="FF0000"/>
                </a:solidFill>
                <a:sym typeface="Symbol" panose="05050102010706020507" pitchFamily="18" charset="2"/>
              </a:rPr>
              <a:t>列元素法（列举法）</a:t>
            </a:r>
            <a:r>
              <a:rPr lang="zh-CN" altLang="en-US" sz="1200" b="1" dirty="0">
                <a:sym typeface="Symbol" panose="05050102010706020507" pitchFamily="18" charset="2"/>
              </a:rPr>
              <a:t>    </a:t>
            </a:r>
            <a:r>
              <a:rPr lang="zh-CN" altLang="en-US" sz="1200" b="1" dirty="0">
                <a:solidFill>
                  <a:srgbClr val="000066"/>
                </a:solidFill>
                <a:sym typeface="Symbol" panose="05050102010706020507" pitchFamily="18" charset="2"/>
              </a:rPr>
              <a:t>如 </a:t>
            </a:r>
            <a:r>
              <a:rPr kumimoji="0" lang="en-US" altLang="zh-CN" sz="1200" b="1" i="1" dirty="0">
                <a:solidFill>
                  <a:srgbClr val="000066"/>
                </a:solidFill>
              </a:rPr>
              <a:t>A</a:t>
            </a:r>
            <a:r>
              <a:rPr kumimoji="0" lang="en-US" altLang="zh-CN" sz="1200" b="1" dirty="0">
                <a:solidFill>
                  <a:srgbClr val="000066"/>
                </a:solidFill>
              </a:rPr>
              <a:t>={ </a:t>
            </a:r>
            <a:r>
              <a:rPr kumimoji="0" lang="en-US" altLang="zh-CN" sz="1200" b="1" i="1" dirty="0">
                <a:solidFill>
                  <a:srgbClr val="000066"/>
                </a:solidFill>
              </a:rPr>
              <a:t>a</a:t>
            </a:r>
            <a:r>
              <a:rPr kumimoji="0" lang="en-US" altLang="zh-CN" sz="1200" b="1" dirty="0">
                <a:solidFill>
                  <a:srgbClr val="000066"/>
                </a:solidFill>
              </a:rPr>
              <a:t>, </a:t>
            </a:r>
            <a:r>
              <a:rPr kumimoji="0" lang="en-US" altLang="zh-CN" sz="1200" b="1" i="1" dirty="0">
                <a:solidFill>
                  <a:srgbClr val="000066"/>
                </a:solidFill>
              </a:rPr>
              <a:t>b</a:t>
            </a:r>
            <a:r>
              <a:rPr kumimoji="0" lang="en-US" altLang="zh-CN" sz="1200" b="1" dirty="0">
                <a:solidFill>
                  <a:srgbClr val="000066"/>
                </a:solidFill>
              </a:rPr>
              <a:t>, </a:t>
            </a:r>
            <a:r>
              <a:rPr kumimoji="0" lang="en-US" altLang="zh-CN" sz="1200" b="1" i="1" dirty="0">
                <a:solidFill>
                  <a:srgbClr val="000066"/>
                </a:solidFill>
              </a:rPr>
              <a:t>c</a:t>
            </a:r>
            <a:r>
              <a:rPr kumimoji="0" lang="en-US" altLang="zh-CN" sz="1200" b="1" dirty="0">
                <a:solidFill>
                  <a:srgbClr val="000066"/>
                </a:solidFill>
              </a:rPr>
              <a:t>, </a:t>
            </a:r>
            <a:r>
              <a:rPr kumimoji="0" lang="en-US" altLang="zh-CN" sz="1200" b="1" i="1" dirty="0">
                <a:solidFill>
                  <a:srgbClr val="000066"/>
                </a:solidFill>
              </a:rPr>
              <a:t>d</a:t>
            </a:r>
            <a:r>
              <a:rPr kumimoji="0" lang="en-US" altLang="zh-CN" sz="1200" b="1" dirty="0">
                <a:solidFill>
                  <a:srgbClr val="000066"/>
                </a:solidFill>
              </a:rPr>
              <a:t> }, N={0,1,2,</a:t>
            </a:r>
            <a:r>
              <a:rPr lang="en-US" altLang="zh-CN" sz="1200" b="1" dirty="0">
                <a:solidFill>
                  <a:srgbClr val="000066"/>
                </a:solidFill>
                <a:cs typeface="Times New Roman" panose="02020603050405020304" pitchFamily="18" charset="0"/>
              </a:rPr>
              <a:t>…</a:t>
            </a:r>
            <a:r>
              <a:rPr kumimoji="0" lang="zh-CN" altLang="en-US" sz="1200" b="1" dirty="0">
                <a:solidFill>
                  <a:srgbClr val="000066"/>
                </a:solidFill>
              </a:rPr>
              <a:t>}</a:t>
            </a:r>
            <a:endParaRPr lang="zh-CN" altLang="en-US" sz="1200" b="1" dirty="0">
              <a:solidFill>
                <a:srgbClr val="000066"/>
              </a:solidFill>
              <a:sym typeface="Symbol" panose="05050102010706020507" pitchFamily="18" charset="2"/>
            </a:endParaRPr>
          </a:p>
          <a:p>
            <a:pPr eaLnBrk="1" hangingPunct="1">
              <a:lnSpc>
                <a:spcPct val="90000"/>
              </a:lnSpc>
              <a:buFontTx/>
              <a:buNone/>
            </a:pPr>
            <a:r>
              <a:rPr lang="zh-CN" altLang="en-US" sz="1200" b="1" dirty="0">
                <a:solidFill>
                  <a:srgbClr val="FF0000"/>
                </a:solidFill>
                <a:sym typeface="Symbol" panose="05050102010706020507" pitchFamily="18" charset="2"/>
              </a:rPr>
              <a:t>谓词表示法（描述法）</a:t>
            </a:r>
            <a:r>
              <a:rPr kumimoji="0" lang="en-US" altLang="zh-CN" sz="1200" b="1" dirty="0"/>
              <a:t>{ </a:t>
            </a:r>
            <a:r>
              <a:rPr kumimoji="0" lang="en-US" altLang="zh-CN" sz="1200" b="1" i="1" dirty="0"/>
              <a:t>x </a:t>
            </a:r>
            <a:r>
              <a:rPr kumimoji="0" lang="en-US" altLang="zh-CN" sz="1200" b="1" dirty="0"/>
              <a:t>|</a:t>
            </a:r>
            <a:r>
              <a:rPr kumimoji="0" lang="en-US" altLang="zh-CN" sz="1200" b="1" i="1" dirty="0"/>
              <a:t> P</a:t>
            </a:r>
            <a:r>
              <a:rPr kumimoji="0" lang="en-US" altLang="zh-CN" sz="1200" b="1" dirty="0"/>
              <a:t>(</a:t>
            </a:r>
            <a:r>
              <a:rPr kumimoji="0" lang="en-US" altLang="zh-CN" sz="1200" b="1" i="1" dirty="0"/>
              <a:t>x</a:t>
            </a:r>
            <a:r>
              <a:rPr kumimoji="0" lang="en-US" altLang="zh-CN" sz="1200" b="1" dirty="0"/>
              <a:t>) }</a:t>
            </a:r>
            <a:r>
              <a:rPr kumimoji="0" lang="en-US" altLang="zh-CN" sz="1200" b="1" dirty="0">
                <a:solidFill>
                  <a:srgbClr val="000066"/>
                </a:solidFill>
              </a:rPr>
              <a:t>    </a:t>
            </a:r>
            <a:r>
              <a:rPr kumimoji="0" lang="zh-CN" altLang="en-US" sz="1200" b="1" dirty="0">
                <a:solidFill>
                  <a:srgbClr val="000066"/>
                </a:solidFill>
              </a:rPr>
              <a:t>如</a:t>
            </a:r>
            <a:r>
              <a:rPr kumimoji="0" lang="en-US" altLang="zh-CN" sz="1200" b="1" dirty="0">
                <a:solidFill>
                  <a:srgbClr val="000066"/>
                </a:solidFill>
              </a:rPr>
              <a:t>N</a:t>
            </a:r>
            <a:r>
              <a:rPr kumimoji="0" lang="en-US" altLang="zh-CN" sz="1200" b="1" i="1" dirty="0">
                <a:solidFill>
                  <a:srgbClr val="000066"/>
                </a:solidFill>
              </a:rPr>
              <a:t>=</a:t>
            </a:r>
            <a:r>
              <a:rPr kumimoji="0" lang="en-US" altLang="zh-CN" sz="1200" b="1" dirty="0">
                <a:solidFill>
                  <a:srgbClr val="000066"/>
                </a:solidFill>
              </a:rPr>
              <a:t>{ </a:t>
            </a:r>
            <a:r>
              <a:rPr kumimoji="0" lang="en-US" altLang="zh-CN" sz="1200" b="1" i="1" dirty="0">
                <a:solidFill>
                  <a:srgbClr val="000066"/>
                </a:solidFill>
              </a:rPr>
              <a:t>x </a:t>
            </a:r>
            <a:r>
              <a:rPr kumimoji="0" lang="en-US" altLang="zh-CN" sz="1200" b="1" dirty="0">
                <a:solidFill>
                  <a:srgbClr val="000066"/>
                </a:solidFill>
              </a:rPr>
              <a:t>| </a:t>
            </a:r>
            <a:r>
              <a:rPr kumimoji="0" lang="en-US" altLang="zh-CN" sz="1200" b="1" i="1" dirty="0">
                <a:solidFill>
                  <a:srgbClr val="000066"/>
                </a:solidFill>
              </a:rPr>
              <a:t>x</a:t>
            </a:r>
            <a:r>
              <a:rPr kumimoji="0" lang="zh-CN" altLang="en-US" sz="1200" b="1" dirty="0">
                <a:solidFill>
                  <a:srgbClr val="000066"/>
                </a:solidFill>
              </a:rPr>
              <a:t>是自然数 }</a:t>
            </a:r>
          </a:p>
          <a:p>
            <a:pPr eaLnBrk="1" hangingPunct="1">
              <a:lnSpc>
                <a:spcPct val="90000"/>
              </a:lnSpc>
              <a:buFontTx/>
              <a:buNone/>
            </a:pPr>
            <a:r>
              <a:rPr lang="zh-CN" altLang="en-US" sz="1200" b="1" dirty="0"/>
              <a:t>说明:</a:t>
            </a:r>
            <a:endParaRPr lang="en-US" altLang="zh-CN" sz="1200" b="1" dirty="0"/>
          </a:p>
          <a:p>
            <a:pPr eaLnBrk="1" hangingPunct="1">
              <a:lnSpc>
                <a:spcPct val="90000"/>
              </a:lnSpc>
              <a:buFontTx/>
              <a:buNone/>
            </a:pPr>
            <a:r>
              <a:rPr lang="zh-CN" altLang="en-US" sz="1200" b="1" dirty="0"/>
              <a:t>(1) 集合中的元素各不相同. 如, {1,2,3}={1,1,2,3}</a:t>
            </a:r>
          </a:p>
          <a:p>
            <a:pPr eaLnBrk="1" hangingPunct="1">
              <a:lnSpc>
                <a:spcPct val="90000"/>
              </a:lnSpc>
              <a:buFontTx/>
              <a:buNone/>
            </a:pPr>
            <a:r>
              <a:rPr lang="zh-CN" altLang="en-US" sz="1200" b="1" dirty="0"/>
              <a:t>(2) 集合中的元素没有次序. 如, {1,2,3}={3,1,2}={1,3,1,2,2}</a:t>
            </a:r>
          </a:p>
          <a:p>
            <a:pPr eaLnBrk="1" hangingPunct="1">
              <a:lnSpc>
                <a:spcPct val="90000"/>
              </a:lnSpc>
              <a:buFontTx/>
              <a:buNone/>
            </a:pPr>
            <a:r>
              <a:rPr lang="zh-CN" altLang="en-US" sz="1200" b="1" dirty="0"/>
              <a:t>(3) 两种方法可根据需要选用.</a:t>
            </a:r>
          </a:p>
          <a:p>
            <a:pPr eaLnBrk="1" hangingPunct="1">
              <a:lnSpc>
                <a:spcPct val="90000"/>
              </a:lnSpc>
              <a:buFontTx/>
              <a:buNone/>
            </a:pPr>
            <a:endParaRPr lang="zh-CN" altLang="en-US" sz="1200" b="1" dirty="0"/>
          </a:p>
          <a:p>
            <a:pPr eaLnBrk="1" hangingPunct="1">
              <a:lnSpc>
                <a:spcPct val="90000"/>
              </a:lnSpc>
              <a:buFontTx/>
              <a:buNone/>
            </a:pPr>
            <a:r>
              <a:rPr lang="zh-CN" altLang="en-US" sz="1200" b="1" dirty="0"/>
              <a:t>常用集合</a:t>
            </a:r>
          </a:p>
          <a:p>
            <a:pPr eaLnBrk="1" hangingPunct="1">
              <a:lnSpc>
                <a:spcPct val="90000"/>
              </a:lnSpc>
              <a:buFontTx/>
              <a:buNone/>
            </a:pPr>
            <a:r>
              <a:rPr lang="zh-CN" altLang="en-US" sz="1200" b="1" dirty="0"/>
              <a:t>    自然数集</a:t>
            </a:r>
            <a:r>
              <a:rPr lang="en-US" altLang="zh-CN" sz="1200" b="1" dirty="0"/>
              <a:t>N</a:t>
            </a:r>
            <a:r>
              <a:rPr lang="zh-CN" altLang="en-US" sz="1200" b="1" dirty="0"/>
              <a:t>（包括</a:t>
            </a:r>
            <a:r>
              <a:rPr lang="en-US" altLang="zh-CN" sz="1200" b="1" dirty="0"/>
              <a:t>0</a:t>
            </a:r>
            <a:r>
              <a:rPr lang="zh-CN" altLang="en-US" sz="1200" b="1" dirty="0"/>
              <a:t>）</a:t>
            </a:r>
            <a:r>
              <a:rPr lang="en-US" altLang="zh-CN" sz="1200" b="1" dirty="0"/>
              <a:t>, </a:t>
            </a:r>
            <a:r>
              <a:rPr lang="zh-CN" altLang="en-US" sz="1200" b="1" dirty="0"/>
              <a:t>整数集</a:t>
            </a:r>
            <a:r>
              <a:rPr lang="en-US" altLang="zh-CN" sz="1200" b="1" dirty="0"/>
              <a:t>Z, </a:t>
            </a:r>
            <a:r>
              <a:rPr lang="zh-CN" altLang="en-US" sz="1200" b="1" dirty="0"/>
              <a:t>正整数集</a:t>
            </a:r>
            <a:r>
              <a:rPr lang="en-US" altLang="zh-CN" sz="1200" b="1" dirty="0"/>
              <a:t>Z</a:t>
            </a:r>
            <a:r>
              <a:rPr lang="en-US" altLang="zh-CN" sz="1200" b="1" baseline="30000" dirty="0"/>
              <a:t>+</a:t>
            </a:r>
            <a:r>
              <a:rPr lang="en-US" altLang="zh-CN" sz="1200" b="1" dirty="0"/>
              <a:t>, </a:t>
            </a:r>
            <a:r>
              <a:rPr lang="zh-CN" altLang="en-US" sz="1200" b="1" dirty="0"/>
              <a:t>有理数集</a:t>
            </a:r>
            <a:r>
              <a:rPr lang="en-US" altLang="zh-CN" sz="1200" b="1" dirty="0"/>
              <a:t>Q, </a:t>
            </a:r>
          </a:p>
          <a:p>
            <a:pPr eaLnBrk="1" hangingPunct="1">
              <a:lnSpc>
                <a:spcPct val="90000"/>
              </a:lnSpc>
              <a:buFontTx/>
              <a:buNone/>
            </a:pPr>
            <a:r>
              <a:rPr lang="zh-CN" altLang="en-US" sz="1200" b="1" dirty="0"/>
              <a:t>    非零有理数集</a:t>
            </a:r>
            <a:r>
              <a:rPr lang="en-US" altLang="zh-CN" sz="1200" b="1" dirty="0"/>
              <a:t>Q</a:t>
            </a:r>
            <a:r>
              <a:rPr lang="en-US" altLang="zh-CN" sz="1200" b="1" baseline="30000" dirty="0"/>
              <a:t>*</a:t>
            </a:r>
            <a:r>
              <a:rPr lang="en-US" altLang="zh-CN" sz="1200" b="1" dirty="0"/>
              <a:t>, </a:t>
            </a:r>
            <a:r>
              <a:rPr lang="zh-CN" altLang="en-US" sz="1200" b="1" dirty="0"/>
              <a:t>实数集</a:t>
            </a:r>
            <a:r>
              <a:rPr lang="en-US" altLang="zh-CN" sz="1200" b="1" dirty="0"/>
              <a:t>R, </a:t>
            </a:r>
            <a:r>
              <a:rPr lang="zh-CN" altLang="en-US" sz="1200" b="1" dirty="0"/>
              <a:t>非零实数集</a:t>
            </a:r>
            <a:r>
              <a:rPr lang="en-US" altLang="zh-CN" sz="1200" b="1" dirty="0"/>
              <a:t>R</a:t>
            </a:r>
            <a:r>
              <a:rPr lang="en-US" altLang="zh-CN" sz="1200" b="1" baseline="30000" dirty="0"/>
              <a:t>*</a:t>
            </a:r>
            <a:r>
              <a:rPr lang="en-US" altLang="zh-CN" sz="1200" b="1" dirty="0"/>
              <a:t>, </a:t>
            </a:r>
            <a:r>
              <a:rPr lang="zh-CN" altLang="en-US" sz="1200" b="1" dirty="0"/>
              <a:t>复数集</a:t>
            </a:r>
            <a:r>
              <a:rPr lang="en-US" altLang="zh-CN" sz="1200" b="1" dirty="0"/>
              <a:t>C, </a:t>
            </a:r>
          </a:p>
          <a:p>
            <a:pPr eaLnBrk="1" hangingPunct="1">
              <a:lnSpc>
                <a:spcPct val="90000"/>
              </a:lnSpc>
              <a:buFontTx/>
              <a:buNone/>
            </a:pPr>
            <a:r>
              <a:rPr lang="zh-CN" altLang="en-US" sz="1200" b="1" dirty="0"/>
              <a:t>    区间[</a:t>
            </a:r>
            <a:r>
              <a:rPr lang="en-US" altLang="zh-CN" sz="1200" b="1" i="1" dirty="0" err="1"/>
              <a:t>a,b</a:t>
            </a:r>
            <a:r>
              <a:rPr lang="en-US" altLang="zh-CN" sz="1200" b="1" dirty="0"/>
              <a:t>],(</a:t>
            </a:r>
            <a:r>
              <a:rPr lang="en-US" altLang="zh-CN" sz="1200" b="1" i="1" dirty="0" err="1"/>
              <a:t>a,b</a:t>
            </a:r>
            <a:r>
              <a:rPr lang="en-US" altLang="zh-CN" sz="1200" b="1" dirty="0"/>
              <a:t>)</a:t>
            </a:r>
            <a:r>
              <a:rPr lang="zh-CN" altLang="en-US" sz="1200" b="1" dirty="0"/>
              <a:t>等</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a:t>
            </a:fld>
            <a:endParaRPr lang="zh-CN" altLang="en-US"/>
          </a:p>
        </p:txBody>
      </p:sp>
    </p:spTree>
    <p:extLst>
      <p:ext uri="{BB962C8B-B14F-4D97-AF65-F5344CB8AC3E}">
        <p14:creationId xmlns:p14="http://schemas.microsoft.com/office/powerpoint/2010/main" val="3471605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FF3300"/>
                </a:solidFill>
              </a:rPr>
              <a:t>不真包含              </a:t>
            </a:r>
            <a:r>
              <a:rPr lang="en-US" altLang="zh-CN" sz="1800" b="1" i="1" dirty="0">
                <a:solidFill>
                  <a:srgbClr val="333300"/>
                </a:solidFill>
                <a:latin typeface="Times New Roman" panose="02020603050405020304" pitchFamily="18" charset="0"/>
              </a:rPr>
              <a:t>A</a:t>
            </a:r>
            <a:r>
              <a:rPr lang="en-US" altLang="zh-CN" sz="1800" b="1" dirty="0">
                <a:solidFill>
                  <a:srgbClr val="333300"/>
                </a:solidFill>
                <a:latin typeface="Times New Roman" panose="02020603050405020304" pitchFamily="18" charset="0"/>
              </a:rPr>
              <a:t> </a:t>
            </a:r>
            <a:r>
              <a:rPr lang="en-US" altLang="zh-CN" sz="1800" b="1" dirty="0">
                <a:solidFill>
                  <a:srgbClr val="333300"/>
                </a:solidFill>
                <a:latin typeface="Times New Roman" panose="02020603050405020304" pitchFamily="18" charset="0"/>
                <a:sym typeface="Symbol" panose="05050102010706020507" pitchFamily="18" charset="2"/>
              </a:rPr>
              <a:t> </a:t>
            </a:r>
            <a:r>
              <a:rPr lang="en-US" altLang="zh-CN" sz="1800" b="1" i="1" dirty="0">
                <a:solidFill>
                  <a:srgbClr val="333300"/>
                </a:solidFill>
                <a:latin typeface="Times New Roman" panose="02020603050405020304" pitchFamily="18" charset="0"/>
                <a:sym typeface="Symbol" panose="05050102010706020507" pitchFamily="18" charset="2"/>
              </a:rPr>
              <a:t>B</a:t>
            </a:r>
            <a:endParaRPr lang="en-US" altLang="zh-CN" sz="1800" b="1" i="1" dirty="0">
              <a:solidFill>
                <a:srgbClr val="333300"/>
              </a:solidFill>
            </a:endParaRPr>
          </a:p>
          <a:p>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意味着</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A</a:t>
            </a:r>
            <a:r>
              <a:rPr lang="en-US" altLang="zh-CN" sz="1800" kern="100" dirty="0">
                <a:solidFill>
                  <a:srgbClr val="374151"/>
                </a:solidFill>
                <a:effectLst/>
                <a:latin typeface="Cambria Math" panose="02040503050406030204" pitchFamily="18" charset="0"/>
                <a:ea typeface="等线" panose="02010600030101010101" pitchFamily="2" charset="-122"/>
                <a:cs typeface="Cambria Math" panose="02040503050406030204" pitchFamily="18" charset="0"/>
              </a:rPr>
              <a:t>⊆</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 但不是 </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A</a:t>
            </a:r>
            <a:r>
              <a:rPr lang="en-US" altLang="zh-CN" sz="1800" i="1" kern="100" dirty="0">
                <a:solidFill>
                  <a:srgbClr val="374151"/>
                </a:solidFill>
                <a:effectLst/>
                <a:latin typeface="Cambria Math" panose="02040503050406030204" pitchFamily="18" charset="0"/>
                <a:ea typeface="等线" panose="02010600030101010101" pitchFamily="2" charset="-122"/>
                <a:cs typeface="Cambria Math" panose="02040503050406030204" pitchFamily="18" charset="0"/>
              </a:rPr>
              <a:t>⊂</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B</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，即</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A</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可以是</a:t>
            </a:r>
            <a:r>
              <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rPr>
              <a:t>B</a:t>
            </a:r>
            <a:r>
              <a:rPr lang="zh-CN" altLang="zh-CN" sz="1800" i="1" kern="100" dirty="0">
                <a:effectLst/>
                <a:latin typeface="等线" panose="02010600030101010101" pitchFamily="2" charset="-122"/>
                <a:ea typeface="等线" panose="02010600030101010101" pitchFamily="2" charset="-122"/>
                <a:cs typeface="Times New Roman" panose="02020603050405020304" pitchFamily="18" charset="0"/>
              </a:rPr>
              <a:t>的一个完全相等的集合。 </a:t>
            </a:r>
            <a:endParaRPr lang="en-US" altLang="zh-CN" sz="1800" i="1" kern="100" dirty="0">
              <a:effectLst/>
              <a:latin typeface="等线" panose="02010600030101010101" pitchFamily="2" charset="-122"/>
              <a:ea typeface="等线" panose="02010600030101010101" pitchFamily="2" charset="-122"/>
              <a:cs typeface="Times New Roman" panose="02020603050405020304" pitchFamily="18" charset="0"/>
            </a:endParaRPr>
          </a:p>
          <a:p>
            <a:r>
              <a:rPr lang="zh-CN" altLang="zh-CN" sz="18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等价</a:t>
            </a:r>
            <a:r>
              <a:rPr lang="zh-CN" altLang="en-US" sz="2800" b="0" i="0" dirty="0">
                <a:solidFill>
                  <a:srgbClr val="374151"/>
                </a:solidFill>
                <a:effectLst/>
                <a:latin typeface="Söhne"/>
              </a:rPr>
              <a:t>（</a:t>
            </a:r>
            <a:r>
              <a:rPr lang="en-US" altLang="zh-CN" sz="2800" b="0" i="0" dirty="0">
                <a:solidFill>
                  <a:srgbClr val="374151"/>
                </a:solidFill>
                <a:effectLst/>
                <a:latin typeface="Söhne"/>
              </a:rPr>
              <a:t>Equivalence</a:t>
            </a:r>
            <a:r>
              <a:rPr lang="zh-CN" altLang="en-US" sz="2800" b="0" i="0" dirty="0">
                <a:solidFill>
                  <a:srgbClr val="374151"/>
                </a:solidFill>
                <a:effectLst/>
                <a:latin typeface="Söhne"/>
              </a:rPr>
              <a:t>）</a:t>
            </a:r>
            <a:r>
              <a:rPr lang="zh-CN" altLang="zh-CN" sz="18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通常使用符号</a:t>
            </a:r>
            <a:r>
              <a:rPr lang="en-US" altLang="zh-CN" sz="1800" kern="0" dirty="0">
                <a:solidFill>
                  <a:srgbClr val="374151"/>
                </a:solidFill>
                <a:effectLst/>
                <a:latin typeface="Segoe UI" panose="020B0502040204020203" pitchFamily="34" charset="0"/>
                <a:ea typeface="宋体" panose="02010600030101010101" pitchFamily="2" charset="-122"/>
              </a:rPr>
              <a:t> “↔” </a:t>
            </a:r>
            <a:r>
              <a:rPr lang="zh-CN" altLang="zh-CN" sz="18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或</a:t>
            </a:r>
            <a:r>
              <a:rPr lang="en-US" altLang="zh-CN" sz="1800" kern="0" dirty="0">
                <a:solidFill>
                  <a:srgbClr val="374151"/>
                </a:solidFill>
                <a:effectLst/>
                <a:latin typeface="Segoe UI" panose="020B0502040204020203" pitchFamily="34" charset="0"/>
                <a:ea typeface="宋体" panose="02010600030101010101" pitchFamily="2" charset="-122"/>
              </a:rPr>
              <a:t> “</a:t>
            </a:r>
            <a:r>
              <a:rPr lang="en-US" altLang="zh-CN" sz="1800" kern="0" dirty="0">
                <a:solidFill>
                  <a:srgbClr val="374151"/>
                </a:solidFill>
                <a:effectLst/>
                <a:latin typeface="Cambria Math" panose="02040503050406030204" pitchFamily="18" charset="0"/>
                <a:ea typeface="宋体" panose="02010600030101010101" pitchFamily="2" charset="-122"/>
                <a:cs typeface="Cambria Math" panose="02040503050406030204" pitchFamily="18" charset="0"/>
              </a:rPr>
              <a:t>⇔</a:t>
            </a:r>
            <a:r>
              <a:rPr lang="en-US" altLang="zh-CN" sz="1800" kern="0" dirty="0">
                <a:solidFill>
                  <a:srgbClr val="374151"/>
                </a:solidFill>
                <a:effectLst/>
                <a:latin typeface="Segoe UI" panose="020B0502040204020203" pitchFamily="34" charset="0"/>
                <a:ea typeface="宋体" panose="02010600030101010101" pitchFamily="2" charset="-122"/>
              </a:rPr>
              <a:t>” </a:t>
            </a:r>
            <a:r>
              <a:rPr lang="zh-CN" altLang="zh-CN" sz="18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表示</a:t>
            </a:r>
            <a:r>
              <a:rPr lang="zh-CN" altLang="en-US" sz="18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a:t>
            </a:r>
            <a:endParaRPr lang="en-US" altLang="zh-CN" sz="18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endParaRPr>
          </a:p>
          <a:p>
            <a:r>
              <a:rPr lang="zh-CN" altLang="en-US" sz="2800" b="0" i="0" dirty="0">
                <a:solidFill>
                  <a:srgbClr val="374151"/>
                </a:solidFill>
                <a:effectLst/>
                <a:latin typeface="Söhne"/>
              </a:rPr>
              <a:t>蕴含</a:t>
            </a:r>
            <a:r>
              <a:rPr lang="zh-CN" altLang="zh-CN" sz="18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a:t>
            </a:r>
            <a:r>
              <a:rPr lang="en-US" altLang="zh-CN" sz="1800" kern="0" dirty="0">
                <a:solidFill>
                  <a:srgbClr val="374151"/>
                </a:solidFill>
                <a:effectLst/>
                <a:latin typeface="Segoe UI" panose="020B0502040204020203" pitchFamily="34" charset="0"/>
                <a:ea typeface="宋体" panose="02010600030101010101" pitchFamily="2" charset="-122"/>
              </a:rPr>
              <a:t>Implication</a:t>
            </a:r>
            <a:r>
              <a:rPr lang="zh-CN" altLang="zh-CN" sz="18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rPr>
              <a:t>）</a:t>
            </a:r>
            <a:r>
              <a:rPr lang="zh-CN" altLang="en-US" sz="2800" b="0" i="0" dirty="0">
                <a:solidFill>
                  <a:srgbClr val="374151"/>
                </a:solidFill>
                <a:effectLst/>
                <a:latin typeface="Söhne"/>
              </a:rPr>
              <a:t>通常使用符号 </a:t>
            </a:r>
            <a:r>
              <a:rPr lang="en-US" altLang="zh-CN" sz="2800" b="0" i="0" dirty="0">
                <a:solidFill>
                  <a:srgbClr val="374151"/>
                </a:solidFill>
                <a:effectLst/>
                <a:latin typeface="Söhne"/>
              </a:rPr>
              <a:t>"→" </a:t>
            </a:r>
            <a:r>
              <a:rPr lang="zh-CN" altLang="en-US" sz="2800" b="0" i="0" dirty="0">
                <a:solidFill>
                  <a:srgbClr val="374151"/>
                </a:solidFill>
                <a:effectLst/>
                <a:latin typeface="Söhne"/>
              </a:rPr>
              <a:t>或 </a:t>
            </a:r>
            <a:r>
              <a:rPr lang="en-US" altLang="zh-CN" sz="2800" b="0" i="0" dirty="0">
                <a:solidFill>
                  <a:srgbClr val="374151"/>
                </a:solidFill>
                <a:effectLst/>
                <a:latin typeface="Söhne"/>
              </a:rPr>
              <a:t>"⇒" </a:t>
            </a:r>
            <a:r>
              <a:rPr lang="zh-CN" altLang="en-US" sz="2800" b="0" i="0" dirty="0">
                <a:solidFill>
                  <a:srgbClr val="374151"/>
                </a:solidFill>
                <a:effectLst/>
                <a:latin typeface="Söhne"/>
              </a:rPr>
              <a:t>表示</a:t>
            </a:r>
            <a:endParaRPr lang="en-US" altLang="zh-CN" sz="1800" kern="0" dirty="0">
              <a:solidFill>
                <a:srgbClr val="374151"/>
              </a:solidFill>
              <a:effectLst/>
              <a:latin typeface="Segoe UI" panose="020B0502040204020203" pitchFamily="34" charset="0"/>
              <a:ea typeface="宋体" panose="02010600030101010101" pitchFamily="2" charset="-122"/>
              <a:cs typeface="Segoe UI" panose="020B0502040204020203" pitchFamily="34" charset="0"/>
            </a:endParaRPr>
          </a:p>
          <a:p>
            <a:pPr eaLnBrk="1" hangingPunct="1">
              <a:buFontTx/>
              <a:buNone/>
            </a:pPr>
            <a:r>
              <a:rPr lang="zh-CN" altLang="en-US" sz="1200" b="1" dirty="0">
                <a:solidFill>
                  <a:srgbClr val="FF3300"/>
                </a:solidFill>
              </a:rPr>
              <a:t>包含(子集)  </a:t>
            </a:r>
            <a:r>
              <a:rPr lang="zh-CN" altLang="en-US" sz="1200" b="1" dirty="0">
                <a:solidFill>
                  <a:srgbClr val="333300"/>
                </a:solidFill>
              </a:rPr>
              <a:t>          </a:t>
            </a:r>
            <a:r>
              <a:rPr lang="en-US" altLang="zh-CN" sz="1200" b="1" i="1" dirty="0">
                <a:solidFill>
                  <a:srgbClr val="333300"/>
                </a:solidFill>
              </a:rPr>
              <a:t>A</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B</a:t>
            </a:r>
            <a:r>
              <a:rPr lang="en-US" altLang="zh-CN" sz="1200" b="1" dirty="0">
                <a:solidFill>
                  <a:srgbClr val="333300"/>
                </a:solidFill>
              </a:rPr>
              <a:t> </a:t>
            </a:r>
            <a:r>
              <a:rPr lang="en-US" altLang="zh-CN" sz="1200" b="1" dirty="0">
                <a:solidFill>
                  <a:srgbClr val="333300"/>
                </a:solidFill>
                <a:sym typeface="Symbol" panose="05050102010706020507" pitchFamily="18" charset="2"/>
              </a:rPr>
              <a:t> </a:t>
            </a:r>
            <a:r>
              <a:rPr lang="en-US" altLang="zh-CN" sz="1200" b="1" i="1" dirty="0">
                <a:solidFill>
                  <a:srgbClr val="333300"/>
                </a:solidFill>
              </a:rPr>
              <a:t>x</a:t>
            </a:r>
            <a:r>
              <a:rPr lang="en-US" altLang="zh-CN" sz="1200" b="1" dirty="0">
                <a:solidFill>
                  <a:srgbClr val="333300"/>
                </a:solidFill>
              </a:rPr>
              <a:t> (</a:t>
            </a:r>
            <a:r>
              <a:rPr lang="en-US" altLang="zh-CN" sz="1200" b="1" i="1" dirty="0" err="1">
                <a:solidFill>
                  <a:srgbClr val="333300"/>
                </a:solidFill>
              </a:rPr>
              <a:t>x</a:t>
            </a:r>
            <a:r>
              <a:rPr lang="en-US" altLang="zh-CN" sz="1200" b="1" dirty="0" err="1">
                <a:solidFill>
                  <a:srgbClr val="333300"/>
                </a:solidFill>
                <a:sym typeface="Symbol" panose="05050102010706020507" pitchFamily="18" charset="2"/>
              </a:rPr>
              <a:t></a:t>
            </a:r>
            <a:r>
              <a:rPr lang="en-US" altLang="zh-CN" sz="1200" b="1" i="1" dirty="0" err="1">
                <a:solidFill>
                  <a:srgbClr val="333300"/>
                </a:solidFill>
              </a:rPr>
              <a:t>A</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err="1">
                <a:solidFill>
                  <a:srgbClr val="333300"/>
                </a:solidFill>
              </a:rPr>
              <a:t>x</a:t>
            </a:r>
            <a:r>
              <a:rPr lang="en-US" altLang="zh-CN" sz="1200" b="1" dirty="0" err="1">
                <a:solidFill>
                  <a:srgbClr val="333300"/>
                </a:solidFill>
                <a:sym typeface="Symbol" panose="05050102010706020507" pitchFamily="18" charset="2"/>
              </a:rPr>
              <a:t></a:t>
            </a:r>
            <a:r>
              <a:rPr lang="en-US" altLang="zh-CN" sz="1200" b="1" i="1" dirty="0" err="1">
                <a:solidFill>
                  <a:srgbClr val="333300"/>
                </a:solidFill>
              </a:rPr>
              <a:t>B</a:t>
            </a:r>
            <a:r>
              <a:rPr lang="en-US" altLang="zh-CN" sz="1200" b="1" dirty="0">
                <a:solidFill>
                  <a:srgbClr val="333300"/>
                </a:solidFill>
              </a:rPr>
              <a:t>)</a:t>
            </a:r>
            <a:endParaRPr lang="en-US" altLang="zh-CN" sz="1200" b="1" i="1" dirty="0">
              <a:solidFill>
                <a:srgbClr val="333300"/>
              </a:solidFill>
            </a:endParaRPr>
          </a:p>
          <a:p>
            <a:pPr eaLnBrk="1" hangingPunct="1">
              <a:buFontTx/>
              <a:buNone/>
            </a:pPr>
            <a:r>
              <a:rPr lang="zh-CN" altLang="en-US" sz="1200" b="1" dirty="0">
                <a:solidFill>
                  <a:srgbClr val="FF0000"/>
                </a:solidFill>
              </a:rPr>
              <a:t>不包含</a:t>
            </a:r>
            <a:r>
              <a:rPr lang="zh-CN" altLang="en-US" sz="1200" b="1" dirty="0">
                <a:solidFill>
                  <a:srgbClr val="333300"/>
                </a:solidFill>
              </a:rPr>
              <a:t>                   </a:t>
            </a:r>
            <a:r>
              <a:rPr lang="en-US" altLang="zh-CN" sz="1200" b="1" i="1" dirty="0">
                <a:solidFill>
                  <a:srgbClr val="333300"/>
                </a:solidFill>
              </a:rPr>
              <a:t>A</a:t>
            </a:r>
            <a:r>
              <a:rPr lang="en-US" altLang="zh-CN" sz="1200" b="1" dirty="0">
                <a:solidFill>
                  <a:srgbClr val="333300"/>
                </a:solidFill>
              </a:rPr>
              <a:t> ⊈ </a:t>
            </a:r>
            <a:r>
              <a:rPr lang="en-US" altLang="zh-CN" sz="1200" b="1" i="1" dirty="0">
                <a:solidFill>
                  <a:srgbClr val="333300"/>
                </a:solidFill>
              </a:rPr>
              <a:t>B</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i="1" dirty="0">
                <a:solidFill>
                  <a:srgbClr val="333300"/>
                </a:solidFill>
              </a:rPr>
              <a:t>x</a:t>
            </a:r>
            <a:r>
              <a:rPr lang="en-US" altLang="zh-CN" sz="1200" b="1" dirty="0">
                <a:solidFill>
                  <a:srgbClr val="333300"/>
                </a:solidFill>
              </a:rPr>
              <a:t> (</a:t>
            </a:r>
            <a:r>
              <a:rPr lang="en-US" altLang="zh-CN" sz="1200" b="1" i="1" dirty="0" err="1">
                <a:solidFill>
                  <a:srgbClr val="333300"/>
                </a:solidFill>
              </a:rPr>
              <a:t>x</a:t>
            </a:r>
            <a:r>
              <a:rPr lang="en-US" altLang="zh-CN" sz="1200" b="1" dirty="0" err="1">
                <a:solidFill>
                  <a:srgbClr val="333300"/>
                </a:solidFill>
                <a:sym typeface="Symbol" panose="05050102010706020507" pitchFamily="18" charset="2"/>
              </a:rPr>
              <a:t></a:t>
            </a:r>
            <a:r>
              <a:rPr lang="en-US" altLang="zh-CN" sz="1200" b="1" i="1" dirty="0" err="1">
                <a:solidFill>
                  <a:srgbClr val="333300"/>
                </a:solidFill>
              </a:rPr>
              <a:t>A</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err="1">
                <a:solidFill>
                  <a:srgbClr val="333300"/>
                </a:solidFill>
              </a:rPr>
              <a:t>x</a:t>
            </a:r>
            <a:r>
              <a:rPr lang="en-US" altLang="zh-CN" sz="1200" b="1" dirty="0" err="1">
                <a:solidFill>
                  <a:srgbClr val="333300"/>
                </a:solidFill>
                <a:sym typeface="Symbol" panose="05050102010706020507" pitchFamily="18" charset="2"/>
              </a:rPr>
              <a:t></a:t>
            </a:r>
            <a:r>
              <a:rPr lang="en-US" altLang="zh-CN" sz="1200" b="1" i="1" dirty="0" err="1">
                <a:solidFill>
                  <a:srgbClr val="333300"/>
                </a:solidFill>
              </a:rPr>
              <a:t>B</a:t>
            </a:r>
            <a:r>
              <a:rPr lang="en-US" altLang="zh-CN" sz="1200" b="1" dirty="0">
                <a:solidFill>
                  <a:srgbClr val="333300"/>
                </a:solidFill>
              </a:rPr>
              <a:t>) </a:t>
            </a:r>
          </a:p>
          <a:p>
            <a:pPr eaLnBrk="1" hangingPunct="1">
              <a:buFontTx/>
              <a:buNone/>
            </a:pPr>
            <a:r>
              <a:rPr lang="zh-CN" altLang="en-US" sz="1200" b="1" dirty="0">
                <a:solidFill>
                  <a:srgbClr val="FF3300"/>
                </a:solidFill>
              </a:rPr>
              <a:t>相等</a:t>
            </a:r>
            <a:r>
              <a:rPr lang="zh-CN" altLang="en-US" sz="1200" b="1" dirty="0">
                <a:solidFill>
                  <a:srgbClr val="333300"/>
                </a:solidFill>
              </a:rPr>
              <a:t>      </a:t>
            </a:r>
            <a:r>
              <a:rPr lang="zh-CN" altLang="en-US" sz="1200" b="1" i="1" dirty="0">
                <a:solidFill>
                  <a:srgbClr val="333300"/>
                </a:solidFill>
              </a:rPr>
              <a:t>                 </a:t>
            </a:r>
            <a:r>
              <a:rPr lang="en-US" altLang="zh-CN" sz="1200" b="1" i="1" dirty="0">
                <a:solidFill>
                  <a:srgbClr val="333300"/>
                </a:solidFill>
              </a:rPr>
              <a:t>A</a:t>
            </a:r>
            <a:r>
              <a:rPr lang="en-US" altLang="zh-CN" sz="1200" b="1" dirty="0">
                <a:solidFill>
                  <a:srgbClr val="333300"/>
                </a:solidFill>
              </a:rPr>
              <a:t> = </a:t>
            </a:r>
            <a:r>
              <a:rPr lang="en-US" altLang="zh-CN" sz="1200" b="1" i="1" dirty="0">
                <a:solidFill>
                  <a:srgbClr val="333300"/>
                </a:solidFill>
              </a:rPr>
              <a:t>B</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A</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B</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B</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A</a:t>
            </a:r>
          </a:p>
          <a:p>
            <a:pPr eaLnBrk="1" hangingPunct="1">
              <a:buFontTx/>
              <a:buNone/>
            </a:pPr>
            <a:r>
              <a:rPr lang="zh-CN" altLang="en-US" sz="1200" b="1" dirty="0">
                <a:solidFill>
                  <a:srgbClr val="FF0000"/>
                </a:solidFill>
              </a:rPr>
              <a:t>不相等  </a:t>
            </a:r>
            <a:r>
              <a:rPr lang="zh-CN" altLang="en-US" sz="1200" b="1" dirty="0">
                <a:solidFill>
                  <a:srgbClr val="333300"/>
                </a:solidFill>
              </a:rPr>
              <a:t>                 </a:t>
            </a:r>
            <a:r>
              <a:rPr lang="en-US" altLang="zh-CN" sz="1200" b="1" i="1" dirty="0">
                <a:solidFill>
                  <a:srgbClr val="333300"/>
                </a:solidFill>
              </a:rPr>
              <a:t>A</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B </a:t>
            </a:r>
            <a:r>
              <a:rPr lang="en-US" altLang="zh-CN" sz="1200" b="1" dirty="0">
                <a:solidFill>
                  <a:srgbClr val="333300"/>
                </a:solidFill>
                <a:sym typeface="Symbol" panose="05050102010706020507" pitchFamily="18" charset="2"/>
              </a:rPr>
              <a:t></a:t>
            </a:r>
            <a:r>
              <a:rPr lang="en-US" altLang="zh-CN" sz="1200" b="1" i="1" dirty="0">
                <a:solidFill>
                  <a:srgbClr val="333300"/>
                </a:solidFill>
              </a:rPr>
              <a:t> A</a:t>
            </a:r>
            <a:r>
              <a:rPr lang="en-US" altLang="zh-CN" sz="1200" b="1" dirty="0">
                <a:solidFill>
                  <a:srgbClr val="333300"/>
                </a:solidFill>
              </a:rPr>
              <a:t> ⊈ </a:t>
            </a:r>
            <a:r>
              <a:rPr lang="en-US" altLang="zh-CN" sz="1200" b="1" i="1" dirty="0">
                <a:solidFill>
                  <a:srgbClr val="333300"/>
                </a:solidFill>
              </a:rPr>
              <a:t>B </a:t>
            </a:r>
            <a:r>
              <a:rPr lang="en-US" altLang="zh-CN" sz="1200" b="1" dirty="0">
                <a:sym typeface="Symbol" panose="05050102010706020507" pitchFamily="18" charset="2"/>
              </a:rPr>
              <a:t></a:t>
            </a:r>
            <a:r>
              <a:rPr lang="en-US" altLang="zh-CN" sz="1200" b="1" i="1" dirty="0">
                <a:solidFill>
                  <a:srgbClr val="333300"/>
                </a:solidFill>
              </a:rPr>
              <a:t> B</a:t>
            </a:r>
            <a:r>
              <a:rPr lang="en-US" altLang="zh-CN" sz="1200" b="1" dirty="0">
                <a:solidFill>
                  <a:srgbClr val="333300"/>
                </a:solidFill>
              </a:rPr>
              <a:t> ⊈ </a:t>
            </a:r>
            <a:r>
              <a:rPr lang="en-US" altLang="zh-CN" sz="1200" b="1" i="1" dirty="0">
                <a:solidFill>
                  <a:srgbClr val="333300"/>
                </a:solidFill>
              </a:rPr>
              <a:t>A</a:t>
            </a:r>
          </a:p>
          <a:p>
            <a:pPr eaLnBrk="1" hangingPunct="1">
              <a:buFontTx/>
              <a:buNone/>
            </a:pPr>
            <a:r>
              <a:rPr lang="zh-CN" altLang="en-US" sz="1200" b="1" dirty="0">
                <a:solidFill>
                  <a:srgbClr val="FF3300"/>
                </a:solidFill>
              </a:rPr>
              <a:t>真包含(真子集)</a:t>
            </a:r>
            <a:r>
              <a:rPr lang="zh-CN" altLang="en-US" sz="1200" b="1" dirty="0">
                <a:solidFill>
                  <a:srgbClr val="333300"/>
                </a:solidFill>
              </a:rPr>
              <a:t> </a:t>
            </a:r>
            <a:r>
              <a:rPr lang="zh-CN" altLang="en-US" sz="1200" b="1" i="1" dirty="0">
                <a:solidFill>
                  <a:srgbClr val="333300"/>
                </a:solidFill>
              </a:rPr>
              <a:t>   </a:t>
            </a:r>
            <a:r>
              <a:rPr lang="en-US" altLang="zh-CN" sz="1200" b="1" i="1" dirty="0">
                <a:solidFill>
                  <a:srgbClr val="333300"/>
                </a:solidFill>
              </a:rPr>
              <a:t>A</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B</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A</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B</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A</a:t>
            </a:r>
            <a:r>
              <a:rPr lang="en-US" altLang="zh-CN" sz="1200" b="1" dirty="0">
                <a:solidFill>
                  <a:srgbClr val="333300"/>
                </a:solidFill>
              </a:rPr>
              <a:t> </a:t>
            </a:r>
            <a:r>
              <a:rPr lang="en-US" altLang="zh-CN" sz="1200" b="1" dirty="0">
                <a:solidFill>
                  <a:srgbClr val="333300"/>
                </a:solidFill>
                <a:sym typeface="Symbol" panose="05050102010706020507" pitchFamily="18" charset="2"/>
              </a:rPr>
              <a:t></a:t>
            </a:r>
            <a:r>
              <a:rPr lang="en-US" altLang="zh-CN" sz="1200" b="1" dirty="0">
                <a:solidFill>
                  <a:srgbClr val="333300"/>
                </a:solidFill>
              </a:rPr>
              <a:t> </a:t>
            </a:r>
            <a:r>
              <a:rPr lang="en-US" altLang="zh-CN" sz="1200" b="1" i="1" dirty="0">
                <a:solidFill>
                  <a:srgbClr val="333300"/>
                </a:solidFill>
              </a:rPr>
              <a:t>B</a:t>
            </a:r>
            <a:r>
              <a:rPr lang="en-US" altLang="zh-CN" sz="1200" b="1" dirty="0">
                <a:solidFill>
                  <a:srgbClr val="333300"/>
                </a:solidFill>
              </a:rPr>
              <a:t> </a:t>
            </a:r>
          </a:p>
          <a:p>
            <a:pPr eaLnBrk="1" hangingPunct="1">
              <a:buFontTx/>
              <a:buNone/>
            </a:pPr>
            <a:r>
              <a:rPr lang="zh-CN" altLang="en-US" sz="1200" b="1" dirty="0">
                <a:solidFill>
                  <a:srgbClr val="000066"/>
                </a:solidFill>
                <a:sym typeface="Symbol" panose="05050102010706020507" pitchFamily="18" charset="2"/>
              </a:rPr>
              <a:t>例如, </a:t>
            </a:r>
            <a:r>
              <a:rPr lang="en-US" altLang="zh-CN" sz="1200" b="1" i="1" dirty="0">
                <a:solidFill>
                  <a:srgbClr val="000066"/>
                </a:solidFill>
                <a:sym typeface="Symbol" panose="05050102010706020507" pitchFamily="18" charset="2"/>
              </a:rPr>
              <a:t>A</a:t>
            </a:r>
            <a:r>
              <a:rPr lang="en-US" altLang="zh-CN" sz="1200" b="1" dirty="0">
                <a:solidFill>
                  <a:srgbClr val="000066"/>
                </a:solidFill>
                <a:sym typeface="Symbol" panose="05050102010706020507" pitchFamily="18" charset="2"/>
              </a:rPr>
              <a:t>={1,2,3}, </a:t>
            </a:r>
            <a:r>
              <a:rPr lang="en-US" altLang="zh-CN" sz="1200" b="1" i="1" dirty="0">
                <a:solidFill>
                  <a:srgbClr val="000066"/>
                </a:solidFill>
                <a:sym typeface="Symbol" panose="05050102010706020507" pitchFamily="18" charset="2"/>
              </a:rPr>
              <a:t>B</a:t>
            </a:r>
            <a:r>
              <a:rPr lang="en-US" altLang="zh-CN" sz="1200" b="1" dirty="0">
                <a:solidFill>
                  <a:srgbClr val="000066"/>
                </a:solidFill>
                <a:sym typeface="Symbol" panose="05050102010706020507" pitchFamily="18" charset="2"/>
              </a:rPr>
              <a:t>={ </a:t>
            </a:r>
            <a:r>
              <a:rPr lang="en-US" altLang="zh-CN" sz="1200" b="1" i="1" dirty="0">
                <a:solidFill>
                  <a:srgbClr val="000066"/>
                </a:solidFill>
                <a:sym typeface="Symbol" panose="05050102010706020507" pitchFamily="18" charset="2"/>
              </a:rPr>
              <a:t>x</a:t>
            </a:r>
            <a:r>
              <a:rPr lang="en-US" altLang="zh-CN" sz="1200" b="1" dirty="0">
                <a:solidFill>
                  <a:srgbClr val="000066"/>
                </a:solidFill>
                <a:sym typeface="Symbol" panose="05050102010706020507" pitchFamily="18" charset="2"/>
              </a:rPr>
              <a:t> | </a:t>
            </a:r>
            <a:r>
              <a:rPr lang="en-US" altLang="zh-CN" sz="1200" b="1" i="1" dirty="0" err="1">
                <a:solidFill>
                  <a:srgbClr val="000066"/>
                </a:solidFill>
              </a:rPr>
              <a:t>x</a:t>
            </a:r>
            <a:r>
              <a:rPr lang="en-US" altLang="zh-CN" sz="1200" b="1" dirty="0" err="1">
                <a:solidFill>
                  <a:srgbClr val="000066"/>
                </a:solidFill>
                <a:sym typeface="Symbol" panose="05050102010706020507" pitchFamily="18" charset="2"/>
              </a:rPr>
              <a:t>R</a:t>
            </a:r>
            <a:r>
              <a:rPr lang="en-US" altLang="zh-CN" sz="1200" b="1" dirty="0">
                <a:solidFill>
                  <a:srgbClr val="000066"/>
                </a:solidFill>
                <a:sym typeface="Symbol" panose="05050102010706020507" pitchFamily="18" charset="2"/>
              </a:rPr>
              <a:t>|</a:t>
            </a:r>
            <a:r>
              <a:rPr lang="en-US" altLang="zh-CN" sz="1200" b="1" i="1" dirty="0">
                <a:solidFill>
                  <a:srgbClr val="000066"/>
                </a:solidFill>
                <a:sym typeface="Symbol" panose="05050102010706020507" pitchFamily="18" charset="2"/>
              </a:rPr>
              <a:t>x</a:t>
            </a:r>
            <a:r>
              <a:rPr lang="en-US" altLang="zh-CN" sz="1200" b="1" dirty="0">
                <a:solidFill>
                  <a:srgbClr val="000066"/>
                </a:solidFill>
                <a:sym typeface="Symbol" panose="05050102010706020507" pitchFamily="18" charset="2"/>
              </a:rPr>
              <a:t>|1 }, </a:t>
            </a:r>
            <a:r>
              <a:rPr lang="en-US" altLang="zh-CN" sz="1200" b="1" i="1" dirty="0">
                <a:solidFill>
                  <a:srgbClr val="000066"/>
                </a:solidFill>
                <a:sym typeface="Symbol" panose="05050102010706020507" pitchFamily="18" charset="2"/>
              </a:rPr>
              <a:t>C</a:t>
            </a:r>
            <a:r>
              <a:rPr lang="en-US" altLang="zh-CN" sz="1200" b="1" dirty="0">
                <a:solidFill>
                  <a:srgbClr val="000066"/>
                </a:solidFill>
                <a:sym typeface="Symbol" panose="05050102010706020507" pitchFamily="18" charset="2"/>
              </a:rPr>
              <a:t>={ </a:t>
            </a:r>
            <a:r>
              <a:rPr lang="en-US" altLang="zh-CN" sz="1200" b="1" i="1" dirty="0">
                <a:solidFill>
                  <a:srgbClr val="000066"/>
                </a:solidFill>
                <a:sym typeface="Symbol" panose="05050102010706020507" pitchFamily="18" charset="2"/>
              </a:rPr>
              <a:t>x</a:t>
            </a:r>
            <a:r>
              <a:rPr lang="en-US" altLang="zh-CN" sz="1200" b="1" dirty="0">
                <a:solidFill>
                  <a:srgbClr val="000066"/>
                </a:solidFill>
                <a:sym typeface="Symbol" panose="05050102010706020507" pitchFamily="18" charset="2"/>
              </a:rPr>
              <a:t> | </a:t>
            </a:r>
            <a:r>
              <a:rPr lang="en-US" altLang="zh-CN" sz="1200" b="1" i="1" dirty="0">
                <a:solidFill>
                  <a:srgbClr val="000066"/>
                </a:solidFill>
              </a:rPr>
              <a:t>x</a:t>
            </a:r>
            <a:r>
              <a:rPr lang="en-US" altLang="zh-CN" sz="1200" b="1" dirty="0">
                <a:solidFill>
                  <a:srgbClr val="000066"/>
                </a:solidFill>
                <a:sym typeface="Symbol" panose="05050102010706020507" pitchFamily="18" charset="2"/>
              </a:rPr>
              <a:t>R</a:t>
            </a:r>
            <a:r>
              <a:rPr lang="en-US" altLang="zh-CN" sz="1200" b="1" i="1" dirty="0">
                <a:solidFill>
                  <a:srgbClr val="000066"/>
                </a:solidFill>
                <a:sym typeface="Symbol" panose="05050102010706020507" pitchFamily="18" charset="2"/>
              </a:rPr>
              <a:t>x</a:t>
            </a:r>
            <a:r>
              <a:rPr lang="en-US" altLang="zh-CN" sz="1200" b="1" baseline="30000" dirty="0">
                <a:solidFill>
                  <a:srgbClr val="000066"/>
                </a:solidFill>
                <a:sym typeface="Symbol" panose="05050102010706020507" pitchFamily="18" charset="2"/>
              </a:rPr>
              <a:t>2</a:t>
            </a:r>
            <a:r>
              <a:rPr lang="en-US" altLang="zh-CN" sz="1200" b="1" dirty="0">
                <a:solidFill>
                  <a:srgbClr val="000066"/>
                </a:solidFill>
                <a:sym typeface="Symbol" panose="05050102010706020507" pitchFamily="18" charset="2"/>
              </a:rPr>
              <a:t>=1 }, </a:t>
            </a:r>
          </a:p>
          <a:p>
            <a:pPr eaLnBrk="1" hangingPunct="1">
              <a:buFontTx/>
              <a:buNone/>
            </a:pPr>
            <a:r>
              <a:rPr lang="en-US" altLang="zh-CN" sz="1200" b="1" i="1" dirty="0">
                <a:solidFill>
                  <a:srgbClr val="000066"/>
                </a:solidFill>
                <a:sym typeface="Symbol" panose="05050102010706020507" pitchFamily="18" charset="2"/>
              </a:rPr>
              <a:t>       D</a:t>
            </a:r>
            <a:r>
              <a:rPr lang="en-US" altLang="zh-CN" sz="1200" b="1" dirty="0">
                <a:solidFill>
                  <a:srgbClr val="000066"/>
                </a:solidFill>
                <a:sym typeface="Symbol" panose="05050102010706020507" pitchFamily="18" charset="2"/>
              </a:rPr>
              <a:t>={-1,1}, </a:t>
            </a:r>
            <a:r>
              <a:rPr lang="zh-CN" altLang="en-US" sz="1200" b="1" dirty="0">
                <a:solidFill>
                  <a:srgbClr val="000066"/>
                </a:solidFill>
                <a:sym typeface="Symbol" panose="05050102010706020507" pitchFamily="18" charset="2"/>
              </a:rPr>
              <a:t>则有</a:t>
            </a:r>
            <a:r>
              <a:rPr lang="en-US" altLang="zh-CN" sz="1200" b="1" i="1" dirty="0">
                <a:solidFill>
                  <a:srgbClr val="000066"/>
                </a:solidFill>
                <a:sym typeface="Symbol" panose="05050102010706020507" pitchFamily="18" charset="2"/>
              </a:rPr>
              <a:t>C </a:t>
            </a:r>
            <a:r>
              <a:rPr lang="en-US" altLang="zh-CN" sz="1200" b="1" dirty="0">
                <a:solidFill>
                  <a:srgbClr val="000066"/>
                </a:solidFill>
                <a:sym typeface="Symbol" panose="05050102010706020507" pitchFamily="18" charset="2"/>
              </a:rPr>
              <a:t></a:t>
            </a:r>
            <a:r>
              <a:rPr lang="en-US" altLang="zh-CN" sz="1200" b="1" i="1" dirty="0">
                <a:solidFill>
                  <a:srgbClr val="000066"/>
                </a:solidFill>
                <a:sym typeface="Symbol" panose="05050102010706020507" pitchFamily="18" charset="2"/>
              </a:rPr>
              <a:t> B, C </a:t>
            </a:r>
            <a:r>
              <a:rPr lang="en-US" altLang="zh-CN" sz="1200" b="1" dirty="0">
                <a:solidFill>
                  <a:srgbClr val="000066"/>
                </a:solidFill>
                <a:sym typeface="Symbol" panose="05050102010706020507" pitchFamily="18" charset="2"/>
              </a:rPr>
              <a:t></a:t>
            </a:r>
            <a:r>
              <a:rPr lang="en-US" altLang="zh-CN" sz="1200" b="1" i="1" dirty="0">
                <a:solidFill>
                  <a:srgbClr val="000066"/>
                </a:solidFill>
                <a:sym typeface="Symbol" panose="05050102010706020507" pitchFamily="18" charset="2"/>
              </a:rPr>
              <a:t> B, C </a:t>
            </a:r>
            <a:r>
              <a:rPr lang="en-US" altLang="zh-CN" sz="1200" b="1" dirty="0">
                <a:solidFill>
                  <a:srgbClr val="000066"/>
                </a:solidFill>
              </a:rPr>
              <a:t>⊈</a:t>
            </a:r>
            <a:r>
              <a:rPr lang="en-US" altLang="zh-CN" sz="1200" b="1" i="1" dirty="0">
                <a:solidFill>
                  <a:srgbClr val="000066"/>
                </a:solidFill>
                <a:sym typeface="Symbol" panose="05050102010706020507" pitchFamily="18" charset="2"/>
              </a:rPr>
              <a:t> A, A </a:t>
            </a:r>
            <a:r>
              <a:rPr lang="en-US" altLang="zh-CN" sz="1200" b="1" dirty="0">
                <a:solidFill>
                  <a:srgbClr val="000066"/>
                </a:solidFill>
              </a:rPr>
              <a:t>⊈</a:t>
            </a:r>
            <a:r>
              <a:rPr lang="en-US" altLang="zh-CN" sz="1200" b="1" i="1" dirty="0">
                <a:solidFill>
                  <a:srgbClr val="000066"/>
                </a:solidFill>
                <a:sym typeface="Symbol" panose="05050102010706020507" pitchFamily="18" charset="2"/>
              </a:rPr>
              <a:t> B, B </a:t>
            </a:r>
            <a:r>
              <a:rPr lang="en-US" altLang="zh-CN" sz="1200" b="1" dirty="0">
                <a:solidFill>
                  <a:srgbClr val="000066"/>
                </a:solidFill>
              </a:rPr>
              <a:t>⊈</a:t>
            </a:r>
            <a:r>
              <a:rPr lang="en-US" altLang="zh-CN" sz="1200" b="1" i="1" dirty="0">
                <a:solidFill>
                  <a:srgbClr val="000066"/>
                </a:solidFill>
                <a:sym typeface="Symbol" panose="05050102010706020507" pitchFamily="18" charset="2"/>
              </a:rPr>
              <a:t> A, C = D</a:t>
            </a:r>
          </a:p>
          <a:p>
            <a:pPr eaLnBrk="1" hangingPunct="1">
              <a:buFontTx/>
              <a:buNone/>
            </a:pPr>
            <a:endParaRPr lang="zh-CN" altLang="en-US" sz="1200" b="1" dirty="0">
              <a:solidFill>
                <a:srgbClr val="000066"/>
              </a:solidFill>
              <a:sym typeface="Symbol" panose="05050102010706020507" pitchFamily="18" charset="2"/>
            </a:endParaRPr>
          </a:p>
          <a:p>
            <a:pPr eaLnBrk="1" hangingPunct="1">
              <a:buFontTx/>
              <a:buNone/>
            </a:pPr>
            <a:r>
              <a:rPr lang="zh-CN" altLang="en-US" sz="1200" b="1" dirty="0">
                <a:sym typeface="Symbol" panose="05050102010706020507" pitchFamily="18" charset="2"/>
              </a:rPr>
              <a:t>性质 (1) </a:t>
            </a:r>
            <a:r>
              <a:rPr lang="en-US" altLang="zh-CN" sz="1200" b="1" i="1" dirty="0">
                <a:sym typeface="Symbol" panose="05050102010706020507" pitchFamily="18" charset="2"/>
              </a:rPr>
              <a:t>A </a:t>
            </a:r>
            <a:r>
              <a:rPr lang="en-US" altLang="zh-CN" sz="1200" b="1" dirty="0">
                <a:solidFill>
                  <a:srgbClr val="333300"/>
                </a:solidFill>
                <a:sym typeface="Symbol" panose="05050102010706020507" pitchFamily="18" charset="2"/>
              </a:rPr>
              <a:t></a:t>
            </a:r>
            <a:r>
              <a:rPr lang="en-US" altLang="zh-CN" sz="1200" b="1" i="1" dirty="0">
                <a:sym typeface="Symbol" panose="05050102010706020507" pitchFamily="18" charset="2"/>
              </a:rPr>
              <a:t> A</a:t>
            </a:r>
          </a:p>
          <a:p>
            <a:pPr eaLnBrk="1" hangingPunct="1">
              <a:buFontTx/>
              <a:buNone/>
            </a:pPr>
            <a:r>
              <a:rPr lang="en-US" altLang="zh-CN" sz="1200" b="1" dirty="0">
                <a:sym typeface="Symbol" panose="05050102010706020507" pitchFamily="18" charset="2"/>
              </a:rPr>
              <a:t>          (2) </a:t>
            </a:r>
            <a:r>
              <a:rPr lang="en-US" altLang="zh-CN" sz="1200" b="1" i="1" dirty="0">
                <a:sym typeface="Symbol" panose="05050102010706020507" pitchFamily="18" charset="2"/>
              </a:rPr>
              <a:t>A </a:t>
            </a:r>
            <a:r>
              <a:rPr lang="en-US" altLang="zh-CN" sz="1200" b="1" dirty="0">
                <a:solidFill>
                  <a:srgbClr val="333300"/>
                </a:solidFill>
                <a:sym typeface="Symbol" panose="05050102010706020507" pitchFamily="18" charset="2"/>
              </a:rPr>
              <a:t></a:t>
            </a:r>
            <a:r>
              <a:rPr lang="en-US" altLang="zh-CN" sz="1200" b="1" i="1" dirty="0">
                <a:sym typeface="Symbol" panose="05050102010706020507" pitchFamily="18" charset="2"/>
              </a:rPr>
              <a:t> B </a:t>
            </a:r>
            <a:r>
              <a:rPr lang="en-US" altLang="zh-CN" sz="1200" b="1" dirty="0">
                <a:solidFill>
                  <a:srgbClr val="333300"/>
                </a:solidFill>
                <a:sym typeface="Symbol" panose="05050102010706020507" pitchFamily="18" charset="2"/>
              </a:rPr>
              <a:t></a:t>
            </a:r>
            <a:r>
              <a:rPr lang="en-US" altLang="zh-CN" sz="1200" b="1" i="1" dirty="0">
                <a:sym typeface="Symbol" panose="05050102010706020507" pitchFamily="18" charset="2"/>
              </a:rPr>
              <a:t> B </a:t>
            </a:r>
            <a:r>
              <a:rPr lang="en-US" altLang="zh-CN" sz="1200" b="1" dirty="0">
                <a:solidFill>
                  <a:srgbClr val="333300"/>
                </a:solidFill>
                <a:sym typeface="Symbol" panose="05050102010706020507" pitchFamily="18" charset="2"/>
              </a:rPr>
              <a:t></a:t>
            </a:r>
            <a:r>
              <a:rPr lang="en-US" altLang="zh-CN" sz="1200" b="1" i="1" dirty="0">
                <a:sym typeface="Symbol" panose="05050102010706020507" pitchFamily="18" charset="2"/>
              </a:rPr>
              <a:t> C </a:t>
            </a:r>
            <a:r>
              <a:rPr lang="en-US" altLang="zh-CN" sz="1200" b="1" dirty="0">
                <a:solidFill>
                  <a:srgbClr val="333300"/>
                </a:solidFill>
                <a:sym typeface="Symbol" panose="05050102010706020507" pitchFamily="18" charset="2"/>
              </a:rPr>
              <a:t></a:t>
            </a:r>
            <a:r>
              <a:rPr lang="en-US" altLang="zh-CN" sz="1200" b="1" i="1" dirty="0">
                <a:sym typeface="Symbol" panose="05050102010706020507" pitchFamily="18" charset="2"/>
              </a:rPr>
              <a:t> A </a:t>
            </a:r>
            <a:r>
              <a:rPr lang="en-US" altLang="zh-CN" sz="1200" b="1" dirty="0">
                <a:solidFill>
                  <a:srgbClr val="333300"/>
                </a:solidFill>
                <a:sym typeface="Symbol" panose="05050102010706020507" pitchFamily="18" charset="2"/>
              </a:rPr>
              <a:t></a:t>
            </a:r>
            <a:r>
              <a:rPr lang="en-US" altLang="zh-CN" sz="1200" b="1" i="1" dirty="0">
                <a:sym typeface="Symbol" panose="05050102010706020507" pitchFamily="18" charset="2"/>
              </a:rPr>
              <a:t> C</a:t>
            </a: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6</a:t>
            </a:fld>
            <a:endParaRPr lang="zh-CN" altLang="en-US"/>
          </a:p>
        </p:txBody>
      </p:sp>
    </p:spTree>
    <p:extLst>
      <p:ext uri="{BB962C8B-B14F-4D97-AF65-F5344CB8AC3E}">
        <p14:creationId xmlns:p14="http://schemas.microsoft.com/office/powerpoint/2010/main" val="742958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90000"/>
              </a:spcBef>
              <a:buFontTx/>
              <a:buNone/>
            </a:pPr>
            <a:r>
              <a:rPr lang="zh-CN" altLang="en-US" dirty="0"/>
              <a:t>定理</a:t>
            </a:r>
            <a:r>
              <a:rPr lang="en-US" altLang="zh-CN" dirty="0"/>
              <a:t>1.1 </a:t>
            </a:r>
            <a:r>
              <a:rPr lang="zh-CN" altLang="en-US" dirty="0"/>
              <a:t>空集是任何集合的子集 证 用归谬法</a:t>
            </a:r>
            <a:r>
              <a:rPr lang="en-US" altLang="zh-CN" dirty="0"/>
              <a:t>. </a:t>
            </a:r>
            <a:r>
              <a:rPr lang="zh-CN" altLang="en-US" dirty="0"/>
              <a:t>假设不然</a:t>
            </a:r>
            <a:r>
              <a:rPr lang="en-US" altLang="zh-CN" dirty="0"/>
              <a:t>, </a:t>
            </a:r>
            <a:r>
              <a:rPr lang="zh-CN" altLang="en-US" dirty="0"/>
              <a:t>则存在集合</a:t>
            </a:r>
            <a:r>
              <a:rPr lang="en-US" altLang="zh-CN" dirty="0"/>
              <a:t>A, </a:t>
            </a:r>
            <a:r>
              <a:rPr lang="zh-CN" altLang="en-US" dirty="0"/>
              <a:t>使得 ⊈ </a:t>
            </a:r>
            <a:r>
              <a:rPr lang="en-US" altLang="zh-CN" dirty="0"/>
              <a:t>A, </a:t>
            </a:r>
            <a:r>
              <a:rPr lang="zh-CN" altLang="en-US" dirty="0"/>
              <a:t>即存在</a:t>
            </a:r>
            <a:r>
              <a:rPr lang="en-US" altLang="zh-CN" dirty="0"/>
              <a:t>x, x</a:t>
            </a:r>
            <a:r>
              <a:rPr lang="zh-CN" altLang="en-US" dirty="0"/>
              <a:t>且</a:t>
            </a:r>
            <a:r>
              <a:rPr lang="en-US" altLang="zh-CN" dirty="0" err="1"/>
              <a:t>xA</a:t>
            </a:r>
            <a:r>
              <a:rPr lang="en-US" altLang="zh-CN" dirty="0"/>
              <a:t>, </a:t>
            </a:r>
            <a:r>
              <a:rPr lang="zh-CN" altLang="en-US" dirty="0"/>
              <a:t>矛盾 英文</a:t>
            </a:r>
            <a:endParaRPr lang="en-US" altLang="zh-CN" sz="1200" b="1" dirty="0">
              <a:solidFill>
                <a:srgbClr val="FF3300"/>
              </a:solidFill>
              <a:sym typeface="Symbol" panose="05050102010706020507" pitchFamily="18" charset="2"/>
            </a:endParaRPr>
          </a:p>
          <a:p>
            <a:pPr eaLnBrk="1" hangingPunct="1">
              <a:spcBef>
                <a:spcPct val="90000"/>
              </a:spcBef>
              <a:buFontTx/>
              <a:buNone/>
            </a:pPr>
            <a:r>
              <a:rPr lang="zh-CN" altLang="en-US" sz="1200" b="1" dirty="0">
                <a:solidFill>
                  <a:srgbClr val="FF3300"/>
                </a:solidFill>
                <a:sym typeface="Symbol" panose="05050102010706020507" pitchFamily="18" charset="2"/>
              </a:rPr>
              <a:t>推论  </a:t>
            </a:r>
            <a:r>
              <a:rPr lang="zh-CN" altLang="en-US" sz="1200" b="1" dirty="0">
                <a:sym typeface="Symbol" panose="05050102010706020507" pitchFamily="18" charset="2"/>
              </a:rPr>
              <a:t>空集是惟一的.</a:t>
            </a:r>
          </a:p>
          <a:p>
            <a:pPr eaLnBrk="1" hangingPunct="1">
              <a:buFontTx/>
              <a:buNone/>
            </a:pPr>
            <a:r>
              <a:rPr lang="zh-CN" altLang="en-US" sz="1200" b="1" dirty="0">
                <a:sym typeface="Symbol" panose="05050102010706020507" pitchFamily="18" charset="2"/>
              </a:rPr>
              <a:t>证 假设存在</a:t>
            </a:r>
            <a:r>
              <a:rPr lang="zh-CN" altLang="en-US" sz="1200" b="1" baseline="-25000" dirty="0">
                <a:sym typeface="Symbol" panose="05050102010706020507" pitchFamily="18" charset="2"/>
              </a:rPr>
              <a:t>1</a:t>
            </a:r>
            <a:r>
              <a:rPr lang="zh-CN" altLang="en-US" sz="1200" b="1" dirty="0">
                <a:sym typeface="Symbol" panose="05050102010706020507" pitchFamily="18" charset="2"/>
              </a:rPr>
              <a:t>和</a:t>
            </a:r>
            <a:r>
              <a:rPr lang="zh-CN" altLang="en-US" sz="1200" b="1" baseline="-25000" dirty="0">
                <a:sym typeface="Symbol" panose="05050102010706020507" pitchFamily="18" charset="2"/>
              </a:rPr>
              <a:t>2</a:t>
            </a:r>
            <a:r>
              <a:rPr lang="zh-CN" altLang="en-US" sz="1200" b="1" dirty="0">
                <a:sym typeface="Symbol" panose="05050102010706020507" pitchFamily="18" charset="2"/>
              </a:rPr>
              <a:t>，则</a:t>
            </a:r>
            <a:r>
              <a:rPr lang="zh-CN" altLang="en-US" sz="1200" b="1" baseline="-25000" dirty="0">
                <a:sym typeface="Symbol" panose="05050102010706020507" pitchFamily="18" charset="2"/>
              </a:rPr>
              <a:t>1</a:t>
            </a:r>
            <a:r>
              <a:rPr lang="zh-CN" altLang="en-US" sz="1200" b="1" dirty="0">
                <a:sym typeface="Symbol" panose="05050102010706020507" pitchFamily="18" charset="2"/>
              </a:rPr>
              <a:t></a:t>
            </a:r>
            <a:r>
              <a:rPr lang="zh-CN" altLang="en-US" sz="1200" b="1" baseline="-25000" dirty="0">
                <a:sym typeface="Symbol" panose="05050102010706020507" pitchFamily="18" charset="2"/>
              </a:rPr>
              <a:t>2 </a:t>
            </a:r>
            <a:r>
              <a:rPr lang="zh-CN" altLang="en-US" sz="1200" b="1" dirty="0">
                <a:sym typeface="Symbol" panose="05050102010706020507" pitchFamily="18" charset="2"/>
              </a:rPr>
              <a:t>且</a:t>
            </a:r>
            <a:r>
              <a:rPr lang="en-US" altLang="zh-CN" sz="1200" b="1" baseline="-25000" dirty="0">
                <a:sym typeface="Symbol" panose="05050102010706020507" pitchFamily="18" charset="2"/>
              </a:rPr>
              <a:t>2</a:t>
            </a:r>
            <a:r>
              <a:rPr lang="zh-CN" altLang="en-US" sz="1200" b="1" dirty="0">
                <a:sym typeface="Symbol" panose="05050102010706020507" pitchFamily="18" charset="2"/>
              </a:rPr>
              <a:t></a:t>
            </a:r>
            <a:r>
              <a:rPr lang="en-US" altLang="zh-CN" sz="1200" b="1" baseline="-25000" dirty="0">
                <a:sym typeface="Symbol" panose="05050102010706020507" pitchFamily="18" charset="2"/>
              </a:rPr>
              <a:t>1</a:t>
            </a:r>
            <a:r>
              <a:rPr lang="zh-CN" altLang="en-US" sz="1200" b="1" dirty="0">
                <a:sym typeface="Symbol" panose="05050102010706020507" pitchFamily="18" charset="2"/>
              </a:rPr>
              <a:t>，因此</a:t>
            </a:r>
            <a:r>
              <a:rPr lang="zh-CN" altLang="en-US" sz="1200" b="1" baseline="-25000" dirty="0">
                <a:sym typeface="Symbol" panose="05050102010706020507" pitchFamily="18" charset="2"/>
              </a:rPr>
              <a:t>1</a:t>
            </a:r>
            <a:r>
              <a:rPr lang="zh-CN" altLang="en-US" sz="1200" b="1" dirty="0">
                <a:sym typeface="Symbol" panose="05050102010706020507" pitchFamily="18" charset="2"/>
              </a:rPr>
              <a:t>=</a:t>
            </a:r>
            <a:r>
              <a:rPr lang="zh-CN" altLang="en-US" sz="1200" b="1" baseline="-25000" dirty="0">
                <a:sym typeface="Symbol" panose="05050102010706020507" pitchFamily="18" charset="2"/>
              </a:rPr>
              <a:t>2</a:t>
            </a:r>
          </a:p>
          <a:p>
            <a:pPr>
              <a:spcBef>
                <a:spcPct val="90000"/>
              </a:spcBef>
              <a:buNone/>
            </a:pPr>
            <a:r>
              <a:rPr lang="zh-CN" altLang="en-US" sz="1200" b="1" dirty="0">
                <a:solidFill>
                  <a:srgbClr val="FF0000"/>
                </a:solidFill>
                <a:sym typeface="Symbol" panose="05050102010706020507" pitchFamily="18" charset="2"/>
              </a:rPr>
              <a:t>全集</a:t>
            </a:r>
            <a:r>
              <a:rPr lang="en-US" altLang="zh-CN" sz="1200" b="1" i="1" dirty="0">
                <a:solidFill>
                  <a:srgbClr val="FF0000"/>
                </a:solidFill>
                <a:sym typeface="Symbol" panose="05050102010706020507" pitchFamily="18" charset="2"/>
              </a:rPr>
              <a:t>E</a:t>
            </a:r>
            <a:r>
              <a:rPr lang="en-US" altLang="zh-CN" sz="1200" b="1" dirty="0">
                <a:solidFill>
                  <a:schemeClr val="tx2"/>
                </a:solidFill>
                <a:sym typeface="Symbol" panose="05050102010706020507" pitchFamily="18" charset="2"/>
              </a:rPr>
              <a:t>:</a:t>
            </a:r>
            <a:r>
              <a:rPr lang="zh-CN" altLang="en-US" sz="1200" b="1" dirty="0">
                <a:sym typeface="Symbol" panose="05050102010706020507" pitchFamily="18" charset="2"/>
              </a:rPr>
              <a:t>限定问题所讨论的集合都是</a:t>
            </a:r>
            <a:r>
              <a:rPr lang="en-US" altLang="zh-CN" sz="1200" b="1" i="1" dirty="0">
                <a:sym typeface="Symbol" panose="05050102010706020507" pitchFamily="18" charset="2"/>
              </a:rPr>
              <a:t>E</a:t>
            </a:r>
            <a:r>
              <a:rPr lang="zh-CN" altLang="en-US" sz="1200" b="1" dirty="0">
                <a:sym typeface="Symbol" panose="05050102010706020507" pitchFamily="18" charset="2"/>
              </a:rPr>
              <a:t>的子集</a:t>
            </a:r>
            <a:r>
              <a:rPr lang="zh-CN" altLang="en-US" sz="1200" b="1" dirty="0">
                <a:solidFill>
                  <a:srgbClr val="333300"/>
                </a:solidFill>
                <a:sym typeface="Symbol" panose="05050102010706020507" pitchFamily="18" charset="2"/>
              </a:rPr>
              <a:t>，即</a:t>
            </a:r>
            <a:r>
              <a:rPr lang="zh-CN" altLang="en-US" sz="1200" b="1" dirty="0">
                <a:solidFill>
                  <a:srgbClr val="333300"/>
                </a:solidFill>
                <a:latin typeface="Times New Roman" panose="02020603050405020304" pitchFamily="18" charset="0"/>
                <a:sym typeface="Symbol" panose="05050102010706020507" pitchFamily="18" charset="2"/>
              </a:rPr>
              <a:t></a:t>
            </a:r>
            <a:r>
              <a:rPr lang="en-US" altLang="zh-CN" sz="1200" b="1" i="1" dirty="0">
                <a:solidFill>
                  <a:srgbClr val="333300"/>
                </a:solidFill>
                <a:latin typeface="Times New Roman" panose="02020603050405020304" pitchFamily="18" charset="0"/>
                <a:sym typeface="Symbol" panose="05050102010706020507" pitchFamily="18" charset="2"/>
              </a:rPr>
              <a:t>A</a:t>
            </a:r>
            <a:r>
              <a:rPr lang="en-US" altLang="zh-CN" sz="1200" b="1" dirty="0">
                <a:solidFill>
                  <a:srgbClr val="333300"/>
                </a:solidFill>
                <a:sym typeface="Symbol" panose="05050102010706020507" pitchFamily="18" charset="2"/>
              </a:rPr>
              <a:t> </a:t>
            </a:r>
            <a:r>
              <a:rPr lang="en-US" altLang="zh-CN" sz="1200" b="1" dirty="0">
                <a:solidFill>
                  <a:srgbClr val="333300"/>
                </a:solidFill>
                <a:latin typeface="Times New Roman" panose="02020603050405020304" pitchFamily="18" charset="0"/>
                <a:sym typeface="Symbol" panose="05050102010706020507" pitchFamily="18" charset="2"/>
              </a:rPr>
              <a:t>(</a:t>
            </a:r>
            <a:r>
              <a:rPr lang="en-US" altLang="zh-CN" sz="1200" b="1" i="1" dirty="0">
                <a:solidFill>
                  <a:srgbClr val="333300"/>
                </a:solidFill>
                <a:latin typeface="Times New Roman" panose="02020603050405020304" pitchFamily="18" charset="0"/>
                <a:sym typeface="Symbol" panose="05050102010706020507" pitchFamily="18" charset="2"/>
              </a:rPr>
              <a:t>A</a:t>
            </a:r>
            <a:r>
              <a:rPr lang="en-US" altLang="zh-CN" sz="1200" b="1" dirty="0">
                <a:solidFill>
                  <a:srgbClr val="333300"/>
                </a:solidFill>
                <a:latin typeface="Times New Roman" panose="02020603050405020304" pitchFamily="18" charset="0"/>
                <a:sym typeface="Symbol" panose="05050102010706020507" pitchFamily="18" charset="2"/>
              </a:rPr>
              <a:t></a:t>
            </a:r>
            <a:r>
              <a:rPr lang="en-US" altLang="zh-CN" sz="1200" b="1" i="1" dirty="0">
                <a:solidFill>
                  <a:srgbClr val="333300"/>
                </a:solidFill>
                <a:latin typeface="Times New Roman" panose="02020603050405020304" pitchFamily="18" charset="0"/>
                <a:sym typeface="Symbol" panose="05050102010706020507" pitchFamily="18" charset="2"/>
              </a:rPr>
              <a:t>E </a:t>
            </a:r>
            <a:r>
              <a:rPr lang="en-US" altLang="zh-CN" sz="1200" b="1" dirty="0">
                <a:solidFill>
                  <a:srgbClr val="333300"/>
                </a:solidFill>
                <a:latin typeface="Times New Roman" panose="02020603050405020304" pitchFamily="18" charset="0"/>
                <a:sym typeface="Symbol" panose="05050102010706020507" pitchFamily="18" charset="2"/>
              </a:rPr>
              <a:t>)</a:t>
            </a:r>
            <a:r>
              <a:rPr lang="zh-CN" altLang="en-US" sz="1200" b="1" dirty="0">
                <a:solidFill>
                  <a:srgbClr val="333300"/>
                </a:solidFill>
                <a:latin typeface="Times New Roman" panose="02020603050405020304" pitchFamily="18" charset="0"/>
                <a:sym typeface="Symbol" panose="05050102010706020507" pitchFamily="18" charset="2"/>
              </a:rPr>
              <a:t>，则称</a:t>
            </a:r>
            <a:r>
              <a:rPr lang="en-US" altLang="zh-CN" b="1" i="1" dirty="0">
                <a:sym typeface="Symbol" panose="05050102010706020507" pitchFamily="18" charset="2"/>
              </a:rPr>
              <a:t>E</a:t>
            </a:r>
            <a:r>
              <a:rPr lang="zh-CN" altLang="en-US" sz="1200" b="1" dirty="0">
                <a:solidFill>
                  <a:srgbClr val="333300"/>
                </a:solidFill>
                <a:latin typeface="Times New Roman" panose="02020603050405020304" pitchFamily="18" charset="0"/>
                <a:sym typeface="Symbol" panose="05050102010706020507" pitchFamily="18" charset="2"/>
              </a:rPr>
              <a:t>为全集</a:t>
            </a:r>
            <a:r>
              <a:rPr lang="zh-CN" altLang="en-US" sz="1200" b="1" dirty="0">
                <a:sym typeface="Symbol" panose="05050102010706020507" pitchFamily="18" charset="2"/>
              </a:rPr>
              <a:t>. </a:t>
            </a:r>
            <a:endParaRPr lang="en-US" altLang="zh-CN" sz="1200" b="1" dirty="0">
              <a:sym typeface="Symbol" panose="05050102010706020507" pitchFamily="18" charset="2"/>
            </a:endParaRPr>
          </a:p>
          <a:p>
            <a:pPr>
              <a:spcBef>
                <a:spcPct val="90000"/>
              </a:spcBef>
              <a:buNone/>
            </a:pPr>
            <a:endParaRPr lang="en-US" altLang="zh-CN" sz="1200" b="1" dirty="0">
              <a:sym typeface="Symbol" panose="05050102010706020507" pitchFamily="18" charset="2"/>
            </a:endParaRPr>
          </a:p>
          <a:p>
            <a:pPr marL="0" marR="0" lvl="0" indent="0" algn="l" defTabSz="914400" rtl="0" eaLnBrk="1" fontAlgn="auto" latinLnBrk="0" hangingPunct="1">
              <a:lnSpc>
                <a:spcPct val="100000"/>
              </a:lnSpc>
              <a:spcBef>
                <a:spcPct val="90000"/>
              </a:spcBef>
              <a:spcAft>
                <a:spcPts val="0"/>
              </a:spcAft>
              <a:buClrTx/>
              <a:buSzTx/>
              <a:buFontTx/>
              <a:buNone/>
              <a:tabLst/>
              <a:defRPr/>
            </a:pPr>
            <a:r>
              <a:rPr lang="zh-CN" altLang="en-US" sz="1200" b="1" dirty="0">
                <a:solidFill>
                  <a:srgbClr val="333300"/>
                </a:solidFill>
                <a:latin typeface="Times New Roman" panose="02020603050405020304" pitchFamily="18" charset="0"/>
                <a:sym typeface="Symbol" panose="05050102010706020507" pitchFamily="18" charset="2"/>
              </a:rPr>
              <a:t>则称</a:t>
            </a:r>
            <a:r>
              <a:rPr lang="en-US" altLang="zh-CN" b="1" i="1" dirty="0">
                <a:sym typeface="Symbol" panose="05050102010706020507" pitchFamily="18" charset="2"/>
              </a:rPr>
              <a:t>E</a:t>
            </a:r>
            <a:r>
              <a:rPr lang="zh-CN" altLang="en-US" sz="1200" b="1" dirty="0">
                <a:solidFill>
                  <a:srgbClr val="333300"/>
                </a:solidFill>
                <a:latin typeface="Times New Roman" panose="02020603050405020304" pitchFamily="18" charset="0"/>
                <a:sym typeface="Symbol" panose="05050102010706020507" pitchFamily="18" charset="2"/>
              </a:rPr>
              <a:t>为全集</a:t>
            </a:r>
            <a:r>
              <a:rPr lang="zh-CN" altLang="en-US" sz="1200" b="1" dirty="0">
                <a:sym typeface="Symbol" panose="05050102010706020507" pitchFamily="18" charset="2"/>
              </a:rPr>
              <a:t>. 如整数问题中的</a:t>
            </a:r>
            <a:r>
              <a:rPr lang="en-US" altLang="zh-CN" sz="1200" b="1" dirty="0">
                <a:sym typeface="Symbol" panose="05050102010706020507" pitchFamily="18" charset="2"/>
              </a:rPr>
              <a:t>Z</a:t>
            </a:r>
            <a:endParaRPr lang="zh-CN" altLang="en-US" sz="1200" b="1" dirty="0">
              <a:sym typeface="Symbol" panose="05050102010706020507" pitchFamily="18" charset="2"/>
            </a:endParaRPr>
          </a:p>
          <a:p>
            <a:pPr>
              <a:spcBef>
                <a:spcPct val="90000"/>
              </a:spcBef>
              <a:buNone/>
            </a:pPr>
            <a:endParaRPr lang="zh-CN" altLang="en-US" sz="1200" b="1" dirty="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7</a:t>
            </a:fld>
            <a:endParaRPr lang="zh-CN" altLang="en-US"/>
          </a:p>
        </p:txBody>
      </p:sp>
    </p:spTree>
    <p:extLst>
      <p:ext uri="{BB962C8B-B14F-4D97-AF65-F5344CB8AC3E}">
        <p14:creationId xmlns:p14="http://schemas.microsoft.com/office/powerpoint/2010/main" val="3018370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 typeface="Wingdings" panose="05000000000000000000" pitchFamily="2" charset="2"/>
              <a:buNone/>
            </a:pPr>
            <a:r>
              <a:rPr lang="zh-CN" altLang="en-US" sz="1200" b="1" dirty="0">
                <a:solidFill>
                  <a:srgbClr val="FF3300"/>
                </a:solidFill>
                <a:latin typeface="Times New Roman" panose="02020603050405020304" pitchFamily="18" charset="0"/>
              </a:rPr>
              <a:t>幂集 </a:t>
            </a:r>
            <a:r>
              <a:rPr lang="en-US" altLang="zh-CN" sz="1200" b="1" dirty="0">
                <a:solidFill>
                  <a:srgbClr val="FF3300"/>
                </a:solidFill>
                <a:latin typeface="Times New Roman" panose="02020603050405020304" pitchFamily="18" charset="0"/>
              </a:rPr>
              <a:t>(Power Set) </a:t>
            </a:r>
            <a:r>
              <a:rPr lang="zh-CN" altLang="en-US" sz="1200" b="1" dirty="0">
                <a:latin typeface="Times New Roman" panose="02020603050405020304" pitchFamily="18" charset="0"/>
              </a:rPr>
              <a:t>是指某个集合的所有子集组成的集合，包括空集和集合本身，</a:t>
            </a:r>
            <a:r>
              <a:rPr lang="zh-CN" altLang="en-US" b="1" dirty="0">
                <a:latin typeface="Times New Roman" panose="02020603050405020304" pitchFamily="18" charset="0"/>
              </a:rPr>
              <a:t>可</a:t>
            </a:r>
            <a:r>
              <a:rPr lang="zh-CN" altLang="zh-CN" b="1" dirty="0">
                <a:latin typeface="Times New Roman" panose="02020603050405020304" pitchFamily="18" charset="0"/>
              </a:rPr>
              <a:t>表示为 </a:t>
            </a:r>
            <a:r>
              <a:rPr lang="en-US" altLang="zh-CN" i="1" dirty="0">
                <a:effectLst/>
                <a:latin typeface="KaTeX_Math"/>
                <a:ea typeface="等线" panose="02010600030101010101" pitchFamily="2" charset="-122"/>
                <a:cs typeface="Times New Roman" panose="02020603050405020304" pitchFamily="18" charset="0"/>
              </a:rPr>
              <a:t>P</a:t>
            </a:r>
            <a:r>
              <a:rPr lang="en-US" altLang="zh-CN" dirty="0">
                <a:effectLst/>
                <a:latin typeface="Times New Roman" panose="02020603050405020304" pitchFamily="18" charset="0"/>
                <a:ea typeface="等线" panose="02010600030101010101" pitchFamily="2" charset="-122"/>
              </a:rPr>
              <a:t>(</a:t>
            </a:r>
            <a:r>
              <a:rPr lang="en-US" altLang="zh-CN" i="1" dirty="0">
                <a:effectLst/>
                <a:latin typeface="KaTeX_Math"/>
                <a:ea typeface="等线" panose="02010600030101010101" pitchFamily="2" charset="-122"/>
                <a:cs typeface="Times New Roman" panose="02020603050405020304" pitchFamily="18" charset="0"/>
              </a:rPr>
              <a:t>A</a:t>
            </a:r>
            <a:r>
              <a:rPr lang="en-US" altLang="zh-CN" dirty="0">
                <a:effectLst/>
                <a:latin typeface="Times New Roman" panose="02020603050405020304" pitchFamily="18" charset="0"/>
                <a:ea typeface="等线" panose="02010600030101010101" pitchFamily="2" charset="-122"/>
              </a:rPr>
              <a:t>)</a:t>
            </a:r>
            <a:r>
              <a:rPr lang="en-US" altLang="zh-CN" dirty="0">
                <a:effectLst/>
                <a:latin typeface="等线" panose="02010600030101010101" pitchFamily="2" charset="-122"/>
                <a:cs typeface="Times New Roman" panose="02020603050405020304" pitchFamily="18" charset="0"/>
              </a:rPr>
              <a:t> </a:t>
            </a:r>
            <a:r>
              <a:rPr lang="zh-CN" altLang="zh-CN" b="1" dirty="0">
                <a:latin typeface="Times New Roman" panose="02020603050405020304" pitchFamily="18" charset="0"/>
              </a:rPr>
              <a:t>或</a:t>
            </a:r>
            <a:r>
              <a:rPr lang="zh-CN" altLang="zh-CN" dirty="0">
                <a:effectLst/>
                <a:ea typeface="等线" panose="02010600030101010101" pitchFamily="2" charset="-122"/>
                <a:cs typeface="Times New Roman" panose="02020603050405020304" pitchFamily="18" charset="0"/>
              </a:rPr>
              <a:t> </a:t>
            </a:r>
            <a:r>
              <a:rPr lang="en-US" altLang="zh-CN" dirty="0">
                <a:effectLst/>
                <a:latin typeface="Times New Roman" panose="02020603050405020304" pitchFamily="18" charset="0"/>
                <a:ea typeface="等线" panose="02010600030101010101" pitchFamily="2" charset="-122"/>
              </a:rPr>
              <a:t>2</a:t>
            </a:r>
            <a:r>
              <a:rPr lang="en-US" altLang="zh-CN" i="1" baseline="30000" dirty="0">
                <a:effectLst/>
                <a:latin typeface="KaTeX_Math"/>
                <a:ea typeface="等线" panose="02010600030101010101" pitchFamily="2" charset="-122"/>
                <a:cs typeface="Times New Roman" panose="02020603050405020304" pitchFamily="18" charset="0"/>
              </a:rPr>
              <a:t>A</a:t>
            </a:r>
            <a:endParaRPr lang="en-US" altLang="zh-CN" b="1" dirty="0">
              <a:latin typeface="Times New Roman" panose="02020603050405020304" pitchFamily="18" charset="0"/>
            </a:endParaRPr>
          </a:p>
          <a:p>
            <a:pPr eaLnBrk="1" hangingPunct="1">
              <a:buFont typeface="Wingdings" panose="05000000000000000000" pitchFamily="2" charset="2"/>
              <a:buNone/>
            </a:pPr>
            <a:r>
              <a:rPr lang="zh-CN" altLang="en-US" sz="1200" b="1" dirty="0">
                <a:solidFill>
                  <a:srgbClr val="FF3300"/>
                </a:solidFill>
                <a:latin typeface="Times New Roman" panose="02020603050405020304" pitchFamily="18" charset="0"/>
              </a:rPr>
              <a:t>定义</a:t>
            </a:r>
            <a:r>
              <a:rPr lang="zh-CN" altLang="en-US" sz="1200" b="1" dirty="0">
                <a:solidFill>
                  <a:srgbClr val="333300"/>
                </a:solidFill>
                <a:latin typeface="Times New Roman" panose="02020603050405020304" pitchFamily="18" charset="0"/>
              </a:rPr>
              <a:t>    </a:t>
            </a:r>
            <a:r>
              <a:rPr lang="en-US" altLang="zh-CN" sz="1200" b="1" i="1" dirty="0">
                <a:solidFill>
                  <a:schemeClr val="tx2"/>
                </a:solidFill>
                <a:latin typeface="Times New Roman" panose="02020603050405020304" pitchFamily="18" charset="0"/>
              </a:rPr>
              <a:t>P</a:t>
            </a:r>
            <a:r>
              <a:rPr lang="en-US" altLang="zh-CN" sz="1200" b="1" dirty="0">
                <a:solidFill>
                  <a:schemeClr val="tx2"/>
                </a:solidFill>
                <a:latin typeface="Times New Roman" panose="02020603050405020304" pitchFamily="18" charset="0"/>
              </a:rPr>
              <a:t>(</a:t>
            </a:r>
            <a:r>
              <a:rPr lang="en-US" altLang="zh-CN" sz="1200" b="1" i="1" dirty="0">
                <a:solidFill>
                  <a:schemeClr val="tx2"/>
                </a:solidFill>
                <a:latin typeface="Times New Roman" panose="02020603050405020304" pitchFamily="18" charset="0"/>
              </a:rPr>
              <a:t>A</a:t>
            </a:r>
            <a:r>
              <a:rPr lang="en-US" altLang="zh-CN" sz="1200" b="1" dirty="0">
                <a:solidFill>
                  <a:schemeClr val="tx2"/>
                </a:solidFill>
                <a:latin typeface="Times New Roman" panose="02020603050405020304" pitchFamily="18" charset="0"/>
              </a:rPr>
              <a:t>) = { </a:t>
            </a:r>
            <a:r>
              <a:rPr lang="en-US" altLang="zh-CN" sz="1200" b="1" i="1" dirty="0">
                <a:solidFill>
                  <a:schemeClr val="tx2"/>
                </a:solidFill>
                <a:latin typeface="Times New Roman" panose="02020603050405020304" pitchFamily="18" charset="0"/>
              </a:rPr>
              <a:t>x</a:t>
            </a:r>
            <a:r>
              <a:rPr lang="en-US" altLang="zh-CN" sz="1200" b="1" dirty="0">
                <a:solidFill>
                  <a:schemeClr val="tx2"/>
                </a:solidFill>
                <a:latin typeface="Times New Roman" panose="02020603050405020304" pitchFamily="18" charset="0"/>
              </a:rPr>
              <a:t> | </a:t>
            </a:r>
            <a:r>
              <a:rPr lang="en-US" altLang="zh-CN" sz="1200" b="1" i="1" dirty="0" err="1">
                <a:solidFill>
                  <a:schemeClr val="tx2"/>
                </a:solidFill>
                <a:latin typeface="Times New Roman" panose="02020603050405020304" pitchFamily="18" charset="0"/>
              </a:rPr>
              <a:t>x</a:t>
            </a:r>
            <a:r>
              <a:rPr lang="en-US" altLang="zh-CN" sz="1200" b="1" dirty="0" err="1">
                <a:solidFill>
                  <a:schemeClr val="tx2"/>
                </a:solidFill>
                <a:latin typeface="Times New Roman" panose="02020603050405020304" pitchFamily="18" charset="0"/>
                <a:sym typeface="Symbol" panose="05050102010706020507" pitchFamily="18" charset="2"/>
              </a:rPr>
              <a:t></a:t>
            </a:r>
            <a:r>
              <a:rPr lang="en-US" altLang="zh-CN" sz="1200" b="1" i="1" dirty="0" err="1">
                <a:solidFill>
                  <a:schemeClr val="tx2"/>
                </a:solidFill>
                <a:latin typeface="Times New Roman" panose="02020603050405020304" pitchFamily="18" charset="0"/>
              </a:rPr>
              <a:t>A</a:t>
            </a:r>
            <a:r>
              <a:rPr lang="en-US" altLang="zh-CN" sz="1200" b="1" i="1" dirty="0">
                <a:solidFill>
                  <a:schemeClr val="tx2"/>
                </a:solidFill>
                <a:latin typeface="Times New Roman" panose="02020603050405020304" pitchFamily="18" charset="0"/>
              </a:rPr>
              <a:t> </a:t>
            </a:r>
            <a:r>
              <a:rPr lang="en-US" altLang="zh-CN" sz="1200" b="1" dirty="0">
                <a:solidFill>
                  <a:schemeClr val="tx2"/>
                </a:solidFill>
                <a:latin typeface="Times New Roman" panose="02020603050405020304" pitchFamily="18" charset="0"/>
              </a:rPr>
              <a:t>}  </a:t>
            </a:r>
          </a:p>
          <a:p>
            <a:pPr eaLnBrk="1" hangingPunct="1">
              <a:buFont typeface="Wingdings" panose="05000000000000000000" pitchFamily="2" charset="2"/>
              <a:buNone/>
            </a:pPr>
            <a:r>
              <a:rPr lang="zh-CN" altLang="en-US" sz="1200" b="1" dirty="0">
                <a:latin typeface="Times New Roman" panose="02020603050405020304" pitchFamily="18" charset="0"/>
              </a:rPr>
              <a:t>实例    </a:t>
            </a:r>
          </a:p>
          <a:p>
            <a:pPr eaLnBrk="1" hangingPunct="1">
              <a:buFont typeface="Wingdings" panose="05000000000000000000" pitchFamily="2" charset="2"/>
              <a:buNone/>
            </a:pPr>
            <a:r>
              <a:rPr lang="zh-CN" altLang="en-US" sz="1200" b="1" dirty="0">
                <a:latin typeface="Times New Roman" panose="02020603050405020304" pitchFamily="18" charset="0"/>
              </a:rPr>
              <a:t>    </a:t>
            </a:r>
            <a:r>
              <a:rPr lang="en-US" altLang="zh-CN" sz="1200" b="1" i="1" dirty="0">
                <a:latin typeface="Times New Roman" panose="02020603050405020304" pitchFamily="18" charset="0"/>
              </a:rPr>
              <a:t>P</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rPr>
              <a:t>) = {</a:t>
            </a:r>
            <a:r>
              <a:rPr lang="en-US" altLang="zh-CN" sz="1200" b="1" dirty="0">
                <a:latin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rPr>
              <a:t>}</a:t>
            </a:r>
            <a:r>
              <a:rPr lang="zh-CN" altLang="en-US" sz="1200" b="1" dirty="0">
                <a:latin typeface="Times New Roman" panose="02020603050405020304" pitchFamily="18" charset="0"/>
              </a:rPr>
              <a:t>，</a:t>
            </a:r>
          </a:p>
          <a:p>
            <a:pPr eaLnBrk="1" hangingPunct="1">
              <a:buFont typeface="Wingdings" panose="05000000000000000000" pitchFamily="2" charset="2"/>
              <a:buNone/>
            </a:pPr>
            <a:r>
              <a:rPr lang="zh-CN" altLang="en-US" sz="1200" b="1" dirty="0">
                <a:latin typeface="Times New Roman" panose="02020603050405020304" pitchFamily="18" charset="0"/>
              </a:rPr>
              <a:t>    </a:t>
            </a:r>
            <a:r>
              <a:rPr lang="en-US" altLang="zh-CN" sz="1200" b="1" i="1" dirty="0">
                <a:latin typeface="Times New Roman" panose="02020603050405020304" pitchFamily="18" charset="0"/>
              </a:rPr>
              <a:t>P</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rPr>
              <a:t>}) = {</a:t>
            </a:r>
            <a:r>
              <a:rPr lang="en-US" altLang="zh-CN" sz="1200" b="1" dirty="0">
                <a:latin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rPr>
              <a:t>,{</a:t>
            </a:r>
            <a:r>
              <a:rPr lang="en-US" altLang="zh-CN" sz="1200" b="1" dirty="0">
                <a:latin typeface="Times New Roman" panose="02020603050405020304" pitchFamily="18" charset="0"/>
                <a:sym typeface="Symbol" panose="05050102010706020507" pitchFamily="18" charset="2"/>
              </a:rPr>
              <a:t></a:t>
            </a:r>
            <a:r>
              <a:rPr lang="en-US" altLang="zh-CN" sz="1200" b="1" dirty="0">
                <a:latin typeface="Times New Roman" panose="02020603050405020304" pitchFamily="18" charset="0"/>
              </a:rPr>
              <a:t>}}</a:t>
            </a:r>
          </a:p>
          <a:p>
            <a:pPr eaLnBrk="1" hangingPunct="1">
              <a:buFont typeface="Wingdings" panose="05000000000000000000" pitchFamily="2" charset="2"/>
              <a:buNone/>
            </a:pPr>
            <a:r>
              <a:rPr lang="en-US" altLang="zh-CN" sz="1200" b="1" dirty="0">
                <a:latin typeface="Times New Roman" panose="02020603050405020304" pitchFamily="18" charset="0"/>
              </a:rPr>
              <a:t>    </a:t>
            </a:r>
            <a:r>
              <a:rPr lang="en-US" altLang="zh-CN" sz="1200" b="1" i="1" dirty="0">
                <a:latin typeface="Times New Roman" panose="02020603050405020304" pitchFamily="18" charset="0"/>
              </a:rPr>
              <a:t>P</a:t>
            </a:r>
            <a:r>
              <a:rPr lang="en-US" altLang="zh-CN" sz="1200" b="1" dirty="0">
                <a:latin typeface="Times New Roman" panose="02020603050405020304" pitchFamily="18" charset="0"/>
              </a:rPr>
              <a:t>({1,{2,3}})={</a:t>
            </a:r>
            <a:r>
              <a:rPr lang="en-US" altLang="zh-CN" sz="1200" b="1" dirty="0">
                <a:latin typeface="Times New Roman" panose="02020603050405020304" pitchFamily="18" charset="0"/>
                <a:sym typeface="Symbol" panose="05050102010706020507" pitchFamily="18" charset="2"/>
              </a:rPr>
              <a:t>,{1},{{2,3}},{1,{2,3}}}</a:t>
            </a:r>
            <a:endParaRPr lang="en-US" altLang="zh-CN" sz="1200" b="1" dirty="0">
              <a:latin typeface="Times New Roman" panose="02020603050405020304" pitchFamily="18" charset="0"/>
            </a:endParaRPr>
          </a:p>
          <a:p>
            <a:pPr eaLnBrk="1" hangingPunct="1">
              <a:buFont typeface="Wingdings" panose="05000000000000000000" pitchFamily="2" charset="2"/>
              <a:buNone/>
            </a:pPr>
            <a:r>
              <a:rPr lang="zh-CN" altLang="en-US" sz="1200" b="1" dirty="0">
                <a:solidFill>
                  <a:srgbClr val="333300"/>
                </a:solidFill>
                <a:latin typeface="Times New Roman" panose="02020603050405020304" pitchFamily="18" charset="0"/>
              </a:rPr>
              <a:t>计数   </a:t>
            </a:r>
          </a:p>
          <a:p>
            <a:pPr eaLnBrk="1" hangingPunct="1">
              <a:buFont typeface="Wingdings" panose="05000000000000000000" pitchFamily="2" charset="2"/>
              <a:buNone/>
            </a:pPr>
            <a:r>
              <a:rPr lang="zh-CN" altLang="en-US" sz="1200" b="1" dirty="0">
                <a:solidFill>
                  <a:srgbClr val="333300"/>
                </a:solidFill>
                <a:latin typeface="Times New Roman" panose="02020603050405020304" pitchFamily="18" charset="0"/>
              </a:rPr>
              <a:t>    如果 </a:t>
            </a:r>
            <a:r>
              <a:rPr lang="en-US" altLang="zh-CN" sz="1200" b="1" dirty="0">
                <a:solidFill>
                  <a:srgbClr val="333300"/>
                </a:solidFill>
                <a:latin typeface="Times New Roman" panose="02020603050405020304" pitchFamily="18" charset="0"/>
              </a:rPr>
              <a:t>|</a:t>
            </a:r>
            <a:r>
              <a:rPr lang="en-US" altLang="zh-CN" sz="1200" b="1" i="1" dirty="0">
                <a:solidFill>
                  <a:srgbClr val="333300"/>
                </a:solidFill>
                <a:latin typeface="Times New Roman" panose="02020603050405020304" pitchFamily="18" charset="0"/>
              </a:rPr>
              <a:t>A</a:t>
            </a:r>
            <a:r>
              <a:rPr lang="en-US" altLang="zh-CN" sz="1200" b="1" dirty="0">
                <a:solidFill>
                  <a:srgbClr val="333300"/>
                </a:solidFill>
                <a:latin typeface="Times New Roman" panose="02020603050405020304" pitchFamily="18" charset="0"/>
              </a:rPr>
              <a:t>| = </a:t>
            </a:r>
            <a:r>
              <a:rPr lang="en-US" altLang="zh-CN" sz="1200" b="1" i="1" dirty="0">
                <a:solidFill>
                  <a:srgbClr val="333300"/>
                </a:solidFill>
                <a:latin typeface="Times New Roman" panose="02020603050405020304" pitchFamily="18" charset="0"/>
              </a:rPr>
              <a:t>n</a:t>
            </a:r>
            <a:r>
              <a:rPr lang="zh-CN" altLang="en-US" sz="1200" b="1" dirty="0">
                <a:solidFill>
                  <a:srgbClr val="333300"/>
                </a:solidFill>
                <a:latin typeface="Times New Roman" panose="02020603050405020304" pitchFamily="18" charset="0"/>
              </a:rPr>
              <a:t>，则 </a:t>
            </a:r>
            <a:r>
              <a:rPr lang="en-US" altLang="zh-CN" sz="1200" b="1" dirty="0">
                <a:solidFill>
                  <a:srgbClr val="333300"/>
                </a:solidFill>
                <a:latin typeface="Times New Roman" panose="02020603050405020304" pitchFamily="18" charset="0"/>
              </a:rPr>
              <a:t>|</a:t>
            </a:r>
            <a:r>
              <a:rPr lang="en-US" altLang="zh-CN" sz="1200" b="1" i="1" dirty="0">
                <a:solidFill>
                  <a:srgbClr val="333300"/>
                </a:solidFill>
                <a:latin typeface="Times New Roman" panose="02020603050405020304" pitchFamily="18" charset="0"/>
              </a:rPr>
              <a:t>P</a:t>
            </a:r>
            <a:r>
              <a:rPr lang="en-US" altLang="zh-CN" sz="1200" b="1" dirty="0">
                <a:solidFill>
                  <a:srgbClr val="333300"/>
                </a:solidFill>
                <a:latin typeface="Times New Roman" panose="02020603050405020304" pitchFamily="18" charset="0"/>
              </a:rPr>
              <a:t>(</a:t>
            </a:r>
            <a:r>
              <a:rPr lang="en-US" altLang="zh-CN" sz="1200" b="1" i="1" dirty="0">
                <a:solidFill>
                  <a:srgbClr val="333300"/>
                </a:solidFill>
                <a:latin typeface="Times New Roman" panose="02020603050405020304" pitchFamily="18" charset="0"/>
              </a:rPr>
              <a:t>A</a:t>
            </a:r>
            <a:r>
              <a:rPr lang="en-US" altLang="zh-CN" sz="1200" b="1" dirty="0">
                <a:solidFill>
                  <a:srgbClr val="333300"/>
                </a:solidFill>
                <a:latin typeface="Times New Roman" panose="02020603050405020304" pitchFamily="18" charset="0"/>
              </a:rPr>
              <a:t>)| = 2</a:t>
            </a:r>
            <a:r>
              <a:rPr lang="en-US" altLang="zh-CN" sz="1200" b="1" i="1" baseline="30000" dirty="0">
                <a:solidFill>
                  <a:srgbClr val="333300"/>
                </a:solidFill>
                <a:latin typeface="Times New Roman" panose="02020603050405020304" pitchFamily="18" charset="0"/>
              </a:rPr>
              <a:t>n</a:t>
            </a:r>
            <a:r>
              <a:rPr lang="en-US" altLang="zh-CN" sz="1200" b="1" dirty="0">
                <a:solidFill>
                  <a:srgbClr val="333300"/>
                </a:solidFill>
                <a:latin typeface="Times New Roman" panose="02020603050405020304" pitchFamily="18" charset="0"/>
              </a:rPr>
              <a:t> </a:t>
            </a:r>
          </a:p>
          <a:p>
            <a:pPr>
              <a:spcBef>
                <a:spcPct val="90000"/>
              </a:spcBef>
              <a:buNone/>
            </a:pPr>
            <a:r>
              <a:rPr lang="zh-CN" altLang="en-US" sz="1200" b="1" dirty="0">
                <a:solidFill>
                  <a:srgbClr val="FF0000"/>
                </a:solidFill>
                <a:sym typeface="Symbol" panose="05050102010706020507" pitchFamily="18" charset="2"/>
              </a:rPr>
              <a:t>全集</a:t>
            </a:r>
            <a:r>
              <a:rPr lang="en-US" altLang="zh-CN" sz="1200" b="1" i="1" dirty="0">
                <a:solidFill>
                  <a:srgbClr val="FF0000"/>
                </a:solidFill>
                <a:sym typeface="Symbol" panose="05050102010706020507" pitchFamily="18" charset="2"/>
              </a:rPr>
              <a:t>E</a:t>
            </a:r>
            <a:r>
              <a:rPr lang="en-US" altLang="zh-CN" sz="1200" b="1" dirty="0">
                <a:solidFill>
                  <a:schemeClr val="tx2"/>
                </a:solidFill>
                <a:sym typeface="Symbol" panose="05050102010706020507" pitchFamily="18" charset="2"/>
              </a:rPr>
              <a:t>:</a:t>
            </a:r>
            <a:r>
              <a:rPr lang="zh-CN" altLang="en-US" sz="1200" b="1" dirty="0">
                <a:sym typeface="Symbol" panose="05050102010706020507" pitchFamily="18" charset="2"/>
              </a:rPr>
              <a:t>限定问题所讨论的集合都是</a:t>
            </a:r>
            <a:r>
              <a:rPr lang="en-US" altLang="zh-CN" sz="1200" b="1" i="1" dirty="0">
                <a:sym typeface="Symbol" panose="05050102010706020507" pitchFamily="18" charset="2"/>
              </a:rPr>
              <a:t>E</a:t>
            </a:r>
            <a:r>
              <a:rPr lang="zh-CN" altLang="en-US" sz="1200" b="1" dirty="0">
                <a:sym typeface="Symbol" panose="05050102010706020507" pitchFamily="18" charset="2"/>
              </a:rPr>
              <a:t>的子集</a:t>
            </a:r>
            <a:r>
              <a:rPr lang="zh-CN" altLang="en-US" sz="1200" b="1" dirty="0">
                <a:solidFill>
                  <a:srgbClr val="333300"/>
                </a:solidFill>
                <a:sym typeface="Symbol" panose="05050102010706020507" pitchFamily="18" charset="2"/>
              </a:rPr>
              <a:t>，即</a:t>
            </a:r>
            <a:r>
              <a:rPr lang="zh-CN" altLang="en-US" sz="1200" b="1" dirty="0">
                <a:solidFill>
                  <a:srgbClr val="333300"/>
                </a:solidFill>
                <a:latin typeface="Times New Roman" panose="02020603050405020304" pitchFamily="18" charset="0"/>
                <a:sym typeface="Symbol" panose="05050102010706020507" pitchFamily="18" charset="2"/>
              </a:rPr>
              <a:t></a:t>
            </a:r>
            <a:r>
              <a:rPr lang="en-US" altLang="zh-CN" sz="1200" b="1" i="1" dirty="0">
                <a:solidFill>
                  <a:srgbClr val="333300"/>
                </a:solidFill>
                <a:latin typeface="Times New Roman" panose="02020603050405020304" pitchFamily="18" charset="0"/>
                <a:sym typeface="Symbol" panose="05050102010706020507" pitchFamily="18" charset="2"/>
              </a:rPr>
              <a:t>A</a:t>
            </a:r>
            <a:r>
              <a:rPr lang="en-US" altLang="zh-CN" sz="1200" b="1" dirty="0">
                <a:solidFill>
                  <a:srgbClr val="333300"/>
                </a:solidFill>
                <a:sym typeface="Symbol" panose="05050102010706020507" pitchFamily="18" charset="2"/>
              </a:rPr>
              <a:t> </a:t>
            </a:r>
            <a:r>
              <a:rPr lang="en-US" altLang="zh-CN" sz="1200" b="1" dirty="0">
                <a:solidFill>
                  <a:srgbClr val="333300"/>
                </a:solidFill>
                <a:latin typeface="Times New Roman" panose="02020603050405020304" pitchFamily="18" charset="0"/>
                <a:sym typeface="Symbol" panose="05050102010706020507" pitchFamily="18" charset="2"/>
              </a:rPr>
              <a:t>(</a:t>
            </a:r>
            <a:r>
              <a:rPr lang="en-US" altLang="zh-CN" sz="1200" b="1" i="1" dirty="0">
                <a:solidFill>
                  <a:srgbClr val="333300"/>
                </a:solidFill>
                <a:latin typeface="Times New Roman" panose="02020603050405020304" pitchFamily="18" charset="0"/>
                <a:sym typeface="Symbol" panose="05050102010706020507" pitchFamily="18" charset="2"/>
              </a:rPr>
              <a:t>A</a:t>
            </a:r>
            <a:r>
              <a:rPr lang="en-US" altLang="zh-CN" sz="1200" b="1" dirty="0">
                <a:solidFill>
                  <a:srgbClr val="333300"/>
                </a:solidFill>
                <a:latin typeface="Times New Roman" panose="02020603050405020304" pitchFamily="18" charset="0"/>
                <a:sym typeface="Symbol" panose="05050102010706020507" pitchFamily="18" charset="2"/>
              </a:rPr>
              <a:t></a:t>
            </a:r>
            <a:r>
              <a:rPr lang="en-US" altLang="zh-CN" sz="1200" b="1" i="1" dirty="0">
                <a:solidFill>
                  <a:srgbClr val="333300"/>
                </a:solidFill>
                <a:latin typeface="Times New Roman" panose="02020603050405020304" pitchFamily="18" charset="0"/>
                <a:sym typeface="Symbol" panose="05050102010706020507" pitchFamily="18" charset="2"/>
              </a:rPr>
              <a:t>E </a:t>
            </a:r>
            <a:r>
              <a:rPr lang="en-US" altLang="zh-CN" sz="1200" b="1" dirty="0">
                <a:solidFill>
                  <a:srgbClr val="333300"/>
                </a:solidFill>
                <a:latin typeface="Times New Roman" panose="02020603050405020304" pitchFamily="18" charset="0"/>
                <a:sym typeface="Symbol" panose="05050102010706020507" pitchFamily="18" charset="2"/>
              </a:rPr>
              <a:t>)</a:t>
            </a:r>
            <a:r>
              <a:rPr lang="zh-CN" altLang="en-US" sz="1200" b="1" dirty="0">
                <a:solidFill>
                  <a:srgbClr val="333300"/>
                </a:solidFill>
                <a:latin typeface="Times New Roman" panose="02020603050405020304" pitchFamily="18" charset="0"/>
                <a:sym typeface="Symbol" panose="05050102010706020507" pitchFamily="18" charset="2"/>
              </a:rPr>
              <a:t>，则称</a:t>
            </a:r>
            <a:r>
              <a:rPr lang="en-US" altLang="zh-CN" b="1" i="1" dirty="0">
                <a:sym typeface="Symbol" panose="05050102010706020507" pitchFamily="18" charset="2"/>
              </a:rPr>
              <a:t>E</a:t>
            </a:r>
            <a:r>
              <a:rPr lang="zh-CN" altLang="en-US" sz="1200" b="1" dirty="0">
                <a:solidFill>
                  <a:srgbClr val="333300"/>
                </a:solidFill>
                <a:latin typeface="Times New Roman" panose="02020603050405020304" pitchFamily="18" charset="0"/>
                <a:sym typeface="Symbol" panose="05050102010706020507" pitchFamily="18" charset="2"/>
              </a:rPr>
              <a:t>为全集</a:t>
            </a:r>
            <a:r>
              <a:rPr lang="zh-CN" altLang="en-US" sz="1200" b="1" dirty="0">
                <a:sym typeface="Symbol" panose="05050102010706020507" pitchFamily="18" charset="2"/>
              </a:rPr>
              <a:t>. 如整数问题中的</a:t>
            </a:r>
            <a:r>
              <a:rPr lang="en-US" altLang="zh-CN" sz="1200" b="1" dirty="0">
                <a:sym typeface="Symbol" panose="05050102010706020507" pitchFamily="18" charset="2"/>
              </a:rPr>
              <a:t>Z</a:t>
            </a:r>
            <a:endParaRPr lang="zh-CN" altLang="en-US" sz="1200" b="1" dirty="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8</a:t>
            </a:fld>
            <a:endParaRPr lang="zh-CN" altLang="en-US"/>
          </a:p>
        </p:txBody>
      </p:sp>
    </p:spTree>
    <p:extLst>
      <p:ext uri="{BB962C8B-B14F-4D97-AF65-F5344CB8AC3E}">
        <p14:creationId xmlns:p14="http://schemas.microsoft.com/office/powerpoint/2010/main" val="666216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spcBef>
                <a:spcPct val="15000"/>
              </a:spcBef>
              <a:buFontTx/>
              <a:buNone/>
            </a:pPr>
            <a:r>
              <a:rPr lang="zh-CN" altLang="en-US" sz="1200" b="1" dirty="0">
                <a:solidFill>
                  <a:srgbClr val="FF3300"/>
                </a:solidFill>
              </a:rPr>
              <a:t>并</a:t>
            </a:r>
            <a:r>
              <a:rPr lang="zh-CN" altLang="en-US"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 { </a:t>
            </a:r>
            <a:r>
              <a:rPr lang="en-US" altLang="zh-CN" sz="1200" b="1" i="1" dirty="0"/>
              <a:t>x</a:t>
            </a:r>
            <a:r>
              <a:rPr lang="en-US" altLang="zh-CN" sz="1200" b="1" dirty="0"/>
              <a:t> | </a:t>
            </a:r>
            <a:r>
              <a:rPr lang="en-US" altLang="zh-CN" sz="1200" b="1" i="1" dirty="0" err="1"/>
              <a:t>x</a:t>
            </a:r>
            <a:r>
              <a:rPr lang="en-US" altLang="zh-CN" sz="1200" b="1" dirty="0" err="1">
                <a:sym typeface="Symbol" panose="05050102010706020507" pitchFamily="18" charset="2"/>
              </a:rPr>
              <a:t></a:t>
            </a:r>
            <a:r>
              <a:rPr lang="en-US" altLang="zh-CN" sz="1200" b="1" i="1" dirty="0" err="1"/>
              <a:t>A</a:t>
            </a:r>
            <a:r>
              <a:rPr lang="en-US" altLang="zh-CN" sz="1200" b="1" dirty="0"/>
              <a:t> </a:t>
            </a:r>
            <a:r>
              <a:rPr lang="en-US" altLang="zh-CN" sz="1200" b="1" dirty="0">
                <a:sym typeface="Symbol" panose="05050102010706020507" pitchFamily="18" charset="2"/>
              </a:rPr>
              <a:t></a:t>
            </a:r>
            <a:r>
              <a:rPr lang="en-US" altLang="zh-CN" sz="1200" b="1" dirty="0"/>
              <a:t> </a:t>
            </a:r>
            <a:r>
              <a:rPr lang="en-US" altLang="zh-CN" sz="1200" b="1" i="1" dirty="0" err="1"/>
              <a:t>x</a:t>
            </a:r>
            <a:r>
              <a:rPr lang="en-US" altLang="zh-CN" sz="1200" b="1" dirty="0" err="1">
                <a:sym typeface="Symbol" panose="05050102010706020507" pitchFamily="18" charset="2"/>
              </a:rPr>
              <a:t></a:t>
            </a:r>
            <a:r>
              <a:rPr lang="en-US" altLang="zh-CN" sz="1200" b="1" i="1" dirty="0" err="1"/>
              <a:t>B</a:t>
            </a:r>
            <a:r>
              <a:rPr lang="en-US" altLang="zh-CN" sz="1200" b="1" i="1" dirty="0"/>
              <a:t> </a:t>
            </a:r>
            <a:r>
              <a:rPr lang="en-US" altLang="zh-CN" sz="1200" b="1" dirty="0"/>
              <a:t>}</a:t>
            </a:r>
          </a:p>
          <a:p>
            <a:pPr eaLnBrk="1" hangingPunct="1">
              <a:spcBef>
                <a:spcPct val="15000"/>
              </a:spcBef>
              <a:buFontTx/>
              <a:buNone/>
            </a:pPr>
            <a:r>
              <a:rPr lang="zh-CN" altLang="en-US" sz="1200" b="1" dirty="0">
                <a:solidFill>
                  <a:srgbClr val="FF3300"/>
                </a:solidFill>
              </a:rPr>
              <a:t>交</a:t>
            </a:r>
            <a:r>
              <a:rPr lang="zh-CN" altLang="en-US"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 { </a:t>
            </a:r>
            <a:r>
              <a:rPr lang="en-US" altLang="zh-CN" sz="1200" b="1" i="1" dirty="0"/>
              <a:t>x</a:t>
            </a:r>
            <a:r>
              <a:rPr lang="en-US" altLang="zh-CN" sz="1200" b="1" dirty="0"/>
              <a:t> | </a:t>
            </a:r>
            <a:r>
              <a:rPr lang="en-US" altLang="zh-CN" sz="1200" b="1" i="1" dirty="0" err="1"/>
              <a:t>x</a:t>
            </a:r>
            <a:r>
              <a:rPr lang="en-US" altLang="zh-CN" sz="1200" b="1" dirty="0" err="1">
                <a:sym typeface="Symbol" panose="05050102010706020507" pitchFamily="18" charset="2"/>
              </a:rPr>
              <a:t></a:t>
            </a:r>
            <a:r>
              <a:rPr lang="en-US" altLang="zh-CN" sz="1200" b="1" i="1" dirty="0" err="1"/>
              <a:t>A</a:t>
            </a:r>
            <a:r>
              <a:rPr lang="en-US" altLang="zh-CN" sz="1200" b="1" dirty="0"/>
              <a:t> </a:t>
            </a:r>
            <a:r>
              <a:rPr lang="en-US" altLang="zh-CN" sz="1200" b="1" dirty="0">
                <a:sym typeface="Symbol" panose="05050102010706020507" pitchFamily="18" charset="2"/>
              </a:rPr>
              <a:t></a:t>
            </a:r>
            <a:r>
              <a:rPr lang="en-US" altLang="zh-CN" sz="1200" b="1" dirty="0"/>
              <a:t> </a:t>
            </a:r>
            <a:r>
              <a:rPr lang="en-US" altLang="zh-CN" sz="1200" b="1" i="1" dirty="0" err="1"/>
              <a:t>x</a:t>
            </a:r>
            <a:r>
              <a:rPr lang="en-US" altLang="zh-CN" sz="1200" b="1" dirty="0" err="1">
                <a:sym typeface="Symbol" panose="05050102010706020507" pitchFamily="18" charset="2"/>
              </a:rPr>
              <a:t></a:t>
            </a:r>
            <a:r>
              <a:rPr lang="en-US" altLang="zh-CN" sz="1200" b="1" i="1" dirty="0" err="1"/>
              <a:t>B</a:t>
            </a:r>
            <a:r>
              <a:rPr lang="en-US" altLang="zh-CN" sz="1200" b="1" dirty="0"/>
              <a:t> }</a:t>
            </a:r>
          </a:p>
          <a:p>
            <a:pPr eaLnBrk="1" hangingPunct="1">
              <a:spcBef>
                <a:spcPct val="15000"/>
              </a:spcBef>
              <a:buFontTx/>
              <a:buNone/>
            </a:pPr>
            <a:r>
              <a:rPr lang="zh-CN" altLang="en-US" sz="1200" b="1" dirty="0">
                <a:solidFill>
                  <a:srgbClr val="FF3300"/>
                </a:solidFill>
              </a:rPr>
              <a:t>相对补</a:t>
            </a:r>
            <a:r>
              <a:rPr lang="zh-CN" altLang="en-US"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 { </a:t>
            </a:r>
            <a:r>
              <a:rPr lang="en-US" altLang="zh-CN" sz="1200" b="1" i="1" dirty="0"/>
              <a:t>x</a:t>
            </a:r>
            <a:r>
              <a:rPr lang="en-US" altLang="zh-CN" sz="1200" b="1" dirty="0"/>
              <a:t> | </a:t>
            </a:r>
            <a:r>
              <a:rPr lang="en-US" altLang="zh-CN" sz="1200" b="1" i="1" dirty="0" err="1"/>
              <a:t>x</a:t>
            </a:r>
            <a:r>
              <a:rPr lang="en-US" altLang="zh-CN" sz="1200" b="1" dirty="0" err="1">
                <a:sym typeface="Symbol" panose="05050102010706020507" pitchFamily="18" charset="2"/>
              </a:rPr>
              <a:t></a:t>
            </a:r>
            <a:r>
              <a:rPr lang="en-US" altLang="zh-CN" sz="1200" b="1" i="1" dirty="0" err="1"/>
              <a:t>A</a:t>
            </a:r>
            <a:r>
              <a:rPr lang="en-US" altLang="zh-CN" sz="1200" b="1" dirty="0"/>
              <a:t> </a:t>
            </a:r>
            <a:r>
              <a:rPr lang="en-US" altLang="zh-CN" sz="1200" b="1" dirty="0">
                <a:sym typeface="Symbol" panose="05050102010706020507" pitchFamily="18" charset="2"/>
              </a:rPr>
              <a:t></a:t>
            </a:r>
            <a:r>
              <a:rPr lang="en-US" altLang="zh-CN" sz="1200" b="1" dirty="0"/>
              <a:t> </a:t>
            </a:r>
            <a:r>
              <a:rPr lang="en-US" altLang="zh-CN" sz="1200" b="1" i="1" dirty="0" err="1"/>
              <a:t>x</a:t>
            </a:r>
            <a:r>
              <a:rPr lang="en-US" altLang="zh-CN" sz="1200" b="1" dirty="0" err="1">
                <a:sym typeface="Symbol" panose="05050102010706020507" pitchFamily="18" charset="2"/>
              </a:rPr>
              <a:t></a:t>
            </a:r>
            <a:r>
              <a:rPr lang="en-US" altLang="zh-CN" sz="1200" b="1" i="1" dirty="0" err="1"/>
              <a:t>B</a:t>
            </a:r>
            <a:r>
              <a:rPr lang="en-US" altLang="zh-CN" sz="1200" b="1" dirty="0"/>
              <a:t> }</a:t>
            </a:r>
          </a:p>
          <a:p>
            <a:pPr eaLnBrk="1" hangingPunct="1">
              <a:spcBef>
                <a:spcPct val="15000"/>
              </a:spcBef>
              <a:buFontTx/>
              <a:buNone/>
            </a:pPr>
            <a:r>
              <a:rPr lang="zh-CN" altLang="en-US" sz="1200" b="1" dirty="0">
                <a:solidFill>
                  <a:srgbClr val="FF3300"/>
                </a:solidFill>
              </a:rPr>
              <a:t>对称差</a:t>
            </a:r>
            <a:r>
              <a:rPr lang="zh-CN" altLang="en-US"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a:t>
            </a:r>
            <a:r>
              <a:rPr lang="en-US" altLang="zh-CN" sz="1200" b="1" dirty="0">
                <a:sym typeface="Symbol" panose="05050102010706020507" pitchFamily="18" charset="2"/>
              </a:rPr>
              <a:t></a:t>
            </a:r>
            <a:r>
              <a:rPr lang="en-US" altLang="zh-CN" sz="1200" b="1" dirty="0"/>
              <a:t>(</a:t>
            </a:r>
            <a:r>
              <a:rPr lang="en-US" altLang="zh-CN" sz="1200" b="1" i="1" dirty="0"/>
              <a:t>B</a:t>
            </a:r>
            <a:r>
              <a:rPr lang="en-US" altLang="zh-CN" sz="1200" b="1" dirty="0">
                <a:sym typeface="Symbol" panose="05050102010706020507" pitchFamily="18" charset="2"/>
              </a:rPr>
              <a:t></a:t>
            </a:r>
            <a:r>
              <a:rPr lang="en-US" altLang="zh-CN" sz="1200" b="1" i="1" dirty="0"/>
              <a:t>A</a:t>
            </a:r>
            <a:r>
              <a:rPr lang="en-US" altLang="zh-CN" sz="1200" b="1" dirty="0"/>
              <a:t>) = (</a:t>
            </a:r>
            <a:r>
              <a:rPr lang="en-US" altLang="zh-CN" sz="1200" b="1" i="1" dirty="0"/>
              <a:t>A</a:t>
            </a:r>
            <a:r>
              <a:rPr lang="en-US" altLang="zh-CN" sz="1200" b="1" dirty="0">
                <a:sym typeface="Symbol" panose="05050102010706020507" pitchFamily="18" charset="2"/>
              </a:rPr>
              <a:t></a:t>
            </a:r>
            <a:r>
              <a:rPr lang="en-US" altLang="zh-CN" sz="1200" b="1" i="1" dirty="0">
                <a:sym typeface="Symbol" panose="05050102010706020507" pitchFamily="18" charset="2"/>
              </a:rPr>
              <a:t>B</a:t>
            </a:r>
            <a:r>
              <a:rPr lang="en-US" altLang="zh-CN" sz="1200" b="1" dirty="0">
                <a:sym typeface="Symbol" panose="05050102010706020507" pitchFamily="18" charset="2"/>
              </a:rPr>
              <a:t>)(</a:t>
            </a:r>
            <a:r>
              <a:rPr lang="en-US" altLang="zh-CN" sz="1200" b="1" i="1" dirty="0">
                <a:sym typeface="Symbol" panose="05050102010706020507" pitchFamily="18" charset="2"/>
              </a:rPr>
              <a:t>A</a:t>
            </a:r>
            <a:r>
              <a:rPr lang="en-US" altLang="zh-CN" sz="1200" b="1" dirty="0">
                <a:sym typeface="Symbol" panose="05050102010706020507" pitchFamily="18" charset="2"/>
              </a:rPr>
              <a:t></a:t>
            </a:r>
            <a:r>
              <a:rPr lang="en-US" altLang="zh-CN" sz="1200" b="1" i="1" dirty="0">
                <a:sym typeface="Symbol" panose="05050102010706020507" pitchFamily="18" charset="2"/>
              </a:rPr>
              <a:t>B</a:t>
            </a:r>
            <a:r>
              <a:rPr lang="en-US" altLang="zh-CN" sz="1200" b="1" dirty="0">
                <a:sym typeface="Symbol" panose="05050102010706020507" pitchFamily="18" charset="2"/>
              </a:rPr>
              <a:t>)</a:t>
            </a:r>
            <a:r>
              <a:rPr lang="en-US" altLang="zh-CN" sz="1200" b="1" dirty="0"/>
              <a:t> </a:t>
            </a:r>
          </a:p>
          <a:p>
            <a:pPr eaLnBrk="1" hangingPunct="1">
              <a:spcBef>
                <a:spcPct val="15000"/>
              </a:spcBef>
              <a:buFontTx/>
              <a:buNone/>
            </a:pPr>
            <a:r>
              <a:rPr lang="zh-CN" altLang="en-US" sz="1200" b="1" dirty="0">
                <a:solidFill>
                  <a:srgbClr val="FF3300"/>
                </a:solidFill>
              </a:rPr>
              <a:t>绝对补</a:t>
            </a:r>
            <a:r>
              <a:rPr lang="zh-CN" altLang="en-US" sz="1200" b="1" dirty="0"/>
              <a:t>      </a:t>
            </a:r>
            <a:r>
              <a:rPr lang="zh-CN" altLang="en-US" sz="1200" b="1" dirty="0">
                <a:sym typeface="Symbol" panose="05050102010706020507" pitchFamily="18" charset="2"/>
              </a:rPr>
              <a:t></a:t>
            </a:r>
            <a:r>
              <a:rPr lang="en-US" altLang="zh-CN" sz="1200" b="1" i="1" dirty="0"/>
              <a:t>A</a:t>
            </a:r>
            <a:r>
              <a:rPr lang="en-US" altLang="zh-CN" sz="1200" b="1" dirty="0"/>
              <a:t> = </a:t>
            </a:r>
            <a:r>
              <a:rPr lang="en-US" altLang="zh-CN" sz="1200" b="1" i="1" dirty="0"/>
              <a:t>E</a:t>
            </a:r>
            <a:r>
              <a:rPr lang="en-US" altLang="zh-CN" sz="1200" b="1" dirty="0">
                <a:sym typeface="Symbol" panose="05050102010706020507" pitchFamily="18" charset="2"/>
              </a:rPr>
              <a:t></a:t>
            </a:r>
            <a:r>
              <a:rPr lang="en-US" altLang="zh-CN" sz="1200" b="1" i="1" dirty="0"/>
              <a:t>A</a:t>
            </a:r>
            <a:r>
              <a:rPr lang="en-US" altLang="zh-CN" sz="1200" b="1" dirty="0"/>
              <a:t>= { </a:t>
            </a:r>
            <a:r>
              <a:rPr lang="en-US" altLang="zh-CN" sz="1200" b="1" i="1" dirty="0"/>
              <a:t>x</a:t>
            </a:r>
            <a:r>
              <a:rPr lang="en-US" altLang="zh-CN" sz="1200" b="1" dirty="0"/>
              <a:t> | </a:t>
            </a:r>
            <a:r>
              <a:rPr lang="en-US" altLang="zh-CN" sz="1200" b="1" i="1" dirty="0" err="1"/>
              <a:t>x</a:t>
            </a:r>
            <a:r>
              <a:rPr lang="en-US" altLang="zh-CN" sz="1200" b="1" dirty="0" err="1">
                <a:sym typeface="Symbol" panose="05050102010706020507" pitchFamily="18" charset="2"/>
              </a:rPr>
              <a:t></a:t>
            </a:r>
            <a:r>
              <a:rPr lang="en-US" altLang="zh-CN" sz="1200" b="1" i="1" dirty="0" err="1"/>
              <a:t>A</a:t>
            </a:r>
            <a:r>
              <a:rPr lang="en-US" altLang="zh-CN" sz="1200" b="1" dirty="0"/>
              <a:t> }</a:t>
            </a:r>
          </a:p>
          <a:p>
            <a:pPr eaLnBrk="1" hangingPunct="1">
              <a:spcBef>
                <a:spcPct val="15000"/>
              </a:spcBef>
              <a:buFontTx/>
              <a:buNone/>
            </a:pPr>
            <a:endParaRPr lang="en-US" altLang="zh-CN" sz="1200" b="1" dirty="0"/>
          </a:p>
          <a:p>
            <a:pPr eaLnBrk="1" hangingPunct="1">
              <a:spcBef>
                <a:spcPct val="15000"/>
              </a:spcBef>
              <a:buFontTx/>
              <a:buNone/>
            </a:pPr>
            <a:r>
              <a:rPr lang="zh-CN" altLang="en-US" sz="1200" b="1" dirty="0">
                <a:solidFill>
                  <a:srgbClr val="000066"/>
                </a:solidFill>
              </a:rPr>
              <a:t>例：  设</a:t>
            </a:r>
            <a:r>
              <a:rPr lang="en-US" altLang="zh-CN" sz="1200" b="1" i="1" dirty="0">
                <a:solidFill>
                  <a:srgbClr val="000066"/>
                </a:solidFill>
              </a:rPr>
              <a:t>E</a:t>
            </a:r>
            <a:r>
              <a:rPr lang="en-US" altLang="zh-CN" sz="1200" b="1" dirty="0">
                <a:solidFill>
                  <a:srgbClr val="000066"/>
                </a:solidFill>
              </a:rPr>
              <a:t>={0,1, </a:t>
            </a:r>
            <a:r>
              <a:rPr lang="en-US" altLang="zh-CN" sz="1200" b="1" dirty="0">
                <a:solidFill>
                  <a:srgbClr val="000066"/>
                </a:solidFill>
                <a:cs typeface="Times New Roman" panose="02020603050405020304" pitchFamily="18" charset="0"/>
              </a:rPr>
              <a:t>… ,9}, </a:t>
            </a:r>
            <a:r>
              <a:rPr lang="en-US" altLang="zh-CN" sz="1200" b="1" i="1" dirty="0">
                <a:solidFill>
                  <a:srgbClr val="000066"/>
                </a:solidFill>
                <a:cs typeface="Times New Roman" panose="02020603050405020304" pitchFamily="18" charset="0"/>
              </a:rPr>
              <a:t>A</a:t>
            </a:r>
            <a:r>
              <a:rPr lang="en-US" altLang="zh-CN" sz="1200" b="1" dirty="0">
                <a:solidFill>
                  <a:srgbClr val="000066"/>
                </a:solidFill>
                <a:cs typeface="Times New Roman" panose="02020603050405020304" pitchFamily="18" charset="0"/>
              </a:rPr>
              <a:t>={0,1,2,3}, </a:t>
            </a:r>
            <a:r>
              <a:rPr lang="en-US" altLang="zh-CN" sz="1200" b="1" i="1" dirty="0">
                <a:solidFill>
                  <a:srgbClr val="000066"/>
                </a:solidFill>
                <a:cs typeface="Times New Roman" panose="02020603050405020304" pitchFamily="18" charset="0"/>
              </a:rPr>
              <a:t>B</a:t>
            </a:r>
            <a:r>
              <a:rPr lang="en-US" altLang="zh-CN" sz="1200" b="1" dirty="0">
                <a:solidFill>
                  <a:srgbClr val="000066"/>
                </a:solidFill>
                <a:cs typeface="Times New Roman" panose="02020603050405020304" pitchFamily="18" charset="0"/>
              </a:rPr>
              <a:t>={1,3,5,7,9},</a:t>
            </a:r>
          </a:p>
          <a:p>
            <a:pPr eaLnBrk="1" hangingPunct="1">
              <a:spcBef>
                <a:spcPct val="15000"/>
              </a:spcBef>
              <a:buFontTx/>
              <a:buNone/>
            </a:pPr>
            <a:r>
              <a:rPr lang="en-US" altLang="zh-CN" b="1" dirty="0">
                <a:solidFill>
                  <a:srgbClr val="000066"/>
                </a:solidFill>
                <a:cs typeface="Times New Roman" panose="02020603050405020304" pitchFamily="18" charset="0"/>
              </a:rPr>
              <a:t>           </a:t>
            </a:r>
            <a:r>
              <a:rPr lang="zh-CN" altLang="en-US" sz="1200" b="1" dirty="0">
                <a:solidFill>
                  <a:srgbClr val="000066"/>
                </a:solidFill>
              </a:rPr>
              <a:t>则有：</a:t>
            </a:r>
          </a:p>
          <a:p>
            <a:pPr eaLnBrk="1" hangingPunct="1">
              <a:spcBef>
                <a:spcPct val="15000"/>
              </a:spcBef>
              <a:buFontTx/>
              <a:buNone/>
            </a:pPr>
            <a:r>
              <a:rPr lang="en-US" altLang="zh-CN" sz="1200" b="1" i="1" dirty="0">
                <a:solidFill>
                  <a:srgbClr val="000066"/>
                </a:solidFill>
              </a:rPr>
              <a:t>   A</a:t>
            </a:r>
            <a:r>
              <a:rPr lang="en-US" altLang="zh-CN" sz="1200" b="1" dirty="0">
                <a:solidFill>
                  <a:srgbClr val="000066"/>
                </a:solidFill>
                <a:sym typeface="Symbol" panose="05050102010706020507" pitchFamily="18" charset="2"/>
              </a:rPr>
              <a:t></a:t>
            </a:r>
            <a:r>
              <a:rPr lang="en-US" altLang="zh-CN" sz="1200" b="1" i="1" dirty="0">
                <a:solidFill>
                  <a:srgbClr val="000066"/>
                </a:solidFill>
              </a:rPr>
              <a:t>B</a:t>
            </a:r>
            <a:r>
              <a:rPr lang="en-US" altLang="zh-CN" sz="1200" b="1" dirty="0">
                <a:solidFill>
                  <a:srgbClr val="000066"/>
                </a:solidFill>
              </a:rPr>
              <a:t> ={0,1,2,3,5,7,9}, </a:t>
            </a:r>
            <a:r>
              <a:rPr lang="en-US" altLang="zh-CN" sz="1200" b="1" i="1" dirty="0">
                <a:solidFill>
                  <a:srgbClr val="000066"/>
                </a:solidFill>
              </a:rPr>
              <a:t>A</a:t>
            </a:r>
            <a:r>
              <a:rPr lang="en-US" altLang="zh-CN" sz="1200" b="1" dirty="0">
                <a:solidFill>
                  <a:srgbClr val="000066"/>
                </a:solidFill>
                <a:sym typeface="Symbol" panose="05050102010706020507" pitchFamily="18" charset="2"/>
              </a:rPr>
              <a:t></a:t>
            </a:r>
            <a:r>
              <a:rPr lang="en-US" altLang="zh-CN" sz="1200" b="1" i="1" dirty="0">
                <a:solidFill>
                  <a:srgbClr val="000066"/>
                </a:solidFill>
              </a:rPr>
              <a:t>B</a:t>
            </a:r>
            <a:r>
              <a:rPr lang="en-US" altLang="zh-CN" sz="1200" b="1" dirty="0">
                <a:solidFill>
                  <a:srgbClr val="000066"/>
                </a:solidFill>
              </a:rPr>
              <a:t> ={1,3}, </a:t>
            </a:r>
            <a:r>
              <a:rPr lang="en-US" altLang="zh-CN" sz="1200" b="1" i="1" dirty="0">
                <a:solidFill>
                  <a:srgbClr val="000066"/>
                </a:solidFill>
              </a:rPr>
              <a:t>A</a:t>
            </a:r>
            <a:r>
              <a:rPr lang="en-US" altLang="zh-CN" sz="1200" b="1" dirty="0">
                <a:solidFill>
                  <a:srgbClr val="000066"/>
                </a:solidFill>
                <a:sym typeface="Symbol" panose="05050102010706020507" pitchFamily="18" charset="2"/>
              </a:rPr>
              <a:t></a:t>
            </a:r>
            <a:r>
              <a:rPr lang="en-US" altLang="zh-CN" sz="1200" b="1" i="1" dirty="0">
                <a:solidFill>
                  <a:srgbClr val="000066"/>
                </a:solidFill>
              </a:rPr>
              <a:t>B</a:t>
            </a:r>
            <a:r>
              <a:rPr lang="en-US" altLang="zh-CN" sz="1200" b="1" dirty="0">
                <a:solidFill>
                  <a:srgbClr val="000066"/>
                </a:solidFill>
              </a:rPr>
              <a:t> ={0,2}, </a:t>
            </a:r>
          </a:p>
          <a:p>
            <a:pPr eaLnBrk="1" hangingPunct="1">
              <a:spcBef>
                <a:spcPct val="15000"/>
              </a:spcBef>
              <a:buFontTx/>
              <a:buNone/>
            </a:pPr>
            <a:r>
              <a:rPr lang="en-US" altLang="zh-CN" sz="1200" b="1" i="1" dirty="0">
                <a:solidFill>
                  <a:srgbClr val="000066"/>
                </a:solidFill>
              </a:rPr>
              <a:t>   A</a:t>
            </a:r>
            <a:r>
              <a:rPr lang="en-US" altLang="zh-CN" sz="1200" b="1" dirty="0">
                <a:solidFill>
                  <a:srgbClr val="000066"/>
                </a:solidFill>
                <a:sym typeface="Symbol" panose="05050102010706020507" pitchFamily="18" charset="2"/>
              </a:rPr>
              <a:t></a:t>
            </a:r>
            <a:r>
              <a:rPr lang="en-US" altLang="zh-CN" sz="1200" b="1" i="1" dirty="0">
                <a:solidFill>
                  <a:srgbClr val="000066"/>
                </a:solidFill>
              </a:rPr>
              <a:t>B</a:t>
            </a:r>
            <a:r>
              <a:rPr lang="en-US" altLang="zh-CN" sz="1200" b="1" dirty="0">
                <a:solidFill>
                  <a:srgbClr val="000066"/>
                </a:solidFill>
              </a:rPr>
              <a:t> ={0,2,5,7,9}, </a:t>
            </a:r>
            <a:r>
              <a:rPr lang="zh-CN" altLang="en-US" sz="1200" b="1" dirty="0">
                <a:solidFill>
                  <a:srgbClr val="000066"/>
                </a:solidFill>
                <a:sym typeface="Symbol" panose="05050102010706020507" pitchFamily="18" charset="2"/>
              </a:rPr>
              <a:t></a:t>
            </a:r>
            <a:r>
              <a:rPr lang="en-US" altLang="zh-CN" sz="1200" b="1" i="1" dirty="0">
                <a:solidFill>
                  <a:srgbClr val="000066"/>
                </a:solidFill>
              </a:rPr>
              <a:t>A</a:t>
            </a:r>
            <a:r>
              <a:rPr lang="en-US" altLang="zh-CN" sz="1200" b="1" dirty="0">
                <a:solidFill>
                  <a:srgbClr val="000066"/>
                </a:solidFill>
              </a:rPr>
              <a:t> ={4,5,6,7,8,9}, </a:t>
            </a:r>
          </a:p>
          <a:p>
            <a:pPr eaLnBrk="1" hangingPunct="1">
              <a:spcBef>
                <a:spcPct val="15000"/>
              </a:spcBef>
              <a:buFontTx/>
              <a:buNone/>
            </a:pPr>
            <a:r>
              <a:rPr lang="en-US" altLang="zh-CN" b="1" dirty="0">
                <a:solidFill>
                  <a:srgbClr val="000066"/>
                </a:solidFill>
                <a:sym typeface="Symbol" panose="05050102010706020507" pitchFamily="18" charset="2"/>
              </a:rPr>
              <a:t>   </a:t>
            </a:r>
            <a:r>
              <a:rPr lang="zh-CN" altLang="en-US" sz="1200" b="1" dirty="0">
                <a:solidFill>
                  <a:srgbClr val="000066"/>
                </a:solidFill>
                <a:sym typeface="Symbol" panose="05050102010706020507" pitchFamily="18" charset="2"/>
              </a:rPr>
              <a:t></a:t>
            </a:r>
            <a:r>
              <a:rPr lang="en-US" altLang="zh-CN" sz="1200" b="1" i="1" dirty="0">
                <a:solidFill>
                  <a:srgbClr val="000066"/>
                </a:solidFill>
              </a:rPr>
              <a:t>B</a:t>
            </a:r>
            <a:r>
              <a:rPr lang="en-US" altLang="zh-CN" sz="1200" b="1" dirty="0">
                <a:solidFill>
                  <a:srgbClr val="000066"/>
                </a:solidFill>
              </a:rPr>
              <a:t> ={0,2,4,6,8}</a:t>
            </a:r>
          </a:p>
          <a:p>
            <a:pPr eaLnBrk="1" hangingPunct="1">
              <a:spcBef>
                <a:spcPct val="15000"/>
              </a:spcBef>
              <a:buFontTx/>
              <a:buNone/>
            </a:pPr>
            <a:r>
              <a:rPr lang="zh-CN" altLang="en-US" sz="1200" b="1" dirty="0"/>
              <a:t>说明:1. 只使用圆括号</a:t>
            </a:r>
          </a:p>
          <a:p>
            <a:pPr indent="576263" eaLnBrk="1" hangingPunct="1">
              <a:spcBef>
                <a:spcPct val="15000"/>
              </a:spcBef>
              <a:buFontTx/>
              <a:buNone/>
            </a:pPr>
            <a:r>
              <a:rPr lang="zh-CN" altLang="en-US" sz="1200" b="1" dirty="0"/>
              <a:t>2. 运算顺序: 优先级别为(1)括号, (2)</a:t>
            </a:r>
            <a:r>
              <a:rPr lang="zh-CN" altLang="en-US" sz="1200" b="1" dirty="0">
                <a:sym typeface="Symbol" panose="05050102010706020507" pitchFamily="18" charset="2"/>
              </a:rPr>
              <a:t>和幂集, (3)其他.同级别的按从左到右运算。</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9</a:t>
            </a:fld>
            <a:endParaRPr lang="zh-CN" altLang="en-US"/>
          </a:p>
        </p:txBody>
      </p:sp>
    </p:spTree>
    <p:extLst>
      <p:ext uri="{BB962C8B-B14F-4D97-AF65-F5344CB8AC3E}">
        <p14:creationId xmlns:p14="http://schemas.microsoft.com/office/powerpoint/2010/main" val="3648933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Tx/>
              <a:buNone/>
            </a:pPr>
            <a:r>
              <a:rPr lang="zh-CN" altLang="en-US" sz="1200" b="1" dirty="0">
                <a:solidFill>
                  <a:srgbClr val="800000"/>
                </a:solidFill>
              </a:rPr>
              <a:t>例1</a:t>
            </a:r>
            <a:r>
              <a:rPr lang="zh-CN" altLang="en-US" sz="1200" b="1" dirty="0"/>
              <a:t> 设</a:t>
            </a:r>
            <a:r>
              <a:rPr lang="en-US" altLang="zh-CN" sz="1200" b="1" i="1" dirty="0"/>
              <a:t>E</a:t>
            </a:r>
            <a:r>
              <a:rPr lang="en-US" altLang="zh-CN" sz="1200" b="1" dirty="0"/>
              <a:t>={ </a:t>
            </a:r>
            <a:r>
              <a:rPr lang="en-US" altLang="zh-CN" sz="1200" b="1" i="1" dirty="0"/>
              <a:t>x</a:t>
            </a:r>
            <a:r>
              <a:rPr lang="en-US" altLang="zh-CN" sz="1200" b="1" dirty="0"/>
              <a:t> | </a:t>
            </a:r>
            <a:r>
              <a:rPr lang="en-US" altLang="zh-CN" sz="1200" b="1" i="1" dirty="0"/>
              <a:t>x</a:t>
            </a:r>
            <a:r>
              <a:rPr lang="zh-CN" altLang="en-US" sz="1200" b="1" dirty="0"/>
              <a:t>是北京某大学学生}, </a:t>
            </a:r>
            <a:r>
              <a:rPr lang="en-US" altLang="zh-CN" sz="1200" b="1" i="1" dirty="0"/>
              <a:t>A,B,C,D</a:t>
            </a:r>
            <a:r>
              <a:rPr lang="zh-CN" altLang="en-US" sz="1200" b="1" dirty="0"/>
              <a:t>是</a:t>
            </a:r>
            <a:r>
              <a:rPr lang="en-US" altLang="zh-CN" sz="1200" b="1" i="1" dirty="0"/>
              <a:t>E</a:t>
            </a:r>
            <a:r>
              <a:rPr lang="zh-CN" altLang="en-US" sz="1200" b="1" dirty="0"/>
              <a:t>的子集,</a:t>
            </a:r>
          </a:p>
          <a:p>
            <a:pPr>
              <a:buFontTx/>
              <a:buNone/>
            </a:pPr>
            <a:r>
              <a:rPr lang="en-US" altLang="zh-CN" sz="1200" b="1" i="1" dirty="0"/>
              <a:t>A</a:t>
            </a:r>
            <a:r>
              <a:rPr lang="en-US" altLang="zh-CN" sz="1200" b="1" dirty="0"/>
              <a:t>= { </a:t>
            </a:r>
            <a:r>
              <a:rPr lang="en-US" altLang="zh-CN" sz="1200" b="1" i="1" dirty="0"/>
              <a:t>x</a:t>
            </a:r>
            <a:r>
              <a:rPr lang="en-US" altLang="zh-CN" sz="1200" b="1" dirty="0"/>
              <a:t> | </a:t>
            </a:r>
            <a:r>
              <a:rPr lang="en-US" altLang="zh-CN" sz="1200" b="1" i="1" dirty="0"/>
              <a:t>x</a:t>
            </a:r>
            <a:r>
              <a:rPr lang="zh-CN" altLang="en-US" sz="1200" b="1" dirty="0"/>
              <a:t>是北京人},            </a:t>
            </a:r>
            <a:r>
              <a:rPr lang="en-US" altLang="zh-CN" sz="1200" b="1" i="1" dirty="0"/>
              <a:t>B</a:t>
            </a:r>
            <a:r>
              <a:rPr lang="en-US" altLang="zh-CN" sz="1200" b="1" dirty="0"/>
              <a:t>= { </a:t>
            </a:r>
            <a:r>
              <a:rPr lang="en-US" altLang="zh-CN" sz="1200" b="1" i="1" dirty="0"/>
              <a:t>x</a:t>
            </a:r>
            <a:r>
              <a:rPr lang="en-US" altLang="zh-CN" sz="1200" b="1" dirty="0"/>
              <a:t> | </a:t>
            </a:r>
            <a:r>
              <a:rPr lang="en-US" altLang="zh-CN" sz="1200" b="1" i="1" dirty="0"/>
              <a:t>x</a:t>
            </a:r>
            <a:r>
              <a:rPr lang="zh-CN" altLang="en-US" sz="1200" b="1" dirty="0"/>
              <a:t>是走读生},</a:t>
            </a:r>
          </a:p>
          <a:p>
            <a:pPr>
              <a:buFontTx/>
              <a:buNone/>
            </a:pPr>
            <a:r>
              <a:rPr lang="en-US" altLang="zh-CN" sz="1200" b="1" i="1" dirty="0"/>
              <a:t>C</a:t>
            </a:r>
            <a:r>
              <a:rPr lang="en-US" altLang="zh-CN" sz="1200" b="1" dirty="0"/>
              <a:t>= { </a:t>
            </a:r>
            <a:r>
              <a:rPr lang="en-US" altLang="zh-CN" sz="1200" b="1" i="1" dirty="0"/>
              <a:t>x</a:t>
            </a:r>
            <a:r>
              <a:rPr lang="en-US" altLang="zh-CN" sz="1200" b="1" dirty="0"/>
              <a:t> | </a:t>
            </a:r>
            <a:r>
              <a:rPr lang="en-US" altLang="zh-CN" sz="1200" b="1" i="1" dirty="0"/>
              <a:t>x</a:t>
            </a:r>
            <a:r>
              <a:rPr lang="zh-CN" altLang="en-US" sz="1200" b="1" dirty="0"/>
              <a:t>是数学系学生},    </a:t>
            </a:r>
            <a:r>
              <a:rPr lang="en-US" altLang="zh-CN" sz="1200" b="1" i="1" dirty="0"/>
              <a:t>D</a:t>
            </a:r>
            <a:r>
              <a:rPr lang="en-US" altLang="zh-CN" sz="1200" b="1" dirty="0"/>
              <a:t>= { </a:t>
            </a:r>
            <a:r>
              <a:rPr lang="en-US" altLang="zh-CN" sz="1200" b="1" i="1" dirty="0"/>
              <a:t>x</a:t>
            </a:r>
            <a:r>
              <a:rPr lang="en-US" altLang="zh-CN" sz="1200" b="1" dirty="0"/>
              <a:t> | </a:t>
            </a:r>
            <a:r>
              <a:rPr lang="en-US" altLang="zh-CN" sz="1200" b="1" i="1" dirty="0"/>
              <a:t>x</a:t>
            </a:r>
            <a:r>
              <a:rPr lang="zh-CN" altLang="en-US" sz="1200" b="1" dirty="0"/>
              <a:t>是喜欢听音乐的学生}.</a:t>
            </a:r>
            <a:endParaRPr lang="en-US" altLang="zh-CN" sz="1200" b="1" dirty="0"/>
          </a:p>
          <a:p>
            <a:pPr>
              <a:buFontTx/>
              <a:buNone/>
            </a:pPr>
            <a:endParaRPr lang="zh-CN" altLang="en-US" sz="1200" b="1" dirty="0"/>
          </a:p>
          <a:p>
            <a:pPr eaLnBrk="1" hangingPunct="1">
              <a:spcBef>
                <a:spcPct val="50000"/>
              </a:spcBef>
            </a:pPr>
            <a:r>
              <a:rPr lang="zh-CN" altLang="en-US" sz="1200" b="1" dirty="0"/>
              <a:t>试描述下列各集合中学生的特征: </a:t>
            </a:r>
            <a:endParaRPr lang="en-US" altLang="zh-CN" sz="1200" b="1" dirty="0"/>
          </a:p>
          <a:p>
            <a:pPr eaLnBrk="1" hangingPunct="1">
              <a:spcBef>
                <a:spcPct val="50000"/>
              </a:spcBef>
            </a:pP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en-US" altLang="zh-CN" sz="1200" b="1" dirty="0">
                <a:solidFill>
                  <a:schemeClr val="tx1"/>
                </a:solidFill>
                <a:latin typeface="Times New Roman" panose="02020603050405020304" pitchFamily="18" charset="0"/>
                <a:ea typeface="宋体" panose="02010600030101010101" pitchFamily="2" charset="-122"/>
              </a:rPr>
              <a:t> |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zh-CN" altLang="en-US" sz="1200" b="1" dirty="0">
                <a:solidFill>
                  <a:schemeClr val="tx1"/>
                </a:solidFill>
                <a:latin typeface="Times New Roman" panose="02020603050405020304" pitchFamily="18" charset="0"/>
                <a:ea typeface="宋体" panose="02010600030101010101" pitchFamily="2" charset="-122"/>
              </a:rPr>
              <a:t>是北京人或喜欢听音乐,</a:t>
            </a:r>
          </a:p>
          <a:p>
            <a:pPr eaLnBrk="1" hangingPunct="1">
              <a:spcBef>
                <a:spcPct val="20000"/>
              </a:spcBef>
            </a:pPr>
            <a:r>
              <a:rPr kumimoji="1" lang="zh-CN" altLang="en-US" sz="1200" b="1" dirty="0">
                <a:solidFill>
                  <a:schemeClr val="tx1"/>
                </a:solidFill>
                <a:latin typeface="Times New Roman" panose="02020603050405020304" pitchFamily="18" charset="0"/>
                <a:ea typeface="宋体" panose="02010600030101010101" pitchFamily="2" charset="-122"/>
              </a:rPr>
              <a:t>       但不是数学系学生}</a:t>
            </a:r>
            <a:endParaRPr kumimoji="1" lang="en-US" altLang="zh-CN" sz="1200" b="1" dirty="0">
              <a:solidFill>
                <a:schemeClr val="tx1"/>
              </a:solidFill>
              <a:latin typeface="Times New Roman" panose="02020603050405020304" pitchFamily="18" charset="0"/>
              <a:ea typeface="宋体" panose="02010600030101010101" pitchFamily="2" charset="-122"/>
            </a:endParaRPr>
          </a:p>
          <a:p>
            <a:pPr>
              <a:buFontTx/>
              <a:buNone/>
            </a:pPr>
            <a:endParaRPr lang="en-US" altLang="zh-CN"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en-US" altLang="zh-CN" sz="1200" b="1" dirty="0">
                <a:solidFill>
                  <a:schemeClr val="tx1"/>
                </a:solidFill>
                <a:latin typeface="Times New Roman" panose="02020603050405020304" pitchFamily="18" charset="0"/>
                <a:ea typeface="宋体" panose="02010600030101010101" pitchFamily="2" charset="-122"/>
              </a:rPr>
              <a:t> |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zh-CN" altLang="en-US" sz="1200" b="1" dirty="0">
                <a:solidFill>
                  <a:schemeClr val="tx1"/>
                </a:solidFill>
                <a:latin typeface="Times New Roman" panose="02020603050405020304" pitchFamily="18" charset="0"/>
                <a:ea typeface="宋体" panose="02010600030101010101" pitchFamily="2" charset="-122"/>
              </a:rPr>
              <a:t>是外地走读生}</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en-US" altLang="zh-CN" sz="1200" b="1" dirty="0">
                <a:solidFill>
                  <a:schemeClr val="tx1"/>
                </a:solidFill>
                <a:latin typeface="Times New Roman" panose="02020603050405020304" pitchFamily="18" charset="0"/>
                <a:ea typeface="宋体" panose="02010600030101010101" pitchFamily="2" charset="-122"/>
              </a:rPr>
              <a:t> |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zh-CN" altLang="en-US" sz="1200" b="1" dirty="0">
                <a:solidFill>
                  <a:schemeClr val="tx1"/>
                </a:solidFill>
                <a:latin typeface="Times New Roman" panose="02020603050405020304" pitchFamily="18" charset="0"/>
                <a:ea typeface="宋体" panose="02010600030101010101" pitchFamily="2" charset="-122"/>
              </a:rPr>
              <a:t>是北京住校生, 并且喜欢听音乐}</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en-US" altLang="zh-CN" sz="1200" b="1" dirty="0">
                <a:solidFill>
                  <a:schemeClr val="tx1"/>
                </a:solidFill>
                <a:latin typeface="Times New Roman" panose="02020603050405020304" pitchFamily="18" charset="0"/>
                <a:ea typeface="宋体" panose="02010600030101010101" pitchFamily="2" charset="-122"/>
              </a:rPr>
              <a:t> |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zh-CN" altLang="en-US" sz="1200" b="1" dirty="0">
                <a:solidFill>
                  <a:schemeClr val="tx1"/>
                </a:solidFill>
                <a:latin typeface="Times New Roman" panose="02020603050405020304" pitchFamily="18" charset="0"/>
                <a:ea typeface="宋体" panose="02010600030101010101" pitchFamily="2" charset="-122"/>
              </a:rPr>
              <a:t>是不喜欢听音乐的住校生}</a:t>
            </a:r>
          </a:p>
          <a:p>
            <a:pPr>
              <a:buFontTx/>
              <a:buNone/>
            </a:pP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10</a:t>
            </a:fld>
            <a:endParaRPr lang="zh-CN" altLang="en-US"/>
          </a:p>
        </p:txBody>
      </p:sp>
    </p:spTree>
    <p:extLst>
      <p:ext uri="{BB962C8B-B14F-4D97-AF65-F5344CB8AC3E}">
        <p14:creationId xmlns:p14="http://schemas.microsoft.com/office/powerpoint/2010/main" val="28828856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11</a:t>
            </a:fld>
            <a:endParaRPr lang="zh-CN" altLang="en-US"/>
          </a:p>
        </p:txBody>
      </p:sp>
    </p:spTree>
    <p:extLst>
      <p:ext uri="{BB962C8B-B14F-4D97-AF65-F5344CB8AC3E}">
        <p14:creationId xmlns:p14="http://schemas.microsoft.com/office/powerpoint/2010/main" val="850398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spcBef>
                <a:spcPct val="85000"/>
              </a:spcBef>
            </a:pPr>
            <a:r>
              <a:rPr kumimoji="1" lang="zh-CN" altLang="en-US" sz="1200" b="1" dirty="0">
                <a:solidFill>
                  <a:schemeClr val="tx1"/>
                </a:solidFill>
                <a:latin typeface="Times New Roman" panose="02020603050405020304" pitchFamily="18" charset="0"/>
                <a:ea typeface="宋体" panose="02010600030101010101" pitchFamily="2" charset="-122"/>
              </a:rPr>
              <a:t>并和交运算可以推广到</a:t>
            </a:r>
            <a:r>
              <a:rPr kumimoji="1" lang="zh-CN" altLang="en-US" sz="1200" b="1" dirty="0">
                <a:solidFill>
                  <a:schemeClr val="tx1"/>
                </a:solidFill>
                <a:highlight>
                  <a:srgbClr val="FFFF00"/>
                </a:highlight>
                <a:latin typeface="Times New Roman" panose="02020603050405020304" pitchFamily="18" charset="0"/>
                <a:ea typeface="宋体" panose="02010600030101010101" pitchFamily="2" charset="-122"/>
              </a:rPr>
              <a:t>有穷</a:t>
            </a:r>
            <a:r>
              <a:rPr kumimoji="1" lang="zh-CN" altLang="en-US" sz="1200" b="1" dirty="0">
                <a:solidFill>
                  <a:schemeClr val="tx1"/>
                </a:solidFill>
                <a:latin typeface="Times New Roman" panose="02020603050405020304" pitchFamily="18" charset="0"/>
                <a:ea typeface="宋体" panose="02010600030101010101" pitchFamily="2" charset="-122"/>
              </a:rPr>
              <a:t>个集合上</a:t>
            </a:r>
          </a:p>
          <a:p>
            <a:pPr eaLnBrk="1" hangingPunct="1">
              <a:lnSpc>
                <a:spcPct val="110000"/>
              </a:lnSpc>
              <a:spcBef>
                <a:spcPct val="50000"/>
              </a:spcBef>
            </a:pPr>
            <a:r>
              <a:rPr kumimoji="1" lang="zh-CN" altLang="en-US"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1</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2</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i="1" baseline="-25000" dirty="0">
                <a:solidFill>
                  <a:schemeClr val="tx1"/>
                </a:solidFill>
                <a:latin typeface="Times New Roman" panose="02020603050405020304" pitchFamily="18" charset="0"/>
                <a:ea typeface="宋体" panose="02010600030101010101" pitchFamily="2" charset="-122"/>
              </a:rPr>
              <a:t>n</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x </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1</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2</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err="1">
                <a:solidFill>
                  <a:schemeClr val="tx1"/>
                </a:solidFill>
                <a:latin typeface="Times New Roman" panose="02020603050405020304" pitchFamily="18" charset="0"/>
                <a:ea typeface="宋体" panose="02010600030101010101" pitchFamily="2" charset="-122"/>
              </a:rPr>
              <a:t>x</a:t>
            </a:r>
            <a:r>
              <a:rPr kumimoji="1"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err="1">
                <a:solidFill>
                  <a:schemeClr val="tx1"/>
                </a:solidFill>
                <a:latin typeface="Times New Roman" panose="02020603050405020304" pitchFamily="18" charset="0"/>
                <a:ea typeface="宋体" panose="02010600030101010101" pitchFamily="2" charset="-122"/>
              </a:rPr>
              <a:t>A</a:t>
            </a:r>
            <a:r>
              <a:rPr kumimoji="1" lang="en-US" altLang="zh-CN" sz="1200" b="1" i="1" baseline="-25000" dirty="0" err="1">
                <a:solidFill>
                  <a:schemeClr val="tx1"/>
                </a:solidFill>
                <a:latin typeface="Times New Roman" panose="02020603050405020304" pitchFamily="18" charset="0"/>
                <a:ea typeface="宋体" panose="02010600030101010101" pitchFamily="2" charset="-122"/>
              </a:rPr>
              <a:t>n</a:t>
            </a:r>
            <a:r>
              <a:rPr kumimoji="1" lang="en-US" altLang="zh-CN" sz="1200" b="1" dirty="0">
                <a:solidFill>
                  <a:schemeClr val="tx1"/>
                </a:solidFill>
                <a:latin typeface="Times New Roman" panose="02020603050405020304" pitchFamily="18" charset="0"/>
                <a:ea typeface="宋体" panose="02010600030101010101" pitchFamily="2" charset="-122"/>
              </a:rPr>
              <a:t>} </a:t>
            </a:r>
          </a:p>
          <a:p>
            <a:pPr eaLnBrk="1" hangingPunct="1">
              <a:lnSpc>
                <a:spcPct val="110000"/>
              </a:lnSpc>
              <a:spcBef>
                <a:spcPct val="85000"/>
              </a:spcBef>
            </a:pP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1</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2</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i="1" baseline="-25000" dirty="0">
                <a:solidFill>
                  <a:schemeClr val="tx1"/>
                </a:solidFill>
                <a:latin typeface="Times New Roman" panose="02020603050405020304" pitchFamily="18" charset="0"/>
                <a:ea typeface="宋体" panose="02010600030101010101" pitchFamily="2" charset="-122"/>
              </a:rPr>
              <a:t>n</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x </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1</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x</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2</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err="1">
                <a:solidFill>
                  <a:schemeClr val="tx1"/>
                </a:solidFill>
                <a:latin typeface="Times New Roman" panose="02020603050405020304" pitchFamily="18" charset="0"/>
                <a:ea typeface="宋体" panose="02010600030101010101" pitchFamily="2" charset="-122"/>
              </a:rPr>
              <a:t>x</a:t>
            </a:r>
            <a:r>
              <a:rPr kumimoji="1"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err="1">
                <a:solidFill>
                  <a:schemeClr val="tx1"/>
                </a:solidFill>
                <a:latin typeface="Times New Roman" panose="02020603050405020304" pitchFamily="18" charset="0"/>
                <a:ea typeface="宋体" panose="02010600030101010101" pitchFamily="2" charset="-122"/>
              </a:rPr>
              <a:t>A</a:t>
            </a:r>
            <a:r>
              <a:rPr kumimoji="1" lang="en-US" altLang="zh-CN" sz="1200" b="1" i="1" baseline="-25000" dirty="0" err="1">
                <a:solidFill>
                  <a:schemeClr val="tx1"/>
                </a:solidFill>
                <a:latin typeface="Times New Roman" panose="02020603050405020304" pitchFamily="18" charset="0"/>
                <a:ea typeface="宋体" panose="02010600030101010101" pitchFamily="2" charset="-122"/>
              </a:rPr>
              <a:t>n</a:t>
            </a:r>
            <a:r>
              <a:rPr kumimoji="1" lang="en-US" altLang="zh-CN" sz="1200" b="1" dirty="0">
                <a:solidFill>
                  <a:schemeClr val="tx1"/>
                </a:solidFill>
                <a:latin typeface="Times New Roman" panose="02020603050405020304" pitchFamily="18" charset="0"/>
                <a:ea typeface="宋体" panose="02010600030101010101" pitchFamily="2" charset="-122"/>
              </a:rPr>
              <a:t>}</a:t>
            </a:r>
          </a:p>
          <a:p>
            <a:pPr eaLnBrk="1" hangingPunct="1">
              <a:lnSpc>
                <a:spcPct val="110000"/>
              </a:lnSpc>
              <a:spcBef>
                <a:spcPct val="85000"/>
              </a:spcBef>
            </a:pPr>
            <a:r>
              <a:rPr kumimoji="1" lang="zh-CN" altLang="en-US" sz="1200" b="1" dirty="0">
                <a:solidFill>
                  <a:schemeClr val="tx1"/>
                </a:solidFill>
                <a:latin typeface="Times New Roman" panose="02020603050405020304" pitchFamily="18" charset="0"/>
                <a:ea typeface="宋体" panose="02010600030101010101" pitchFamily="2" charset="-122"/>
              </a:rPr>
              <a:t>并和交运算还可以推广到可数</a:t>
            </a:r>
            <a:r>
              <a:rPr kumimoji="1" lang="zh-CN" altLang="en-US" sz="1200" b="1" dirty="0">
                <a:solidFill>
                  <a:schemeClr val="tx1"/>
                </a:solidFill>
                <a:highlight>
                  <a:srgbClr val="FFFF00"/>
                </a:highlight>
                <a:latin typeface="Times New Roman" panose="02020603050405020304" pitchFamily="18" charset="0"/>
                <a:ea typeface="宋体" panose="02010600030101010101" pitchFamily="2" charset="-122"/>
              </a:rPr>
              <a:t>无穷</a:t>
            </a:r>
            <a:r>
              <a:rPr kumimoji="1" lang="zh-CN" altLang="en-US" sz="1200" b="1" dirty="0">
                <a:solidFill>
                  <a:schemeClr val="tx1"/>
                </a:solidFill>
                <a:latin typeface="Times New Roman" panose="02020603050405020304" pitchFamily="18" charset="0"/>
                <a:ea typeface="宋体" panose="02010600030101010101" pitchFamily="2" charset="-122"/>
              </a:rPr>
              <a:t>个集合上</a:t>
            </a:r>
          </a:p>
          <a:p>
            <a:pPr eaLnBrk="1" hangingPunct="1">
              <a:lnSpc>
                <a:spcPct val="110000"/>
              </a:lnSpc>
              <a:spcBef>
                <a:spcPct val="50000"/>
              </a:spcBef>
            </a:pPr>
            <a:r>
              <a:rPr kumimoji="1" lang="zh-CN" altLang="en-US"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1</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2</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 { </a:t>
            </a:r>
            <a:r>
              <a:rPr kumimoji="1" lang="en-US" altLang="zh-CN" sz="1200" b="1" i="1" dirty="0">
                <a:solidFill>
                  <a:schemeClr val="tx1"/>
                </a:solidFill>
                <a:latin typeface="Times New Roman" panose="02020603050405020304" pitchFamily="18" charset="0"/>
                <a:ea typeface="宋体" panose="02010600030101010101" pitchFamily="2" charset="-122"/>
              </a:rPr>
              <a:t>x </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i</a:t>
            </a:r>
            <a:r>
              <a:rPr kumimoji="1"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i</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=1,2,</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err="1">
                <a:solidFill>
                  <a:schemeClr val="tx1"/>
                </a:solidFill>
                <a:latin typeface="Times New Roman" panose="02020603050405020304" pitchFamily="18" charset="0"/>
                <a:ea typeface="宋体" panose="02010600030101010101" pitchFamily="2" charset="-122"/>
              </a:rPr>
              <a:t>x</a:t>
            </a:r>
            <a:r>
              <a:rPr kumimoji="1"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err="1">
                <a:solidFill>
                  <a:schemeClr val="tx1"/>
                </a:solidFill>
                <a:latin typeface="Times New Roman" panose="02020603050405020304" pitchFamily="18" charset="0"/>
                <a:ea typeface="宋体" panose="02010600030101010101" pitchFamily="2" charset="-122"/>
              </a:rPr>
              <a:t>A</a:t>
            </a:r>
            <a:r>
              <a:rPr kumimoji="1" lang="en-US" altLang="zh-CN" sz="1200" b="1" i="1" baseline="-25000" dirty="0" err="1">
                <a:solidFill>
                  <a:schemeClr val="tx1"/>
                </a:solidFill>
                <a:latin typeface="Times New Roman" panose="02020603050405020304" pitchFamily="18" charset="0"/>
                <a:ea typeface="宋体" panose="02010600030101010101" pitchFamily="2" charset="-122"/>
              </a:rPr>
              <a:t>i</a:t>
            </a:r>
            <a:r>
              <a:rPr kumimoji="1" lang="en-US" altLang="zh-CN" sz="1200" b="1" i="1" baseline="-25000" dirty="0">
                <a:solidFill>
                  <a:schemeClr val="tx1"/>
                </a:solidFill>
                <a:latin typeface="Times New Roman" panose="02020603050405020304" pitchFamily="18" charset="0"/>
                <a:ea typeface="宋体" panose="02010600030101010101" pitchFamily="2" charset="-122"/>
              </a:rPr>
              <a:t> </a:t>
            </a:r>
            <a:r>
              <a:rPr kumimoji="1" lang="en-US" altLang="zh-CN" sz="1200" b="1" dirty="0">
                <a:solidFill>
                  <a:schemeClr val="tx1"/>
                </a:solidFill>
                <a:latin typeface="Times New Roman" panose="02020603050405020304" pitchFamily="18" charset="0"/>
                <a:ea typeface="宋体" panose="02010600030101010101" pitchFamily="2" charset="-122"/>
              </a:rPr>
              <a:t>} </a:t>
            </a:r>
          </a:p>
          <a:p>
            <a:pPr eaLnBrk="1" hangingPunct="1">
              <a:lnSpc>
                <a:spcPct val="110000"/>
              </a:lnSpc>
              <a:spcBef>
                <a:spcPct val="95000"/>
              </a:spcBef>
            </a:pP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1</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A</a:t>
            </a:r>
            <a:r>
              <a:rPr kumimoji="1" lang="en-US" altLang="zh-CN" sz="1200" b="1" baseline="-25000" dirty="0">
                <a:solidFill>
                  <a:schemeClr val="tx1"/>
                </a:solidFill>
                <a:latin typeface="Times New Roman" panose="02020603050405020304" pitchFamily="18" charset="0"/>
                <a:ea typeface="宋体" panose="02010600030101010101" pitchFamily="2" charset="-122"/>
              </a:rPr>
              <a:t>2</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 { </a:t>
            </a:r>
            <a:r>
              <a:rPr kumimoji="1" lang="en-US" altLang="zh-CN" sz="1200" b="1" i="1" dirty="0">
                <a:solidFill>
                  <a:schemeClr val="tx1"/>
                </a:solidFill>
                <a:latin typeface="Times New Roman" panose="02020603050405020304" pitchFamily="18" charset="0"/>
                <a:ea typeface="宋体" panose="02010600030101010101" pitchFamily="2" charset="-122"/>
              </a:rPr>
              <a:t>x </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i</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1200" b="1" i="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i</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=1,2,</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err="1">
                <a:solidFill>
                  <a:schemeClr val="tx1"/>
                </a:solidFill>
                <a:latin typeface="Times New Roman" panose="02020603050405020304" pitchFamily="18" charset="0"/>
                <a:ea typeface="宋体" panose="02010600030101010101" pitchFamily="2" charset="-122"/>
              </a:rPr>
              <a:t>x</a:t>
            </a:r>
            <a:r>
              <a:rPr kumimoji="1" lang="en-US" altLang="zh-CN" sz="1200" b="1" dirty="0" err="1">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err="1">
                <a:solidFill>
                  <a:schemeClr val="tx1"/>
                </a:solidFill>
                <a:latin typeface="Times New Roman" panose="02020603050405020304" pitchFamily="18" charset="0"/>
                <a:ea typeface="宋体" panose="02010600030101010101" pitchFamily="2" charset="-122"/>
              </a:rPr>
              <a:t>A</a:t>
            </a:r>
            <a:r>
              <a:rPr kumimoji="1" lang="en-US" altLang="zh-CN" sz="1200" b="1" i="1" baseline="-25000" dirty="0" err="1">
                <a:solidFill>
                  <a:schemeClr val="tx1"/>
                </a:solidFill>
                <a:latin typeface="Times New Roman" panose="02020603050405020304" pitchFamily="18" charset="0"/>
                <a:ea typeface="宋体" panose="02010600030101010101" pitchFamily="2" charset="-122"/>
              </a:rPr>
              <a:t>i</a:t>
            </a:r>
            <a:r>
              <a:rPr kumimoji="1" lang="en-US" altLang="zh-CN" sz="1200" b="1" i="1" baseline="-25000" dirty="0">
                <a:solidFill>
                  <a:schemeClr val="tx1"/>
                </a:solidFill>
                <a:latin typeface="Times New Roman" panose="02020603050405020304" pitchFamily="18" charset="0"/>
                <a:ea typeface="宋体" panose="02010600030101010101" pitchFamily="2" charset="-122"/>
              </a:rPr>
              <a:t> </a:t>
            </a:r>
            <a:r>
              <a:rPr kumimoji="1" lang="en-US" altLang="zh-CN" sz="1200" b="1" dirty="0">
                <a:solidFill>
                  <a:schemeClr val="tx1"/>
                </a:solidFill>
                <a:latin typeface="Times New Roman" panose="02020603050405020304" pitchFamily="18" charset="0"/>
                <a:ea typeface="宋体" panose="02010600030101010101" pitchFamily="2" charset="-122"/>
              </a:rPr>
              <a:t>}</a:t>
            </a:r>
            <a:endParaRPr kumimoji="1" lang="zh-CN" altLang="en-US" sz="1200" b="1" dirty="0">
              <a:solidFill>
                <a:schemeClr val="tx1"/>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12</a:t>
            </a:fld>
            <a:endParaRPr lang="zh-CN" altLang="en-US"/>
          </a:p>
        </p:txBody>
      </p:sp>
    </p:spTree>
    <p:extLst>
      <p:ext uri="{BB962C8B-B14F-4D97-AF65-F5344CB8AC3E}">
        <p14:creationId xmlns:p14="http://schemas.microsoft.com/office/powerpoint/2010/main" val="4238191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13</a:t>
            </a:fld>
            <a:endParaRPr lang="zh-CN" altLang="en-US"/>
          </a:p>
        </p:txBody>
      </p:sp>
    </p:spTree>
    <p:extLst>
      <p:ext uri="{BB962C8B-B14F-4D97-AF65-F5344CB8AC3E}">
        <p14:creationId xmlns:p14="http://schemas.microsoft.com/office/powerpoint/2010/main" val="30962927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等线" panose="02010600030101010101" pitchFamily="2" charset="-122"/>
                <a:cs typeface="Times New Roman" panose="02020603050405020304" pitchFamily="18" charset="0"/>
              </a:rPr>
              <a:t>恒等律指的是在某些集合运算中，存在</a:t>
            </a:r>
            <a:r>
              <a:rPr lang="zh-CN" altLang="zh-CN" sz="1800" dirty="0">
                <a:effectLst/>
                <a:highlight>
                  <a:srgbClr val="FFFF00"/>
                </a:highlight>
                <a:ea typeface="等线" panose="02010600030101010101" pitchFamily="2" charset="-122"/>
                <a:cs typeface="Times New Roman" panose="02020603050405020304" pitchFamily="18" charset="0"/>
              </a:rPr>
              <a:t>特定的集合（如全集和空集），使得运算的结果与另一个参与运算的集合恒等</a:t>
            </a:r>
            <a:r>
              <a:rPr lang="zh-CN" altLang="en-US" sz="1800" dirty="0">
                <a:effectLst/>
                <a:highlight>
                  <a:srgbClr val="FFFF00"/>
                </a:highlight>
                <a:ea typeface="等线" panose="02010600030101010101" pitchFamily="2" charset="-122"/>
                <a:cs typeface="Times New Roman" panose="02020603050405020304" pitchFamily="18" charset="0"/>
              </a:rPr>
              <a:t>。</a:t>
            </a:r>
            <a:endParaRPr lang="en-US" altLang="zh-CN" sz="1800" dirty="0">
              <a:effectLst/>
              <a:highlight>
                <a:srgbClr val="FFFF00"/>
              </a:highlight>
              <a:ea typeface="等线" panose="02010600030101010101" pitchFamily="2" charset="-122"/>
              <a:cs typeface="Times New Roman" panose="02020603050405020304" pitchFamily="18" charset="0"/>
            </a:endParaRPr>
          </a:p>
          <a:p>
            <a:r>
              <a:rPr lang="zh-CN" altLang="zh-CN" sz="1800" dirty="0">
                <a:effectLst/>
                <a:ea typeface="等线" panose="02010600030101010101" pitchFamily="2" charset="-122"/>
                <a:cs typeface="Times New Roman" panose="02020603050405020304" pitchFamily="18" charset="0"/>
              </a:rPr>
              <a:t>身份律是指在集合运算中，某些</a:t>
            </a:r>
            <a:r>
              <a:rPr lang="zh-CN" altLang="zh-CN" sz="1800" dirty="0">
                <a:effectLst/>
                <a:highlight>
                  <a:srgbClr val="FFFF00"/>
                </a:highlight>
                <a:ea typeface="等线" panose="02010600030101010101" pitchFamily="2" charset="-122"/>
                <a:cs typeface="Times New Roman" panose="02020603050405020304" pitchFamily="18" charset="0"/>
              </a:rPr>
              <a:t>特定的集合（如空集或全集</a:t>
            </a:r>
            <a:r>
              <a:rPr lang="zh-CN" altLang="zh-CN" sz="1800" dirty="0">
                <a:effectLst/>
                <a:ea typeface="等线" panose="02010600030101010101" pitchFamily="2" charset="-122"/>
                <a:cs typeface="Times New Roman" panose="02020603050405020304" pitchFamily="18" charset="0"/>
              </a:rPr>
              <a:t>）在运算中起到了</a:t>
            </a:r>
            <a:r>
              <a:rPr lang="en-US" altLang="zh-CN" sz="1800" dirty="0">
                <a:effectLst/>
                <a:ea typeface="等线" panose="02010600030101010101" pitchFamily="2" charset="-122"/>
                <a:cs typeface="Times New Roman" panose="02020603050405020304" pitchFamily="18" charset="0"/>
              </a:rPr>
              <a:t>“</a:t>
            </a:r>
            <a:r>
              <a:rPr lang="zh-CN" altLang="zh-CN" sz="1800" dirty="0">
                <a:effectLst/>
                <a:ea typeface="等线" panose="02010600030101010101" pitchFamily="2" charset="-122"/>
                <a:cs typeface="Times New Roman" panose="02020603050405020304" pitchFamily="18" charset="0"/>
              </a:rPr>
              <a:t>不</a:t>
            </a:r>
            <a:r>
              <a:rPr lang="zh-CN" altLang="zh-CN" sz="1800" dirty="0">
                <a:effectLst/>
                <a:highlight>
                  <a:srgbClr val="FFFF00"/>
                </a:highlight>
                <a:ea typeface="等线" panose="02010600030101010101" pitchFamily="2" charset="-122"/>
                <a:cs typeface="Times New Roman" panose="02020603050405020304" pitchFamily="18" charset="0"/>
              </a:rPr>
              <a:t>改变其他集合</a:t>
            </a:r>
            <a:r>
              <a:rPr lang="en-US" altLang="zh-CN" sz="1800" dirty="0">
                <a:effectLst/>
                <a:highlight>
                  <a:srgbClr val="FFFF00"/>
                </a:highlight>
                <a:ea typeface="等线" panose="02010600030101010101" pitchFamily="2" charset="-122"/>
                <a:cs typeface="Times New Roman" panose="02020603050405020304" pitchFamily="18" charset="0"/>
              </a:rPr>
              <a:t>”</a:t>
            </a:r>
            <a:r>
              <a:rPr lang="zh-CN" altLang="zh-CN" sz="1800" dirty="0">
                <a:effectLst/>
                <a:ea typeface="等线" panose="02010600030101010101" pitchFamily="2" charset="-122"/>
                <a:cs typeface="Times New Roman" panose="02020603050405020304" pitchFamily="18" charset="0"/>
              </a:rPr>
              <a:t>的作用</a:t>
            </a:r>
            <a:r>
              <a:rPr lang="zh-CN" altLang="en-US" sz="1800" dirty="0">
                <a:effectLst/>
                <a:highlight>
                  <a:srgbClr val="FFFF00"/>
                </a:highlight>
                <a:ea typeface="等线" panose="02010600030101010101" pitchFamily="2" charset="-122"/>
                <a:cs typeface="Times New Roman" panose="02020603050405020304" pitchFamily="18" charset="0"/>
              </a:rPr>
              <a:t>。</a:t>
            </a:r>
            <a:endParaRPr lang="en-US" altLang="zh-CN" sz="1800" dirty="0">
              <a:effectLst/>
              <a:highlight>
                <a:srgbClr val="FFFF00"/>
              </a:highlight>
              <a:ea typeface="等线" panose="02010600030101010101" pitchFamily="2" charset="-122"/>
              <a:cs typeface="Times New Roman" panose="02020603050405020304" pitchFamily="18" charset="0"/>
            </a:endParaRPr>
          </a:p>
          <a:p>
            <a:r>
              <a:rPr lang="zh-CN" altLang="en-US" b="0" i="0" dirty="0">
                <a:solidFill>
                  <a:srgbClr val="374151"/>
                </a:solidFill>
                <a:effectLst/>
                <a:latin typeface="Söhne"/>
              </a:rPr>
              <a:t>排中律</a:t>
            </a:r>
            <a:r>
              <a:rPr lang="zh-CN" altLang="en-US" b="1" i="0" dirty="0">
                <a:effectLst/>
                <a:latin typeface="Söhne"/>
              </a:rPr>
              <a:t>（</a:t>
            </a:r>
            <a:r>
              <a:rPr lang="en-US" altLang="zh-CN" b="1" i="0" dirty="0">
                <a:effectLst/>
                <a:latin typeface="Söhne"/>
              </a:rPr>
              <a:t>Law of Excluded Middle</a:t>
            </a:r>
            <a:r>
              <a:rPr lang="zh-CN" altLang="en-US" b="1" i="0" dirty="0">
                <a:effectLst/>
                <a:latin typeface="Söhne"/>
              </a:rPr>
              <a:t>）</a:t>
            </a:r>
            <a:r>
              <a:rPr lang="zh-CN" altLang="en-US" b="0" i="0" dirty="0">
                <a:solidFill>
                  <a:srgbClr val="374151"/>
                </a:solidFill>
                <a:effectLst/>
                <a:latin typeface="Söhne"/>
              </a:rPr>
              <a:t>指的是对于任何一个元素，它要么属于某个集合，要么属于这个集合的补集，不存在第三种可能。</a:t>
            </a:r>
            <a:endParaRPr lang="en-US" altLang="zh-CN" b="0" i="0" dirty="0">
              <a:solidFill>
                <a:srgbClr val="374151"/>
              </a:solidFill>
              <a:effectLst/>
              <a:latin typeface="Söhne"/>
            </a:endParaRPr>
          </a:p>
          <a:p>
            <a:endParaRPr lang="en-US" altLang="zh-CN" b="0" i="0" dirty="0">
              <a:solidFill>
                <a:srgbClr val="374151"/>
              </a:solidFill>
              <a:effectLst/>
              <a:latin typeface="Söhne"/>
            </a:endParaRPr>
          </a:p>
          <a:p>
            <a:pPr eaLnBrk="1" hangingPunct="1">
              <a:buFontTx/>
              <a:buNone/>
            </a:pPr>
            <a:r>
              <a:rPr lang="zh-CN" altLang="en-US" sz="1200" b="1" dirty="0">
                <a:cs typeface="Times New Roman" panose="02020603050405020304" pitchFamily="18" charset="0"/>
              </a:rPr>
              <a:t>1. </a:t>
            </a:r>
            <a:r>
              <a:rPr lang="zh-CN" altLang="en-US" sz="1200" b="1" dirty="0">
                <a:solidFill>
                  <a:srgbClr val="FF0000"/>
                </a:solidFill>
                <a:cs typeface="Times New Roman" panose="02020603050405020304" pitchFamily="18" charset="0"/>
              </a:rPr>
              <a:t>幂等</a:t>
            </a:r>
            <a:r>
              <a:rPr lang="zh-CN" altLang="en-US" sz="1200" b="1" dirty="0">
                <a:solidFill>
                  <a:srgbClr val="FF0000"/>
                </a:solidFill>
              </a:rPr>
              <a:t>律</a:t>
            </a:r>
            <a:r>
              <a:rPr lang="zh-CN" altLang="en-US" b="1" dirty="0">
                <a:solidFill>
                  <a:srgbClr val="FF0000"/>
                </a:solidFill>
                <a:cs typeface="Times New Roman" panose="02020603050405020304" pitchFamily="18" charset="0"/>
              </a:rPr>
              <a:t>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endParaRPr lang="en-US" altLang="zh-CN" sz="1200" b="1" dirty="0">
              <a:cs typeface="Times New Roman" panose="02020603050405020304" pitchFamily="18" charset="0"/>
              <a:sym typeface="Symbol" panose="05050102010706020507" pitchFamily="18" charset="2"/>
            </a:endParaRPr>
          </a:p>
          <a:p>
            <a:pPr eaLnBrk="1" hangingPunct="1">
              <a:buFontTx/>
              <a:buNone/>
            </a:pPr>
            <a:r>
              <a:rPr lang="en-US" altLang="zh-CN" sz="1200" b="1" dirty="0">
                <a:cs typeface="Times New Roman" panose="02020603050405020304" pitchFamily="18" charset="0"/>
              </a:rPr>
              <a:t>2</a:t>
            </a:r>
            <a:r>
              <a:rPr lang="zh-CN" altLang="en-US" sz="1200" b="1" dirty="0">
                <a:cs typeface="Times New Roman" panose="02020603050405020304" pitchFamily="18" charset="0"/>
              </a:rPr>
              <a:t>. </a:t>
            </a:r>
            <a:r>
              <a:rPr lang="zh-CN" altLang="en-US" sz="1200" b="1" dirty="0">
                <a:solidFill>
                  <a:srgbClr val="FF0000"/>
                </a:solidFill>
                <a:cs typeface="Times New Roman" panose="02020603050405020304" pitchFamily="18" charset="0"/>
              </a:rPr>
              <a:t>结合</a:t>
            </a:r>
            <a:r>
              <a:rPr lang="zh-CN" altLang="en-US" sz="1200" b="1" dirty="0">
                <a:solidFill>
                  <a:srgbClr val="FF0000"/>
                </a:solidFill>
              </a:rPr>
              <a:t>律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	</a:t>
            </a:r>
          </a:p>
          <a:p>
            <a:pPr eaLnBrk="1" hangingPunct="1">
              <a:buFontTx/>
              <a:buNone/>
            </a:pP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p>
          <a:p>
            <a:pPr>
              <a:buNone/>
            </a:pPr>
            <a:r>
              <a:rPr lang="en-US" altLang="zh-CN" b="1" dirty="0">
                <a:cs typeface="Times New Roman" panose="02020603050405020304" pitchFamily="18" charset="0"/>
              </a:rPr>
              <a:t>3</a:t>
            </a:r>
            <a:r>
              <a:rPr lang="zh-CN" altLang="en-US" b="1" dirty="0">
                <a:cs typeface="Times New Roman" panose="02020603050405020304" pitchFamily="18" charset="0"/>
              </a:rPr>
              <a:t>. </a:t>
            </a:r>
            <a:r>
              <a:rPr lang="zh-CN" altLang="en-US" b="1" dirty="0">
                <a:solidFill>
                  <a:srgbClr val="FF0000"/>
                </a:solidFill>
                <a:cs typeface="Times New Roman" panose="02020603050405020304" pitchFamily="18" charset="0"/>
              </a:rPr>
              <a:t>交换</a:t>
            </a:r>
            <a:r>
              <a:rPr lang="zh-CN" altLang="en-US" b="1" dirty="0">
                <a:solidFill>
                  <a:srgbClr val="FF0000"/>
                </a:solidFill>
              </a:rPr>
              <a:t>律     </a:t>
            </a:r>
            <a:r>
              <a:rPr lang="en-US" altLang="zh-CN" b="1" i="1" dirty="0">
                <a:cs typeface="Times New Roman" panose="02020603050405020304" pitchFamily="18" charset="0"/>
              </a:rPr>
              <a:t>A</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B</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sym typeface="Symbol" panose="05050102010706020507" pitchFamily="18" charset="2"/>
              </a:rPr>
              <a:t>B</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A,    A</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B</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sym typeface="Symbol" panose="05050102010706020507" pitchFamily="18" charset="2"/>
              </a:rPr>
              <a:t>B</a:t>
            </a:r>
            <a:r>
              <a:rPr lang="en-US" altLang="zh-CN" b="1" dirty="0">
                <a:cs typeface="Times New Roman" panose="02020603050405020304" pitchFamily="18" charset="0"/>
                <a:sym typeface="Symbol" panose="05050102010706020507" pitchFamily="18" charset="2"/>
              </a:rPr>
              <a:t></a:t>
            </a:r>
            <a:r>
              <a:rPr lang="en-US" altLang="zh-CN" b="1" i="1" dirty="0">
                <a:cs typeface="Times New Roman" panose="02020603050405020304" pitchFamily="18" charset="0"/>
              </a:rPr>
              <a:t>A</a:t>
            </a:r>
            <a:endParaRPr lang="en-US" altLang="zh-CN" b="1" dirty="0">
              <a:cs typeface="Times New Roman" panose="02020603050405020304" pitchFamily="18" charset="0"/>
            </a:endParaRPr>
          </a:p>
          <a:p>
            <a:pPr eaLnBrk="1" hangingPunct="1">
              <a:buFontTx/>
              <a:buNone/>
            </a:pPr>
            <a:r>
              <a:rPr lang="zh-CN" altLang="en-US" sz="1200" b="1" dirty="0">
                <a:cs typeface="Times New Roman" panose="02020603050405020304" pitchFamily="18" charset="0"/>
              </a:rPr>
              <a:t>4. </a:t>
            </a:r>
            <a:r>
              <a:rPr lang="zh-CN" altLang="en-US" sz="1200" b="1" dirty="0">
                <a:solidFill>
                  <a:srgbClr val="FF0000"/>
                </a:solidFill>
                <a:cs typeface="Times New Roman" panose="02020603050405020304" pitchFamily="18" charset="0"/>
              </a:rPr>
              <a:t>分配</a:t>
            </a:r>
            <a:r>
              <a:rPr lang="zh-CN" altLang="en-US" sz="1200" b="1" dirty="0">
                <a:solidFill>
                  <a:srgbClr val="FF0000"/>
                </a:solidFill>
              </a:rPr>
              <a:t>律</a:t>
            </a:r>
            <a:r>
              <a:rPr lang="zh-CN" altLang="en-US" b="1" dirty="0">
                <a:solidFill>
                  <a:srgbClr val="FF0000"/>
                </a:solidFill>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p>
          <a:p>
            <a:pPr>
              <a:buFontTx/>
              <a:buNone/>
            </a:pPr>
            <a:r>
              <a:rPr lang="en-US" altLang="zh-CN" sz="1200" b="1" i="1" dirty="0">
                <a:cs typeface="Times New Roman" panose="02020603050405020304" pitchFamily="18" charset="0"/>
                <a:sym typeface="Symbol" panose="05050102010706020507" pitchFamily="18" charset="2"/>
              </a:rPr>
              <a:t>                       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p>
          <a:p>
            <a:pPr>
              <a:buNone/>
            </a:pPr>
            <a:r>
              <a:rPr lang="zh-CN" altLang="en-US" sz="1200" b="1" dirty="0"/>
              <a:t>5. </a:t>
            </a:r>
            <a:r>
              <a:rPr lang="zh-CN" altLang="en-US" sz="1200" b="1" dirty="0">
                <a:solidFill>
                  <a:srgbClr val="FF0000"/>
                </a:solidFill>
                <a:cs typeface="Times New Roman" panose="02020603050405020304" pitchFamily="18" charset="0"/>
              </a:rPr>
              <a:t>同一律（</a:t>
            </a:r>
            <a:r>
              <a:rPr lang="zh-CN" altLang="zh-CN" sz="1050" b="1" dirty="0">
                <a:effectLst/>
                <a:ea typeface="等线" panose="02010600030101010101" pitchFamily="2" charset="-122"/>
                <a:cs typeface="Times New Roman" panose="02020603050405020304" pitchFamily="18" charset="0"/>
              </a:rPr>
              <a:t>恒等律</a:t>
            </a:r>
            <a:r>
              <a:rPr lang="zh-CN" altLang="en-US" sz="1050" b="1" dirty="0">
                <a:effectLst/>
                <a:ea typeface="等线" panose="02010600030101010101" pitchFamily="2" charset="-122"/>
                <a:cs typeface="Times New Roman" panose="02020603050405020304" pitchFamily="18" charset="0"/>
              </a:rPr>
              <a:t>、身份律</a:t>
            </a:r>
            <a:r>
              <a:rPr lang="zh-CN" altLang="en-US" sz="1200" b="1" dirty="0">
                <a:solidFill>
                  <a:srgbClr val="FF0000"/>
                </a:solidFill>
                <a:cs typeface="Times New Roman" panose="02020603050405020304" pitchFamily="18" charset="0"/>
              </a:rPr>
              <a:t>）</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E</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p>
          <a:p>
            <a:pPr>
              <a:buNone/>
            </a:pPr>
            <a:r>
              <a:rPr lang="en-US" altLang="zh-CN" sz="1200" b="1" dirty="0">
                <a:cs typeface="Times New Roman" panose="02020603050405020304" pitchFamily="18" charset="0"/>
              </a:rPr>
              <a:t>6</a:t>
            </a:r>
            <a:r>
              <a:rPr lang="zh-CN" altLang="en-US" sz="1200" b="1" dirty="0">
                <a:cs typeface="Times New Roman" panose="02020603050405020304" pitchFamily="18" charset="0"/>
              </a:rPr>
              <a:t>. </a:t>
            </a:r>
            <a:r>
              <a:rPr lang="zh-CN" altLang="en-US" sz="1200" b="1" dirty="0">
                <a:solidFill>
                  <a:srgbClr val="FF0000"/>
                </a:solidFill>
                <a:cs typeface="Times New Roman" panose="02020603050405020304" pitchFamily="18" charset="0"/>
              </a:rPr>
              <a:t>零    律</a:t>
            </a:r>
            <a:r>
              <a:rPr lang="zh-CN" altLang="en-US" b="1" dirty="0">
                <a:solidFill>
                  <a:srgbClr val="FF0000"/>
                </a:solidFill>
                <a:cs typeface="Times New Roman" panose="02020603050405020304" pitchFamily="18" charset="0"/>
              </a:rPr>
              <a:t>     </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E</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E,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sym typeface="Symbol" panose="05050102010706020507" pitchFamily="18" charset="2"/>
              </a:rPr>
              <a:t>E</a:t>
            </a:r>
            <a:r>
              <a:rPr lang="zh-CN" altLang="en-US" sz="1200" b="1" dirty="0">
                <a:cs typeface="Times New Roman" panose="02020603050405020304" pitchFamily="18" charset="0"/>
                <a:sym typeface="Symbol" panose="05050102010706020507" pitchFamily="18" charset="2"/>
              </a:rPr>
              <a:t>是全集</a:t>
            </a:r>
            <a:endParaRPr lang="en-US" altLang="zh-CN" sz="1200" b="1" dirty="0">
              <a:cs typeface="Times New Roman" panose="02020603050405020304" pitchFamily="18" charset="0"/>
              <a:sym typeface="Symbol" panose="05050102010706020507" pitchFamily="18" charset="2"/>
            </a:endParaRPr>
          </a:p>
          <a:p>
            <a:pPr>
              <a:buNone/>
            </a:pPr>
            <a:r>
              <a:rPr lang="en-US" altLang="zh-CN" sz="1200" b="1" dirty="0"/>
              <a:t>7</a:t>
            </a:r>
            <a:r>
              <a:rPr lang="zh-CN" altLang="en-US" sz="1200" b="1" dirty="0"/>
              <a:t>. </a:t>
            </a:r>
            <a:r>
              <a:rPr lang="zh-CN" altLang="en-US" sz="1200" b="1" dirty="0">
                <a:solidFill>
                  <a:srgbClr val="FF0000"/>
                </a:solidFill>
              </a:rPr>
              <a:t>排中</a:t>
            </a:r>
            <a:r>
              <a:rPr lang="zh-CN" altLang="en-US" sz="1200" b="1" dirty="0">
                <a:solidFill>
                  <a:srgbClr val="FF0000"/>
                </a:solidFill>
                <a:cs typeface="Times New Roman" panose="02020603050405020304" pitchFamily="18" charset="0"/>
              </a:rPr>
              <a:t>律</a:t>
            </a:r>
            <a:r>
              <a:rPr lang="zh-CN" altLang="en-US"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E</a:t>
            </a:r>
            <a:endParaRPr lang="zh-CN" altLang="en-US" sz="1200" b="1" dirty="0">
              <a:cs typeface="Times New Roman" panose="02020603050405020304" pitchFamily="18" charset="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14</a:t>
            </a:fld>
            <a:endParaRPr lang="zh-CN" altLang="en-US"/>
          </a:p>
        </p:txBody>
      </p:sp>
    </p:spTree>
    <p:extLst>
      <p:ext uri="{BB962C8B-B14F-4D97-AF65-F5344CB8AC3E}">
        <p14:creationId xmlns:p14="http://schemas.microsoft.com/office/powerpoint/2010/main" val="2657699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14. </a:t>
            </a:r>
            <a:r>
              <a:rPr lang="zh-CN" altLang="en-US" dirty="0"/>
              <a:t>对称差的恒等式</a:t>
            </a:r>
          </a:p>
          <a:p>
            <a:r>
              <a:rPr lang="zh-CN" altLang="en-US" dirty="0"/>
              <a:t>      </a:t>
            </a:r>
            <a:r>
              <a:rPr lang="en-US" altLang="zh-CN" dirty="0"/>
              <a:t>(1) </a:t>
            </a:r>
            <a:r>
              <a:rPr lang="zh-CN" altLang="en-US" dirty="0"/>
              <a:t>交换律                   </a:t>
            </a:r>
            <a:r>
              <a:rPr lang="en-US" altLang="zh-CN" dirty="0"/>
              <a:t>AB=BA</a:t>
            </a:r>
          </a:p>
          <a:p>
            <a:r>
              <a:rPr lang="en-US" altLang="zh-CN" dirty="0"/>
              <a:t>      (2) </a:t>
            </a:r>
            <a:r>
              <a:rPr lang="zh-CN" altLang="en-US" dirty="0"/>
              <a:t>结合律                  </a:t>
            </a:r>
            <a:r>
              <a:rPr lang="en-US" altLang="zh-CN" dirty="0"/>
              <a:t>(AB)C=A(BC)</a:t>
            </a:r>
          </a:p>
          <a:p>
            <a:r>
              <a:rPr lang="en-US" altLang="zh-CN" dirty="0"/>
              <a:t>      (3) </a:t>
            </a:r>
            <a:r>
              <a:rPr lang="zh-CN" altLang="en-US" dirty="0"/>
              <a:t>对的分配律     </a:t>
            </a:r>
            <a:r>
              <a:rPr lang="en-US" altLang="zh-CN" dirty="0"/>
              <a:t>A(BC)=(AB)(AC)</a:t>
            </a:r>
          </a:p>
          <a:p>
            <a:r>
              <a:rPr lang="en-US" altLang="zh-CN" dirty="0"/>
              <a:t>      (4) A=A, AE= ~ A</a:t>
            </a:r>
          </a:p>
          <a:p>
            <a:r>
              <a:rPr lang="en-US" altLang="zh-CN" dirty="0"/>
              <a:t>      (5) AA=, A ~ A= E</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15</a:t>
            </a:fld>
            <a:endParaRPr lang="zh-CN" altLang="en-US"/>
          </a:p>
        </p:txBody>
      </p:sp>
    </p:spTree>
    <p:extLst>
      <p:ext uri="{BB962C8B-B14F-4D97-AF65-F5344CB8AC3E}">
        <p14:creationId xmlns:p14="http://schemas.microsoft.com/office/powerpoint/2010/main" val="2555511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374151"/>
                </a:solidFill>
                <a:effectLst/>
                <a:latin typeface="Söhne"/>
              </a:rPr>
              <a:t>集合</a:t>
            </a:r>
            <a:r>
              <a:rPr lang="en-US" altLang="zh-CN" b="0" i="0" dirty="0">
                <a:solidFill>
                  <a:srgbClr val="374151"/>
                </a:solidFill>
                <a:effectLst/>
                <a:latin typeface="Söhne"/>
              </a:rPr>
              <a:t>A</a:t>
            </a:r>
            <a:r>
              <a:rPr lang="zh-CN" altLang="en-US" b="0" i="0" dirty="0">
                <a:solidFill>
                  <a:srgbClr val="374151"/>
                </a:solidFill>
                <a:effectLst/>
                <a:latin typeface="Söhne"/>
              </a:rPr>
              <a:t>与空集的对称差（也称为对称差分）定义为集合</a:t>
            </a:r>
            <a:r>
              <a:rPr lang="en-US" altLang="zh-CN" b="0" i="0" dirty="0">
                <a:solidFill>
                  <a:srgbClr val="374151"/>
                </a:solidFill>
                <a:effectLst/>
                <a:latin typeface="Söhne"/>
              </a:rPr>
              <a:t>A</a:t>
            </a:r>
            <a:r>
              <a:rPr lang="zh-CN" altLang="en-US" b="0" i="0" dirty="0">
                <a:solidFill>
                  <a:srgbClr val="374151"/>
                </a:solidFill>
                <a:effectLst/>
                <a:latin typeface="Söhne"/>
              </a:rPr>
              <a:t>中的元素和空集中的元素的并集，但不包括</a:t>
            </a:r>
            <a:r>
              <a:rPr lang="en-US" altLang="zh-CN" b="0" i="0" dirty="0">
                <a:solidFill>
                  <a:srgbClr val="374151"/>
                </a:solidFill>
                <a:effectLst/>
                <a:latin typeface="Söhne"/>
              </a:rPr>
              <a:t>A</a:t>
            </a:r>
            <a:r>
              <a:rPr lang="zh-CN" altLang="en-US" b="0" i="0" dirty="0">
                <a:solidFill>
                  <a:srgbClr val="374151"/>
                </a:solidFill>
                <a:effectLst/>
                <a:latin typeface="Söhne"/>
              </a:rPr>
              <a:t>和空集中共有的元素。由于空集不包含任何元素，因此对称差将只包含集合</a:t>
            </a:r>
            <a:r>
              <a:rPr lang="en-US" altLang="zh-CN" b="0" i="0" dirty="0">
                <a:solidFill>
                  <a:srgbClr val="374151"/>
                </a:solidFill>
                <a:effectLst/>
                <a:latin typeface="Söhne"/>
              </a:rPr>
              <a:t>A</a:t>
            </a:r>
            <a:r>
              <a:rPr lang="zh-CN" altLang="en-US" b="0" i="0" dirty="0">
                <a:solidFill>
                  <a:srgbClr val="374151"/>
                </a:solidFill>
                <a:effectLst/>
                <a:latin typeface="Söhne"/>
              </a:rPr>
              <a:t>中的所有元素。</a:t>
            </a:r>
            <a:endParaRPr lang="en-US" altLang="zh-CN" b="0" i="0" dirty="0">
              <a:solidFill>
                <a:srgbClr val="374151"/>
              </a:solidFill>
              <a:effectLst/>
              <a:latin typeface="Söhne"/>
            </a:endParaRPr>
          </a:p>
          <a:p>
            <a:endParaRPr lang="en-US" altLang="zh-CN" b="0" i="0" dirty="0">
              <a:solidFill>
                <a:srgbClr val="374151"/>
              </a:solidFill>
              <a:effectLst/>
              <a:latin typeface="Söhne"/>
            </a:endParaRPr>
          </a:p>
          <a:p>
            <a:pPr marL="0" indent="0">
              <a:lnSpc>
                <a:spcPct val="140000"/>
              </a:lnSpc>
              <a:spcBef>
                <a:spcPts val="600"/>
              </a:spcBef>
              <a:buFont typeface="Wingdings" panose="05000000000000000000" pitchFamily="2" charset="2"/>
              <a:buNone/>
            </a:pPr>
            <a:r>
              <a:rPr lang="en-US" altLang="zh-CN" sz="1050" dirty="0"/>
              <a:t>Distributive Law of Intersection over Symmetric Difference</a:t>
            </a:r>
            <a:endParaRPr lang="zh-CN" altLang="en-US" sz="100" b="1" dirty="0"/>
          </a:p>
          <a:p>
            <a:pPr eaLnBrk="1" hangingPunct="1">
              <a:buFontTx/>
              <a:buNone/>
            </a:pPr>
            <a:r>
              <a:rPr lang="zh-CN" altLang="en-US" sz="1200" b="1" dirty="0"/>
              <a:t>14. </a:t>
            </a:r>
            <a:r>
              <a:rPr lang="en-US" altLang="zh-CN" b="1" dirty="0"/>
              <a:t>Identities of Symmetric Difference</a:t>
            </a:r>
            <a:endParaRPr lang="zh-CN" altLang="en-US" sz="1200" b="1" dirty="0">
              <a:solidFill>
                <a:srgbClr val="FF0000"/>
              </a:solidFill>
            </a:endParaRPr>
          </a:p>
          <a:p>
            <a:pPr eaLnBrk="1" hangingPunct="1">
              <a:buFontTx/>
              <a:buNone/>
            </a:pPr>
            <a:r>
              <a:rPr lang="zh-CN" altLang="en-US" sz="1200" b="1" dirty="0"/>
              <a:t>      (1) </a:t>
            </a:r>
            <a:r>
              <a:rPr lang="en-US" altLang="zh-CN" dirty="0"/>
              <a:t>Commutative Law</a:t>
            </a:r>
            <a:r>
              <a:rPr lang="zh-CN" altLang="en-US" sz="1200" b="1" dirty="0"/>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endParaRPr lang="zh-CN" altLang="en-US" sz="1200" b="1" dirty="0"/>
          </a:p>
          <a:p>
            <a:pPr eaLnBrk="1" hangingPunct="1">
              <a:buFontTx/>
              <a:buNone/>
            </a:pPr>
            <a:r>
              <a:rPr lang="zh-CN" altLang="en-US" sz="1200" b="1" dirty="0"/>
              <a:t>      (2) </a:t>
            </a:r>
            <a:r>
              <a:rPr lang="en-US" altLang="zh-CN" dirty="0"/>
              <a:t>Associative Law</a:t>
            </a:r>
            <a:r>
              <a:rPr lang="zh-CN" altLang="en-US" sz="1200" b="1" dirty="0">
                <a:solidFill>
                  <a:srgbClr val="FF0000"/>
                </a:solidFill>
              </a:rPr>
              <a:t>   </a:t>
            </a:r>
            <a:r>
              <a:rPr lang="zh-CN" altLang="en-US" sz="1200" b="1" dirty="0"/>
              <a:t>               </a:t>
            </a:r>
            <a:r>
              <a:rPr lang="zh-CN" altLang="en-US" sz="1200" b="1" dirty="0">
                <a:cs typeface="Times New Roman" panose="02020603050405020304" pitchFamily="18" charset="0"/>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endParaRPr lang="zh-CN" altLang="en-US" sz="1200" b="1" dirty="0"/>
          </a:p>
          <a:p>
            <a:pPr eaLnBrk="1" hangingPunct="1">
              <a:buFontTx/>
              <a:buNone/>
            </a:pPr>
            <a:r>
              <a:rPr lang="en-US" altLang="zh-CN" sz="1200" b="1" dirty="0">
                <a:cs typeface="Times New Roman" panose="02020603050405020304" pitchFamily="18" charset="0"/>
                <a:sym typeface="Symbol" panose="05050102010706020507" pitchFamily="18" charset="2"/>
              </a:rPr>
              <a:t>      (3) </a:t>
            </a:r>
            <a:r>
              <a:rPr lang="en-US" altLang="zh-CN" sz="1200" b="1" dirty="0">
                <a:solidFill>
                  <a:srgbClr val="FF0000"/>
                </a:solidFill>
                <a:cs typeface="Times New Roman" panose="02020603050405020304" pitchFamily="18" charset="0"/>
                <a:sym typeface="Symbol" panose="05050102010706020507" pitchFamily="18" charset="2"/>
              </a:rPr>
              <a:t></a:t>
            </a:r>
            <a:r>
              <a:rPr lang="zh-CN" altLang="en-US" sz="1200" b="1" dirty="0">
                <a:solidFill>
                  <a:srgbClr val="FF0000"/>
                </a:solidFill>
              </a:rPr>
              <a:t>对</a:t>
            </a:r>
            <a:r>
              <a:rPr lang="en-US" altLang="zh-CN" sz="1200" b="1" dirty="0">
                <a:solidFill>
                  <a:srgbClr val="FF0000"/>
                </a:solidFill>
                <a:cs typeface="Times New Roman" panose="02020603050405020304" pitchFamily="18" charset="0"/>
                <a:sym typeface="Symbol" panose="05050102010706020507" pitchFamily="18" charset="2"/>
              </a:rPr>
              <a:t></a:t>
            </a:r>
            <a:r>
              <a:rPr lang="zh-CN" altLang="en-US" sz="1200" b="1" dirty="0">
                <a:solidFill>
                  <a:srgbClr val="FF0000"/>
                </a:solidFill>
              </a:rPr>
              <a:t>的分配律 </a:t>
            </a:r>
            <a:r>
              <a:rPr lang="zh-CN" altLang="en-US" sz="1200" b="1" dirty="0"/>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p>
          <a:p>
            <a:pPr eaLnBrk="1" hangingPunct="1">
              <a:buFontTx/>
              <a:buNone/>
            </a:pPr>
            <a:r>
              <a:rPr lang="en-US" altLang="zh-CN" sz="1200" b="1" i="1" dirty="0">
                <a:cs typeface="Times New Roman" panose="02020603050405020304" pitchFamily="18" charset="0"/>
              </a:rPr>
              <a:t>      </a:t>
            </a:r>
            <a:r>
              <a:rPr lang="en-US" altLang="zh-CN" sz="1200" b="1" dirty="0">
                <a:cs typeface="Times New Roman" panose="02020603050405020304" pitchFamily="18" charset="0"/>
              </a:rPr>
              <a:t>(4)</a:t>
            </a:r>
            <a:r>
              <a:rPr lang="en-US" altLang="zh-CN" sz="1200" b="1" i="1" dirty="0">
                <a:cs typeface="Times New Roman" panose="02020603050405020304" pitchFamily="18" charset="0"/>
              </a:rPr>
              <a:t> A</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E</a:t>
            </a:r>
            <a:r>
              <a:rPr lang="en-US" altLang="zh-CN" sz="1200" b="1" dirty="0">
                <a:cs typeface="Times New Roman" panose="02020603050405020304" pitchFamily="18" charset="0"/>
                <a:sym typeface="Symbol" panose="05050102010706020507" pitchFamily="18" charset="2"/>
              </a:rPr>
              <a:t>= ~ </a:t>
            </a:r>
            <a:r>
              <a:rPr lang="en-US" altLang="zh-CN" sz="1200" b="1" i="1" dirty="0">
                <a:cs typeface="Times New Roman" panose="02020603050405020304" pitchFamily="18" charset="0"/>
              </a:rPr>
              <a:t>A</a:t>
            </a:r>
            <a:endParaRPr lang="en-US" altLang="zh-CN" sz="1200" b="1" dirty="0">
              <a:cs typeface="Times New Roman" panose="02020603050405020304" pitchFamily="18" charset="0"/>
            </a:endParaRPr>
          </a:p>
          <a:p>
            <a:pPr eaLnBrk="1" hangingPunct="1">
              <a:buFontTx/>
              <a:buNone/>
            </a:pPr>
            <a:r>
              <a:rPr lang="en-US" altLang="zh-CN" sz="1200" b="1" i="1" dirty="0">
                <a:cs typeface="Times New Roman" panose="02020603050405020304" pitchFamily="18" charset="0"/>
              </a:rPr>
              <a:t>      </a:t>
            </a:r>
            <a:r>
              <a:rPr lang="en-US" altLang="zh-CN" sz="1200" b="1" dirty="0">
                <a:cs typeface="Times New Roman" panose="02020603050405020304" pitchFamily="18" charset="0"/>
              </a:rPr>
              <a:t>(5)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sym typeface="Symbol" panose="05050102010706020507" pitchFamily="18" charset="2"/>
              </a:rPr>
              <a:t></a:t>
            </a:r>
            <a:r>
              <a:rPr lang="en-US" altLang="zh-CN" sz="1200" b="1" dirty="0">
                <a:cs typeface="Times New Roman" panose="02020603050405020304" pitchFamily="18" charset="0"/>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 ~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E</a:t>
            </a:r>
          </a:p>
          <a:p>
            <a:pPr eaLnBrk="1" hangingPunct="1">
              <a:spcBef>
                <a:spcPct val="80000"/>
              </a:spcBef>
            </a:pPr>
            <a:r>
              <a:rPr kumimoji="1" lang="zh-CN" altLang="en-US" sz="1200" b="1" dirty="0">
                <a:solidFill>
                  <a:schemeClr val="tx1"/>
                </a:solidFill>
                <a:latin typeface="Times New Roman" panose="02020603050405020304" pitchFamily="18" charset="0"/>
                <a:ea typeface="宋体" panose="02010600030101010101" pitchFamily="2" charset="-122"/>
              </a:rPr>
              <a:t>注意: </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zh-CN" altLang="en-US" sz="1200" b="1" dirty="0">
                <a:solidFill>
                  <a:schemeClr val="tx1"/>
                </a:solidFill>
                <a:latin typeface="Times New Roman" panose="02020603050405020304" pitchFamily="18" charset="0"/>
                <a:ea typeface="宋体" panose="02010600030101010101" pitchFamily="2" charset="-122"/>
              </a:rPr>
              <a:t>对</a:t>
            </a:r>
            <a:r>
              <a:rPr kumimoji="1" lang="en-US" altLang="zh-CN" sz="12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kumimoji="1" lang="zh-CN" altLang="en-US" sz="1200" b="1" dirty="0">
                <a:solidFill>
                  <a:schemeClr val="tx1"/>
                </a:solidFill>
                <a:latin typeface="Times New Roman" panose="02020603050405020304" pitchFamily="18" charset="0"/>
                <a:ea typeface="宋体" panose="02010600030101010101" pitchFamily="2" charset="-122"/>
              </a:rPr>
              <a:t>没有分配律, 反例如下</a:t>
            </a:r>
          </a:p>
          <a:p>
            <a:pPr marL="0" indent="0" eaLnBrk="1" hangingPunct="1">
              <a:spcBef>
                <a:spcPct val="20000"/>
              </a:spcBef>
              <a:buNone/>
            </a:pPr>
            <a:r>
              <a:rPr kumimoji="1" lang="en-US" altLang="zh-CN" sz="1200" b="1" i="1" dirty="0">
                <a:solidFill>
                  <a:schemeClr val="tx1"/>
                </a:solidFill>
                <a:latin typeface="Times New Roman" panose="02020603050405020304" pitchFamily="18" charset="0"/>
                <a:ea typeface="宋体" panose="02010600030101010101" pitchFamily="2" charset="-122"/>
              </a:rPr>
              <a:t>             A</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i="1" dirty="0" err="1">
                <a:solidFill>
                  <a:schemeClr val="tx1"/>
                </a:solidFill>
                <a:latin typeface="Times New Roman" panose="02020603050405020304" pitchFamily="18" charset="0"/>
                <a:ea typeface="宋体" panose="02010600030101010101" pitchFamily="2" charset="-122"/>
              </a:rPr>
              <a:t>a,b,c</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B</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i="1" dirty="0" err="1">
                <a:solidFill>
                  <a:schemeClr val="tx1"/>
                </a:solidFill>
                <a:latin typeface="Times New Roman" panose="02020603050405020304" pitchFamily="18" charset="0"/>
                <a:ea typeface="宋体" panose="02010600030101010101" pitchFamily="2" charset="-122"/>
              </a:rPr>
              <a:t>b,c,d</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C</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i="1" dirty="0" err="1">
                <a:solidFill>
                  <a:schemeClr val="tx1"/>
                </a:solidFill>
                <a:latin typeface="Times New Roman" panose="02020603050405020304" pitchFamily="18" charset="0"/>
                <a:ea typeface="宋体" panose="02010600030101010101" pitchFamily="2" charset="-122"/>
              </a:rPr>
              <a:t>c,d,e</a:t>
            </a:r>
            <a:r>
              <a:rPr kumimoji="1" lang="en-US" altLang="zh-CN" sz="1200" b="1" dirty="0">
                <a:solidFill>
                  <a:schemeClr val="tx1"/>
                </a:solidFill>
                <a:latin typeface="Times New Roman" panose="02020603050405020304" pitchFamily="18" charset="0"/>
                <a:ea typeface="宋体" panose="02010600030101010101" pitchFamily="2" charset="-122"/>
              </a:rPr>
              <a:t>}</a:t>
            </a:r>
          </a:p>
          <a:p>
            <a:pPr marL="0" indent="0" eaLnBrk="1" hangingPunct="1">
              <a:spcBef>
                <a:spcPct val="20000"/>
              </a:spcBef>
              <a:buNone/>
            </a:pPr>
            <a:r>
              <a:rPr kumimoji="1" lang="en-US" altLang="zh-CN" sz="1200" b="1" i="1" dirty="0">
                <a:solidFill>
                  <a:schemeClr val="tx1"/>
                </a:solidFill>
                <a:latin typeface="Times New Roman" panose="02020603050405020304" pitchFamily="18" charset="0"/>
                <a:ea typeface="宋体" panose="02010600030101010101" pitchFamily="2" charset="-122"/>
              </a:rPr>
              <a:t>     A</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B</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C</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i="1" dirty="0" err="1">
                <a:solidFill>
                  <a:schemeClr val="tx1"/>
                </a:solidFill>
                <a:latin typeface="Times New Roman" panose="02020603050405020304" pitchFamily="18" charset="0"/>
                <a:ea typeface="宋体" panose="02010600030101010101" pitchFamily="2" charset="-122"/>
              </a:rPr>
              <a:t>a,b,c</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i="1" dirty="0" err="1">
                <a:solidFill>
                  <a:schemeClr val="tx1"/>
                </a:solidFill>
                <a:latin typeface="Times New Roman" panose="02020603050405020304" pitchFamily="18" charset="0"/>
                <a:ea typeface="宋体" panose="02010600030101010101" pitchFamily="2" charset="-122"/>
              </a:rPr>
              <a:t>b,e</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err="1">
                <a:solidFill>
                  <a:schemeClr val="tx1"/>
                </a:solidFill>
                <a:latin typeface="Times New Roman" panose="02020603050405020304" pitchFamily="18" charset="0"/>
                <a:ea typeface="宋体" panose="02010600030101010101" pitchFamily="2" charset="-122"/>
              </a:rPr>
              <a:t>a,b,c,e</a:t>
            </a:r>
            <a:r>
              <a:rPr kumimoji="1" lang="en-US" altLang="zh-CN" sz="1200" b="1" dirty="0">
                <a:solidFill>
                  <a:schemeClr val="tx1"/>
                </a:solidFill>
                <a:latin typeface="Times New Roman" panose="02020603050405020304" pitchFamily="18" charset="0"/>
                <a:ea typeface="宋体" panose="02010600030101010101" pitchFamily="2" charset="-122"/>
              </a:rPr>
              <a:t>}</a:t>
            </a:r>
          </a:p>
          <a:p>
            <a:pPr marL="0" indent="0" eaLnBrk="1" hangingPunct="1">
              <a:spcBef>
                <a:spcPct val="20000"/>
              </a:spcBef>
              <a:buNone/>
            </a:pP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B</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i="1" dirty="0">
                <a:solidFill>
                  <a:schemeClr val="tx1"/>
                </a:solidFill>
                <a:latin typeface="Times New Roman" panose="02020603050405020304" pitchFamily="18" charset="0"/>
                <a:ea typeface="宋体" panose="02010600030101010101" pitchFamily="2" charset="-122"/>
                <a:sym typeface="Symbol" panose="05050102010706020507" pitchFamily="18" charset="2"/>
              </a:rPr>
              <a:t>A</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i="1" dirty="0">
                <a:solidFill>
                  <a:schemeClr val="tx1"/>
                </a:solidFill>
                <a:latin typeface="Times New Roman" panose="02020603050405020304" pitchFamily="18" charset="0"/>
                <a:ea typeface="宋体" panose="02010600030101010101" pitchFamily="2" charset="-122"/>
              </a:rPr>
              <a:t>C</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i="1" dirty="0" err="1">
                <a:solidFill>
                  <a:schemeClr val="tx1"/>
                </a:solidFill>
                <a:latin typeface="Times New Roman" panose="02020603050405020304" pitchFamily="18" charset="0"/>
                <a:ea typeface="宋体" panose="02010600030101010101" pitchFamily="2" charset="-122"/>
              </a:rPr>
              <a:t>a,b,c,d</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kumimoji="1" lang="en-US" altLang="zh-CN" sz="1200" b="1" dirty="0">
                <a:solidFill>
                  <a:schemeClr val="tx1"/>
                </a:solidFill>
                <a:latin typeface="Times New Roman" panose="02020603050405020304" pitchFamily="18" charset="0"/>
                <a:ea typeface="宋体" panose="02010600030101010101" pitchFamily="2" charset="-122"/>
              </a:rPr>
              <a:t>{</a:t>
            </a:r>
            <a:r>
              <a:rPr kumimoji="1" lang="en-US" altLang="zh-CN" sz="1200" b="1" i="1" dirty="0" err="1">
                <a:solidFill>
                  <a:schemeClr val="tx1"/>
                </a:solidFill>
                <a:latin typeface="Times New Roman" panose="02020603050405020304" pitchFamily="18" charset="0"/>
                <a:ea typeface="宋体" panose="02010600030101010101" pitchFamily="2" charset="-122"/>
              </a:rPr>
              <a:t>a,b,c,d,e</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en-US" altLang="zh-CN" sz="1200" b="1" i="1" dirty="0">
                <a:solidFill>
                  <a:schemeClr val="tx1"/>
                </a:solidFill>
                <a:latin typeface="Times New Roman" panose="02020603050405020304" pitchFamily="18" charset="0"/>
                <a:ea typeface="宋体" panose="02010600030101010101" pitchFamily="2" charset="-122"/>
              </a:rPr>
              <a:t>e</a:t>
            </a:r>
            <a:r>
              <a:rPr kumimoji="1" lang="en-US" altLang="zh-CN" sz="1200" b="1" dirty="0">
                <a:solidFill>
                  <a:schemeClr val="tx1"/>
                </a:solidFill>
                <a:latin typeface="Times New Roman" panose="02020603050405020304" pitchFamily="18" charset="0"/>
                <a:ea typeface="宋体" panose="02010600030101010101" pitchFamily="2" charset="-122"/>
              </a:rPr>
              <a:t>}, </a:t>
            </a:r>
            <a:r>
              <a:rPr kumimoji="1" lang="zh-CN" altLang="en-US" sz="1200" b="1" dirty="0">
                <a:solidFill>
                  <a:schemeClr val="tx1"/>
                </a:solidFill>
                <a:latin typeface="Times New Roman" panose="02020603050405020304" pitchFamily="18" charset="0"/>
                <a:ea typeface="宋体" panose="02010600030101010101" pitchFamily="2" charset="-122"/>
              </a:rPr>
              <a:t>两者不等</a:t>
            </a:r>
            <a:endParaRPr kumimoji="1" lang="en-US" altLang="zh-CN" sz="1200" b="1" dirty="0">
              <a:solidFill>
                <a:schemeClr val="tx1"/>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16</a:t>
            </a:fld>
            <a:endParaRPr lang="zh-CN" altLang="en-US"/>
          </a:p>
        </p:txBody>
      </p:sp>
    </p:spTree>
    <p:extLst>
      <p:ext uri="{BB962C8B-B14F-4D97-AF65-F5344CB8AC3E}">
        <p14:creationId xmlns:p14="http://schemas.microsoft.com/office/powerpoint/2010/main" val="2985694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17</a:t>
            </a:fld>
            <a:endParaRPr lang="zh-CN" altLang="en-US"/>
          </a:p>
        </p:txBody>
      </p:sp>
    </p:spTree>
    <p:extLst>
      <p:ext uri="{BB962C8B-B14F-4D97-AF65-F5344CB8AC3E}">
        <p14:creationId xmlns:p14="http://schemas.microsoft.com/office/powerpoint/2010/main" val="4823547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40000"/>
              </a:lnSpc>
              <a:spcBef>
                <a:spcPts val="600"/>
              </a:spcBef>
              <a:buFont typeface="Wingdings" panose="05000000000000000000" pitchFamily="2" charset="2"/>
              <a:buNone/>
            </a:pPr>
            <a:endParaRPr lang="zh-CN" altLang="en-US" sz="100" b="1" dirty="0"/>
          </a:p>
          <a:p>
            <a:pPr marL="609600" indent="-609600" eaLnBrk="1" hangingPunct="1">
              <a:buFontTx/>
              <a:buNone/>
            </a:pPr>
            <a:r>
              <a:rPr lang="zh-CN" altLang="en-US" sz="1200" b="1" dirty="0">
                <a:solidFill>
                  <a:srgbClr val="FF0000"/>
                </a:solidFill>
              </a:rPr>
              <a:t>方法一</a:t>
            </a:r>
            <a:r>
              <a:rPr lang="zh-CN" altLang="en-US" sz="1200" b="1" dirty="0"/>
              <a:t>. 根据定义证明</a:t>
            </a:r>
          </a:p>
          <a:p>
            <a:pPr marL="609600" indent="-609600" eaLnBrk="1" hangingPunct="1">
              <a:buFontTx/>
              <a:buNone/>
            </a:pPr>
            <a:r>
              <a:rPr lang="zh-CN" altLang="en-US" sz="1200" b="1" dirty="0">
                <a:solidFill>
                  <a:srgbClr val="FF0000"/>
                </a:solidFill>
              </a:rPr>
              <a:t>方法二</a:t>
            </a:r>
            <a:r>
              <a:rPr lang="zh-CN" altLang="en-US" sz="1200" b="1" dirty="0"/>
              <a:t>. 利用已知集合等式或包含式, 通过集合演算证明</a:t>
            </a:r>
          </a:p>
          <a:p>
            <a:pPr marL="609600" indent="-609600" eaLnBrk="1" hangingPunct="1">
              <a:buFontTx/>
              <a:buNone/>
            </a:pPr>
            <a:endParaRPr lang="zh-CN" altLang="en-US" sz="1200" b="1" dirty="0"/>
          </a:p>
          <a:p>
            <a:pPr marL="609600" indent="-609600" eaLnBrk="1" hangingPunct="1">
              <a:buFontTx/>
              <a:buNone/>
            </a:pPr>
            <a:r>
              <a:rPr lang="zh-CN" altLang="en-US" sz="1200" b="1" dirty="0">
                <a:solidFill>
                  <a:srgbClr val="663300"/>
                </a:solidFill>
              </a:rPr>
              <a:t>例3</a:t>
            </a:r>
            <a:r>
              <a:rPr lang="zh-CN" altLang="en-US" sz="1200" b="1" dirty="0"/>
              <a:t> 证明:</a:t>
            </a:r>
          </a:p>
          <a:p>
            <a:pPr marL="609600" indent="-609600" eaLnBrk="1" hangingPunct="1">
              <a:buFontTx/>
              <a:buNone/>
            </a:pPr>
            <a:r>
              <a:rPr lang="en-US" altLang="zh-CN" sz="1200" b="1" dirty="0">
                <a:cs typeface="Times New Roman" panose="02020603050405020304" pitchFamily="18" charset="0"/>
              </a:rPr>
              <a:t>(1) A</a:t>
            </a:r>
            <a:r>
              <a:rPr lang="en-US" altLang="zh-CN" sz="1200" b="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 (</a:t>
            </a:r>
            <a:r>
              <a:rPr lang="zh-CN" altLang="zh-CN" b="1" dirty="0"/>
              <a:t>并集</a:t>
            </a:r>
            <a:r>
              <a:rPr lang="zh-CN" altLang="en-US" b="1" dirty="0">
                <a:sym typeface="Symbol" panose="05050102010706020507" pitchFamily="18" charset="2"/>
              </a:rPr>
              <a:t>交</a:t>
            </a:r>
            <a:r>
              <a:rPr lang="zh-CN" altLang="en-US" sz="1200" b="1" dirty="0">
                <a:sym typeface="Symbol" panose="05050102010706020507" pitchFamily="18" charset="2"/>
              </a:rPr>
              <a:t>换</a:t>
            </a:r>
            <a:r>
              <a:rPr lang="zh-CN" altLang="en-US" sz="1200" b="1" dirty="0"/>
              <a:t>律)</a:t>
            </a:r>
          </a:p>
          <a:p>
            <a:pPr marL="609600" indent="-609600" eaLnBrk="1" hangingPunct="1">
              <a:buFontTx/>
              <a:buNone/>
            </a:pPr>
            <a:r>
              <a:rPr lang="zh-CN" altLang="en-US" sz="1200" b="1" dirty="0"/>
              <a:t>证：</a:t>
            </a:r>
            <a:r>
              <a:rPr lang="zh-CN" altLang="en-US" b="1" dirty="0"/>
              <a:t>需要证明</a:t>
            </a:r>
            <a:r>
              <a:rPr lang="en-US" altLang="zh-CN" b="1" dirty="0"/>
              <a:t>A∪B⊆B∪A </a:t>
            </a:r>
            <a:r>
              <a:rPr lang="zh-CN" altLang="zh-CN" b="1" dirty="0"/>
              <a:t>和 </a:t>
            </a:r>
            <a:r>
              <a:rPr lang="en-US" altLang="zh-CN" b="1" dirty="0"/>
              <a:t>B∪A⊆A∪B</a:t>
            </a:r>
            <a:r>
              <a:rPr lang="zh-CN" altLang="en-US" b="1" dirty="0"/>
              <a:t>成立</a:t>
            </a:r>
            <a:endParaRPr lang="en-US" altLang="zh-CN" b="1" dirty="0"/>
          </a:p>
          <a:p>
            <a:pPr marL="609600" indent="-609600" eaLnBrk="1" hangingPunct="1">
              <a:buFontTx/>
              <a:buNone/>
            </a:pP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A</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 </a:t>
            </a:r>
          </a:p>
          <a:p>
            <a:pPr marL="609600" indent="-609600" eaLnBrk="1" hangingPunct="1">
              <a:buFontTx/>
              <a:buNone/>
            </a:pPr>
            <a:r>
              <a:rPr lang="en-US" altLang="zh-CN" sz="1200" b="1" dirty="0">
                <a:cs typeface="Times New Roman" panose="02020603050405020304" pitchFamily="18" charset="0"/>
                <a:sym typeface="Symbol" panose="05050102010706020507" pitchFamily="18" charset="2"/>
              </a:rPr>
              <a:t>             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A</a:t>
            </a:r>
            <a:r>
              <a:rPr lang="en-US" altLang="zh-CN" sz="1200" b="1" i="1" dirty="0">
                <a:cs typeface="Times New Roman" panose="02020603050405020304" pitchFamily="18" charset="0"/>
              </a:rPr>
              <a:t> </a:t>
            </a:r>
            <a:r>
              <a:rPr lang="zh-CN" altLang="en-US" sz="1200" b="1" dirty="0">
                <a:cs typeface="Times New Roman" panose="02020603050405020304" pitchFamily="18" charset="0"/>
                <a:sym typeface="Symbol" panose="05050102010706020507" pitchFamily="18" charset="2"/>
              </a:rPr>
              <a:t>或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B</a:t>
            </a:r>
            <a:r>
              <a:rPr lang="en-US" altLang="zh-CN" sz="1200" b="1" dirty="0">
                <a:cs typeface="Times New Roman" panose="02020603050405020304" pitchFamily="18" charset="0"/>
              </a:rPr>
              <a:t>, </a:t>
            </a:r>
            <a:r>
              <a:rPr lang="zh-CN" altLang="en-US" sz="1200" b="1" dirty="0">
                <a:cs typeface="Times New Roman" panose="02020603050405020304" pitchFamily="18" charset="0"/>
              </a:rPr>
              <a:t>自然有</a:t>
            </a:r>
            <a:r>
              <a:rPr lang="en-US" altLang="zh-CN" sz="1200" b="1" dirty="0">
                <a:solidFill>
                  <a:srgbClr val="333300"/>
                </a:solidFill>
                <a:sym typeface="Symbol" panose="05050102010706020507" pitchFamily="18" charset="2"/>
              </a:rPr>
              <a:t>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sym typeface="Symbol" panose="05050102010706020507" pitchFamily="18" charset="2"/>
              </a:rPr>
              <a:t>B</a:t>
            </a:r>
            <a:r>
              <a:rPr lang="en-US" altLang="zh-CN" sz="1200" b="1" i="1" dirty="0">
                <a:sym typeface="Symbol" panose="05050102010706020507" pitchFamily="18" charset="2"/>
              </a:rPr>
              <a:t> </a:t>
            </a:r>
            <a:r>
              <a:rPr lang="zh-CN" altLang="en-US" sz="1200" b="1" dirty="0">
                <a:sym typeface="Symbol" panose="05050102010706020507" pitchFamily="18" charset="2"/>
              </a:rPr>
              <a:t>或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sym typeface="Symbol" panose="05050102010706020507" pitchFamily="18" charset="2"/>
              </a:rPr>
              <a:t>A</a:t>
            </a:r>
            <a:endParaRPr lang="zh-CN" altLang="en-US" sz="1200" b="1" dirty="0">
              <a:sym typeface="Symbol" panose="05050102010706020507" pitchFamily="18" charset="2"/>
            </a:endParaRPr>
          </a:p>
          <a:p>
            <a:pPr marL="609600" indent="-609600" eaLnBrk="1" hangingPunct="1">
              <a:buFontTx/>
              <a:buNone/>
            </a:pPr>
            <a:r>
              <a:rPr lang="en-US" altLang="zh-CN" sz="1200" b="1" dirty="0">
                <a:solidFill>
                  <a:srgbClr val="333300"/>
                </a:solidFill>
                <a:sym typeface="Symbol" panose="05050102010706020507" pitchFamily="18" charset="2"/>
              </a:rPr>
              <a:t>             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B</a:t>
            </a:r>
            <a:r>
              <a:rPr lang="en-US" altLang="zh-CN" sz="1200" b="1" dirty="0" err="1">
                <a:cs typeface="Times New Roman" panose="02020603050405020304" pitchFamily="18" charset="0"/>
                <a:sym typeface="Symbol" panose="05050102010706020507" pitchFamily="18" charset="2"/>
              </a:rPr>
              <a:t></a:t>
            </a:r>
            <a:r>
              <a:rPr lang="en-US" altLang="zh-CN" sz="1200" b="1" i="1" dirty="0" err="1">
                <a:cs typeface="Times New Roman" panose="02020603050405020304" pitchFamily="18" charset="0"/>
              </a:rPr>
              <a:t>A</a:t>
            </a:r>
            <a:endParaRPr lang="en-US" altLang="zh-CN" sz="1200" b="1" i="1" dirty="0">
              <a:cs typeface="Times New Roman" panose="02020603050405020304" pitchFamily="18" charset="0"/>
            </a:endParaRPr>
          </a:p>
          <a:p>
            <a:pPr marL="609600" indent="-609600" eaLnBrk="1" hangingPunct="1">
              <a:buFontTx/>
              <a:buNone/>
            </a:pPr>
            <a:r>
              <a:rPr lang="zh-CN" altLang="en-US" sz="1200" b="1" dirty="0">
                <a:cs typeface="Times New Roman" panose="02020603050405020304" pitchFamily="18" charset="0"/>
                <a:sym typeface="Symbol" panose="05050102010706020507" pitchFamily="18" charset="2"/>
              </a:rPr>
              <a:t>              得证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p>
          <a:p>
            <a:pPr marL="609600" indent="-609600" eaLnBrk="1" hangingPunct="1">
              <a:buFontTx/>
              <a:buNone/>
            </a:pPr>
            <a:r>
              <a:rPr lang="en-US" altLang="zh-CN" sz="1200" b="1" i="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sym typeface="Symbol" panose="05050102010706020507" pitchFamily="18" charset="2"/>
              </a:rPr>
              <a:t>同理可证  </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B.</a:t>
            </a: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18</a:t>
            </a:fld>
            <a:endParaRPr lang="zh-CN" altLang="en-US"/>
          </a:p>
        </p:txBody>
      </p:sp>
    </p:spTree>
    <p:extLst>
      <p:ext uri="{BB962C8B-B14F-4D97-AF65-F5344CB8AC3E}">
        <p14:creationId xmlns:p14="http://schemas.microsoft.com/office/powerpoint/2010/main" val="3883651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buFontTx/>
              <a:buNone/>
            </a:pPr>
            <a:r>
              <a:rPr lang="en-US" altLang="zh-CN" sz="1200" b="1" dirty="0">
                <a:cs typeface="Times New Roman" panose="02020603050405020304" pitchFamily="18" charset="0"/>
              </a:rPr>
              <a:t>(2)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    (</a:t>
            </a:r>
            <a:r>
              <a:rPr lang="zh-CN" altLang="zh-CN" b="1" dirty="0">
                <a:cs typeface="Times New Roman" panose="02020603050405020304" pitchFamily="18" charset="0"/>
              </a:rPr>
              <a:t>并集对交集</a:t>
            </a:r>
            <a:r>
              <a:rPr lang="zh-CN" altLang="en-US" sz="1200" b="1" dirty="0">
                <a:cs typeface="Times New Roman" panose="02020603050405020304" pitchFamily="18" charset="0"/>
              </a:rPr>
              <a:t>分配</a:t>
            </a:r>
            <a:r>
              <a:rPr lang="zh-CN" altLang="en-US" sz="1200" b="1" dirty="0"/>
              <a:t>律)</a:t>
            </a:r>
          </a:p>
          <a:p>
            <a:pPr eaLnBrk="1" hangingPunct="1">
              <a:lnSpc>
                <a:spcPct val="90000"/>
              </a:lnSpc>
              <a:buFontTx/>
              <a:buNone/>
            </a:pPr>
            <a:r>
              <a:rPr lang="zh-CN" altLang="en-US" sz="1200" b="1" dirty="0"/>
              <a:t>证：需证</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zh-CN" altLang="en-US" sz="1200" b="1" dirty="0">
                <a:cs typeface="Times New Roman" panose="02020603050405020304" pitchFamily="18" charset="0"/>
                <a:sym typeface="Symbol" panose="05050102010706020507" pitchFamily="18" charset="2"/>
              </a:rPr>
              <a:t>和</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endParaRPr lang="en-US" altLang="zh-CN" sz="1200" b="1" dirty="0"/>
          </a:p>
          <a:p>
            <a:pPr eaLnBrk="1" hangingPunct="1">
              <a:lnSpc>
                <a:spcPct val="90000"/>
              </a:lnSpc>
              <a:buFontTx/>
              <a:buNone/>
            </a:pPr>
            <a:r>
              <a:rPr lang="zh-CN" altLang="en-US" sz="1200" b="1" dirty="0"/>
              <a:t> </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p>
          <a:p>
            <a:pPr eaLnBrk="1" hangingPunct="1">
              <a:lnSpc>
                <a:spcPct val="90000"/>
              </a:lnSpc>
              <a:buFontTx/>
              <a:buNone/>
            </a:pPr>
            <a:r>
              <a:rPr lang="en-US" altLang="zh-CN" sz="1200" b="1" dirty="0">
                <a:solidFill>
                  <a:srgbClr val="333300"/>
                </a:solidFill>
                <a:sym typeface="Symbol" panose="05050102010706020507" pitchFamily="18" charset="2"/>
              </a:rPr>
              <a:t>         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A</a:t>
            </a:r>
            <a:r>
              <a:rPr lang="zh-CN" altLang="en-US" sz="1200" b="1" dirty="0">
                <a:cs typeface="Times New Roman" panose="02020603050405020304" pitchFamily="18" charset="0"/>
                <a:sym typeface="Symbol" panose="05050102010706020507" pitchFamily="18" charset="2"/>
              </a:rPr>
              <a:t>或</a:t>
            </a:r>
            <a:r>
              <a:rPr lang="en-US" altLang="zh-CN" sz="1200" b="1" dirty="0">
                <a:sym typeface="Symbol" panose="05050102010706020507" pitchFamily="18" charset="2"/>
              </a:rPr>
              <a:t>(</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B</a:t>
            </a:r>
            <a:r>
              <a:rPr lang="zh-CN" altLang="en-US" sz="1200" b="1" dirty="0">
                <a:cs typeface="Times New Roman" panose="02020603050405020304" pitchFamily="18" charset="0"/>
                <a:sym typeface="Symbol" panose="05050102010706020507" pitchFamily="18" charset="2"/>
              </a:rPr>
              <a:t>且</a:t>
            </a:r>
            <a:r>
              <a:rPr lang="en-US" altLang="zh-CN" sz="1200" b="1" dirty="0">
                <a:sym typeface="Symbol" panose="05050102010706020507" pitchFamily="18" charset="2"/>
              </a:rPr>
              <a:t>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endParaRPr lang="zh-CN" altLang="en-US" sz="1200" b="1" dirty="0">
              <a:sym typeface="Symbol" panose="05050102010706020507" pitchFamily="18" charset="2"/>
            </a:endParaRPr>
          </a:p>
          <a:p>
            <a:pPr eaLnBrk="1" hangingPunct="1">
              <a:lnSpc>
                <a:spcPct val="90000"/>
              </a:lnSpc>
              <a:buFontTx/>
              <a:buNone/>
            </a:pPr>
            <a:r>
              <a:rPr lang="en-US" altLang="zh-CN" sz="1200" b="1" dirty="0">
                <a:solidFill>
                  <a:srgbClr val="333300"/>
                </a:solidFill>
                <a:sym typeface="Symbol" panose="05050102010706020507" pitchFamily="18" charset="2"/>
              </a:rPr>
              <a:t>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A</a:t>
            </a:r>
            <a:r>
              <a:rPr lang="zh-CN" altLang="en-US" sz="1200" b="1" dirty="0">
                <a:cs typeface="Times New Roman" panose="02020603050405020304" pitchFamily="18" charset="0"/>
                <a:sym typeface="Symbol" panose="05050102010706020507" pitchFamily="18" charset="2"/>
              </a:rPr>
              <a:t>或</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B</a:t>
            </a:r>
            <a:r>
              <a:rPr lang="en-US" altLang="zh-CN" sz="1200" b="1" dirty="0">
                <a:cs typeface="Times New Roman" panose="02020603050405020304" pitchFamily="18" charset="0"/>
              </a:rPr>
              <a:t>)</a:t>
            </a:r>
            <a:r>
              <a:rPr lang="zh-CN" altLang="en-US" sz="1200" b="1" dirty="0">
                <a:cs typeface="Times New Roman" panose="02020603050405020304" pitchFamily="18" charset="0"/>
              </a:rPr>
              <a:t>且</a:t>
            </a:r>
            <a:r>
              <a:rPr lang="en-US" altLang="zh-CN" sz="1200" b="1" dirty="0">
                <a:sym typeface="Symbol" panose="05050102010706020507" pitchFamily="18" charset="2"/>
              </a:rPr>
              <a:t>(</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A</a:t>
            </a:r>
            <a:r>
              <a:rPr lang="zh-CN" altLang="en-US" sz="1200" b="1" dirty="0">
                <a:cs typeface="Times New Roman" panose="02020603050405020304" pitchFamily="18" charset="0"/>
                <a:sym typeface="Symbol" panose="05050102010706020507" pitchFamily="18" charset="2"/>
              </a:rPr>
              <a:t>或</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C</a:t>
            </a:r>
            <a:r>
              <a:rPr lang="en-US" altLang="zh-CN" sz="1200" b="1" dirty="0">
                <a:sym typeface="Symbol" panose="05050102010706020507" pitchFamily="18" charset="2"/>
              </a:rPr>
              <a:t>)</a:t>
            </a:r>
            <a:endParaRPr lang="zh-CN" altLang="en-US" sz="1200" b="1" dirty="0">
              <a:sym typeface="Symbol" panose="05050102010706020507" pitchFamily="18" charset="2"/>
            </a:endParaRPr>
          </a:p>
          <a:p>
            <a:pPr eaLnBrk="1" hangingPunct="1">
              <a:lnSpc>
                <a:spcPct val="90000"/>
              </a:lnSpc>
              <a:buFontTx/>
              <a:buNone/>
            </a:pPr>
            <a:r>
              <a:rPr lang="en-US" altLang="zh-CN" sz="1200" b="1" dirty="0">
                <a:solidFill>
                  <a:srgbClr val="333300"/>
                </a:solidFill>
                <a:sym typeface="Symbol" panose="05050102010706020507" pitchFamily="18" charset="2"/>
              </a:rPr>
              <a:t>         </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 </a:t>
            </a:r>
          </a:p>
          <a:p>
            <a:pPr eaLnBrk="1" hangingPunct="1">
              <a:lnSpc>
                <a:spcPct val="90000"/>
              </a:lnSpc>
              <a:buFontTx/>
              <a:buNone/>
            </a:pPr>
            <a:r>
              <a:rPr lang="zh-CN" altLang="en-US" sz="1200" b="1" dirty="0">
                <a:cs typeface="Times New Roman" panose="02020603050405020304" pitchFamily="18" charset="0"/>
                <a:sym typeface="Symbol" panose="05050102010706020507" pitchFamily="18" charset="2"/>
              </a:rPr>
              <a:t>              得证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p>
          <a:p>
            <a:pPr eaLnBrk="1" hangingPunct="1">
              <a:lnSpc>
                <a:spcPct val="90000"/>
              </a:lnSpc>
              <a:buFontTx/>
              <a:buNone/>
            </a:pPr>
            <a:r>
              <a:rPr lang="en-US" altLang="zh-CN" sz="1200" b="1" dirty="0">
                <a:cs typeface="Times New Roman" panose="02020603050405020304" pitchFamily="18" charset="0"/>
                <a:sym typeface="Symbol" panose="05050102010706020507" pitchFamily="18" charset="2"/>
              </a:rPr>
              <a:t>     </a:t>
            </a:r>
            <a:r>
              <a:rPr lang="zh-CN" altLang="en-US" sz="1200" b="1" dirty="0">
                <a:cs typeface="Times New Roman" panose="02020603050405020304" pitchFamily="18" charset="0"/>
                <a:sym typeface="Symbol" panose="05050102010706020507" pitchFamily="18" charset="2"/>
              </a:rPr>
              <a:t>类似可证 </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dirty="0">
                <a:cs typeface="Times New Roman" panose="02020603050405020304" pitchFamily="18" charset="0"/>
              </a:rPr>
              <a:t>(</a:t>
            </a:r>
            <a:r>
              <a:rPr lang="en-US" altLang="zh-CN" sz="1200" b="1" i="1" dirty="0">
                <a:cs typeface="Times New Roman" panose="02020603050405020304" pitchFamily="18" charset="0"/>
                <a:sym typeface="Symbol" panose="05050102010706020507" pitchFamily="18" charset="2"/>
              </a:rPr>
              <a:t>B</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C</a:t>
            </a:r>
            <a:r>
              <a:rPr lang="en-US" altLang="zh-CN" sz="1200" b="1" dirty="0">
                <a:cs typeface="Times New Roman" panose="02020603050405020304" pitchFamily="18" charset="0"/>
                <a:sym typeface="Symbol" panose="05050102010706020507" pitchFamily="18" charset="2"/>
              </a:rPr>
              <a:t>).</a:t>
            </a:r>
          </a:p>
          <a:p>
            <a:pPr eaLnBrk="1" hangingPunct="1">
              <a:lnSpc>
                <a:spcPct val="90000"/>
              </a:lnSpc>
              <a:buFontTx/>
              <a:buNone/>
            </a:pPr>
            <a:endParaRPr lang="en-US" altLang="zh-CN" sz="1200" b="1" dirty="0">
              <a:cs typeface="Times New Roman" panose="02020603050405020304" pitchFamily="18" charset="0"/>
            </a:endParaRPr>
          </a:p>
          <a:p>
            <a:pPr eaLnBrk="1" hangingPunct="1">
              <a:lnSpc>
                <a:spcPct val="90000"/>
              </a:lnSpc>
              <a:buFontTx/>
              <a:buNone/>
            </a:pPr>
            <a:r>
              <a:rPr lang="en-US" altLang="zh-CN" sz="1200" b="1" dirty="0">
                <a:cs typeface="Times New Roman" panose="02020603050405020304" pitchFamily="18" charset="0"/>
              </a:rPr>
              <a:t>(3)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E</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E </a:t>
            </a:r>
            <a:r>
              <a:rPr lang="en-US" altLang="zh-CN" sz="1200" b="1" dirty="0">
                <a:cs typeface="Times New Roman" panose="02020603050405020304" pitchFamily="18" charset="0"/>
                <a:sym typeface="Symbol" panose="05050102010706020507" pitchFamily="18" charset="2"/>
              </a:rPr>
              <a:t>(</a:t>
            </a:r>
            <a:r>
              <a:rPr lang="zh-CN" altLang="zh-CN" b="1" dirty="0">
                <a:cs typeface="Times New Roman" panose="02020603050405020304" pitchFamily="18" charset="0"/>
              </a:rPr>
              <a:t>并集的</a:t>
            </a:r>
            <a:r>
              <a:rPr lang="zh-CN" altLang="en-US" sz="1200" b="1" dirty="0">
                <a:cs typeface="Times New Roman" panose="02020603050405020304" pitchFamily="18" charset="0"/>
              </a:rPr>
              <a:t>零律)</a:t>
            </a:r>
          </a:p>
          <a:p>
            <a:pPr eaLnBrk="1" hangingPunct="1">
              <a:lnSpc>
                <a:spcPct val="90000"/>
              </a:lnSpc>
              <a:buFontTx/>
              <a:buNone/>
            </a:pPr>
            <a:r>
              <a:rPr lang="zh-CN" altLang="en-US" sz="1200" b="1" dirty="0"/>
              <a:t>证  根据并的定义</a:t>
            </a:r>
            <a:r>
              <a:rPr lang="en-US" altLang="zh-CN" sz="1200" b="1" dirty="0"/>
              <a:t>,  </a:t>
            </a:r>
            <a:r>
              <a:rPr lang="zh-CN" altLang="en-US" sz="1200" b="1" dirty="0"/>
              <a:t>有</a:t>
            </a:r>
            <a:r>
              <a:rPr lang="en-US" altLang="zh-CN" sz="1200" b="1" i="1" dirty="0"/>
              <a:t>E</a:t>
            </a:r>
            <a:r>
              <a:rPr lang="en-US" altLang="zh-CN" sz="1200" b="1" dirty="0">
                <a:sym typeface="Symbol" panose="05050102010706020507" pitchFamily="18" charset="2"/>
              </a:rPr>
              <a:t></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E.</a:t>
            </a:r>
            <a:endParaRPr lang="zh-CN" altLang="en-US" sz="1200" b="1" dirty="0"/>
          </a:p>
          <a:p>
            <a:pPr eaLnBrk="1" hangingPunct="1">
              <a:lnSpc>
                <a:spcPct val="90000"/>
              </a:lnSpc>
              <a:buFontTx/>
              <a:buNone/>
            </a:pPr>
            <a:r>
              <a:rPr lang="zh-CN" altLang="en-US" sz="1200" b="1" dirty="0">
                <a:sym typeface="Symbol" panose="05050102010706020507" pitchFamily="18" charset="2"/>
              </a:rPr>
              <a:t>      根据全集的定义</a:t>
            </a:r>
            <a:r>
              <a:rPr lang="en-US" altLang="zh-CN" sz="1200" b="1" dirty="0">
                <a:sym typeface="Symbol" panose="05050102010706020507" pitchFamily="18" charset="2"/>
              </a:rPr>
              <a:t>,  </a:t>
            </a:r>
            <a:r>
              <a:rPr lang="zh-CN" altLang="en-US" sz="1200" b="1" dirty="0">
                <a:sym typeface="Symbol" panose="05050102010706020507" pitchFamily="18" charset="2"/>
              </a:rPr>
              <a:t>又有</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 </a:t>
            </a:r>
            <a:r>
              <a:rPr lang="en-US" altLang="zh-CN" sz="1200" b="1" i="1" dirty="0"/>
              <a:t>E</a:t>
            </a:r>
            <a:r>
              <a:rPr lang="en-US" altLang="zh-CN" sz="1200" b="1" dirty="0">
                <a:sym typeface="Symbol" panose="05050102010706020507" pitchFamily="18" charset="2"/>
              </a:rPr>
              <a:t></a:t>
            </a:r>
            <a:r>
              <a:rPr lang="en-US" altLang="zh-CN" sz="1200" b="1" i="1" dirty="0">
                <a:cs typeface="Times New Roman" panose="02020603050405020304" pitchFamily="18" charset="0"/>
              </a:rPr>
              <a:t>E</a:t>
            </a: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19</a:t>
            </a:fld>
            <a:endParaRPr lang="zh-CN" altLang="en-US"/>
          </a:p>
        </p:txBody>
      </p:sp>
    </p:spTree>
    <p:extLst>
      <p:ext uri="{BB962C8B-B14F-4D97-AF65-F5344CB8AC3E}">
        <p14:creationId xmlns:p14="http://schemas.microsoft.com/office/powerpoint/2010/main" val="3948787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等线" panose="02010600030101010101" pitchFamily="2" charset="-122"/>
                <a:cs typeface="Times New Roman" panose="02020603050405020304" pitchFamily="18" charset="0"/>
              </a:rPr>
              <a:t>要证明 </a:t>
            </a:r>
            <a:r>
              <a:rPr lang="en-US" altLang="zh-CN" sz="1800" i="1" dirty="0">
                <a:effectLst/>
                <a:latin typeface="KaTeX_Math"/>
                <a:ea typeface="等线" panose="02010600030101010101" pitchFamily="2" charset="-122"/>
                <a:cs typeface="Times New Roman" panose="02020603050405020304" pitchFamily="18" charset="0"/>
              </a:rPr>
              <a:t>A</a:t>
            </a:r>
            <a:r>
              <a:rPr lang="en-US" altLang="zh-CN" sz="1800" dirty="0">
                <a:effectLst/>
                <a:latin typeface="Times New Roman" panose="02020603050405020304" pitchFamily="18" charset="0"/>
                <a:ea typeface="等线" panose="02010600030101010101" pitchFamily="2" charset="-122"/>
              </a:rPr>
              <a:t>∩</a:t>
            </a:r>
            <a:r>
              <a:rPr lang="en-US" altLang="zh-CN" sz="1800" i="1" dirty="0">
                <a:effectLst/>
                <a:latin typeface="KaTeX_Math"/>
                <a:ea typeface="等线" panose="02010600030101010101" pitchFamily="2" charset="-122"/>
                <a:cs typeface="Times New Roman" panose="02020603050405020304" pitchFamily="18" charset="0"/>
              </a:rPr>
              <a:t>E</a:t>
            </a:r>
            <a:r>
              <a:rPr lang="en-US" altLang="zh-CN" sz="1800" dirty="0">
                <a:effectLst/>
                <a:latin typeface="Times New Roman" panose="02020603050405020304" pitchFamily="18" charset="0"/>
                <a:ea typeface="等线" panose="02010600030101010101" pitchFamily="2" charset="-122"/>
              </a:rPr>
              <a:t>=</a:t>
            </a:r>
            <a:r>
              <a:rPr lang="en-US" altLang="zh-CN" sz="1800" i="1" dirty="0">
                <a:effectLst/>
                <a:latin typeface="KaTeX_Math"/>
                <a:ea typeface="等线" panose="02010600030101010101" pitchFamily="2" charset="-122"/>
                <a:cs typeface="Times New Roman" panose="02020603050405020304" pitchFamily="18" charset="0"/>
              </a:rPr>
              <a:t>A</a:t>
            </a:r>
            <a:r>
              <a:rPr lang="zh-CN" altLang="zh-CN" sz="1800" dirty="0">
                <a:effectLst/>
                <a:ea typeface="等线" panose="02010600030101010101" pitchFamily="2" charset="-122"/>
                <a:cs typeface="Times New Roman" panose="02020603050405020304" pitchFamily="18" charset="0"/>
              </a:rPr>
              <a:t>，我们需</a:t>
            </a:r>
            <a:r>
              <a:rPr lang="zh-CN" altLang="zh-CN" sz="1800" dirty="0">
                <a:effectLst/>
                <a:highlight>
                  <a:srgbClr val="FFFF00"/>
                </a:highlight>
                <a:ea typeface="等线" panose="02010600030101010101" pitchFamily="2" charset="-122"/>
                <a:cs typeface="Times New Roman" panose="02020603050405020304" pitchFamily="18" charset="0"/>
              </a:rPr>
              <a:t>要证明两个集合的每个元素都是相同</a:t>
            </a:r>
            <a:r>
              <a:rPr lang="zh-CN" altLang="zh-CN" sz="1800" dirty="0">
                <a:effectLst/>
                <a:ea typeface="等线" panose="02010600030101010101" pitchFamily="2" charset="-122"/>
                <a:cs typeface="Times New Roman" panose="02020603050405020304" pitchFamily="18" charset="0"/>
              </a:rPr>
              <a:t>的</a:t>
            </a:r>
            <a:endParaRPr lang="en-US" altLang="zh-CN" sz="1800" dirty="0">
              <a:effectLst/>
              <a:ea typeface="等线" panose="02010600030101010101" pitchFamily="2" charset="-122"/>
              <a:cs typeface="Times New Roman" panose="02020603050405020304" pitchFamily="18" charset="0"/>
            </a:endParaRPr>
          </a:p>
          <a:p>
            <a:endParaRPr lang="en-US" altLang="zh-CN" sz="1800" dirty="0">
              <a:effectLst/>
              <a:ea typeface="等线" panose="02010600030101010101" pitchFamily="2" charset="-122"/>
              <a:cs typeface="Times New Roman" panose="02020603050405020304" pitchFamily="18" charset="0"/>
            </a:endParaRPr>
          </a:p>
          <a:p>
            <a:pPr eaLnBrk="1" hangingPunct="1">
              <a:buFont typeface="Symbol" panose="05050102010706020507" pitchFamily="18" charset="2"/>
              <a:buNone/>
            </a:pPr>
            <a:r>
              <a:rPr lang="en-US" altLang="zh-CN" sz="1200" b="1" dirty="0">
                <a:cs typeface="Times New Roman" panose="02020603050405020304" pitchFamily="18" charset="0"/>
              </a:rPr>
              <a:t>(4) </a:t>
            </a:r>
            <a:r>
              <a:rPr lang="en-US" altLang="zh-CN" sz="1200" b="1" i="1" dirty="0">
                <a:cs typeface="Times New Roman" panose="02020603050405020304" pitchFamily="18" charset="0"/>
              </a:rPr>
              <a:t>A</a:t>
            </a:r>
            <a:r>
              <a:rPr lang="en-US" altLang="zh-CN" sz="1200" b="1" dirty="0">
                <a:sym typeface="Symbol" panose="05050102010706020507" pitchFamily="18" charset="2"/>
              </a:rPr>
              <a:t></a:t>
            </a:r>
            <a:r>
              <a:rPr lang="en-US" altLang="zh-CN" sz="1200" b="1" i="1" dirty="0">
                <a:cs typeface="Times New Roman" panose="02020603050405020304" pitchFamily="18" charset="0"/>
              </a:rPr>
              <a:t>E</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   </a:t>
            </a:r>
            <a:r>
              <a:rPr lang="en-US" altLang="zh-CN" sz="1200" b="1" dirty="0">
                <a:cs typeface="Times New Roman" panose="02020603050405020304" pitchFamily="18" charset="0"/>
                <a:sym typeface="Symbol" panose="05050102010706020507" pitchFamily="18" charset="2"/>
              </a:rPr>
              <a:t>(</a:t>
            </a:r>
            <a:r>
              <a:rPr lang="zh-CN" altLang="en-US" sz="1200" b="1" dirty="0">
                <a:sym typeface="Symbol" panose="05050102010706020507" pitchFamily="18" charset="2"/>
              </a:rPr>
              <a:t>同一</a:t>
            </a:r>
            <a:r>
              <a:rPr lang="zh-CN" altLang="en-US" sz="1200" b="1" dirty="0">
                <a:cs typeface="Times New Roman" panose="02020603050405020304" pitchFamily="18" charset="0"/>
              </a:rPr>
              <a:t>律)</a:t>
            </a:r>
            <a:endParaRPr lang="zh-CN" altLang="en-US" sz="1200" b="1" dirty="0">
              <a:sym typeface="Symbol" panose="05050102010706020507" pitchFamily="18" charset="2"/>
            </a:endParaRPr>
          </a:p>
          <a:p>
            <a:pPr eaLnBrk="1" hangingPunct="1">
              <a:buFont typeface="Symbol" panose="05050102010706020507" pitchFamily="18" charset="2"/>
              <a:buNone/>
            </a:pPr>
            <a:r>
              <a:rPr lang="zh-CN" altLang="en-US" sz="1200" b="1" dirty="0">
                <a:sym typeface="Symbol" panose="05050102010706020507" pitchFamily="18" charset="2"/>
              </a:rPr>
              <a:t>证：需</a:t>
            </a:r>
            <a:r>
              <a:rPr lang="zh-CN" altLang="zh-CN" b="1" dirty="0"/>
              <a:t>证明</a:t>
            </a:r>
            <a:r>
              <a:rPr lang="zh-CN" altLang="zh-CN" dirty="0">
                <a:effectLst/>
                <a:ea typeface="等线" panose="02010600030101010101" pitchFamily="2" charset="-122"/>
                <a:cs typeface="Times New Roman" panose="02020603050405020304" pitchFamily="18" charset="0"/>
              </a:rPr>
              <a:t> </a:t>
            </a:r>
            <a:r>
              <a:rPr lang="en-US" altLang="zh-CN" b="1" i="1" dirty="0">
                <a:cs typeface="Times New Roman" panose="02020603050405020304" pitchFamily="18" charset="0"/>
              </a:rPr>
              <a:t>A</a:t>
            </a:r>
            <a:r>
              <a:rPr lang="en-US" altLang="zh-CN" b="1" dirty="0">
                <a:cs typeface="Times New Roman" panose="02020603050405020304" pitchFamily="18" charset="0"/>
              </a:rPr>
              <a:t>⊆</a:t>
            </a:r>
            <a:r>
              <a:rPr lang="en-US" altLang="zh-CN" b="1" i="1" dirty="0">
                <a:cs typeface="Times New Roman" panose="02020603050405020304" pitchFamily="18" charset="0"/>
              </a:rPr>
              <a:t>A</a:t>
            </a:r>
            <a:r>
              <a:rPr lang="en-US" altLang="zh-CN" b="1" dirty="0">
                <a:cs typeface="Times New Roman" panose="02020603050405020304" pitchFamily="18" charset="0"/>
              </a:rPr>
              <a:t>∩</a:t>
            </a:r>
            <a:r>
              <a:rPr lang="en-US" altLang="zh-CN" b="1" i="1" dirty="0">
                <a:cs typeface="Times New Roman" panose="02020603050405020304" pitchFamily="18" charset="0"/>
              </a:rPr>
              <a:t>E</a:t>
            </a:r>
            <a:r>
              <a:rPr lang="en-US" altLang="zh-CN" i="1" dirty="0">
                <a:effectLst/>
                <a:latin typeface="KaTeX_Math"/>
                <a:ea typeface="等线" panose="02010600030101010101" pitchFamily="2" charset="-122"/>
                <a:cs typeface="Times New Roman" panose="02020603050405020304" pitchFamily="18" charset="0"/>
              </a:rPr>
              <a:t> </a:t>
            </a:r>
            <a:r>
              <a:rPr lang="zh-CN" altLang="en-US" b="1" dirty="0"/>
              <a:t>和</a:t>
            </a:r>
            <a:r>
              <a:rPr lang="en-US" altLang="zh-CN" b="1" i="1" dirty="0">
                <a:cs typeface="Times New Roman" panose="02020603050405020304" pitchFamily="18" charset="0"/>
              </a:rPr>
              <a:t>A∩E</a:t>
            </a:r>
            <a:r>
              <a:rPr lang="en-US" altLang="zh-CN" b="1" dirty="0">
                <a:cs typeface="Times New Roman" panose="02020603050405020304" pitchFamily="18" charset="0"/>
              </a:rPr>
              <a:t>⊆</a:t>
            </a:r>
            <a:r>
              <a:rPr lang="en-US" altLang="zh-CN" b="1" i="1" dirty="0">
                <a:cs typeface="Times New Roman" panose="02020603050405020304" pitchFamily="18" charset="0"/>
              </a:rPr>
              <a:t>A</a:t>
            </a:r>
            <a:endParaRPr lang="en-US" altLang="zh-CN" b="1" i="1" dirty="0">
              <a:cs typeface="Times New Roman" panose="02020603050405020304" pitchFamily="18" charset="0"/>
              <a:sym typeface="Symbol" panose="05050102010706020507" pitchFamily="18" charset="2"/>
            </a:endParaRPr>
          </a:p>
          <a:p>
            <a:pPr eaLnBrk="1" hangingPunct="1">
              <a:buFont typeface="Symbol" panose="05050102010706020507" pitchFamily="18" charset="2"/>
              <a:buNone/>
            </a:pPr>
            <a:r>
              <a:rPr lang="zh-CN" altLang="en-US" sz="1200" b="1" dirty="0">
                <a:sym typeface="Symbol" panose="05050102010706020507" pitchFamily="18" charset="2"/>
              </a:rPr>
              <a:t>  根据交的定义</a:t>
            </a:r>
            <a:r>
              <a:rPr lang="en-US" altLang="zh-CN" sz="1200" b="1" dirty="0">
                <a:sym typeface="Symbol" panose="05050102010706020507" pitchFamily="18" charset="2"/>
              </a:rPr>
              <a:t>, </a:t>
            </a:r>
            <a:r>
              <a:rPr lang="zh-CN" altLang="en-US" sz="1200" b="1" dirty="0">
                <a:sym typeface="Symbol" panose="05050102010706020507" pitchFamily="18" charset="2"/>
              </a:rPr>
              <a:t>有</a:t>
            </a:r>
            <a:r>
              <a:rPr lang="en-US" altLang="zh-CN" sz="1200" b="1" i="1" dirty="0">
                <a:cs typeface="Times New Roman" panose="02020603050405020304" pitchFamily="18" charset="0"/>
              </a:rPr>
              <a:t>A</a:t>
            </a:r>
            <a:r>
              <a:rPr lang="en-US" altLang="zh-CN" sz="1200" b="1" dirty="0">
                <a:sym typeface="Symbol" panose="05050102010706020507" pitchFamily="18" charset="2"/>
              </a:rPr>
              <a:t></a:t>
            </a:r>
            <a:r>
              <a:rPr lang="en-US" altLang="zh-CN" sz="1200" b="1" i="1" dirty="0">
                <a:cs typeface="Times New Roman" panose="02020603050405020304" pitchFamily="18" charset="0"/>
              </a:rPr>
              <a:t>E</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endParaRPr lang="en-US" altLang="zh-CN" sz="1200" b="1" dirty="0">
              <a:sym typeface="Symbol" panose="05050102010706020507" pitchFamily="18" charset="2"/>
            </a:endParaRPr>
          </a:p>
          <a:p>
            <a:pPr eaLnBrk="1" hangingPunct="1">
              <a:buFont typeface="Symbol" panose="05050102010706020507" pitchFamily="18" charset="2"/>
              <a:buNone/>
            </a:pPr>
            <a:r>
              <a:rPr lang="zh-CN" altLang="en-US" sz="1400" b="1" dirty="0">
                <a:sym typeface="Symbol" panose="05050102010706020507" pitchFamily="18" charset="2"/>
              </a:rPr>
              <a:t>又</a:t>
            </a:r>
            <a:r>
              <a:rPr lang="en-US" altLang="zh-CN" sz="1400" b="1" dirty="0">
                <a:sym typeface="Symbol" panose="05050102010706020507" pitchFamily="18" charset="2"/>
              </a:rPr>
              <a:t>, </a:t>
            </a:r>
            <a:r>
              <a:rPr lang="en-US" altLang="zh-CN" sz="1400" b="1" i="1" dirty="0">
                <a:sym typeface="Symbol" panose="05050102010706020507" pitchFamily="18" charset="2"/>
              </a:rPr>
              <a:t>x  </a:t>
            </a:r>
            <a:r>
              <a:rPr lang="en-US" altLang="zh-CN" sz="1200" b="1" dirty="0">
                <a:sym typeface="Symbol" panose="05050102010706020507" pitchFamily="18" charset="2"/>
              </a:rPr>
              <a:t>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A</a:t>
            </a:r>
            <a:r>
              <a:rPr lang="en-US" altLang="zh-CN" sz="1200" b="1" i="1" dirty="0">
                <a:cs typeface="Times New Roman" panose="02020603050405020304" pitchFamily="18" charset="0"/>
              </a:rPr>
              <a:t>,</a:t>
            </a:r>
          </a:p>
          <a:p>
            <a:pPr eaLnBrk="1" hangingPunct="1">
              <a:buFontTx/>
              <a:buNone/>
            </a:pPr>
            <a:r>
              <a:rPr lang="zh-CN" altLang="en-US" sz="1200" b="1" dirty="0">
                <a:solidFill>
                  <a:srgbClr val="333300"/>
                </a:solidFill>
                <a:sym typeface="Symbol" panose="05050102010706020507" pitchFamily="18" charset="2"/>
              </a:rPr>
              <a:t>根据</a:t>
            </a:r>
            <a:r>
              <a:rPr lang="zh-CN" altLang="en-US" sz="1200" b="1" dirty="0">
                <a:sym typeface="Symbol" panose="05050102010706020507" pitchFamily="18" charset="2"/>
              </a:rPr>
              <a:t>全集</a:t>
            </a:r>
            <a:r>
              <a:rPr lang="en-US" altLang="zh-CN" sz="1200" b="1" i="1" dirty="0">
                <a:sym typeface="Symbol" panose="05050102010706020507" pitchFamily="18" charset="2"/>
              </a:rPr>
              <a:t>E</a:t>
            </a:r>
            <a:r>
              <a:rPr lang="zh-CN" altLang="en-US" sz="1200" b="1" dirty="0">
                <a:sym typeface="Symbol" panose="05050102010706020507" pitchFamily="18" charset="2"/>
              </a:rPr>
              <a:t>的定义</a:t>
            </a:r>
            <a:r>
              <a:rPr lang="en-US" altLang="zh-CN" sz="1200" b="1" dirty="0">
                <a:sym typeface="Symbol" panose="05050102010706020507" pitchFamily="18" charset="2"/>
              </a:rPr>
              <a:t>,  </a:t>
            </a:r>
          </a:p>
          <a:p>
            <a:pPr eaLnBrk="1" hangingPunct="1">
              <a:buFontTx/>
              <a:buNone/>
            </a:pPr>
            <a:r>
              <a:rPr lang="en-US" altLang="zh-CN" sz="1200" b="1" i="1" dirty="0">
                <a:sym typeface="Symbol" panose="05050102010706020507" pitchFamily="18" charset="2"/>
              </a:rPr>
              <a:t>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E</a:t>
            </a:r>
            <a:r>
              <a:rPr lang="en-US" altLang="zh-CN" sz="1200" b="1" i="1" dirty="0">
                <a:cs typeface="Times New Roman" panose="02020603050405020304" pitchFamily="18" charset="0"/>
              </a:rPr>
              <a:t>,  </a:t>
            </a:r>
            <a:r>
              <a:rPr lang="zh-CN" altLang="en-US" sz="1200" b="1" dirty="0">
                <a:cs typeface="Times New Roman" panose="02020603050405020304" pitchFamily="18" charset="0"/>
              </a:rPr>
              <a:t>从而</a:t>
            </a:r>
            <a:r>
              <a:rPr lang="en-US" altLang="zh-CN" sz="1200" b="1" dirty="0">
                <a:solidFill>
                  <a:srgbClr val="333300"/>
                </a:solidFill>
                <a:sym typeface="Symbol" panose="05050102010706020507" pitchFamily="18" charset="2"/>
              </a:rPr>
              <a:t>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A</a:t>
            </a:r>
            <a:r>
              <a:rPr lang="zh-CN" altLang="en-US" sz="1200" b="1" dirty="0">
                <a:cs typeface="Times New Roman" panose="02020603050405020304" pitchFamily="18" charset="0"/>
                <a:sym typeface="Symbol" panose="05050102010706020507" pitchFamily="18" charset="2"/>
              </a:rPr>
              <a:t>且</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E</a:t>
            </a:r>
            <a:r>
              <a:rPr lang="en-US" altLang="zh-CN" sz="1200" b="1" i="1" dirty="0">
                <a:cs typeface="Times New Roman" panose="02020603050405020304" pitchFamily="18" charset="0"/>
              </a:rPr>
              <a:t>,</a:t>
            </a:r>
            <a:endParaRPr lang="zh-CN" altLang="en-US" sz="1200" b="1" dirty="0"/>
          </a:p>
          <a:p>
            <a:pPr eaLnBrk="1" hangingPunct="1">
              <a:buFontTx/>
              <a:buNone/>
            </a:pPr>
            <a:r>
              <a:rPr lang="zh-CN" altLang="en-US" sz="1200" b="1" dirty="0">
                <a:solidFill>
                  <a:srgbClr val="333300"/>
                </a:solidFill>
                <a:sym typeface="Symbol" panose="05050102010706020507" pitchFamily="18" charset="2"/>
              </a:rPr>
              <a:t>         </a:t>
            </a:r>
            <a:r>
              <a:rPr lang="en-US" altLang="zh-CN" sz="1200" b="1" dirty="0">
                <a:solidFill>
                  <a:srgbClr val="333300"/>
                </a:solidFill>
                <a:sym typeface="Symbol" panose="05050102010706020507" pitchFamily="18" charset="2"/>
              </a:rPr>
              <a:t>    </a:t>
            </a:r>
            <a:r>
              <a:rPr lang="en-US" altLang="zh-CN" sz="1200" b="1" i="1" dirty="0" err="1">
                <a:solidFill>
                  <a:srgbClr val="333300"/>
                </a:solidFill>
                <a:sym typeface="Symbol" panose="05050102010706020507" pitchFamily="18" charset="2"/>
              </a:rPr>
              <a:t>x</a:t>
            </a:r>
            <a:r>
              <a:rPr lang="en-US" altLang="zh-CN" sz="1200" b="1" dirty="0" err="1">
                <a:sym typeface="Symbol" panose="05050102010706020507" pitchFamily="18" charset="2"/>
              </a:rPr>
              <a:t></a:t>
            </a:r>
            <a:r>
              <a:rPr lang="en-US" altLang="zh-CN" sz="1200" b="1" i="1" dirty="0" err="1">
                <a:cs typeface="Times New Roman" panose="02020603050405020304" pitchFamily="18" charset="0"/>
              </a:rPr>
              <a:t>A</a:t>
            </a:r>
            <a:r>
              <a:rPr lang="en-US" altLang="zh-CN" sz="1200" b="1" dirty="0" err="1">
                <a:sym typeface="Symbol" panose="05050102010706020507" pitchFamily="18" charset="2"/>
              </a:rPr>
              <a:t></a:t>
            </a:r>
            <a:r>
              <a:rPr lang="en-US" altLang="zh-CN" sz="1200" b="1" i="1" dirty="0" err="1">
                <a:cs typeface="Times New Roman" panose="02020603050405020304" pitchFamily="18" charset="0"/>
              </a:rPr>
              <a:t>E</a:t>
            </a:r>
            <a:endParaRPr lang="zh-CN" altLang="en-US" sz="1200" b="1" dirty="0">
              <a:sym typeface="Symbol" panose="05050102010706020507" pitchFamily="18" charset="2"/>
            </a:endParaRPr>
          </a:p>
          <a:p>
            <a:pPr eaLnBrk="1" hangingPunct="1">
              <a:buFont typeface="Symbol" panose="05050102010706020507" pitchFamily="18" charset="2"/>
              <a:buNone/>
            </a:pPr>
            <a:r>
              <a:rPr lang="zh-CN" altLang="en-US" sz="1200" b="1" dirty="0">
                <a:solidFill>
                  <a:srgbClr val="333300"/>
                </a:solidFill>
                <a:sym typeface="Symbol" panose="05050102010706020507" pitchFamily="18" charset="2"/>
              </a:rPr>
              <a:t>得证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sym typeface="Symbol" panose="05050102010706020507" pitchFamily="18" charset="2"/>
              </a:rPr>
              <a:t>A</a:t>
            </a:r>
            <a:r>
              <a:rPr lang="en-US" altLang="zh-CN" sz="1200" b="1" dirty="0">
                <a:sym typeface="Symbol" panose="05050102010706020507" pitchFamily="18" charset="2"/>
              </a:rPr>
              <a:t></a:t>
            </a:r>
            <a:r>
              <a:rPr lang="en-US" altLang="zh-CN" sz="1200" b="1" i="1" dirty="0">
                <a:cs typeface="Times New Roman" panose="02020603050405020304" pitchFamily="18" charset="0"/>
              </a:rPr>
              <a:t>E</a:t>
            </a:r>
            <a:r>
              <a:rPr lang="en-US" altLang="zh-CN" sz="1200" b="1" i="1" dirty="0">
                <a:cs typeface="Times New Roman" panose="02020603050405020304" pitchFamily="18" charset="0"/>
                <a:sym typeface="Symbol" panose="05050102010706020507" pitchFamily="18" charset="2"/>
              </a:rPr>
              <a:t>.</a:t>
            </a:r>
            <a:endParaRPr lang="zh-CN" altLang="en-US"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20</a:t>
            </a:fld>
            <a:endParaRPr lang="zh-CN" altLang="en-US"/>
          </a:p>
        </p:txBody>
      </p:sp>
    </p:spTree>
    <p:extLst>
      <p:ext uri="{BB962C8B-B14F-4D97-AF65-F5344CB8AC3E}">
        <p14:creationId xmlns:p14="http://schemas.microsoft.com/office/powerpoint/2010/main" val="435201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1" dirty="0">
                <a:sym typeface="Symbol" panose="05050102010706020507" pitchFamily="18" charset="2"/>
              </a:rPr>
              <a:t> A</a:t>
            </a:r>
            <a:r>
              <a:rPr lang="en-US" altLang="zh-CN" sz="1200" b="1" dirty="0">
                <a:sym typeface="Symbol" panose="05050102010706020507" pitchFamily="18" charset="2"/>
              </a:rPr>
              <a:t>(</a:t>
            </a:r>
            <a:r>
              <a:rPr lang="en-US" altLang="zh-CN" sz="1200" b="1" i="1" dirty="0">
                <a:sym typeface="Symbol" panose="05050102010706020507" pitchFamily="18" charset="2"/>
              </a:rPr>
              <a:t>A</a:t>
            </a:r>
            <a:r>
              <a:rPr lang="en-US" altLang="zh-CN" sz="1200" b="1" dirty="0">
                <a:sym typeface="Symbol" panose="05050102010706020507" pitchFamily="18" charset="2"/>
              </a:rPr>
              <a:t></a:t>
            </a:r>
            <a:r>
              <a:rPr lang="en-US" altLang="zh-CN" sz="1200" b="1" i="1" dirty="0">
                <a:sym typeface="Symbol" panose="05050102010706020507" pitchFamily="18" charset="2"/>
              </a:rPr>
              <a:t>B</a:t>
            </a:r>
            <a:r>
              <a:rPr lang="en-US" altLang="zh-CN" sz="1200" b="1" dirty="0">
                <a:sym typeface="Symbol" panose="05050102010706020507" pitchFamily="18" charset="2"/>
              </a:rPr>
              <a:t>)</a:t>
            </a:r>
          </a:p>
          <a:p>
            <a:pPr eaLnBrk="1" hangingPunct="1">
              <a:buFontTx/>
              <a:buNone/>
            </a:pPr>
            <a:r>
              <a:rPr lang="zh-CN" altLang="en-US" sz="1200" b="1" dirty="0">
                <a:sym typeface="Symbol" panose="05050102010706020507" pitchFamily="18" charset="2"/>
              </a:rPr>
              <a:t>    = (</a:t>
            </a:r>
            <a:r>
              <a:rPr lang="en-US" altLang="zh-CN" sz="1200" b="1" i="1" dirty="0">
                <a:sym typeface="Symbol" panose="05050102010706020507" pitchFamily="18" charset="2"/>
              </a:rPr>
              <a:t>A</a:t>
            </a:r>
            <a:r>
              <a:rPr lang="en-US" altLang="zh-CN" sz="1200" b="1" dirty="0">
                <a:sym typeface="Symbol" panose="05050102010706020507" pitchFamily="18" charset="2"/>
              </a:rPr>
              <a:t></a:t>
            </a:r>
            <a:r>
              <a:rPr lang="en-US" altLang="zh-CN" sz="1200" b="1" i="1" dirty="0">
                <a:sym typeface="Symbol" panose="05050102010706020507" pitchFamily="18" charset="2"/>
              </a:rPr>
              <a:t>E</a:t>
            </a:r>
            <a:r>
              <a:rPr lang="en-US" altLang="zh-CN" sz="1200" b="1" dirty="0">
                <a:sym typeface="Symbol" panose="05050102010706020507" pitchFamily="18" charset="2"/>
              </a:rPr>
              <a:t>)(</a:t>
            </a:r>
            <a:r>
              <a:rPr lang="en-US" altLang="zh-CN" sz="1200" b="1" i="1" dirty="0">
                <a:sym typeface="Symbol" panose="05050102010706020507" pitchFamily="18" charset="2"/>
              </a:rPr>
              <a:t>A</a:t>
            </a:r>
            <a:r>
              <a:rPr lang="en-US" altLang="zh-CN" sz="1200" b="1" dirty="0">
                <a:sym typeface="Symbol" panose="05050102010706020507" pitchFamily="18" charset="2"/>
              </a:rPr>
              <a:t></a:t>
            </a:r>
            <a:r>
              <a:rPr lang="en-US" altLang="zh-CN" sz="1200" b="1" i="1" dirty="0">
                <a:sym typeface="Symbol" panose="05050102010706020507" pitchFamily="18" charset="2"/>
              </a:rPr>
              <a:t>B</a:t>
            </a:r>
            <a:r>
              <a:rPr lang="en-US" altLang="zh-CN" sz="1200" b="1" dirty="0">
                <a:sym typeface="Symbol" panose="05050102010706020507" pitchFamily="18" charset="2"/>
              </a:rPr>
              <a:t>)       (</a:t>
            </a:r>
            <a:r>
              <a:rPr lang="zh-CN" altLang="en-US" sz="1200" b="1" dirty="0">
                <a:sym typeface="Symbol" panose="05050102010706020507" pitchFamily="18" charset="2"/>
              </a:rPr>
              <a:t>同一律)</a:t>
            </a:r>
          </a:p>
          <a:p>
            <a:pPr eaLnBrk="1" hangingPunct="1">
              <a:buFontTx/>
              <a:buNone/>
            </a:pPr>
            <a:r>
              <a:rPr lang="zh-CN" altLang="en-US" sz="1200" b="1" dirty="0">
                <a:sym typeface="Symbol" panose="05050102010706020507" pitchFamily="18" charset="2"/>
              </a:rPr>
              <a:t>    = </a:t>
            </a:r>
            <a:r>
              <a:rPr lang="en-US" altLang="zh-CN" sz="1200" b="1" i="1" dirty="0">
                <a:sym typeface="Symbol" panose="05050102010706020507" pitchFamily="18" charset="2"/>
              </a:rPr>
              <a:t>A</a:t>
            </a:r>
            <a:r>
              <a:rPr lang="en-US" altLang="zh-CN" sz="1200" b="1" dirty="0">
                <a:sym typeface="Symbol" panose="05050102010706020507" pitchFamily="18" charset="2"/>
              </a:rPr>
              <a:t>(</a:t>
            </a:r>
            <a:r>
              <a:rPr lang="en-US" altLang="zh-CN" sz="1200" b="1" i="1" dirty="0">
                <a:sym typeface="Symbol" panose="05050102010706020507" pitchFamily="18" charset="2"/>
              </a:rPr>
              <a:t>E</a:t>
            </a:r>
            <a:r>
              <a:rPr lang="en-US" altLang="zh-CN" sz="1200" b="1" dirty="0">
                <a:sym typeface="Symbol" panose="05050102010706020507" pitchFamily="18" charset="2"/>
              </a:rPr>
              <a:t></a:t>
            </a:r>
            <a:r>
              <a:rPr lang="en-US" altLang="zh-CN" sz="1200" b="1" i="1" dirty="0">
                <a:sym typeface="Symbol" panose="05050102010706020507" pitchFamily="18" charset="2"/>
              </a:rPr>
              <a:t>B</a:t>
            </a:r>
            <a:r>
              <a:rPr lang="en-US" altLang="zh-CN" sz="1200" b="1" dirty="0">
                <a:sym typeface="Symbol" panose="05050102010706020507" pitchFamily="18" charset="2"/>
              </a:rPr>
              <a:t>)               (</a:t>
            </a:r>
            <a:r>
              <a:rPr lang="zh-CN" altLang="en-US" sz="1200" b="1" dirty="0">
                <a:sym typeface="Symbol" panose="05050102010706020507" pitchFamily="18" charset="2"/>
              </a:rPr>
              <a:t>分配律)</a:t>
            </a:r>
          </a:p>
          <a:p>
            <a:pPr eaLnBrk="1" hangingPunct="1">
              <a:buFontTx/>
              <a:buNone/>
            </a:pPr>
            <a:r>
              <a:rPr lang="zh-CN" altLang="en-US" sz="1200" b="1" dirty="0">
                <a:sym typeface="Symbol" panose="05050102010706020507" pitchFamily="18" charset="2"/>
              </a:rPr>
              <a:t>    = </a:t>
            </a:r>
            <a:r>
              <a:rPr lang="en-US" altLang="zh-CN" sz="1200" b="1" i="1" dirty="0">
                <a:sym typeface="Symbol" panose="05050102010706020507" pitchFamily="18" charset="2"/>
              </a:rPr>
              <a:t>A</a:t>
            </a:r>
            <a:r>
              <a:rPr lang="en-US" altLang="zh-CN" sz="1200" b="1" dirty="0">
                <a:sym typeface="Symbol" panose="05050102010706020507" pitchFamily="18" charset="2"/>
              </a:rPr>
              <a:t>(</a:t>
            </a:r>
            <a:r>
              <a:rPr lang="en-US" altLang="zh-CN" sz="1200" b="1" i="1" dirty="0">
                <a:sym typeface="Symbol" panose="05050102010706020507" pitchFamily="18" charset="2"/>
              </a:rPr>
              <a:t>B</a:t>
            </a:r>
            <a:r>
              <a:rPr lang="en-US" altLang="zh-CN" sz="1200" b="1" dirty="0">
                <a:sym typeface="Symbol" panose="05050102010706020507" pitchFamily="18" charset="2"/>
              </a:rPr>
              <a:t></a:t>
            </a:r>
            <a:r>
              <a:rPr lang="en-US" altLang="zh-CN" sz="1200" b="1" i="1" dirty="0">
                <a:sym typeface="Symbol" panose="05050102010706020507" pitchFamily="18" charset="2"/>
              </a:rPr>
              <a:t>E</a:t>
            </a:r>
            <a:r>
              <a:rPr lang="en-US" altLang="zh-CN" sz="1200" b="1" dirty="0">
                <a:sym typeface="Symbol" panose="05050102010706020507" pitchFamily="18" charset="2"/>
              </a:rPr>
              <a:t>)               (</a:t>
            </a:r>
            <a:r>
              <a:rPr lang="zh-CN" altLang="en-US" sz="1200" b="1" dirty="0">
                <a:sym typeface="Symbol" panose="05050102010706020507" pitchFamily="18" charset="2"/>
              </a:rPr>
              <a:t>交换律)</a:t>
            </a:r>
          </a:p>
          <a:p>
            <a:pPr eaLnBrk="1" hangingPunct="1">
              <a:buFontTx/>
              <a:buNone/>
            </a:pPr>
            <a:r>
              <a:rPr lang="zh-CN" altLang="en-US" sz="1200" b="1" dirty="0">
                <a:sym typeface="Symbol" panose="05050102010706020507" pitchFamily="18" charset="2"/>
              </a:rPr>
              <a:t>    = </a:t>
            </a:r>
            <a:r>
              <a:rPr lang="en-US" altLang="zh-CN" sz="1200" b="1" i="1" dirty="0">
                <a:sym typeface="Symbol" panose="05050102010706020507" pitchFamily="18" charset="2"/>
              </a:rPr>
              <a:t>A</a:t>
            </a:r>
            <a:r>
              <a:rPr lang="en-US" altLang="zh-CN" sz="1200" b="1" dirty="0">
                <a:sym typeface="Symbol" panose="05050102010706020507" pitchFamily="18" charset="2"/>
              </a:rPr>
              <a:t></a:t>
            </a:r>
            <a:r>
              <a:rPr lang="en-US" altLang="zh-CN" sz="1200" b="1" i="1" dirty="0">
                <a:sym typeface="Symbol" panose="05050102010706020507" pitchFamily="18" charset="2"/>
              </a:rPr>
              <a:t>E                        </a:t>
            </a:r>
            <a:r>
              <a:rPr lang="en-US" altLang="zh-CN" sz="1200" b="1" dirty="0">
                <a:sym typeface="Symbol" panose="05050102010706020507" pitchFamily="18" charset="2"/>
              </a:rPr>
              <a:t>(</a:t>
            </a:r>
            <a:r>
              <a:rPr lang="zh-CN" altLang="en-US" sz="1200" b="1" dirty="0">
                <a:sym typeface="Symbol" panose="05050102010706020507" pitchFamily="18" charset="2"/>
              </a:rPr>
              <a:t>零律)</a:t>
            </a:r>
          </a:p>
          <a:p>
            <a:pPr eaLnBrk="1" hangingPunct="1">
              <a:buFontTx/>
              <a:buNone/>
            </a:pPr>
            <a:r>
              <a:rPr lang="zh-CN" altLang="en-US" sz="1200" b="1" dirty="0">
                <a:sym typeface="Symbol" panose="05050102010706020507" pitchFamily="18" charset="2"/>
              </a:rPr>
              <a:t>    = </a:t>
            </a:r>
            <a:r>
              <a:rPr lang="en-US" altLang="zh-CN" sz="1200" b="1" i="1" dirty="0">
                <a:sym typeface="Symbol" panose="05050102010706020507" pitchFamily="18" charset="2"/>
              </a:rPr>
              <a:t>A                              </a:t>
            </a:r>
            <a:r>
              <a:rPr lang="en-US" altLang="zh-CN" sz="1200" b="1" dirty="0">
                <a:sym typeface="Symbol" panose="05050102010706020507" pitchFamily="18" charset="2"/>
              </a:rPr>
              <a:t>(</a:t>
            </a:r>
            <a:r>
              <a:rPr lang="zh-CN" altLang="en-US" sz="1200" b="1" dirty="0">
                <a:sym typeface="Symbol" panose="05050102010706020507" pitchFamily="18" charset="2"/>
              </a:rPr>
              <a:t>同一律)</a:t>
            </a:r>
          </a:p>
          <a:p>
            <a:pPr eaLnBrk="1" hangingPunct="1">
              <a:spcBef>
                <a:spcPct val="60000"/>
              </a:spcBef>
              <a:buFontTx/>
              <a:buNone/>
            </a:pPr>
            <a:r>
              <a:rPr lang="zh-CN" altLang="en-US" sz="1200" b="1" dirty="0">
                <a:sym typeface="Symbol" panose="05050102010706020507" pitchFamily="18" charset="2"/>
              </a:rPr>
              <a:t>对其余的基本集合恒等式不再一一证明(请自行证明),</a:t>
            </a:r>
          </a:p>
          <a:p>
            <a:pPr eaLnBrk="1" hangingPunct="1">
              <a:buFontTx/>
              <a:buNone/>
            </a:pPr>
            <a:r>
              <a:rPr lang="zh-CN" altLang="en-US" sz="1200" b="1" dirty="0">
                <a:sym typeface="Symbol" panose="05050102010706020507" pitchFamily="18" charset="2"/>
              </a:rPr>
              <a:t>今后把它们作为已知的集合等式使用.</a:t>
            </a:r>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21</a:t>
            </a:fld>
            <a:endParaRPr lang="zh-CN" altLang="en-US"/>
          </a:p>
        </p:txBody>
      </p:sp>
    </p:spTree>
    <p:extLst>
      <p:ext uri="{BB962C8B-B14F-4D97-AF65-F5344CB8AC3E}">
        <p14:creationId xmlns:p14="http://schemas.microsoft.com/office/powerpoint/2010/main" val="1219821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B61FF"/>
                </a:solidFill>
                <a:sym typeface="Symbol" panose="05050102010706020507" pitchFamily="18" charset="2"/>
              </a:rPr>
              <a:t>1</a:t>
            </a:r>
            <a:r>
              <a:rPr lang="en-US" altLang="zh-CN" sz="1200" dirty="0">
                <a:solidFill>
                  <a:srgbClr val="0B61FF"/>
                </a:solidFill>
                <a:sym typeface="Symbol" panose="05050102010706020507" pitchFamily="18" charset="2"/>
              </a:rPr>
              <a:t>3</a:t>
            </a:r>
            <a:r>
              <a:rPr lang="zh-CN" altLang="en-US" sz="1200" dirty="0">
                <a:solidFill>
                  <a:srgbClr val="0B61FF"/>
                </a:solidFill>
                <a:sym typeface="Symbol" panose="05050102010706020507" pitchFamily="18" charset="2"/>
              </a:rPr>
              <a:t>. </a:t>
            </a:r>
            <a:r>
              <a:rPr lang="en-US" altLang="zh-CN" sz="1200" dirty="0"/>
              <a:t>Complement and Intersection Conversion Law:    </a:t>
            </a:r>
            <a:r>
              <a:rPr lang="en-US" altLang="zh-CN" sz="1200" b="1" i="1" dirty="0">
                <a:cs typeface="Times New Roman" panose="02020603050405020304" pitchFamily="18" charset="0"/>
              </a:rPr>
              <a:t>A</a:t>
            </a:r>
            <a:r>
              <a:rPr lang="en-US" altLang="zh-CN" sz="12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sym typeface="Symbol" panose="05050102010706020507" pitchFamily="18" charset="2"/>
              </a:rPr>
              <a:t>= </a:t>
            </a:r>
            <a:r>
              <a:rPr lang="en-US" altLang="zh-CN" sz="1200" b="1" i="1" dirty="0">
                <a:cs typeface="Times New Roman" panose="02020603050405020304" pitchFamily="18" charset="0"/>
              </a:rPr>
              <a:t>A</a:t>
            </a:r>
            <a:r>
              <a:rPr lang="en-US" altLang="zh-CN" sz="1200" b="1" dirty="0">
                <a:cs typeface="Times New Roman" panose="02020603050405020304" pitchFamily="18" charset="0"/>
                <a:sym typeface="Symbol" panose="05050102010706020507" pitchFamily="18" charset="2"/>
              </a:rPr>
              <a:t>∩</a:t>
            </a:r>
            <a:r>
              <a:rPr lang="en-US" altLang="zh-CN" sz="1200" b="1" i="1" dirty="0">
                <a:cs typeface="Times New Roman" panose="02020603050405020304" pitchFamily="18" charset="0"/>
              </a:rPr>
              <a:t>B</a:t>
            </a:r>
            <a:endParaRPr lang="zh-CN" altLang="en-US" sz="1200" b="1"/>
          </a:p>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22</a:t>
            </a:fld>
            <a:endParaRPr lang="zh-CN" altLang="en-US"/>
          </a:p>
        </p:txBody>
      </p:sp>
    </p:spTree>
    <p:extLst>
      <p:ext uri="{BB962C8B-B14F-4D97-AF65-F5344CB8AC3E}">
        <p14:creationId xmlns:p14="http://schemas.microsoft.com/office/powerpoint/2010/main" val="761703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23</a:t>
            </a:fld>
            <a:endParaRPr lang="zh-CN" altLang="en-US"/>
          </a:p>
        </p:txBody>
      </p:sp>
    </p:spTree>
    <p:extLst>
      <p:ext uri="{BB962C8B-B14F-4D97-AF65-F5344CB8AC3E}">
        <p14:creationId xmlns:p14="http://schemas.microsoft.com/office/powerpoint/2010/main" val="30113205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solidFill>
                  <a:srgbClr val="800000"/>
                </a:solidFill>
              </a:rPr>
              <a:t>例7</a:t>
            </a:r>
            <a:r>
              <a:rPr lang="zh-CN" altLang="en-US" sz="1200" b="1" dirty="0"/>
              <a:t> 设</a:t>
            </a:r>
            <a:r>
              <a:rPr lang="en-US" altLang="zh-CN" sz="1200" b="1" i="1" dirty="0"/>
              <a:t>A,B</a:t>
            </a:r>
            <a:r>
              <a:rPr lang="zh-CN" altLang="en-US" sz="1200" b="1" dirty="0"/>
              <a:t>为任意集合, 幂集分别为</a:t>
            </a:r>
            <a:r>
              <a:rPr lang="en-US" altLang="zh-CN" sz="1200" b="1" i="1" dirty="0"/>
              <a:t>P</a:t>
            </a:r>
            <a:r>
              <a:rPr lang="en-US" altLang="zh-CN" sz="1200" b="1" dirty="0"/>
              <a:t>(</a:t>
            </a:r>
            <a:r>
              <a:rPr lang="en-US" altLang="zh-CN" sz="1200" b="1" i="1" dirty="0"/>
              <a:t>A</a:t>
            </a:r>
            <a:r>
              <a:rPr lang="en-US" altLang="zh-CN" sz="1200" b="1" dirty="0"/>
              <a:t>)</a:t>
            </a:r>
            <a:r>
              <a:rPr lang="zh-CN" altLang="en-US" sz="1200" b="1" dirty="0">
                <a:sym typeface="Symbol" panose="05050102010706020507" pitchFamily="18" charset="2"/>
              </a:rPr>
              <a:t>、</a:t>
            </a:r>
            <a:r>
              <a:rPr lang="en-US" altLang="zh-CN" sz="1200" b="1" i="1" dirty="0"/>
              <a:t>P</a:t>
            </a:r>
            <a:r>
              <a:rPr lang="en-US" altLang="zh-CN" sz="1200" b="1" dirty="0"/>
              <a:t>(</a:t>
            </a:r>
            <a:r>
              <a:rPr lang="en-US" altLang="zh-CN" sz="1200" b="1" i="1" dirty="0"/>
              <a:t>B</a:t>
            </a:r>
            <a:r>
              <a:rPr lang="en-US" altLang="zh-CN" sz="1200" b="1" dirty="0"/>
              <a:t>)</a:t>
            </a:r>
            <a:r>
              <a:rPr lang="zh-CN" altLang="en-US" sz="1200" b="1" dirty="0"/>
              <a:t>，证明:</a:t>
            </a:r>
            <a:endParaRPr lang="en-US" altLang="zh-CN" sz="1200" b="1" dirty="0"/>
          </a:p>
          <a:p>
            <a:pPr eaLnBrk="1" hangingPunct="1">
              <a:buFontTx/>
              <a:buNone/>
            </a:pPr>
            <a:r>
              <a:rPr lang="zh-CN" altLang="en-US" sz="1200" b="1" dirty="0"/>
              <a:t>     若</a:t>
            </a:r>
            <a:r>
              <a:rPr lang="en-US" altLang="zh-CN" sz="1200" b="1" i="1" dirty="0"/>
              <a:t>A</a:t>
            </a:r>
            <a:r>
              <a:rPr lang="en-US" altLang="zh-CN" sz="1200" b="1" dirty="0">
                <a:sym typeface="Symbol" panose="05050102010706020507" pitchFamily="18" charset="2"/>
              </a:rPr>
              <a:t></a:t>
            </a:r>
            <a:r>
              <a:rPr lang="en-US" altLang="zh-CN" sz="1200" b="1" i="1" dirty="0"/>
              <a:t>B, </a:t>
            </a:r>
            <a:r>
              <a:rPr lang="zh-CN" altLang="en-US" sz="1200" b="1" dirty="0"/>
              <a:t>则</a:t>
            </a:r>
            <a:r>
              <a:rPr lang="en-US" altLang="zh-CN" sz="1200" b="1" i="1" dirty="0"/>
              <a:t>P</a:t>
            </a:r>
            <a:r>
              <a:rPr lang="en-US" altLang="zh-CN" sz="1200" b="1" dirty="0"/>
              <a:t>(</a:t>
            </a:r>
            <a:r>
              <a:rPr lang="en-US" altLang="zh-CN" sz="1200" b="1" i="1" dirty="0"/>
              <a:t>A</a:t>
            </a:r>
            <a:r>
              <a:rPr lang="en-US" altLang="zh-CN" sz="1200" b="1" dirty="0"/>
              <a:t>)</a:t>
            </a:r>
            <a:r>
              <a:rPr lang="en-US" altLang="zh-CN" sz="1200" b="1" dirty="0">
                <a:sym typeface="Symbol" panose="05050102010706020507" pitchFamily="18" charset="2"/>
              </a:rPr>
              <a:t></a:t>
            </a:r>
            <a:r>
              <a:rPr lang="en-US" altLang="zh-CN" sz="1200" b="1" i="1" dirty="0"/>
              <a:t>P</a:t>
            </a:r>
            <a:r>
              <a:rPr lang="en-US" altLang="zh-CN" sz="1200" b="1" dirty="0"/>
              <a:t>(</a:t>
            </a:r>
            <a:r>
              <a:rPr lang="en-US" altLang="zh-CN" sz="1200" b="1" i="1" dirty="0"/>
              <a:t>B</a:t>
            </a:r>
            <a:r>
              <a:rPr lang="en-US" altLang="zh-CN" sz="1200" b="1" dirty="0"/>
              <a:t>)</a:t>
            </a:r>
          </a:p>
          <a:p>
            <a:pPr eaLnBrk="1" hangingPunct="1">
              <a:buFontTx/>
              <a:buNone/>
            </a:pPr>
            <a:r>
              <a:rPr lang="zh-CN" altLang="en-US" sz="1200" b="1" dirty="0"/>
              <a:t>证 </a:t>
            </a:r>
            <a:r>
              <a:rPr lang="en-US" altLang="zh-CN" sz="1200" b="1" dirty="0">
                <a:sym typeface="Symbol" panose="05050102010706020507" pitchFamily="18" charset="2"/>
              </a:rPr>
              <a:t></a:t>
            </a:r>
            <a:r>
              <a:rPr lang="en-US" altLang="zh-CN" sz="1200" b="1" i="1" dirty="0">
                <a:sym typeface="Symbol" panose="05050102010706020507" pitchFamily="18" charset="2"/>
              </a:rPr>
              <a:t>x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t>P</a:t>
            </a:r>
            <a:r>
              <a:rPr lang="en-US" altLang="zh-CN" sz="1200" b="1" dirty="0"/>
              <a:t>(</a:t>
            </a:r>
            <a:r>
              <a:rPr lang="en-US" altLang="zh-CN" sz="1200" b="1" i="1" dirty="0"/>
              <a:t>A</a:t>
            </a:r>
            <a:r>
              <a:rPr lang="en-US" altLang="zh-CN" sz="1200" b="1" dirty="0"/>
              <a:t>) </a:t>
            </a:r>
            <a:r>
              <a:rPr lang="en-US" altLang="zh-CN" sz="1200" b="1" dirty="0">
                <a:solidFill>
                  <a:srgbClr val="333300"/>
                </a:solidFill>
                <a:sym typeface="Symbol" panose="05050102010706020507" pitchFamily="18" charset="2"/>
              </a:rPr>
              <a:t>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t>A</a:t>
            </a:r>
            <a:endParaRPr lang="zh-CN" altLang="en-US" sz="1200" b="1" dirty="0"/>
          </a:p>
          <a:p>
            <a:pPr eaLnBrk="1" hangingPunct="1">
              <a:buFontTx/>
              <a:buNone/>
            </a:pPr>
            <a:r>
              <a:rPr lang="en-US" altLang="zh-CN" sz="1200" b="1" dirty="0">
                <a:sym typeface="Symbol" panose="05050102010706020507" pitchFamily="18" charset="2"/>
              </a:rPr>
              <a:t>                          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t>B</a:t>
            </a:r>
            <a:r>
              <a:rPr lang="en-US" altLang="zh-CN" sz="1200" b="1" i="1" dirty="0"/>
              <a:t>                   </a:t>
            </a:r>
            <a:r>
              <a:rPr lang="en-US" altLang="zh-CN" sz="1200" b="1" dirty="0"/>
              <a:t>(</a:t>
            </a:r>
            <a:r>
              <a:rPr lang="zh-CN" altLang="en-US" sz="1200" b="1" dirty="0"/>
              <a:t>已知</a:t>
            </a:r>
            <a:r>
              <a:rPr lang="en-US" altLang="zh-CN" sz="1200" b="1" i="1" dirty="0"/>
              <a:t>A</a:t>
            </a:r>
            <a:r>
              <a:rPr lang="en-US" altLang="zh-CN" sz="1200" b="1" dirty="0">
                <a:sym typeface="Symbol" panose="05050102010706020507" pitchFamily="18" charset="2"/>
              </a:rPr>
              <a:t></a:t>
            </a:r>
            <a:r>
              <a:rPr lang="en-US" altLang="zh-CN" sz="1200" b="1" i="1" dirty="0"/>
              <a:t>B</a:t>
            </a:r>
            <a:r>
              <a:rPr lang="zh-CN" altLang="en-US" sz="1200" b="1" dirty="0"/>
              <a:t>)</a:t>
            </a:r>
          </a:p>
          <a:p>
            <a:pPr eaLnBrk="1" hangingPunct="1">
              <a:buFontTx/>
              <a:buNone/>
            </a:pPr>
            <a:r>
              <a:rPr lang="en-US" altLang="zh-CN" sz="1200" b="1" dirty="0">
                <a:solidFill>
                  <a:srgbClr val="333300"/>
                </a:solidFill>
                <a:sym typeface="Symbol" panose="05050102010706020507" pitchFamily="18" charset="2"/>
              </a:rPr>
              <a:t>                           </a:t>
            </a:r>
            <a:r>
              <a:rPr lang="en-US" altLang="zh-CN" sz="1200" b="1" i="1" dirty="0" err="1">
                <a:sym typeface="Symbol" panose="05050102010706020507" pitchFamily="18" charset="2"/>
              </a:rPr>
              <a:t>x</a:t>
            </a:r>
            <a:r>
              <a:rPr lang="en-US" altLang="zh-CN" sz="1200" b="1" dirty="0" err="1">
                <a:sym typeface="Symbol" panose="05050102010706020507" pitchFamily="18" charset="2"/>
              </a:rPr>
              <a:t></a:t>
            </a:r>
            <a:r>
              <a:rPr lang="en-US" altLang="zh-CN" sz="1200" b="1" i="1" dirty="0" err="1"/>
              <a:t>P</a:t>
            </a:r>
            <a:r>
              <a:rPr lang="en-US" altLang="zh-CN" sz="1200" b="1" dirty="0"/>
              <a:t>(</a:t>
            </a:r>
            <a:r>
              <a:rPr lang="en-US" altLang="zh-CN" sz="1200" b="1" i="1" dirty="0"/>
              <a:t>B</a:t>
            </a:r>
            <a:r>
              <a:rPr lang="en-US" altLang="zh-CN" sz="1200" b="1" dirty="0"/>
              <a:t>)</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24</a:t>
            </a:fld>
            <a:endParaRPr lang="zh-CN" altLang="en-US"/>
          </a:p>
        </p:txBody>
      </p:sp>
    </p:spTree>
    <p:extLst>
      <p:ext uri="{BB962C8B-B14F-4D97-AF65-F5344CB8AC3E}">
        <p14:creationId xmlns:p14="http://schemas.microsoft.com/office/powerpoint/2010/main" val="1914120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25</a:t>
            </a:fld>
            <a:endParaRPr lang="zh-CN" altLang="en-US"/>
          </a:p>
        </p:txBody>
      </p:sp>
    </p:spTree>
    <p:extLst>
      <p:ext uri="{BB962C8B-B14F-4D97-AF65-F5344CB8AC3E}">
        <p14:creationId xmlns:p14="http://schemas.microsoft.com/office/powerpoint/2010/main" val="756073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50000"/>
              </a:lnSpc>
              <a:buFontTx/>
              <a:buNone/>
            </a:pPr>
            <a:r>
              <a:rPr lang="zh-CN" altLang="en-US" b="1" dirty="0">
                <a:sym typeface="Symbol" panose="05050102010706020507" pitchFamily="18" charset="2"/>
              </a:rPr>
              <a:t> </a:t>
            </a:r>
            <a:r>
              <a:rPr lang="zh-CN" altLang="en-US" b="1" dirty="0"/>
              <a:t>直接证明法              </a:t>
            </a:r>
            <a:r>
              <a:rPr lang="zh-CN" altLang="en-US" b="1" dirty="0">
                <a:sym typeface="Symbol" panose="05050102010706020507" pitchFamily="18" charset="2"/>
              </a:rPr>
              <a:t>  </a:t>
            </a:r>
            <a:r>
              <a:rPr lang="zh-CN" altLang="en-US" b="1" dirty="0"/>
              <a:t>间接证明法</a:t>
            </a:r>
          </a:p>
          <a:p>
            <a:pPr eaLnBrk="1" hangingPunct="1">
              <a:lnSpc>
                <a:spcPct val="150000"/>
              </a:lnSpc>
              <a:buFont typeface="Symbol" panose="05050102010706020507" pitchFamily="18" charset="2"/>
              <a:buChar char="·"/>
            </a:pPr>
            <a:r>
              <a:rPr lang="zh-CN" altLang="en-US" b="1" dirty="0"/>
              <a:t>归谬法(反证法)       </a:t>
            </a:r>
            <a:r>
              <a:rPr lang="zh-CN" altLang="en-US" b="1" dirty="0">
                <a:sym typeface="Symbol" panose="05050102010706020507" pitchFamily="18" charset="2"/>
              </a:rPr>
              <a:t></a:t>
            </a:r>
            <a:r>
              <a:rPr lang="zh-CN" altLang="en-US" b="1" dirty="0"/>
              <a:t> 穷举法 </a:t>
            </a:r>
            <a:endParaRPr lang="en-US" altLang="zh-CN" b="1" dirty="0"/>
          </a:p>
          <a:p>
            <a:pPr eaLnBrk="1" hangingPunct="1">
              <a:lnSpc>
                <a:spcPct val="150000"/>
              </a:lnSpc>
              <a:buFont typeface="Symbol" panose="05050102010706020507" pitchFamily="18" charset="2"/>
              <a:buChar char="·"/>
            </a:pPr>
            <a:r>
              <a:rPr lang="zh-CN" altLang="en-US" b="1" dirty="0"/>
              <a:t>构造证明法              </a:t>
            </a:r>
            <a:r>
              <a:rPr lang="zh-CN" altLang="en-US" b="1" dirty="0">
                <a:sym typeface="Symbol" panose="05050102010706020507" pitchFamily="18" charset="2"/>
              </a:rPr>
              <a:t></a:t>
            </a:r>
            <a:r>
              <a:rPr lang="zh-CN" altLang="en-US" b="1" dirty="0"/>
              <a:t> 空证明法 </a:t>
            </a:r>
            <a:endParaRPr lang="en-US" altLang="zh-CN" b="1" dirty="0"/>
          </a:p>
          <a:p>
            <a:pPr eaLnBrk="1" hangingPunct="1">
              <a:lnSpc>
                <a:spcPct val="150000"/>
              </a:lnSpc>
              <a:buFont typeface="Symbol" panose="05050102010706020507" pitchFamily="18" charset="2"/>
              <a:buChar char="·"/>
            </a:pPr>
            <a:r>
              <a:rPr lang="zh-CN" altLang="en-US" b="1" dirty="0"/>
              <a:t>平凡证明法              </a:t>
            </a:r>
            <a:r>
              <a:rPr lang="zh-CN" altLang="en-US" b="1" dirty="0">
                <a:sym typeface="Symbol" panose="05050102010706020507" pitchFamily="18" charset="2"/>
              </a:rPr>
              <a:t>  </a:t>
            </a:r>
            <a:r>
              <a:rPr lang="zh-CN" altLang="en-US" b="1" dirty="0"/>
              <a:t>数学归纳法</a:t>
            </a:r>
          </a:p>
          <a:p>
            <a:pPr eaLnBrk="1" hangingPunct="1">
              <a:lnSpc>
                <a:spcPct val="150000"/>
              </a:lnSpc>
              <a:buFontTx/>
              <a:buNone/>
            </a:pPr>
            <a:r>
              <a:rPr lang="zh-CN" altLang="en-US" b="1" dirty="0">
                <a:sym typeface="Symbol" panose="05050102010706020507" pitchFamily="18" charset="2"/>
              </a:rPr>
              <a:t></a:t>
            </a:r>
            <a:r>
              <a:rPr lang="zh-CN" altLang="en-US" b="1" dirty="0"/>
              <a:t> 举反例</a:t>
            </a:r>
            <a:r>
              <a:rPr lang="en-US" altLang="zh-CN" b="1" dirty="0">
                <a:cs typeface="Times New Roman" panose="02020603050405020304" pitchFamily="18" charset="0"/>
              </a:rPr>
              <a:t>—</a:t>
            </a:r>
            <a:r>
              <a:rPr lang="zh-CN" altLang="en-US" b="1" dirty="0"/>
              <a:t>命题为假的证明</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26</a:t>
            </a:fld>
            <a:endParaRPr lang="zh-CN" altLang="en-US"/>
          </a:p>
        </p:txBody>
      </p:sp>
    </p:spTree>
    <p:extLst>
      <p:ext uri="{BB962C8B-B14F-4D97-AF65-F5344CB8AC3E}">
        <p14:creationId xmlns:p14="http://schemas.microsoft.com/office/powerpoint/2010/main" val="34780127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609600" indent="-609600" eaLnBrk="1" hangingPunct="1">
              <a:spcBef>
                <a:spcPct val="50000"/>
              </a:spcBef>
              <a:buFontTx/>
              <a:buNone/>
            </a:pPr>
            <a:r>
              <a:rPr lang="zh-CN" altLang="en-US" sz="1200" b="1" dirty="0"/>
              <a:t>形式1</a:t>
            </a:r>
            <a:r>
              <a:rPr lang="en-US" altLang="zh-CN" sz="1200" b="1" dirty="0"/>
              <a:t>.   </a:t>
            </a:r>
            <a:r>
              <a:rPr lang="zh-CN" altLang="en-US" sz="1200" b="1" dirty="0"/>
              <a:t>若</a:t>
            </a:r>
            <a:r>
              <a:rPr lang="en-US" altLang="zh-CN" sz="1200" b="1" i="1" dirty="0"/>
              <a:t>A</a:t>
            </a:r>
            <a:r>
              <a:rPr lang="en-US" altLang="zh-CN" sz="1200" b="1" dirty="0"/>
              <a:t>, </a:t>
            </a:r>
            <a:r>
              <a:rPr lang="zh-CN" altLang="en-US" sz="1200" b="1" dirty="0"/>
              <a:t>则</a:t>
            </a:r>
            <a:r>
              <a:rPr lang="en-US" altLang="zh-CN" sz="1200" b="1" i="1" dirty="0"/>
              <a:t>B</a:t>
            </a:r>
            <a:r>
              <a:rPr lang="en-US" altLang="zh-CN" sz="1200" b="1" dirty="0"/>
              <a:t>                   </a:t>
            </a:r>
            <a:r>
              <a:rPr lang="en-US" altLang="zh-CN" sz="1200" b="1" i="1" dirty="0"/>
              <a:t>A</a:t>
            </a:r>
            <a:r>
              <a:rPr lang="en-US" altLang="zh-CN" sz="1200" b="1" dirty="0">
                <a:sym typeface="Symbol" panose="05050102010706020507" pitchFamily="18" charset="2"/>
              </a:rPr>
              <a:t></a:t>
            </a:r>
            <a:r>
              <a:rPr lang="en-US" altLang="zh-CN" sz="1200" b="1" i="1" dirty="0"/>
              <a:t>B</a:t>
            </a:r>
            <a:r>
              <a:rPr lang="en-US" altLang="zh-CN" sz="1200" b="1" dirty="0"/>
              <a:t> </a:t>
            </a:r>
          </a:p>
          <a:p>
            <a:pPr marL="609600" indent="-609600" eaLnBrk="1" hangingPunct="1">
              <a:spcBef>
                <a:spcPct val="50000"/>
              </a:spcBef>
              <a:buFontTx/>
              <a:buNone/>
            </a:pPr>
            <a:r>
              <a:rPr lang="zh-CN" altLang="en-US" sz="1200" b="1" dirty="0"/>
              <a:t>形式2</a:t>
            </a:r>
            <a:r>
              <a:rPr lang="en-US" altLang="zh-CN" sz="1200" b="1" dirty="0"/>
              <a:t>.    </a:t>
            </a:r>
            <a:r>
              <a:rPr lang="en-US" altLang="zh-CN" sz="1200" b="1" i="1" dirty="0"/>
              <a:t>A</a:t>
            </a:r>
            <a:r>
              <a:rPr lang="zh-CN" altLang="en-US" sz="1200" b="1" dirty="0"/>
              <a:t>当且仅当</a:t>
            </a:r>
            <a:r>
              <a:rPr lang="en-US" altLang="zh-CN" sz="1200" b="1" i="1" dirty="0"/>
              <a:t>B</a:t>
            </a:r>
            <a:r>
              <a:rPr lang="en-US" altLang="zh-CN" sz="1200" b="1" dirty="0"/>
              <a:t>             </a:t>
            </a:r>
            <a:r>
              <a:rPr lang="en-US" altLang="zh-CN" sz="1200" b="1" i="1" dirty="0"/>
              <a:t>A</a:t>
            </a:r>
            <a:r>
              <a:rPr lang="en-US" altLang="zh-CN" sz="1200" b="1" dirty="0">
                <a:sym typeface="Symbol" panose="05050102010706020507" pitchFamily="18" charset="2"/>
              </a:rPr>
              <a:t></a:t>
            </a:r>
            <a:r>
              <a:rPr lang="en-US" altLang="zh-CN" sz="1200" b="1" i="1" dirty="0"/>
              <a:t>B</a:t>
            </a:r>
            <a:endParaRPr lang="en-US" altLang="zh-CN" sz="1200" b="1" dirty="0"/>
          </a:p>
          <a:p>
            <a:pPr marL="609600" indent="-609600" eaLnBrk="1" hangingPunct="1">
              <a:spcBef>
                <a:spcPct val="50000"/>
              </a:spcBef>
              <a:buFontTx/>
              <a:buNone/>
            </a:pPr>
            <a:r>
              <a:rPr lang="zh-CN" altLang="en-US" sz="1200" b="1" dirty="0"/>
              <a:t>形式3</a:t>
            </a:r>
            <a:r>
              <a:rPr lang="en-US" altLang="zh-CN" sz="1200" b="1" dirty="0"/>
              <a:t>.    </a:t>
            </a:r>
            <a:r>
              <a:rPr lang="zh-CN" altLang="en-US" sz="1200" b="1" dirty="0"/>
              <a:t>证明</a:t>
            </a:r>
            <a:r>
              <a:rPr lang="en-US" altLang="zh-CN" sz="1200" b="1" i="1" dirty="0"/>
              <a:t>B</a:t>
            </a:r>
            <a:r>
              <a:rPr lang="en-US" altLang="zh-CN" sz="1200" b="1" dirty="0"/>
              <a:t>                        </a:t>
            </a:r>
            <a:r>
              <a:rPr lang="en-US" altLang="zh-CN" sz="1200" b="1" i="1" dirty="0" err="1"/>
              <a:t>B</a:t>
            </a:r>
            <a:endParaRPr lang="en-US" altLang="zh-CN" sz="1200" b="1" i="1" dirty="0"/>
          </a:p>
          <a:p>
            <a:pPr marL="609600" indent="-609600" eaLnBrk="1" hangingPunct="1">
              <a:spcBef>
                <a:spcPct val="50000"/>
              </a:spcBef>
              <a:buFontTx/>
              <a:buNone/>
            </a:pPr>
            <a:r>
              <a:rPr lang="zh-CN" altLang="en-US" sz="1200" b="1" dirty="0"/>
              <a:t>都可归结为形式1</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27</a:t>
            </a:fld>
            <a:endParaRPr lang="zh-CN" altLang="en-US"/>
          </a:p>
        </p:txBody>
      </p:sp>
    </p:spTree>
    <p:extLst>
      <p:ext uri="{BB962C8B-B14F-4D97-AF65-F5344CB8AC3E}">
        <p14:creationId xmlns:p14="http://schemas.microsoft.com/office/powerpoint/2010/main" val="40545005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solidFill>
                  <a:srgbClr val="FF0000"/>
                </a:solidFill>
              </a:rPr>
              <a:t>做法</a:t>
            </a:r>
            <a:r>
              <a:rPr lang="zh-CN" altLang="en-US" sz="1200" b="1" dirty="0"/>
              <a:t>  假设</a:t>
            </a:r>
            <a:r>
              <a:rPr lang="en-US" altLang="zh-CN" sz="1200" b="1" i="1" dirty="0"/>
              <a:t>A</a:t>
            </a:r>
            <a:r>
              <a:rPr lang="zh-CN" altLang="en-US" sz="1200" b="1" dirty="0"/>
              <a:t>为真, 证明</a:t>
            </a:r>
            <a:r>
              <a:rPr lang="en-US" altLang="zh-CN" sz="1200" b="1" i="1" dirty="0"/>
              <a:t>B</a:t>
            </a:r>
            <a:r>
              <a:rPr lang="zh-CN" altLang="en-US" sz="1200" b="1" dirty="0"/>
              <a:t>为真</a:t>
            </a:r>
            <a:r>
              <a:rPr lang="en-US" altLang="zh-CN" sz="1200" b="1" dirty="0"/>
              <a:t>.</a:t>
            </a:r>
            <a:r>
              <a:rPr lang="zh-CN" altLang="en-US" sz="1200" b="1" dirty="0"/>
              <a:t> </a:t>
            </a:r>
          </a:p>
          <a:p>
            <a:pPr eaLnBrk="1" hangingPunct="1">
              <a:buFontTx/>
              <a:buNone/>
            </a:pPr>
            <a:endParaRPr lang="zh-CN" altLang="en-US" sz="1200" b="1" dirty="0">
              <a:sym typeface="Symbol" panose="05050102010706020507" pitchFamily="18" charset="2"/>
            </a:endParaRPr>
          </a:p>
          <a:p>
            <a:pPr eaLnBrk="1" hangingPunct="1">
              <a:buFontTx/>
              <a:buNone/>
            </a:pPr>
            <a:r>
              <a:rPr lang="zh-CN" altLang="en-US" sz="1200" b="1" dirty="0">
                <a:solidFill>
                  <a:srgbClr val="800000"/>
                </a:solidFill>
                <a:sym typeface="Symbol" panose="05050102010706020507" pitchFamily="18" charset="2"/>
              </a:rPr>
              <a:t>例1</a:t>
            </a:r>
            <a:r>
              <a:rPr lang="zh-CN" altLang="en-US" sz="1200" b="1" dirty="0">
                <a:sym typeface="Symbol" panose="05050102010706020507" pitchFamily="18" charset="2"/>
              </a:rPr>
              <a:t>  若</a:t>
            </a:r>
            <a:r>
              <a:rPr lang="en-US" altLang="zh-CN" sz="1200" b="1" i="1" dirty="0">
                <a:sym typeface="Symbol" panose="05050102010706020507" pitchFamily="18" charset="2"/>
              </a:rPr>
              <a:t>n</a:t>
            </a:r>
            <a:r>
              <a:rPr lang="zh-CN" altLang="en-US" sz="1200" b="1" dirty="0">
                <a:sym typeface="Symbol" panose="05050102010706020507" pitchFamily="18" charset="2"/>
              </a:rPr>
              <a:t>是奇数, 则</a:t>
            </a:r>
            <a:r>
              <a:rPr lang="en-US" altLang="zh-CN" sz="1200" b="1" i="1" dirty="0">
                <a:sym typeface="Symbol" panose="05050102010706020507" pitchFamily="18" charset="2"/>
              </a:rPr>
              <a:t>n</a:t>
            </a:r>
            <a:r>
              <a:rPr lang="en-US" altLang="zh-CN" sz="1200" b="1" baseline="30000" dirty="0">
                <a:sym typeface="Symbol" panose="05050102010706020507" pitchFamily="18" charset="2"/>
              </a:rPr>
              <a:t>2</a:t>
            </a:r>
            <a:r>
              <a:rPr lang="zh-CN" altLang="en-US" sz="1200" b="1" dirty="0">
                <a:sym typeface="Symbol" panose="05050102010706020507" pitchFamily="18" charset="2"/>
              </a:rPr>
              <a:t>也是奇数.</a:t>
            </a:r>
          </a:p>
          <a:p>
            <a:pPr eaLnBrk="1" hangingPunct="1">
              <a:buFontTx/>
              <a:buNone/>
            </a:pPr>
            <a:r>
              <a:rPr lang="zh-CN" altLang="en-US" sz="1200" b="1" dirty="0">
                <a:sym typeface="Symbol" panose="05050102010706020507" pitchFamily="18" charset="2"/>
              </a:rPr>
              <a:t>证  假设</a:t>
            </a:r>
            <a:r>
              <a:rPr lang="en-US" altLang="zh-CN" sz="1200" b="1" i="1" dirty="0">
                <a:sym typeface="Symbol" panose="05050102010706020507" pitchFamily="18" charset="2"/>
              </a:rPr>
              <a:t>n</a:t>
            </a:r>
            <a:r>
              <a:rPr lang="zh-CN" altLang="en-US" sz="1200" b="1" dirty="0">
                <a:sym typeface="Symbol" panose="05050102010706020507" pitchFamily="18" charset="2"/>
              </a:rPr>
              <a:t>是奇数, 则存在</a:t>
            </a:r>
            <a:r>
              <a:rPr lang="en-US" altLang="zh-CN" sz="1200" b="1" i="1" dirty="0" err="1">
                <a:sym typeface="Symbol" panose="05050102010706020507" pitchFamily="18" charset="2"/>
              </a:rPr>
              <a:t>k</a:t>
            </a:r>
            <a:r>
              <a:rPr lang="en-US" altLang="zh-CN" sz="1200" b="1" dirty="0" err="1">
                <a:sym typeface="Symbol" panose="05050102010706020507" pitchFamily="18" charset="2"/>
              </a:rPr>
              <a:t>N</a:t>
            </a:r>
            <a:r>
              <a:rPr lang="en-US" altLang="zh-CN" sz="1200" b="1" dirty="0">
                <a:sym typeface="Symbol" panose="05050102010706020507" pitchFamily="18" charset="2"/>
              </a:rPr>
              <a:t>, </a:t>
            </a:r>
            <a:r>
              <a:rPr lang="en-US" altLang="zh-CN" sz="1200" b="1" i="1" dirty="0">
                <a:sym typeface="Symbol" panose="05050102010706020507" pitchFamily="18" charset="2"/>
              </a:rPr>
              <a:t>n</a:t>
            </a:r>
            <a:r>
              <a:rPr lang="en-US" altLang="zh-CN" sz="1200" b="1" dirty="0">
                <a:sym typeface="Symbol" panose="05050102010706020507" pitchFamily="18" charset="2"/>
              </a:rPr>
              <a:t>=2</a:t>
            </a:r>
            <a:r>
              <a:rPr lang="en-US" altLang="zh-CN" sz="1200" b="1" i="1" dirty="0">
                <a:sym typeface="Symbol" panose="05050102010706020507" pitchFamily="18" charset="2"/>
              </a:rPr>
              <a:t>k</a:t>
            </a:r>
            <a:r>
              <a:rPr lang="en-US" altLang="zh-CN" sz="1200" b="1" dirty="0">
                <a:sym typeface="Symbol" panose="05050102010706020507" pitchFamily="18" charset="2"/>
              </a:rPr>
              <a:t>+1. </a:t>
            </a:r>
            <a:r>
              <a:rPr lang="zh-CN" altLang="en-US" sz="1200" b="1" dirty="0">
                <a:sym typeface="Symbol" panose="05050102010706020507" pitchFamily="18" charset="2"/>
              </a:rPr>
              <a:t>于是,</a:t>
            </a:r>
          </a:p>
          <a:p>
            <a:pPr eaLnBrk="1" hangingPunct="1">
              <a:buFontTx/>
              <a:buNone/>
            </a:pPr>
            <a:r>
              <a:rPr lang="en-US" altLang="zh-CN" sz="1200" b="1" i="1" dirty="0">
                <a:sym typeface="Symbol" panose="05050102010706020507" pitchFamily="18" charset="2"/>
              </a:rPr>
              <a:t>                n</a:t>
            </a:r>
            <a:r>
              <a:rPr lang="en-US" altLang="zh-CN" sz="1200" b="1" baseline="30000" dirty="0">
                <a:sym typeface="Symbol" panose="05050102010706020507" pitchFamily="18" charset="2"/>
              </a:rPr>
              <a:t>2</a:t>
            </a:r>
            <a:r>
              <a:rPr lang="zh-CN" altLang="en-US" sz="1200" b="1" dirty="0">
                <a:sym typeface="Symbol" panose="05050102010706020507" pitchFamily="18" charset="2"/>
              </a:rPr>
              <a:t> = (</a:t>
            </a:r>
            <a:r>
              <a:rPr lang="en-US" altLang="zh-CN" sz="1200" b="1" dirty="0">
                <a:sym typeface="Symbol" panose="05050102010706020507" pitchFamily="18" charset="2"/>
              </a:rPr>
              <a:t>2</a:t>
            </a:r>
            <a:r>
              <a:rPr lang="en-US" altLang="zh-CN" sz="1200" b="1" i="1" dirty="0">
                <a:sym typeface="Symbol" panose="05050102010706020507" pitchFamily="18" charset="2"/>
              </a:rPr>
              <a:t>k</a:t>
            </a:r>
            <a:r>
              <a:rPr lang="en-US" altLang="zh-CN" sz="1200" b="1" dirty="0">
                <a:sym typeface="Symbol" panose="05050102010706020507" pitchFamily="18" charset="2"/>
              </a:rPr>
              <a:t>+1</a:t>
            </a:r>
            <a:r>
              <a:rPr lang="zh-CN" altLang="en-US" sz="1200" b="1" dirty="0">
                <a:sym typeface="Symbol" panose="05050102010706020507" pitchFamily="18" charset="2"/>
              </a:rPr>
              <a:t>)</a:t>
            </a:r>
            <a:r>
              <a:rPr lang="en-US" altLang="zh-CN" sz="1200" b="1" baseline="30000" dirty="0">
                <a:sym typeface="Symbol" panose="05050102010706020507" pitchFamily="18" charset="2"/>
              </a:rPr>
              <a:t>2</a:t>
            </a:r>
            <a:endParaRPr lang="zh-CN" altLang="en-US" sz="1200" b="1" dirty="0">
              <a:sym typeface="Symbol" panose="05050102010706020507" pitchFamily="18" charset="2"/>
            </a:endParaRPr>
          </a:p>
          <a:p>
            <a:pPr eaLnBrk="1" hangingPunct="1">
              <a:buFontTx/>
              <a:buNone/>
            </a:pPr>
            <a:r>
              <a:rPr lang="zh-CN" altLang="en-US" sz="1200" b="1" dirty="0">
                <a:sym typeface="Symbol" panose="05050102010706020507" pitchFamily="18" charset="2"/>
              </a:rPr>
              <a:t>                    = 2(</a:t>
            </a:r>
            <a:r>
              <a:rPr lang="en-US" altLang="zh-CN" sz="1200" b="1" dirty="0">
                <a:sym typeface="Symbol" panose="05050102010706020507" pitchFamily="18" charset="2"/>
              </a:rPr>
              <a:t>2</a:t>
            </a:r>
            <a:r>
              <a:rPr lang="en-US" altLang="zh-CN" sz="1200" b="1" i="1" dirty="0">
                <a:sym typeface="Symbol" panose="05050102010706020507" pitchFamily="18" charset="2"/>
              </a:rPr>
              <a:t>k</a:t>
            </a:r>
            <a:r>
              <a:rPr lang="en-US" altLang="zh-CN" sz="1200" b="1" baseline="30000" dirty="0">
                <a:sym typeface="Symbol" panose="05050102010706020507" pitchFamily="18" charset="2"/>
              </a:rPr>
              <a:t>2</a:t>
            </a:r>
            <a:r>
              <a:rPr lang="zh-CN" altLang="en-US" sz="1200" b="1" dirty="0">
                <a:sym typeface="Symbol" panose="05050102010706020507" pitchFamily="18" charset="2"/>
              </a:rPr>
              <a:t>+</a:t>
            </a:r>
            <a:r>
              <a:rPr lang="en-US" altLang="zh-CN" sz="1200" b="1" dirty="0">
                <a:sym typeface="Symbol" panose="05050102010706020507" pitchFamily="18" charset="2"/>
              </a:rPr>
              <a:t>2</a:t>
            </a:r>
            <a:r>
              <a:rPr lang="en-US" altLang="zh-CN" sz="1200" b="1" i="1" dirty="0">
                <a:sym typeface="Symbol" panose="05050102010706020507" pitchFamily="18" charset="2"/>
              </a:rPr>
              <a:t>k</a:t>
            </a:r>
            <a:r>
              <a:rPr lang="zh-CN" altLang="en-US" sz="1200" b="1" dirty="0">
                <a:sym typeface="Symbol" panose="05050102010706020507" pitchFamily="18" charset="2"/>
              </a:rPr>
              <a:t>)+1</a:t>
            </a:r>
          </a:p>
          <a:p>
            <a:pPr eaLnBrk="1" hangingPunct="1">
              <a:buFontTx/>
              <a:buNone/>
            </a:pPr>
            <a:r>
              <a:rPr lang="zh-CN" altLang="en-US" sz="1200" b="1" dirty="0">
                <a:sym typeface="Symbol" panose="05050102010706020507" pitchFamily="18" charset="2"/>
              </a:rPr>
              <a:t>得证</a:t>
            </a:r>
            <a:r>
              <a:rPr lang="en-US" altLang="zh-CN" sz="1200" b="1" i="1" dirty="0">
                <a:sym typeface="Symbol" panose="05050102010706020507" pitchFamily="18" charset="2"/>
              </a:rPr>
              <a:t>n</a:t>
            </a:r>
            <a:r>
              <a:rPr lang="en-US" altLang="zh-CN" sz="1200" b="1" baseline="30000" dirty="0">
                <a:sym typeface="Symbol" panose="05050102010706020507" pitchFamily="18" charset="2"/>
              </a:rPr>
              <a:t>2</a:t>
            </a:r>
            <a:r>
              <a:rPr lang="zh-CN" altLang="en-US" sz="1200" b="1" dirty="0">
                <a:sym typeface="Symbol" panose="05050102010706020507" pitchFamily="18" charset="2"/>
              </a:rPr>
              <a:t>是奇数.</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28</a:t>
            </a:fld>
            <a:endParaRPr lang="zh-CN" altLang="en-US"/>
          </a:p>
        </p:txBody>
      </p:sp>
    </p:spTree>
    <p:extLst>
      <p:ext uri="{BB962C8B-B14F-4D97-AF65-F5344CB8AC3E}">
        <p14:creationId xmlns:p14="http://schemas.microsoft.com/office/powerpoint/2010/main" val="27350922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buFontTx/>
              <a:buNone/>
            </a:pPr>
            <a:r>
              <a:rPr lang="zh-CN" altLang="en-US" sz="1800" b="1" dirty="0">
                <a:solidFill>
                  <a:srgbClr val="FF0000"/>
                </a:solidFill>
              </a:rPr>
              <a:t>间接证明法</a:t>
            </a:r>
            <a:r>
              <a:rPr lang="zh-CN" altLang="en-US" sz="1800" b="1" dirty="0"/>
              <a:t>是一种广义的证明方法，涵盖了任何不直接从假设推出结论的证明方式。</a:t>
            </a:r>
            <a:endParaRPr lang="en-US" altLang="zh-CN" sz="1800" b="1" dirty="0"/>
          </a:p>
          <a:p>
            <a:pPr marL="0" indent="0" eaLnBrk="1" hangingPunct="1">
              <a:buFontTx/>
              <a:buNone/>
            </a:pPr>
            <a:r>
              <a:rPr lang="zh-CN" altLang="en-US" sz="1800" b="1" dirty="0"/>
              <a:t>事实：</a:t>
            </a:r>
            <a:r>
              <a:rPr lang="zh-CN" altLang="zh-CN" b="1" dirty="0"/>
              <a:t>命题和它的逆否定命题在逻辑上是等价</a:t>
            </a:r>
            <a:endParaRPr lang="en-US" altLang="zh-CN" b="1" dirty="0"/>
          </a:p>
          <a:p>
            <a:pPr eaLnBrk="1" hangingPunct="1">
              <a:buFontTx/>
              <a:buNone/>
            </a:pPr>
            <a:r>
              <a:rPr lang="zh-CN" altLang="en-US" sz="1800" b="1" dirty="0">
                <a:solidFill>
                  <a:srgbClr val="FF0000"/>
                </a:solidFill>
              </a:rPr>
              <a:t>做法：</a:t>
            </a:r>
            <a:r>
              <a:rPr lang="zh-CN" altLang="en-US" b="1" dirty="0"/>
              <a:t>要证明</a:t>
            </a:r>
            <a:r>
              <a:rPr lang="en-US" altLang="zh-CN" b="1" dirty="0">
                <a:sym typeface="Symbol" panose="05050102010706020507" pitchFamily="18" charset="2"/>
              </a:rPr>
              <a:t>“</a:t>
            </a:r>
            <a:r>
              <a:rPr lang="en-US" altLang="zh-CN" b="1" dirty="0"/>
              <a:t>A </a:t>
            </a:r>
            <a:r>
              <a:rPr lang="en-US" altLang="zh-CN" b="1" dirty="0">
                <a:sym typeface="Symbol" panose="05050102010706020507" pitchFamily="18" charset="2"/>
              </a:rPr>
              <a:t> </a:t>
            </a:r>
            <a:r>
              <a:rPr lang="en-US" altLang="zh-CN" b="1" dirty="0"/>
              <a:t>B” </a:t>
            </a:r>
            <a:r>
              <a:rPr lang="zh-CN" altLang="en-US" b="1" dirty="0"/>
              <a:t>， 只需证明</a:t>
            </a:r>
            <a:r>
              <a:rPr lang="en-US" altLang="zh-CN" b="1" dirty="0">
                <a:sym typeface="Symbol" panose="05050102010706020507" pitchFamily="18" charset="2"/>
              </a:rPr>
              <a:t>“</a:t>
            </a:r>
            <a:r>
              <a:rPr lang="en-US" altLang="zh-CN" b="1" dirty="0"/>
              <a:t>¬ B</a:t>
            </a:r>
            <a:r>
              <a:rPr lang="en-US" altLang="zh-CN" b="1" dirty="0">
                <a:sym typeface="Symbol" panose="05050102010706020507" pitchFamily="18" charset="2"/>
              </a:rPr>
              <a:t> </a:t>
            </a:r>
            <a:r>
              <a:rPr lang="en-US" altLang="zh-CN" b="1" dirty="0"/>
              <a:t>¬ A” </a:t>
            </a:r>
            <a:r>
              <a:rPr lang="zh-CN" altLang="en-US" b="1" dirty="0"/>
              <a:t>，即</a:t>
            </a:r>
            <a:endParaRPr lang="en-US" altLang="zh-CN" b="1" dirty="0">
              <a:sym typeface="Symbol" panose="05050102010706020507" pitchFamily="18" charset="2"/>
            </a:endParaRPr>
          </a:p>
          <a:p>
            <a:pPr eaLnBrk="1" hangingPunct="1">
              <a:buFontTx/>
              <a:buNone/>
            </a:pPr>
            <a:r>
              <a:rPr lang="en-US" altLang="zh-CN" b="1" dirty="0">
                <a:sym typeface="Symbol" panose="05050102010706020507" pitchFamily="18" charset="2"/>
              </a:rPr>
              <a:t>“</a:t>
            </a:r>
            <a:r>
              <a:rPr lang="zh-CN" altLang="en-US" b="1" dirty="0">
                <a:sym typeface="Symbol" panose="05050102010706020507" pitchFamily="18" charset="2"/>
              </a:rPr>
              <a:t>若</a:t>
            </a:r>
            <a:r>
              <a:rPr lang="en-US" altLang="zh-CN" b="1" dirty="0">
                <a:sym typeface="Symbol" panose="05050102010706020507" pitchFamily="18" charset="2"/>
              </a:rPr>
              <a:t>B</a:t>
            </a:r>
            <a:r>
              <a:rPr lang="zh-CN" altLang="en-US" b="1" dirty="0">
                <a:sym typeface="Symbol" panose="05050102010706020507" pitchFamily="18" charset="2"/>
              </a:rPr>
              <a:t>不成立</a:t>
            </a:r>
            <a:r>
              <a:rPr lang="en-US" altLang="zh-CN" b="1" dirty="0">
                <a:sym typeface="Symbol" panose="05050102010706020507" pitchFamily="18" charset="2"/>
              </a:rPr>
              <a:t>, </a:t>
            </a:r>
            <a:r>
              <a:rPr lang="zh-CN" altLang="en-US" b="1" dirty="0">
                <a:sym typeface="Symbol" panose="05050102010706020507" pitchFamily="18" charset="2"/>
              </a:rPr>
              <a:t>则</a:t>
            </a:r>
            <a:r>
              <a:rPr lang="en-US" altLang="zh-CN" b="1" dirty="0">
                <a:sym typeface="Symbol" panose="05050102010706020507" pitchFamily="18" charset="2"/>
              </a:rPr>
              <a:t>A</a:t>
            </a:r>
            <a:r>
              <a:rPr lang="zh-CN" altLang="en-US" b="1" dirty="0">
                <a:sym typeface="Symbol" panose="05050102010706020507" pitchFamily="18" charset="2"/>
              </a:rPr>
              <a:t>不成立。</a:t>
            </a:r>
            <a:endParaRPr lang="en-US" altLang="zh-CN" b="1" dirty="0">
              <a:sym typeface="Symbol" panose="05050102010706020507" pitchFamily="18" charset="2"/>
            </a:endParaRPr>
          </a:p>
          <a:p>
            <a:pPr eaLnBrk="1" hangingPunct="1">
              <a:buFontTx/>
              <a:buNone/>
            </a:pPr>
            <a:endParaRPr lang="zh-CN" altLang="en-US" sz="1800" b="1" dirty="0"/>
          </a:p>
          <a:p>
            <a:pPr eaLnBrk="1" hangingPunct="1">
              <a:buFontTx/>
              <a:buNone/>
            </a:pPr>
            <a:r>
              <a:rPr lang="zh-CN" altLang="en-US" sz="1800" b="1" dirty="0">
                <a:solidFill>
                  <a:srgbClr val="800000"/>
                </a:solidFill>
                <a:sym typeface="Symbol" panose="05050102010706020507" pitchFamily="18" charset="2"/>
              </a:rPr>
              <a:t>例2</a:t>
            </a:r>
            <a:r>
              <a:rPr lang="zh-CN" altLang="en-US" sz="1800" b="1" dirty="0">
                <a:sym typeface="Symbol" panose="05050102010706020507" pitchFamily="18" charset="2"/>
              </a:rPr>
              <a:t> 若</a:t>
            </a:r>
            <a:r>
              <a:rPr lang="en-US" altLang="zh-CN" sz="1800" b="1" i="1" dirty="0">
                <a:sym typeface="Symbol" panose="05050102010706020507" pitchFamily="18" charset="2"/>
              </a:rPr>
              <a:t>n</a:t>
            </a:r>
            <a:r>
              <a:rPr lang="en-US" altLang="zh-CN" sz="1800" b="1" baseline="30000" dirty="0">
                <a:sym typeface="Symbol" panose="05050102010706020507" pitchFamily="18" charset="2"/>
              </a:rPr>
              <a:t>2</a:t>
            </a:r>
            <a:r>
              <a:rPr lang="zh-CN" altLang="en-US" sz="1800" b="1" dirty="0">
                <a:sym typeface="Symbol" panose="05050102010706020507" pitchFamily="18" charset="2"/>
              </a:rPr>
              <a:t>是奇数, 则</a:t>
            </a:r>
            <a:r>
              <a:rPr lang="en-US" altLang="zh-CN" sz="1800" b="1" i="1" dirty="0">
                <a:sym typeface="Symbol" panose="05050102010706020507" pitchFamily="18" charset="2"/>
              </a:rPr>
              <a:t>n</a:t>
            </a:r>
            <a:r>
              <a:rPr lang="zh-CN" altLang="en-US" sz="1800" b="1" dirty="0">
                <a:sym typeface="Symbol" panose="05050102010706020507" pitchFamily="18" charset="2"/>
              </a:rPr>
              <a:t>也是奇数.</a:t>
            </a:r>
          </a:p>
          <a:p>
            <a:pPr eaLnBrk="1" hangingPunct="1">
              <a:buFontTx/>
              <a:buNone/>
            </a:pPr>
            <a:r>
              <a:rPr lang="zh-CN" altLang="en-US" sz="1800" b="1" dirty="0">
                <a:sym typeface="Symbol" panose="05050102010706020507" pitchFamily="18" charset="2"/>
              </a:rPr>
              <a:t>证：只要证得:若</a:t>
            </a:r>
            <a:r>
              <a:rPr lang="en-US" altLang="zh-CN" sz="1800" b="1" i="1" dirty="0">
                <a:sym typeface="Symbol" panose="05050102010706020507" pitchFamily="18" charset="2"/>
              </a:rPr>
              <a:t>n</a:t>
            </a:r>
            <a:r>
              <a:rPr lang="zh-CN" altLang="en-US" sz="1800" b="1" dirty="0">
                <a:sym typeface="Symbol" panose="05050102010706020507" pitchFamily="18" charset="2"/>
              </a:rPr>
              <a:t>是偶数, 则</a:t>
            </a:r>
            <a:r>
              <a:rPr lang="en-US" altLang="zh-CN" sz="1800" b="1" i="1" dirty="0">
                <a:sym typeface="Symbol" panose="05050102010706020507" pitchFamily="18" charset="2"/>
              </a:rPr>
              <a:t>n</a:t>
            </a:r>
            <a:r>
              <a:rPr lang="en-US" altLang="zh-CN" sz="1800" b="1" baseline="30000" dirty="0">
                <a:sym typeface="Symbol" panose="05050102010706020507" pitchFamily="18" charset="2"/>
              </a:rPr>
              <a:t>2</a:t>
            </a:r>
            <a:r>
              <a:rPr lang="zh-CN" altLang="en-US" sz="1800" b="1" dirty="0">
                <a:sym typeface="Symbol" panose="05050102010706020507" pitchFamily="18" charset="2"/>
              </a:rPr>
              <a:t>也是偶数.即证得原命题为真。</a:t>
            </a:r>
          </a:p>
          <a:p>
            <a:pPr eaLnBrk="1" hangingPunct="1">
              <a:buFontTx/>
              <a:buNone/>
            </a:pPr>
            <a:r>
              <a:rPr lang="zh-CN" altLang="en-US" sz="1800" b="1" dirty="0">
                <a:sym typeface="Symbol" panose="05050102010706020507" pitchFamily="18" charset="2"/>
              </a:rPr>
              <a:t>假设</a:t>
            </a:r>
            <a:r>
              <a:rPr lang="en-US" altLang="zh-CN" sz="1800" b="1" i="1" dirty="0">
                <a:sym typeface="Symbol" panose="05050102010706020507" pitchFamily="18" charset="2"/>
              </a:rPr>
              <a:t>n</a:t>
            </a:r>
            <a:r>
              <a:rPr lang="zh-CN" altLang="en-US" sz="1800" b="1" dirty="0">
                <a:sym typeface="Symbol" panose="05050102010706020507" pitchFamily="18" charset="2"/>
              </a:rPr>
              <a:t>是偶数, 则存在</a:t>
            </a:r>
            <a:r>
              <a:rPr lang="en-US" altLang="zh-CN" sz="1800" b="1" i="1" dirty="0" err="1">
                <a:sym typeface="Symbol" panose="05050102010706020507" pitchFamily="18" charset="2"/>
              </a:rPr>
              <a:t>k</a:t>
            </a:r>
            <a:r>
              <a:rPr lang="en-US" altLang="zh-CN" sz="1800" b="1" dirty="0" err="1">
                <a:sym typeface="Symbol" panose="05050102010706020507" pitchFamily="18" charset="2"/>
              </a:rPr>
              <a:t>N</a:t>
            </a:r>
            <a:r>
              <a:rPr lang="en-US" altLang="zh-CN" sz="1800" b="1" dirty="0">
                <a:sym typeface="Symbol" panose="05050102010706020507" pitchFamily="18" charset="2"/>
              </a:rPr>
              <a:t>, </a:t>
            </a:r>
            <a:r>
              <a:rPr lang="en-US" altLang="zh-CN" sz="1800" b="1" i="1" dirty="0">
                <a:sym typeface="Symbol" panose="05050102010706020507" pitchFamily="18" charset="2"/>
              </a:rPr>
              <a:t>n</a:t>
            </a:r>
            <a:r>
              <a:rPr lang="en-US" altLang="zh-CN" sz="1800" b="1" dirty="0">
                <a:sym typeface="Symbol" panose="05050102010706020507" pitchFamily="18" charset="2"/>
              </a:rPr>
              <a:t>=2</a:t>
            </a:r>
            <a:r>
              <a:rPr lang="en-US" altLang="zh-CN" sz="1800" b="1" i="1" dirty="0">
                <a:sym typeface="Symbol" panose="05050102010706020507" pitchFamily="18" charset="2"/>
              </a:rPr>
              <a:t>k</a:t>
            </a:r>
            <a:r>
              <a:rPr lang="en-US" altLang="zh-CN" sz="1800" b="1" dirty="0">
                <a:sym typeface="Symbol" panose="05050102010706020507" pitchFamily="18" charset="2"/>
              </a:rPr>
              <a:t>. </a:t>
            </a:r>
            <a:r>
              <a:rPr lang="zh-CN" altLang="en-US" sz="1800" b="1" dirty="0">
                <a:sym typeface="Symbol" panose="05050102010706020507" pitchFamily="18" charset="2"/>
              </a:rPr>
              <a:t>于是,</a:t>
            </a:r>
          </a:p>
          <a:p>
            <a:pPr eaLnBrk="1" hangingPunct="1">
              <a:buFontTx/>
              <a:buNone/>
            </a:pPr>
            <a:r>
              <a:rPr lang="en-US" altLang="zh-CN" sz="1800" b="1" i="1" dirty="0">
                <a:sym typeface="Symbol" panose="05050102010706020507" pitchFamily="18" charset="2"/>
              </a:rPr>
              <a:t>                n</a:t>
            </a:r>
            <a:r>
              <a:rPr lang="en-US" altLang="zh-CN" sz="1800" b="1" baseline="30000" dirty="0">
                <a:sym typeface="Symbol" panose="05050102010706020507" pitchFamily="18" charset="2"/>
              </a:rPr>
              <a:t>2</a:t>
            </a:r>
            <a:r>
              <a:rPr lang="zh-CN" altLang="en-US" sz="1800" b="1" dirty="0">
                <a:sym typeface="Symbol" panose="05050102010706020507" pitchFamily="18" charset="2"/>
              </a:rPr>
              <a:t> = (</a:t>
            </a:r>
            <a:r>
              <a:rPr lang="en-US" altLang="zh-CN" sz="1800" b="1" dirty="0">
                <a:sym typeface="Symbol" panose="05050102010706020507" pitchFamily="18" charset="2"/>
              </a:rPr>
              <a:t>2</a:t>
            </a:r>
            <a:r>
              <a:rPr lang="en-US" altLang="zh-CN" sz="1800" b="1" i="1" dirty="0">
                <a:sym typeface="Symbol" panose="05050102010706020507" pitchFamily="18" charset="2"/>
              </a:rPr>
              <a:t>k</a:t>
            </a:r>
            <a:r>
              <a:rPr lang="zh-CN" altLang="en-US" sz="1800" b="1" dirty="0">
                <a:sym typeface="Symbol" panose="05050102010706020507" pitchFamily="18" charset="2"/>
              </a:rPr>
              <a:t>)</a:t>
            </a:r>
            <a:r>
              <a:rPr lang="en-US" altLang="zh-CN" sz="1800" b="1" baseline="30000" dirty="0">
                <a:sym typeface="Symbol" panose="05050102010706020507" pitchFamily="18" charset="2"/>
              </a:rPr>
              <a:t>2</a:t>
            </a:r>
            <a:endParaRPr lang="zh-CN" altLang="en-US" sz="1800" b="1" dirty="0">
              <a:sym typeface="Symbol" panose="05050102010706020507" pitchFamily="18" charset="2"/>
            </a:endParaRPr>
          </a:p>
          <a:p>
            <a:pPr eaLnBrk="1" hangingPunct="1">
              <a:buFontTx/>
              <a:buNone/>
            </a:pPr>
            <a:r>
              <a:rPr lang="zh-CN" altLang="en-US" sz="1800" b="1" dirty="0">
                <a:sym typeface="Symbol" panose="05050102010706020507" pitchFamily="18" charset="2"/>
              </a:rPr>
              <a:t>                    = 2(</a:t>
            </a:r>
            <a:r>
              <a:rPr lang="en-US" altLang="zh-CN" sz="1800" b="1" dirty="0">
                <a:sym typeface="Symbol" panose="05050102010706020507" pitchFamily="18" charset="2"/>
              </a:rPr>
              <a:t>2</a:t>
            </a:r>
            <a:r>
              <a:rPr lang="en-US" altLang="zh-CN" sz="1800" b="1" i="1" dirty="0">
                <a:sym typeface="Symbol" panose="05050102010706020507" pitchFamily="18" charset="2"/>
              </a:rPr>
              <a:t>k</a:t>
            </a:r>
            <a:r>
              <a:rPr lang="en-US" altLang="zh-CN" sz="1800" b="1" baseline="30000" dirty="0">
                <a:sym typeface="Symbol" panose="05050102010706020507" pitchFamily="18" charset="2"/>
              </a:rPr>
              <a:t>2</a:t>
            </a:r>
            <a:r>
              <a:rPr lang="zh-CN" altLang="en-US" sz="1800" b="1" dirty="0">
                <a:sym typeface="Symbol" panose="05050102010706020507" pitchFamily="18" charset="2"/>
              </a:rPr>
              <a:t>)</a:t>
            </a:r>
          </a:p>
          <a:p>
            <a:pPr eaLnBrk="1" hangingPunct="1">
              <a:buFontTx/>
              <a:buNone/>
            </a:pPr>
            <a:r>
              <a:rPr lang="zh-CN" altLang="en-US" sz="1800" b="1" dirty="0">
                <a:sym typeface="Symbol" panose="05050102010706020507" pitchFamily="18" charset="2"/>
              </a:rPr>
              <a:t>得证</a:t>
            </a:r>
            <a:r>
              <a:rPr lang="en-US" altLang="zh-CN" sz="1800" b="1" i="1" dirty="0">
                <a:sym typeface="Symbol" panose="05050102010706020507" pitchFamily="18" charset="2"/>
              </a:rPr>
              <a:t>n</a:t>
            </a:r>
            <a:r>
              <a:rPr lang="en-US" altLang="zh-CN" sz="1800" b="1" baseline="30000" dirty="0">
                <a:sym typeface="Symbol" panose="05050102010706020507" pitchFamily="18" charset="2"/>
              </a:rPr>
              <a:t>2</a:t>
            </a:r>
            <a:r>
              <a:rPr lang="zh-CN" altLang="en-US" sz="1800" b="1" dirty="0">
                <a:sym typeface="Symbol" panose="05050102010706020507" pitchFamily="18" charset="2"/>
              </a:rPr>
              <a:t>是偶数.</a:t>
            </a:r>
            <a:endParaRPr lang="zh-CN" altLang="en-US" sz="18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29</a:t>
            </a:fld>
            <a:endParaRPr lang="zh-CN" altLang="en-US"/>
          </a:p>
        </p:txBody>
      </p:sp>
    </p:spTree>
    <p:extLst>
      <p:ext uri="{BB962C8B-B14F-4D97-AF65-F5344CB8AC3E}">
        <p14:creationId xmlns:p14="http://schemas.microsoft.com/office/powerpoint/2010/main" val="22557427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b="1" dirty="0">
                <a:effectLst/>
                <a:ea typeface="等线" panose="02010600030101010101" pitchFamily="2" charset="-122"/>
                <a:cs typeface="Times New Roman" panose="02020603050405020304" pitchFamily="18" charset="0"/>
              </a:rPr>
              <a:t>归谬法（反证法）</a:t>
            </a:r>
            <a:r>
              <a:rPr lang="zh-CN" altLang="zh-CN" sz="1800" dirty="0">
                <a:effectLst/>
                <a:ea typeface="等线" panose="02010600030101010101" pitchFamily="2" charset="-122"/>
                <a:cs typeface="Times New Roman" panose="02020603050405020304" pitchFamily="18" charset="0"/>
              </a:rPr>
              <a:t>：归谬法是</a:t>
            </a:r>
            <a:endParaRPr lang="en-US" altLang="zh-CN" sz="1800" dirty="0">
              <a:effectLst/>
              <a:ea typeface="等线" panose="02010600030101010101" pitchFamily="2" charset="-122"/>
              <a:cs typeface="Times New Roman" panose="02020603050405020304" pitchFamily="18" charset="0"/>
            </a:endParaRPr>
          </a:p>
          <a:p>
            <a:r>
              <a:rPr lang="zh-CN" altLang="zh-CN" sz="1800" dirty="0">
                <a:effectLst/>
                <a:ea typeface="等线" panose="02010600030101010101" pitchFamily="2" charset="-122"/>
                <a:cs typeface="Times New Roman" panose="02020603050405020304" pitchFamily="18" charset="0"/>
              </a:rPr>
              <a:t>归谬法和反证法通常在数学和逻辑中被视为相同的证明方法，都是间接证明法的一种特例。间接证明法的一种特殊形式。在归谬法中，首先</a:t>
            </a:r>
            <a:r>
              <a:rPr lang="zh-CN" altLang="zh-CN" sz="1800" dirty="0">
                <a:effectLst/>
                <a:highlight>
                  <a:srgbClr val="FFFF00"/>
                </a:highlight>
                <a:ea typeface="等线" panose="02010600030101010101" pitchFamily="2" charset="-122"/>
                <a:cs typeface="Times New Roman" panose="02020603050405020304" pitchFamily="18" charset="0"/>
              </a:rPr>
              <a:t>假设要证明的命题的否定是真的</a:t>
            </a:r>
            <a:r>
              <a:rPr lang="zh-CN" altLang="zh-CN" sz="1800" dirty="0">
                <a:effectLst/>
                <a:ea typeface="等线" panose="02010600030101010101" pitchFamily="2" charset="-122"/>
                <a:cs typeface="Times New Roman" panose="02020603050405020304" pitchFamily="18" charset="0"/>
              </a:rPr>
              <a:t>，然后通过逻辑推理导出一个矛盾或不可能的结果。</a:t>
            </a:r>
            <a:endParaRPr lang="en-US" altLang="zh-CN" sz="1800" dirty="0">
              <a:effectLst/>
              <a:ea typeface="等线" panose="02010600030101010101" pitchFamily="2" charset="-122"/>
              <a:cs typeface="Times New Roman" panose="02020603050405020304" pitchFamily="18" charset="0"/>
            </a:endParaRPr>
          </a:p>
          <a:p>
            <a:endParaRPr lang="en-US" altLang="zh-CN" sz="1800" dirty="0">
              <a:effectLst/>
              <a:ea typeface="等线" panose="02010600030101010101" pitchFamily="2" charset="-122"/>
              <a:cs typeface="Times New Roman" panose="02020603050405020304" pitchFamily="18" charset="0"/>
            </a:endParaRPr>
          </a:p>
          <a:p>
            <a:pPr eaLnBrk="1" hangingPunct="1">
              <a:buFontTx/>
              <a:buNone/>
            </a:pPr>
            <a:r>
              <a:rPr lang="zh-CN" altLang="en-US" b="1" dirty="0">
                <a:solidFill>
                  <a:srgbClr val="FF0000"/>
                </a:solidFill>
              </a:rPr>
              <a:t>归谬法</a:t>
            </a:r>
            <a:r>
              <a:rPr lang="zh-CN" altLang="zh-CN" b="1" dirty="0"/>
              <a:t>首先假设要证明的命题的否定是真的，然后通过逻辑推理导出一个矛盾或不可能的结果。</a:t>
            </a:r>
            <a:endParaRPr lang="en-US" altLang="zh-CN" b="1" dirty="0"/>
          </a:p>
          <a:p>
            <a:pPr eaLnBrk="1" hangingPunct="1">
              <a:buFontTx/>
              <a:buNone/>
            </a:pPr>
            <a:r>
              <a:rPr lang="zh-CN" altLang="en-US" sz="1800" b="1" dirty="0">
                <a:solidFill>
                  <a:srgbClr val="FF0000"/>
                </a:solidFill>
              </a:rPr>
              <a:t>做法</a:t>
            </a:r>
            <a:r>
              <a:rPr lang="zh-CN" altLang="en-US" sz="1800" b="1" dirty="0"/>
              <a:t> 设</a:t>
            </a:r>
            <a:r>
              <a:rPr lang="en-US" altLang="zh-CN" sz="1800" b="1" i="1" dirty="0"/>
              <a:t>A</a:t>
            </a:r>
            <a:r>
              <a:rPr lang="zh-CN" altLang="en-US" sz="1800" b="1" dirty="0"/>
              <a:t>成立</a:t>
            </a:r>
            <a:r>
              <a:rPr lang="en-US" altLang="zh-CN" sz="1800" b="1" dirty="0"/>
              <a:t>, </a:t>
            </a:r>
            <a:r>
              <a:rPr lang="zh-CN" altLang="en-US" sz="1800" b="1" dirty="0"/>
              <a:t>假设</a:t>
            </a:r>
            <a:r>
              <a:rPr lang="en-US" altLang="zh-CN" sz="1800" b="1" i="1" dirty="0">
                <a:cs typeface="Times New Roman" panose="02020603050405020304" pitchFamily="18" charset="0"/>
              </a:rPr>
              <a:t>B</a:t>
            </a:r>
            <a:r>
              <a:rPr lang="zh-CN" altLang="en-US" sz="1800" b="1" dirty="0">
                <a:cs typeface="Times New Roman" panose="02020603050405020304" pitchFamily="18" charset="0"/>
              </a:rPr>
              <a:t>不成立</a:t>
            </a:r>
            <a:r>
              <a:rPr lang="zh-CN" altLang="en-US" sz="1800" b="1" dirty="0"/>
              <a:t>, 推出矛盾</a:t>
            </a:r>
            <a:r>
              <a:rPr lang="en-US" altLang="zh-CN" sz="1800" b="1" dirty="0"/>
              <a:t>.</a:t>
            </a:r>
            <a:endParaRPr lang="en-US" altLang="zh-CN" sz="1800" b="1" dirty="0">
              <a:sym typeface="Symbol" panose="05050102010706020507" pitchFamily="18" charset="2"/>
            </a:endParaRPr>
          </a:p>
          <a:p>
            <a:pPr eaLnBrk="1" hangingPunct="1">
              <a:buFont typeface="Symbol" panose="05050102010706020507" pitchFamily="18" charset="2"/>
              <a:buNone/>
            </a:pPr>
            <a:endParaRPr lang="en-US" altLang="zh-CN" sz="1800" b="1" dirty="0">
              <a:solidFill>
                <a:srgbClr val="800000"/>
              </a:solidFill>
              <a:sym typeface="Symbol" panose="05050102010706020507" pitchFamily="18" charset="2"/>
            </a:endParaRPr>
          </a:p>
          <a:p>
            <a:pPr eaLnBrk="1" hangingPunct="1">
              <a:buFont typeface="Symbol" panose="05050102010706020507" pitchFamily="18" charset="2"/>
              <a:buNone/>
            </a:pPr>
            <a:r>
              <a:rPr lang="zh-CN" altLang="en-US" sz="1800" b="1" dirty="0">
                <a:solidFill>
                  <a:srgbClr val="800000"/>
                </a:solidFill>
                <a:sym typeface="Symbol" panose="05050102010706020507" pitchFamily="18" charset="2"/>
              </a:rPr>
              <a:t>例3</a:t>
            </a:r>
            <a:r>
              <a:rPr lang="zh-CN" altLang="en-US" sz="1800" b="1" dirty="0">
                <a:solidFill>
                  <a:srgbClr val="333300"/>
                </a:solidFill>
                <a:sym typeface="Symbol" panose="05050102010706020507" pitchFamily="18" charset="2"/>
              </a:rPr>
              <a:t> 若</a:t>
            </a:r>
            <a:r>
              <a:rPr lang="en-US" altLang="zh-CN" sz="1800" b="1" i="1" dirty="0">
                <a:solidFill>
                  <a:srgbClr val="333300"/>
                </a:solidFill>
                <a:sym typeface="Symbol" panose="05050102010706020507" pitchFamily="18" charset="2"/>
              </a:rPr>
              <a:t>A-B</a:t>
            </a:r>
            <a:r>
              <a:rPr lang="en-US" altLang="zh-CN" sz="1800" b="1" dirty="0">
                <a:solidFill>
                  <a:srgbClr val="333300"/>
                </a:solidFill>
                <a:sym typeface="Symbol" panose="05050102010706020507" pitchFamily="18" charset="2"/>
              </a:rPr>
              <a:t>=</a:t>
            </a:r>
            <a:r>
              <a:rPr lang="en-US" altLang="zh-CN" sz="1800" b="1" i="1" dirty="0">
                <a:solidFill>
                  <a:srgbClr val="333300"/>
                </a:solidFill>
                <a:sym typeface="Symbol" panose="05050102010706020507" pitchFamily="18" charset="2"/>
              </a:rPr>
              <a:t>A</a:t>
            </a:r>
            <a:r>
              <a:rPr lang="en-US" altLang="zh-CN" sz="1800" b="1" dirty="0">
                <a:solidFill>
                  <a:srgbClr val="333300"/>
                </a:solidFill>
                <a:sym typeface="Symbol" panose="05050102010706020507" pitchFamily="18" charset="2"/>
              </a:rPr>
              <a:t>, </a:t>
            </a:r>
            <a:r>
              <a:rPr lang="zh-CN" altLang="en-US" sz="1800" b="1" dirty="0">
                <a:solidFill>
                  <a:srgbClr val="333300"/>
                </a:solidFill>
                <a:sym typeface="Symbol" panose="05050102010706020507" pitchFamily="18" charset="2"/>
              </a:rPr>
              <a:t>则</a:t>
            </a:r>
            <a:r>
              <a:rPr lang="en-US" altLang="zh-CN" sz="1800" b="1" i="1" dirty="0">
                <a:solidFill>
                  <a:srgbClr val="333300"/>
                </a:solidFill>
                <a:sym typeface="Symbol" panose="05050102010706020507" pitchFamily="18" charset="2"/>
              </a:rPr>
              <a:t>A</a:t>
            </a:r>
            <a:r>
              <a:rPr lang="en-US" altLang="zh-CN" sz="1800" b="1" dirty="0">
                <a:sym typeface="Symbol" panose="05050102010706020507" pitchFamily="18" charset="2"/>
              </a:rPr>
              <a:t></a:t>
            </a:r>
            <a:r>
              <a:rPr lang="en-US" altLang="zh-CN" sz="1800" b="1" i="1" dirty="0">
                <a:solidFill>
                  <a:srgbClr val="333300"/>
                </a:solidFill>
                <a:sym typeface="Symbol" panose="05050102010706020507" pitchFamily="18" charset="2"/>
              </a:rPr>
              <a:t>B</a:t>
            </a:r>
            <a:r>
              <a:rPr lang="en-US" altLang="zh-CN" sz="1800" b="1" dirty="0">
                <a:solidFill>
                  <a:srgbClr val="333300"/>
                </a:solidFill>
                <a:sym typeface="Symbol" panose="05050102010706020507" pitchFamily="18" charset="2"/>
              </a:rPr>
              <a:t>=</a:t>
            </a:r>
            <a:r>
              <a:rPr lang="en-US" altLang="zh-CN" sz="1800" b="1" dirty="0">
                <a:sym typeface="Symbol" panose="05050102010706020507" pitchFamily="18" charset="2"/>
              </a:rPr>
              <a:t></a:t>
            </a:r>
            <a:endParaRPr lang="en-US" altLang="zh-CN" sz="1800" b="1" dirty="0">
              <a:solidFill>
                <a:srgbClr val="333300"/>
              </a:solidFill>
              <a:sym typeface="Symbol" panose="05050102010706020507" pitchFamily="18" charset="2"/>
            </a:endParaRPr>
          </a:p>
          <a:p>
            <a:pPr eaLnBrk="1" hangingPunct="1">
              <a:buFont typeface="Symbol" panose="05050102010706020507" pitchFamily="18" charset="2"/>
              <a:buNone/>
            </a:pPr>
            <a:r>
              <a:rPr lang="zh-CN" altLang="en-US" sz="1800" b="1" dirty="0">
                <a:solidFill>
                  <a:srgbClr val="333300"/>
                </a:solidFill>
                <a:sym typeface="Symbol" panose="05050102010706020507" pitchFamily="18" charset="2"/>
              </a:rPr>
              <a:t>证 用归谬法, 假设</a:t>
            </a:r>
            <a:r>
              <a:rPr lang="en-US" altLang="zh-CN" sz="1800" b="1" i="1" dirty="0">
                <a:solidFill>
                  <a:srgbClr val="333300"/>
                </a:solidFill>
                <a:sym typeface="Symbol" panose="05050102010706020507" pitchFamily="18" charset="2"/>
              </a:rPr>
              <a:t>A</a:t>
            </a:r>
            <a:r>
              <a:rPr lang="en-US" altLang="zh-CN" sz="1800" b="1" dirty="0">
                <a:sym typeface="Symbol" panose="05050102010706020507" pitchFamily="18" charset="2"/>
              </a:rPr>
              <a:t></a:t>
            </a:r>
            <a:r>
              <a:rPr lang="en-US" altLang="zh-CN" sz="1800" b="1" i="1" dirty="0">
                <a:solidFill>
                  <a:srgbClr val="333300"/>
                </a:solidFill>
                <a:sym typeface="Symbol" panose="05050102010706020507" pitchFamily="18" charset="2"/>
              </a:rPr>
              <a:t>B</a:t>
            </a:r>
            <a:r>
              <a:rPr lang="en-US" altLang="zh-CN" sz="1800" b="1" dirty="0">
                <a:sym typeface="Symbol" panose="05050102010706020507" pitchFamily="18" charset="2"/>
              </a:rPr>
              <a:t>, </a:t>
            </a:r>
            <a:r>
              <a:rPr lang="zh-CN" altLang="en-US" sz="1800" b="1" dirty="0">
                <a:sym typeface="Symbol" panose="05050102010706020507" pitchFamily="18" charset="2"/>
              </a:rPr>
              <a:t>则存在</a:t>
            </a:r>
            <a:r>
              <a:rPr lang="en-US" altLang="zh-CN" sz="1800" b="1" i="1" dirty="0">
                <a:sym typeface="Symbol" panose="05050102010706020507" pitchFamily="18" charset="2"/>
              </a:rPr>
              <a:t>x</a:t>
            </a:r>
            <a:r>
              <a:rPr lang="en-US" altLang="zh-CN" sz="1800" b="1" dirty="0">
                <a:sym typeface="Symbol" panose="05050102010706020507" pitchFamily="18" charset="2"/>
              </a:rPr>
              <a:t>,</a:t>
            </a:r>
            <a:r>
              <a:rPr lang="zh-CN" altLang="en-US" sz="1800" b="1" dirty="0">
                <a:sym typeface="Symbol" panose="05050102010706020507" pitchFamily="18" charset="2"/>
              </a:rPr>
              <a:t>使得</a:t>
            </a:r>
          </a:p>
          <a:p>
            <a:pPr eaLnBrk="1" hangingPunct="1">
              <a:buFont typeface="Symbol" panose="05050102010706020507" pitchFamily="18" charset="2"/>
              <a:buNone/>
            </a:pPr>
            <a:r>
              <a:rPr lang="en-US" altLang="zh-CN" sz="1800" b="1" i="1" dirty="0">
                <a:sym typeface="Symbol" panose="05050102010706020507" pitchFamily="18" charset="2"/>
              </a:rPr>
              <a:t>       </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A</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B</a:t>
            </a:r>
            <a:r>
              <a:rPr lang="en-US" altLang="zh-CN" sz="1800" b="1" i="1" dirty="0">
                <a:solidFill>
                  <a:srgbClr val="333300"/>
                </a:solidFill>
                <a:sym typeface="Symbol" panose="05050102010706020507" pitchFamily="18" charset="2"/>
              </a:rPr>
              <a:t> </a:t>
            </a:r>
            <a:r>
              <a:rPr lang="en-US" altLang="zh-CN" sz="1800" b="1" dirty="0">
                <a:solidFill>
                  <a:srgbClr val="333300"/>
                </a:solidFill>
                <a:sym typeface="Symbol" panose="05050102010706020507" pitchFamily="18" charset="2"/>
              </a:rPr>
              <a:t> </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A</a:t>
            </a:r>
            <a:r>
              <a:rPr lang="zh-CN" altLang="en-US" sz="1800" b="1" dirty="0">
                <a:solidFill>
                  <a:srgbClr val="333300"/>
                </a:solidFill>
                <a:sym typeface="Symbol" panose="05050102010706020507" pitchFamily="18" charset="2"/>
              </a:rPr>
              <a:t>且</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B</a:t>
            </a:r>
            <a:r>
              <a:rPr lang="en-US" altLang="zh-CN" sz="1800" b="1" i="1" dirty="0">
                <a:solidFill>
                  <a:srgbClr val="333300"/>
                </a:solidFill>
                <a:sym typeface="Symbol" panose="05050102010706020507" pitchFamily="18" charset="2"/>
              </a:rPr>
              <a:t> </a:t>
            </a:r>
          </a:p>
          <a:p>
            <a:pPr eaLnBrk="1" hangingPunct="1">
              <a:buFont typeface="Symbol" panose="05050102010706020507" pitchFamily="18" charset="2"/>
              <a:buNone/>
            </a:pPr>
            <a:r>
              <a:rPr lang="en-US" altLang="zh-CN" sz="1800" b="1" i="1" dirty="0">
                <a:solidFill>
                  <a:srgbClr val="333300"/>
                </a:solidFill>
                <a:sym typeface="Symbol" panose="05050102010706020507" pitchFamily="18" charset="2"/>
              </a:rPr>
              <a:t>                      </a:t>
            </a:r>
            <a:r>
              <a:rPr lang="en-US" altLang="zh-CN" sz="1800" b="1" dirty="0">
                <a:sym typeface="Symbol" panose="05050102010706020507" pitchFamily="18" charset="2"/>
              </a:rPr>
              <a:t> </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A-B</a:t>
            </a:r>
            <a:r>
              <a:rPr lang="zh-CN" altLang="en-US" sz="1800" b="1" dirty="0">
                <a:sym typeface="Symbol" panose="05050102010706020507" pitchFamily="18" charset="2"/>
              </a:rPr>
              <a:t>且</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B</a:t>
            </a:r>
            <a:r>
              <a:rPr lang="en-US" altLang="zh-CN" sz="1800" b="1" dirty="0">
                <a:sym typeface="Symbol" panose="05050102010706020507" pitchFamily="18" charset="2"/>
              </a:rPr>
              <a:t>        (</a:t>
            </a:r>
            <a:r>
              <a:rPr lang="en-US" altLang="zh-CN" sz="1800" b="1" i="1" dirty="0">
                <a:solidFill>
                  <a:srgbClr val="333300"/>
                </a:solidFill>
                <a:sym typeface="Symbol" panose="05050102010706020507" pitchFamily="18" charset="2"/>
              </a:rPr>
              <a:t>A-B</a:t>
            </a:r>
            <a:r>
              <a:rPr lang="en-US" altLang="zh-CN" sz="1800" b="1" dirty="0">
                <a:solidFill>
                  <a:srgbClr val="333300"/>
                </a:solidFill>
                <a:sym typeface="Symbol" panose="05050102010706020507" pitchFamily="18" charset="2"/>
              </a:rPr>
              <a:t>=</a:t>
            </a:r>
            <a:r>
              <a:rPr lang="en-US" altLang="zh-CN" sz="1800" b="1" i="1" dirty="0">
                <a:solidFill>
                  <a:srgbClr val="333300"/>
                </a:solidFill>
                <a:sym typeface="Symbol" panose="05050102010706020507" pitchFamily="18" charset="2"/>
              </a:rPr>
              <a:t>A</a:t>
            </a:r>
            <a:r>
              <a:rPr lang="en-US" altLang="zh-CN" sz="1800" b="1" dirty="0">
                <a:sym typeface="Symbol" panose="05050102010706020507" pitchFamily="18" charset="2"/>
              </a:rPr>
              <a:t>)</a:t>
            </a:r>
          </a:p>
          <a:p>
            <a:pPr eaLnBrk="1" hangingPunct="1">
              <a:buFont typeface="Symbol" panose="05050102010706020507" pitchFamily="18" charset="2"/>
              <a:buNone/>
            </a:pPr>
            <a:r>
              <a:rPr lang="en-US" altLang="zh-CN" sz="1800" b="1" dirty="0">
                <a:solidFill>
                  <a:srgbClr val="333300"/>
                </a:solidFill>
                <a:sym typeface="Symbol" panose="05050102010706020507" pitchFamily="18" charset="2"/>
              </a:rPr>
              <a:t>                       (</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A</a:t>
            </a:r>
            <a:r>
              <a:rPr lang="zh-CN" altLang="en-US" sz="1800" b="1" dirty="0">
                <a:sym typeface="Symbol" panose="05050102010706020507" pitchFamily="18" charset="2"/>
              </a:rPr>
              <a:t>且</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B</a:t>
            </a:r>
            <a:r>
              <a:rPr lang="en-US" altLang="zh-CN" sz="1800" b="1" dirty="0">
                <a:solidFill>
                  <a:srgbClr val="333300"/>
                </a:solidFill>
                <a:sym typeface="Symbol" panose="05050102010706020507" pitchFamily="18" charset="2"/>
              </a:rPr>
              <a:t>)</a:t>
            </a:r>
            <a:r>
              <a:rPr lang="zh-CN" altLang="en-US" sz="1800" b="1" dirty="0">
                <a:sym typeface="Symbol" panose="05050102010706020507" pitchFamily="18" charset="2"/>
              </a:rPr>
              <a:t>且</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B</a:t>
            </a:r>
            <a:r>
              <a:rPr lang="en-US" altLang="zh-CN" sz="1800" b="1" i="1" dirty="0">
                <a:solidFill>
                  <a:srgbClr val="333300"/>
                </a:solidFill>
                <a:sym typeface="Symbol" panose="05050102010706020507" pitchFamily="18" charset="2"/>
              </a:rPr>
              <a:t> </a:t>
            </a:r>
          </a:p>
          <a:p>
            <a:pPr eaLnBrk="1" hangingPunct="1">
              <a:buFont typeface="Symbol" panose="05050102010706020507" pitchFamily="18" charset="2"/>
              <a:buNone/>
            </a:pPr>
            <a:r>
              <a:rPr lang="en-US" altLang="zh-CN" sz="1800" b="1" i="1" dirty="0">
                <a:solidFill>
                  <a:srgbClr val="333300"/>
                </a:solidFill>
                <a:sym typeface="Symbol" panose="05050102010706020507" pitchFamily="18" charset="2"/>
              </a:rPr>
              <a:t>                       </a:t>
            </a:r>
            <a:r>
              <a:rPr lang="en-US" altLang="zh-CN" sz="1800" b="1" dirty="0">
                <a:sym typeface="Symbol" panose="05050102010706020507" pitchFamily="18" charset="2"/>
              </a:rPr>
              <a:t> </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B</a:t>
            </a:r>
            <a:r>
              <a:rPr lang="zh-CN" altLang="en-US" sz="1800" b="1" dirty="0">
                <a:sym typeface="Symbol" panose="05050102010706020507" pitchFamily="18" charset="2"/>
              </a:rPr>
              <a:t>且</a:t>
            </a:r>
            <a:r>
              <a:rPr lang="en-US" altLang="zh-CN" sz="1800" b="1" i="1" dirty="0" err="1">
                <a:sym typeface="Symbol" panose="05050102010706020507" pitchFamily="18" charset="2"/>
              </a:rPr>
              <a:t>x</a:t>
            </a:r>
            <a:r>
              <a:rPr lang="en-US" altLang="zh-CN" sz="1800" b="1" dirty="0" err="1">
                <a:sym typeface="Symbol" panose="05050102010706020507" pitchFamily="18" charset="2"/>
              </a:rPr>
              <a:t></a:t>
            </a:r>
            <a:r>
              <a:rPr lang="en-US" altLang="zh-CN" sz="1800" b="1" i="1" dirty="0" err="1">
                <a:solidFill>
                  <a:srgbClr val="333300"/>
                </a:solidFill>
                <a:sym typeface="Symbol" panose="05050102010706020507" pitchFamily="18" charset="2"/>
              </a:rPr>
              <a:t>B</a:t>
            </a:r>
            <a:r>
              <a:rPr lang="en-US" altLang="zh-CN" sz="1800" b="1" i="1" dirty="0">
                <a:solidFill>
                  <a:srgbClr val="333300"/>
                </a:solidFill>
                <a:sym typeface="Symbol" panose="05050102010706020507" pitchFamily="18" charset="2"/>
              </a:rPr>
              <a:t>,     </a:t>
            </a:r>
            <a:r>
              <a:rPr lang="zh-CN" altLang="en-US" sz="1800" b="1" dirty="0">
                <a:solidFill>
                  <a:srgbClr val="333300"/>
                </a:solidFill>
                <a:sym typeface="Symbol" panose="05050102010706020507" pitchFamily="18" charset="2"/>
              </a:rPr>
              <a:t>矛盾</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30</a:t>
            </a:fld>
            <a:endParaRPr lang="zh-CN" altLang="en-US"/>
          </a:p>
        </p:txBody>
      </p:sp>
    </p:spTree>
    <p:extLst>
      <p:ext uri="{BB962C8B-B14F-4D97-AF65-F5344CB8AC3E}">
        <p14:creationId xmlns:p14="http://schemas.microsoft.com/office/powerpoint/2010/main" val="10169436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事实：每个有理数都可以写成</a:t>
            </a:r>
            <a:r>
              <a:rPr lang="zh-CN" altLang="en-US" b="1" dirty="0">
                <a:latin typeface="Times New Roman" panose="02020603050405020304" pitchFamily="18" charset="0"/>
              </a:rPr>
              <a:t>既约分数</a:t>
            </a:r>
            <a:endParaRPr lang="en-US" altLang="zh-CN" b="1" dirty="0">
              <a:latin typeface="Times New Roman" panose="02020603050405020304" pitchFamily="18" charset="0"/>
            </a:endParaRPr>
          </a:p>
          <a:p>
            <a:pPr eaLnBrk="1" hangingPunct="1">
              <a:spcBef>
                <a:spcPct val="50000"/>
              </a:spcBef>
            </a:pPr>
            <a:r>
              <a:rPr lang="zh-CN" altLang="en-US" sz="1800" b="1" dirty="0">
                <a:solidFill>
                  <a:srgbClr val="800000"/>
                </a:solidFill>
                <a:ea typeface="宋体" panose="02010600030101010101" pitchFamily="2" charset="-122"/>
              </a:rPr>
              <a:t>例</a:t>
            </a:r>
            <a:r>
              <a:rPr lang="zh-CN" altLang="en-US" sz="1800" b="1" dirty="0">
                <a:solidFill>
                  <a:srgbClr val="800000"/>
                </a:solidFill>
                <a:latin typeface="Times New Roman" panose="02020603050405020304" pitchFamily="18" charset="0"/>
                <a:ea typeface="宋体" panose="02010600030101010101" pitchFamily="2" charset="-122"/>
              </a:rPr>
              <a:t>4</a:t>
            </a:r>
            <a:r>
              <a:rPr lang="zh-CN" altLang="en-US" sz="1800" b="1" dirty="0">
                <a:solidFill>
                  <a:schemeClr val="tx1"/>
                </a:solidFill>
                <a:latin typeface="Times New Roman" panose="02020603050405020304" pitchFamily="18" charset="0"/>
                <a:ea typeface="宋体" panose="02010600030101010101" pitchFamily="2" charset="-122"/>
              </a:rPr>
              <a:t> 证明命题：      是无理数</a:t>
            </a:r>
          </a:p>
          <a:p>
            <a:pPr>
              <a:lnSpc>
                <a:spcPct val="110000"/>
              </a:lnSpc>
              <a:spcBef>
                <a:spcPct val="50000"/>
              </a:spcBef>
            </a:pPr>
            <a:r>
              <a:rPr lang="zh-CN" altLang="en-US" b="1" dirty="0">
                <a:latin typeface="Times New Roman" panose="02020603050405020304" pitchFamily="18" charset="0"/>
                <a:ea typeface="宋体" panose="02010600030101010101" pitchFamily="2" charset="-122"/>
              </a:rPr>
              <a:t>证  假设       是有理数, 存在正整数</a:t>
            </a:r>
            <a:r>
              <a:rPr lang="en-US" altLang="zh-CN" b="1" dirty="0" err="1">
                <a:latin typeface="Times New Roman" panose="02020603050405020304" pitchFamily="18" charset="0"/>
                <a:ea typeface="宋体" panose="02010600030101010101" pitchFamily="2" charset="-122"/>
              </a:rPr>
              <a:t>n,m</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使得      =</a:t>
            </a:r>
            <a:r>
              <a:rPr lang="en-US" altLang="zh-CN" b="1" dirty="0">
                <a:latin typeface="Times New Roman" panose="02020603050405020304" pitchFamily="18" charset="0"/>
                <a:ea typeface="宋体" panose="02010600030101010101" pitchFamily="2" charset="-122"/>
              </a:rPr>
              <a:t>m/n, </a:t>
            </a:r>
            <a:r>
              <a:rPr lang="zh-CN" altLang="en-US" b="1" dirty="0">
                <a:latin typeface="Times New Roman" panose="02020603050405020304" pitchFamily="18" charset="0"/>
                <a:ea typeface="宋体" panose="02010600030101010101" pitchFamily="2" charset="-122"/>
              </a:rPr>
              <a:t>其中</a:t>
            </a:r>
            <a:r>
              <a:rPr lang="en-US" altLang="zh-CN" b="1" dirty="0">
                <a:latin typeface="Times New Roman" panose="02020603050405020304" pitchFamily="18" charset="0"/>
                <a:ea typeface="宋体" panose="02010600030101010101" pitchFamily="2" charset="-122"/>
              </a:rPr>
              <a:t>n</a:t>
            </a:r>
            <a:r>
              <a:rPr lang="zh-CN" altLang="en-US" b="1" dirty="0">
                <a:latin typeface="Times New Roman" panose="02020603050405020304" pitchFamily="18" charset="0"/>
                <a:ea typeface="宋体" panose="02010600030101010101" pitchFamily="2" charset="-122"/>
              </a:rPr>
              <a:t> </a:t>
            </a:r>
            <a:r>
              <a:rPr lang="zh-CN" altLang="en-US" b="0" dirty="0">
                <a:solidFill>
                  <a:srgbClr val="333333"/>
                </a:solidFill>
                <a:effectLst/>
                <a:latin typeface="PingFang SC"/>
              </a:rPr>
              <a:t>≠</a:t>
            </a:r>
            <a:r>
              <a:rPr lang="en-US" altLang="zh-CN" b="0" dirty="0">
                <a:solidFill>
                  <a:srgbClr val="333333"/>
                </a:solidFill>
                <a:effectLst/>
                <a:latin typeface="PingFang SC"/>
              </a:rPr>
              <a:t>0</a:t>
            </a:r>
            <a:r>
              <a:rPr lang="zh-CN" altLang="en-US" b="0" dirty="0">
                <a:solidFill>
                  <a:srgbClr val="333333"/>
                </a:solidFill>
                <a:effectLst/>
                <a:latin typeface="PingFang SC"/>
              </a:rPr>
              <a:t>且</a:t>
            </a:r>
            <a:r>
              <a:rPr lang="en-US" altLang="zh-CN" b="1" dirty="0" err="1">
                <a:latin typeface="Times New Roman" panose="02020603050405020304" pitchFamily="18" charset="0"/>
                <a:ea typeface="宋体" panose="02010600030101010101" pitchFamily="2" charset="-122"/>
              </a:rPr>
              <a:t>n,m</a:t>
            </a:r>
            <a:r>
              <a:rPr lang="zh-CN" altLang="en-US" b="1" dirty="0">
                <a:latin typeface="Times New Roman" panose="02020603050405020304" pitchFamily="18" charset="0"/>
                <a:ea typeface="宋体" panose="02010600030101010101" pitchFamily="2" charset="-122"/>
              </a:rPr>
              <a:t>没有公因子（</a:t>
            </a:r>
            <a:r>
              <a:rPr lang="en-US" altLang="zh-CN" b="1" i="1" dirty="0">
                <a:latin typeface="Times New Roman" panose="02020603050405020304" pitchFamily="18" charset="0"/>
              </a:rPr>
              <a:t>m</a:t>
            </a:r>
            <a:r>
              <a:rPr lang="en-US" altLang="zh-CN" b="1" dirty="0">
                <a:latin typeface="Times New Roman" panose="02020603050405020304" pitchFamily="18" charset="0"/>
              </a:rPr>
              <a:t>/</a:t>
            </a:r>
            <a:r>
              <a:rPr lang="en-US" altLang="zh-CN" b="1" i="1" dirty="0">
                <a:latin typeface="Times New Roman" panose="02020603050405020304" pitchFamily="18" charset="0"/>
              </a:rPr>
              <a:t>n</a:t>
            </a:r>
            <a:r>
              <a:rPr lang="zh-CN" altLang="en-US" b="1" dirty="0">
                <a:latin typeface="Times New Roman" panose="02020603050405020304" pitchFamily="18" charset="0"/>
              </a:rPr>
              <a:t>为既约分数</a:t>
            </a:r>
            <a:r>
              <a:rPr lang="zh-CN" altLang="en-US" b="1" dirty="0">
                <a:latin typeface="Times New Roman" panose="02020603050405020304" pitchFamily="18" charset="0"/>
                <a:ea typeface="宋体" panose="02010600030101010101" pitchFamily="2" charset="-122"/>
              </a:rPr>
              <a:t>）。</a:t>
            </a:r>
            <a:endParaRPr lang="en-US" altLang="zh-CN" b="1" dirty="0">
              <a:latin typeface="Times New Roman" panose="02020603050405020304" pitchFamily="18" charset="0"/>
              <a:ea typeface="宋体" panose="02010600030101010101" pitchFamily="2" charset="-122"/>
            </a:endParaRPr>
          </a:p>
          <a:p>
            <a:pPr eaLnBrk="1" hangingPunct="1">
              <a:lnSpc>
                <a:spcPct val="100000"/>
              </a:lnSpc>
              <a:spcBef>
                <a:spcPct val="50000"/>
              </a:spcBef>
            </a:pPr>
            <a:r>
              <a:rPr lang="zh-CN" altLang="en-US" sz="1800" b="1" dirty="0">
                <a:solidFill>
                  <a:schemeClr val="tx1"/>
                </a:solidFill>
                <a:latin typeface="Times New Roman" panose="02020603050405020304" pitchFamily="18" charset="0"/>
                <a:ea typeface="宋体" panose="02010600030101010101" pitchFamily="2" charset="-122"/>
              </a:rPr>
              <a:t>于是</a:t>
            </a:r>
            <a:r>
              <a:rPr lang="en-US" altLang="zh-CN" sz="1800" b="1" i="1" dirty="0">
                <a:solidFill>
                  <a:schemeClr val="tx1"/>
                </a:solidFill>
                <a:latin typeface="Times New Roman" panose="02020603050405020304" pitchFamily="18" charset="0"/>
                <a:ea typeface="宋体" panose="02010600030101010101" pitchFamily="2" charset="-122"/>
              </a:rPr>
              <a:t>m</a:t>
            </a:r>
            <a:r>
              <a:rPr lang="en-US" altLang="zh-CN" sz="1800" b="1" dirty="0">
                <a:solidFill>
                  <a:schemeClr val="tx1"/>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n</a:t>
            </a:r>
            <a:r>
              <a:rPr lang="en-US" altLang="zh-CN" sz="1800" b="1" dirty="0">
                <a:solidFill>
                  <a:schemeClr val="tx1"/>
                </a:solidFill>
                <a:latin typeface="Times New Roman" panose="02020603050405020304" pitchFamily="18" charset="0"/>
                <a:ea typeface="宋体" panose="02010600030101010101" pitchFamily="2" charset="-122"/>
              </a:rPr>
              <a:t>      , </a:t>
            </a:r>
            <a:r>
              <a:rPr lang="en-US" altLang="zh-CN" sz="1800" b="1" i="1" dirty="0">
                <a:solidFill>
                  <a:schemeClr val="tx1"/>
                </a:solidFill>
                <a:latin typeface="Times New Roman" panose="02020603050405020304" pitchFamily="18" charset="0"/>
                <a:ea typeface="宋体" panose="02010600030101010101" pitchFamily="2" charset="-122"/>
              </a:rPr>
              <a:t>m</a:t>
            </a:r>
            <a:r>
              <a:rPr lang="en-US" altLang="zh-CN" sz="1800" b="1" baseline="30000" dirty="0">
                <a:solidFill>
                  <a:schemeClr val="tx1"/>
                </a:solidFill>
                <a:latin typeface="Times New Roman" panose="02020603050405020304" pitchFamily="18" charset="0"/>
                <a:ea typeface="宋体" panose="02010600030101010101" pitchFamily="2" charset="-122"/>
              </a:rPr>
              <a:t>2</a:t>
            </a:r>
            <a:r>
              <a:rPr lang="en-US" altLang="zh-CN" sz="1800" b="1" dirty="0">
                <a:solidFill>
                  <a:schemeClr val="tx1"/>
                </a:solidFill>
                <a:latin typeface="Times New Roman" panose="02020603050405020304" pitchFamily="18" charset="0"/>
                <a:ea typeface="宋体" panose="02010600030101010101" pitchFamily="2" charset="-122"/>
              </a:rPr>
              <a:t>=2</a:t>
            </a:r>
            <a:r>
              <a:rPr lang="en-US" altLang="zh-CN" sz="1800" b="1" i="1" dirty="0">
                <a:solidFill>
                  <a:schemeClr val="tx1"/>
                </a:solidFill>
                <a:latin typeface="Times New Roman" panose="02020603050405020304" pitchFamily="18" charset="0"/>
                <a:ea typeface="宋体" panose="02010600030101010101" pitchFamily="2" charset="-122"/>
              </a:rPr>
              <a:t>n</a:t>
            </a:r>
            <a:r>
              <a:rPr lang="en-US" altLang="zh-CN" sz="1800" b="1" baseline="30000" dirty="0">
                <a:solidFill>
                  <a:schemeClr val="tx1"/>
                </a:solidFill>
                <a:latin typeface="Times New Roman" panose="02020603050405020304" pitchFamily="18" charset="0"/>
                <a:ea typeface="宋体" panose="02010600030101010101" pitchFamily="2" charset="-122"/>
              </a:rPr>
              <a:t>2</a:t>
            </a:r>
            <a:r>
              <a:rPr lang="en-US" altLang="zh-CN" sz="1800" b="1" dirty="0">
                <a:solidFill>
                  <a:schemeClr val="tx1"/>
                </a:solidFill>
                <a:latin typeface="Times New Roman" panose="02020603050405020304" pitchFamily="18" charset="0"/>
                <a:ea typeface="宋体" panose="02010600030101010101" pitchFamily="2" charset="-122"/>
              </a:rPr>
              <a:t>, </a:t>
            </a:r>
            <a:r>
              <a:rPr lang="en-US" altLang="zh-CN" sz="1800" b="1" i="1" dirty="0">
                <a:solidFill>
                  <a:schemeClr val="tx1"/>
                </a:solidFill>
                <a:latin typeface="Times New Roman" panose="02020603050405020304" pitchFamily="18" charset="0"/>
                <a:ea typeface="宋体" panose="02010600030101010101" pitchFamily="2" charset="-122"/>
              </a:rPr>
              <a:t>m</a:t>
            </a:r>
            <a:r>
              <a:rPr lang="en-US" altLang="zh-CN" sz="1800" b="1" baseline="30000" dirty="0">
                <a:solidFill>
                  <a:schemeClr val="tx1"/>
                </a:solidFill>
                <a:latin typeface="Times New Roman" panose="02020603050405020304" pitchFamily="18" charset="0"/>
                <a:ea typeface="宋体" panose="02010600030101010101" pitchFamily="2" charset="-122"/>
              </a:rPr>
              <a:t>2</a:t>
            </a:r>
            <a:r>
              <a:rPr lang="zh-CN" altLang="en-US" sz="1800" b="1" dirty="0">
                <a:solidFill>
                  <a:schemeClr val="tx1"/>
                </a:solidFill>
                <a:latin typeface="Times New Roman" panose="02020603050405020304" pitchFamily="18" charset="0"/>
                <a:ea typeface="宋体" panose="02010600030101010101" pitchFamily="2" charset="-122"/>
              </a:rPr>
              <a:t>是偶数, </a:t>
            </a:r>
          </a:p>
          <a:p>
            <a:pPr>
              <a:lnSpc>
                <a:spcPct val="120000"/>
              </a:lnSpc>
              <a:spcBef>
                <a:spcPct val="50000"/>
              </a:spcBef>
            </a:pPr>
            <a:r>
              <a:rPr lang="zh-CN" altLang="en-US" b="1" dirty="0">
                <a:latin typeface="Times New Roman" panose="02020603050405020304" pitchFamily="18" charset="0"/>
                <a:ea typeface="宋体" panose="02010600030101010101" pitchFamily="2" charset="-122"/>
              </a:rPr>
              <a:t>从而</a:t>
            </a:r>
            <a:r>
              <a:rPr lang="en-US" altLang="zh-CN" b="1" dirty="0">
                <a:latin typeface="Times New Roman" panose="02020603050405020304" pitchFamily="18" charset="0"/>
                <a:ea typeface="宋体" panose="02010600030101010101" pitchFamily="2" charset="-122"/>
              </a:rPr>
              <a:t>m</a:t>
            </a:r>
            <a:r>
              <a:rPr lang="zh-CN" altLang="en-US" b="1" dirty="0">
                <a:latin typeface="Times New Roman" panose="02020603050405020304" pitchFamily="18" charset="0"/>
                <a:ea typeface="宋体" panose="02010600030101010101" pitchFamily="2" charset="-122"/>
              </a:rPr>
              <a:t>是偶数. 设</a:t>
            </a:r>
            <a:r>
              <a:rPr lang="en-US" altLang="zh-CN" b="1" dirty="0">
                <a:latin typeface="Times New Roman" panose="02020603050405020304" pitchFamily="18" charset="0"/>
                <a:ea typeface="宋体" panose="02010600030101010101" pitchFamily="2" charset="-122"/>
              </a:rPr>
              <a:t>m=2k, </a:t>
            </a:r>
            <a:r>
              <a:rPr lang="zh-CN" altLang="en-US" b="1" dirty="0">
                <a:latin typeface="Times New Roman" panose="02020603050405020304" pitchFamily="18" charset="0"/>
                <a:ea typeface="宋体" panose="02010600030101010101" pitchFamily="2" charset="-122"/>
              </a:rPr>
              <a:t>得 (2</a:t>
            </a:r>
            <a:r>
              <a:rPr lang="en-US" altLang="zh-CN" b="1" dirty="0">
                <a:latin typeface="Times New Roman" panose="02020603050405020304" pitchFamily="18" charset="0"/>
                <a:ea typeface="宋体" panose="02010600030101010101" pitchFamily="2" charset="-122"/>
              </a:rPr>
              <a:t>k</a:t>
            </a:r>
            <a:r>
              <a:rPr lang="zh-CN" altLang="en-US" b="1" dirty="0">
                <a:latin typeface="Times New Roman" panose="02020603050405020304" pitchFamily="18" charset="0"/>
                <a:ea typeface="宋体" panose="02010600030101010101" pitchFamily="2" charset="-122"/>
              </a:rPr>
              <a:t>)</a:t>
            </a:r>
            <a:r>
              <a:rPr lang="en-US" altLang="zh-CN" b="1" baseline="30000" dirty="0">
                <a:latin typeface="Times New Roman" panose="02020603050405020304" pitchFamily="18" charset="0"/>
                <a:ea typeface="宋体" panose="02010600030101010101" pitchFamily="2" charset="-122"/>
              </a:rPr>
              <a:t>2</a:t>
            </a:r>
            <a:r>
              <a:rPr lang="en-US" altLang="zh-CN" b="1" dirty="0">
                <a:latin typeface="Times New Roman" panose="02020603050405020304" pitchFamily="18" charset="0"/>
                <a:ea typeface="宋体" panose="02010600030101010101" pitchFamily="2" charset="-122"/>
              </a:rPr>
              <a:t>=2n</a:t>
            </a:r>
            <a:r>
              <a:rPr lang="en-US" altLang="zh-CN" b="1" baseline="30000" dirty="0">
                <a:latin typeface="Times New Roman" panose="02020603050405020304" pitchFamily="18" charset="0"/>
                <a:ea typeface="宋体" panose="02010600030101010101" pitchFamily="2" charset="-122"/>
              </a:rPr>
              <a:t>2</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 </a:t>
            </a:r>
            <a:r>
              <a:rPr lang="en-US" altLang="zh-CN" b="1" dirty="0">
                <a:latin typeface="Times New Roman" panose="02020603050405020304" pitchFamily="18" charset="0"/>
                <a:ea typeface="宋体" panose="02010600030101010101" pitchFamily="2" charset="-122"/>
              </a:rPr>
              <a:t>n</a:t>
            </a:r>
            <a:r>
              <a:rPr lang="en-US" altLang="zh-CN" b="1" baseline="30000" dirty="0">
                <a:latin typeface="Times New Roman" panose="02020603050405020304" pitchFamily="18" charset="0"/>
                <a:ea typeface="宋体" panose="02010600030101010101" pitchFamily="2" charset="-122"/>
              </a:rPr>
              <a:t>2</a:t>
            </a:r>
            <a:r>
              <a:rPr lang="zh-CN" altLang="en-US" b="1" dirty="0">
                <a:latin typeface="Times New Roman" panose="02020603050405020304" pitchFamily="18" charset="0"/>
                <a:ea typeface="宋体" panose="02010600030101010101" pitchFamily="2" charset="-122"/>
              </a:rPr>
              <a:t>=2</a:t>
            </a:r>
            <a:r>
              <a:rPr lang="en-US" altLang="zh-CN" b="1" dirty="0">
                <a:latin typeface="Times New Roman" panose="02020603050405020304" pitchFamily="18" charset="0"/>
                <a:ea typeface="宋体" panose="02010600030101010101" pitchFamily="2" charset="-122"/>
              </a:rPr>
              <a:t>k</a:t>
            </a:r>
            <a:r>
              <a:rPr lang="en-US" altLang="zh-CN" b="1" baseline="30000" dirty="0">
                <a:latin typeface="Times New Roman" panose="02020603050405020304" pitchFamily="18" charset="0"/>
                <a:ea typeface="宋体" panose="02010600030101010101" pitchFamily="2" charset="-122"/>
              </a:rPr>
              <a:t>2</a:t>
            </a: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这又得到</a:t>
            </a:r>
            <a:r>
              <a:rPr lang="en-US" altLang="zh-CN" b="1" dirty="0">
                <a:latin typeface="Times New Roman" panose="02020603050405020304" pitchFamily="18" charset="0"/>
                <a:ea typeface="宋体" panose="02010600030101010101" pitchFamily="2" charset="-122"/>
              </a:rPr>
              <a:t>n</a:t>
            </a:r>
            <a:r>
              <a:rPr lang="zh-CN" altLang="en-US" b="1" dirty="0">
                <a:latin typeface="Times New Roman" panose="02020603050405020304" pitchFamily="18" charset="0"/>
                <a:ea typeface="宋体" panose="02010600030101010101" pitchFamily="2" charset="-122"/>
              </a:rPr>
              <a:t>也</a:t>
            </a:r>
            <a:r>
              <a:rPr lang="zh-CN" altLang="en-US" sz="1800" b="1" dirty="0">
                <a:solidFill>
                  <a:schemeClr val="tx1"/>
                </a:solidFill>
                <a:latin typeface="Times New Roman" panose="02020603050405020304" pitchFamily="18" charset="0"/>
                <a:ea typeface="宋体" panose="02010600030101010101" pitchFamily="2" charset="-122"/>
              </a:rPr>
              <a:t>是偶数, 与</a:t>
            </a:r>
            <a:r>
              <a:rPr lang="en-US" altLang="zh-CN" sz="1800" b="1" i="1" dirty="0">
                <a:solidFill>
                  <a:schemeClr val="tx1"/>
                </a:solidFill>
                <a:latin typeface="Times New Roman" panose="02020603050405020304" pitchFamily="18" charset="0"/>
                <a:ea typeface="宋体" panose="02010600030101010101" pitchFamily="2" charset="-122"/>
              </a:rPr>
              <a:t>m</a:t>
            </a:r>
            <a:r>
              <a:rPr lang="en-US" altLang="zh-CN" sz="1800" b="1" dirty="0">
                <a:solidFill>
                  <a:schemeClr val="tx1"/>
                </a:solidFill>
                <a:latin typeface="Times New Roman" panose="02020603050405020304" pitchFamily="18" charset="0"/>
                <a:ea typeface="宋体" panose="02010600030101010101" pitchFamily="2" charset="-122"/>
              </a:rPr>
              <a:t>/</a:t>
            </a:r>
            <a:r>
              <a:rPr lang="en-US" altLang="zh-CN" sz="1800" b="1" i="1" dirty="0">
                <a:solidFill>
                  <a:schemeClr val="tx1"/>
                </a:solidFill>
                <a:latin typeface="Times New Roman" panose="02020603050405020304" pitchFamily="18" charset="0"/>
                <a:ea typeface="宋体" panose="02010600030101010101" pitchFamily="2" charset="-122"/>
              </a:rPr>
              <a:t>n</a:t>
            </a:r>
            <a:r>
              <a:rPr lang="zh-CN" altLang="en-US" sz="1800" b="1" dirty="0">
                <a:solidFill>
                  <a:schemeClr val="tx1"/>
                </a:solidFill>
                <a:latin typeface="Times New Roman" panose="02020603050405020304" pitchFamily="18" charset="0"/>
                <a:ea typeface="宋体" panose="02010600030101010101" pitchFamily="2" charset="-122"/>
              </a:rPr>
              <a:t>为既约分数矛盾.</a:t>
            </a:r>
          </a:p>
          <a:p>
            <a:pPr eaLnBrk="1" hangingPunct="1">
              <a:spcBef>
                <a:spcPct val="50000"/>
              </a:spcBef>
            </a:pPr>
            <a:endParaRPr lang="zh-CN" altLang="en-US" sz="1800" b="1" dirty="0">
              <a:solidFill>
                <a:schemeClr val="tx1"/>
              </a:solidFill>
              <a:latin typeface="Times New Roman" panose="02020603050405020304" pitchFamily="18" charset="0"/>
              <a:ea typeface="宋体" panose="02010600030101010101" pitchFamily="2" charset="-122"/>
            </a:endParaRPr>
          </a:p>
          <a:p>
            <a:pPr eaLnBrk="1" hangingPunct="1">
              <a:spcBef>
                <a:spcPct val="50000"/>
              </a:spcBef>
            </a:pPr>
            <a:r>
              <a:rPr lang="zh-CN" altLang="en-US" sz="1800" b="1" dirty="0">
                <a:solidFill>
                  <a:schemeClr val="tx1"/>
                </a:solidFill>
                <a:latin typeface="Times New Roman" panose="02020603050405020304" pitchFamily="18" charset="0"/>
                <a:ea typeface="宋体" panose="02010600030101010101" pitchFamily="2" charset="-122"/>
              </a:rPr>
              <a:t>间接证明法是归谬法的特殊形式:</a:t>
            </a:r>
            <a:r>
              <a:rPr kumimoji="1" lang="en-US" altLang="zh-CN"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kumimoji="1" lang="zh-CN" altLang="en-US"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由</a:t>
            </a:r>
            <a:r>
              <a:rPr kumimoji="1" lang="en-US" altLang="zh-CN" sz="1800" b="1" i="1" dirty="0">
                <a:solidFill>
                  <a:schemeClr val="tx1"/>
                </a:solidFill>
                <a:latin typeface="Times New Roman" panose="02020603050405020304" pitchFamily="18" charset="0"/>
                <a:ea typeface="宋体" panose="02010600030101010101" pitchFamily="2" charset="-122"/>
              </a:rPr>
              <a:t>B</a:t>
            </a:r>
            <a:r>
              <a:rPr kumimoji="1" lang="zh-CN" altLang="en-US" sz="1800" b="1" dirty="0">
                <a:solidFill>
                  <a:schemeClr val="tx1"/>
                </a:solidFill>
                <a:latin typeface="Times New Roman" panose="02020603050405020304" pitchFamily="18" charset="0"/>
                <a:ea typeface="宋体" panose="02010600030101010101" pitchFamily="2" charset="-122"/>
              </a:rPr>
              <a:t>不成立推出</a:t>
            </a:r>
            <a:r>
              <a:rPr kumimoji="1" lang="en-US" altLang="zh-CN" sz="1800" b="1" i="1" dirty="0">
                <a:solidFill>
                  <a:schemeClr val="tx1"/>
                </a:solidFill>
                <a:latin typeface="Times New Roman" panose="02020603050405020304" pitchFamily="18" charset="0"/>
                <a:ea typeface="宋体" panose="02010600030101010101" pitchFamily="2" charset="-122"/>
              </a:rPr>
              <a:t>A</a:t>
            </a:r>
            <a:r>
              <a:rPr lang="zh-CN" altLang="en-US" sz="1800" b="1" dirty="0">
                <a:solidFill>
                  <a:schemeClr val="tx1"/>
                </a:solidFill>
                <a:latin typeface="Times New Roman" panose="02020603050405020304" pitchFamily="18" charset="0"/>
                <a:ea typeface="宋体" panose="02010600030101010101" pitchFamily="2" charset="-122"/>
              </a:rPr>
              <a:t>不成立</a:t>
            </a:r>
            <a:r>
              <a:rPr lang="en-US" altLang="zh-CN" sz="1800" b="1" dirty="0">
                <a:solidFill>
                  <a:schemeClr val="tx1"/>
                </a:solidFill>
                <a:latin typeface="Times New Roman" panose="02020603050405020304" pitchFamily="18" charset="0"/>
                <a:ea typeface="宋体" panose="02010600030101010101" pitchFamily="2" charset="-122"/>
              </a:rPr>
              <a:t>,</a:t>
            </a:r>
            <a:r>
              <a:rPr lang="zh-CN" altLang="en-US" sz="1800" b="1" dirty="0">
                <a:solidFill>
                  <a:schemeClr val="tx1"/>
                </a:solidFill>
                <a:latin typeface="Times New Roman" panose="02020603050405020304" pitchFamily="18" charset="0"/>
                <a:ea typeface="宋体" panose="02010600030101010101" pitchFamily="2" charset="-122"/>
              </a:rPr>
              <a:t> 与前提</a:t>
            </a:r>
            <a:r>
              <a:rPr kumimoji="1" lang="en-US" altLang="zh-CN" sz="1800" b="1" i="1" dirty="0">
                <a:solidFill>
                  <a:schemeClr val="tx1"/>
                </a:solidFill>
                <a:latin typeface="Times New Roman" panose="02020603050405020304" pitchFamily="18" charset="0"/>
                <a:ea typeface="宋体" panose="02010600030101010101" pitchFamily="2" charset="-122"/>
              </a:rPr>
              <a:t>A</a:t>
            </a:r>
            <a:r>
              <a:rPr kumimoji="1" lang="zh-CN" altLang="en-US"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成立矛盾</a:t>
            </a:r>
            <a:r>
              <a:rPr kumimoji="1" lang="en-US" altLang="zh-CN" sz="1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zh-CN" altLang="en-US" sz="1800" b="1" dirty="0">
              <a:solidFill>
                <a:schemeClr val="tx1"/>
              </a:solidFill>
              <a:latin typeface="Times New Roman" panose="02020603050405020304" pitchFamily="18" charset="0"/>
              <a:ea typeface="宋体" panose="0201060003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31</a:t>
            </a:fld>
            <a:endParaRPr lang="zh-CN" altLang="en-US"/>
          </a:p>
        </p:txBody>
      </p:sp>
    </p:spTree>
    <p:extLst>
      <p:ext uri="{BB962C8B-B14F-4D97-AF65-F5344CB8AC3E}">
        <p14:creationId xmlns:p14="http://schemas.microsoft.com/office/powerpoint/2010/main" val="33410591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b="1"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穷举法</a:t>
            </a:r>
            <a:r>
              <a:rPr lang="zh-CN" altLang="zh-CN" sz="1800" dirty="0">
                <a:effectLst/>
                <a:ea typeface="等线" panose="02010600030101010101" pitchFamily="2" charset="-122"/>
                <a:cs typeface="Times New Roman" panose="02020603050405020304" pitchFamily="18" charset="0"/>
              </a:rPr>
              <a:t>：通过列举所有可能的情况并验证每一种情况，来证明一个命题。它适用于可能情况数量有限的场景</a:t>
            </a:r>
            <a:endParaRPr lang="en-US" altLang="zh-CN" sz="1800" dirty="0">
              <a:effectLst/>
              <a:ea typeface="等线" panose="02010600030101010101" pitchFamily="2" charset="-122"/>
              <a:cs typeface="Times New Roman" panose="02020603050405020304" pitchFamily="18" charset="0"/>
            </a:endParaRPr>
          </a:p>
          <a:p>
            <a:pPr>
              <a:spcBef>
                <a:spcPct val="40000"/>
              </a:spcBef>
              <a:buNone/>
            </a:pPr>
            <a:r>
              <a:rPr lang="zh-CN" altLang="zh-CN" b="1" dirty="0">
                <a:solidFill>
                  <a:srgbClr val="FF0000"/>
                </a:solidFill>
              </a:rPr>
              <a:t>定义</a:t>
            </a:r>
            <a:r>
              <a:rPr lang="zh-CN" altLang="zh-CN" b="1" dirty="0"/>
              <a:t>：穷举法</a:t>
            </a:r>
            <a:r>
              <a:rPr lang="zh-CN" altLang="en-US" b="1" dirty="0"/>
              <a:t>（</a:t>
            </a:r>
            <a:r>
              <a:rPr lang="zh-CN" altLang="zh-CN" b="1" dirty="0"/>
              <a:t>穷尽法</a:t>
            </a:r>
            <a:r>
              <a:rPr lang="zh-CN" altLang="en-US" b="1" dirty="0"/>
              <a:t>）</a:t>
            </a:r>
            <a:r>
              <a:rPr lang="zh-CN" altLang="zh-CN" b="1" dirty="0"/>
              <a:t>，是一种通过检验所有可能的情况来证明命题的方法。这种方法通常用于问题的可能情况数量有限并且可以明确列出的情况。</a:t>
            </a:r>
          </a:p>
          <a:p>
            <a:pPr>
              <a:spcBef>
                <a:spcPct val="40000"/>
              </a:spcBef>
              <a:buNone/>
            </a:pPr>
            <a:r>
              <a:rPr lang="zh-CN" altLang="zh-CN" b="1" dirty="0">
                <a:solidFill>
                  <a:srgbClr val="FF0000"/>
                </a:solidFill>
              </a:rPr>
              <a:t>使用场景</a:t>
            </a:r>
            <a:r>
              <a:rPr lang="zh-CN" altLang="zh-CN" b="1" dirty="0"/>
              <a:t>：它适用于问题的解空间小且可管理的情况。</a:t>
            </a:r>
          </a:p>
          <a:p>
            <a:pPr>
              <a:spcBef>
                <a:spcPct val="40000"/>
              </a:spcBef>
              <a:buNone/>
            </a:pPr>
            <a:r>
              <a:rPr lang="zh-CN" altLang="zh-CN" b="1" dirty="0">
                <a:solidFill>
                  <a:srgbClr val="FF0000"/>
                </a:solidFill>
              </a:rPr>
              <a:t>证明过程</a:t>
            </a:r>
            <a:r>
              <a:rPr lang="zh-CN" altLang="zh-CN" b="1" dirty="0"/>
              <a:t>：证明者需要一一检验每种可能的情况，并证明在这些情况下命题都是成立的。</a:t>
            </a:r>
          </a:p>
          <a:p>
            <a:pPr>
              <a:spcBef>
                <a:spcPct val="40000"/>
              </a:spcBef>
              <a:buNone/>
            </a:pPr>
            <a:r>
              <a:rPr lang="zh-CN" altLang="zh-CN" b="1" dirty="0">
                <a:solidFill>
                  <a:srgbClr val="FF0000"/>
                </a:solidFill>
              </a:rPr>
              <a:t>特点</a:t>
            </a:r>
            <a:r>
              <a:rPr lang="zh-CN" altLang="zh-CN" b="1" dirty="0"/>
              <a:t>：穷举法的关键在于完全性</a:t>
            </a:r>
            <a:r>
              <a:rPr lang="zh-CN" altLang="en-US" b="1" dirty="0"/>
              <a:t>，</a:t>
            </a:r>
            <a:r>
              <a:rPr lang="zh-CN" altLang="zh-CN" b="1" dirty="0"/>
              <a:t>即确保所有可能的情况都被考虑到。但它在解空间大时通常不可行。</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32</a:t>
            </a:fld>
            <a:endParaRPr lang="zh-CN" altLang="en-US"/>
          </a:p>
        </p:txBody>
      </p:sp>
    </p:spTree>
    <p:extLst>
      <p:ext uri="{BB962C8B-B14F-4D97-AF65-F5344CB8AC3E}">
        <p14:creationId xmlns:p14="http://schemas.microsoft.com/office/powerpoint/2010/main" val="7222586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gn="just">
              <a:buNone/>
            </a:pPr>
            <a:r>
              <a:rPr lang="zh-CN" altLang="zh-CN" sz="2800" b="1" dirty="0">
                <a:solidFill>
                  <a:srgbClr val="FF0000"/>
                </a:solidFill>
              </a:rPr>
              <a:t>定义</a:t>
            </a:r>
            <a:r>
              <a:rPr lang="zh-CN" altLang="zh-CN" sz="2800" b="1" dirty="0"/>
              <a:t>：分情况证明法是将原问题分解成若干个更小的、更易于管理的子问题，并对每个子问题分别进行证明的方法。这些子问题的总和涵盖了原问题的所有情况。</a:t>
            </a:r>
          </a:p>
          <a:p>
            <a:pPr marL="0" indent="0" algn="just">
              <a:buNone/>
            </a:pPr>
            <a:r>
              <a:rPr lang="zh-CN" altLang="zh-CN" sz="2800" b="1" dirty="0">
                <a:solidFill>
                  <a:srgbClr val="FF0000"/>
                </a:solidFill>
              </a:rPr>
              <a:t>使用场景</a:t>
            </a:r>
            <a:r>
              <a:rPr lang="zh-CN" altLang="zh-CN" sz="2800" b="1" dirty="0"/>
              <a:t>：它适用于问题本身具有自然的分类，或者可以通过逻辑上的划分来简化问题的解决。</a:t>
            </a:r>
          </a:p>
          <a:p>
            <a:pPr marL="0" indent="0" algn="just">
              <a:buNone/>
            </a:pPr>
            <a:r>
              <a:rPr lang="zh-CN" altLang="zh-CN" sz="2800" b="1" dirty="0">
                <a:solidFill>
                  <a:srgbClr val="FF0000"/>
                </a:solidFill>
              </a:rPr>
              <a:t>证明过程</a:t>
            </a:r>
            <a:r>
              <a:rPr lang="zh-CN" altLang="zh-CN" sz="2800" b="1" dirty="0"/>
              <a:t>：证明者根据问题的不同特征或条件将其分解成若干个互不相交的情况，对每种情况分别证明命题的正确性。</a:t>
            </a:r>
          </a:p>
          <a:p>
            <a:pPr marL="0" indent="0" algn="just">
              <a:buNone/>
            </a:pPr>
            <a:r>
              <a:rPr lang="zh-CN" altLang="zh-CN" sz="2800" b="1" dirty="0">
                <a:solidFill>
                  <a:srgbClr val="FF0000"/>
                </a:solidFill>
              </a:rPr>
              <a:t>特点</a:t>
            </a:r>
            <a:r>
              <a:rPr lang="zh-CN" altLang="zh-CN" sz="2800" b="1" dirty="0"/>
              <a:t>：分情况证明法的重点在于对问题的有效划分和每个子情况的独立处理。这种方法在不同的情况下可能有不同的证明策略。</a:t>
            </a:r>
          </a:p>
        </p:txBody>
      </p:sp>
      <p:sp>
        <p:nvSpPr>
          <p:cNvPr id="4" name="灯片编号占位符 3"/>
          <p:cNvSpPr>
            <a:spLocks noGrp="1"/>
          </p:cNvSpPr>
          <p:nvPr>
            <p:ph type="sldNum" sz="quarter" idx="10"/>
          </p:nvPr>
        </p:nvSpPr>
        <p:spPr/>
        <p:txBody>
          <a:bodyPr/>
          <a:lstStyle/>
          <a:p>
            <a:fld id="{CAFE74B6-F93C-4D90-BE1A-7EFEDB35C0D4}" type="slidenum">
              <a:rPr lang="zh-CN" altLang="en-US" smtClean="0"/>
              <a:t>33</a:t>
            </a:fld>
            <a:endParaRPr lang="zh-CN" altLang="en-US"/>
          </a:p>
        </p:txBody>
      </p:sp>
    </p:spTree>
    <p:extLst>
      <p:ext uri="{BB962C8B-B14F-4D97-AF65-F5344CB8AC3E}">
        <p14:creationId xmlns:p14="http://schemas.microsoft.com/office/powerpoint/2010/main" val="30169721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b="1"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穷举法</a:t>
            </a:r>
            <a:r>
              <a:rPr lang="zh-CN" altLang="zh-CN" sz="1800" dirty="0">
                <a:effectLst/>
                <a:ea typeface="等线" panose="02010600030101010101" pitchFamily="2" charset="-122"/>
                <a:cs typeface="Times New Roman" panose="02020603050405020304" pitchFamily="18" charset="0"/>
              </a:rPr>
              <a:t>：通过列举所有可能的情况并验证每一种情况，来证明一个命题。它适用于可能情况数量有限的场景</a:t>
            </a:r>
            <a:endParaRPr lang="en-US" altLang="zh-CN" sz="1800" dirty="0">
              <a:effectLst/>
              <a:ea typeface="等线" panose="02010600030101010101" pitchFamily="2" charset="-122"/>
              <a:cs typeface="Times New Roman" panose="02020603050405020304" pitchFamily="18" charset="0"/>
            </a:endParaRPr>
          </a:p>
          <a:p>
            <a:pPr eaLnBrk="1" hangingPunct="1">
              <a:spcBef>
                <a:spcPct val="40000"/>
              </a:spcBef>
              <a:buFontTx/>
              <a:buNone/>
            </a:pPr>
            <a:r>
              <a:rPr lang="zh-CN" altLang="en-US" sz="1200" b="1" dirty="0"/>
              <a:t>待证明的命题形式为</a:t>
            </a:r>
            <a:r>
              <a:rPr lang="en-US" altLang="zh-CN" sz="1200" b="1" i="1" dirty="0"/>
              <a:t>A</a:t>
            </a:r>
            <a:r>
              <a:rPr lang="zh-CN" altLang="en-US" sz="1200" b="1" dirty="0"/>
              <a:t>= </a:t>
            </a:r>
            <a:r>
              <a:rPr lang="en-US" altLang="zh-CN" sz="1200" b="1" i="1" dirty="0"/>
              <a:t>A</a:t>
            </a:r>
            <a:r>
              <a:rPr lang="zh-CN" altLang="en-US" sz="1200" b="1" baseline="-25000" dirty="0"/>
              <a:t>1</a:t>
            </a:r>
            <a:r>
              <a:rPr lang="en-US" altLang="zh-CN" sz="1200" b="1" dirty="0">
                <a:sym typeface="Symbol" panose="05050102010706020507" pitchFamily="18" charset="2"/>
              </a:rPr>
              <a:t></a:t>
            </a:r>
            <a:r>
              <a:rPr lang="en-US" altLang="zh-CN" sz="1200" b="1" i="1" dirty="0"/>
              <a:t>A</a:t>
            </a:r>
            <a:r>
              <a:rPr lang="en-US" altLang="zh-CN" sz="1200" b="1" baseline="-25000" dirty="0"/>
              <a:t>2</a:t>
            </a:r>
            <a:r>
              <a:rPr lang="en-US" altLang="zh-CN" sz="1200" b="1" dirty="0">
                <a:sym typeface="Symbol" panose="05050102010706020507" pitchFamily="18" charset="2"/>
              </a:rPr>
              <a:t></a:t>
            </a:r>
            <a:r>
              <a:rPr lang="en-US" altLang="zh-CN" sz="1200" b="1" dirty="0">
                <a:cs typeface="Times New Roman" panose="02020603050405020304" pitchFamily="18" charset="0"/>
              </a:rPr>
              <a:t>…</a:t>
            </a:r>
            <a:r>
              <a:rPr lang="en-US" altLang="zh-CN" sz="1200" b="1" dirty="0">
                <a:sym typeface="Symbol" panose="05050102010706020507" pitchFamily="18" charset="2"/>
              </a:rPr>
              <a:t></a:t>
            </a:r>
            <a:r>
              <a:rPr lang="en-US" altLang="zh-CN" sz="1200" b="1" i="1" dirty="0"/>
              <a:t>A</a:t>
            </a:r>
            <a:r>
              <a:rPr lang="en-US" altLang="zh-CN" sz="1200" b="1" i="1" baseline="-25000" dirty="0"/>
              <a:t>k</a:t>
            </a:r>
            <a:r>
              <a:rPr lang="en-US" altLang="zh-CN" sz="1200" b="1" dirty="0">
                <a:sym typeface="Symbol" panose="05050102010706020507" pitchFamily="18" charset="2"/>
              </a:rPr>
              <a:t> </a:t>
            </a:r>
            <a:r>
              <a:rPr lang="en-US" altLang="zh-CN" sz="1200" b="1" i="1" dirty="0">
                <a:cs typeface="Times New Roman" panose="02020603050405020304" pitchFamily="18" charset="0"/>
              </a:rPr>
              <a:t>B.</a:t>
            </a:r>
            <a:endParaRPr lang="en-US" altLang="zh-CN" sz="1200" b="1" dirty="0">
              <a:sym typeface="Symbol" panose="05050102010706020507" pitchFamily="18" charset="2"/>
            </a:endParaRPr>
          </a:p>
          <a:p>
            <a:pPr eaLnBrk="1" hangingPunct="1">
              <a:spcBef>
                <a:spcPct val="40000"/>
              </a:spcBef>
              <a:buFontTx/>
              <a:buNone/>
            </a:pPr>
            <a:r>
              <a:rPr lang="zh-CN" altLang="en-US" sz="1200" b="1" dirty="0">
                <a:solidFill>
                  <a:srgbClr val="FF0000"/>
                </a:solidFill>
                <a:sym typeface="Symbol" panose="05050102010706020507" pitchFamily="18" charset="2"/>
              </a:rPr>
              <a:t>做法</a:t>
            </a:r>
            <a:r>
              <a:rPr lang="zh-CN" altLang="en-US" sz="1200" b="1" dirty="0">
                <a:sym typeface="Symbol" panose="05050102010706020507" pitchFamily="18" charset="2"/>
              </a:rPr>
              <a:t>  分别证明</a:t>
            </a:r>
            <a:r>
              <a:rPr lang="en-US" altLang="zh-CN" sz="1200" b="1" i="1" dirty="0"/>
              <a:t>A</a:t>
            </a:r>
            <a:r>
              <a:rPr lang="en-US" altLang="zh-CN" sz="1200" b="1" baseline="-25000" dirty="0"/>
              <a:t>1</a:t>
            </a:r>
            <a:r>
              <a:rPr lang="en-US" altLang="zh-CN" sz="1200" b="1" dirty="0">
                <a:sym typeface="Symbol" panose="05050102010706020507" pitchFamily="18" charset="2"/>
              </a:rPr>
              <a:t></a:t>
            </a:r>
            <a:r>
              <a:rPr lang="en-US" altLang="zh-CN" sz="1200" b="1" i="1" dirty="0">
                <a:cs typeface="Times New Roman" panose="02020603050405020304" pitchFamily="18" charset="0"/>
              </a:rPr>
              <a:t>B, </a:t>
            </a:r>
            <a:r>
              <a:rPr lang="en-US" altLang="zh-CN" sz="1200" b="1" i="1" dirty="0"/>
              <a:t>A</a:t>
            </a:r>
            <a:r>
              <a:rPr lang="en-US" altLang="zh-CN" sz="1200" b="1" baseline="-25000" dirty="0"/>
              <a:t>2</a:t>
            </a:r>
            <a:r>
              <a:rPr lang="en-US" altLang="zh-CN" sz="1200" b="1" dirty="0">
                <a:sym typeface="Symbol" panose="05050102010706020507" pitchFamily="18" charset="2"/>
              </a:rPr>
              <a:t></a:t>
            </a:r>
            <a:r>
              <a:rPr lang="en-US" altLang="zh-CN" sz="1200" b="1" i="1" dirty="0">
                <a:cs typeface="Times New Roman" panose="02020603050405020304" pitchFamily="18" charset="0"/>
              </a:rPr>
              <a:t>B,</a:t>
            </a:r>
            <a:r>
              <a:rPr lang="en-US" altLang="zh-CN" sz="1200" b="1" dirty="0">
                <a:cs typeface="Times New Roman" panose="02020603050405020304" pitchFamily="18" charset="0"/>
              </a:rPr>
              <a:t>…,</a:t>
            </a:r>
            <a:r>
              <a:rPr lang="en-US" altLang="zh-CN" sz="1200" b="1" i="1" dirty="0">
                <a:cs typeface="Times New Roman" panose="02020603050405020304" pitchFamily="18" charset="0"/>
              </a:rPr>
              <a:t> </a:t>
            </a:r>
            <a:r>
              <a:rPr lang="en-US" altLang="zh-CN" sz="1200" b="1" i="1" dirty="0" err="1"/>
              <a:t>A</a:t>
            </a:r>
            <a:r>
              <a:rPr lang="en-US" altLang="zh-CN" sz="1200" b="1" i="1" baseline="-25000" dirty="0" err="1"/>
              <a:t>k</a:t>
            </a:r>
            <a:r>
              <a:rPr lang="en-US" altLang="zh-CN" sz="1200" b="1" dirty="0" err="1">
                <a:sym typeface="Symbol" panose="05050102010706020507" pitchFamily="18" charset="2"/>
              </a:rPr>
              <a:t></a:t>
            </a:r>
            <a:r>
              <a:rPr lang="en-US" altLang="zh-CN" sz="1200" b="1" i="1" dirty="0" err="1">
                <a:cs typeface="Times New Roman" panose="02020603050405020304" pitchFamily="18" charset="0"/>
              </a:rPr>
              <a:t>B</a:t>
            </a:r>
            <a:r>
              <a:rPr lang="en-US" altLang="zh-CN" sz="1200" b="1" i="1" dirty="0">
                <a:cs typeface="Times New Roman" panose="02020603050405020304" pitchFamily="18" charset="0"/>
              </a:rPr>
              <a:t> </a:t>
            </a:r>
            <a:r>
              <a:rPr lang="zh-CN" altLang="en-US" sz="1200" b="1" dirty="0"/>
              <a:t>均为真</a:t>
            </a:r>
            <a:endParaRPr lang="en-US" altLang="zh-CN" sz="1200" b="1" dirty="0"/>
          </a:p>
          <a:p>
            <a:pPr eaLnBrk="1" hangingPunct="1">
              <a:spcBef>
                <a:spcPct val="40000"/>
              </a:spcBef>
              <a:buFontTx/>
              <a:buNone/>
            </a:pPr>
            <a:endParaRPr lang="en-US" altLang="zh-CN" sz="1200" b="1" dirty="0"/>
          </a:p>
          <a:p>
            <a:pPr eaLnBrk="1" hangingPunct="1">
              <a:buFontTx/>
              <a:buNone/>
            </a:pPr>
            <a:r>
              <a:rPr lang="zh-CN" altLang="en-US" sz="1200" b="1" dirty="0">
                <a:solidFill>
                  <a:srgbClr val="800000"/>
                </a:solidFill>
              </a:rPr>
              <a:t>例5</a:t>
            </a:r>
            <a:r>
              <a:rPr lang="zh-CN" altLang="en-US" sz="1200" b="1" dirty="0"/>
              <a:t> 证明:</a:t>
            </a:r>
            <a:r>
              <a:rPr lang="en-US" altLang="zh-CN" sz="1200" b="1" dirty="0"/>
              <a:t>max(</a:t>
            </a:r>
            <a:r>
              <a:rPr lang="en-US" altLang="zh-CN" sz="1200" b="1" i="1" dirty="0"/>
              <a:t>a</a:t>
            </a:r>
            <a:r>
              <a:rPr lang="en-US" altLang="zh-CN" sz="1200" b="1" dirty="0"/>
              <a:t>, max(</a:t>
            </a:r>
            <a:r>
              <a:rPr lang="en-US" altLang="zh-CN" sz="1200" b="1" i="1" dirty="0" err="1"/>
              <a:t>b,c</a:t>
            </a:r>
            <a:r>
              <a:rPr lang="en-US" altLang="zh-CN" sz="1200" b="1" dirty="0"/>
              <a:t>))=max(max(</a:t>
            </a:r>
            <a:r>
              <a:rPr lang="en-US" altLang="zh-CN" sz="1200" b="1" i="1" dirty="0" err="1"/>
              <a:t>a,b</a:t>
            </a:r>
            <a:r>
              <a:rPr lang="en-US" altLang="zh-CN" sz="1200" b="1" dirty="0"/>
              <a:t>),</a:t>
            </a:r>
            <a:r>
              <a:rPr lang="en-US" altLang="zh-CN" sz="1200" b="1" i="1" dirty="0"/>
              <a:t>c</a:t>
            </a:r>
            <a:r>
              <a:rPr lang="en-US" altLang="zh-CN" sz="1200" b="1" dirty="0"/>
              <a:t>)</a:t>
            </a:r>
          </a:p>
          <a:p>
            <a:pPr eaLnBrk="1" hangingPunct="1">
              <a:buFontTx/>
              <a:buNone/>
            </a:pPr>
            <a:r>
              <a:rPr lang="zh-CN" altLang="en-US" sz="1200" b="1" dirty="0"/>
              <a:t>证： </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34</a:t>
            </a:fld>
            <a:endParaRPr lang="zh-CN" altLang="en-US"/>
          </a:p>
        </p:txBody>
      </p:sp>
    </p:spTree>
    <p:extLst>
      <p:ext uri="{BB962C8B-B14F-4D97-AF65-F5344CB8AC3E}">
        <p14:creationId xmlns:p14="http://schemas.microsoft.com/office/powerpoint/2010/main" val="25731803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因为</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err="1">
                <a:solidFill>
                  <a:srgbClr val="374151"/>
                </a:solidFill>
                <a:effectLst/>
                <a:latin typeface="KaTeX_Math"/>
                <a:ea typeface="等线" panose="02010600030101010101" pitchFamily="2" charset="-122"/>
                <a:cs typeface="Times New Roman" panose="02020603050405020304" pitchFamily="18" charset="0"/>
              </a:rPr>
              <a:t>i</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是</a:t>
            </a:r>
            <a:r>
              <a:rPr lang="en-US" altLang="zh-CN" sz="1800" i="0" kern="100" dirty="0">
                <a:solidFill>
                  <a:srgbClr val="374151"/>
                </a:solidFill>
                <a:effectLst/>
                <a:latin typeface="Segoe UI" panose="020B0502040204020203" pitchFamily="34" charset="0"/>
                <a:ea typeface="等线" panose="02010600030101010101" pitchFamily="2" charset="-122"/>
                <a:cs typeface="Times New Roman" panose="02020603050405020304" pitchFamily="18" charset="0"/>
              </a:rPr>
              <a:t> 2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到</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n</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1</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之间的整数，所以</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err="1">
                <a:solidFill>
                  <a:srgbClr val="374151"/>
                </a:solidFill>
                <a:effectLst/>
                <a:latin typeface="KaTeX_Math"/>
                <a:ea typeface="等线" panose="02010600030101010101" pitchFamily="2" charset="-122"/>
                <a:cs typeface="Times New Roman" panose="02020603050405020304" pitchFamily="18" charset="0"/>
              </a:rPr>
              <a:t>i</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必然是</a:t>
            </a:r>
            <a:r>
              <a:rPr lang="zh-CN" altLang="zh-CN" sz="1800" i="0" kern="100" dirty="0">
                <a:solidFill>
                  <a:srgbClr val="374151"/>
                </a:solidFill>
                <a:effectLst/>
                <a:latin typeface="等线" panose="02010600030101010101" pitchFamily="2" charset="-122"/>
                <a:ea typeface="Times New Roman" panose="02020603050405020304" pitchFamily="18" charset="0"/>
                <a:cs typeface="Times New Roman" panose="02020603050405020304" pitchFamily="18" charset="0"/>
              </a:rPr>
              <a:t> </a:t>
            </a:r>
            <a:r>
              <a:rPr lang="en-US" altLang="zh-CN" sz="1800" i="0" kern="100" dirty="0">
                <a:solidFill>
                  <a:srgbClr val="374151"/>
                </a:solidFill>
                <a:effectLst/>
                <a:latin typeface="等线" panose="02010600030101010101" pitchFamily="2" charset="-122"/>
                <a:ea typeface="Times New Roman" panose="02020603050405020304" pitchFamily="18" charset="0"/>
                <a:cs typeface="Times New Roman" panose="02020603050405020304" pitchFamily="18" charset="0"/>
              </a:rPr>
              <a:t>(</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n</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1</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的一个因子（因为</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n</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+1)!</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是所有小于等于</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n</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1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的正整数的乘积）。</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这意味着每个数</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n</a:t>
            </a:r>
            <a:r>
              <a:rPr lang="en-US" altLang="zh-CN" sz="1800" i="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+1)!+</a:t>
            </a:r>
            <a:r>
              <a:rPr lang="en-US" altLang="zh-CN" sz="1800" i="0" kern="100" dirty="0" err="1">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i</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都可以被</a:t>
            </a:r>
            <a:r>
              <a:rPr lang="zh-CN" altLang="zh-CN" sz="1800" i="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i="0" kern="100" dirty="0">
                <a:solidFill>
                  <a:srgbClr val="374151"/>
                </a:solidFill>
                <a:effectLst/>
                <a:latin typeface="KaTeX_Math"/>
                <a:ea typeface="等线" panose="02010600030101010101" pitchFamily="2" charset="-122"/>
                <a:cs typeface="Times New Roman" panose="02020603050405020304" pitchFamily="18" charset="0"/>
              </a:rPr>
              <a:t>k</a:t>
            </a:r>
            <a:r>
              <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整除，所以这些数都不是质数。</a:t>
            </a:r>
            <a:endParaRPr lang="en-US" altLang="zh-CN" sz="1800" i="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这个构造证明法的关键在于使用阶乘</a:t>
            </a:r>
            <a:r>
              <a:rPr lang="zh-CN" altLang="zh-CN" sz="1800" kern="100" dirty="0">
                <a:solidFill>
                  <a:srgbClr val="374151"/>
                </a:solidFill>
                <a:effectLst/>
                <a:latin typeface="等线" panose="02010600030101010101" pitchFamily="2" charset="-122"/>
                <a:ea typeface="Segoe UI" panose="020B0502040204020203" pitchFamily="34" charset="0"/>
                <a:cs typeface="Times New Roman" panose="02020603050405020304" pitchFamily="18" charset="0"/>
              </a:rPr>
              <a:t> </a:t>
            </a:r>
            <a:r>
              <a:rPr lang="en-US" altLang="zh-CN" sz="180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i="1" kern="100" dirty="0">
                <a:solidFill>
                  <a:srgbClr val="374151"/>
                </a:solidFill>
                <a:effectLst/>
                <a:latin typeface="KaTeX_Math"/>
                <a:ea typeface="等线" panose="02010600030101010101" pitchFamily="2" charset="-122"/>
                <a:cs typeface="Times New Roman" panose="02020603050405020304" pitchFamily="18" charset="0"/>
              </a:rPr>
              <a:t>n</a:t>
            </a:r>
            <a:r>
              <a:rPr lang="en-US" altLang="zh-CN" sz="180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1</a:t>
            </a:r>
            <a:r>
              <a:rPr lang="en-US" altLang="zh-CN" sz="1800" kern="100" dirty="0">
                <a:solidFill>
                  <a:srgbClr val="374151"/>
                </a:solidFill>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zh-CN" altLang="zh-CN" sz="180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rPr>
              <a:t>作为基础，并在此基础上加上连续的整数，确保每个生成的数都不是质数，从而都是合数。通过这种方法，我们不仅证明了这些数是合数，而且证明了它们是连续的。</a:t>
            </a:r>
            <a:endParaRPr lang="en-US" altLang="zh-CN" sz="180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solidFill>
                <a:srgbClr val="374151"/>
              </a:solidFill>
              <a:effectLst/>
              <a:latin typeface="Segoe UI" panose="020B0502040204020203" pitchFamily="34" charset="0"/>
              <a:ea typeface="等线" panose="02010600030101010101" pitchFamily="2" charset="-122"/>
              <a:cs typeface="Segoe UI" panose="020B0502040204020203" pitchFamily="34" charset="0"/>
            </a:endParaRPr>
          </a:p>
          <a:p>
            <a:pPr marL="0" indent="0" eaLnBrk="1" hangingPunct="1">
              <a:buFontTx/>
              <a:buNone/>
            </a:pPr>
            <a:r>
              <a:rPr lang="zh-CN" altLang="en-US" sz="1800" b="1" dirty="0">
                <a:solidFill>
                  <a:srgbClr val="FF0000"/>
                </a:solidFill>
              </a:rPr>
              <a:t>构造证明法</a:t>
            </a:r>
            <a:r>
              <a:rPr lang="zh-CN" altLang="en-US" sz="1800" b="1" dirty="0"/>
              <a:t>通过构造一个特定的例子或对象，来证明某个命题的真实性。这种方法通常用于“存在性证明”</a:t>
            </a:r>
            <a:r>
              <a:rPr lang="en-US" altLang="zh-CN" sz="2800" b="1" dirty="0"/>
              <a:t>.</a:t>
            </a:r>
            <a:endParaRPr lang="en-US" altLang="zh-CN" sz="1800" b="1" dirty="0"/>
          </a:p>
          <a:p>
            <a:pPr eaLnBrk="1" hangingPunct="1">
              <a:buFontTx/>
              <a:buNone/>
            </a:pPr>
            <a:r>
              <a:rPr lang="zh-CN" altLang="en-US" sz="1800" b="1" dirty="0">
                <a:solidFill>
                  <a:srgbClr val="FF0000"/>
                </a:solidFill>
              </a:rPr>
              <a:t>做法</a:t>
            </a:r>
            <a:r>
              <a:rPr lang="zh-CN" altLang="en-US" sz="1800" b="1" dirty="0"/>
              <a:t>  在</a:t>
            </a:r>
            <a:r>
              <a:rPr lang="en-US" altLang="zh-CN" sz="1800" b="1" i="1" dirty="0"/>
              <a:t>A</a:t>
            </a:r>
            <a:r>
              <a:rPr lang="zh-CN" altLang="en-US" sz="1800" b="1" dirty="0"/>
              <a:t>为真的条件下, 构造出具有这种性质的客体</a:t>
            </a:r>
          </a:p>
          <a:p>
            <a:pPr eaLnBrk="1" hangingPunct="1">
              <a:buFontTx/>
              <a:buNone/>
            </a:pPr>
            <a:endParaRPr lang="zh-CN" altLang="en-US" sz="1800" b="1" dirty="0"/>
          </a:p>
          <a:p>
            <a:pPr eaLnBrk="1" hangingPunct="1">
              <a:buFontTx/>
              <a:buNone/>
            </a:pPr>
            <a:r>
              <a:rPr lang="zh-CN" altLang="en-US" sz="1800" b="1" dirty="0">
                <a:solidFill>
                  <a:srgbClr val="800000"/>
                </a:solidFill>
              </a:rPr>
              <a:t>例6</a:t>
            </a:r>
            <a:r>
              <a:rPr lang="zh-CN" altLang="en-US" sz="1800" b="1" dirty="0"/>
              <a:t> 对于每个正整数</a:t>
            </a:r>
            <a:r>
              <a:rPr lang="en-US" altLang="zh-CN" sz="1800" b="1" i="1" dirty="0"/>
              <a:t>n</a:t>
            </a:r>
            <a:r>
              <a:rPr lang="en-US" altLang="zh-CN" sz="1800" b="1" dirty="0"/>
              <a:t>, </a:t>
            </a:r>
            <a:r>
              <a:rPr lang="zh-CN" altLang="en-US" sz="1800" b="1" dirty="0"/>
              <a:t>存在</a:t>
            </a:r>
            <a:r>
              <a:rPr lang="en-US" altLang="zh-CN" sz="1800" b="1" i="1" dirty="0"/>
              <a:t>n</a:t>
            </a:r>
            <a:r>
              <a:rPr lang="zh-CN" altLang="en-US" sz="1800" b="1" dirty="0"/>
              <a:t>个连续的正合数.</a:t>
            </a:r>
          </a:p>
          <a:p>
            <a:pPr eaLnBrk="1" hangingPunct="1">
              <a:buFontTx/>
              <a:buNone/>
            </a:pPr>
            <a:r>
              <a:rPr lang="zh-CN" altLang="en-US" sz="1800" b="1" dirty="0"/>
              <a:t>证  令</a:t>
            </a:r>
            <a:r>
              <a:rPr lang="en-US" altLang="zh-CN" sz="1800" b="1" i="1" dirty="0"/>
              <a:t>x</a:t>
            </a:r>
            <a:r>
              <a:rPr lang="en-US" altLang="zh-CN" sz="1800" b="1" dirty="0"/>
              <a:t>=(</a:t>
            </a:r>
            <a:r>
              <a:rPr lang="en-US" altLang="zh-CN" sz="1800" b="1" i="1" dirty="0"/>
              <a:t>n</a:t>
            </a:r>
            <a:r>
              <a:rPr lang="en-US" altLang="zh-CN" sz="1800" b="1" dirty="0"/>
              <a:t>+1)! </a:t>
            </a:r>
          </a:p>
          <a:p>
            <a:pPr eaLnBrk="1" hangingPunct="1">
              <a:buFontTx/>
              <a:buNone/>
            </a:pPr>
            <a:r>
              <a:rPr lang="zh-CN" altLang="en-US" sz="1800" b="1" dirty="0"/>
              <a:t>则 </a:t>
            </a:r>
            <a:r>
              <a:rPr lang="en-US" altLang="zh-CN" sz="1800" b="1" i="1" dirty="0"/>
              <a:t>x</a:t>
            </a:r>
            <a:r>
              <a:rPr lang="zh-CN" altLang="en-US" sz="1800" b="1" dirty="0"/>
              <a:t>+</a:t>
            </a:r>
            <a:r>
              <a:rPr lang="en-US" altLang="zh-CN" sz="1800" b="1" dirty="0"/>
              <a:t>2, </a:t>
            </a:r>
            <a:r>
              <a:rPr lang="en-US" altLang="zh-CN" sz="1800" b="1" i="1" dirty="0"/>
              <a:t>x</a:t>
            </a:r>
            <a:r>
              <a:rPr lang="zh-CN" altLang="en-US" sz="1800" b="1" dirty="0"/>
              <a:t>+</a:t>
            </a:r>
            <a:r>
              <a:rPr lang="en-US" altLang="zh-CN" sz="1800" b="1" dirty="0"/>
              <a:t>3,</a:t>
            </a:r>
            <a:r>
              <a:rPr lang="en-US" altLang="zh-CN" sz="1800" b="1" dirty="0">
                <a:cs typeface="Times New Roman" panose="02020603050405020304" pitchFamily="18" charset="0"/>
              </a:rPr>
              <a:t>…</a:t>
            </a:r>
            <a:r>
              <a:rPr lang="zh-CN" altLang="en-US" sz="1800" b="1" dirty="0"/>
              <a:t>, </a:t>
            </a:r>
            <a:r>
              <a:rPr lang="en-US" altLang="zh-CN" sz="1800" b="1" i="1" dirty="0"/>
              <a:t>x</a:t>
            </a:r>
            <a:r>
              <a:rPr lang="zh-CN" altLang="en-US" sz="1800" b="1" dirty="0"/>
              <a:t>+</a:t>
            </a:r>
            <a:r>
              <a:rPr lang="en-US" altLang="zh-CN" sz="1800" b="1" i="1" dirty="0"/>
              <a:t>n</a:t>
            </a:r>
            <a:r>
              <a:rPr lang="en-US" altLang="zh-CN" sz="1800" b="1" dirty="0"/>
              <a:t>+1</a:t>
            </a:r>
            <a:r>
              <a:rPr lang="zh-CN" altLang="en-US" sz="1800" b="1" dirty="0"/>
              <a:t>是</a:t>
            </a:r>
            <a:r>
              <a:rPr lang="en-US" altLang="zh-CN" sz="1800" b="1" i="1" dirty="0"/>
              <a:t>n</a:t>
            </a:r>
            <a:r>
              <a:rPr lang="zh-CN" altLang="en-US" sz="1800" b="1" dirty="0"/>
              <a:t>个连续的正合数</a:t>
            </a:r>
            <a:r>
              <a:rPr lang="en-US" altLang="zh-CN" sz="1800" b="1" dirty="0"/>
              <a:t>:</a:t>
            </a:r>
          </a:p>
          <a:p>
            <a:pPr eaLnBrk="1" hangingPunct="1">
              <a:buFontTx/>
              <a:buNone/>
            </a:pPr>
            <a:r>
              <a:rPr lang="en-US" altLang="zh-CN" sz="1800" b="1" dirty="0"/>
              <a:t>       </a:t>
            </a:r>
            <a:r>
              <a:rPr lang="en-US" altLang="zh-CN" sz="1800" b="1" i="1" dirty="0" err="1"/>
              <a:t>i</a:t>
            </a:r>
            <a:r>
              <a:rPr lang="en-US" altLang="zh-CN" sz="1800" b="1" dirty="0"/>
              <a:t> | </a:t>
            </a:r>
            <a:r>
              <a:rPr lang="en-US" altLang="zh-CN" sz="1800" b="1" i="1" dirty="0"/>
              <a:t>x</a:t>
            </a:r>
            <a:r>
              <a:rPr lang="zh-CN" altLang="en-US" sz="1800" b="1" dirty="0"/>
              <a:t>+</a:t>
            </a:r>
            <a:r>
              <a:rPr lang="en-US" altLang="zh-CN" sz="1800" b="1" i="1" dirty="0" err="1"/>
              <a:t>i</a:t>
            </a:r>
            <a:r>
              <a:rPr lang="en-US" altLang="zh-CN" sz="1800" b="1" dirty="0"/>
              <a:t>,      </a:t>
            </a:r>
            <a:r>
              <a:rPr lang="en-US" altLang="zh-CN" sz="1800" b="1" i="1" dirty="0" err="1"/>
              <a:t>i</a:t>
            </a:r>
            <a:r>
              <a:rPr lang="en-US" altLang="zh-CN" sz="1800" b="1" dirty="0"/>
              <a:t>=2,3,</a:t>
            </a:r>
            <a:r>
              <a:rPr lang="en-US" altLang="zh-CN" sz="1800" b="1" dirty="0">
                <a:cs typeface="Times New Roman" panose="02020603050405020304" pitchFamily="18" charset="0"/>
              </a:rPr>
              <a:t>…,</a:t>
            </a:r>
            <a:r>
              <a:rPr lang="en-US" altLang="zh-CN" sz="1800" b="1" i="1" dirty="0">
                <a:cs typeface="Times New Roman" panose="02020603050405020304" pitchFamily="18" charset="0"/>
              </a:rPr>
              <a:t>n</a:t>
            </a:r>
            <a:r>
              <a:rPr lang="en-US" altLang="zh-CN" sz="1800" b="1" dirty="0">
                <a:cs typeface="Times New Roman" panose="02020603050405020304" pitchFamily="18" charset="0"/>
              </a:rPr>
              <a:t>+1</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800" i="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35</a:t>
            </a:fld>
            <a:endParaRPr lang="zh-CN" altLang="en-US"/>
          </a:p>
        </p:txBody>
      </p:sp>
    </p:spTree>
    <p:extLst>
      <p:ext uri="{BB962C8B-B14F-4D97-AF65-F5344CB8AC3E}">
        <p14:creationId xmlns:p14="http://schemas.microsoft.com/office/powerpoint/2010/main" val="18380310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x</a:t>
            </a:r>
            <a:r>
              <a:rPr lang="zh-CN" altLang="en-US" dirty="0"/>
              <a:t>要么是素数，要么是合数。如果</a:t>
            </a:r>
            <a:r>
              <a:rPr lang="en-US" altLang="zh-CN" dirty="0"/>
              <a:t>x</a:t>
            </a:r>
            <a:r>
              <a:rPr lang="zh-CN" altLang="en-US" dirty="0"/>
              <a:t>是素数，那么它大于 </a:t>
            </a:r>
            <a:r>
              <a:rPr lang="en-US" altLang="zh-CN" dirty="0"/>
              <a:t>p</a:t>
            </a:r>
            <a:r>
              <a:rPr lang="zh-CN" altLang="en-US" dirty="0"/>
              <a:t>，与我们的假设（</a:t>
            </a:r>
            <a:r>
              <a:rPr lang="en-US" altLang="zh-CN" dirty="0"/>
              <a:t>p </a:t>
            </a:r>
            <a:r>
              <a:rPr lang="zh-CN" altLang="en-US" dirty="0"/>
              <a:t>是最大的素数）矛盾。</a:t>
            </a:r>
            <a:endParaRPr lang="en-US" altLang="zh-CN" dirty="0"/>
          </a:p>
          <a:p>
            <a:endParaRPr lang="en-US" altLang="zh-CN" dirty="0"/>
          </a:p>
          <a:p>
            <a:pPr algn="just"/>
            <a:r>
              <a:rPr lang="zh-CN" altLang="zh-CN" b="1" dirty="0">
                <a:solidFill>
                  <a:srgbClr val="FF0000"/>
                </a:solidFill>
              </a:rPr>
              <a:t>构造性证明</a:t>
            </a:r>
            <a:r>
              <a:rPr lang="zh-CN" altLang="zh-CN" b="1" dirty="0"/>
              <a:t>：提供一个或多个具体的实例或例子来证明命题。它适用于展示存在满足特定条件的具体对象或数值。</a:t>
            </a:r>
          </a:p>
          <a:p>
            <a:pPr algn="just"/>
            <a:r>
              <a:rPr lang="zh-CN" altLang="zh-CN" b="1" dirty="0">
                <a:solidFill>
                  <a:srgbClr val="FF0000"/>
                </a:solidFill>
              </a:rPr>
              <a:t>非构造性证明</a:t>
            </a:r>
            <a:r>
              <a:rPr lang="zh-CN" altLang="zh-CN" b="1" dirty="0"/>
              <a:t>：证明命题的真实性而不直接展示具体的例子。这种方法通常依赖于逻辑推理、现有理论或定理，或使用反证法等技巧。</a:t>
            </a:r>
          </a:p>
          <a:p>
            <a:pPr eaLnBrk="1" hangingPunct="1">
              <a:buFontTx/>
              <a:buNone/>
            </a:pPr>
            <a:endParaRPr lang="en-US" altLang="zh-CN" sz="1800" b="1" dirty="0"/>
          </a:p>
          <a:p>
            <a:pPr marL="0" indent="533400" eaLnBrk="1" hangingPunct="1">
              <a:buFontTx/>
              <a:buNone/>
            </a:pPr>
            <a:r>
              <a:rPr lang="zh-CN" altLang="en-US" b="1" dirty="0"/>
              <a:t>直接构造一个满足条件的实例困难时，非构造性证明允许我们证明某些事物的存在或某些命题的真实性。</a:t>
            </a:r>
            <a:endParaRPr lang="en-US" altLang="zh-CN"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36</a:t>
            </a:fld>
            <a:endParaRPr lang="zh-CN" altLang="en-US"/>
          </a:p>
        </p:txBody>
      </p:sp>
    </p:spTree>
    <p:extLst>
      <p:ext uri="{BB962C8B-B14F-4D97-AF65-F5344CB8AC3E}">
        <p14:creationId xmlns:p14="http://schemas.microsoft.com/office/powerpoint/2010/main" val="10726699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800" b="1" dirty="0">
                <a:solidFill>
                  <a:srgbClr val="FF0000"/>
                </a:solidFill>
              </a:rPr>
              <a:t>空证明法(前件假证明法)</a:t>
            </a:r>
            <a:endParaRPr lang="en-US" altLang="zh-CN" sz="1800" b="1" dirty="0">
              <a:solidFill>
                <a:srgbClr val="FF0000"/>
              </a:solidFill>
            </a:endParaRPr>
          </a:p>
          <a:p>
            <a:pPr marL="0" indent="622300">
              <a:buNone/>
            </a:pPr>
            <a:r>
              <a:rPr lang="zh-CN" altLang="en-US" b="1" dirty="0"/>
              <a:t>空证明法</a:t>
            </a:r>
            <a:r>
              <a:rPr lang="zh-CN" altLang="zh-CN" b="1" dirty="0"/>
              <a:t>通常用于证明</a:t>
            </a:r>
            <a:r>
              <a:rPr lang="en-US" altLang="zh-CN" b="1" dirty="0"/>
              <a:t>“</a:t>
            </a:r>
            <a:r>
              <a:rPr lang="zh-CN" altLang="zh-CN" b="1" dirty="0"/>
              <a:t>所有满足某特定性质的对象都具有另一种性质</a:t>
            </a:r>
            <a:r>
              <a:rPr lang="en-US" altLang="zh-CN" b="1" dirty="0"/>
              <a:t>”</a:t>
            </a:r>
            <a:r>
              <a:rPr lang="zh-CN" altLang="zh-CN" b="1" dirty="0"/>
              <a:t>的命题</a:t>
            </a:r>
            <a:r>
              <a:rPr lang="en-US" altLang="zh-CN" dirty="0"/>
              <a:t>(</a:t>
            </a:r>
            <a:r>
              <a:rPr lang="en-US" altLang="zh-CN" b="1" i="1" dirty="0">
                <a:effectLst/>
                <a:ea typeface="等线" panose="02010600030101010101" pitchFamily="2" charset="-122"/>
                <a:cs typeface="Times New Roman" panose="02020603050405020304" pitchFamily="18" charset="0"/>
              </a:rPr>
              <a:t>P</a:t>
            </a:r>
            <a:r>
              <a:rPr lang="en-US" altLang="zh-CN" b="1" dirty="0">
                <a:effectLst/>
                <a:ea typeface="等线" panose="02010600030101010101" pitchFamily="2" charset="-122"/>
              </a:rPr>
              <a:t>→</a:t>
            </a:r>
            <a:r>
              <a:rPr lang="en-US" altLang="zh-CN" b="1" i="1" dirty="0">
                <a:effectLst/>
                <a:ea typeface="等线" panose="02010600030101010101" pitchFamily="2" charset="-122"/>
                <a:cs typeface="Times New Roman" panose="02020603050405020304" pitchFamily="18" charset="0"/>
              </a:rPr>
              <a:t>Q</a:t>
            </a:r>
            <a:r>
              <a:rPr lang="en-US" altLang="zh-CN" dirty="0"/>
              <a:t>)</a:t>
            </a:r>
            <a:r>
              <a:rPr lang="zh-CN" altLang="zh-CN" b="1" dirty="0"/>
              <a:t>。当没有任何对象满足第一种性质时，这样的命题被认为是真的，因为不存在违反该命题的例子</a:t>
            </a:r>
            <a:r>
              <a:rPr lang="zh-CN" altLang="en-US" b="1" dirty="0"/>
              <a:t>。</a:t>
            </a:r>
            <a:endParaRPr lang="en-US" altLang="zh-CN" b="1" dirty="0"/>
          </a:p>
          <a:p>
            <a:pPr marL="0" indent="622300">
              <a:buNone/>
            </a:pPr>
            <a:r>
              <a:rPr lang="zh-CN" altLang="zh-CN" b="1" dirty="0">
                <a:effectLst/>
                <a:latin typeface="+mn-ea"/>
                <a:cs typeface="Times New Roman" panose="02020603050405020304" pitchFamily="18" charset="0"/>
              </a:rPr>
              <a:t>当且仅当 </a:t>
            </a:r>
            <a:r>
              <a:rPr lang="en-US" altLang="zh-CN" b="1" i="1" dirty="0">
                <a:effectLst/>
                <a:latin typeface="+mn-ea"/>
                <a:cs typeface="Times New Roman" panose="02020603050405020304" pitchFamily="18" charset="0"/>
              </a:rPr>
              <a:t>P</a:t>
            </a:r>
            <a:r>
              <a:rPr lang="en-US" altLang="zh-CN" b="1" dirty="0">
                <a:effectLst/>
                <a:latin typeface="+mn-ea"/>
                <a:cs typeface="Times New Roman" panose="02020603050405020304" pitchFamily="18" charset="0"/>
              </a:rPr>
              <a:t> </a:t>
            </a:r>
            <a:r>
              <a:rPr lang="zh-CN" altLang="zh-CN" b="1" dirty="0">
                <a:effectLst/>
                <a:latin typeface="+mn-ea"/>
                <a:cs typeface="Times New Roman" panose="02020603050405020304" pitchFamily="18" charset="0"/>
              </a:rPr>
              <a:t>为真而 </a:t>
            </a:r>
            <a:r>
              <a:rPr lang="en-US" altLang="zh-CN" b="1" i="1" dirty="0">
                <a:effectLst/>
                <a:latin typeface="+mn-ea"/>
                <a:cs typeface="Times New Roman" panose="02020603050405020304" pitchFamily="18" charset="0"/>
              </a:rPr>
              <a:t>Q</a:t>
            </a:r>
            <a:r>
              <a:rPr lang="en-US" altLang="zh-CN" b="1" dirty="0">
                <a:effectLst/>
                <a:latin typeface="+mn-ea"/>
                <a:cs typeface="Times New Roman" panose="02020603050405020304" pitchFamily="18" charset="0"/>
              </a:rPr>
              <a:t> </a:t>
            </a:r>
            <a:r>
              <a:rPr lang="zh-CN" altLang="zh-CN" b="1" dirty="0">
                <a:effectLst/>
                <a:latin typeface="+mn-ea"/>
                <a:cs typeface="Times New Roman" panose="02020603050405020304" pitchFamily="18" charset="0"/>
              </a:rPr>
              <a:t>为假</a:t>
            </a:r>
            <a:r>
              <a:rPr lang="zh-CN" altLang="en-US" b="1" dirty="0">
                <a:latin typeface="+mn-ea"/>
                <a:cs typeface="Times New Roman" panose="02020603050405020304" pitchFamily="18" charset="0"/>
              </a:rPr>
              <a:t>时，</a:t>
            </a:r>
            <a:r>
              <a:rPr lang="zh-CN" altLang="zh-CN" b="1" dirty="0">
                <a:effectLst/>
                <a:latin typeface="+mn-ea"/>
                <a:cs typeface="Times New Roman" panose="02020603050405020304" pitchFamily="18" charset="0"/>
              </a:rPr>
              <a:t>蕴含式 </a:t>
            </a:r>
            <a:r>
              <a:rPr lang="en-US" altLang="zh-CN" b="1" i="1" dirty="0">
                <a:effectLst/>
                <a:latin typeface="+mn-ea"/>
                <a:cs typeface="Times New Roman" panose="02020603050405020304" pitchFamily="18" charset="0"/>
              </a:rPr>
              <a:t>P</a:t>
            </a:r>
            <a:r>
              <a:rPr lang="en-US" altLang="zh-CN" b="1" dirty="0">
                <a:effectLst/>
                <a:latin typeface="+mn-ea"/>
              </a:rPr>
              <a:t>→</a:t>
            </a:r>
            <a:r>
              <a:rPr lang="en-US" altLang="zh-CN" b="1" i="1" dirty="0">
                <a:effectLst/>
                <a:latin typeface="+mn-ea"/>
                <a:cs typeface="Times New Roman" panose="02020603050405020304" pitchFamily="18" charset="0"/>
              </a:rPr>
              <a:t>Q</a:t>
            </a:r>
            <a:r>
              <a:rPr lang="zh-CN" altLang="en-US" b="1" dirty="0">
                <a:effectLst/>
                <a:latin typeface="+mn-ea"/>
                <a:cs typeface="Times New Roman" panose="02020603050405020304" pitchFamily="18" charset="0"/>
              </a:rPr>
              <a:t>为</a:t>
            </a:r>
            <a:r>
              <a:rPr lang="zh-CN" altLang="zh-CN" b="1" dirty="0">
                <a:effectLst/>
                <a:latin typeface="+mn-ea"/>
                <a:cs typeface="Times New Roman" panose="02020603050405020304" pitchFamily="18" charset="0"/>
              </a:rPr>
              <a:t>假的，</a:t>
            </a:r>
            <a:r>
              <a:rPr lang="zh-CN" altLang="en-US" b="1" dirty="0">
                <a:effectLst/>
                <a:latin typeface="+mn-ea"/>
                <a:cs typeface="Times New Roman" panose="02020603050405020304" pitchFamily="18" charset="0"/>
              </a:rPr>
              <a:t>空证明法只需</a:t>
            </a:r>
            <a:r>
              <a:rPr lang="zh-CN" altLang="en-US" sz="1800" b="1" dirty="0"/>
              <a:t>证明</a:t>
            </a:r>
            <a:r>
              <a:rPr lang="en-US" altLang="zh-CN" b="1" i="1" dirty="0">
                <a:effectLst/>
                <a:latin typeface="+mn-ea"/>
                <a:cs typeface="Times New Roman" panose="02020603050405020304" pitchFamily="18" charset="0"/>
              </a:rPr>
              <a:t>P</a:t>
            </a:r>
            <a:r>
              <a:rPr lang="zh-CN" altLang="en-US" sz="1800" b="1" dirty="0"/>
              <a:t>恒为假，从而得出</a:t>
            </a:r>
            <a:r>
              <a:rPr lang="en-US" altLang="zh-CN" b="1" i="1" dirty="0">
                <a:effectLst/>
                <a:latin typeface="+mn-ea"/>
                <a:cs typeface="Times New Roman" panose="02020603050405020304" pitchFamily="18" charset="0"/>
              </a:rPr>
              <a:t>P</a:t>
            </a:r>
            <a:r>
              <a:rPr lang="en-US" altLang="zh-CN" b="1" dirty="0">
                <a:effectLst/>
                <a:latin typeface="+mn-ea"/>
              </a:rPr>
              <a:t>→</a:t>
            </a:r>
            <a:r>
              <a:rPr lang="en-US" altLang="zh-CN" b="1" i="1" dirty="0">
                <a:effectLst/>
                <a:latin typeface="+mn-ea"/>
                <a:cs typeface="Times New Roman" panose="02020603050405020304" pitchFamily="18" charset="0"/>
              </a:rPr>
              <a:t>Q</a:t>
            </a:r>
            <a:r>
              <a:rPr lang="zh-CN" altLang="en-US" b="1" dirty="0">
                <a:effectLst/>
                <a:latin typeface="+mn-ea"/>
                <a:cs typeface="Times New Roman" panose="02020603050405020304" pitchFamily="18" charset="0"/>
              </a:rPr>
              <a:t>为恒为真的</a:t>
            </a:r>
            <a:r>
              <a:rPr lang="zh-CN" altLang="en-US" sz="1800" b="1" dirty="0"/>
              <a:t>结论。</a:t>
            </a:r>
          </a:p>
          <a:p>
            <a:pPr eaLnBrk="1" hangingPunct="1">
              <a:buFontTx/>
              <a:buNone/>
            </a:pPr>
            <a:r>
              <a:rPr lang="zh-CN" altLang="en-US" b="1" dirty="0">
                <a:solidFill>
                  <a:srgbClr val="FF0000"/>
                </a:solidFill>
              </a:rPr>
              <a:t>例</a:t>
            </a:r>
            <a:r>
              <a:rPr lang="en-US" altLang="zh-CN" b="1" dirty="0"/>
              <a:t> </a:t>
            </a:r>
            <a:r>
              <a:rPr lang="zh-CN" altLang="en-US" sz="1600" b="1" dirty="0"/>
              <a:t>设</a:t>
            </a:r>
            <a:r>
              <a:rPr lang="en-US" altLang="zh-CN" sz="1600" b="1" dirty="0" err="1"/>
              <a:t>n∈N</a:t>
            </a:r>
            <a:r>
              <a:rPr lang="zh-CN" altLang="en-US" sz="1600" b="1" dirty="0"/>
              <a:t>，记</a:t>
            </a:r>
            <a:r>
              <a:rPr lang="en-US" altLang="zh-CN" sz="1600" b="1" dirty="0"/>
              <a:t>P(n): </a:t>
            </a:r>
            <a:r>
              <a:rPr lang="zh-CN" altLang="en-US" sz="1600" b="1" dirty="0"/>
              <a:t>若</a:t>
            </a:r>
            <a:r>
              <a:rPr lang="en-US" altLang="zh-CN" sz="1600" b="1" dirty="0"/>
              <a:t>n&gt;1</a:t>
            </a:r>
            <a:r>
              <a:rPr lang="zh-CN" altLang="en-US" sz="1600" b="1" dirty="0"/>
              <a:t>，则</a:t>
            </a:r>
            <a:r>
              <a:rPr lang="en-US" altLang="zh-CN" sz="1600" b="1" dirty="0"/>
              <a:t>n</a:t>
            </a:r>
            <a:r>
              <a:rPr lang="en-US" altLang="zh-CN" sz="1600" b="1" baseline="30000" dirty="0"/>
              <a:t>2</a:t>
            </a:r>
            <a:r>
              <a:rPr lang="en-US" altLang="zh-CN" sz="1600" b="1" dirty="0"/>
              <a:t>&gt;1. </a:t>
            </a:r>
            <a:r>
              <a:rPr lang="zh-CN" altLang="en-US" sz="1600" b="1" dirty="0"/>
              <a:t>试证明</a:t>
            </a:r>
            <a:r>
              <a:rPr lang="en-US" altLang="zh-CN" sz="1600" b="1" dirty="0"/>
              <a:t>P(0)</a:t>
            </a:r>
            <a:r>
              <a:rPr lang="zh-CN" altLang="en-US" sz="1600" b="1" dirty="0"/>
              <a:t>为真．</a:t>
            </a:r>
          </a:p>
          <a:p>
            <a:pPr eaLnBrk="1" hangingPunct="1">
              <a:buFontTx/>
              <a:buNone/>
            </a:pPr>
            <a:r>
              <a:rPr lang="zh-CN" altLang="en-US" sz="1600" b="1" dirty="0"/>
              <a:t>         </a:t>
            </a:r>
            <a:r>
              <a:rPr lang="en-US" altLang="zh-CN" sz="1600" b="1" dirty="0"/>
              <a:t>P(0): </a:t>
            </a:r>
            <a:r>
              <a:rPr lang="zh-CN" altLang="en-US" sz="1600" b="1" dirty="0"/>
              <a:t>若</a:t>
            </a:r>
            <a:r>
              <a:rPr lang="en-US" altLang="zh-CN" sz="1600" b="1" dirty="0"/>
              <a:t>0&gt;1</a:t>
            </a:r>
            <a:r>
              <a:rPr lang="zh-CN" altLang="en-US" sz="1600" b="1" dirty="0"/>
              <a:t>，则</a:t>
            </a:r>
            <a:r>
              <a:rPr lang="en-US" altLang="zh-CN" sz="1600" b="1" dirty="0"/>
              <a:t>0</a:t>
            </a:r>
            <a:r>
              <a:rPr lang="en-US" altLang="zh-CN" sz="1600" b="1" baseline="30000" dirty="0"/>
              <a:t>2</a:t>
            </a:r>
            <a:r>
              <a:rPr lang="en-US" altLang="zh-CN" sz="1600" b="1" dirty="0"/>
              <a:t>&gt;1.  </a:t>
            </a:r>
          </a:p>
          <a:p>
            <a:pPr>
              <a:buNone/>
            </a:pPr>
            <a:r>
              <a:rPr lang="zh-CN" altLang="zh-CN" sz="1600" b="1" kern="100" dirty="0">
                <a:effectLst/>
                <a:latin typeface="+mn-ea"/>
                <a:cs typeface="Times New Roman" panose="02020603050405020304" pitchFamily="18" charset="0"/>
              </a:rPr>
              <a:t>由于</a:t>
            </a:r>
            <a:r>
              <a:rPr lang="en-US" altLang="zh-CN" sz="1600" b="1" dirty="0"/>
              <a:t>P(0)</a:t>
            </a:r>
            <a:r>
              <a:rPr lang="zh-CN" altLang="zh-CN" sz="1600" b="1" kern="100" dirty="0">
                <a:effectLst/>
                <a:latin typeface="+mn-ea"/>
                <a:cs typeface="Times New Roman" panose="02020603050405020304" pitchFamily="18" charset="0"/>
              </a:rPr>
              <a:t>前提条件 </a:t>
            </a:r>
            <a:r>
              <a:rPr lang="en-US" altLang="zh-CN" sz="1600" b="1" kern="100" dirty="0">
                <a:effectLst/>
                <a:latin typeface="+mn-ea"/>
                <a:cs typeface="Times New Roman" panose="02020603050405020304" pitchFamily="18" charset="0"/>
              </a:rPr>
              <a:t>0&gt;1 </a:t>
            </a:r>
            <a:r>
              <a:rPr lang="zh-CN" altLang="zh-CN" sz="1600" b="1" kern="100" dirty="0">
                <a:effectLst/>
                <a:latin typeface="+mn-ea"/>
                <a:cs typeface="Times New Roman" panose="02020603050405020304" pitchFamily="18" charset="0"/>
              </a:rPr>
              <a:t>永远不成立，根据空证明法，我们可以说 </a:t>
            </a:r>
            <a:r>
              <a:rPr lang="en-US" altLang="zh-CN" sz="1600" b="1" i="1" kern="100" dirty="0">
                <a:effectLst/>
                <a:latin typeface="+mn-ea"/>
                <a:cs typeface="Times New Roman" panose="02020603050405020304" pitchFamily="18" charset="0"/>
              </a:rPr>
              <a:t>P</a:t>
            </a:r>
            <a:r>
              <a:rPr lang="en-US" altLang="zh-CN" sz="1600" b="1" kern="100" dirty="0">
                <a:effectLst/>
                <a:latin typeface="+mn-ea"/>
                <a:cs typeface="Times New Roman" panose="02020603050405020304" pitchFamily="18" charset="0"/>
              </a:rPr>
              <a:t>(0) </a:t>
            </a:r>
            <a:r>
              <a:rPr lang="zh-CN" altLang="zh-CN" sz="1600" b="1" kern="100" dirty="0">
                <a:effectLst/>
                <a:latin typeface="+mn-ea"/>
                <a:cs typeface="Times New Roman" panose="02020603050405020304" pitchFamily="18" charset="0"/>
              </a:rPr>
              <a:t>是真的</a:t>
            </a:r>
            <a:r>
              <a:rPr lang="zh-CN" altLang="en-US" sz="1600" b="1" kern="100" dirty="0">
                <a:effectLst/>
                <a:latin typeface="+mn-ea"/>
                <a:cs typeface="Times New Roman" panose="02020603050405020304" pitchFamily="18" charset="0"/>
              </a:rPr>
              <a:t>。</a:t>
            </a:r>
            <a:endParaRPr lang="zh-CN" altLang="zh-CN" sz="1600" b="1" kern="100" dirty="0">
              <a:effectLst/>
              <a:latin typeface="+mn-ea"/>
              <a:cs typeface="Times New Roman" panose="02020603050405020304" pitchFamily="18" charset="0"/>
            </a:endParaRPr>
          </a:p>
          <a:p>
            <a:pPr eaLnBrk="1" hangingPunct="1">
              <a:buFontTx/>
              <a:buNone/>
            </a:pPr>
            <a:endParaRPr lang="en-US" altLang="zh-CN"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37</a:t>
            </a:fld>
            <a:endParaRPr lang="zh-CN" altLang="en-US"/>
          </a:p>
        </p:txBody>
      </p:sp>
    </p:spTree>
    <p:extLst>
      <p:ext uri="{BB962C8B-B14F-4D97-AF65-F5344CB8AC3E}">
        <p14:creationId xmlns:p14="http://schemas.microsoft.com/office/powerpoint/2010/main" val="38030234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solidFill>
                  <a:srgbClr val="FF0000"/>
                </a:solidFill>
              </a:rPr>
              <a:t>平凡证明法(后件真证明法)</a:t>
            </a:r>
            <a:endParaRPr lang="en-US" altLang="zh-CN" sz="1200" b="1" dirty="0">
              <a:solidFill>
                <a:srgbClr val="FF0000"/>
              </a:solidFill>
            </a:endParaRPr>
          </a:p>
          <a:p>
            <a:pPr eaLnBrk="1" hangingPunct="1">
              <a:buFontTx/>
              <a:buNone/>
            </a:pPr>
            <a:r>
              <a:rPr lang="zh-CN" altLang="en-US" sz="1200" b="1" dirty="0"/>
              <a:t>平凡证明法证明某些在特定条件下显然成立的命题</a:t>
            </a:r>
          </a:p>
          <a:p>
            <a:pPr eaLnBrk="1" hangingPunct="1">
              <a:buFontTx/>
              <a:buNone/>
            </a:pPr>
            <a:r>
              <a:rPr lang="zh-CN" altLang="en-US" sz="1200" b="1" dirty="0">
                <a:solidFill>
                  <a:srgbClr val="FF0000"/>
                </a:solidFill>
              </a:rPr>
              <a:t>做法</a:t>
            </a:r>
            <a:r>
              <a:rPr lang="zh-CN" altLang="en-US" sz="1200" b="1" dirty="0"/>
              <a:t>  </a:t>
            </a:r>
            <a:r>
              <a:rPr lang="zh-CN" altLang="en-US" b="1" dirty="0"/>
              <a:t>证明</a:t>
            </a:r>
            <a:r>
              <a:rPr lang="en-US" altLang="zh-CN" b="1" dirty="0"/>
              <a:t>B</a:t>
            </a:r>
            <a:r>
              <a:rPr lang="zh-CN" altLang="en-US" b="1" dirty="0"/>
              <a:t>恒为真</a:t>
            </a:r>
            <a:r>
              <a:rPr lang="en-US" altLang="zh-CN" b="1" dirty="0"/>
              <a:t>, </a:t>
            </a:r>
            <a:r>
              <a:rPr lang="zh-CN" altLang="en-US" b="1" dirty="0"/>
              <a:t>而不需要假设</a:t>
            </a:r>
            <a:r>
              <a:rPr lang="en-US" altLang="zh-CN" b="1" dirty="0"/>
              <a:t>A</a:t>
            </a:r>
            <a:r>
              <a:rPr lang="zh-CN" altLang="en-US" b="1" dirty="0"/>
              <a:t>为真</a:t>
            </a:r>
            <a:r>
              <a:rPr lang="en-US" altLang="zh-CN" b="1" dirty="0"/>
              <a:t>.</a:t>
            </a:r>
            <a:endParaRPr lang="zh-CN" altLang="en-US" b="1" dirty="0"/>
          </a:p>
          <a:p>
            <a:pPr algn="l"/>
            <a:r>
              <a:rPr lang="zh-CN" altLang="en-US" b="1" dirty="0">
                <a:solidFill>
                  <a:srgbClr val="FF0000"/>
                </a:solidFill>
              </a:rPr>
              <a:t>例：</a:t>
            </a:r>
            <a:r>
              <a:rPr lang="zh-CN" altLang="en-US" b="1" dirty="0"/>
              <a:t> 若</a:t>
            </a:r>
            <a:r>
              <a:rPr lang="en-US" altLang="zh-CN" b="1" dirty="0" err="1"/>
              <a:t>a</a:t>
            </a:r>
            <a:r>
              <a:rPr lang="en-US" altLang="zh-CN" b="1" dirty="0" err="1">
                <a:sym typeface="Symbol" panose="05050102010706020507" pitchFamily="18" charset="2"/>
              </a:rPr>
              <a:t>b</a:t>
            </a:r>
            <a:r>
              <a:rPr lang="en-US" altLang="zh-CN" b="1" dirty="0">
                <a:sym typeface="Symbol" panose="05050102010706020507" pitchFamily="18" charset="2"/>
              </a:rPr>
              <a:t>, </a:t>
            </a:r>
            <a:r>
              <a:rPr lang="zh-CN" altLang="en-US" b="1" dirty="0">
                <a:sym typeface="Symbol" panose="05050102010706020507" pitchFamily="18" charset="2"/>
              </a:rPr>
              <a:t>则</a:t>
            </a:r>
            <a:r>
              <a:rPr lang="en-US" altLang="zh-CN" b="1" dirty="0"/>
              <a:t>a</a:t>
            </a:r>
            <a:r>
              <a:rPr lang="en-US" altLang="zh-CN" b="1" baseline="30000" dirty="0"/>
              <a:t>0</a:t>
            </a:r>
            <a:r>
              <a:rPr lang="en-US" altLang="zh-CN" b="1" dirty="0">
                <a:sym typeface="Symbol" panose="05050102010706020507" pitchFamily="18" charset="2"/>
              </a:rPr>
              <a:t>b</a:t>
            </a:r>
            <a:r>
              <a:rPr lang="en-US" altLang="zh-CN" b="1" baseline="30000" dirty="0">
                <a:sym typeface="Symbol" panose="05050102010706020507" pitchFamily="18" charset="2"/>
              </a:rPr>
              <a:t>0</a:t>
            </a:r>
            <a:r>
              <a:rPr lang="en-US" altLang="zh-CN" b="1" dirty="0">
                <a:sym typeface="Symbol" panose="05050102010706020507" pitchFamily="18" charset="2"/>
              </a:rPr>
              <a:t>. </a:t>
            </a:r>
            <a:r>
              <a:rPr lang="en-US" altLang="zh-CN" b="0" i="0" dirty="0">
                <a:solidFill>
                  <a:srgbClr val="1F1F1F"/>
                </a:solidFill>
                <a:effectLst/>
                <a:latin typeface="Arial" panose="020B0604020202020204" pitchFamily="34" charset="0"/>
              </a:rPr>
              <a:t>a to the zeroth power</a:t>
            </a:r>
          </a:p>
          <a:p>
            <a:endParaRPr lang="en-US" altLang="zh-CN" b="1" dirty="0">
              <a:sym typeface="Symbol" panose="05050102010706020507" pitchFamily="18" charset="2"/>
            </a:endParaRPr>
          </a:p>
          <a:p>
            <a:pPr eaLnBrk="1" hangingPunct="1">
              <a:buFontTx/>
              <a:buNone/>
            </a:pPr>
            <a:r>
              <a:rPr lang="zh-CN" altLang="en-US" sz="1200" b="1" dirty="0"/>
              <a:t>证：</a:t>
            </a:r>
            <a:endParaRPr lang="en-US" altLang="zh-CN" sz="1200" b="1" dirty="0"/>
          </a:p>
          <a:p>
            <a:pPr eaLnBrk="1" hangingPunct="1">
              <a:buFontTx/>
              <a:buNone/>
            </a:pPr>
            <a:r>
              <a:rPr lang="en-US" altLang="zh-CN" b="1" dirty="0"/>
              <a:t>         </a:t>
            </a:r>
            <a:r>
              <a:rPr lang="zh-CN" altLang="en-US" sz="1200" b="1" dirty="0"/>
              <a:t>基于一个普遍接受的数学事实，即任何数的</a:t>
            </a:r>
            <a:r>
              <a:rPr lang="en-US" altLang="zh-CN" sz="1200" b="1" dirty="0"/>
              <a:t>0</a:t>
            </a:r>
            <a:r>
              <a:rPr lang="zh-CN" altLang="en-US" sz="1200" b="1" dirty="0"/>
              <a:t>次方等于</a:t>
            </a:r>
            <a:r>
              <a:rPr lang="en-US" altLang="zh-CN" sz="1200" b="1" dirty="0"/>
              <a:t>1</a:t>
            </a:r>
            <a:r>
              <a:rPr lang="zh-CN" altLang="en-US" sz="1200" b="1" dirty="0"/>
              <a:t>。则无论</a:t>
            </a:r>
            <a:r>
              <a:rPr lang="en-US" altLang="zh-CN" b="1" dirty="0"/>
              <a:t>a</a:t>
            </a:r>
            <a:r>
              <a:rPr lang="zh-CN" altLang="en-US" b="1" dirty="0">
                <a:sym typeface="Symbol" panose="05050102010706020507" pitchFamily="18" charset="2"/>
              </a:rPr>
              <a:t>，</a:t>
            </a:r>
            <a:r>
              <a:rPr lang="en-US" altLang="zh-CN" b="1" dirty="0">
                <a:sym typeface="Symbol" panose="05050102010706020507" pitchFamily="18" charset="2"/>
              </a:rPr>
              <a:t>b</a:t>
            </a:r>
            <a:r>
              <a:rPr lang="zh-CN" altLang="en-US" b="1" dirty="0">
                <a:sym typeface="Symbol" panose="05050102010706020507" pitchFamily="18" charset="2"/>
              </a:rPr>
              <a:t>的大小关系，都有</a:t>
            </a:r>
            <a:r>
              <a:rPr lang="en-US" altLang="zh-CN" b="1" dirty="0"/>
              <a:t>a</a:t>
            </a:r>
            <a:r>
              <a:rPr lang="en-US" altLang="zh-CN" b="1" baseline="30000" dirty="0"/>
              <a:t>0</a:t>
            </a:r>
            <a:r>
              <a:rPr lang="en-US" altLang="zh-CN" b="1" dirty="0">
                <a:sym typeface="Symbol" panose="05050102010706020507" pitchFamily="18" charset="2"/>
              </a:rPr>
              <a:t>=b</a:t>
            </a:r>
            <a:r>
              <a:rPr lang="en-US" altLang="zh-CN" b="1" baseline="30000" dirty="0">
                <a:sym typeface="Symbol" panose="05050102010706020507" pitchFamily="18" charset="2"/>
              </a:rPr>
              <a:t>0 </a:t>
            </a:r>
            <a:r>
              <a:rPr lang="en-US" altLang="zh-CN" b="1" dirty="0">
                <a:sym typeface="Symbol" panose="05050102010706020507" pitchFamily="18" charset="2"/>
              </a:rPr>
              <a:t>=1</a:t>
            </a:r>
            <a:r>
              <a:rPr lang="zh-CN" altLang="en-US" b="1" dirty="0">
                <a:sym typeface="Symbol" panose="05050102010706020507" pitchFamily="18" charset="2"/>
              </a:rPr>
              <a:t>，</a:t>
            </a:r>
            <a:r>
              <a:rPr lang="en-US" altLang="zh-CN" b="1" dirty="0"/>
              <a:t> a</a:t>
            </a:r>
            <a:r>
              <a:rPr lang="en-US" altLang="zh-CN" b="1" baseline="30000" dirty="0"/>
              <a:t>0</a:t>
            </a:r>
            <a:r>
              <a:rPr lang="en-US" altLang="zh-CN" b="1" dirty="0">
                <a:sym typeface="Symbol" panose="05050102010706020507" pitchFamily="18" charset="2"/>
              </a:rPr>
              <a:t>b</a:t>
            </a:r>
            <a:r>
              <a:rPr lang="en-US" altLang="zh-CN" b="1" baseline="30000" dirty="0">
                <a:sym typeface="Symbol" panose="05050102010706020507" pitchFamily="18" charset="2"/>
              </a:rPr>
              <a:t>0</a:t>
            </a:r>
            <a:r>
              <a:rPr lang="zh-CN" altLang="en-US" b="1" dirty="0">
                <a:sym typeface="Symbol" panose="05050102010706020507" pitchFamily="18" charset="2"/>
              </a:rPr>
              <a:t>都成立。</a:t>
            </a:r>
            <a:endParaRPr lang="en-US" altLang="zh-CN" b="1" dirty="0">
              <a:sym typeface="Symbol" panose="05050102010706020507" pitchFamily="18" charset="2"/>
            </a:endParaRPr>
          </a:p>
          <a:p>
            <a:pPr eaLnBrk="1" hangingPunct="1">
              <a:buFontTx/>
              <a:buNone/>
            </a:pPr>
            <a:endParaRPr lang="en-US" altLang="zh-CN" b="1" dirty="0"/>
          </a:p>
          <a:p>
            <a:pPr eaLnBrk="1" hangingPunct="1">
              <a:buFontTx/>
              <a:buNone/>
            </a:pPr>
            <a:r>
              <a:rPr lang="zh-CN" altLang="en-US" sz="1200" b="1" dirty="0"/>
              <a:t>常在归纳证明的归纳基础中出现</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38</a:t>
            </a:fld>
            <a:endParaRPr lang="zh-CN" altLang="en-US"/>
          </a:p>
        </p:txBody>
      </p:sp>
    </p:spTree>
    <p:extLst>
      <p:ext uri="{BB962C8B-B14F-4D97-AF65-F5344CB8AC3E}">
        <p14:creationId xmlns:p14="http://schemas.microsoft.com/office/powerpoint/2010/main" val="38556397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Inductive Reasoning and Conjecture </a:t>
            </a:r>
            <a:r>
              <a:rPr lang="zh-CN" altLang="en-US" dirty="0"/>
              <a:t>归纳法是一种从具体案例或实例出发，提炼出一般性规律或原理的逻辑推理方法。猜想是一种基于现有知识和直觉提出的未经证实的假设或理论。归纳法和猜想在研究过程中经常相互作用。归纳法可能导致新的猜想的形成，而猜想又可能通过归纳法从实验或观察数据中获得支持。</a:t>
            </a:r>
            <a:endParaRPr lang="en-US" altLang="zh-CN" dirty="0"/>
          </a:p>
          <a:p>
            <a:endParaRPr lang="en-US" altLang="zh-CN" dirty="0"/>
          </a:p>
          <a:p>
            <a:pPr eaLnBrk="1" hangingPunct="1">
              <a:spcBef>
                <a:spcPct val="50000"/>
              </a:spcBef>
              <a:defRPr/>
            </a:pPr>
            <a:r>
              <a:rPr lang="zh-CN" altLang="en-US" sz="1200" b="1" dirty="0">
                <a:solidFill>
                  <a:srgbClr val="000066"/>
                </a:solidFill>
                <a:latin typeface="Times New Roman" pitchFamily="18" charset="0"/>
                <a:ea typeface="宋体" pitchFamily="2" charset="-122"/>
              </a:rPr>
              <a:t>猜想</a:t>
            </a:r>
            <a:r>
              <a:rPr lang="en-US" altLang="zh-CN" sz="1200" b="1" dirty="0">
                <a:solidFill>
                  <a:srgbClr val="000066"/>
                </a:solidFill>
                <a:latin typeface="Times New Roman" pitchFamily="18" charset="0"/>
                <a:ea typeface="宋体" pitchFamily="2" charset="-122"/>
              </a:rPr>
              <a:t>:</a:t>
            </a:r>
            <a:r>
              <a:rPr lang="zh-CN" altLang="en-US" sz="1200" b="1" dirty="0">
                <a:solidFill>
                  <a:srgbClr val="000066"/>
                </a:solidFill>
                <a:latin typeface="Times New Roman" pitchFamily="18" charset="0"/>
              </a:rPr>
              <a:t> </a:t>
            </a:r>
            <a:r>
              <a:rPr lang="zh-CN" altLang="en-US" sz="1200" b="1" dirty="0">
                <a:solidFill>
                  <a:srgbClr val="000066"/>
                </a:solidFill>
                <a:latin typeface="+mn-ea"/>
                <a:ea typeface="+mn-ea"/>
              </a:rPr>
              <a:t>前</a:t>
            </a:r>
            <a:r>
              <a:rPr lang="en-US" altLang="zh-CN" sz="1200" b="1" i="1" dirty="0">
                <a:solidFill>
                  <a:srgbClr val="000066"/>
                </a:solidFill>
                <a:latin typeface="+mn-lt"/>
                <a:ea typeface="+mn-ea"/>
              </a:rPr>
              <a:t>n</a:t>
            </a:r>
            <a:r>
              <a:rPr lang="zh-CN" altLang="en-US" sz="1200" b="1" dirty="0">
                <a:solidFill>
                  <a:srgbClr val="000066"/>
                </a:solidFill>
                <a:latin typeface="+mn-ea"/>
                <a:ea typeface="+mn-ea"/>
              </a:rPr>
              <a:t>个奇数之和等于</a:t>
            </a:r>
            <a:r>
              <a:rPr lang="en-US" altLang="zh-CN" sz="1200" b="1" i="1" dirty="0">
                <a:solidFill>
                  <a:srgbClr val="000066"/>
                </a:solidFill>
                <a:latin typeface="+mn-lt"/>
                <a:ea typeface="+mn-ea"/>
              </a:rPr>
              <a:t>n</a:t>
            </a:r>
            <a:r>
              <a:rPr lang="en-US" altLang="zh-CN" sz="1200" b="1" baseline="30000" dirty="0">
                <a:solidFill>
                  <a:srgbClr val="000066"/>
                </a:solidFill>
                <a:latin typeface="+mn-lt"/>
                <a:ea typeface="+mn-ea"/>
              </a:rPr>
              <a:t>2</a:t>
            </a:r>
            <a:r>
              <a:rPr lang="en-US" altLang="zh-CN" sz="1200" b="1" dirty="0">
                <a:solidFill>
                  <a:srgbClr val="000066"/>
                </a:solidFill>
                <a:latin typeface="+mn-lt"/>
                <a:ea typeface="宋体" pitchFamily="2" charset="-122"/>
              </a:rPr>
              <a:t>, </a:t>
            </a:r>
            <a:r>
              <a:rPr lang="zh-CN" altLang="en-US" sz="1200" b="1" dirty="0">
                <a:solidFill>
                  <a:srgbClr val="000066"/>
                </a:solidFill>
                <a:latin typeface="+mn-lt"/>
                <a:ea typeface="宋体" pitchFamily="2" charset="-122"/>
              </a:rPr>
              <a:t>即</a:t>
            </a:r>
            <a:endParaRPr lang="en-US" altLang="zh-CN" sz="1200" b="1" dirty="0">
              <a:solidFill>
                <a:srgbClr val="000066"/>
              </a:solidFill>
              <a:latin typeface="+mn-lt"/>
              <a:ea typeface="宋体" pitchFamily="2" charset="-122"/>
            </a:endParaRPr>
          </a:p>
          <a:p>
            <a:pPr eaLnBrk="1" hangingPunct="1">
              <a:spcBef>
                <a:spcPct val="50000"/>
              </a:spcBef>
              <a:defRPr/>
            </a:pPr>
            <a:r>
              <a:rPr lang="en-US" altLang="zh-CN" sz="1200" b="1" dirty="0">
                <a:solidFill>
                  <a:srgbClr val="000066"/>
                </a:solidFill>
                <a:latin typeface="+mn-lt"/>
                <a:ea typeface="宋体" pitchFamily="2" charset="-122"/>
              </a:rPr>
              <a:t>                 </a:t>
            </a:r>
            <a:r>
              <a:rPr lang="zh-CN" altLang="en-US" sz="1200" b="1" dirty="0">
                <a:solidFill>
                  <a:srgbClr val="000066"/>
                </a:solidFill>
                <a:latin typeface="+mn-lt"/>
              </a:rPr>
              <a:t>1</a:t>
            </a:r>
            <a:r>
              <a:rPr lang="zh-CN" altLang="en-US" sz="1200" b="1" dirty="0">
                <a:solidFill>
                  <a:srgbClr val="000066"/>
                </a:solidFill>
                <a:latin typeface="Times New Roman" pitchFamily="18" charset="0"/>
              </a:rPr>
              <a:t>+</a:t>
            </a:r>
            <a:r>
              <a:rPr lang="en-US" altLang="zh-CN" sz="1200" b="1" dirty="0">
                <a:solidFill>
                  <a:srgbClr val="000066"/>
                </a:solidFill>
                <a:latin typeface="Times New Roman" pitchFamily="18" charset="0"/>
              </a:rPr>
              <a:t>3</a:t>
            </a:r>
            <a:r>
              <a:rPr lang="zh-CN" altLang="en-US" sz="1200" b="1" dirty="0">
                <a:solidFill>
                  <a:srgbClr val="000066"/>
                </a:solidFill>
                <a:latin typeface="Times New Roman" pitchFamily="18" charset="0"/>
              </a:rPr>
              <a:t>+</a:t>
            </a:r>
            <a:r>
              <a:rPr lang="en-US" altLang="zh-CN" sz="1200" b="1" dirty="0">
                <a:solidFill>
                  <a:srgbClr val="000066"/>
                </a:solidFill>
                <a:latin typeface="Times New Roman" pitchFamily="18" charset="0"/>
              </a:rPr>
              <a:t>5+</a:t>
            </a:r>
            <a:r>
              <a:rPr lang="zh-CN" altLang="en-US" sz="1200" b="1" dirty="0">
                <a:solidFill>
                  <a:srgbClr val="000066"/>
                </a:solidFill>
                <a:latin typeface="Times New Roman" pitchFamily="18" charset="0"/>
              </a:rPr>
              <a:t> </a:t>
            </a:r>
            <a:r>
              <a:rPr kumimoji="1" lang="en-US" altLang="zh-CN" sz="1200" b="1" dirty="0">
                <a:solidFill>
                  <a:srgbClr val="000066"/>
                </a:solidFill>
                <a:latin typeface="Times New Roman" pitchFamily="18" charset="0"/>
                <a:ea typeface="宋体" pitchFamily="2" charset="-122"/>
                <a:cs typeface="Times New Roman" pitchFamily="18" charset="0"/>
              </a:rPr>
              <a:t>…</a:t>
            </a:r>
            <a:r>
              <a:rPr lang="zh-CN" altLang="en-US" sz="1200" b="1" dirty="0">
                <a:solidFill>
                  <a:srgbClr val="000066"/>
                </a:solidFill>
                <a:latin typeface="Times New Roman" pitchFamily="18" charset="0"/>
              </a:rPr>
              <a:t> +</a:t>
            </a:r>
            <a:r>
              <a:rPr lang="en-US" altLang="zh-CN" sz="1200" b="1" dirty="0">
                <a:solidFill>
                  <a:srgbClr val="000066"/>
                </a:solidFill>
                <a:latin typeface="Times New Roman" pitchFamily="18" charset="0"/>
              </a:rPr>
              <a:t>(2</a:t>
            </a:r>
            <a:r>
              <a:rPr lang="en-US" altLang="zh-CN" sz="1200" b="1" i="1" dirty="0">
                <a:solidFill>
                  <a:srgbClr val="000066"/>
                </a:solidFill>
                <a:latin typeface="Times New Roman" pitchFamily="18" charset="0"/>
              </a:rPr>
              <a:t>n</a:t>
            </a:r>
            <a:r>
              <a:rPr lang="en-US" altLang="zh-CN" sz="1200" b="1" dirty="0">
                <a:solidFill>
                  <a:srgbClr val="000066"/>
                </a:solidFill>
                <a:latin typeface="Times New Roman" pitchFamily="18" charset="0"/>
              </a:rPr>
              <a:t>-1)=</a:t>
            </a:r>
            <a:r>
              <a:rPr lang="en-US" altLang="zh-CN" sz="1200" b="1" i="1" dirty="0">
                <a:solidFill>
                  <a:srgbClr val="000066"/>
                </a:solidFill>
                <a:latin typeface="Times New Roman" pitchFamily="18" charset="0"/>
              </a:rPr>
              <a:t>n</a:t>
            </a:r>
            <a:r>
              <a:rPr kumimoji="1" lang="en-US" altLang="zh-CN" sz="1200" b="1" baseline="30000" dirty="0">
                <a:solidFill>
                  <a:srgbClr val="000066"/>
                </a:solidFill>
                <a:latin typeface="Times New Roman" pitchFamily="18" charset="0"/>
                <a:ea typeface="宋体" pitchFamily="2" charset="-122"/>
                <a:sym typeface="Symbol" pitchFamily="18" charset="2"/>
              </a:rPr>
              <a:t>2</a:t>
            </a:r>
            <a:r>
              <a:rPr kumimoji="1" lang="en-US" altLang="zh-CN" sz="1200" b="1" dirty="0">
                <a:solidFill>
                  <a:srgbClr val="000066"/>
                </a:solidFill>
                <a:latin typeface="Times New Roman" pitchFamily="18" charset="0"/>
                <a:ea typeface="宋体" pitchFamily="2" charset="-122"/>
                <a:sym typeface="Symbol" pitchFamily="18" charset="2"/>
              </a:rPr>
              <a:t>    </a:t>
            </a:r>
            <a:endParaRPr kumimoji="1" lang="zh-CN" altLang="en-US" sz="1200" b="1" dirty="0">
              <a:solidFill>
                <a:srgbClr val="000066"/>
              </a:solidFill>
              <a:latin typeface="Times New Roman" pitchFamily="18" charset="0"/>
              <a:ea typeface="宋体" pitchFamily="2" charset="-122"/>
              <a:sym typeface="Symbol"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39</a:t>
            </a:fld>
            <a:endParaRPr lang="zh-CN" altLang="en-US"/>
          </a:p>
        </p:txBody>
      </p:sp>
    </p:spTree>
    <p:extLst>
      <p:ext uri="{BB962C8B-B14F-4D97-AF65-F5344CB8AC3E}">
        <p14:creationId xmlns:p14="http://schemas.microsoft.com/office/powerpoint/2010/main" val="2399834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buFontTx/>
              <a:buNone/>
            </a:pPr>
            <a:r>
              <a:rPr lang="zh-CN" altLang="en-US" sz="1200" b="1" dirty="0"/>
              <a:t>1)</a:t>
            </a:r>
            <a:r>
              <a:rPr lang="zh-CN" altLang="en-US" sz="1200" b="1" dirty="0">
                <a:solidFill>
                  <a:srgbClr val="FF0000"/>
                </a:solidFill>
              </a:rPr>
              <a:t>归纳基础</a:t>
            </a:r>
            <a:r>
              <a:rPr lang="zh-CN" altLang="en-US" sz="1200" b="1" dirty="0"/>
              <a:t>  证</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zh-CN" altLang="en-US" sz="1200" b="1" dirty="0">
                <a:sym typeface="Symbol" panose="05050102010706020507" pitchFamily="18" charset="2"/>
              </a:rPr>
              <a:t>为真</a:t>
            </a:r>
            <a:endParaRPr lang="zh-CN" altLang="en-US" sz="1200" b="1" dirty="0"/>
          </a:p>
          <a:p>
            <a:pPr eaLnBrk="1" hangingPunct="1">
              <a:lnSpc>
                <a:spcPct val="90000"/>
              </a:lnSpc>
              <a:buFontTx/>
              <a:buNone/>
            </a:pPr>
            <a:r>
              <a:rPr lang="zh-CN" altLang="en-US" sz="1200" b="1" dirty="0"/>
              <a:t>(2)</a:t>
            </a:r>
            <a:r>
              <a:rPr lang="zh-CN" altLang="en-US" sz="1200" b="1" dirty="0">
                <a:solidFill>
                  <a:srgbClr val="FF0000"/>
                </a:solidFill>
              </a:rPr>
              <a:t>归纳步骤</a:t>
            </a:r>
            <a:r>
              <a:rPr lang="zh-CN" altLang="en-US" sz="1200" b="1" dirty="0"/>
              <a:t>  </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 </a:t>
            </a:r>
            <a:r>
              <a:rPr lang="zh-CN" altLang="en-US" sz="1200" b="1" dirty="0">
                <a:sym typeface="Symbol" panose="05050102010706020507" pitchFamily="18" charset="2"/>
              </a:rPr>
              <a:t>假设</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zh-CN" altLang="en-US" sz="1200" b="1" dirty="0">
                <a:sym typeface="Symbol" panose="05050102010706020507" pitchFamily="18" charset="2"/>
              </a:rPr>
              <a:t>为真, 证</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+1)</a:t>
            </a:r>
            <a:r>
              <a:rPr lang="zh-CN" altLang="en-US" sz="1200" b="1" dirty="0">
                <a:sym typeface="Symbol" panose="05050102010706020507" pitchFamily="18" charset="2"/>
              </a:rPr>
              <a:t>为真.</a:t>
            </a:r>
          </a:p>
          <a:p>
            <a:pPr eaLnBrk="1" hangingPunct="1">
              <a:lnSpc>
                <a:spcPct val="90000"/>
              </a:lnSpc>
              <a:buFontTx/>
              <a:buNone/>
            </a:pPr>
            <a:r>
              <a:rPr lang="zh-CN" altLang="en-US" sz="1200" b="1" dirty="0">
                <a:sym typeface="Symbol" panose="05050102010706020507" pitchFamily="18" charset="2"/>
              </a:rPr>
              <a:t>     称“</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zh-CN" altLang="en-US" sz="1200" b="1" dirty="0">
                <a:sym typeface="Symbol" panose="05050102010706020507" pitchFamily="18" charset="2"/>
              </a:rPr>
              <a:t>为真”为</a:t>
            </a:r>
            <a:r>
              <a:rPr lang="zh-CN" altLang="en-US" sz="1200" b="1" dirty="0">
                <a:solidFill>
                  <a:srgbClr val="FF0000"/>
                </a:solidFill>
                <a:sym typeface="Symbol" panose="05050102010706020507" pitchFamily="18" charset="2"/>
              </a:rPr>
              <a:t>归纳假设</a:t>
            </a:r>
            <a:r>
              <a:rPr lang="zh-CN" altLang="en-US" sz="1200" b="1" dirty="0">
                <a:sym typeface="Symbol" panose="05050102010706020507" pitchFamily="18" charset="2"/>
              </a:rPr>
              <a:t>  </a:t>
            </a:r>
            <a:endParaRPr lang="zh-CN" altLang="en-US" sz="1200" b="1" dirty="0"/>
          </a:p>
          <a:p>
            <a:pPr eaLnBrk="1" hangingPunct="1">
              <a:lnSpc>
                <a:spcPct val="90000"/>
              </a:lnSpc>
              <a:buFontTx/>
              <a:buNone/>
            </a:pPr>
            <a:endParaRPr lang="zh-CN" altLang="en-US" sz="1200" b="1" dirty="0"/>
          </a:p>
          <a:p>
            <a:pPr eaLnBrk="1" hangingPunct="1">
              <a:lnSpc>
                <a:spcPct val="90000"/>
              </a:lnSpc>
              <a:buFontTx/>
              <a:buNone/>
            </a:pPr>
            <a:r>
              <a:rPr lang="zh-CN" altLang="en-US" sz="1200" b="1" dirty="0">
                <a:solidFill>
                  <a:srgbClr val="800000"/>
                </a:solidFill>
              </a:rPr>
              <a:t>例8</a:t>
            </a:r>
            <a:r>
              <a:rPr lang="zh-CN" altLang="en-US" sz="1200" b="1" dirty="0"/>
              <a:t> 证明:</a:t>
            </a:r>
            <a:r>
              <a:rPr kumimoji="0" lang="zh-CN" altLang="en-US" sz="1200" b="1" dirty="0"/>
              <a:t>对所有</a:t>
            </a:r>
            <a:r>
              <a:rPr lang="en-US" altLang="zh-CN" sz="1200" b="1" i="1" dirty="0">
                <a:sym typeface="Symbol" panose="05050102010706020507" pitchFamily="18" charset="2"/>
              </a:rPr>
              <a:t>n</a:t>
            </a:r>
            <a:r>
              <a:rPr lang="en-US" altLang="zh-CN" sz="1200" b="1" dirty="0">
                <a:sym typeface="Symbol" panose="05050102010706020507" pitchFamily="18" charset="2"/>
              </a:rPr>
              <a:t>1, </a:t>
            </a:r>
            <a:r>
              <a:rPr lang="zh-CN" altLang="en-US" sz="1200" b="1" dirty="0"/>
              <a:t>1+</a:t>
            </a:r>
            <a:r>
              <a:rPr lang="en-US" altLang="zh-CN" sz="1200" b="1" dirty="0"/>
              <a:t>3</a:t>
            </a:r>
            <a:r>
              <a:rPr lang="zh-CN" altLang="en-US" sz="1200" b="1" dirty="0"/>
              <a:t>+</a:t>
            </a:r>
            <a:r>
              <a:rPr lang="en-US" altLang="zh-CN" sz="1200" b="1" dirty="0"/>
              <a:t>5+</a:t>
            </a:r>
            <a:r>
              <a:rPr lang="zh-CN" altLang="en-US" sz="1200" b="1" dirty="0"/>
              <a:t> </a:t>
            </a:r>
            <a:r>
              <a:rPr lang="en-US" altLang="zh-CN" sz="1200" b="1" dirty="0">
                <a:cs typeface="Times New Roman" panose="02020603050405020304" pitchFamily="18" charset="0"/>
              </a:rPr>
              <a:t>…</a:t>
            </a:r>
            <a:r>
              <a:rPr lang="zh-CN" altLang="en-US" sz="1200" b="1" dirty="0"/>
              <a:t> +</a:t>
            </a:r>
            <a:r>
              <a:rPr lang="en-US" altLang="zh-CN" sz="1200" b="1" dirty="0"/>
              <a:t>(2</a:t>
            </a:r>
            <a:r>
              <a:rPr lang="en-US" altLang="zh-CN" sz="1200" b="1" i="1" dirty="0"/>
              <a:t>n</a:t>
            </a:r>
            <a:r>
              <a:rPr lang="en-US" altLang="zh-CN" sz="1200" b="1" dirty="0"/>
              <a:t>-1)=</a:t>
            </a:r>
            <a:r>
              <a:rPr lang="en-US" altLang="zh-CN" sz="1200" b="1" i="1" dirty="0"/>
              <a:t>n</a:t>
            </a:r>
            <a:r>
              <a:rPr lang="en-US" altLang="zh-CN" sz="1200" b="1" baseline="30000" dirty="0">
                <a:sym typeface="Symbol" panose="05050102010706020507" pitchFamily="18" charset="2"/>
              </a:rPr>
              <a:t>2</a:t>
            </a:r>
            <a:r>
              <a:rPr lang="en-US" altLang="zh-CN" sz="1200" b="1" dirty="0">
                <a:sym typeface="Symbol" panose="05050102010706020507" pitchFamily="18" charset="2"/>
              </a:rPr>
              <a:t> </a:t>
            </a:r>
          </a:p>
          <a:p>
            <a:pPr eaLnBrk="1" hangingPunct="1">
              <a:lnSpc>
                <a:spcPct val="90000"/>
              </a:lnSpc>
              <a:buFontTx/>
              <a:buNone/>
            </a:pPr>
            <a:r>
              <a:rPr lang="zh-CN" altLang="en-US" sz="1200" b="1" dirty="0">
                <a:sym typeface="Symbol" panose="05050102010706020507" pitchFamily="18" charset="2"/>
              </a:rPr>
              <a:t>证  归纳基础. 当</a:t>
            </a:r>
            <a:r>
              <a:rPr lang="en-US" altLang="zh-CN" sz="1200" b="1" i="1" dirty="0">
                <a:sym typeface="Symbol" panose="05050102010706020507" pitchFamily="18" charset="2"/>
              </a:rPr>
              <a:t>n</a:t>
            </a:r>
            <a:r>
              <a:rPr lang="zh-CN" altLang="en-US" sz="1200" b="1" dirty="0">
                <a:sym typeface="Symbol" panose="05050102010706020507" pitchFamily="18" charset="2"/>
              </a:rPr>
              <a:t>=1时, 1=</a:t>
            </a:r>
            <a:r>
              <a:rPr kumimoji="0" lang="zh-CN" altLang="en-US" sz="1200" b="1" dirty="0">
                <a:ea typeface="华文行楷" panose="02010800040101010101" pitchFamily="2" charset="-122"/>
              </a:rPr>
              <a:t>1</a:t>
            </a:r>
            <a:r>
              <a:rPr kumimoji="0" lang="en-US" altLang="zh-CN" sz="1200" b="1" baseline="30000" dirty="0">
                <a:ea typeface="华文行楷" panose="02010800040101010101" pitchFamily="2" charset="-122"/>
              </a:rPr>
              <a:t>2</a:t>
            </a:r>
            <a:r>
              <a:rPr lang="en-US" altLang="zh-CN" sz="1200" b="1" dirty="0">
                <a:sym typeface="Symbol" panose="05050102010706020507" pitchFamily="18" charset="2"/>
              </a:rPr>
              <a:t>, </a:t>
            </a:r>
            <a:r>
              <a:rPr lang="zh-CN" altLang="en-US" sz="1200" b="1" dirty="0">
                <a:sym typeface="Symbol" panose="05050102010706020507" pitchFamily="18" charset="2"/>
              </a:rPr>
              <a:t>结论成立.</a:t>
            </a:r>
          </a:p>
          <a:p>
            <a:pPr eaLnBrk="1" hangingPunct="1">
              <a:lnSpc>
                <a:spcPct val="90000"/>
              </a:lnSpc>
              <a:buFontTx/>
              <a:buNone/>
            </a:pPr>
            <a:r>
              <a:rPr lang="zh-CN" altLang="en-US" sz="1200" b="1" dirty="0">
                <a:sym typeface="Symbol" panose="05050102010706020507" pitchFamily="18" charset="2"/>
              </a:rPr>
              <a:t>归纳步骤. 假设对</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结论成立, 则有</a:t>
            </a:r>
          </a:p>
          <a:p>
            <a:pPr eaLnBrk="1" hangingPunct="1">
              <a:lnSpc>
                <a:spcPct val="90000"/>
              </a:lnSpc>
              <a:buFontTx/>
              <a:buNone/>
            </a:pPr>
            <a:r>
              <a:rPr kumimoji="0" lang="zh-CN" altLang="en-US" sz="1200" b="1" dirty="0">
                <a:ea typeface="华文行楷" panose="02010800040101010101" pitchFamily="2" charset="-122"/>
              </a:rPr>
              <a:t>       </a:t>
            </a:r>
            <a:r>
              <a:rPr lang="zh-CN" altLang="en-US" sz="1200" b="1" dirty="0"/>
              <a:t>1+</a:t>
            </a:r>
            <a:r>
              <a:rPr lang="en-US" altLang="zh-CN" sz="1200" b="1" dirty="0"/>
              <a:t>3</a:t>
            </a:r>
            <a:r>
              <a:rPr lang="zh-CN" altLang="en-US" sz="1200" b="1" dirty="0"/>
              <a:t>+</a:t>
            </a:r>
            <a:r>
              <a:rPr lang="en-US" altLang="zh-CN" sz="1200" b="1" dirty="0"/>
              <a:t>5+</a:t>
            </a:r>
            <a:r>
              <a:rPr lang="zh-CN" altLang="en-US" sz="1200" b="1" dirty="0"/>
              <a:t> </a:t>
            </a:r>
            <a:r>
              <a:rPr lang="en-US" altLang="zh-CN" sz="1200" b="1" dirty="0">
                <a:cs typeface="Times New Roman" panose="02020603050405020304" pitchFamily="18" charset="0"/>
              </a:rPr>
              <a:t>…</a:t>
            </a:r>
            <a:r>
              <a:rPr lang="zh-CN" altLang="en-US" sz="1200" b="1" dirty="0"/>
              <a:t> +</a:t>
            </a:r>
            <a:r>
              <a:rPr lang="en-US" altLang="zh-CN" sz="1200" b="1" dirty="0"/>
              <a:t>(2</a:t>
            </a:r>
            <a:r>
              <a:rPr lang="en-US" altLang="zh-CN" sz="1200" b="1" i="1" dirty="0"/>
              <a:t>n</a:t>
            </a:r>
            <a:r>
              <a:rPr lang="en-US" altLang="zh-CN" sz="1200" b="1" dirty="0"/>
              <a:t>-1)+(2</a:t>
            </a:r>
            <a:r>
              <a:rPr lang="en-US" altLang="zh-CN" sz="1200" b="1" i="1" dirty="0"/>
              <a:t>n</a:t>
            </a:r>
            <a:r>
              <a:rPr lang="en-US" altLang="zh-CN" sz="1200" b="1" dirty="0"/>
              <a:t>+1)=</a:t>
            </a:r>
            <a:r>
              <a:rPr lang="en-US" altLang="zh-CN" sz="1200" b="1" i="1" dirty="0"/>
              <a:t>n</a:t>
            </a:r>
            <a:r>
              <a:rPr lang="en-US" altLang="zh-CN" sz="1200" b="1" baseline="30000" dirty="0">
                <a:sym typeface="Symbol" panose="05050102010706020507" pitchFamily="18" charset="2"/>
              </a:rPr>
              <a:t>2 </a:t>
            </a:r>
            <a:r>
              <a:rPr kumimoji="0" lang="zh-CN" altLang="en-US" sz="1200" b="1" dirty="0">
                <a:ea typeface="华文行楷" panose="02010800040101010101" pitchFamily="2" charset="-122"/>
              </a:rPr>
              <a:t>+(</a:t>
            </a:r>
            <a:r>
              <a:rPr kumimoji="0" lang="en-US" altLang="zh-CN" sz="1200" b="1" dirty="0">
                <a:ea typeface="华文行楷" panose="02010800040101010101" pitchFamily="2" charset="-122"/>
              </a:rPr>
              <a:t>2</a:t>
            </a:r>
            <a:r>
              <a:rPr kumimoji="0" lang="en-US" altLang="zh-CN" sz="1200" b="1" i="1" dirty="0">
                <a:ea typeface="华文行楷" panose="02010800040101010101" pitchFamily="2" charset="-122"/>
              </a:rPr>
              <a:t>n+</a:t>
            </a:r>
            <a:r>
              <a:rPr kumimoji="0" lang="en-US" altLang="zh-CN" sz="1200" b="1" dirty="0">
                <a:ea typeface="华文行楷" panose="02010800040101010101" pitchFamily="2" charset="-122"/>
              </a:rPr>
              <a:t>1) </a:t>
            </a:r>
            <a:r>
              <a:rPr kumimoji="0" lang="zh-CN" altLang="en-US" sz="1200" b="1" dirty="0">
                <a:ea typeface="华文行楷" panose="02010800040101010101" pitchFamily="2" charset="-122"/>
              </a:rPr>
              <a:t>= (</a:t>
            </a:r>
            <a:r>
              <a:rPr kumimoji="0" lang="en-US" altLang="zh-CN" sz="1200" b="1" i="1" dirty="0">
                <a:ea typeface="华文行楷" panose="02010800040101010101" pitchFamily="2" charset="-122"/>
              </a:rPr>
              <a:t>n+</a:t>
            </a:r>
            <a:r>
              <a:rPr kumimoji="0" lang="en-US" altLang="zh-CN" sz="1200" b="1" dirty="0">
                <a:ea typeface="华文行楷" panose="02010800040101010101" pitchFamily="2" charset="-122"/>
              </a:rPr>
              <a:t>1)</a:t>
            </a:r>
            <a:r>
              <a:rPr kumimoji="0" lang="en-US" altLang="zh-CN" sz="1200" b="1" baseline="30000" dirty="0">
                <a:ea typeface="华文行楷" panose="02010800040101010101" pitchFamily="2" charset="-122"/>
              </a:rPr>
              <a:t>2</a:t>
            </a:r>
            <a:endParaRPr kumimoji="0" lang="en-US" altLang="zh-CN" sz="1200" b="1" dirty="0"/>
          </a:p>
          <a:p>
            <a:pPr eaLnBrk="1" hangingPunct="1">
              <a:lnSpc>
                <a:spcPct val="90000"/>
              </a:lnSpc>
              <a:buFontTx/>
              <a:buNone/>
            </a:pPr>
            <a:r>
              <a:rPr kumimoji="0" lang="zh-CN" altLang="en-US" sz="1200" b="1" dirty="0"/>
              <a:t>得证当</a:t>
            </a:r>
            <a:r>
              <a:rPr kumimoji="0" lang="en-US" altLang="zh-CN" sz="1200" b="1" i="1" dirty="0">
                <a:ea typeface="华文行楷" panose="02010800040101010101" pitchFamily="2" charset="-122"/>
              </a:rPr>
              <a:t>n+</a:t>
            </a:r>
            <a:r>
              <a:rPr kumimoji="0" lang="en-US" altLang="zh-CN" sz="1200" b="1" dirty="0">
                <a:ea typeface="华文行楷" panose="02010800040101010101" pitchFamily="2" charset="-122"/>
              </a:rPr>
              <a:t>1</a:t>
            </a:r>
            <a:r>
              <a:rPr kumimoji="0" lang="zh-CN" altLang="en-US" sz="1200" b="1" dirty="0"/>
              <a:t>时结论也成立.</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40</a:t>
            </a:fld>
            <a:endParaRPr lang="zh-CN" altLang="en-US"/>
          </a:p>
        </p:txBody>
      </p:sp>
    </p:spTree>
    <p:extLst>
      <p:ext uri="{BB962C8B-B14F-4D97-AF65-F5344CB8AC3E}">
        <p14:creationId xmlns:p14="http://schemas.microsoft.com/office/powerpoint/2010/main" val="32133229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t>注意: 归纳基础与归纳步骤两者缺一不可</a:t>
            </a:r>
          </a:p>
          <a:p>
            <a:pPr eaLnBrk="1" hangingPunct="1">
              <a:buFontTx/>
              <a:buNone/>
            </a:pPr>
            <a:endParaRPr lang="zh-CN" altLang="en-US" sz="1200" b="1" dirty="0"/>
          </a:p>
          <a:p>
            <a:pPr eaLnBrk="1" hangingPunct="1">
              <a:buFontTx/>
              <a:buNone/>
            </a:pPr>
            <a:r>
              <a:rPr lang="zh-CN" altLang="en-US" sz="1200" b="1" dirty="0">
                <a:solidFill>
                  <a:srgbClr val="800000"/>
                </a:solidFill>
              </a:rPr>
              <a:t>例1</a:t>
            </a:r>
            <a:r>
              <a:rPr lang="zh-CN" altLang="en-US" sz="1200" b="1" dirty="0"/>
              <a:t> 命题 </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dirty="0">
                <a:sym typeface="Symbol" panose="05050102010706020507" pitchFamily="18" charset="2"/>
              </a:rPr>
              <a:t>1, </a:t>
            </a:r>
            <a:r>
              <a:rPr lang="zh-CN" altLang="en-US" sz="1200" b="1" dirty="0"/>
              <a:t>2</a:t>
            </a:r>
            <a:r>
              <a:rPr lang="zh-CN" altLang="en-US" sz="1200" b="1" baseline="30000" dirty="0"/>
              <a:t>1</a:t>
            </a:r>
            <a:r>
              <a:rPr lang="zh-CN" altLang="en-US" sz="1200" b="1" dirty="0"/>
              <a:t>+2</a:t>
            </a:r>
            <a:r>
              <a:rPr lang="zh-CN" altLang="en-US" sz="1200" b="1" baseline="30000" dirty="0"/>
              <a:t>2</a:t>
            </a:r>
            <a:r>
              <a:rPr lang="zh-CN" altLang="en-US" sz="1200" b="1" dirty="0"/>
              <a:t>+ </a:t>
            </a:r>
            <a:r>
              <a:rPr lang="en-US" altLang="zh-CN" sz="1200" b="1" dirty="0">
                <a:cs typeface="Times New Roman" panose="02020603050405020304" pitchFamily="18" charset="0"/>
              </a:rPr>
              <a:t>…</a:t>
            </a:r>
            <a:r>
              <a:rPr lang="zh-CN" altLang="en-US" sz="1200" b="1" dirty="0"/>
              <a:t> + 2</a:t>
            </a:r>
            <a:r>
              <a:rPr lang="en-US" altLang="zh-CN" sz="1200" b="1" i="1" baseline="30000" dirty="0"/>
              <a:t>n</a:t>
            </a:r>
            <a:r>
              <a:rPr lang="en-US" altLang="zh-CN" sz="1200" b="1" dirty="0"/>
              <a:t>= 2</a:t>
            </a:r>
            <a:r>
              <a:rPr lang="en-US" altLang="zh-CN" sz="1200" b="1" i="1" baseline="30000" dirty="0"/>
              <a:t>n</a:t>
            </a:r>
            <a:r>
              <a:rPr lang="en-US" altLang="zh-CN" sz="1200" b="1" baseline="30000" dirty="0"/>
              <a:t>+1</a:t>
            </a:r>
            <a:r>
              <a:rPr lang="zh-CN" altLang="en-US" sz="1200" b="1" dirty="0"/>
              <a:t> </a:t>
            </a:r>
            <a:r>
              <a:rPr lang="en-US" altLang="zh-CN" sz="1200" b="1" dirty="0"/>
              <a:t>–</a:t>
            </a:r>
            <a:r>
              <a:rPr lang="zh-CN" altLang="en-US" sz="1200" b="1" dirty="0"/>
              <a:t> 2</a:t>
            </a:r>
            <a:endParaRPr lang="en-US" altLang="zh-CN" sz="1200" b="1" dirty="0"/>
          </a:p>
          <a:p>
            <a:pPr>
              <a:buNone/>
            </a:pPr>
            <a:r>
              <a:rPr lang="zh-CN" altLang="en-US" sz="1200" b="1" dirty="0">
                <a:solidFill>
                  <a:srgbClr val="FF0000"/>
                </a:solidFill>
              </a:rPr>
              <a:t>归纳基础：</a:t>
            </a:r>
            <a:r>
              <a:rPr lang="en-US" altLang="zh-CN" sz="1200" b="1" dirty="0">
                <a:solidFill>
                  <a:srgbClr val="FF0000"/>
                </a:solidFill>
              </a:rPr>
              <a:t>n=1</a:t>
            </a:r>
            <a:r>
              <a:rPr lang="zh-CN" altLang="en-US" sz="1200" b="1" dirty="0">
                <a:solidFill>
                  <a:srgbClr val="FF0000"/>
                </a:solidFill>
              </a:rPr>
              <a:t>时，</a:t>
            </a:r>
            <a:r>
              <a:rPr lang="zh-CN" altLang="en-US" sz="1200" b="1" dirty="0"/>
              <a:t> 2</a:t>
            </a:r>
            <a:r>
              <a:rPr lang="zh-CN" altLang="en-US" sz="1200" b="1" baseline="30000" dirty="0"/>
              <a:t>1</a:t>
            </a:r>
            <a:r>
              <a:rPr lang="zh-CN" altLang="en-US" sz="1200" b="1" dirty="0"/>
              <a:t> </a:t>
            </a:r>
            <a:r>
              <a:rPr lang="en-US" altLang="zh-CN" sz="1200" b="1" dirty="0"/>
              <a:t>= 2</a:t>
            </a:r>
            <a:r>
              <a:rPr lang="en-US" altLang="zh-CN" sz="1200" b="1" baseline="30000" dirty="0"/>
              <a:t>1+1</a:t>
            </a:r>
            <a:r>
              <a:rPr lang="zh-CN" altLang="en-US" sz="1200" b="1" dirty="0"/>
              <a:t> </a:t>
            </a:r>
            <a:r>
              <a:rPr lang="en-US" altLang="zh-CN" sz="1200" b="1" dirty="0"/>
              <a:t>–</a:t>
            </a:r>
            <a:r>
              <a:rPr lang="zh-CN" altLang="en-US" sz="1200" b="1" dirty="0"/>
              <a:t> 2</a:t>
            </a:r>
            <a:r>
              <a:rPr lang="en-US" altLang="zh-CN" sz="1200" b="1" dirty="0"/>
              <a:t>=2 </a:t>
            </a:r>
          </a:p>
          <a:p>
            <a:pPr eaLnBrk="1" hangingPunct="1">
              <a:buFontTx/>
              <a:buNone/>
            </a:pPr>
            <a:r>
              <a:rPr lang="zh-CN" altLang="en-US" sz="1200" b="1" dirty="0">
                <a:solidFill>
                  <a:srgbClr val="FF0000"/>
                </a:solidFill>
                <a:sym typeface="Symbol" panose="05050102010706020507" pitchFamily="18" charset="2"/>
              </a:rPr>
              <a:t>归纳</a:t>
            </a:r>
            <a:r>
              <a:rPr lang="zh-CN" altLang="en-US" b="1" dirty="0">
                <a:solidFill>
                  <a:srgbClr val="FF0000"/>
                </a:solidFill>
              </a:rPr>
              <a:t>假设</a:t>
            </a:r>
            <a:r>
              <a:rPr lang="zh-CN" altLang="en-US" sz="1200" b="1" dirty="0"/>
              <a:t>：</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dirty="0">
                <a:sym typeface="Symbol" panose="05050102010706020507" pitchFamily="18" charset="2"/>
              </a:rPr>
              <a:t>1, </a:t>
            </a:r>
            <a:r>
              <a:rPr lang="zh-CN" altLang="en-US" sz="1200" b="1" dirty="0">
                <a:sym typeface="Symbol" panose="05050102010706020507" pitchFamily="18" charset="2"/>
              </a:rPr>
              <a:t>结论成立, 则</a:t>
            </a:r>
          </a:p>
          <a:p>
            <a:pPr eaLnBrk="1" hangingPunct="1">
              <a:buFontTx/>
              <a:buNone/>
            </a:pPr>
            <a:r>
              <a:rPr lang="zh-CN" altLang="en-US" sz="1200" b="1" dirty="0"/>
              <a:t>               2</a:t>
            </a:r>
            <a:r>
              <a:rPr lang="zh-CN" altLang="en-US" sz="1200" b="1" baseline="30000" dirty="0"/>
              <a:t>1</a:t>
            </a:r>
            <a:r>
              <a:rPr lang="zh-CN" altLang="en-US" sz="1200" b="1" dirty="0"/>
              <a:t>+2</a:t>
            </a:r>
            <a:r>
              <a:rPr lang="zh-CN" altLang="en-US" sz="1200" b="1" baseline="30000" dirty="0"/>
              <a:t>2</a:t>
            </a:r>
            <a:r>
              <a:rPr lang="zh-CN" altLang="en-US" sz="1200" b="1" dirty="0"/>
              <a:t>+ </a:t>
            </a:r>
            <a:r>
              <a:rPr lang="en-US" altLang="zh-CN" sz="1200" b="1" dirty="0">
                <a:cs typeface="Times New Roman" panose="02020603050405020304" pitchFamily="18" charset="0"/>
              </a:rPr>
              <a:t>…</a:t>
            </a:r>
            <a:r>
              <a:rPr lang="zh-CN" altLang="en-US" sz="1200" b="1" dirty="0"/>
              <a:t> + 2</a:t>
            </a:r>
            <a:r>
              <a:rPr lang="en-US" altLang="zh-CN" sz="1200" b="1" i="1" baseline="30000" dirty="0"/>
              <a:t>n</a:t>
            </a:r>
            <a:r>
              <a:rPr lang="en-US" altLang="zh-CN" sz="1200" b="1" dirty="0"/>
              <a:t>+2</a:t>
            </a:r>
            <a:r>
              <a:rPr lang="en-US" altLang="zh-CN" sz="1200" b="1" i="1" baseline="30000" dirty="0"/>
              <a:t>n</a:t>
            </a:r>
            <a:r>
              <a:rPr lang="en-US" altLang="zh-CN" sz="1200" b="1" baseline="30000" dirty="0"/>
              <a:t>+1</a:t>
            </a:r>
            <a:r>
              <a:rPr lang="zh-CN" altLang="en-US" sz="1200" b="1" dirty="0">
                <a:sym typeface="Symbol" panose="05050102010706020507" pitchFamily="18" charset="2"/>
              </a:rPr>
              <a:t>= </a:t>
            </a:r>
            <a:r>
              <a:rPr lang="en-US" altLang="zh-CN" sz="1200" b="1" dirty="0"/>
              <a:t>2</a:t>
            </a:r>
            <a:r>
              <a:rPr lang="en-US" altLang="zh-CN" sz="1200" b="1" i="1" baseline="30000" dirty="0"/>
              <a:t>n</a:t>
            </a:r>
            <a:r>
              <a:rPr lang="en-US" altLang="zh-CN" sz="1200" b="1" baseline="30000" dirty="0"/>
              <a:t>+1</a:t>
            </a:r>
            <a:r>
              <a:rPr lang="zh-CN" altLang="en-US" sz="1200" b="1" dirty="0">
                <a:sym typeface="Symbol" panose="05050102010706020507" pitchFamily="18" charset="2"/>
              </a:rPr>
              <a:t>+</a:t>
            </a:r>
            <a:r>
              <a:rPr lang="en-US" altLang="zh-CN" sz="1200" b="1" dirty="0"/>
              <a:t>2</a:t>
            </a:r>
            <a:r>
              <a:rPr lang="en-US" altLang="zh-CN" sz="1200" b="1" i="1" baseline="30000" dirty="0"/>
              <a:t>n</a:t>
            </a:r>
            <a:r>
              <a:rPr lang="en-US" altLang="zh-CN" sz="1200" b="1" baseline="30000" dirty="0"/>
              <a:t>+1</a:t>
            </a:r>
            <a:r>
              <a:rPr lang="zh-CN" altLang="en-US" sz="1200" b="1" dirty="0">
                <a:sym typeface="Symbol" panose="05050102010706020507" pitchFamily="18" charset="2"/>
              </a:rPr>
              <a:t> = </a:t>
            </a:r>
            <a:r>
              <a:rPr lang="en-US" altLang="zh-CN" sz="1200" b="1" dirty="0"/>
              <a:t>2</a:t>
            </a:r>
            <a:r>
              <a:rPr lang="en-US" altLang="zh-CN" sz="1200" b="1" i="1" baseline="30000" dirty="0"/>
              <a:t>n</a:t>
            </a:r>
            <a:r>
              <a:rPr lang="en-US" altLang="zh-CN" sz="1200" b="1" baseline="30000" dirty="0"/>
              <a:t>+2</a:t>
            </a:r>
            <a:r>
              <a:rPr lang="en-US" altLang="zh-CN" sz="1200" b="1" dirty="0"/>
              <a:t> -</a:t>
            </a:r>
            <a:r>
              <a:rPr lang="zh-CN" altLang="en-US" sz="1200" b="1" dirty="0"/>
              <a:t> 2</a:t>
            </a:r>
            <a:endParaRPr lang="zh-CN" altLang="en-US" sz="1200" b="1" dirty="0">
              <a:sym typeface="Symbol" panose="05050102010706020507" pitchFamily="18" charset="2"/>
            </a:endParaRPr>
          </a:p>
          <a:p>
            <a:pPr eaLnBrk="1" hangingPunct="1">
              <a:buFontTx/>
              <a:buNone/>
            </a:pPr>
            <a:r>
              <a:rPr lang="zh-CN" altLang="en-US" sz="1200" b="1" dirty="0">
                <a:sym typeface="Symbol" panose="05050102010706020507" pitchFamily="18" charset="2"/>
              </a:rPr>
              <a:t>命题对</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结论成立.</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41</a:t>
            </a:fld>
            <a:endParaRPr lang="zh-CN" altLang="en-US"/>
          </a:p>
        </p:txBody>
      </p:sp>
    </p:spTree>
    <p:extLst>
      <p:ext uri="{BB962C8B-B14F-4D97-AF65-F5344CB8AC3E}">
        <p14:creationId xmlns:p14="http://schemas.microsoft.com/office/powerpoint/2010/main" val="17074349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eaLnBrk="1" hangingPunct="1">
              <a:buFontTx/>
              <a:buNone/>
            </a:pPr>
            <a:r>
              <a:rPr lang="zh-CN" altLang="en-US" sz="1200" b="1" dirty="0">
                <a:solidFill>
                  <a:srgbClr val="FF0000"/>
                </a:solidFill>
              </a:rPr>
              <a:t>举反例法</a:t>
            </a:r>
            <a:r>
              <a:rPr lang="zh-CN" altLang="en-US" sz="1200" b="1" dirty="0"/>
              <a:t>通过找到一个或多个例子来反驳一个普遍性的命题。这种方法通常用于证明某个命题是错误的。</a:t>
            </a:r>
            <a:endParaRPr lang="en-US" altLang="zh-CN" sz="1200" b="1" dirty="0"/>
          </a:p>
          <a:p>
            <a:pPr marL="0" indent="0">
              <a:buNone/>
            </a:pPr>
            <a:r>
              <a:rPr lang="zh-CN" altLang="en-US" sz="1200" b="1" dirty="0">
                <a:solidFill>
                  <a:srgbClr val="800000"/>
                </a:solidFill>
              </a:rPr>
              <a:t>例2</a:t>
            </a:r>
            <a:r>
              <a:rPr lang="zh-CN" altLang="en-US" sz="1200" b="1" dirty="0"/>
              <a:t> 观察2</a:t>
            </a:r>
            <a:r>
              <a:rPr lang="en-US" altLang="zh-CN" sz="1200" b="1" i="1" baseline="30000" dirty="0"/>
              <a:t>n</a:t>
            </a:r>
            <a:r>
              <a:rPr lang="en-US" altLang="zh-CN" sz="1200" b="1" baseline="30000" dirty="0"/>
              <a:t>-1</a:t>
            </a:r>
            <a:r>
              <a:rPr lang="en-US" altLang="zh-CN" sz="1200" b="1" dirty="0"/>
              <a:t>-1</a:t>
            </a:r>
            <a:r>
              <a:rPr lang="zh-CN" altLang="en-US" sz="1200" b="1" dirty="0"/>
              <a:t> 是否被</a:t>
            </a:r>
            <a:r>
              <a:rPr lang="en-US" altLang="zh-CN" sz="1200" b="1" i="1" dirty="0"/>
              <a:t>n</a:t>
            </a:r>
            <a:r>
              <a:rPr lang="zh-CN" altLang="en-US" sz="1200" b="1" dirty="0"/>
              <a:t>整除</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42</a:t>
            </a:fld>
            <a:endParaRPr lang="zh-CN" altLang="en-US"/>
          </a:p>
        </p:txBody>
      </p:sp>
    </p:spTree>
    <p:extLst>
      <p:ext uri="{BB962C8B-B14F-4D97-AF65-F5344CB8AC3E}">
        <p14:creationId xmlns:p14="http://schemas.microsoft.com/office/powerpoint/2010/main" val="11611032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spcBef>
                <a:spcPct val="80000"/>
              </a:spcBef>
              <a:buFontTx/>
              <a:buNone/>
            </a:pPr>
            <a:r>
              <a:rPr lang="zh-CN" altLang="en-US" sz="1200" b="1" dirty="0"/>
              <a:t>由上表可能会归纳出下述命题</a:t>
            </a:r>
          </a:p>
          <a:p>
            <a:pPr eaLnBrk="1" hangingPunct="1">
              <a:lnSpc>
                <a:spcPct val="90000"/>
              </a:lnSpc>
              <a:spcBef>
                <a:spcPct val="80000"/>
              </a:spcBef>
              <a:buFontTx/>
              <a:buNone/>
            </a:pPr>
            <a:r>
              <a:rPr lang="zh-CN" altLang="en-US" sz="1200" b="1" dirty="0"/>
              <a:t>命题 设</a:t>
            </a:r>
            <a:r>
              <a:rPr lang="en-US" altLang="zh-CN" sz="1200" b="1" i="1" dirty="0"/>
              <a:t>n</a:t>
            </a:r>
            <a:r>
              <a:rPr lang="en-US" altLang="zh-CN" sz="1200" b="1" dirty="0">
                <a:sym typeface="Symbol" panose="05050102010706020507" pitchFamily="18" charset="2"/>
              </a:rPr>
              <a:t>3, </a:t>
            </a:r>
            <a:r>
              <a:rPr lang="en-US" altLang="zh-CN" sz="1200" b="1" i="1" dirty="0">
                <a:sym typeface="Symbol" panose="05050102010706020507" pitchFamily="18" charset="2"/>
              </a:rPr>
              <a:t>n</a:t>
            </a:r>
            <a:r>
              <a:rPr lang="zh-CN" altLang="en-US" sz="1200" b="1" dirty="0">
                <a:sym typeface="Symbol" panose="05050102010706020507" pitchFamily="18" charset="2"/>
              </a:rPr>
              <a:t>是素数的充分必要条件是</a:t>
            </a:r>
            <a:r>
              <a:rPr lang="zh-CN" altLang="en-US" sz="1200" b="1" dirty="0"/>
              <a:t>2</a:t>
            </a:r>
            <a:r>
              <a:rPr lang="en-US" altLang="zh-CN" sz="1200" b="1" i="1" baseline="30000" dirty="0"/>
              <a:t>n</a:t>
            </a:r>
            <a:r>
              <a:rPr lang="en-US" altLang="zh-CN" sz="1200" b="1" baseline="30000" dirty="0"/>
              <a:t>-1</a:t>
            </a:r>
            <a:r>
              <a:rPr lang="en-US" altLang="zh-CN" sz="1200" b="1" dirty="0"/>
              <a:t>-1</a:t>
            </a:r>
            <a:r>
              <a:rPr lang="zh-CN" altLang="en-US" sz="1200" b="1" dirty="0"/>
              <a:t>被</a:t>
            </a:r>
            <a:r>
              <a:rPr lang="en-US" altLang="zh-CN" sz="1200" b="1" i="1" dirty="0"/>
              <a:t>n</a:t>
            </a:r>
            <a:r>
              <a:rPr lang="zh-CN" altLang="en-US" sz="1200" b="1" dirty="0"/>
              <a:t>整除.</a:t>
            </a:r>
          </a:p>
          <a:p>
            <a:pPr eaLnBrk="1" hangingPunct="1">
              <a:lnSpc>
                <a:spcPct val="90000"/>
              </a:lnSpc>
              <a:spcBef>
                <a:spcPct val="80000"/>
              </a:spcBef>
              <a:buFontTx/>
              <a:buNone/>
            </a:pPr>
            <a:r>
              <a:rPr lang="zh-CN" altLang="en-US" sz="1200" b="1" dirty="0"/>
              <a:t>但此命题不真.</a:t>
            </a:r>
            <a:endParaRPr lang="en-US" altLang="zh-CN" sz="1200" b="1" dirty="0"/>
          </a:p>
          <a:p>
            <a:pPr eaLnBrk="1" hangingPunct="1">
              <a:lnSpc>
                <a:spcPct val="90000"/>
              </a:lnSpc>
              <a:spcBef>
                <a:spcPct val="80000"/>
              </a:spcBef>
              <a:buFontTx/>
              <a:buNone/>
            </a:pPr>
            <a:r>
              <a:rPr lang="zh-CN" altLang="en-US" b="1" dirty="0">
                <a:solidFill>
                  <a:srgbClr val="FF0000"/>
                </a:solidFill>
              </a:rPr>
              <a:t>反例</a:t>
            </a:r>
            <a:r>
              <a:rPr lang="zh-CN" altLang="en-US" b="1" dirty="0"/>
              <a:t>：</a:t>
            </a:r>
            <a:r>
              <a:rPr lang="zh-CN" altLang="en-US" sz="1200" b="1" dirty="0"/>
              <a:t> 561=3</a:t>
            </a:r>
            <a:r>
              <a:rPr lang="en-US" altLang="zh-CN" sz="1200" b="1" dirty="0">
                <a:sym typeface="Symbol" panose="05050102010706020507" pitchFamily="18" charset="2"/>
              </a:rPr>
              <a:t>1117</a:t>
            </a:r>
            <a:r>
              <a:rPr lang="zh-CN" altLang="en-US" sz="1200" b="1" dirty="0">
                <a:sym typeface="Symbol" panose="05050102010706020507" pitchFamily="18" charset="2"/>
              </a:rPr>
              <a:t>是合数, 而2</a:t>
            </a:r>
            <a:r>
              <a:rPr lang="zh-CN" altLang="en-US" sz="1200" b="1" baseline="30000" dirty="0">
                <a:sym typeface="Symbol" panose="05050102010706020507" pitchFamily="18" charset="2"/>
              </a:rPr>
              <a:t>560</a:t>
            </a:r>
            <a:r>
              <a:rPr lang="zh-CN" altLang="en-US" sz="1200" b="1" dirty="0">
                <a:sym typeface="Symbol" panose="05050102010706020507" pitchFamily="18" charset="2"/>
              </a:rPr>
              <a:t>-1能被561整除.</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43</a:t>
            </a:fld>
            <a:endParaRPr lang="zh-CN" altLang="en-US"/>
          </a:p>
        </p:txBody>
      </p:sp>
    </p:spTree>
    <p:extLst>
      <p:ext uri="{BB962C8B-B14F-4D97-AF65-F5344CB8AC3E}">
        <p14:creationId xmlns:p14="http://schemas.microsoft.com/office/powerpoint/2010/main" val="22793284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40000"/>
              </a:lnSpc>
              <a:spcBef>
                <a:spcPts val="600"/>
              </a:spcBef>
              <a:buFont typeface="Wingdings" panose="05000000000000000000" pitchFamily="2" charset="2"/>
              <a:buNone/>
            </a:pPr>
            <a:endParaRPr lang="zh-CN" altLang="en-US" sz="100" b="1" dirty="0"/>
          </a:p>
          <a:p>
            <a:pPr eaLnBrk="1" hangingPunct="1">
              <a:buFontTx/>
              <a:buNone/>
            </a:pPr>
            <a:r>
              <a:rPr lang="zh-CN" altLang="en-US" sz="1200" b="1" dirty="0">
                <a:solidFill>
                  <a:srgbClr val="FF0000"/>
                </a:solidFill>
              </a:rPr>
              <a:t>归纳基础</a:t>
            </a:r>
            <a:r>
              <a:rPr lang="zh-CN" altLang="en-US" sz="1200" b="1" dirty="0"/>
              <a:t> 证明</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zh-CN" altLang="en-US" sz="1200" b="1" dirty="0">
                <a:sym typeface="Symbol" panose="05050102010706020507" pitchFamily="18" charset="2"/>
              </a:rPr>
              <a:t>为真</a:t>
            </a:r>
            <a:endParaRPr lang="zh-CN" altLang="en-US" sz="1200" b="1" dirty="0"/>
          </a:p>
          <a:p>
            <a:pPr eaLnBrk="1" hangingPunct="1">
              <a:buFontTx/>
              <a:buNone/>
            </a:pPr>
            <a:r>
              <a:rPr lang="zh-CN" altLang="en-US" sz="1200" b="1" dirty="0">
                <a:solidFill>
                  <a:srgbClr val="FF0000"/>
                </a:solidFill>
              </a:rPr>
              <a:t>归纳步骤</a:t>
            </a:r>
            <a:r>
              <a:rPr lang="zh-CN" altLang="en-US" sz="1200" b="1" dirty="0"/>
              <a:t> </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 </a:t>
            </a:r>
            <a:r>
              <a:rPr lang="zh-CN" altLang="en-US" sz="1200" b="1" dirty="0">
                <a:sym typeface="Symbol" panose="05050102010706020507" pitchFamily="18" charset="2"/>
              </a:rPr>
              <a:t>假设</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+1),</a:t>
            </a:r>
            <a:r>
              <a:rPr lang="en-US" altLang="zh-CN" sz="1200" b="1" dirty="0">
                <a:cs typeface="Times New Roman" panose="02020603050405020304" pitchFamily="18" charset="0"/>
              </a:rPr>
              <a:t>…</a:t>
            </a:r>
            <a:r>
              <a:rPr lang="en-US" altLang="zh-CN" sz="1200" b="1" dirty="0">
                <a:sym typeface="Symbol" panose="05050102010706020507" pitchFamily="18" charset="2"/>
              </a:rPr>
              <a:t>,</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zh-CN" altLang="en-US" sz="1200" b="1" dirty="0">
                <a:sym typeface="Symbol" panose="05050102010706020507" pitchFamily="18" charset="2"/>
              </a:rPr>
              <a:t>为真, </a:t>
            </a:r>
          </a:p>
          <a:p>
            <a:pPr eaLnBrk="1" hangingPunct="1">
              <a:buFontTx/>
              <a:buNone/>
            </a:pPr>
            <a:r>
              <a:rPr lang="zh-CN" altLang="en-US" sz="1200" b="1" dirty="0">
                <a:sym typeface="Symbol" panose="05050102010706020507" pitchFamily="18" charset="2"/>
              </a:rPr>
              <a:t>证</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+1)</a:t>
            </a:r>
            <a:r>
              <a:rPr lang="zh-CN" altLang="en-US" sz="1200" b="1" dirty="0">
                <a:sym typeface="Symbol" panose="05050102010706020507" pitchFamily="18" charset="2"/>
              </a:rPr>
              <a:t>为真.</a:t>
            </a:r>
          </a:p>
          <a:p>
            <a:pPr eaLnBrk="1" hangingPunct="1">
              <a:buFontTx/>
              <a:buNone/>
            </a:pPr>
            <a:r>
              <a:rPr lang="zh-CN" altLang="en-US" sz="1200" b="1" dirty="0">
                <a:solidFill>
                  <a:srgbClr val="FF0000"/>
                </a:solidFill>
                <a:sym typeface="Symbol" panose="05050102010706020507" pitchFamily="18" charset="2"/>
              </a:rPr>
              <a:t>归纳假设</a:t>
            </a:r>
            <a:r>
              <a:rPr lang="zh-CN" altLang="en-US" sz="1200" b="1" dirty="0">
                <a:sym typeface="Symbol" panose="05050102010706020507" pitchFamily="18" charset="2"/>
              </a:rPr>
              <a:t>  </a:t>
            </a:r>
            <a:r>
              <a:rPr lang="en-US" altLang="zh-CN" sz="1200" b="1" dirty="0">
                <a:sym typeface="Symbol" panose="05050102010706020507" pitchFamily="18" charset="2"/>
              </a:rPr>
              <a:t></a:t>
            </a:r>
            <a:r>
              <a:rPr lang="en-US" altLang="zh-CN" sz="1200" b="1" i="1" dirty="0">
                <a:sym typeface="Symbol" panose="05050102010706020507" pitchFamily="18" charset="2"/>
              </a:rPr>
              <a:t>y</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en-US" altLang="zh-CN" sz="1200" b="1" i="1" dirty="0">
                <a:sym typeface="Symbol" panose="05050102010706020507" pitchFamily="18" charset="2"/>
              </a:rPr>
              <a:t>y</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zh-CN" altLang="en-US" sz="1200" b="1" dirty="0">
                <a:sym typeface="Symbol" panose="05050102010706020507" pitchFamily="18" charset="2"/>
              </a:rPr>
              <a:t> </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y</a:t>
            </a:r>
            <a:r>
              <a:rPr lang="en-US" altLang="zh-CN" sz="1200" b="1" dirty="0">
                <a:sym typeface="Symbol" panose="05050102010706020507" pitchFamily="18" charset="2"/>
              </a:rPr>
              <a:t>)</a:t>
            </a:r>
            <a:r>
              <a:rPr lang="zh-CN" altLang="en-US" sz="1200" b="1" dirty="0">
                <a:sym typeface="Symbol" panose="05050102010706020507" pitchFamily="18" charset="2"/>
              </a:rPr>
              <a:t>为真</a:t>
            </a:r>
          </a:p>
          <a:p>
            <a:pPr eaLnBrk="1" hangingPunct="1">
              <a:buFontTx/>
              <a:buNone/>
            </a:pPr>
            <a:endParaRPr lang="zh-CN" altLang="en-US" sz="1200" b="1" dirty="0">
              <a:sym typeface="Symbol" panose="05050102010706020507" pitchFamily="18" charset="2"/>
            </a:endParaRPr>
          </a:p>
          <a:p>
            <a:pPr eaLnBrk="1" hangingPunct="1">
              <a:buFontTx/>
              <a:buNone/>
            </a:pPr>
            <a:r>
              <a:rPr lang="zh-CN" altLang="en-US" sz="1200" b="1" dirty="0">
                <a:solidFill>
                  <a:srgbClr val="800000"/>
                </a:solidFill>
                <a:sym typeface="Symbol" panose="05050102010706020507" pitchFamily="18" charset="2"/>
              </a:rPr>
              <a:t>例9</a:t>
            </a:r>
            <a:r>
              <a:rPr lang="zh-CN" altLang="en-US" sz="1200" b="1" dirty="0">
                <a:sym typeface="Symbol" panose="05050102010706020507" pitchFamily="18" charset="2"/>
              </a:rPr>
              <a:t> 任何大于等于2的整数均可表成素数的乘积</a:t>
            </a:r>
          </a:p>
          <a:p>
            <a:pPr eaLnBrk="1" hangingPunct="1">
              <a:buFontTx/>
              <a:buNone/>
            </a:pPr>
            <a:r>
              <a:rPr lang="zh-CN" altLang="en-US" sz="1200" b="1" dirty="0">
                <a:sym typeface="Symbol" panose="05050102010706020507" pitchFamily="18" charset="2"/>
              </a:rPr>
              <a:t>证：</a:t>
            </a:r>
            <a:endParaRPr lang="en-US" altLang="zh-CN" sz="1200" b="1" dirty="0">
              <a:sym typeface="Symbol" panose="05050102010706020507" pitchFamily="18" charset="2"/>
            </a:endParaRPr>
          </a:p>
          <a:p>
            <a:pPr eaLnBrk="1" hangingPunct="1">
              <a:buFontTx/>
              <a:buNone/>
            </a:pPr>
            <a:r>
              <a:rPr lang="zh-CN" altLang="en-US" sz="1200" b="1" dirty="0">
                <a:sym typeface="Symbol" panose="05050102010706020507" pitchFamily="18" charset="2"/>
              </a:rPr>
              <a:t>归纳基础. 对于</a:t>
            </a:r>
            <a:r>
              <a:rPr lang="en-US" altLang="zh-CN" sz="1200" b="1" dirty="0">
                <a:sym typeface="Symbol" panose="05050102010706020507" pitchFamily="18" charset="2"/>
              </a:rPr>
              <a:t>2, </a:t>
            </a:r>
            <a:r>
              <a:rPr lang="zh-CN" altLang="en-US" sz="1200" b="1" dirty="0">
                <a:sym typeface="Symbol" panose="05050102010706020507" pitchFamily="18" charset="2"/>
              </a:rPr>
              <a:t>结论显然成立.</a:t>
            </a:r>
          </a:p>
          <a:p>
            <a:pPr eaLnBrk="1" hangingPunct="1">
              <a:buFontTx/>
              <a:buNone/>
            </a:pPr>
            <a:r>
              <a:rPr lang="zh-CN" altLang="en-US" sz="1200" b="1" dirty="0">
                <a:sym typeface="Symbol" panose="05050102010706020507" pitchFamily="18" charset="2"/>
              </a:rPr>
              <a:t>归纳步骤. 假设对所有的</a:t>
            </a:r>
            <a:r>
              <a:rPr lang="en-US" altLang="zh-CN" sz="1200" b="1" i="1" dirty="0">
                <a:sym typeface="Symbol" panose="05050102010706020507" pitchFamily="18" charset="2"/>
              </a:rPr>
              <a:t>k</a:t>
            </a:r>
            <a:r>
              <a:rPr lang="en-US" altLang="zh-CN" sz="1200" b="1" dirty="0">
                <a:sym typeface="Symbol" panose="05050102010706020507" pitchFamily="18" charset="2"/>
              </a:rPr>
              <a:t>(2</a:t>
            </a:r>
            <a:r>
              <a:rPr lang="en-US" altLang="zh-CN" sz="1200" b="1" i="1" dirty="0">
                <a:sym typeface="Symbol" panose="05050102010706020507" pitchFamily="18" charset="2"/>
              </a:rPr>
              <a:t>k</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dirty="0">
                <a:sym typeface="Symbol" panose="05050102010706020507" pitchFamily="18" charset="2"/>
              </a:rPr>
              <a:t>)</a:t>
            </a:r>
            <a:r>
              <a:rPr lang="zh-CN" altLang="en-US" sz="1200" b="1" dirty="0">
                <a:sym typeface="Symbol" panose="05050102010706020507" pitchFamily="18" charset="2"/>
              </a:rPr>
              <a:t>结论成立, 要证结论</a:t>
            </a:r>
          </a:p>
          <a:p>
            <a:pPr eaLnBrk="1" hangingPunct="1">
              <a:buFontTx/>
              <a:buNone/>
            </a:pPr>
            <a:r>
              <a:rPr lang="zh-CN" altLang="en-US" sz="1200" b="1" dirty="0">
                <a:sym typeface="Symbol" panose="05050102010706020507" pitchFamily="18" charset="2"/>
              </a:rPr>
              <a:t>对</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也成立. 若</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是素数, 则结论成立; 否则</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en-US" altLang="zh-CN" sz="1200" b="1" i="1" dirty="0">
                <a:sym typeface="Symbol" panose="05050102010706020507" pitchFamily="18" charset="2"/>
              </a:rPr>
              <a:t>ab</a:t>
            </a:r>
            <a:r>
              <a:rPr lang="en-US" altLang="zh-CN" sz="1200" b="1" dirty="0">
                <a:sym typeface="Symbol" panose="05050102010706020507" pitchFamily="18" charset="2"/>
              </a:rPr>
              <a:t>,</a:t>
            </a:r>
          </a:p>
          <a:p>
            <a:pPr eaLnBrk="1" hangingPunct="1">
              <a:buFontTx/>
              <a:buNone/>
            </a:pPr>
            <a:r>
              <a:rPr lang="en-US" altLang="zh-CN" sz="1200" b="1" dirty="0">
                <a:sym typeface="Symbol" panose="05050102010706020507" pitchFamily="18" charset="2"/>
              </a:rPr>
              <a:t>2</a:t>
            </a:r>
            <a:r>
              <a:rPr lang="en-US" altLang="zh-CN" sz="1200" b="1" i="1" dirty="0">
                <a:sym typeface="Symbol" panose="05050102010706020507" pitchFamily="18" charset="2"/>
              </a:rPr>
              <a:t>a,b</a:t>
            </a:r>
            <a:r>
              <a:rPr lang="en-US" altLang="zh-CN" sz="1200" b="1" dirty="0">
                <a:sym typeface="Symbol" panose="05050102010706020507" pitchFamily="18" charset="2"/>
              </a:rPr>
              <a:t>&lt;</a:t>
            </a:r>
            <a:r>
              <a:rPr lang="en-US" altLang="zh-CN" sz="1200" b="1" i="1" dirty="0">
                <a:sym typeface="Symbol" panose="05050102010706020507" pitchFamily="18" charset="2"/>
              </a:rPr>
              <a:t>n</a:t>
            </a:r>
            <a:r>
              <a:rPr lang="zh-CN" altLang="en-US" sz="1200" b="1" dirty="0">
                <a:sym typeface="Symbol" panose="05050102010706020507" pitchFamily="18" charset="2"/>
              </a:rPr>
              <a:t>. 由归纳假设, </a:t>
            </a:r>
            <a:r>
              <a:rPr lang="en-US" altLang="zh-CN" sz="1200" b="1" i="1" dirty="0" err="1">
                <a:sym typeface="Symbol" panose="05050102010706020507" pitchFamily="18" charset="2"/>
              </a:rPr>
              <a:t>a,b</a:t>
            </a:r>
            <a:r>
              <a:rPr lang="zh-CN" altLang="en-US" sz="1200" b="1" dirty="0">
                <a:sym typeface="Symbol" panose="05050102010706020507" pitchFamily="18" charset="2"/>
              </a:rPr>
              <a:t>均可表成素数的乘积, 从而</a:t>
            </a:r>
            <a:r>
              <a:rPr lang="en-US" altLang="zh-CN" sz="1200" b="1" i="1" dirty="0">
                <a:sym typeface="Symbol" panose="05050102010706020507" pitchFamily="18" charset="2"/>
              </a:rPr>
              <a:t>n</a:t>
            </a:r>
            <a:r>
              <a:rPr lang="en-US" altLang="zh-CN" sz="1200" b="1" dirty="0">
                <a:sym typeface="Symbol" panose="05050102010706020507" pitchFamily="18" charset="2"/>
              </a:rPr>
              <a:t>+1</a:t>
            </a:r>
          </a:p>
          <a:p>
            <a:pPr eaLnBrk="1" hangingPunct="1">
              <a:buFontTx/>
              <a:buNone/>
            </a:pPr>
            <a:r>
              <a:rPr lang="zh-CN" altLang="en-US" sz="1200" b="1" dirty="0">
                <a:sym typeface="Symbol" panose="05050102010706020507" pitchFamily="18" charset="2"/>
              </a:rPr>
              <a:t>也可表成素数的乘积. 得证结论对</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成立.</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44</a:t>
            </a:fld>
            <a:endParaRPr lang="zh-CN" altLang="en-US"/>
          </a:p>
        </p:txBody>
      </p:sp>
    </p:spTree>
    <p:extLst>
      <p:ext uri="{BB962C8B-B14F-4D97-AF65-F5344CB8AC3E}">
        <p14:creationId xmlns:p14="http://schemas.microsoft.com/office/powerpoint/2010/main" val="182975240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40000"/>
              </a:lnSpc>
              <a:spcBef>
                <a:spcPts val="600"/>
              </a:spcBef>
              <a:buFont typeface="Wingdings" panose="05000000000000000000" pitchFamily="2" charset="2"/>
              <a:buNone/>
            </a:pPr>
            <a:endParaRPr lang="zh-CN" altLang="en-US" sz="100" b="1" dirty="0"/>
          </a:p>
          <a:p>
            <a:pPr eaLnBrk="1" hangingPunct="1">
              <a:buFontTx/>
              <a:buNone/>
            </a:pPr>
            <a:r>
              <a:rPr lang="zh-CN" altLang="en-US" sz="1200" b="1" dirty="0">
                <a:solidFill>
                  <a:srgbClr val="FF0000"/>
                </a:solidFill>
              </a:rPr>
              <a:t>归纳基础</a:t>
            </a:r>
            <a:r>
              <a:rPr lang="zh-CN" altLang="en-US" sz="1200" b="1" dirty="0"/>
              <a:t> 证明</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zh-CN" altLang="en-US" sz="1200" b="1" dirty="0">
                <a:sym typeface="Symbol" panose="05050102010706020507" pitchFamily="18" charset="2"/>
              </a:rPr>
              <a:t>为真</a:t>
            </a:r>
            <a:endParaRPr lang="zh-CN" altLang="en-US" sz="1200" b="1" dirty="0"/>
          </a:p>
          <a:p>
            <a:pPr eaLnBrk="1" hangingPunct="1">
              <a:buFontTx/>
              <a:buNone/>
            </a:pPr>
            <a:r>
              <a:rPr lang="zh-CN" altLang="en-US" sz="1200" b="1" dirty="0">
                <a:solidFill>
                  <a:srgbClr val="FF0000"/>
                </a:solidFill>
              </a:rPr>
              <a:t>归纳步骤</a:t>
            </a:r>
            <a:r>
              <a:rPr lang="zh-CN" altLang="en-US" sz="1200" b="1" dirty="0"/>
              <a:t> </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 </a:t>
            </a:r>
            <a:r>
              <a:rPr lang="zh-CN" altLang="en-US" sz="1200" b="1" dirty="0">
                <a:sym typeface="Symbol" panose="05050102010706020507" pitchFamily="18" charset="2"/>
              </a:rPr>
              <a:t>假设</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+1),</a:t>
            </a:r>
            <a:r>
              <a:rPr lang="en-US" altLang="zh-CN" sz="1200" b="1" dirty="0">
                <a:cs typeface="Times New Roman" panose="02020603050405020304" pitchFamily="18" charset="0"/>
              </a:rPr>
              <a:t>…</a:t>
            </a:r>
            <a:r>
              <a:rPr lang="en-US" altLang="zh-CN" sz="1200" b="1" dirty="0">
                <a:sym typeface="Symbol" panose="05050102010706020507" pitchFamily="18" charset="2"/>
              </a:rPr>
              <a:t>,</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zh-CN" altLang="en-US" sz="1200" b="1" dirty="0">
                <a:sym typeface="Symbol" panose="05050102010706020507" pitchFamily="18" charset="2"/>
              </a:rPr>
              <a:t>为真, </a:t>
            </a:r>
          </a:p>
          <a:p>
            <a:pPr eaLnBrk="1" hangingPunct="1">
              <a:buFontTx/>
              <a:buNone/>
            </a:pPr>
            <a:r>
              <a:rPr lang="zh-CN" altLang="en-US" sz="1200" b="1" dirty="0">
                <a:sym typeface="Symbol" panose="05050102010706020507" pitchFamily="18" charset="2"/>
              </a:rPr>
              <a:t>证</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+1)</a:t>
            </a:r>
            <a:r>
              <a:rPr lang="zh-CN" altLang="en-US" sz="1200" b="1" dirty="0">
                <a:sym typeface="Symbol" panose="05050102010706020507" pitchFamily="18" charset="2"/>
              </a:rPr>
              <a:t>为真.</a:t>
            </a:r>
          </a:p>
          <a:p>
            <a:pPr eaLnBrk="1" hangingPunct="1">
              <a:buFontTx/>
              <a:buNone/>
            </a:pPr>
            <a:r>
              <a:rPr lang="zh-CN" altLang="en-US" sz="1200" b="1" dirty="0">
                <a:solidFill>
                  <a:srgbClr val="FF0000"/>
                </a:solidFill>
                <a:sym typeface="Symbol" panose="05050102010706020507" pitchFamily="18" charset="2"/>
              </a:rPr>
              <a:t>归纳假设</a:t>
            </a:r>
            <a:r>
              <a:rPr lang="zh-CN" altLang="en-US" sz="1200" b="1" dirty="0">
                <a:sym typeface="Symbol" panose="05050102010706020507" pitchFamily="18" charset="2"/>
              </a:rPr>
              <a:t>  </a:t>
            </a:r>
            <a:r>
              <a:rPr lang="en-US" altLang="zh-CN" sz="1200" b="1" dirty="0">
                <a:sym typeface="Symbol" panose="05050102010706020507" pitchFamily="18" charset="2"/>
              </a:rPr>
              <a:t></a:t>
            </a:r>
            <a:r>
              <a:rPr lang="en-US" altLang="zh-CN" sz="1200" b="1" i="1" dirty="0">
                <a:sym typeface="Symbol" panose="05050102010706020507" pitchFamily="18" charset="2"/>
              </a:rPr>
              <a:t>y</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en-US" altLang="zh-CN" sz="1200" b="1" i="1" dirty="0">
                <a:sym typeface="Symbol" panose="05050102010706020507" pitchFamily="18" charset="2"/>
              </a:rPr>
              <a:t>y</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zh-CN" altLang="en-US" sz="1200" b="1" dirty="0">
                <a:sym typeface="Symbol" panose="05050102010706020507" pitchFamily="18" charset="2"/>
              </a:rPr>
              <a:t> </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y</a:t>
            </a:r>
            <a:r>
              <a:rPr lang="en-US" altLang="zh-CN" sz="1200" b="1" dirty="0">
                <a:sym typeface="Symbol" panose="05050102010706020507" pitchFamily="18" charset="2"/>
              </a:rPr>
              <a:t>)</a:t>
            </a:r>
            <a:r>
              <a:rPr lang="zh-CN" altLang="en-US" sz="1200" b="1" dirty="0">
                <a:sym typeface="Symbol" panose="05050102010706020507" pitchFamily="18" charset="2"/>
              </a:rPr>
              <a:t>为真</a:t>
            </a:r>
          </a:p>
          <a:p>
            <a:pPr eaLnBrk="1" hangingPunct="1">
              <a:buFontTx/>
              <a:buNone/>
            </a:pPr>
            <a:endParaRPr lang="zh-CN" altLang="en-US" sz="1200" b="1" dirty="0">
              <a:sym typeface="Symbol" panose="05050102010706020507" pitchFamily="18" charset="2"/>
            </a:endParaRPr>
          </a:p>
          <a:p>
            <a:pPr eaLnBrk="1" hangingPunct="1">
              <a:buFontTx/>
              <a:buNone/>
            </a:pPr>
            <a:r>
              <a:rPr lang="zh-CN" altLang="en-US" sz="1200" b="1" dirty="0">
                <a:solidFill>
                  <a:srgbClr val="800000"/>
                </a:solidFill>
                <a:sym typeface="Symbol" panose="05050102010706020507" pitchFamily="18" charset="2"/>
              </a:rPr>
              <a:t>例9</a:t>
            </a:r>
            <a:r>
              <a:rPr lang="zh-CN" altLang="en-US" sz="1200" b="1" dirty="0">
                <a:sym typeface="Symbol" panose="05050102010706020507" pitchFamily="18" charset="2"/>
              </a:rPr>
              <a:t> 任何大于等于2的整数均可表成素数的乘积</a:t>
            </a:r>
          </a:p>
          <a:p>
            <a:pPr eaLnBrk="1" hangingPunct="1">
              <a:buFontTx/>
              <a:buNone/>
            </a:pPr>
            <a:r>
              <a:rPr lang="zh-CN" altLang="en-US" sz="1200" b="1" dirty="0">
                <a:sym typeface="Symbol" panose="05050102010706020507" pitchFamily="18" charset="2"/>
              </a:rPr>
              <a:t>证：</a:t>
            </a:r>
            <a:endParaRPr lang="en-US" altLang="zh-CN" sz="1200" b="1" dirty="0">
              <a:sym typeface="Symbol" panose="05050102010706020507" pitchFamily="18" charset="2"/>
            </a:endParaRPr>
          </a:p>
          <a:p>
            <a:pPr eaLnBrk="1" hangingPunct="1">
              <a:buFontTx/>
              <a:buNone/>
            </a:pPr>
            <a:r>
              <a:rPr lang="zh-CN" altLang="en-US" sz="1200" b="1" dirty="0">
                <a:sym typeface="Symbol" panose="05050102010706020507" pitchFamily="18" charset="2"/>
              </a:rPr>
              <a:t>归纳基础. 对于</a:t>
            </a:r>
            <a:r>
              <a:rPr lang="en-US" altLang="zh-CN" sz="1200" b="1" dirty="0">
                <a:sym typeface="Symbol" panose="05050102010706020507" pitchFamily="18" charset="2"/>
              </a:rPr>
              <a:t>2, </a:t>
            </a:r>
            <a:r>
              <a:rPr lang="zh-CN" altLang="en-US" sz="1200" b="1" dirty="0">
                <a:sym typeface="Symbol" panose="05050102010706020507" pitchFamily="18" charset="2"/>
              </a:rPr>
              <a:t>结论显然成立.</a:t>
            </a:r>
          </a:p>
          <a:p>
            <a:pPr eaLnBrk="1" hangingPunct="1">
              <a:buFontTx/>
              <a:buNone/>
            </a:pPr>
            <a:r>
              <a:rPr lang="zh-CN" altLang="en-US" sz="1200" b="1" dirty="0">
                <a:sym typeface="Symbol" panose="05050102010706020507" pitchFamily="18" charset="2"/>
              </a:rPr>
              <a:t>归纳步骤. 假设对所有的</a:t>
            </a:r>
            <a:r>
              <a:rPr lang="en-US" altLang="zh-CN" sz="1200" b="1" i="1" dirty="0">
                <a:sym typeface="Symbol" panose="05050102010706020507" pitchFamily="18" charset="2"/>
              </a:rPr>
              <a:t>k</a:t>
            </a:r>
            <a:r>
              <a:rPr lang="en-US" altLang="zh-CN" sz="1200" b="1" dirty="0">
                <a:sym typeface="Symbol" panose="05050102010706020507" pitchFamily="18" charset="2"/>
              </a:rPr>
              <a:t>(2</a:t>
            </a:r>
            <a:r>
              <a:rPr lang="en-US" altLang="zh-CN" sz="1200" b="1" i="1" dirty="0">
                <a:sym typeface="Symbol" panose="05050102010706020507" pitchFamily="18" charset="2"/>
              </a:rPr>
              <a:t>k</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dirty="0">
                <a:sym typeface="Symbol" panose="05050102010706020507" pitchFamily="18" charset="2"/>
              </a:rPr>
              <a:t>)</a:t>
            </a:r>
            <a:r>
              <a:rPr lang="zh-CN" altLang="en-US" sz="1200" b="1" dirty="0">
                <a:sym typeface="Symbol" panose="05050102010706020507" pitchFamily="18" charset="2"/>
              </a:rPr>
              <a:t>结论成立, 要证结论</a:t>
            </a:r>
          </a:p>
          <a:p>
            <a:pPr eaLnBrk="1" hangingPunct="1">
              <a:buFontTx/>
              <a:buNone/>
            </a:pPr>
            <a:r>
              <a:rPr lang="zh-CN" altLang="en-US" sz="1200" b="1" dirty="0">
                <a:sym typeface="Symbol" panose="05050102010706020507" pitchFamily="18" charset="2"/>
              </a:rPr>
              <a:t>对</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也成立. 若</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是素数, 则结论成立; 否则</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en-US" altLang="zh-CN" sz="1200" b="1" i="1" dirty="0">
                <a:sym typeface="Symbol" panose="05050102010706020507" pitchFamily="18" charset="2"/>
              </a:rPr>
              <a:t>ab</a:t>
            </a:r>
            <a:r>
              <a:rPr lang="en-US" altLang="zh-CN" sz="1200" b="1" dirty="0">
                <a:sym typeface="Symbol" panose="05050102010706020507" pitchFamily="18" charset="2"/>
              </a:rPr>
              <a:t>,</a:t>
            </a:r>
          </a:p>
          <a:p>
            <a:pPr eaLnBrk="1" hangingPunct="1">
              <a:buFontTx/>
              <a:buNone/>
            </a:pPr>
            <a:r>
              <a:rPr lang="en-US" altLang="zh-CN" sz="1200" b="1" dirty="0">
                <a:sym typeface="Symbol" panose="05050102010706020507" pitchFamily="18" charset="2"/>
              </a:rPr>
              <a:t>2</a:t>
            </a:r>
            <a:r>
              <a:rPr lang="en-US" altLang="zh-CN" sz="1200" b="1" i="1" dirty="0">
                <a:sym typeface="Symbol" panose="05050102010706020507" pitchFamily="18" charset="2"/>
              </a:rPr>
              <a:t>a,b</a:t>
            </a:r>
            <a:r>
              <a:rPr lang="en-US" altLang="zh-CN" sz="1200" b="1" dirty="0">
                <a:sym typeface="Symbol" panose="05050102010706020507" pitchFamily="18" charset="2"/>
              </a:rPr>
              <a:t>&lt;</a:t>
            </a:r>
            <a:r>
              <a:rPr lang="en-US" altLang="zh-CN" sz="1200" b="1" i="1" dirty="0">
                <a:sym typeface="Symbol" panose="05050102010706020507" pitchFamily="18" charset="2"/>
              </a:rPr>
              <a:t>n</a:t>
            </a:r>
            <a:r>
              <a:rPr lang="zh-CN" altLang="en-US" sz="1200" b="1" dirty="0">
                <a:sym typeface="Symbol" panose="05050102010706020507" pitchFamily="18" charset="2"/>
              </a:rPr>
              <a:t>. 由归纳假设, </a:t>
            </a:r>
            <a:r>
              <a:rPr lang="en-US" altLang="zh-CN" sz="1200" b="1" i="1" dirty="0" err="1">
                <a:sym typeface="Symbol" panose="05050102010706020507" pitchFamily="18" charset="2"/>
              </a:rPr>
              <a:t>a,b</a:t>
            </a:r>
            <a:r>
              <a:rPr lang="zh-CN" altLang="en-US" sz="1200" b="1" dirty="0">
                <a:sym typeface="Symbol" panose="05050102010706020507" pitchFamily="18" charset="2"/>
              </a:rPr>
              <a:t>均可表成素数的乘积, 从而</a:t>
            </a:r>
            <a:r>
              <a:rPr lang="en-US" altLang="zh-CN" sz="1200" b="1" i="1" dirty="0">
                <a:sym typeface="Symbol" panose="05050102010706020507" pitchFamily="18" charset="2"/>
              </a:rPr>
              <a:t>n</a:t>
            </a:r>
            <a:r>
              <a:rPr lang="en-US" altLang="zh-CN" sz="1200" b="1" dirty="0">
                <a:sym typeface="Symbol" panose="05050102010706020507" pitchFamily="18" charset="2"/>
              </a:rPr>
              <a:t>+1</a:t>
            </a:r>
          </a:p>
          <a:p>
            <a:pPr eaLnBrk="1" hangingPunct="1">
              <a:buFontTx/>
              <a:buNone/>
            </a:pPr>
            <a:r>
              <a:rPr lang="zh-CN" altLang="en-US" sz="1200" b="1" dirty="0">
                <a:sym typeface="Symbol" panose="05050102010706020507" pitchFamily="18" charset="2"/>
              </a:rPr>
              <a:t>也可表成素数的乘积. 得证结论对</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成立.</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45</a:t>
            </a:fld>
            <a:endParaRPr lang="zh-CN" altLang="en-US"/>
          </a:p>
        </p:txBody>
      </p:sp>
    </p:spTree>
    <p:extLst>
      <p:ext uri="{BB962C8B-B14F-4D97-AF65-F5344CB8AC3E}">
        <p14:creationId xmlns:p14="http://schemas.microsoft.com/office/powerpoint/2010/main" val="5071492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40000"/>
              </a:lnSpc>
              <a:spcBef>
                <a:spcPts val="600"/>
              </a:spcBef>
              <a:buFont typeface="Wingdings" panose="05000000000000000000" pitchFamily="2" charset="2"/>
              <a:buNone/>
            </a:pPr>
            <a:endParaRPr lang="zh-CN" altLang="en-US" sz="100" b="1" dirty="0"/>
          </a:p>
          <a:p>
            <a:pPr eaLnBrk="1" hangingPunct="1">
              <a:buFontTx/>
              <a:buNone/>
            </a:pPr>
            <a:r>
              <a:rPr lang="zh-CN" altLang="en-US" sz="1200" b="1" dirty="0">
                <a:solidFill>
                  <a:srgbClr val="FF0000"/>
                </a:solidFill>
              </a:rPr>
              <a:t>归纳基础</a:t>
            </a:r>
            <a:r>
              <a:rPr lang="zh-CN" altLang="en-US" sz="1200" b="1" dirty="0"/>
              <a:t> 证明</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zh-CN" altLang="en-US" sz="1200" b="1" dirty="0">
                <a:sym typeface="Symbol" panose="05050102010706020507" pitchFamily="18" charset="2"/>
              </a:rPr>
              <a:t>为真</a:t>
            </a:r>
            <a:endParaRPr lang="zh-CN" altLang="en-US" sz="1200" b="1" dirty="0"/>
          </a:p>
          <a:p>
            <a:pPr eaLnBrk="1" hangingPunct="1">
              <a:buFontTx/>
              <a:buNone/>
            </a:pPr>
            <a:r>
              <a:rPr lang="zh-CN" altLang="en-US" sz="1200" b="1" dirty="0">
                <a:solidFill>
                  <a:srgbClr val="FF0000"/>
                </a:solidFill>
              </a:rPr>
              <a:t>归纳步骤</a:t>
            </a:r>
            <a:r>
              <a:rPr lang="zh-CN" altLang="en-US" sz="1200" b="1" dirty="0"/>
              <a:t> </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 </a:t>
            </a:r>
            <a:r>
              <a:rPr lang="zh-CN" altLang="en-US" sz="1200" b="1" dirty="0">
                <a:sym typeface="Symbol" panose="05050102010706020507" pitchFamily="18" charset="2"/>
              </a:rPr>
              <a:t>假设</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+1),</a:t>
            </a:r>
            <a:r>
              <a:rPr lang="en-US" altLang="zh-CN" sz="1200" b="1" dirty="0">
                <a:cs typeface="Times New Roman" panose="02020603050405020304" pitchFamily="18" charset="0"/>
              </a:rPr>
              <a:t>…</a:t>
            </a:r>
            <a:r>
              <a:rPr lang="en-US" altLang="zh-CN" sz="1200" b="1" dirty="0">
                <a:sym typeface="Symbol" panose="05050102010706020507" pitchFamily="18" charset="2"/>
              </a:rPr>
              <a:t>,</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zh-CN" altLang="en-US" sz="1200" b="1" dirty="0">
                <a:sym typeface="Symbol" panose="05050102010706020507" pitchFamily="18" charset="2"/>
              </a:rPr>
              <a:t>为真, </a:t>
            </a:r>
          </a:p>
          <a:p>
            <a:pPr eaLnBrk="1" hangingPunct="1">
              <a:buFontTx/>
              <a:buNone/>
            </a:pPr>
            <a:r>
              <a:rPr lang="zh-CN" altLang="en-US" sz="1200" b="1" dirty="0">
                <a:sym typeface="Symbol" panose="05050102010706020507" pitchFamily="18" charset="2"/>
              </a:rPr>
              <a:t>证</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+1)</a:t>
            </a:r>
            <a:r>
              <a:rPr lang="zh-CN" altLang="en-US" sz="1200" b="1" dirty="0">
                <a:sym typeface="Symbol" panose="05050102010706020507" pitchFamily="18" charset="2"/>
              </a:rPr>
              <a:t>为真.</a:t>
            </a:r>
          </a:p>
          <a:p>
            <a:pPr eaLnBrk="1" hangingPunct="1">
              <a:buFontTx/>
              <a:buNone/>
            </a:pPr>
            <a:r>
              <a:rPr lang="zh-CN" altLang="en-US" sz="1200" b="1" dirty="0">
                <a:solidFill>
                  <a:srgbClr val="FF0000"/>
                </a:solidFill>
                <a:sym typeface="Symbol" panose="05050102010706020507" pitchFamily="18" charset="2"/>
              </a:rPr>
              <a:t>归纳假设</a:t>
            </a:r>
            <a:r>
              <a:rPr lang="zh-CN" altLang="en-US" sz="1200" b="1" dirty="0">
                <a:sym typeface="Symbol" panose="05050102010706020507" pitchFamily="18" charset="2"/>
              </a:rPr>
              <a:t>  </a:t>
            </a:r>
            <a:r>
              <a:rPr lang="en-US" altLang="zh-CN" sz="1200" b="1" dirty="0">
                <a:sym typeface="Symbol" panose="05050102010706020507" pitchFamily="18" charset="2"/>
              </a:rPr>
              <a:t></a:t>
            </a:r>
            <a:r>
              <a:rPr lang="en-US" altLang="zh-CN" sz="1200" b="1" i="1" dirty="0">
                <a:sym typeface="Symbol" panose="05050102010706020507" pitchFamily="18" charset="2"/>
              </a:rPr>
              <a:t>y</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baseline="-25000" dirty="0">
                <a:sym typeface="Symbol" panose="05050102010706020507" pitchFamily="18" charset="2"/>
              </a:rPr>
              <a:t>0</a:t>
            </a:r>
            <a:r>
              <a:rPr lang="en-US" altLang="zh-CN" sz="1200" b="1" dirty="0">
                <a:sym typeface="Symbol" panose="05050102010706020507" pitchFamily="18" charset="2"/>
              </a:rPr>
              <a:t></a:t>
            </a:r>
            <a:r>
              <a:rPr lang="en-US" altLang="zh-CN" sz="1200" b="1" i="1" dirty="0">
                <a:sym typeface="Symbol" panose="05050102010706020507" pitchFamily="18" charset="2"/>
              </a:rPr>
              <a:t>y</a:t>
            </a:r>
            <a:r>
              <a:rPr lang="en-US" altLang="zh-CN" sz="1200" b="1" dirty="0">
                <a:sym typeface="Symbol" panose="05050102010706020507" pitchFamily="18" charset="2"/>
              </a:rPr>
              <a:t></a:t>
            </a:r>
            <a:r>
              <a:rPr lang="en-US" altLang="zh-CN" sz="1200" b="1" i="1" dirty="0">
                <a:sym typeface="Symbol" panose="05050102010706020507" pitchFamily="18" charset="2"/>
              </a:rPr>
              <a:t>x</a:t>
            </a:r>
            <a:r>
              <a:rPr lang="en-US" altLang="zh-CN" sz="1200" b="1" dirty="0">
                <a:sym typeface="Symbol" panose="05050102010706020507" pitchFamily="18" charset="2"/>
              </a:rPr>
              <a:t>),</a:t>
            </a:r>
            <a:r>
              <a:rPr lang="zh-CN" altLang="en-US" sz="1200" b="1" dirty="0">
                <a:sym typeface="Symbol" panose="05050102010706020507" pitchFamily="18" charset="2"/>
              </a:rPr>
              <a:t> </a:t>
            </a:r>
            <a:r>
              <a:rPr lang="en-US" altLang="zh-CN" sz="1200" b="1" i="1" dirty="0">
                <a:sym typeface="Symbol" panose="05050102010706020507" pitchFamily="18" charset="2"/>
              </a:rPr>
              <a:t>P</a:t>
            </a:r>
            <a:r>
              <a:rPr lang="en-US" altLang="zh-CN" sz="1200" b="1" dirty="0">
                <a:sym typeface="Symbol" panose="05050102010706020507" pitchFamily="18" charset="2"/>
              </a:rPr>
              <a:t>(</a:t>
            </a:r>
            <a:r>
              <a:rPr lang="en-US" altLang="zh-CN" sz="1200" b="1" i="1" dirty="0">
                <a:sym typeface="Symbol" panose="05050102010706020507" pitchFamily="18" charset="2"/>
              </a:rPr>
              <a:t>y</a:t>
            </a:r>
            <a:r>
              <a:rPr lang="en-US" altLang="zh-CN" sz="1200" b="1" dirty="0">
                <a:sym typeface="Symbol" panose="05050102010706020507" pitchFamily="18" charset="2"/>
              </a:rPr>
              <a:t>)</a:t>
            </a:r>
            <a:r>
              <a:rPr lang="zh-CN" altLang="en-US" sz="1200" b="1" dirty="0">
                <a:sym typeface="Symbol" panose="05050102010706020507" pitchFamily="18" charset="2"/>
              </a:rPr>
              <a:t>为真</a:t>
            </a:r>
          </a:p>
          <a:p>
            <a:pPr eaLnBrk="1" hangingPunct="1">
              <a:buFontTx/>
              <a:buNone/>
            </a:pPr>
            <a:endParaRPr lang="zh-CN" altLang="en-US" sz="1200" b="1" dirty="0">
              <a:sym typeface="Symbol" panose="05050102010706020507" pitchFamily="18" charset="2"/>
            </a:endParaRPr>
          </a:p>
          <a:p>
            <a:pPr eaLnBrk="1" hangingPunct="1">
              <a:buFontTx/>
              <a:buNone/>
            </a:pPr>
            <a:r>
              <a:rPr lang="zh-CN" altLang="en-US" sz="1200" b="1" dirty="0">
                <a:solidFill>
                  <a:srgbClr val="800000"/>
                </a:solidFill>
                <a:sym typeface="Symbol" panose="05050102010706020507" pitchFamily="18" charset="2"/>
              </a:rPr>
              <a:t>例9</a:t>
            </a:r>
            <a:r>
              <a:rPr lang="zh-CN" altLang="en-US" sz="1200" b="1" dirty="0">
                <a:sym typeface="Symbol" panose="05050102010706020507" pitchFamily="18" charset="2"/>
              </a:rPr>
              <a:t> 任何大于等于2的整数均可表成素数的乘积</a:t>
            </a:r>
          </a:p>
          <a:p>
            <a:pPr eaLnBrk="1" hangingPunct="1">
              <a:buFontTx/>
              <a:buNone/>
            </a:pPr>
            <a:r>
              <a:rPr lang="zh-CN" altLang="en-US" sz="1200" b="1" dirty="0">
                <a:sym typeface="Symbol" panose="05050102010706020507" pitchFamily="18" charset="2"/>
              </a:rPr>
              <a:t>证：</a:t>
            </a:r>
            <a:endParaRPr lang="en-US" altLang="zh-CN" sz="1200" b="1" dirty="0">
              <a:sym typeface="Symbol" panose="05050102010706020507" pitchFamily="18" charset="2"/>
            </a:endParaRPr>
          </a:p>
          <a:p>
            <a:pPr eaLnBrk="1" hangingPunct="1">
              <a:buFontTx/>
              <a:buNone/>
            </a:pPr>
            <a:r>
              <a:rPr lang="zh-CN" altLang="en-US" sz="1200" b="1" dirty="0">
                <a:sym typeface="Symbol" panose="05050102010706020507" pitchFamily="18" charset="2"/>
              </a:rPr>
              <a:t>归纳基础. 对于</a:t>
            </a:r>
            <a:r>
              <a:rPr lang="en-US" altLang="zh-CN" sz="1200" b="1" dirty="0">
                <a:sym typeface="Symbol" panose="05050102010706020507" pitchFamily="18" charset="2"/>
              </a:rPr>
              <a:t>2, </a:t>
            </a:r>
            <a:r>
              <a:rPr lang="zh-CN" altLang="en-US" sz="1200" b="1" dirty="0">
                <a:sym typeface="Symbol" panose="05050102010706020507" pitchFamily="18" charset="2"/>
              </a:rPr>
              <a:t>结论显然成立.</a:t>
            </a:r>
          </a:p>
          <a:p>
            <a:pPr eaLnBrk="1" hangingPunct="1">
              <a:buFontTx/>
              <a:buNone/>
            </a:pPr>
            <a:r>
              <a:rPr lang="zh-CN" altLang="en-US" sz="1200" b="1" dirty="0">
                <a:sym typeface="Symbol" panose="05050102010706020507" pitchFamily="18" charset="2"/>
              </a:rPr>
              <a:t>归纳步骤. 假设对所有的</a:t>
            </a:r>
            <a:r>
              <a:rPr lang="en-US" altLang="zh-CN" sz="1200" b="1" i="1" dirty="0">
                <a:sym typeface="Symbol" panose="05050102010706020507" pitchFamily="18" charset="2"/>
              </a:rPr>
              <a:t>k</a:t>
            </a:r>
            <a:r>
              <a:rPr lang="en-US" altLang="zh-CN" sz="1200" b="1" dirty="0">
                <a:sym typeface="Symbol" panose="05050102010706020507" pitchFamily="18" charset="2"/>
              </a:rPr>
              <a:t>(2</a:t>
            </a:r>
            <a:r>
              <a:rPr lang="en-US" altLang="zh-CN" sz="1200" b="1" i="1" dirty="0">
                <a:sym typeface="Symbol" panose="05050102010706020507" pitchFamily="18" charset="2"/>
              </a:rPr>
              <a:t>k</a:t>
            </a:r>
            <a:r>
              <a:rPr lang="en-US" altLang="zh-CN" sz="1200" b="1" dirty="0">
                <a:sym typeface="Symbol" panose="05050102010706020507" pitchFamily="18" charset="2"/>
              </a:rPr>
              <a:t></a:t>
            </a:r>
            <a:r>
              <a:rPr lang="en-US" altLang="zh-CN" sz="1200" b="1" i="1" dirty="0">
                <a:sym typeface="Symbol" panose="05050102010706020507" pitchFamily="18" charset="2"/>
              </a:rPr>
              <a:t>n</a:t>
            </a:r>
            <a:r>
              <a:rPr lang="en-US" altLang="zh-CN" sz="1200" b="1" dirty="0">
                <a:sym typeface="Symbol" panose="05050102010706020507" pitchFamily="18" charset="2"/>
              </a:rPr>
              <a:t>)</a:t>
            </a:r>
            <a:r>
              <a:rPr lang="zh-CN" altLang="en-US" sz="1200" b="1" dirty="0">
                <a:sym typeface="Symbol" panose="05050102010706020507" pitchFamily="18" charset="2"/>
              </a:rPr>
              <a:t>结论成立, 要证结论</a:t>
            </a:r>
          </a:p>
          <a:p>
            <a:pPr eaLnBrk="1" hangingPunct="1">
              <a:buFontTx/>
              <a:buNone/>
            </a:pPr>
            <a:r>
              <a:rPr lang="zh-CN" altLang="en-US" sz="1200" b="1" dirty="0">
                <a:sym typeface="Symbol" panose="05050102010706020507" pitchFamily="18" charset="2"/>
              </a:rPr>
              <a:t>对</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也成立. 若</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是素数, 则结论成立; 否则</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en-US" altLang="zh-CN" sz="1200" b="1" i="1" dirty="0">
                <a:sym typeface="Symbol" panose="05050102010706020507" pitchFamily="18" charset="2"/>
              </a:rPr>
              <a:t>ab</a:t>
            </a:r>
            <a:r>
              <a:rPr lang="en-US" altLang="zh-CN" sz="1200" b="1" dirty="0">
                <a:sym typeface="Symbol" panose="05050102010706020507" pitchFamily="18" charset="2"/>
              </a:rPr>
              <a:t>,</a:t>
            </a:r>
          </a:p>
          <a:p>
            <a:pPr eaLnBrk="1" hangingPunct="1">
              <a:buFontTx/>
              <a:buNone/>
            </a:pPr>
            <a:r>
              <a:rPr lang="en-US" altLang="zh-CN" sz="1200" b="1" dirty="0">
                <a:sym typeface="Symbol" panose="05050102010706020507" pitchFamily="18" charset="2"/>
              </a:rPr>
              <a:t>2</a:t>
            </a:r>
            <a:r>
              <a:rPr lang="en-US" altLang="zh-CN" sz="1200" b="1" i="1" dirty="0">
                <a:sym typeface="Symbol" panose="05050102010706020507" pitchFamily="18" charset="2"/>
              </a:rPr>
              <a:t>a,b</a:t>
            </a:r>
            <a:r>
              <a:rPr lang="en-US" altLang="zh-CN" sz="1200" b="1" dirty="0">
                <a:sym typeface="Symbol" panose="05050102010706020507" pitchFamily="18" charset="2"/>
              </a:rPr>
              <a:t>&lt;</a:t>
            </a:r>
            <a:r>
              <a:rPr lang="en-US" altLang="zh-CN" sz="1200" b="1" i="1" dirty="0">
                <a:sym typeface="Symbol" panose="05050102010706020507" pitchFamily="18" charset="2"/>
              </a:rPr>
              <a:t>n</a:t>
            </a:r>
            <a:r>
              <a:rPr lang="zh-CN" altLang="en-US" sz="1200" b="1" dirty="0">
                <a:sym typeface="Symbol" panose="05050102010706020507" pitchFamily="18" charset="2"/>
              </a:rPr>
              <a:t>. 由归纳假设, </a:t>
            </a:r>
            <a:r>
              <a:rPr lang="en-US" altLang="zh-CN" sz="1200" b="1" i="1" dirty="0" err="1">
                <a:sym typeface="Symbol" panose="05050102010706020507" pitchFamily="18" charset="2"/>
              </a:rPr>
              <a:t>a,b</a:t>
            </a:r>
            <a:r>
              <a:rPr lang="zh-CN" altLang="en-US" sz="1200" b="1" dirty="0">
                <a:sym typeface="Symbol" panose="05050102010706020507" pitchFamily="18" charset="2"/>
              </a:rPr>
              <a:t>均可表成素数的乘积, 从而</a:t>
            </a:r>
            <a:r>
              <a:rPr lang="en-US" altLang="zh-CN" sz="1200" b="1" i="1" dirty="0">
                <a:sym typeface="Symbol" panose="05050102010706020507" pitchFamily="18" charset="2"/>
              </a:rPr>
              <a:t>n</a:t>
            </a:r>
            <a:r>
              <a:rPr lang="en-US" altLang="zh-CN" sz="1200" b="1" dirty="0">
                <a:sym typeface="Symbol" panose="05050102010706020507" pitchFamily="18" charset="2"/>
              </a:rPr>
              <a:t>+1</a:t>
            </a:r>
          </a:p>
          <a:p>
            <a:pPr eaLnBrk="1" hangingPunct="1">
              <a:buFontTx/>
              <a:buNone/>
            </a:pPr>
            <a:r>
              <a:rPr lang="zh-CN" altLang="en-US" sz="1200" b="1" dirty="0">
                <a:sym typeface="Symbol" panose="05050102010706020507" pitchFamily="18" charset="2"/>
              </a:rPr>
              <a:t>也可表成素数的乘积. 得证结论对</a:t>
            </a:r>
            <a:r>
              <a:rPr lang="en-US" altLang="zh-CN" sz="1200" b="1" i="1" dirty="0">
                <a:sym typeface="Symbol" panose="05050102010706020507" pitchFamily="18" charset="2"/>
              </a:rPr>
              <a:t>n</a:t>
            </a:r>
            <a:r>
              <a:rPr lang="en-US" altLang="zh-CN" sz="1200" b="1" dirty="0">
                <a:sym typeface="Symbol" panose="05050102010706020507" pitchFamily="18" charset="2"/>
              </a:rPr>
              <a:t>+1</a:t>
            </a:r>
            <a:r>
              <a:rPr lang="zh-CN" altLang="en-US" sz="1200" b="1" dirty="0">
                <a:sym typeface="Symbol" panose="05050102010706020507" pitchFamily="18" charset="2"/>
              </a:rPr>
              <a:t>成立.</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46</a:t>
            </a:fld>
            <a:endParaRPr lang="zh-CN" altLang="en-US"/>
          </a:p>
        </p:txBody>
      </p:sp>
    </p:spTree>
    <p:extLst>
      <p:ext uri="{BB962C8B-B14F-4D97-AF65-F5344CB8AC3E}">
        <p14:creationId xmlns:p14="http://schemas.microsoft.com/office/powerpoint/2010/main" val="17206406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buFontTx/>
              <a:buNone/>
            </a:pPr>
            <a:r>
              <a:rPr lang="zh-CN" altLang="en-US" sz="1200" b="1" dirty="0">
                <a:solidFill>
                  <a:srgbClr val="800000"/>
                </a:solidFill>
              </a:rPr>
              <a:t>例</a:t>
            </a:r>
            <a:r>
              <a:rPr lang="en-US" altLang="zh-CN" sz="1200" b="1" dirty="0">
                <a:solidFill>
                  <a:srgbClr val="800000"/>
                </a:solidFill>
              </a:rPr>
              <a:t>11</a:t>
            </a:r>
            <a:r>
              <a:rPr lang="zh-CN" altLang="en-US" sz="1200" b="1" dirty="0"/>
              <a:t> 证明下述命题不成立:</a:t>
            </a:r>
          </a:p>
          <a:p>
            <a:pPr eaLnBrk="1" hangingPunct="1">
              <a:buFontTx/>
              <a:buNone/>
            </a:pPr>
            <a:r>
              <a:rPr lang="zh-CN" altLang="en-US" sz="1200" b="1" dirty="0"/>
              <a:t>       若</a:t>
            </a:r>
            <a:r>
              <a:rPr lang="en-US" altLang="zh-CN" sz="1200" b="1" i="1" dirty="0"/>
              <a:t>A</a:t>
            </a:r>
            <a:r>
              <a:rPr lang="en-US" altLang="zh-CN" sz="1200" b="1" dirty="0">
                <a:sym typeface="Symbol" panose="05050102010706020507" pitchFamily="18" charset="2"/>
              </a:rPr>
              <a:t></a:t>
            </a:r>
            <a:r>
              <a:rPr lang="en-US" altLang="zh-CN" sz="1200" b="1" i="1" dirty="0">
                <a:sym typeface="Symbol" panose="05050102010706020507" pitchFamily="18" charset="2"/>
              </a:rPr>
              <a:t>B</a:t>
            </a:r>
            <a:r>
              <a:rPr lang="en-US" altLang="zh-CN" sz="1200" b="1" dirty="0">
                <a:sym typeface="Symbol" panose="05050102010706020507" pitchFamily="18" charset="2"/>
              </a:rPr>
              <a:t>=</a:t>
            </a:r>
            <a:r>
              <a:rPr lang="en-US" altLang="zh-CN" sz="1200" b="1" i="1" dirty="0"/>
              <a:t>A</a:t>
            </a:r>
            <a:r>
              <a:rPr lang="en-US" altLang="zh-CN" sz="1200" b="1" dirty="0">
                <a:sym typeface="Symbol" panose="05050102010706020507" pitchFamily="18" charset="2"/>
              </a:rPr>
              <a:t></a:t>
            </a:r>
            <a:r>
              <a:rPr lang="en-US" altLang="zh-CN" sz="1200" b="1" i="1" dirty="0">
                <a:sym typeface="Symbol" panose="05050102010706020507" pitchFamily="18" charset="2"/>
              </a:rPr>
              <a:t>C</a:t>
            </a:r>
            <a:r>
              <a:rPr lang="en-US" altLang="zh-CN" sz="1200" b="1" dirty="0">
                <a:sym typeface="Symbol" panose="05050102010706020507" pitchFamily="18" charset="2"/>
              </a:rPr>
              <a:t>, </a:t>
            </a:r>
            <a:r>
              <a:rPr lang="zh-CN" altLang="en-US" sz="1200" b="1" dirty="0">
                <a:sym typeface="Symbol" panose="05050102010706020507" pitchFamily="18" charset="2"/>
              </a:rPr>
              <a:t>则</a:t>
            </a:r>
            <a:r>
              <a:rPr lang="en-US" altLang="zh-CN" sz="1200" b="1" i="1" dirty="0">
                <a:sym typeface="Symbol" panose="05050102010706020507" pitchFamily="18" charset="2"/>
              </a:rPr>
              <a:t>B</a:t>
            </a:r>
            <a:r>
              <a:rPr lang="en-US" altLang="zh-CN" sz="1200" b="1" dirty="0">
                <a:sym typeface="Symbol" panose="05050102010706020507" pitchFamily="18" charset="2"/>
              </a:rPr>
              <a:t>=</a:t>
            </a:r>
            <a:r>
              <a:rPr lang="en-US" altLang="zh-CN" sz="1200" b="1" i="1" dirty="0">
                <a:sym typeface="Symbol" panose="05050102010706020507" pitchFamily="18" charset="2"/>
              </a:rPr>
              <a:t>C</a:t>
            </a:r>
            <a:r>
              <a:rPr lang="zh-CN" altLang="en-US" sz="1200" b="1" dirty="0">
                <a:sym typeface="Symbol" panose="05050102010706020507" pitchFamily="18" charset="2"/>
              </a:rPr>
              <a:t>. </a:t>
            </a:r>
          </a:p>
          <a:p>
            <a:pPr eaLnBrk="1" hangingPunct="1">
              <a:buFontTx/>
              <a:buNone/>
            </a:pPr>
            <a:r>
              <a:rPr lang="zh-CN" altLang="en-US" sz="1200" b="1" dirty="0">
                <a:sym typeface="Symbol" panose="05050102010706020507" pitchFamily="18" charset="2"/>
              </a:rPr>
              <a:t>证明  反例: 取</a:t>
            </a:r>
            <a:r>
              <a:rPr lang="en-US" altLang="zh-CN" sz="1200" b="1" i="1" dirty="0"/>
              <a:t>A</a:t>
            </a:r>
            <a:r>
              <a:rPr lang="zh-CN" altLang="en-US" sz="1200" b="1" dirty="0">
                <a:sym typeface="Symbol" panose="05050102010706020507" pitchFamily="18" charset="2"/>
              </a:rPr>
              <a:t>={</a:t>
            </a:r>
            <a:r>
              <a:rPr lang="en-US" altLang="zh-CN" sz="1200" b="1" i="1" dirty="0" err="1">
                <a:sym typeface="Symbol" panose="05050102010706020507" pitchFamily="18" charset="2"/>
              </a:rPr>
              <a:t>a,b</a:t>
            </a:r>
            <a:r>
              <a:rPr lang="en-US" altLang="zh-CN" sz="1200" b="1" dirty="0">
                <a:sym typeface="Symbol" panose="05050102010706020507" pitchFamily="18" charset="2"/>
              </a:rPr>
              <a:t>}, </a:t>
            </a:r>
            <a:r>
              <a:rPr lang="en-US" altLang="zh-CN" sz="1200" b="1" i="1" dirty="0"/>
              <a:t>B</a:t>
            </a:r>
            <a:r>
              <a:rPr lang="zh-CN" altLang="en-US" sz="1200" b="1" dirty="0">
                <a:sym typeface="Symbol" panose="05050102010706020507" pitchFamily="18" charset="2"/>
              </a:rPr>
              <a:t>={</a:t>
            </a:r>
            <a:r>
              <a:rPr lang="en-US" altLang="zh-CN" sz="1200" b="1" i="1" dirty="0" err="1">
                <a:sym typeface="Symbol" panose="05050102010706020507" pitchFamily="18" charset="2"/>
              </a:rPr>
              <a:t>a,b,c</a:t>
            </a:r>
            <a:r>
              <a:rPr lang="en-US" altLang="zh-CN" sz="1200" b="1" dirty="0">
                <a:sym typeface="Symbol" panose="05050102010706020507" pitchFamily="18" charset="2"/>
              </a:rPr>
              <a:t>}, </a:t>
            </a:r>
            <a:r>
              <a:rPr lang="en-US" altLang="zh-CN" sz="1200" b="1" i="1" dirty="0"/>
              <a:t>C</a:t>
            </a:r>
            <a:r>
              <a:rPr lang="zh-CN" altLang="en-US" sz="1200" b="1" dirty="0">
                <a:sym typeface="Symbol" panose="05050102010706020507" pitchFamily="18" charset="2"/>
              </a:rPr>
              <a:t>={</a:t>
            </a:r>
            <a:r>
              <a:rPr lang="en-US" altLang="zh-CN" sz="1200" b="1" i="1" dirty="0" err="1">
                <a:sym typeface="Symbol" panose="05050102010706020507" pitchFamily="18" charset="2"/>
              </a:rPr>
              <a:t>a,b,d</a:t>
            </a:r>
            <a:r>
              <a:rPr lang="en-US" altLang="zh-CN" sz="1200" b="1" dirty="0">
                <a:sym typeface="Symbol" panose="05050102010706020507" pitchFamily="18" charset="2"/>
              </a:rPr>
              <a:t>}, </a:t>
            </a:r>
            <a:r>
              <a:rPr lang="zh-CN" altLang="en-US" sz="1200" b="1" dirty="0">
                <a:sym typeface="Symbol" panose="05050102010706020507" pitchFamily="18" charset="2"/>
              </a:rPr>
              <a:t>有</a:t>
            </a:r>
          </a:p>
          <a:p>
            <a:pPr eaLnBrk="1" hangingPunct="1">
              <a:buFontTx/>
              <a:buNone/>
            </a:pPr>
            <a:r>
              <a:rPr lang="en-US" altLang="zh-CN" sz="1200" b="1" i="1" dirty="0"/>
              <a:t>                  A</a:t>
            </a:r>
            <a:r>
              <a:rPr lang="en-US" altLang="zh-CN" sz="1200" b="1" dirty="0">
                <a:sym typeface="Symbol" panose="05050102010706020507" pitchFamily="18" charset="2"/>
              </a:rPr>
              <a:t></a:t>
            </a:r>
            <a:r>
              <a:rPr lang="en-US" altLang="zh-CN" sz="1200" b="1" i="1" dirty="0">
                <a:sym typeface="Symbol" panose="05050102010706020507" pitchFamily="18" charset="2"/>
              </a:rPr>
              <a:t>B</a:t>
            </a:r>
            <a:r>
              <a:rPr lang="en-US" altLang="zh-CN" sz="1200" b="1" dirty="0">
                <a:sym typeface="Symbol" panose="05050102010706020507" pitchFamily="18" charset="2"/>
              </a:rPr>
              <a:t>=</a:t>
            </a:r>
            <a:r>
              <a:rPr lang="en-US" altLang="zh-CN" sz="1200" b="1" i="1" dirty="0"/>
              <a:t>A</a:t>
            </a:r>
            <a:r>
              <a:rPr lang="en-US" altLang="zh-CN" sz="1200" b="1" dirty="0">
                <a:sym typeface="Symbol" panose="05050102010706020507" pitchFamily="18" charset="2"/>
              </a:rPr>
              <a:t></a:t>
            </a:r>
            <a:r>
              <a:rPr lang="en-US" altLang="zh-CN" sz="1200" b="1" i="1" dirty="0">
                <a:sym typeface="Symbol" panose="05050102010706020507" pitchFamily="18" charset="2"/>
              </a:rPr>
              <a:t>C</a:t>
            </a:r>
            <a:r>
              <a:rPr lang="zh-CN" altLang="en-US" sz="1200" b="1" dirty="0">
                <a:sym typeface="Symbol" panose="05050102010706020507" pitchFamily="18" charset="2"/>
              </a:rPr>
              <a:t> = {</a:t>
            </a:r>
            <a:r>
              <a:rPr lang="en-US" altLang="zh-CN" sz="1200" b="1" i="1" dirty="0" err="1">
                <a:sym typeface="Symbol" panose="05050102010706020507" pitchFamily="18" charset="2"/>
              </a:rPr>
              <a:t>a,b</a:t>
            </a:r>
            <a:r>
              <a:rPr lang="en-US" altLang="zh-CN" sz="1200" b="1" dirty="0">
                <a:sym typeface="Symbol" panose="05050102010706020507" pitchFamily="18" charset="2"/>
              </a:rPr>
              <a:t>}</a:t>
            </a:r>
          </a:p>
          <a:p>
            <a:pPr eaLnBrk="1" hangingPunct="1">
              <a:buFontTx/>
              <a:buNone/>
            </a:pPr>
            <a:r>
              <a:rPr lang="zh-CN" altLang="en-US" sz="1200" b="1" dirty="0">
                <a:sym typeface="Symbol" panose="05050102010706020507" pitchFamily="18" charset="2"/>
              </a:rPr>
              <a:t>但</a:t>
            </a:r>
            <a:r>
              <a:rPr lang="en-US" altLang="zh-CN" sz="1200" b="1" i="1" dirty="0">
                <a:sym typeface="Symbol" panose="05050102010706020507" pitchFamily="18" charset="2"/>
              </a:rPr>
              <a:t>B</a:t>
            </a:r>
            <a:r>
              <a:rPr lang="en-US" altLang="zh-CN" sz="1200" b="1" dirty="0">
                <a:sym typeface="Symbol" panose="05050102010706020507" pitchFamily="18" charset="2"/>
              </a:rPr>
              <a:t></a:t>
            </a:r>
            <a:r>
              <a:rPr lang="en-US" altLang="zh-CN" sz="1200" b="1" i="1" dirty="0">
                <a:sym typeface="Symbol" panose="05050102010706020507" pitchFamily="18" charset="2"/>
              </a:rPr>
              <a:t>C</a:t>
            </a:r>
            <a:r>
              <a:rPr lang="zh-CN" altLang="en-US" sz="1200" b="1" dirty="0">
                <a:sym typeface="Symbol" panose="05050102010706020507" pitchFamily="18" charset="2"/>
              </a:rPr>
              <a:t>, 故命题不成立.</a:t>
            </a: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47</a:t>
            </a:fld>
            <a:endParaRPr lang="zh-CN" altLang="en-US"/>
          </a:p>
        </p:txBody>
      </p:sp>
    </p:spTree>
    <p:extLst>
      <p:ext uri="{BB962C8B-B14F-4D97-AF65-F5344CB8AC3E}">
        <p14:creationId xmlns:p14="http://schemas.microsoft.com/office/powerpoint/2010/main" val="11962943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Tx/>
              <a:buNone/>
            </a:pPr>
            <a:r>
              <a:rPr lang="zh-CN" altLang="en-US" sz="1200" b="1" dirty="0">
                <a:solidFill>
                  <a:srgbClr val="FF0000"/>
                </a:solidFill>
              </a:rPr>
              <a:t>递归定义</a:t>
            </a:r>
            <a:r>
              <a:rPr lang="en-US" altLang="zh-CN" sz="1200" b="1" dirty="0"/>
              <a:t>(</a:t>
            </a:r>
            <a:r>
              <a:rPr lang="zh-CN" altLang="en-US" sz="1200" b="1" dirty="0">
                <a:solidFill>
                  <a:srgbClr val="FF0000"/>
                </a:solidFill>
              </a:rPr>
              <a:t>归纳定义</a:t>
            </a:r>
            <a:r>
              <a:rPr lang="en-US" altLang="zh-CN" sz="1200" b="1" dirty="0"/>
              <a:t>)</a:t>
            </a:r>
            <a:r>
              <a:rPr lang="zh-CN" altLang="en-US" sz="1200" b="1" dirty="0"/>
              <a:t>   用自身定义自身的过程</a:t>
            </a:r>
          </a:p>
          <a:p>
            <a:pPr>
              <a:buFontTx/>
              <a:buNone/>
            </a:pPr>
            <a:r>
              <a:rPr lang="zh-CN" altLang="en-US" sz="1200" b="1" dirty="0"/>
              <a:t>例如</a:t>
            </a:r>
            <a:r>
              <a:rPr lang="en-US" altLang="zh-CN" sz="1200" b="1" dirty="0"/>
              <a:t>, </a:t>
            </a:r>
            <a:r>
              <a:rPr lang="en-US" altLang="zh-CN" sz="1200" b="1" i="1" dirty="0"/>
              <a:t>a</a:t>
            </a:r>
            <a:r>
              <a:rPr lang="en-US" altLang="zh-CN" sz="1200" b="1" i="1" baseline="30000" dirty="0"/>
              <a:t>n</a:t>
            </a:r>
            <a:r>
              <a:rPr lang="zh-CN" altLang="en-US" sz="1200" b="1" dirty="0"/>
              <a:t>可以递归定义如下</a:t>
            </a:r>
            <a:r>
              <a:rPr lang="en-US" altLang="zh-CN" sz="1200" b="1" dirty="0"/>
              <a:t>:</a:t>
            </a:r>
            <a:endParaRPr lang="zh-CN" altLang="en-US" sz="1200" b="1" dirty="0"/>
          </a:p>
          <a:p>
            <a:pPr>
              <a:buFontTx/>
              <a:buNone/>
            </a:pPr>
            <a:r>
              <a:rPr lang="en-US" altLang="zh-CN" sz="1200" b="1" dirty="0"/>
              <a:t>       </a:t>
            </a:r>
            <a:r>
              <a:rPr lang="en-US" altLang="zh-CN" sz="1200" b="1" i="1" dirty="0"/>
              <a:t>a</a:t>
            </a:r>
            <a:r>
              <a:rPr lang="en-US" altLang="zh-CN" sz="1200" b="1" baseline="30000" dirty="0"/>
              <a:t>0</a:t>
            </a:r>
            <a:r>
              <a:rPr lang="en-US" altLang="zh-CN" sz="1200" b="1" dirty="0"/>
              <a:t>=1</a:t>
            </a:r>
            <a:endParaRPr lang="zh-CN" altLang="en-US" sz="1200" b="1" dirty="0"/>
          </a:p>
          <a:p>
            <a:pPr>
              <a:buFontTx/>
              <a:buNone/>
            </a:pPr>
            <a:r>
              <a:rPr lang="en-US" altLang="zh-CN" sz="1200" b="1" dirty="0"/>
              <a:t>       </a:t>
            </a:r>
            <a:r>
              <a:rPr lang="en-US" altLang="zh-CN" sz="1200" b="1" i="1" dirty="0"/>
              <a:t>a</a:t>
            </a:r>
            <a:r>
              <a:rPr lang="en-US" altLang="zh-CN" sz="1200" b="1" i="1" baseline="30000" dirty="0"/>
              <a:t>n</a:t>
            </a:r>
            <a:r>
              <a:rPr lang="en-US" altLang="zh-CN" sz="1200" b="1" dirty="0"/>
              <a:t>=</a:t>
            </a:r>
            <a:r>
              <a:rPr lang="en-US" altLang="zh-CN" sz="1200" b="1" i="1" dirty="0"/>
              <a:t> a</a:t>
            </a:r>
            <a:r>
              <a:rPr lang="en-US" altLang="zh-CN" sz="1200" b="1" i="1" baseline="30000" dirty="0"/>
              <a:t>n</a:t>
            </a:r>
            <a:r>
              <a:rPr lang="en-US" altLang="zh-CN" sz="1200" b="1" baseline="30000" dirty="0"/>
              <a:t>-1</a:t>
            </a:r>
            <a:r>
              <a:rPr lang="en-US" altLang="zh-CN" sz="1200" b="1" dirty="0">
                <a:sym typeface="Symbol" panose="05050102010706020507" pitchFamily="18" charset="2"/>
              </a:rPr>
              <a:t></a:t>
            </a:r>
            <a:r>
              <a:rPr lang="en-US" altLang="zh-CN" sz="1200" b="1" i="1" dirty="0"/>
              <a:t>a</a:t>
            </a:r>
            <a:r>
              <a:rPr lang="en-US" altLang="zh-CN" sz="1200" b="1" dirty="0"/>
              <a:t>,       </a:t>
            </a:r>
            <a:r>
              <a:rPr lang="en-US" altLang="zh-CN" sz="1200" b="1" i="1" dirty="0"/>
              <a:t>n</a:t>
            </a:r>
            <a:r>
              <a:rPr lang="en-US" altLang="zh-CN" sz="1200" b="1" dirty="0"/>
              <a:t>=1,2,</a:t>
            </a:r>
            <a:r>
              <a:rPr lang="en-US" altLang="zh-CN" sz="1200" b="1" dirty="0">
                <a:sym typeface="Symbol" panose="05050102010706020507" pitchFamily="18" charset="2"/>
              </a:rPr>
              <a:t></a:t>
            </a:r>
            <a:endParaRPr lang="zh-CN" altLang="en-US" sz="1200" b="1" dirty="0"/>
          </a:p>
          <a:p>
            <a:pPr eaLnBrk="1" hangingPunct="1">
              <a:buFontTx/>
              <a:buNone/>
            </a:pPr>
            <a:endParaRPr lang="en-US" altLang="zh-CN" sz="1200" b="1" dirty="0">
              <a:sym typeface="Symbol" panose="05050102010706020507" pitchFamily="18" charset="2"/>
            </a:endParaRPr>
          </a:p>
          <a:p>
            <a:pPr>
              <a:buFontTx/>
              <a:buNone/>
            </a:pPr>
            <a:r>
              <a:rPr lang="zh-CN" altLang="en-US" sz="1200" b="1" dirty="0">
                <a:solidFill>
                  <a:srgbClr val="800000"/>
                </a:solidFill>
              </a:rPr>
              <a:t>例</a:t>
            </a:r>
            <a:r>
              <a:rPr lang="en-US" altLang="zh-CN" sz="1200" b="1" dirty="0">
                <a:solidFill>
                  <a:srgbClr val="800000"/>
                </a:solidFill>
              </a:rPr>
              <a:t>1.12</a:t>
            </a:r>
            <a:r>
              <a:rPr lang="en-US" altLang="zh-CN" sz="1200" b="1" dirty="0"/>
              <a:t> </a:t>
            </a:r>
            <a:r>
              <a:rPr lang="zh-CN" altLang="en-US" sz="1200" b="1" dirty="0"/>
              <a:t>菲波那契数列</a:t>
            </a:r>
            <a:r>
              <a:rPr lang="en-US" altLang="zh-CN" sz="1200" b="1" dirty="0"/>
              <a:t>{</a:t>
            </a:r>
            <a:r>
              <a:rPr lang="en-US" altLang="zh-CN" sz="1200" b="1" i="1" dirty="0" err="1"/>
              <a:t>f</a:t>
            </a:r>
            <a:r>
              <a:rPr lang="en-US" altLang="zh-CN" sz="1200" b="1" i="1" baseline="-25000" dirty="0" err="1"/>
              <a:t>n</a:t>
            </a:r>
            <a:r>
              <a:rPr lang="en-US" altLang="zh-CN" sz="1200" b="1" dirty="0"/>
              <a:t>}</a:t>
            </a:r>
            <a:r>
              <a:rPr lang="zh-CN" altLang="en-US" sz="1200" b="1" dirty="0"/>
              <a:t>递归定义如下</a:t>
            </a:r>
            <a:r>
              <a:rPr lang="en-US" altLang="zh-CN" sz="1200" b="1" dirty="0"/>
              <a:t>:</a:t>
            </a:r>
            <a:endParaRPr lang="zh-CN" altLang="en-US" sz="1200" b="1" dirty="0"/>
          </a:p>
          <a:p>
            <a:pPr>
              <a:buFontTx/>
              <a:buNone/>
            </a:pPr>
            <a:r>
              <a:rPr lang="en-US" altLang="zh-CN" sz="1200" b="1" i="1" dirty="0"/>
              <a:t>        f</a:t>
            </a:r>
            <a:r>
              <a:rPr lang="en-US" altLang="zh-CN" sz="1200" b="1" baseline="-25000" dirty="0"/>
              <a:t>0</a:t>
            </a:r>
            <a:r>
              <a:rPr lang="en-US" altLang="zh-CN" sz="1200" b="1" dirty="0"/>
              <a:t>=1,     </a:t>
            </a:r>
            <a:r>
              <a:rPr lang="en-US" altLang="zh-CN" sz="1200" b="1" i="1" dirty="0"/>
              <a:t> f</a:t>
            </a:r>
            <a:r>
              <a:rPr lang="en-US" altLang="zh-CN" sz="1200" b="1" baseline="-25000" dirty="0"/>
              <a:t>1</a:t>
            </a:r>
            <a:r>
              <a:rPr lang="en-US" altLang="zh-CN" sz="1200" b="1" dirty="0"/>
              <a:t>=1</a:t>
            </a:r>
            <a:endParaRPr lang="zh-CN" altLang="en-US" sz="1200" b="1" dirty="0"/>
          </a:p>
          <a:p>
            <a:pPr>
              <a:buFontTx/>
              <a:buNone/>
            </a:pPr>
            <a:r>
              <a:rPr lang="en-US" altLang="zh-CN" sz="1200" b="1" i="1" dirty="0"/>
              <a:t>       </a:t>
            </a:r>
            <a:r>
              <a:rPr lang="en-US" altLang="zh-CN" sz="1200" b="1" i="1" dirty="0" err="1"/>
              <a:t>f</a:t>
            </a:r>
            <a:r>
              <a:rPr lang="en-US" altLang="zh-CN" sz="1200" b="1" i="1" baseline="-25000" dirty="0" err="1"/>
              <a:t>n</a:t>
            </a:r>
            <a:r>
              <a:rPr lang="en-US" altLang="zh-CN" sz="1200" b="1" dirty="0"/>
              <a:t>=</a:t>
            </a:r>
            <a:r>
              <a:rPr lang="en-US" altLang="zh-CN" sz="1200" b="1" i="1" dirty="0"/>
              <a:t> f</a:t>
            </a:r>
            <a:r>
              <a:rPr lang="en-US" altLang="zh-CN" sz="1200" b="1" i="1" baseline="-25000" dirty="0"/>
              <a:t>n</a:t>
            </a:r>
            <a:r>
              <a:rPr lang="en-US" altLang="zh-CN" sz="1200" b="1" baseline="-25000" dirty="0"/>
              <a:t>-1</a:t>
            </a:r>
            <a:r>
              <a:rPr lang="en-US" altLang="zh-CN" sz="1200" b="1" dirty="0"/>
              <a:t>+</a:t>
            </a:r>
            <a:r>
              <a:rPr lang="en-US" altLang="zh-CN" sz="1200" b="1" i="1" dirty="0"/>
              <a:t> f</a:t>
            </a:r>
            <a:r>
              <a:rPr lang="en-US" altLang="zh-CN" sz="1200" b="1" i="1" baseline="-25000" dirty="0"/>
              <a:t>n</a:t>
            </a:r>
            <a:r>
              <a:rPr lang="en-US" altLang="zh-CN" sz="1200" b="1" baseline="-25000" dirty="0"/>
              <a:t>-2</a:t>
            </a:r>
            <a:r>
              <a:rPr lang="en-US" altLang="zh-CN" sz="1200" b="1" dirty="0"/>
              <a:t>,        </a:t>
            </a:r>
            <a:r>
              <a:rPr lang="en-US" altLang="zh-CN" sz="1200" b="1" i="1" dirty="0"/>
              <a:t>n</a:t>
            </a:r>
            <a:r>
              <a:rPr lang="en-US" altLang="zh-CN" sz="1200" b="1" dirty="0"/>
              <a:t>=2,3,</a:t>
            </a:r>
            <a:r>
              <a:rPr lang="en-US" altLang="zh-CN" sz="1200" b="1" dirty="0">
                <a:sym typeface="Symbol" panose="05050102010706020507" pitchFamily="18" charset="2"/>
              </a:rPr>
              <a:t></a:t>
            </a:r>
            <a:endParaRPr lang="zh-CN" altLang="en-US" sz="1200" b="1" dirty="0"/>
          </a:p>
          <a:p>
            <a:pPr>
              <a:spcBef>
                <a:spcPts val="1800"/>
              </a:spcBef>
              <a:buFontTx/>
              <a:buNone/>
            </a:pPr>
            <a:r>
              <a:rPr lang="en-US" altLang="zh-CN" sz="1200" b="1" i="1" dirty="0"/>
              <a:t>f</a:t>
            </a:r>
            <a:r>
              <a:rPr lang="en-US" altLang="zh-CN" sz="1200" b="1" baseline="-25000" dirty="0"/>
              <a:t>0</a:t>
            </a:r>
            <a:r>
              <a:rPr lang="en-US" altLang="zh-CN" sz="1200" b="1" dirty="0"/>
              <a:t>=1, </a:t>
            </a:r>
            <a:r>
              <a:rPr lang="en-US" altLang="zh-CN" sz="1200" b="1" i="1" dirty="0"/>
              <a:t>f</a:t>
            </a:r>
            <a:r>
              <a:rPr lang="en-US" altLang="zh-CN" sz="1200" b="1" baseline="-25000" dirty="0"/>
              <a:t>1</a:t>
            </a:r>
            <a:r>
              <a:rPr lang="en-US" altLang="zh-CN" sz="1200" b="1" dirty="0"/>
              <a:t>=1,</a:t>
            </a:r>
            <a:r>
              <a:rPr lang="en-US" altLang="zh-CN" sz="1200" b="1" i="1" dirty="0"/>
              <a:t> f</a:t>
            </a:r>
            <a:r>
              <a:rPr lang="en-US" altLang="zh-CN" sz="1200" b="1" baseline="-25000" dirty="0"/>
              <a:t>2</a:t>
            </a:r>
            <a:r>
              <a:rPr lang="en-US" altLang="zh-CN" sz="1200" b="1" dirty="0"/>
              <a:t>=2,</a:t>
            </a:r>
            <a:r>
              <a:rPr lang="en-US" altLang="zh-CN" sz="1200" b="1" i="1" dirty="0"/>
              <a:t> f</a:t>
            </a:r>
            <a:r>
              <a:rPr lang="en-US" altLang="zh-CN" sz="1200" b="1" baseline="-25000" dirty="0"/>
              <a:t>3</a:t>
            </a:r>
            <a:r>
              <a:rPr lang="en-US" altLang="zh-CN" sz="1200" b="1" dirty="0"/>
              <a:t>=3,</a:t>
            </a:r>
            <a:r>
              <a:rPr lang="en-US" altLang="zh-CN" sz="1200" b="1" i="1" dirty="0"/>
              <a:t> f</a:t>
            </a:r>
            <a:r>
              <a:rPr lang="en-US" altLang="zh-CN" sz="1200" b="1" baseline="-25000" dirty="0"/>
              <a:t>4</a:t>
            </a:r>
            <a:r>
              <a:rPr lang="en-US" altLang="zh-CN" sz="1200" b="1" dirty="0"/>
              <a:t>=5,</a:t>
            </a:r>
            <a:r>
              <a:rPr lang="en-US" altLang="zh-CN" sz="1200" b="1" i="1" dirty="0"/>
              <a:t> f</a:t>
            </a:r>
            <a:r>
              <a:rPr lang="en-US" altLang="zh-CN" sz="1200" b="1" baseline="-25000" dirty="0"/>
              <a:t>5</a:t>
            </a:r>
            <a:r>
              <a:rPr lang="en-US" altLang="zh-CN" sz="1200" b="1" dirty="0"/>
              <a:t>=8,</a:t>
            </a:r>
            <a:r>
              <a:rPr lang="en-US" altLang="zh-CN" sz="1200" b="1" i="1" dirty="0"/>
              <a:t> f</a:t>
            </a:r>
            <a:r>
              <a:rPr lang="en-US" altLang="zh-CN" sz="1200" b="1" baseline="-25000" dirty="0"/>
              <a:t>6</a:t>
            </a:r>
            <a:r>
              <a:rPr lang="en-US" altLang="zh-CN" sz="1200" b="1" dirty="0"/>
              <a:t>=13, </a:t>
            </a:r>
            <a:r>
              <a:rPr lang="en-US" altLang="zh-CN" sz="1200" b="1" dirty="0">
                <a:sym typeface="Symbol" panose="05050102010706020507" pitchFamily="18" charset="2"/>
              </a:rPr>
              <a:t></a:t>
            </a:r>
            <a:r>
              <a:rPr lang="en-US" altLang="zh-CN" sz="1200" b="1" dirty="0"/>
              <a:t>.</a:t>
            </a:r>
            <a:endParaRPr lang="zh-CN" altLang="en-US" sz="1200" b="1" dirty="0"/>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48</a:t>
            </a:fld>
            <a:endParaRPr lang="zh-CN" altLang="en-US"/>
          </a:p>
        </p:txBody>
      </p:sp>
    </p:spTree>
    <p:extLst>
      <p:ext uri="{BB962C8B-B14F-4D97-AF65-F5344CB8AC3E}">
        <p14:creationId xmlns:p14="http://schemas.microsoft.com/office/powerpoint/2010/main" val="4282198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Tx/>
              <a:buNone/>
            </a:pPr>
            <a:r>
              <a:rPr lang="zh-CN" altLang="en-US" sz="1200" b="1" dirty="0">
                <a:solidFill>
                  <a:srgbClr val="800000"/>
                </a:solidFill>
              </a:rPr>
              <a:t>例</a:t>
            </a:r>
            <a:r>
              <a:rPr lang="en-US" altLang="zh-CN" sz="1200" b="1" dirty="0">
                <a:solidFill>
                  <a:srgbClr val="663300"/>
                </a:solidFill>
              </a:rPr>
              <a:t>1.13</a:t>
            </a:r>
            <a:r>
              <a:rPr lang="en-US" altLang="zh-CN" sz="1200" b="1" dirty="0"/>
              <a:t> </a:t>
            </a:r>
            <a:r>
              <a:rPr lang="zh-CN" altLang="en-US" sz="1200" b="1" dirty="0"/>
              <a:t>集合</a:t>
            </a:r>
            <a:r>
              <a:rPr lang="en-US" altLang="zh-CN" sz="1200" b="1" i="1" dirty="0"/>
              <a:t>A</a:t>
            </a:r>
            <a:r>
              <a:rPr lang="zh-CN" altLang="en-US" sz="1200" b="1" dirty="0"/>
              <a:t>的递归定义如下</a:t>
            </a:r>
            <a:r>
              <a:rPr lang="en-US" altLang="zh-CN" sz="1200" b="1" dirty="0"/>
              <a:t>:</a:t>
            </a:r>
            <a:endParaRPr lang="zh-CN" altLang="en-US" sz="1200" b="1" dirty="0"/>
          </a:p>
          <a:p>
            <a:pPr>
              <a:buFontTx/>
              <a:buNone/>
            </a:pPr>
            <a:r>
              <a:rPr lang="en-US" altLang="zh-CN" sz="1200" b="1" dirty="0"/>
              <a:t>(1) </a:t>
            </a:r>
            <a:r>
              <a:rPr lang="zh-CN" altLang="en-US" sz="1200" b="1" dirty="0"/>
              <a:t>基础步骤：</a:t>
            </a:r>
            <a:r>
              <a:rPr lang="en-US" altLang="zh-CN" sz="1200" b="1" dirty="0"/>
              <a:t> 3</a:t>
            </a:r>
            <a:r>
              <a:rPr lang="en-US" altLang="zh-CN" sz="1200" b="1" dirty="0">
                <a:sym typeface="Symbol" panose="05050102010706020507" pitchFamily="18" charset="2"/>
              </a:rPr>
              <a:t></a:t>
            </a:r>
            <a:r>
              <a:rPr lang="en-US" altLang="zh-CN" sz="1200" b="1" i="1" dirty="0"/>
              <a:t>A</a:t>
            </a:r>
            <a:r>
              <a:rPr lang="en-US" altLang="zh-CN" sz="1200" b="1" dirty="0"/>
              <a:t>,</a:t>
            </a:r>
            <a:endParaRPr lang="zh-CN" altLang="en-US" sz="1200" b="1" dirty="0"/>
          </a:p>
          <a:p>
            <a:pPr>
              <a:buFontTx/>
              <a:buNone/>
            </a:pPr>
            <a:r>
              <a:rPr lang="en-US" altLang="zh-CN" sz="1200" b="1" dirty="0"/>
              <a:t>(2) </a:t>
            </a:r>
            <a:r>
              <a:rPr lang="zh-CN" altLang="en-US" sz="1200" b="1" dirty="0"/>
              <a:t>递归步骤：若</a:t>
            </a:r>
            <a:r>
              <a:rPr lang="en-US" altLang="zh-CN" sz="1200" b="1" i="1" dirty="0"/>
              <a:t>x</a:t>
            </a:r>
            <a:r>
              <a:rPr lang="en-US" altLang="zh-CN" sz="1200" b="1" dirty="0"/>
              <a:t>, </a:t>
            </a:r>
            <a:r>
              <a:rPr lang="en-US" altLang="zh-CN" sz="1200" b="1" i="1" dirty="0" err="1"/>
              <a:t>y</a:t>
            </a:r>
            <a:r>
              <a:rPr lang="en-US" altLang="zh-CN" sz="1200" b="1" dirty="0" err="1">
                <a:sym typeface="Symbol" panose="05050102010706020507" pitchFamily="18" charset="2"/>
              </a:rPr>
              <a:t></a:t>
            </a:r>
            <a:r>
              <a:rPr lang="en-US" altLang="zh-CN" sz="1200" b="1" i="1" dirty="0" err="1"/>
              <a:t>A</a:t>
            </a:r>
            <a:r>
              <a:rPr lang="en-US" altLang="zh-CN" sz="1200" b="1" dirty="0"/>
              <a:t>, </a:t>
            </a:r>
            <a:r>
              <a:rPr lang="zh-CN" altLang="en-US" sz="1200" b="1" dirty="0"/>
              <a:t>则</a:t>
            </a:r>
            <a:r>
              <a:rPr lang="en-US" altLang="zh-CN" sz="1200" b="1" i="1" dirty="0" err="1"/>
              <a:t>x</a:t>
            </a:r>
            <a:r>
              <a:rPr lang="en-US" altLang="zh-CN" sz="1200" b="1" dirty="0" err="1"/>
              <a:t>+</a:t>
            </a:r>
            <a:r>
              <a:rPr lang="en-US" altLang="zh-CN" sz="1200" b="1" i="1" dirty="0" err="1"/>
              <a:t>y</a:t>
            </a:r>
            <a:r>
              <a:rPr lang="en-US" altLang="zh-CN" sz="1200" b="1" dirty="0" err="1">
                <a:sym typeface="Symbol" panose="05050102010706020507" pitchFamily="18" charset="2"/>
              </a:rPr>
              <a:t></a:t>
            </a:r>
            <a:r>
              <a:rPr lang="en-US" altLang="zh-CN" sz="1200" b="1" i="1" dirty="0" err="1"/>
              <a:t>A</a:t>
            </a:r>
            <a:r>
              <a:rPr lang="en-US" altLang="zh-CN" sz="1200" b="1" dirty="0"/>
              <a:t>,</a:t>
            </a:r>
          </a:p>
          <a:p>
            <a:pPr>
              <a:buFontTx/>
              <a:buNone/>
            </a:pPr>
            <a:r>
              <a:rPr lang="zh-CN" altLang="en-US" sz="1200" b="1" dirty="0"/>
              <a:t>有限次使用</a:t>
            </a:r>
            <a:r>
              <a:rPr lang="en-US" altLang="zh-CN" sz="1200" b="1" dirty="0"/>
              <a:t> (2)</a:t>
            </a:r>
            <a:r>
              <a:rPr lang="zh-CN" altLang="en-US" sz="1200" b="1" dirty="0"/>
              <a:t>得到的数属于集合</a:t>
            </a:r>
            <a:r>
              <a:rPr lang="en-US" altLang="zh-CN" sz="1200" b="1" i="1" dirty="0"/>
              <a:t>A</a:t>
            </a:r>
            <a:r>
              <a:rPr lang="en-US" altLang="zh-CN" sz="1200" b="1" dirty="0"/>
              <a:t>.</a:t>
            </a:r>
          </a:p>
          <a:p>
            <a:pPr>
              <a:buFontTx/>
              <a:buNone/>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dirty="0">
                <a:solidFill>
                  <a:schemeClr val="tx1"/>
                </a:solidFill>
                <a:latin typeface="+mn-lt"/>
              </a:rPr>
              <a:t>A</a:t>
            </a:r>
            <a:r>
              <a:rPr lang="en-US" altLang="zh-CN" sz="1200" b="1" dirty="0">
                <a:solidFill>
                  <a:schemeClr val="tx1"/>
                </a:solidFill>
                <a:latin typeface="+mn-lt"/>
              </a:rPr>
              <a:t>={3</a:t>
            </a:r>
            <a:r>
              <a:rPr lang="en-US" altLang="zh-CN" sz="1200" b="1" i="1" dirty="0">
                <a:solidFill>
                  <a:schemeClr val="tx1"/>
                </a:solidFill>
                <a:latin typeface="+mn-lt"/>
              </a:rPr>
              <a:t>n</a:t>
            </a:r>
            <a:r>
              <a:rPr lang="en-US" altLang="zh-CN" sz="1200" b="1" dirty="0">
                <a:solidFill>
                  <a:schemeClr val="tx1"/>
                </a:solidFill>
                <a:latin typeface="+mn-lt"/>
              </a:rPr>
              <a:t> | </a:t>
            </a:r>
            <a:r>
              <a:rPr lang="en-US" altLang="zh-CN" sz="1200" b="1" i="1" dirty="0" err="1">
                <a:solidFill>
                  <a:schemeClr val="tx1"/>
                </a:solidFill>
                <a:latin typeface="+mn-lt"/>
              </a:rPr>
              <a:t>n</a:t>
            </a:r>
            <a:r>
              <a:rPr lang="en-US" altLang="zh-CN" sz="1200" b="1" dirty="0" err="1">
                <a:solidFill>
                  <a:schemeClr val="tx1"/>
                </a:solidFill>
                <a:latin typeface="+mn-lt"/>
                <a:sym typeface="Symbol"/>
              </a:rPr>
              <a:t></a:t>
            </a:r>
            <a:r>
              <a:rPr lang="en-US" altLang="zh-CN" sz="1200" b="1" dirty="0" err="1">
                <a:solidFill>
                  <a:schemeClr val="tx1"/>
                </a:solidFill>
                <a:latin typeface="+mn-lt"/>
              </a:rPr>
              <a:t>Z</a:t>
            </a:r>
            <a:r>
              <a:rPr lang="en-US" altLang="zh-CN" sz="1200" b="1" baseline="30000" dirty="0">
                <a:solidFill>
                  <a:schemeClr val="tx1"/>
                </a:solidFill>
                <a:latin typeface="+mn-lt"/>
              </a:rPr>
              <a:t>+</a:t>
            </a:r>
            <a:r>
              <a:rPr lang="en-US" altLang="zh-CN" sz="1200" b="1" dirty="0">
                <a:solidFill>
                  <a:schemeClr val="tx1"/>
                </a:solidFill>
                <a:latin typeface="+mn-lt"/>
              </a:rPr>
              <a:t>}</a:t>
            </a:r>
            <a:endParaRPr lang="zh-CN" altLang="en-US" sz="1200" b="1" dirty="0">
              <a:solidFill>
                <a:schemeClr val="tx1"/>
              </a:solidFill>
              <a:latin typeface="+mn-lt"/>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49</a:t>
            </a:fld>
            <a:endParaRPr lang="zh-CN" altLang="en-US"/>
          </a:p>
        </p:txBody>
      </p:sp>
    </p:spTree>
    <p:extLst>
      <p:ext uri="{BB962C8B-B14F-4D97-AF65-F5344CB8AC3E}">
        <p14:creationId xmlns:p14="http://schemas.microsoft.com/office/powerpoint/2010/main" val="17229820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Tx/>
              <a:buNone/>
            </a:pPr>
            <a:r>
              <a:rPr lang="zh-CN" altLang="en-US" sz="1200" b="1" dirty="0">
                <a:solidFill>
                  <a:srgbClr val="800000"/>
                </a:solidFill>
              </a:rPr>
              <a:t>例</a:t>
            </a:r>
            <a:r>
              <a:rPr lang="en-US" altLang="zh-CN" sz="1200" b="1" dirty="0">
                <a:solidFill>
                  <a:srgbClr val="800000"/>
                </a:solidFill>
              </a:rPr>
              <a:t>1.14</a:t>
            </a:r>
            <a:r>
              <a:rPr lang="en-US" altLang="zh-CN" sz="1200" b="1" dirty="0"/>
              <a:t>  </a:t>
            </a:r>
            <a:r>
              <a:rPr lang="zh-CN" altLang="en-US" sz="1200" b="1" dirty="0"/>
              <a:t>算术表达式的归纳定义如下</a:t>
            </a:r>
            <a:r>
              <a:rPr lang="en-US" altLang="zh-CN" sz="1200" b="1" dirty="0"/>
              <a:t>:</a:t>
            </a:r>
            <a:endParaRPr lang="zh-CN" altLang="en-US" sz="1200" b="1" dirty="0"/>
          </a:p>
          <a:p>
            <a:pPr>
              <a:buFontTx/>
              <a:buNone/>
            </a:pPr>
            <a:r>
              <a:rPr lang="en-US" altLang="zh-CN" sz="1200" b="1" dirty="0"/>
              <a:t>(1) </a:t>
            </a:r>
            <a:r>
              <a:rPr lang="zh-CN" altLang="en-US" sz="1200" b="1" dirty="0"/>
              <a:t>任何实数和变量都是算术表达式</a:t>
            </a:r>
            <a:r>
              <a:rPr lang="en-US" altLang="zh-CN" sz="1200" b="1" dirty="0"/>
              <a:t>,</a:t>
            </a:r>
            <a:endParaRPr lang="zh-CN" altLang="en-US" sz="1200" b="1" dirty="0"/>
          </a:p>
          <a:p>
            <a:pPr>
              <a:buFontTx/>
              <a:buNone/>
            </a:pPr>
            <a:r>
              <a:rPr lang="en-US" altLang="zh-CN" sz="1200" b="1" dirty="0"/>
              <a:t>(2) </a:t>
            </a:r>
            <a:r>
              <a:rPr lang="zh-CN" altLang="en-US" sz="1200" b="1" dirty="0"/>
              <a:t>如果</a:t>
            </a:r>
            <a:r>
              <a:rPr lang="en-US" altLang="zh-CN" sz="1200" b="1" i="1" dirty="0"/>
              <a:t>f</a:t>
            </a:r>
            <a:r>
              <a:rPr lang="en-US" altLang="zh-CN" sz="1200" b="1" dirty="0"/>
              <a:t>, </a:t>
            </a:r>
            <a:r>
              <a:rPr lang="en-US" altLang="zh-CN" sz="1200" b="1" i="1" dirty="0"/>
              <a:t>g</a:t>
            </a:r>
            <a:r>
              <a:rPr lang="zh-CN" altLang="en-US" sz="1200" b="1" dirty="0"/>
              <a:t>是算术表达式</a:t>
            </a:r>
            <a:r>
              <a:rPr lang="en-US" altLang="zh-CN" sz="1200" b="1" dirty="0"/>
              <a:t>, </a:t>
            </a:r>
            <a:r>
              <a:rPr lang="zh-CN" altLang="en-US" sz="1200" b="1" dirty="0"/>
              <a:t>则</a:t>
            </a:r>
            <a:r>
              <a:rPr lang="en-US" altLang="zh-CN" sz="1200" b="1" dirty="0"/>
              <a:t>(</a:t>
            </a:r>
            <a:r>
              <a:rPr lang="en-US" altLang="zh-CN" sz="1200" b="1" i="1" dirty="0" err="1"/>
              <a:t>f</a:t>
            </a:r>
            <a:r>
              <a:rPr lang="en-US" altLang="zh-CN" sz="1200" b="1" dirty="0" err="1"/>
              <a:t>+</a:t>
            </a:r>
            <a:r>
              <a:rPr lang="en-US" altLang="zh-CN" sz="1200" b="1" i="1" dirty="0" err="1"/>
              <a:t>g</a:t>
            </a:r>
            <a:r>
              <a:rPr lang="en-US" altLang="zh-CN" sz="1200" b="1" dirty="0"/>
              <a:t>), (</a:t>
            </a:r>
            <a:r>
              <a:rPr lang="en-US" altLang="zh-CN" sz="1200" b="1" i="1" dirty="0"/>
              <a:t>f</a:t>
            </a:r>
            <a:r>
              <a:rPr lang="en-US" altLang="zh-CN" sz="1200" b="1" dirty="0"/>
              <a:t>-</a:t>
            </a:r>
            <a:r>
              <a:rPr lang="en-US" altLang="zh-CN" sz="1200" b="1" i="1" dirty="0"/>
              <a:t>g</a:t>
            </a:r>
            <a:r>
              <a:rPr lang="en-US" altLang="zh-CN" sz="1200" b="1" dirty="0"/>
              <a:t>), (</a:t>
            </a:r>
            <a:r>
              <a:rPr lang="en-US" altLang="zh-CN" sz="1200" b="1" i="1" dirty="0" err="1"/>
              <a:t>f</a:t>
            </a:r>
            <a:r>
              <a:rPr lang="en-US" altLang="zh-CN" sz="1200" b="1" dirty="0" err="1">
                <a:sym typeface="Symbol" panose="05050102010706020507" pitchFamily="18" charset="2"/>
              </a:rPr>
              <a:t></a:t>
            </a:r>
            <a:r>
              <a:rPr lang="en-US" altLang="zh-CN" sz="1200" b="1" i="1" dirty="0" err="1"/>
              <a:t>g</a:t>
            </a:r>
            <a:r>
              <a:rPr lang="en-US" altLang="zh-CN" sz="1200" b="1" dirty="0"/>
              <a:t>)</a:t>
            </a:r>
            <a:r>
              <a:rPr lang="zh-CN" altLang="en-US" sz="1200" b="1" dirty="0"/>
              <a:t>是算术表达式</a:t>
            </a:r>
            <a:r>
              <a:rPr lang="en-US" altLang="zh-CN" sz="1200" b="1" dirty="0"/>
              <a:t>,</a:t>
            </a:r>
            <a:endParaRPr lang="zh-CN" altLang="en-US" sz="1200" b="1" dirty="0"/>
          </a:p>
          <a:p>
            <a:pPr>
              <a:buFontTx/>
              <a:buNone/>
            </a:pPr>
            <a:r>
              <a:rPr lang="en-US" altLang="zh-CN" sz="1200" b="1" dirty="0"/>
              <a:t>(3) </a:t>
            </a:r>
            <a:r>
              <a:rPr lang="zh-CN" altLang="en-US" sz="1200" b="1" dirty="0"/>
              <a:t>如果</a:t>
            </a:r>
            <a:r>
              <a:rPr lang="en-US" altLang="zh-CN" sz="1200" b="1" i="1" dirty="0"/>
              <a:t>f</a:t>
            </a:r>
            <a:r>
              <a:rPr lang="en-US" altLang="zh-CN" sz="1200" b="1" dirty="0"/>
              <a:t>, </a:t>
            </a:r>
            <a:r>
              <a:rPr lang="en-US" altLang="zh-CN" sz="1200" b="1" i="1" dirty="0"/>
              <a:t>g</a:t>
            </a:r>
            <a:r>
              <a:rPr lang="zh-CN" altLang="en-US" sz="1200" b="1" dirty="0"/>
              <a:t>是算术表达式且</a:t>
            </a:r>
            <a:r>
              <a:rPr lang="en-US" altLang="zh-CN" sz="1200" b="1" i="1" dirty="0"/>
              <a:t>g</a:t>
            </a:r>
            <a:r>
              <a:rPr lang="en-US" altLang="zh-CN" sz="1200" b="1" dirty="0">
                <a:sym typeface="Symbol" panose="05050102010706020507" pitchFamily="18" charset="2"/>
              </a:rPr>
              <a:t></a:t>
            </a:r>
            <a:r>
              <a:rPr lang="en-US" altLang="zh-CN" sz="1200" b="1" dirty="0"/>
              <a:t>0, </a:t>
            </a:r>
            <a:r>
              <a:rPr lang="zh-CN" altLang="en-US" sz="1200" b="1" dirty="0"/>
              <a:t>则</a:t>
            </a:r>
            <a:r>
              <a:rPr lang="en-US" altLang="zh-CN" sz="1200" b="1" dirty="0"/>
              <a:t>(</a:t>
            </a:r>
            <a:r>
              <a:rPr lang="en-US" altLang="zh-CN" sz="1200" b="1" i="1" dirty="0" err="1"/>
              <a:t>f</a:t>
            </a:r>
            <a:r>
              <a:rPr lang="en-US" altLang="zh-CN" sz="1200" b="1" dirty="0" err="1">
                <a:sym typeface="Symbol" panose="05050102010706020507" pitchFamily="18" charset="2"/>
              </a:rPr>
              <a:t></a:t>
            </a:r>
            <a:r>
              <a:rPr lang="en-US" altLang="zh-CN" sz="1200" b="1" i="1" dirty="0" err="1"/>
              <a:t>g</a:t>
            </a:r>
            <a:r>
              <a:rPr lang="en-US" altLang="zh-CN" sz="1200" b="1" dirty="0"/>
              <a:t>)</a:t>
            </a:r>
            <a:r>
              <a:rPr lang="zh-CN" altLang="en-US" sz="1200" b="1" dirty="0"/>
              <a:t>是算术表达式</a:t>
            </a:r>
            <a:r>
              <a:rPr lang="en-US" altLang="zh-CN" sz="1200" b="1" dirty="0"/>
              <a:t>,</a:t>
            </a:r>
            <a:endParaRPr lang="zh-CN" altLang="en-US" sz="1200" b="1" dirty="0"/>
          </a:p>
          <a:p>
            <a:pPr>
              <a:buFontTx/>
              <a:buNone/>
            </a:pPr>
            <a:r>
              <a:rPr lang="en-US" altLang="zh-CN" sz="1200" b="1" dirty="0"/>
              <a:t>(4) </a:t>
            </a:r>
            <a:r>
              <a:rPr lang="zh-CN" altLang="en-US" sz="1200" b="1" dirty="0"/>
              <a:t>如果</a:t>
            </a:r>
            <a:r>
              <a:rPr lang="en-US" altLang="zh-CN" sz="1200" b="1" i="1" dirty="0"/>
              <a:t>f</a:t>
            </a:r>
            <a:r>
              <a:rPr lang="zh-CN" altLang="en-US" sz="1200" b="1" dirty="0"/>
              <a:t>是算术表达式</a:t>
            </a:r>
            <a:r>
              <a:rPr lang="en-US" altLang="zh-CN" sz="1200" b="1" dirty="0"/>
              <a:t>, </a:t>
            </a:r>
            <a:r>
              <a:rPr lang="zh-CN" altLang="en-US" sz="1200" b="1" dirty="0"/>
              <a:t>则</a:t>
            </a:r>
            <a:r>
              <a:rPr lang="zh-CN" altLang="en-US" sz="1200" b="1" dirty="0">
                <a:sym typeface="Symbol" panose="05050102010706020507" pitchFamily="18" charset="2"/>
              </a:rPr>
              <a:t></a:t>
            </a:r>
            <a:r>
              <a:rPr lang="en-US" altLang="zh-CN" sz="1200" b="1" i="1" dirty="0" err="1"/>
              <a:t>n</a:t>
            </a:r>
            <a:r>
              <a:rPr lang="en-US" altLang="zh-CN" sz="1200" b="1" dirty="0" err="1">
                <a:sym typeface="Symbol" panose="05050102010706020507" pitchFamily="18" charset="2"/>
              </a:rPr>
              <a:t></a:t>
            </a:r>
            <a:r>
              <a:rPr lang="en-US" altLang="zh-CN" sz="1200" b="1" dirty="0" err="1"/>
              <a:t>Z</a:t>
            </a:r>
            <a:r>
              <a:rPr lang="en-US" altLang="zh-CN" sz="1200" b="1" baseline="30000" dirty="0"/>
              <a:t>+</a:t>
            </a:r>
            <a:r>
              <a:rPr lang="en-US" altLang="zh-CN" sz="1200" b="1" dirty="0"/>
              <a:t>, (</a:t>
            </a:r>
            <a:r>
              <a:rPr lang="en-US" altLang="zh-CN" sz="1200" b="1" i="1" dirty="0" err="1"/>
              <a:t>f</a:t>
            </a:r>
            <a:r>
              <a:rPr lang="en-US" altLang="zh-CN" sz="1200" b="1" dirty="0" err="1">
                <a:sym typeface="Symbol" panose="05050102010706020507" pitchFamily="18" charset="2"/>
              </a:rPr>
              <a:t></a:t>
            </a:r>
            <a:r>
              <a:rPr lang="en-US" altLang="zh-CN" sz="1200" b="1" i="1" dirty="0" err="1"/>
              <a:t>n</a:t>
            </a:r>
            <a:r>
              <a:rPr lang="en-US" altLang="zh-CN" sz="1200" b="1" dirty="0"/>
              <a:t>)</a:t>
            </a:r>
            <a:r>
              <a:rPr lang="zh-CN" altLang="en-US" sz="1200" b="1" dirty="0"/>
              <a:t>是算术表达式</a:t>
            </a:r>
            <a:r>
              <a:rPr lang="en-US" altLang="zh-CN" sz="1200" b="1" dirty="0"/>
              <a:t>,</a:t>
            </a:r>
            <a:endParaRPr lang="zh-CN" altLang="en-US" sz="1200" b="1" dirty="0"/>
          </a:p>
          <a:p>
            <a:pPr>
              <a:buFontTx/>
              <a:buNone/>
            </a:pPr>
            <a:r>
              <a:rPr lang="en-US" altLang="zh-CN" sz="1200" b="1" dirty="0"/>
              <a:t>(5) </a:t>
            </a:r>
            <a:r>
              <a:rPr lang="zh-CN" altLang="en-US" sz="1200" b="1" dirty="0"/>
              <a:t>只有有限次使用</a:t>
            </a:r>
            <a:r>
              <a:rPr lang="en-US" altLang="zh-CN" sz="1200" b="1" dirty="0"/>
              <a:t>(1)~(4)</a:t>
            </a:r>
            <a:r>
              <a:rPr lang="zh-CN" altLang="en-US" sz="1200" b="1" dirty="0"/>
              <a:t>得到的式子是算术表达式</a:t>
            </a:r>
            <a:r>
              <a:rPr lang="en-US" altLang="zh-CN" sz="1200" b="1" dirty="0"/>
              <a:t>.</a:t>
            </a:r>
          </a:p>
          <a:p>
            <a:pPr>
              <a:buFontTx/>
              <a:buNone/>
            </a:pPr>
            <a:endParaRPr lang="en-US" altLang="zh-CN" sz="1200" b="1" dirty="0"/>
          </a:p>
          <a:p>
            <a:pPr>
              <a:buFontTx/>
              <a:buNone/>
            </a:pPr>
            <a:r>
              <a:rPr lang="en-US" altLang="zh-CN" dirty="0" err="1"/>
              <a:t>f↑n</a:t>
            </a:r>
            <a:r>
              <a:rPr lang="en-US" altLang="zh-CN" dirty="0"/>
              <a:t> </a:t>
            </a:r>
            <a:r>
              <a:rPr lang="zh-CN" altLang="en-US" dirty="0"/>
              <a:t>表示</a:t>
            </a:r>
            <a:r>
              <a:rPr lang="zh-CN" altLang="en-US" b="1" dirty="0"/>
              <a:t>函数 </a:t>
            </a:r>
            <a:r>
              <a:rPr lang="en-US" altLang="zh-CN" b="1" dirty="0" err="1"/>
              <a:t>fff</a:t>
            </a:r>
            <a:r>
              <a:rPr lang="en-US" altLang="zh-CN" b="1" dirty="0"/>
              <a:t> </a:t>
            </a:r>
            <a:r>
              <a:rPr lang="zh-CN" altLang="en-US" b="1" dirty="0"/>
              <a:t>的迭代应用</a:t>
            </a:r>
            <a:r>
              <a:rPr lang="zh-CN" altLang="en-US" dirty="0"/>
              <a:t>，即将函数 </a:t>
            </a:r>
            <a:r>
              <a:rPr lang="en-US" altLang="zh-CN" dirty="0" err="1"/>
              <a:t>fff</a:t>
            </a:r>
            <a:r>
              <a:rPr lang="en-US" altLang="zh-CN" dirty="0"/>
              <a:t> </a:t>
            </a:r>
            <a:r>
              <a:rPr lang="zh-CN" altLang="en-US" dirty="0"/>
              <a:t>应用 </a:t>
            </a:r>
            <a:r>
              <a:rPr lang="en-US" altLang="zh-CN" dirty="0" err="1"/>
              <a:t>nnn</a:t>
            </a:r>
            <a:r>
              <a:rPr lang="en-US" altLang="zh-CN" dirty="0"/>
              <a:t> </a:t>
            </a:r>
            <a:r>
              <a:rPr lang="zh-CN" altLang="en-US"/>
              <a:t>次。</a:t>
            </a:r>
            <a:endParaRPr lang="zh-CN" altLang="en-US" sz="1200" b="1" dirty="0"/>
          </a:p>
          <a:p>
            <a:pPr>
              <a:buFontTx/>
              <a:buNone/>
            </a:pPr>
            <a:endParaRPr lang="zh-CN" altLang="en-US" sz="1200" b="1" dirty="0"/>
          </a:p>
          <a:p>
            <a:pPr>
              <a:buFontTx/>
              <a:buNone/>
            </a:pPr>
            <a:r>
              <a:rPr lang="zh-CN" altLang="en-US" sz="1200" b="1" dirty="0"/>
              <a:t>如</a:t>
            </a:r>
            <a:r>
              <a:rPr lang="en-US" altLang="zh-CN" sz="1200" b="1" dirty="0"/>
              <a:t>, ((3</a:t>
            </a:r>
            <a:r>
              <a:rPr lang="en-US" altLang="zh-CN" sz="1200" b="1" dirty="0">
                <a:sym typeface="Symbol" panose="05050102010706020507" pitchFamily="18" charset="2"/>
              </a:rPr>
              <a:t></a:t>
            </a:r>
            <a:r>
              <a:rPr lang="en-US" altLang="zh-CN" sz="1200" b="1" i="1" dirty="0"/>
              <a:t>x</a:t>
            </a:r>
            <a:r>
              <a:rPr lang="en-US" altLang="zh-CN" sz="1200" b="1" dirty="0"/>
              <a:t>)-1), (((2</a:t>
            </a:r>
            <a:r>
              <a:rPr lang="en-US" altLang="zh-CN" sz="1200" b="1" dirty="0">
                <a:sym typeface="Symbol" panose="05050102010706020507" pitchFamily="18" charset="2"/>
              </a:rPr>
              <a:t></a:t>
            </a:r>
            <a:r>
              <a:rPr lang="en-US" altLang="zh-CN" sz="1200" b="1" dirty="0"/>
              <a:t>(</a:t>
            </a:r>
            <a:r>
              <a:rPr lang="en-US" altLang="zh-CN" sz="1200" b="1" i="1" dirty="0"/>
              <a:t>x</a:t>
            </a:r>
            <a:r>
              <a:rPr lang="en-US" altLang="zh-CN" sz="1200" b="1" dirty="0">
                <a:sym typeface="Symbol" panose="05050102010706020507" pitchFamily="18" charset="2"/>
              </a:rPr>
              <a:t></a:t>
            </a:r>
            <a:r>
              <a:rPr lang="en-US" altLang="zh-CN" sz="1200" b="1" dirty="0"/>
              <a:t>2))+(5</a:t>
            </a:r>
            <a:r>
              <a:rPr lang="en-US" altLang="zh-CN" sz="1200" b="1" dirty="0">
                <a:sym typeface="Symbol" panose="05050102010706020507" pitchFamily="18" charset="2"/>
              </a:rPr>
              <a:t></a:t>
            </a:r>
            <a:r>
              <a:rPr lang="en-US" altLang="zh-CN" sz="1200" b="1" i="1" dirty="0"/>
              <a:t>x</a:t>
            </a:r>
            <a:r>
              <a:rPr lang="en-US" altLang="zh-CN" sz="1200" b="1" dirty="0"/>
              <a:t>))-4), (((</a:t>
            </a:r>
            <a:r>
              <a:rPr lang="en-US" altLang="zh-CN" sz="1200" b="1" i="1" dirty="0" err="1"/>
              <a:t>x</a:t>
            </a:r>
            <a:r>
              <a:rPr lang="en-US" altLang="zh-CN" sz="1200" b="1" dirty="0" err="1"/>
              <a:t>+</a:t>
            </a:r>
            <a:r>
              <a:rPr lang="en-US" altLang="zh-CN" sz="1200" b="1" i="1" dirty="0" err="1"/>
              <a:t>y</a:t>
            </a:r>
            <a:r>
              <a:rPr lang="en-US" altLang="zh-CN" sz="1200" b="1" dirty="0"/>
              <a:t>)-</a:t>
            </a:r>
            <a:r>
              <a:rPr lang="en-US" altLang="zh-CN" sz="1200" b="1" i="1" dirty="0"/>
              <a:t>z</a:t>
            </a:r>
            <a:r>
              <a:rPr lang="en-US" altLang="zh-CN" sz="1200" b="1" dirty="0"/>
              <a:t>)</a:t>
            </a:r>
            <a:r>
              <a:rPr lang="en-US" altLang="zh-CN" sz="1200" b="1" dirty="0">
                <a:sym typeface="Symbol" panose="05050102010706020507" pitchFamily="18" charset="2"/>
              </a:rPr>
              <a:t></a:t>
            </a:r>
            <a:r>
              <a:rPr lang="en-US" altLang="zh-CN" sz="1200" b="1" dirty="0"/>
              <a:t>(5+</a:t>
            </a:r>
            <a:r>
              <a:rPr lang="en-US" altLang="zh-CN" sz="1200" b="1" i="1" dirty="0"/>
              <a:t>x</a:t>
            </a:r>
            <a:r>
              <a:rPr lang="en-US" altLang="zh-CN" sz="1200" b="1" dirty="0"/>
              <a:t>)) </a:t>
            </a:r>
            <a:r>
              <a:rPr lang="en-US" altLang="zh-CN" dirty="0"/>
              <a:t>The notation x↑2x\</a:t>
            </a:r>
            <a:r>
              <a:rPr lang="en-US" altLang="zh-CN" dirty="0" err="1"/>
              <a:t>uparrow</a:t>
            </a:r>
            <a:r>
              <a:rPr lang="en-US" altLang="zh-CN" dirty="0"/>
              <a:t> 2x↑2 is typically used in the context of </a:t>
            </a:r>
            <a:r>
              <a:rPr lang="en-US" altLang="zh-CN" b="1" dirty="0"/>
              <a:t>Knuth's up-arrow notation</a:t>
            </a:r>
            <a:r>
              <a:rPr lang="en-US" altLang="zh-CN" dirty="0"/>
              <a:t>. In this case, x↑2x \</a:t>
            </a:r>
            <a:r>
              <a:rPr lang="en-US" altLang="zh-CN" dirty="0" err="1"/>
              <a:t>uparrow</a:t>
            </a:r>
            <a:r>
              <a:rPr lang="en-US" altLang="zh-CN" dirty="0"/>
              <a:t> 2x↑2 means </a:t>
            </a:r>
            <a:r>
              <a:rPr lang="en-US" altLang="zh-CN" b="1" dirty="0"/>
              <a:t>exponentiation</a:t>
            </a:r>
            <a:r>
              <a:rPr lang="en-US" altLang="zh-CN" dirty="0"/>
              <a:t>, or x2x^2x2.</a:t>
            </a:r>
            <a:endParaRPr lang="zh-CN" altLang="en-US" sz="1200" b="1" dirty="0">
              <a:sym typeface="Symbol" panose="05050102010706020507" pitchFamily="18" charset="2"/>
            </a:endParaRPr>
          </a:p>
          <a:p>
            <a:endParaRPr lang="zh-CN" altLang="en-US" dirty="0"/>
          </a:p>
        </p:txBody>
      </p:sp>
      <p:sp>
        <p:nvSpPr>
          <p:cNvPr id="4" name="灯片编号占位符 3"/>
          <p:cNvSpPr>
            <a:spLocks noGrp="1"/>
          </p:cNvSpPr>
          <p:nvPr>
            <p:ph type="sldNum" sz="quarter" idx="10"/>
          </p:nvPr>
        </p:nvSpPr>
        <p:spPr/>
        <p:txBody>
          <a:bodyPr/>
          <a:lstStyle/>
          <a:p>
            <a:fld id="{CAFE74B6-F93C-4D90-BE1A-7EFEDB35C0D4}" type="slidenum">
              <a:rPr lang="zh-CN" altLang="en-US" smtClean="0"/>
              <a:t>50</a:t>
            </a:fld>
            <a:endParaRPr lang="zh-CN" altLang="en-US"/>
          </a:p>
        </p:txBody>
      </p:sp>
    </p:spTree>
    <p:extLst>
      <p:ext uri="{BB962C8B-B14F-4D97-AF65-F5344CB8AC3E}">
        <p14:creationId xmlns:p14="http://schemas.microsoft.com/office/powerpoint/2010/main" val="25247696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FE74B6-F93C-4D90-BE1A-7EFEDB35C0D4}" type="slidenum">
              <a:rPr lang="zh-CN" altLang="en-US" smtClean="0"/>
              <a:t>51</a:t>
            </a:fld>
            <a:endParaRPr lang="zh-CN" altLang="en-US"/>
          </a:p>
        </p:txBody>
      </p:sp>
    </p:spTree>
    <p:extLst>
      <p:ext uri="{BB962C8B-B14F-4D97-AF65-F5344CB8AC3E}">
        <p14:creationId xmlns:p14="http://schemas.microsoft.com/office/powerpoint/2010/main" val="3804105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2025/3/6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图片占位符 2"/>
          <p:cNvSpPr>
            <a:spLocks noGrp="1"/>
          </p:cNvSpPr>
          <p:nvPr>
            <p:ph type="pic" sz="quarter" idx="10"/>
          </p:nvPr>
        </p:nvSpPr>
        <p:spPr>
          <a:xfrm>
            <a:off x="0" y="0"/>
            <a:ext cx="12192000" cy="4403725"/>
          </a:xfrm>
          <a:prstGeom prst="rect">
            <a:avLst/>
          </a:prstGeom>
        </p:spPr>
        <p:txBody>
          <a:bodyPr/>
          <a:lstStyle/>
          <a:p>
            <a:endParaRPr lang="zh-CN" altLang="en-US"/>
          </a:p>
        </p:txBody>
      </p:sp>
      <p:sp>
        <p:nvSpPr>
          <p:cNvPr id="5" name="文本占位符 4"/>
          <p:cNvSpPr>
            <a:spLocks noGrp="1"/>
          </p:cNvSpPr>
          <p:nvPr>
            <p:ph type="body" sz="quarter" idx="11"/>
          </p:nvPr>
        </p:nvSpPr>
        <p:spPr>
          <a:xfrm>
            <a:off x="0" y="3075709"/>
            <a:ext cx="12192000" cy="1328016"/>
          </a:xfrm>
          <a:prstGeom prst="rect">
            <a:avLst/>
          </a:prstGeom>
          <a:solidFill>
            <a:schemeClr val="accent1">
              <a:lumMod val="75000"/>
              <a:alpha val="74000"/>
            </a:schemeClr>
          </a:solidFill>
          <a:ln>
            <a:noFill/>
          </a:ln>
        </p:spPr>
        <p:txBody>
          <a:bodyPr/>
          <a:lstStyle>
            <a:lvl1pPr>
              <a:defRPr>
                <a:solidFill>
                  <a:schemeClr val="tx1">
                    <a:alpha val="0"/>
                  </a:schemeClr>
                </a:solidFill>
              </a:defRPr>
            </a:lvl1pPr>
          </a:lstStyle>
          <a:p>
            <a:pPr lvl="0"/>
            <a:endParaRPr lang="zh-CN" altLang="en-US" dirty="0"/>
          </a:p>
        </p:txBody>
      </p:sp>
      <p:sp>
        <p:nvSpPr>
          <p:cNvPr id="6" name="副标题 2"/>
          <p:cNvSpPr>
            <a:spLocks noGrp="1"/>
          </p:cNvSpPr>
          <p:nvPr>
            <p:ph type="subTitle" idx="1"/>
          </p:nvPr>
        </p:nvSpPr>
        <p:spPr>
          <a:xfrm>
            <a:off x="1851024" y="2809284"/>
            <a:ext cx="7855511" cy="558799"/>
          </a:xfrm>
          <a:prstGeom prst="rect">
            <a:avLst/>
          </a:prstGeom>
        </p:spPr>
        <p:txBody>
          <a:bodyPr anchor="ctr">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标题 1"/>
          <p:cNvSpPr>
            <a:spLocks noGrp="1"/>
          </p:cNvSpPr>
          <p:nvPr>
            <p:ph type="ctrTitle"/>
          </p:nvPr>
        </p:nvSpPr>
        <p:spPr>
          <a:xfrm>
            <a:off x="1851024" y="2110693"/>
            <a:ext cx="7855511" cy="698591"/>
          </a:xfrm>
          <a:prstGeom prst="rect">
            <a:avLst/>
          </a:prstGeom>
        </p:spPr>
        <p:txBody>
          <a:bodyPr anchor="ctr">
            <a:normAutofit/>
          </a:bodyPr>
          <a:lstStyle>
            <a:lvl1pPr algn="l">
              <a:defRPr sz="4000">
                <a:solidFill>
                  <a:schemeClr val="tx1"/>
                </a:solidFill>
              </a:defRPr>
            </a:lvl1pPr>
          </a:lstStyle>
          <a:p>
            <a:r>
              <a:rPr lang="en-US" dirty="0"/>
              <a:t>Click to edit Master title style</a:t>
            </a:r>
            <a:endParaRPr lang="zh-CN" altLang="en-US" dirty="0"/>
          </a:p>
        </p:txBody>
      </p:sp>
      <p:sp>
        <p:nvSpPr>
          <p:cNvPr id="8" name="文本占位符 13"/>
          <p:cNvSpPr>
            <a:spLocks noGrp="1"/>
          </p:cNvSpPr>
          <p:nvPr>
            <p:ph type="body" sz="quarter" idx="12" hasCustomPrompt="1"/>
          </p:nvPr>
        </p:nvSpPr>
        <p:spPr>
          <a:xfrm>
            <a:off x="1851024" y="4572592"/>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Signature</a:t>
            </a:r>
          </a:p>
        </p:txBody>
      </p:sp>
      <p:sp>
        <p:nvSpPr>
          <p:cNvPr id="9" name="文本占位符 13"/>
          <p:cNvSpPr>
            <a:spLocks noGrp="1"/>
          </p:cNvSpPr>
          <p:nvPr>
            <p:ph type="body" sz="quarter" idx="13" hasCustomPrompt="1"/>
          </p:nvPr>
        </p:nvSpPr>
        <p:spPr>
          <a:xfrm>
            <a:off x="1851024" y="4868863"/>
            <a:ext cx="7855511" cy="296271"/>
          </a:xfrm>
          <a:prstGeom prst="rect">
            <a:avLst/>
          </a:prstGeom>
        </p:spPr>
        <p:txBody>
          <a:bodyPr vert="horz" anchor="ctr">
            <a:noAutofit/>
          </a:bodyPr>
          <a:lstStyle>
            <a:lvl1pPr marL="0" indent="0" algn="l">
              <a:buNone/>
              <a:defRPr sz="15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a:t>Date</a:t>
            </a:r>
            <a:endParaRPr lang="zh-CN" alt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2025/3/6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2.bin"/><Relationship Id="rId13" Type="http://schemas.openxmlformats.org/officeDocument/2006/relationships/image" Target="../media/image10.wmf"/><Relationship Id="rId18" Type="http://schemas.openxmlformats.org/officeDocument/2006/relationships/oleObject" Target="../embeddings/oleObject7.bin"/><Relationship Id="rId3" Type="http://schemas.openxmlformats.org/officeDocument/2006/relationships/notesSlide" Target="../notesSlides/notesSlide13.xml"/><Relationship Id="rId21" Type="http://schemas.openxmlformats.org/officeDocument/2006/relationships/image" Target="../media/image14.wmf"/><Relationship Id="rId7" Type="http://schemas.openxmlformats.org/officeDocument/2006/relationships/image" Target="../media/image7.wmf"/><Relationship Id="rId12" Type="http://schemas.openxmlformats.org/officeDocument/2006/relationships/oleObject" Target="../embeddings/oleObject4.bin"/><Relationship Id="rId17" Type="http://schemas.openxmlformats.org/officeDocument/2006/relationships/image" Target="../media/image12.wmf"/><Relationship Id="rId2" Type="http://schemas.openxmlformats.org/officeDocument/2006/relationships/slideLayout" Target="../slideLayouts/slideLayout2.xml"/><Relationship Id="rId16" Type="http://schemas.openxmlformats.org/officeDocument/2006/relationships/oleObject" Target="../embeddings/oleObject6.bin"/><Relationship Id="rId20" Type="http://schemas.openxmlformats.org/officeDocument/2006/relationships/oleObject" Target="../embeddings/oleObject8.bin"/><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9.wmf"/><Relationship Id="rId5" Type="http://schemas.openxmlformats.org/officeDocument/2006/relationships/image" Target="../media/image3.png"/><Relationship Id="rId15" Type="http://schemas.openxmlformats.org/officeDocument/2006/relationships/image" Target="../media/image11.wmf"/><Relationship Id="rId10" Type="http://schemas.openxmlformats.org/officeDocument/2006/relationships/oleObject" Target="../embeddings/oleObject3.bin"/><Relationship Id="rId19" Type="http://schemas.openxmlformats.org/officeDocument/2006/relationships/image" Target="../media/image13.wmf"/><Relationship Id="rId4" Type="http://schemas.openxmlformats.org/officeDocument/2006/relationships/image" Target="../media/image2.png"/><Relationship Id="rId9" Type="http://schemas.openxmlformats.org/officeDocument/2006/relationships/image" Target="../media/image8.wmf"/><Relationship Id="rId14" Type="http://schemas.openxmlformats.org/officeDocument/2006/relationships/oleObject" Target="../embeddings/oleObject5.bin"/><Relationship Id="rId22"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image" Target="../media/image4.emf"/><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8" Type="http://schemas.openxmlformats.org/officeDocument/2006/relationships/package" Target="../embeddings/Microsoft_Visio_Drawing.vsdx"/><Relationship Id="rId3" Type="http://schemas.openxmlformats.org/officeDocument/2006/relationships/notesSlide" Target="../notesSlides/notesSlide31.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6.emf"/></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notesSlide" Target="../notesSlides/notesSlide38.xml"/><Relationship Id="rId7" Type="http://schemas.openxmlformats.org/officeDocument/2006/relationships/package" Target="../embeddings/Microsoft_Visio_Drawing1.vsdx"/><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notesSlide" Target="../notesSlides/notesSlide46.xml"/><Relationship Id="rId7" Type="http://schemas.openxmlformats.org/officeDocument/2006/relationships/package" Target="../embeddings/Microsoft_Visio_Drawing2.vsdx"/><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4.emf"/><Relationship Id="rId5" Type="http://schemas.openxmlformats.org/officeDocument/2006/relationships/image" Target="../media/image3.png"/><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3" cstate="print">
            <a:extLst>
              <a:ext uri="{28A0092B-C50C-407E-A947-70E740481C1C}">
                <a14:useLocalDpi xmlns:a14="http://schemas.microsoft.com/office/drawing/2010/main" val="0"/>
              </a:ext>
            </a:extLst>
          </a:blip>
          <a:srcRect t="5418" b="-5557"/>
          <a:stretch>
            <a:fillRect/>
          </a:stretch>
        </p:blipFill>
        <p:spPr>
          <a:xfrm>
            <a:off x="0" y="0"/>
            <a:ext cx="12192000" cy="5105399"/>
          </a:xfrm>
          <a:prstGeom prst="rect">
            <a:avLst/>
          </a:prstGeom>
        </p:spPr>
      </p:pic>
      <p:sp>
        <p:nvSpPr>
          <p:cNvPr id="15" name="文本占位符 14"/>
          <p:cNvSpPr>
            <a:spLocks noGrp="1"/>
          </p:cNvSpPr>
          <p:nvPr>
            <p:ph type="body" sz="quarter" idx="11"/>
          </p:nvPr>
        </p:nvSpPr>
        <p:spPr>
          <a:xfrm>
            <a:off x="0" y="4379558"/>
            <a:ext cx="12192000" cy="1191229"/>
          </a:xfrm>
          <a:solidFill>
            <a:srgbClr val="002060"/>
          </a:solidFill>
        </p:spPr>
        <p:txBody>
          <a:bodyPr/>
          <a:lstStyle/>
          <a:p>
            <a:endParaRPr lang="zh-CN" altLang="en-US" dirty="0">
              <a:solidFill>
                <a:srgbClr val="0070C0">
                  <a:alpha val="0"/>
                </a:srgbClr>
              </a:solidFill>
            </a:endParaRPr>
          </a:p>
        </p:txBody>
      </p:sp>
      <p:sp>
        <p:nvSpPr>
          <p:cNvPr id="21" name="标题 3"/>
          <p:cNvSpPr>
            <a:spLocks noGrp="1"/>
          </p:cNvSpPr>
          <p:nvPr>
            <p:ph type="ctrTitle"/>
          </p:nvPr>
        </p:nvSpPr>
        <p:spPr>
          <a:xfrm>
            <a:off x="357735" y="4571653"/>
            <a:ext cx="9428522" cy="949255"/>
          </a:xfrm>
        </p:spPr>
        <p:txBody>
          <a:bodyPr>
            <a:noAutofit/>
          </a:bodyPr>
          <a:lstStyle/>
          <a:p>
            <a:br>
              <a:rPr lang="en-US" altLang="zh-CN" b="1" dirty="0">
                <a:solidFill>
                  <a:schemeClr val="bg1"/>
                </a:solidFill>
                <a:effectLst>
                  <a:outerShdw blurRad="38100" dist="38100" dir="2700000" algn="tl">
                    <a:srgbClr val="000000">
                      <a:alpha val="43137"/>
                    </a:srgbClr>
                  </a:outerShdw>
                </a:effectLst>
              </a:rPr>
            </a:br>
            <a:r>
              <a:rPr lang="en-US" altLang="zh-CN" b="1" dirty="0">
                <a:solidFill>
                  <a:schemeClr val="bg1"/>
                </a:solidFill>
              </a:rPr>
              <a:t>Discrete Mathematics</a:t>
            </a:r>
            <a:r>
              <a:rPr lang="zh-CN" altLang="en-US" b="1" dirty="0">
                <a:solidFill>
                  <a:schemeClr val="bg1"/>
                </a:solidFill>
              </a:rPr>
              <a:t>（</a:t>
            </a:r>
            <a:r>
              <a:rPr lang="en-US" altLang="zh-CN" b="1" dirty="0">
                <a:solidFill>
                  <a:schemeClr val="bg1"/>
                </a:solidFill>
              </a:rPr>
              <a:t>011122</a:t>
            </a:r>
            <a:r>
              <a:rPr lang="zh-CN" altLang="en-US" b="1" dirty="0">
                <a:solidFill>
                  <a:schemeClr val="bg1"/>
                </a:solidFill>
              </a:rPr>
              <a:t>）</a:t>
            </a:r>
            <a:br>
              <a:rPr lang="en-US" altLang="zh-CN" b="1" dirty="0">
                <a:solidFill>
                  <a:schemeClr val="bg1"/>
                </a:solidFill>
                <a:effectLst>
                  <a:outerShdw blurRad="38100" dist="38100" dir="2700000" algn="tl">
                    <a:srgbClr val="000000">
                      <a:alpha val="43137"/>
                    </a:srgbClr>
                  </a:outerShdw>
                </a:effectLst>
              </a:rPr>
            </a:br>
            <a:endParaRPr lang="en-US" altLang="zh-CN" b="1" dirty="0">
              <a:solidFill>
                <a:schemeClr val="bg1"/>
              </a:solidFill>
              <a:effectLst>
                <a:outerShdw blurRad="38100" dist="38100" dir="2700000" algn="tl">
                  <a:srgbClr val="000000">
                    <a:alpha val="43137"/>
                  </a:srgbClr>
                </a:outerShdw>
              </a:effectLst>
            </a:endParaRPr>
          </a:p>
        </p:txBody>
      </p:sp>
      <p:sp>
        <p:nvSpPr>
          <p:cNvPr id="6" name="文本框 5"/>
          <p:cNvSpPr txBox="1"/>
          <p:nvPr/>
        </p:nvSpPr>
        <p:spPr>
          <a:xfrm>
            <a:off x="806259" y="6001304"/>
            <a:ext cx="7262777" cy="929485"/>
          </a:xfrm>
          <a:prstGeom prst="rect">
            <a:avLst/>
          </a:prstGeom>
          <a:noFill/>
        </p:spPr>
        <p:txBody>
          <a:bodyPr wrap="square" rtlCol="0">
            <a:spAutoFit/>
          </a:bodyPr>
          <a:lstStyle/>
          <a:p>
            <a:pPr algn="ctr" fontAlgn="base">
              <a:spcBef>
                <a:spcPct val="10000"/>
              </a:spcBef>
              <a:spcAft>
                <a:spcPct val="0"/>
              </a:spcAft>
              <a:buClr>
                <a:srgbClr val="39BBF0"/>
              </a:buClr>
              <a:buSzPct val="60000"/>
            </a:pPr>
            <a:r>
              <a:rPr kumimoji="1" lang="zh-CN" altLang="en-US" sz="2800" dirty="0">
                <a:latin typeface="宋体" panose="02010600030101010101" pitchFamily="2" charset="-122"/>
                <a:ea typeface="宋体" panose="02010600030101010101" pitchFamily="2" charset="-122"/>
              </a:rPr>
              <a:t>魏可佶</a:t>
            </a:r>
            <a:r>
              <a:rPr kumimoji="1" lang="zh-CN" altLang="en-US" sz="2400" dirty="0">
                <a:latin typeface="宋体" panose="02010600030101010101" pitchFamily="2" charset="-122"/>
                <a:ea typeface="宋体" panose="02010600030101010101" pitchFamily="2" charset="-122"/>
              </a:rPr>
              <a:t> </a:t>
            </a:r>
            <a:r>
              <a:rPr kumimoji="1" lang="zh-CN" altLang="en-US" sz="2400" dirty="0">
                <a:latin typeface="微软雅黑" pitchFamily="34" charset="-122"/>
                <a:ea typeface="微软雅黑" pitchFamily="34" charset="-122"/>
              </a:rPr>
              <a:t>    </a:t>
            </a:r>
            <a:r>
              <a:rPr lang="en-US" altLang="zh-CN" sz="2800" b="1" dirty="0">
                <a:latin typeface="+mj-lt"/>
                <a:cs typeface="Times New Roman" panose="02020603050405020304" pitchFamily="18" charset="0"/>
              </a:rPr>
              <a:t>kejiwei@tongji.edu.cn</a:t>
            </a:r>
            <a:endParaRPr lang="en-US" altLang="zh-CN" sz="2800" b="1" dirty="0">
              <a:latin typeface="+mj-lt"/>
              <a:ea typeface="微软雅黑" pitchFamily="34" charset="-122"/>
              <a:cs typeface="Times New Roman" panose="02020603050405020304" pitchFamily="18" charset="0"/>
            </a:endParaRPr>
          </a:p>
          <a:p>
            <a:pPr algn="ctr" eaLnBrk="1" fontAlgn="base" hangingPunct="1">
              <a:lnSpc>
                <a:spcPct val="100000"/>
              </a:lnSpc>
              <a:spcBef>
                <a:spcPct val="10000"/>
              </a:spcBef>
              <a:spcAft>
                <a:spcPct val="0"/>
              </a:spcAft>
              <a:buClr>
                <a:srgbClr val="39BBF0"/>
              </a:buClr>
              <a:buSzPct val="60000"/>
              <a:buFont typeface="Wingdings" pitchFamily="2" charset="2"/>
              <a:buNone/>
            </a:pPr>
            <a:endParaRPr lang="en-US" altLang="zh-CN" sz="2400" i="1" dirty="0">
              <a:solidFill>
                <a:schemeClr val="tx2"/>
              </a:solidFill>
              <a:latin typeface="微软雅黑" pitchFamily="34" charset="-122"/>
              <a:ea typeface="微软雅黑" pitchFamily="34" charset="-122"/>
            </a:endParaRPr>
          </a:p>
        </p:txBody>
      </p:sp>
      <p:pic>
        <p:nvPicPr>
          <p:cNvPr id="13"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960847" y="4691952"/>
            <a:ext cx="1696528" cy="566440"/>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4" name="副标题 3">
            <a:extLst>
              <a:ext uri="{FF2B5EF4-FFF2-40B4-BE49-F238E27FC236}">
                <a16:creationId xmlns:a16="http://schemas.microsoft.com/office/drawing/2014/main" id="{D2A0B39C-8613-4030-87EF-51EC2180FC75}"/>
              </a:ext>
            </a:extLst>
          </p:cNvPr>
          <p:cNvSpPr>
            <a:spLocks noGrp="1"/>
          </p:cNvSpPr>
          <p:nvPr>
            <p:ph type="subTitle" idx="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cs typeface="Times New Roman" panose="02020603050405020304" pitchFamily="18" charset="0"/>
              </a:rPr>
              <a:t>                  </a:t>
            </a:r>
            <a:r>
              <a:rPr lang="en-US" altLang="zh-CN" sz="2400" b="1" dirty="0">
                <a:latin typeface="+mj-lt"/>
                <a:cs typeface="Times New Roman" panose="02020603050405020304" pitchFamily="18" charset="0"/>
              </a:rPr>
              <a:t>Chapter 1: Set Theory and Proof Methods</a:t>
            </a:r>
            <a:endParaRPr lang="zh-CN" altLang="en-US" sz="2400" b="1" dirty="0">
              <a:solidFill>
                <a:srgbClr val="3D557A"/>
              </a:solidFill>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9" name="Rectangle 3">
            <a:extLst>
              <a:ext uri="{FF2B5EF4-FFF2-40B4-BE49-F238E27FC236}">
                <a16:creationId xmlns:a16="http://schemas.microsoft.com/office/drawing/2014/main" id="{C7FE539D-A089-4EB0-B2B3-8401B3A4FF70}"/>
              </a:ext>
            </a:extLst>
          </p:cNvPr>
          <p:cNvSpPr txBox="1">
            <a:spLocks noChangeArrowheads="1"/>
          </p:cNvSpPr>
          <p:nvPr/>
        </p:nvSpPr>
        <p:spPr>
          <a:xfrm>
            <a:off x="1004110" y="1223711"/>
            <a:ext cx="7620000" cy="4800962"/>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663575">
              <a:lnSpc>
                <a:spcPct val="130000"/>
              </a:lnSpc>
              <a:spcBef>
                <a:spcPct val="0"/>
              </a:spcBef>
              <a:buNone/>
            </a:pPr>
            <a:r>
              <a:rPr lang="en-US" altLang="zh-CN" dirty="0"/>
              <a:t>1.1 List of Symbols</a:t>
            </a:r>
          </a:p>
          <a:p>
            <a:pPr indent="663575">
              <a:lnSpc>
                <a:spcPct val="130000"/>
              </a:lnSpc>
              <a:spcBef>
                <a:spcPct val="0"/>
              </a:spcBef>
              <a:buNone/>
            </a:pPr>
            <a:r>
              <a:rPr lang="en-US" altLang="zh-CN" dirty="0"/>
              <a:t>1.2 Sets and Operations</a:t>
            </a:r>
            <a:br>
              <a:rPr lang="en-US" altLang="zh-CN" dirty="0"/>
            </a:br>
            <a:r>
              <a:rPr lang="en-US" altLang="zh-CN" dirty="0"/>
              <a:t>	1.3 Overview of Proof Methods</a:t>
            </a:r>
            <a:br>
              <a:rPr lang="en-US" altLang="zh-CN" dirty="0"/>
            </a:br>
            <a:r>
              <a:rPr lang="en-US" altLang="zh-CN" dirty="0"/>
              <a:t>	1.4 Recursive Definitions</a:t>
            </a:r>
            <a:endParaRPr lang="zh-CN" altLang="en-US" b="1"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400" b="1" dirty="0">
                <a:latin typeface="+mj-lt"/>
                <a:cs typeface="Times New Roman" panose="02020603050405020304" pitchFamily="18" charset="0"/>
              </a:rPr>
              <a:t>               1.</a:t>
            </a:r>
            <a:r>
              <a:rPr lang="en-US" altLang="zh-CN" sz="2400" b="1" dirty="0">
                <a:latin typeface="+mj-lt"/>
                <a:cs typeface="Times New Roman" panose="02020603050405020304" pitchFamily="18" charset="0"/>
              </a:rPr>
              <a:t>2</a:t>
            </a:r>
            <a:r>
              <a:rPr lang="zh-CN" altLang="en-US" sz="2400" b="1" dirty="0">
                <a:latin typeface="+mj-lt"/>
                <a:cs typeface="Times New Roman" panose="02020603050405020304" pitchFamily="18" charset="0"/>
              </a:rPr>
              <a:t> </a:t>
            </a:r>
            <a:r>
              <a:rPr lang="en-US" altLang="zh-CN" sz="2400" b="1" dirty="0">
                <a:latin typeface="+mj-lt"/>
              </a:rPr>
              <a:t>Sets and Operations</a:t>
            </a:r>
            <a:endParaRPr lang="zh-CN" altLang="en-US" sz="2400" b="1" dirty="0">
              <a:solidFill>
                <a:srgbClr val="3D557A"/>
              </a:solidFill>
              <a:latin typeface="+mj-lt"/>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4">
            <a:extLst>
              <a:ext uri="{FF2B5EF4-FFF2-40B4-BE49-F238E27FC236}">
                <a16:creationId xmlns:a16="http://schemas.microsoft.com/office/drawing/2014/main" id="{4BE2A573-DD2F-4A12-A04A-4912D0327C8D}"/>
              </a:ext>
            </a:extLst>
          </p:cNvPr>
          <p:cNvSpPr>
            <a:spLocks noChangeArrowheads="1"/>
          </p:cNvSpPr>
          <p:nvPr/>
        </p:nvSpPr>
        <p:spPr bwMode="auto">
          <a:xfrm>
            <a:off x="1651482" y="977459"/>
            <a:ext cx="8889036" cy="4467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rPr>
              <a:t>Set definition and its notation</a:t>
            </a:r>
            <a:endParaRPr kumimoji="0" lang="zh-CN" altLang="zh-CN"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rPr>
              <a:t>Subset and equality of sets</a:t>
            </a:r>
            <a:endParaRPr kumimoji="0" lang="zh-CN" altLang="zh-CN"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rPr>
              <a:t>Empty set and universal set</a:t>
            </a:r>
            <a:endParaRPr kumimoji="0" lang="zh-CN" altLang="zh-CN"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rPr>
              <a:t>Set operations (Intersection </a:t>
            </a:r>
            <a:r>
              <a:rPr kumimoji="0" lang="zh-CN" altLang="zh-CN" sz="2400" b="1" i="0" u="none" strike="noStrike" cap="none" normalizeH="0" baseline="0" dirty="0">
                <a:ln>
                  <a:noFill/>
                </a:ln>
                <a:solidFill>
                  <a:srgbClr val="0B61FF"/>
                </a:solidFill>
                <a:effectLst/>
                <a:latin typeface="Cambria Math" panose="02040503050406030204" pitchFamily="18" charset="0"/>
              </a:rPr>
              <a:t>∩</a:t>
            </a:r>
            <a:r>
              <a:rPr kumimoji="0" lang="zh-CN" altLang="zh-CN" sz="2400" b="1" i="0" u="none" strike="noStrike" cap="none" normalizeH="0" baseline="0" dirty="0">
                <a:ln>
                  <a:noFill/>
                </a:ln>
                <a:solidFill>
                  <a:schemeClr val="tx1"/>
                </a:solidFill>
                <a:effectLst/>
              </a:rPr>
              <a:t>, Union </a:t>
            </a:r>
            <a:r>
              <a:rPr lang="zh-CN" altLang="zh-CN" sz="2400" b="1" dirty="0">
                <a:solidFill>
                  <a:srgbClr val="0B61FF"/>
                </a:solidFill>
                <a:latin typeface="Cambria Math" panose="02040503050406030204" pitchFamily="18" charset="0"/>
              </a:rPr>
              <a:t>∪</a:t>
            </a:r>
            <a:r>
              <a:rPr kumimoji="0" lang="zh-CN" altLang="zh-CN" sz="2400" b="1" i="0" u="none" strike="noStrike" cap="none" normalizeH="0" baseline="0" dirty="0">
                <a:ln>
                  <a:noFill/>
                </a:ln>
                <a:solidFill>
                  <a:schemeClr val="tx1"/>
                </a:solidFill>
                <a:effectLst/>
              </a:rPr>
              <a:t>, Relative complement </a:t>
            </a:r>
            <a:r>
              <a:rPr lang="zh-CN" altLang="zh-CN" sz="2400" b="1" dirty="0">
                <a:solidFill>
                  <a:srgbClr val="0B61FF"/>
                </a:solidFill>
                <a:latin typeface="Cambria Math" panose="02040503050406030204" pitchFamily="18" charset="0"/>
              </a:rPr>
              <a:t>−</a:t>
            </a:r>
            <a:r>
              <a:rPr kumimoji="0" lang="zh-CN" altLang="zh-CN" sz="2400" b="1" i="0" u="none" strike="noStrike" cap="none" normalizeH="0" baseline="0" dirty="0">
                <a:ln>
                  <a:noFill/>
                </a:ln>
                <a:solidFill>
                  <a:schemeClr val="tx1"/>
                </a:solidFill>
                <a:effectLst/>
              </a:rPr>
              <a:t>, </a:t>
            </a:r>
            <a:endParaRPr kumimoji="0" lang="en-US" altLang="zh-CN" sz="2400" b="1"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rPr>
              <a:t>Symmetric difference </a:t>
            </a:r>
            <a:r>
              <a:rPr lang="zh-CN" altLang="zh-CN" sz="2400" b="1" dirty="0">
                <a:solidFill>
                  <a:srgbClr val="0B61FF"/>
                </a:solidFill>
                <a:latin typeface="Cambria Math" panose="02040503050406030204" pitchFamily="18" charset="0"/>
              </a:rPr>
              <a:t>⊕</a:t>
            </a:r>
            <a:r>
              <a:rPr kumimoji="0" lang="zh-CN" altLang="zh-CN" sz="2400" b="1" i="0" u="none" strike="noStrike" cap="none" normalizeH="0" baseline="0" dirty="0">
                <a:ln>
                  <a:noFill/>
                </a:ln>
                <a:solidFill>
                  <a:schemeClr val="tx1"/>
                </a:solidFill>
                <a:effectLst/>
              </a:rPr>
              <a:t>, Absolute complement </a:t>
            </a:r>
            <a:r>
              <a:rPr lang="zh-CN" altLang="zh-CN" sz="2400" b="1" dirty="0">
                <a:solidFill>
                  <a:srgbClr val="0B61FF"/>
                </a:solidFill>
                <a:latin typeface="Cambria Math" panose="02040503050406030204" pitchFamily="18" charset="0"/>
              </a:rPr>
              <a:t>~</a:t>
            </a:r>
            <a:r>
              <a:rPr kumimoji="0" lang="zh-CN" altLang="zh-CN" sz="2400" b="1" i="0" u="none" strike="noStrike" cap="none" normalizeH="0" baseline="0" dirty="0">
                <a:ln>
                  <a:noFill/>
                </a:ln>
                <a:solidFill>
                  <a:schemeClr val="tx1"/>
                </a:solidFill>
                <a:effectLst/>
              </a:rPr>
              <a:t>)</a:t>
            </a:r>
            <a:endParaRPr kumimoji="0" lang="zh-CN" altLang="zh-CN"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rPr>
              <a:t>Venn diagram representation of set operations</a:t>
            </a:r>
            <a:endParaRPr kumimoji="0" lang="zh-CN" altLang="zh-CN"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rPr>
              <a:t>Basic identities of set operations</a:t>
            </a:r>
            <a:endParaRPr kumimoji="0" lang="zh-CN" altLang="zh-CN" sz="24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
                <a:srgbClr val="0B61FF"/>
              </a:buClr>
              <a:buSzPct val="80000"/>
              <a:buFont typeface="Wingdings" panose="05000000000000000000" pitchFamily="2" charset="2"/>
              <a:buChar char="n"/>
              <a:tabLst/>
            </a:pPr>
            <a:r>
              <a:rPr kumimoji="0" lang="zh-CN" altLang="zh-CN" sz="2400" b="1" i="0" u="none" strike="noStrike" cap="none" normalizeH="0" baseline="0" dirty="0">
                <a:ln>
                  <a:noFill/>
                </a:ln>
                <a:solidFill>
                  <a:schemeClr val="tx1"/>
                </a:solidFill>
                <a:effectLst/>
              </a:rPr>
              <a:t>Proof of partial identities</a:t>
            </a:r>
            <a:r>
              <a:rPr kumimoji="0" lang="zh-CN" altLang="zh-CN" sz="2400"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39739431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400" b="1" dirty="0">
                <a:latin typeface="+mj-lt"/>
                <a:cs typeface="Times New Roman" panose="02020603050405020304" pitchFamily="18" charset="0"/>
              </a:rPr>
              <a:t>               </a:t>
            </a:r>
            <a:r>
              <a:rPr lang="zh-CN" altLang="en-US" sz="2000" b="1" dirty="0">
                <a:latin typeface="+mj-lt"/>
                <a:cs typeface="Times New Roman" panose="02020603050405020304" pitchFamily="18" charset="0"/>
              </a:rPr>
              <a:t>1.</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dirty="0">
                <a:latin typeface="+mj-lt"/>
              </a:rPr>
              <a:t>Sets and Operations</a:t>
            </a:r>
            <a:endParaRPr lang="en-US" altLang="zh-CN" sz="2000" b="1" dirty="0">
              <a:effectLst/>
              <a:latin typeface="+mj-lt"/>
              <a:ea typeface="宋体" panose="02010600030101010101" pitchFamily="2" charset="-122"/>
              <a:cs typeface="Times New Roman" panose="02020603050405020304" pitchFamily="18" charset="0"/>
            </a:endParaRPr>
          </a:p>
          <a:p>
            <a:r>
              <a:rPr lang="en-US" altLang="zh-CN" sz="2400" b="1" dirty="0">
                <a:latin typeface="+mj-lt"/>
                <a:ea typeface="宋体" panose="02010600030101010101" pitchFamily="2" charset="-122"/>
                <a:cs typeface="Times New Roman" panose="02020603050405020304" pitchFamily="18" charset="0"/>
              </a:rPr>
              <a:t>                   </a:t>
            </a:r>
            <a:r>
              <a:rPr lang="zh-CN" altLang="en-US" sz="24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latin typeface="+mj-lt"/>
              </a:rPr>
              <a:t>Set Definition</a:t>
            </a:r>
            <a:endParaRPr lang="zh-CN" altLang="en-US" sz="2400" b="1" dirty="0">
              <a:solidFill>
                <a:srgbClr val="3D557A"/>
              </a:solidFill>
              <a:latin typeface="+mj-lt"/>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Rectangle 4">
            <a:extLst>
              <a:ext uri="{FF2B5EF4-FFF2-40B4-BE49-F238E27FC236}">
                <a16:creationId xmlns:a16="http://schemas.microsoft.com/office/drawing/2014/main" id="{4BE2A573-DD2F-4A12-A04A-4912D0327C8D}"/>
              </a:ext>
            </a:extLst>
          </p:cNvPr>
          <p:cNvSpPr>
            <a:spLocks noChangeArrowheads="1"/>
          </p:cNvSpPr>
          <p:nvPr/>
        </p:nvSpPr>
        <p:spPr bwMode="auto">
          <a:xfrm>
            <a:off x="642332" y="703332"/>
            <a:ext cx="11054082" cy="5342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indent="266700" algn="l">
              <a:lnSpc>
                <a:spcPct val="110000"/>
              </a:lnSpc>
            </a:pPr>
            <a:r>
              <a:rPr lang="en-US" altLang="zh-CN" sz="2400" b="1" kern="0" dirty="0">
                <a:effectLst/>
                <a:ea typeface="宋体" panose="02010600030101010101" pitchFamily="2" charset="-122"/>
                <a:cs typeface="宋体" panose="02010600030101010101" pitchFamily="2" charset="-122"/>
              </a:rPr>
              <a:t>Set Definition</a:t>
            </a:r>
            <a:endParaRPr lang="zh-CN" altLang="zh-CN" sz="2400" kern="100" dirty="0">
              <a:effectLst/>
              <a:ea typeface="宋体" panose="02010600030101010101" pitchFamily="2" charset="-122"/>
              <a:cs typeface="Times New Roman" panose="02020603050405020304" pitchFamily="18" charset="0"/>
            </a:endParaRPr>
          </a:p>
          <a:p>
            <a:pPr marL="182563" lvl="0" indent="-182563" algn="l">
              <a:lnSpc>
                <a:spcPct val="120000"/>
              </a:lnSpc>
              <a:buClr>
                <a:srgbClr val="0B61FF"/>
              </a:buClr>
              <a:buSzPct val="80000"/>
              <a:buFont typeface="Wingdings" panose="05000000000000000000" pitchFamily="2" charset="2"/>
              <a:buChar char="n"/>
              <a:tabLst>
                <a:tab pos="457200" algn="l"/>
              </a:tabLst>
            </a:pPr>
            <a:r>
              <a:rPr lang="en-US" altLang="zh-CN" sz="2400" b="1" kern="0" dirty="0">
                <a:effectLst/>
                <a:ea typeface="宋体" panose="02010600030101010101" pitchFamily="2" charset="-122"/>
                <a:cs typeface="宋体" panose="02010600030101010101" pitchFamily="2" charset="-122"/>
              </a:rPr>
              <a:t>Cantor and Russell's discussions:</a:t>
            </a:r>
            <a:endParaRPr lang="zh-CN" altLang="zh-CN" sz="2400" b="1" kern="100" dirty="0">
              <a:effectLst/>
              <a:ea typeface="宋体" panose="02010600030101010101" pitchFamily="2" charset="-122"/>
              <a:cs typeface="Times New Roman" panose="02020603050405020304" pitchFamily="18" charset="0"/>
            </a:endParaRPr>
          </a:p>
          <a:p>
            <a:pPr marL="800100" lvl="1" indent="-342900" algn="l">
              <a:lnSpc>
                <a:spcPct val="120000"/>
              </a:lnSpc>
              <a:buClr>
                <a:srgbClr val="0B61FF"/>
              </a:buClr>
              <a:buSzPct val="120000"/>
              <a:buFont typeface="Arial" panose="020B0604020202020204" pitchFamily="34" charset="0"/>
              <a:buChar char="•"/>
              <a:tabLst>
                <a:tab pos="914400" algn="l"/>
              </a:tabLst>
            </a:pPr>
            <a:r>
              <a:rPr lang="en-US" altLang="zh-CN" sz="2400" kern="0" dirty="0">
                <a:effectLst/>
                <a:ea typeface="宋体" panose="02010600030101010101" pitchFamily="2" charset="-122"/>
                <a:cs typeface="宋体" panose="02010600030101010101" pitchFamily="2" charset="-122"/>
              </a:rPr>
              <a:t>A set is one of the most fundamental concepts in mathematics, with no rigid definition. It is understood as a </a:t>
            </a:r>
            <a:r>
              <a:rPr lang="en-US" altLang="zh-CN" sz="2400" b="1" kern="0" dirty="0">
                <a:effectLst/>
                <a:ea typeface="宋体" panose="02010600030101010101" pitchFamily="2" charset="-122"/>
                <a:cs typeface="宋体" panose="02010600030101010101" pitchFamily="2" charset="-122"/>
              </a:rPr>
              <a:t>collection of elements</a:t>
            </a:r>
            <a:r>
              <a:rPr lang="en-US" altLang="zh-CN" sz="2400" kern="0" dirty="0">
                <a:effectLst/>
                <a:ea typeface="宋体" panose="02010600030101010101" pitchFamily="2" charset="-122"/>
                <a:cs typeface="宋体" panose="02010600030101010101" pitchFamily="2" charset="-122"/>
              </a:rPr>
              <a:t>, often denoted by A, B, etc.</a:t>
            </a:r>
            <a:endParaRPr lang="zh-CN" altLang="zh-CN" sz="2400" kern="100" dirty="0">
              <a:effectLst/>
              <a:ea typeface="宋体" panose="02010600030101010101" pitchFamily="2" charset="-122"/>
              <a:cs typeface="Times New Roman" panose="02020603050405020304" pitchFamily="18" charset="0"/>
            </a:endParaRPr>
          </a:p>
          <a:p>
            <a:pPr marL="182563" indent="-182563">
              <a:lnSpc>
                <a:spcPct val="120000"/>
              </a:lnSpc>
              <a:buClr>
                <a:srgbClr val="0B61FF"/>
              </a:buClr>
              <a:buSzPct val="80000"/>
              <a:buFont typeface="Wingdings" panose="05000000000000000000" pitchFamily="2" charset="2"/>
              <a:buChar char="n"/>
              <a:tabLst>
                <a:tab pos="457200" algn="l"/>
              </a:tabLst>
            </a:pPr>
            <a:r>
              <a:rPr lang="en-US" altLang="zh-CN" sz="2400" b="1" kern="0" dirty="0">
                <a:ea typeface="宋体" panose="02010600030101010101" pitchFamily="2" charset="-122"/>
              </a:rPr>
              <a:t>Element: </a:t>
            </a:r>
            <a:r>
              <a:rPr lang="en-US" altLang="zh-CN" sz="2400" kern="0" dirty="0">
                <a:effectLst/>
                <a:ea typeface="宋体" panose="02010600030101010101" pitchFamily="2" charset="-122"/>
                <a:cs typeface="宋体" panose="02010600030101010101" pitchFamily="2" charset="-122"/>
              </a:rPr>
              <a:t>The individual components of a set.</a:t>
            </a:r>
            <a:endParaRPr lang="zh-CN" altLang="zh-CN" sz="2400" kern="100" dirty="0">
              <a:effectLst/>
              <a:ea typeface="宋体" panose="02010600030101010101" pitchFamily="2" charset="-122"/>
              <a:cs typeface="Times New Roman" panose="02020603050405020304" pitchFamily="18" charset="0"/>
            </a:endParaRPr>
          </a:p>
          <a:p>
            <a:pPr marL="800100" lvl="1" indent="-342900" algn="l">
              <a:lnSpc>
                <a:spcPct val="120000"/>
              </a:lnSpc>
              <a:buClr>
                <a:srgbClr val="0B61FF"/>
              </a:buClr>
              <a:buSzPct val="120000"/>
              <a:buFont typeface="Arial" panose="020B0604020202020204" pitchFamily="34" charset="0"/>
              <a:buChar char="•"/>
              <a:tabLst>
                <a:tab pos="914400" algn="l"/>
              </a:tabLst>
            </a:pPr>
            <a:r>
              <a:rPr lang="en-US" altLang="zh-CN" sz="2400" i="1" kern="0" dirty="0">
                <a:effectLst/>
                <a:latin typeface="Times New Roman" panose="02020603050405020304" pitchFamily="18" charset="0"/>
                <a:ea typeface="宋体" panose="02010600030101010101" pitchFamily="2" charset="-122"/>
                <a:cs typeface="Times New Roman" panose="02020603050405020304" pitchFamily="18" charset="0"/>
              </a:rPr>
              <a:t>x </a:t>
            </a:r>
            <a:r>
              <a:rPr lang="en-US" altLang="zh-CN" sz="2400" b="1" dirty="0">
                <a:solidFill>
                  <a:srgbClr val="0B61FF"/>
                </a:solidFill>
                <a:latin typeface="Cambria Math" panose="02040503050406030204" pitchFamily="18" charset="0"/>
              </a:rPr>
              <a:t>∈</a:t>
            </a:r>
            <a:r>
              <a:rPr lang="en-US" altLang="zh-CN" sz="2400" kern="0" dirty="0">
                <a:effectLst/>
                <a:latin typeface="Cambria Math" panose="02040503050406030204" pitchFamily="18" charset="0"/>
                <a:ea typeface="Cambria Math" panose="02040503050406030204" pitchFamily="18" charset="0"/>
                <a:cs typeface="宋体" panose="02010600030101010101" pitchFamily="2" charset="-122"/>
              </a:rPr>
              <a:t> </a:t>
            </a:r>
            <a:r>
              <a:rPr lang="en-US" altLang="zh-CN" sz="2400" i="1" kern="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2400" kern="0" dirty="0">
                <a:effectLst/>
                <a:ea typeface="宋体" panose="02010600030101010101" pitchFamily="2" charset="-122"/>
                <a:cs typeface="宋体" panose="02010600030101010101" pitchFamily="2" charset="-122"/>
              </a:rPr>
              <a:t> (</a:t>
            </a:r>
            <a:r>
              <a:rPr lang="en-US" altLang="zh-CN" sz="2400" i="1" kern="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2400" kern="0" dirty="0">
                <a:effectLst/>
                <a:ea typeface="宋体" panose="02010600030101010101" pitchFamily="2" charset="-122"/>
                <a:cs typeface="宋体" panose="02010600030101010101" pitchFamily="2" charset="-122"/>
              </a:rPr>
              <a:t> is an element of A)</a:t>
            </a:r>
            <a:endParaRPr lang="zh-CN" altLang="zh-CN" sz="2400" kern="100" dirty="0">
              <a:effectLst/>
              <a:ea typeface="宋体" panose="02010600030101010101" pitchFamily="2" charset="-122"/>
              <a:cs typeface="Times New Roman" panose="02020603050405020304" pitchFamily="18" charset="0"/>
            </a:endParaRPr>
          </a:p>
          <a:p>
            <a:pPr marL="800100" lvl="1" indent="-342900" algn="l">
              <a:lnSpc>
                <a:spcPct val="120000"/>
              </a:lnSpc>
              <a:buClr>
                <a:srgbClr val="0B61FF"/>
              </a:buClr>
              <a:buSzPct val="120000"/>
              <a:buFont typeface="Arial" panose="020B0604020202020204" pitchFamily="34" charset="0"/>
              <a:buChar char="•"/>
              <a:tabLst>
                <a:tab pos="914400" algn="l"/>
              </a:tabLst>
            </a:pPr>
            <a:r>
              <a:rPr lang="en-US" altLang="zh-CN" sz="2400" i="1" kern="0" dirty="0">
                <a:effectLst/>
                <a:latin typeface="Times New Roman" panose="02020603050405020304" pitchFamily="18" charset="0"/>
                <a:ea typeface="宋体" panose="02010600030101010101" pitchFamily="2" charset="-122"/>
                <a:cs typeface="Times New Roman" panose="02020603050405020304" pitchFamily="18" charset="0"/>
              </a:rPr>
              <a:t>x </a:t>
            </a:r>
            <a:r>
              <a:rPr lang="zh-CN" altLang="zh-CN" sz="2400" b="1" dirty="0">
                <a:solidFill>
                  <a:srgbClr val="0B61FF"/>
                </a:solidFill>
                <a:latin typeface="Cambria Math" panose="02040503050406030204" pitchFamily="18" charset="0"/>
              </a:rPr>
              <a:t>∉</a:t>
            </a:r>
            <a:r>
              <a:rPr lang="en-US" altLang="zh-CN" sz="2400" i="1" kern="0" dirty="0">
                <a:effectLst/>
                <a:latin typeface="Times New Roman" panose="02020603050405020304" pitchFamily="18" charset="0"/>
                <a:ea typeface="宋体" panose="02010600030101010101" pitchFamily="2" charset="-122"/>
                <a:cs typeface="Times New Roman" panose="02020603050405020304" pitchFamily="18" charset="0"/>
              </a:rPr>
              <a:t> A</a:t>
            </a:r>
            <a:r>
              <a:rPr lang="en-US" altLang="zh-CN" sz="2400" kern="0" dirty="0">
                <a:effectLst/>
                <a:ea typeface="宋体" panose="02010600030101010101" pitchFamily="2" charset="-122"/>
                <a:cs typeface="宋体" panose="02010600030101010101" pitchFamily="2" charset="-122"/>
              </a:rPr>
              <a:t> (</a:t>
            </a:r>
            <a:r>
              <a:rPr lang="en-US" altLang="zh-CN" sz="2400" i="1" kern="0" dirty="0">
                <a:effectLst/>
                <a:latin typeface="Times New Roman" panose="02020603050405020304" pitchFamily="18" charset="0"/>
                <a:ea typeface="宋体" panose="02010600030101010101" pitchFamily="2" charset="-122"/>
                <a:cs typeface="Times New Roman" panose="02020603050405020304" pitchFamily="18" charset="0"/>
              </a:rPr>
              <a:t>x</a:t>
            </a:r>
            <a:r>
              <a:rPr lang="en-US" altLang="zh-CN" sz="2400" kern="0" dirty="0">
                <a:effectLst/>
                <a:ea typeface="宋体" panose="02010600030101010101" pitchFamily="2" charset="-122"/>
                <a:cs typeface="宋体" panose="02010600030101010101" pitchFamily="2" charset="-122"/>
              </a:rPr>
              <a:t> is not an element of A)</a:t>
            </a:r>
            <a:endParaRPr lang="zh-CN" altLang="zh-CN" sz="2400" kern="100" dirty="0">
              <a:effectLst/>
              <a:ea typeface="宋体" panose="02010600030101010101" pitchFamily="2" charset="-122"/>
              <a:cs typeface="Times New Roman" panose="02020603050405020304" pitchFamily="18" charset="0"/>
            </a:endParaRPr>
          </a:p>
          <a:p>
            <a:pPr marL="182563" indent="-182563">
              <a:lnSpc>
                <a:spcPct val="120000"/>
              </a:lnSpc>
              <a:buClr>
                <a:srgbClr val="0B61FF"/>
              </a:buClr>
              <a:buSzPct val="80000"/>
              <a:buFont typeface="Wingdings" panose="05000000000000000000" pitchFamily="2" charset="2"/>
              <a:buChar char="n"/>
              <a:tabLst>
                <a:tab pos="457200" algn="l"/>
              </a:tabLst>
            </a:pPr>
            <a:r>
              <a:rPr lang="en-US" altLang="zh-CN" sz="2400" b="1" kern="0" dirty="0">
                <a:ea typeface="宋体" panose="02010600030101010101" pitchFamily="2" charset="-122"/>
              </a:rPr>
              <a:t>Finite Set: </a:t>
            </a:r>
            <a:r>
              <a:rPr lang="en-US" altLang="zh-CN" sz="2400" kern="0" dirty="0">
                <a:effectLst/>
                <a:ea typeface="宋体" panose="02010600030101010101" pitchFamily="2" charset="-122"/>
                <a:cs typeface="宋体" panose="02010600030101010101" pitchFamily="2" charset="-122"/>
              </a:rPr>
              <a:t>A set with a limited number of elements.</a:t>
            </a:r>
            <a:endParaRPr lang="zh-CN" altLang="zh-CN" sz="2400" kern="100" dirty="0">
              <a:effectLst/>
              <a:ea typeface="宋体" panose="02010600030101010101" pitchFamily="2" charset="-122"/>
              <a:cs typeface="Times New Roman" panose="02020603050405020304" pitchFamily="18" charset="0"/>
            </a:endParaRPr>
          </a:p>
          <a:p>
            <a:pPr marL="182563" indent="-182563">
              <a:lnSpc>
                <a:spcPct val="120000"/>
              </a:lnSpc>
              <a:buClr>
                <a:srgbClr val="0B61FF"/>
              </a:buClr>
              <a:buSzPct val="80000"/>
              <a:buFont typeface="Wingdings" panose="05000000000000000000" pitchFamily="2" charset="2"/>
              <a:buChar char="n"/>
              <a:tabLst>
                <a:tab pos="457200" algn="l"/>
              </a:tabLst>
            </a:pPr>
            <a:r>
              <a:rPr lang="en-US" altLang="zh-CN" sz="2400" b="1" kern="0" dirty="0">
                <a:ea typeface="宋体" panose="02010600030101010101" pitchFamily="2" charset="-122"/>
              </a:rPr>
              <a:t>Infinite Set: </a:t>
            </a:r>
            <a:r>
              <a:rPr lang="en-US" altLang="zh-CN" sz="2400" kern="0" dirty="0">
                <a:effectLst/>
                <a:ea typeface="宋体" panose="02010600030101010101" pitchFamily="2" charset="-122"/>
                <a:cs typeface="宋体" panose="02010600030101010101" pitchFamily="2" charset="-122"/>
              </a:rPr>
              <a:t>A set with an unlimited number of elements.</a:t>
            </a:r>
            <a:endParaRPr lang="zh-CN" altLang="zh-CN" sz="2400" kern="100" dirty="0">
              <a:effectLst/>
              <a:ea typeface="宋体" panose="02010600030101010101" pitchFamily="2" charset="-122"/>
              <a:cs typeface="Times New Roman" panose="02020603050405020304" pitchFamily="18" charset="0"/>
            </a:endParaRPr>
          </a:p>
          <a:p>
            <a:pPr marL="182563" indent="-182563">
              <a:lnSpc>
                <a:spcPct val="120000"/>
              </a:lnSpc>
              <a:buClr>
                <a:srgbClr val="0B61FF"/>
              </a:buClr>
              <a:buSzPct val="80000"/>
              <a:buFont typeface="Wingdings" panose="05000000000000000000" pitchFamily="2" charset="2"/>
              <a:buChar char="n"/>
              <a:tabLst>
                <a:tab pos="457200" algn="l"/>
              </a:tabLst>
            </a:pPr>
            <a:r>
              <a:rPr lang="en-US" altLang="zh-CN" sz="2400" b="1" kern="0" dirty="0">
                <a:ea typeface="宋体" panose="02010600030101010101" pitchFamily="2" charset="-122"/>
              </a:rPr>
              <a:t>Cardinality of Set </a:t>
            </a:r>
            <a:r>
              <a:rPr lang="en-US" altLang="zh-CN" sz="2400" b="1" dirty="0">
                <a:solidFill>
                  <a:srgbClr val="0B61FF"/>
                </a:solidFill>
                <a:latin typeface="Cambria Math" panose="02040503050406030204" pitchFamily="18" charset="0"/>
              </a:rPr>
              <a:t>∣A∣</a:t>
            </a:r>
            <a:r>
              <a:rPr lang="en-US" altLang="zh-CN" sz="2400" kern="0" dirty="0">
                <a:effectLst/>
                <a:ea typeface="宋体" panose="02010600030101010101" pitchFamily="2" charset="-122"/>
                <a:cs typeface="宋体" panose="02010600030101010101" pitchFamily="2" charset="-122"/>
              </a:rPr>
              <a:t>: The number of elements in set A.</a:t>
            </a:r>
            <a:endParaRPr lang="zh-CN" altLang="zh-CN" sz="2400" kern="100" dirty="0">
              <a:effectLst/>
              <a:ea typeface="宋体" panose="02010600030101010101" pitchFamily="2" charset="-122"/>
              <a:cs typeface="Times New Roman" panose="02020603050405020304" pitchFamily="18" charset="0"/>
            </a:endParaRPr>
          </a:p>
          <a:p>
            <a:pPr marL="182563" indent="-182563">
              <a:lnSpc>
                <a:spcPct val="120000"/>
              </a:lnSpc>
              <a:buClr>
                <a:srgbClr val="0B61FF"/>
              </a:buClr>
              <a:buSzPct val="80000"/>
              <a:buFont typeface="Wingdings" panose="05000000000000000000" pitchFamily="2" charset="2"/>
              <a:buChar char="n"/>
              <a:tabLst>
                <a:tab pos="457200" algn="l"/>
              </a:tabLst>
            </a:pPr>
            <a:r>
              <a:rPr lang="en-US" altLang="zh-CN" sz="2400" b="1" kern="0" dirty="0">
                <a:ea typeface="宋体" panose="02010600030101010101" pitchFamily="2" charset="-122"/>
              </a:rPr>
              <a:t>k-element Set: </a:t>
            </a:r>
            <a:r>
              <a:rPr lang="en-US" altLang="zh-CN" sz="2400" kern="0" dirty="0">
                <a:effectLst/>
                <a:ea typeface="宋体" panose="02010600030101010101" pitchFamily="2" charset="-122"/>
                <a:cs typeface="宋体" panose="02010600030101010101" pitchFamily="2" charset="-122"/>
              </a:rPr>
              <a:t>A set containing </a:t>
            </a:r>
            <a:r>
              <a:rPr lang="en-US" altLang="zh-CN" sz="2400" i="1" kern="0" dirty="0">
                <a:latin typeface="Times New Roman" panose="02020603050405020304" pitchFamily="18" charset="0"/>
                <a:ea typeface="宋体" panose="02010600030101010101" pitchFamily="2" charset="-122"/>
                <a:cs typeface="Times New Roman" panose="02020603050405020304" pitchFamily="18" charset="0"/>
              </a:rPr>
              <a:t>k </a:t>
            </a:r>
            <a:r>
              <a:rPr lang="en-US" altLang="zh-CN" sz="2400" kern="0" dirty="0">
                <a:effectLst/>
                <a:ea typeface="宋体" panose="02010600030101010101" pitchFamily="2" charset="-122"/>
                <a:cs typeface="宋体" panose="02010600030101010101" pitchFamily="2" charset="-122"/>
              </a:rPr>
              <a:t>elements, where </a:t>
            </a:r>
            <a:r>
              <a:rPr lang="en-US" altLang="zh-CN" sz="2400" i="1" kern="0" dirty="0">
                <a:latin typeface="Times New Roman" panose="02020603050405020304" pitchFamily="18" charset="0"/>
                <a:ea typeface="宋体" panose="02010600030101010101" pitchFamily="2" charset="-122"/>
                <a:cs typeface="Times New Roman" panose="02020603050405020304" pitchFamily="18" charset="0"/>
              </a:rPr>
              <a:t>k</a:t>
            </a:r>
            <a:r>
              <a:rPr lang="en-US" altLang="zh-CN" sz="2400" kern="0" dirty="0">
                <a:effectLst/>
                <a:ea typeface="宋体" panose="02010600030101010101" pitchFamily="2" charset="-122"/>
                <a:cs typeface="宋体" panose="02010600030101010101" pitchFamily="2" charset="-122"/>
              </a:rPr>
              <a:t>≥0. </a:t>
            </a:r>
            <a:r>
              <a:rPr lang="en-US" altLang="zh-CN" sz="2400" kern="0" dirty="0">
                <a:effectLst/>
                <a:ea typeface="宋体" panose="02010600030101010101" pitchFamily="2" charset="-122"/>
                <a:cs typeface="MS Gothic" panose="020B0609070205080204" pitchFamily="49" charset="-128"/>
              </a:rPr>
              <a:t>​</a:t>
            </a:r>
            <a:endParaRPr kumimoji="0" lang="zh-CN" altLang="zh-CN"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9171481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1000"/>
                                        <p:tgtEl>
                                          <p:spTgt spid="6">
                                            <p:txEl>
                                              <p:pRg st="3" end="3"/>
                                            </p:txEl>
                                          </p:spTgt>
                                        </p:tgtEl>
                                      </p:cBhvr>
                                    </p:animEffect>
                                    <p:anim calcmode="lin" valueType="num">
                                      <p:cBhvr>
                                        <p:cTn id="8"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Effect transition="in" filter="fade">
                                      <p:cBhvr>
                                        <p:cTn id="12" dur="1000"/>
                                        <p:tgtEl>
                                          <p:spTgt spid="6">
                                            <p:txEl>
                                              <p:pRg st="4" end="4"/>
                                            </p:txEl>
                                          </p:spTgt>
                                        </p:tgtEl>
                                      </p:cBhvr>
                                    </p:animEffect>
                                    <p:anim calcmode="lin" valueType="num">
                                      <p:cBhvr>
                                        <p:cTn id="1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animEffect transition="in" filter="fade">
                                      <p:cBhvr>
                                        <p:cTn id="17" dur="1000"/>
                                        <p:tgtEl>
                                          <p:spTgt spid="6">
                                            <p:txEl>
                                              <p:pRg st="5" end="5"/>
                                            </p:txEl>
                                          </p:spTgt>
                                        </p:tgtEl>
                                      </p:cBhvr>
                                    </p:animEffect>
                                    <p:anim calcmode="lin" valueType="num">
                                      <p:cBhvr>
                                        <p:cTn id="1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6">
                                            <p:txEl>
                                              <p:pRg st="6" end="6"/>
                                            </p:txEl>
                                          </p:spTgt>
                                        </p:tgtEl>
                                        <p:attrNameLst>
                                          <p:attrName>style.visibility</p:attrName>
                                        </p:attrNameLst>
                                      </p:cBhvr>
                                      <p:to>
                                        <p:strVal val="visible"/>
                                      </p:to>
                                    </p:set>
                                    <p:animEffect transition="in" filter="fade">
                                      <p:cBhvr>
                                        <p:cTn id="24" dur="1000"/>
                                        <p:tgtEl>
                                          <p:spTgt spid="6">
                                            <p:txEl>
                                              <p:pRg st="6" end="6"/>
                                            </p:txEl>
                                          </p:spTgt>
                                        </p:tgtEl>
                                      </p:cBhvr>
                                    </p:animEffect>
                                    <p:anim calcmode="lin" valueType="num">
                                      <p:cBhvr>
                                        <p:cTn id="25"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animEffect transition="in" filter="fade">
                                      <p:cBhvr>
                                        <p:cTn id="31" dur="1000"/>
                                        <p:tgtEl>
                                          <p:spTgt spid="6">
                                            <p:txEl>
                                              <p:pRg st="7" end="7"/>
                                            </p:txEl>
                                          </p:spTgt>
                                        </p:tgtEl>
                                      </p:cBhvr>
                                    </p:animEffect>
                                    <p:anim calcmode="lin" valueType="num">
                                      <p:cBhvr>
                                        <p:cTn id="32"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6">
                                            <p:txEl>
                                              <p:pRg st="8" end="8"/>
                                            </p:txEl>
                                          </p:spTgt>
                                        </p:tgtEl>
                                        <p:attrNameLst>
                                          <p:attrName>style.visibility</p:attrName>
                                        </p:attrNameLst>
                                      </p:cBhvr>
                                      <p:to>
                                        <p:strVal val="visible"/>
                                      </p:to>
                                    </p:set>
                                    <p:animEffect transition="in" filter="fade">
                                      <p:cBhvr>
                                        <p:cTn id="38" dur="1000"/>
                                        <p:tgtEl>
                                          <p:spTgt spid="6">
                                            <p:txEl>
                                              <p:pRg st="8" end="8"/>
                                            </p:txEl>
                                          </p:spTgt>
                                        </p:tgtEl>
                                      </p:cBhvr>
                                    </p:animEffect>
                                    <p:anim calcmode="lin" valueType="num">
                                      <p:cBhvr>
                                        <p:cTn id="39"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40"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6">
                                            <p:txEl>
                                              <p:pRg st="9" end="9"/>
                                            </p:txEl>
                                          </p:spTgt>
                                        </p:tgtEl>
                                        <p:attrNameLst>
                                          <p:attrName>style.visibility</p:attrName>
                                        </p:attrNameLst>
                                      </p:cBhvr>
                                      <p:to>
                                        <p:strVal val="visible"/>
                                      </p:to>
                                    </p:set>
                                    <p:animEffect transition="in" filter="fade">
                                      <p:cBhvr>
                                        <p:cTn id="45" dur="1000"/>
                                        <p:tgtEl>
                                          <p:spTgt spid="6">
                                            <p:txEl>
                                              <p:pRg st="9" end="9"/>
                                            </p:txEl>
                                          </p:spTgt>
                                        </p:tgtEl>
                                      </p:cBhvr>
                                    </p:animEffect>
                                    <p:anim calcmode="lin" valueType="num">
                                      <p:cBhvr>
                                        <p:cTn id="46"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47"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53365"/>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400" b="1" dirty="0">
                <a:cs typeface="Times New Roman" panose="02020603050405020304" pitchFamily="18" charset="0"/>
              </a:rPr>
              <a:t>	</a:t>
            </a:r>
            <a:r>
              <a:rPr lang="zh-CN" altLang="en-US" sz="2000" dirty="0">
                <a:latin typeface="+mj-lt"/>
                <a:cs typeface="Times New Roman" panose="02020603050405020304" pitchFamily="18" charset="0"/>
              </a:rPr>
              <a:t>1.</a:t>
            </a:r>
            <a:r>
              <a:rPr lang="en-US" altLang="zh-CN" sz="2000" dirty="0">
                <a:latin typeface="+mj-lt"/>
                <a:cs typeface="Times New Roman" panose="02020603050405020304" pitchFamily="18" charset="0"/>
              </a:rPr>
              <a:t>2</a:t>
            </a:r>
            <a:r>
              <a:rPr lang="zh-CN" altLang="en-US" sz="2000" dirty="0">
                <a:latin typeface="+mj-lt"/>
                <a:cs typeface="Times New Roman" panose="02020603050405020304" pitchFamily="18" charset="0"/>
              </a:rPr>
              <a:t> </a:t>
            </a:r>
            <a:r>
              <a:rPr lang="en-US" altLang="zh-CN" sz="2000" dirty="0">
                <a:latin typeface="+mj-lt"/>
              </a:rPr>
              <a:t>Sets and Operations</a:t>
            </a:r>
            <a:endParaRPr lang="en-US" altLang="zh-CN" sz="2000" dirty="0">
              <a:effectLst/>
              <a:latin typeface="+mj-lt"/>
              <a:ea typeface="宋体" panose="02010600030101010101" pitchFamily="2" charset="-122"/>
              <a:cs typeface="Times New Roman" panose="02020603050405020304" pitchFamily="18" charset="0"/>
            </a:endParaRPr>
          </a:p>
          <a:p>
            <a:r>
              <a:rPr lang="en-US" altLang="zh-CN" sz="2400" b="1" dirty="0">
                <a:ea typeface="宋体" panose="02010600030101010101" pitchFamily="2" charset="-122"/>
                <a:cs typeface="Times New Roman" panose="02020603050405020304" pitchFamily="18" charset="0"/>
              </a:rPr>
              <a:t>                   </a:t>
            </a:r>
            <a:r>
              <a:rPr lang="zh-CN" altLang="en-US" sz="24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latin typeface="+mj-lt"/>
              </a:rPr>
              <a:t>Set Expression</a:t>
            </a:r>
            <a:endParaRPr lang="en-US" altLang="zh-CN" sz="2400" dirty="0">
              <a:latin typeface="+mj-lt"/>
            </a:endParaRPr>
          </a:p>
        </p:txBody>
      </p:sp>
      <p:sp>
        <p:nvSpPr>
          <p:cNvPr id="13" name="矩形 12"/>
          <p:cNvSpPr/>
          <p:nvPr/>
        </p:nvSpPr>
        <p:spPr>
          <a:xfrm>
            <a:off x="824682" y="88136"/>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9" name="文本框 18">
            <a:extLst>
              <a:ext uri="{FF2B5EF4-FFF2-40B4-BE49-F238E27FC236}">
                <a16:creationId xmlns:a16="http://schemas.microsoft.com/office/drawing/2014/main" id="{3797FB48-3ECF-457F-B7BA-EC35FFE58353}"/>
              </a:ext>
            </a:extLst>
          </p:cNvPr>
          <p:cNvSpPr txBox="1"/>
          <p:nvPr/>
        </p:nvSpPr>
        <p:spPr>
          <a:xfrm>
            <a:off x="1221697" y="982672"/>
            <a:ext cx="10636927" cy="5602752"/>
          </a:xfrm>
          <a:prstGeom prst="rect">
            <a:avLst/>
          </a:prstGeom>
          <a:noFill/>
        </p:spPr>
        <p:txBody>
          <a:bodyPr wrap="square">
            <a:spAutoFit/>
          </a:bodyPr>
          <a:lstStyle/>
          <a:p>
            <a:pPr marL="342900" indent="-342900">
              <a:lnSpc>
                <a:spcPct val="110000"/>
              </a:lnSpc>
              <a:buClr>
                <a:srgbClr val="0B61FF"/>
              </a:buClr>
              <a:buSzPct val="80000"/>
              <a:buFont typeface="Wingdings" panose="05000000000000000000" pitchFamily="2" charset="2"/>
              <a:buChar char="n"/>
            </a:pPr>
            <a:r>
              <a:rPr lang="en-US" altLang="zh-CN" sz="2400" b="1" kern="0" dirty="0">
                <a:ea typeface="宋体" panose="02010600030101010101" pitchFamily="2" charset="-122"/>
              </a:rPr>
              <a:t>List Notation (enumeration method):</a:t>
            </a:r>
          </a:p>
          <a:p>
            <a:pPr indent="363538">
              <a:lnSpc>
                <a:spcPct val="110000"/>
              </a:lnSpc>
              <a:buClr>
                <a:srgbClr val="0B61FF"/>
              </a:buClr>
              <a:buSzPct val="80000"/>
            </a:pPr>
            <a:r>
              <a:rPr lang="en-US" altLang="zh-CN" sz="2400" dirty="0"/>
              <a:t>For example, </a:t>
            </a:r>
            <a:r>
              <a:rPr lang="pt-BR" altLang="zh-CN" sz="2400" dirty="0"/>
              <a:t>A={a,b,c,d},N={0,1,2,…}</a:t>
            </a:r>
          </a:p>
          <a:p>
            <a:pPr marL="342900" indent="-342900">
              <a:lnSpc>
                <a:spcPct val="110000"/>
              </a:lnSpc>
              <a:buClr>
                <a:srgbClr val="0B61FF"/>
              </a:buClr>
              <a:buSzPct val="80000"/>
              <a:buFont typeface="Wingdings" panose="05000000000000000000" pitchFamily="2" charset="2"/>
              <a:buChar char="n"/>
            </a:pPr>
            <a:r>
              <a:rPr lang="en-US" altLang="zh-CN" sz="2400" b="1" kern="0" dirty="0">
                <a:ea typeface="宋体" panose="02010600030101010101" pitchFamily="2" charset="-122"/>
              </a:rPr>
              <a:t>Set Builder Notation (descriptive method):</a:t>
            </a:r>
          </a:p>
          <a:p>
            <a:pPr indent="363538">
              <a:lnSpc>
                <a:spcPct val="110000"/>
              </a:lnSpc>
              <a:buClr>
                <a:srgbClr val="0B61FF"/>
              </a:buClr>
              <a:buSzPct val="80000"/>
            </a:pPr>
            <a:r>
              <a:rPr lang="en-US" altLang="zh-CN" sz="2400" dirty="0"/>
              <a:t> For example, {</a:t>
            </a:r>
            <a:r>
              <a:rPr lang="en-US" altLang="zh-CN" sz="2400" dirty="0" err="1"/>
              <a:t>x∣P</a:t>
            </a:r>
            <a:r>
              <a:rPr lang="en-US" altLang="zh-CN" sz="2400" dirty="0"/>
              <a:t>(x)}, where x  is a natural number.</a:t>
            </a:r>
          </a:p>
          <a:p>
            <a:pPr marL="342900" indent="-342900">
              <a:lnSpc>
                <a:spcPct val="110000"/>
              </a:lnSpc>
              <a:buClr>
                <a:srgbClr val="0B61FF"/>
              </a:buClr>
              <a:buSzPct val="80000"/>
              <a:buFont typeface="Wingdings" panose="05000000000000000000" pitchFamily="2" charset="2"/>
              <a:buChar char="n"/>
            </a:pPr>
            <a:r>
              <a:rPr lang="en-US" altLang="zh-CN" sz="2400" b="1" kern="0" dirty="0">
                <a:ea typeface="宋体" panose="02010600030101010101" pitchFamily="2" charset="-122"/>
              </a:rPr>
              <a:t>Explanation:</a:t>
            </a:r>
          </a:p>
          <a:p>
            <a:pPr marL="804863" indent="-352425">
              <a:lnSpc>
                <a:spcPct val="120000"/>
              </a:lnSpc>
            </a:pPr>
            <a:r>
              <a:rPr lang="en-US" altLang="zh-CN" sz="2400" dirty="0"/>
              <a:t>(1)The elements in the set are </a:t>
            </a:r>
            <a:r>
              <a:rPr lang="en-US" altLang="zh-CN" sz="2400" b="1" dirty="0">
                <a:solidFill>
                  <a:srgbClr val="0B61FF"/>
                </a:solidFill>
              </a:rPr>
              <a:t>distinct</a:t>
            </a:r>
            <a:r>
              <a:rPr lang="en-US" altLang="zh-CN" sz="2400" dirty="0"/>
              <a:t>. For example, </a:t>
            </a:r>
            <a:r>
              <a:rPr lang="zh-CN" altLang="en-US" sz="2400" b="1" dirty="0"/>
              <a:t>{1,2,3}={1,1,2,3}</a:t>
            </a:r>
            <a:endParaRPr lang="en-US" altLang="zh-CN" sz="2400" dirty="0"/>
          </a:p>
          <a:p>
            <a:pPr marL="804863" indent="-352425">
              <a:lnSpc>
                <a:spcPct val="120000"/>
              </a:lnSpc>
            </a:pPr>
            <a:r>
              <a:rPr lang="en-US" altLang="zh-CN" sz="2400" dirty="0"/>
              <a:t>(2) The elements in the set </a:t>
            </a:r>
            <a:r>
              <a:rPr lang="en-US" altLang="zh-CN" sz="2400" b="1" dirty="0">
                <a:solidFill>
                  <a:srgbClr val="0B61FF"/>
                </a:solidFill>
              </a:rPr>
              <a:t>do not have an orde</a:t>
            </a:r>
            <a:r>
              <a:rPr lang="en-US" altLang="zh-CN" sz="2400" dirty="0"/>
              <a:t>r. For example </a:t>
            </a:r>
            <a:r>
              <a:rPr lang="zh-CN" altLang="en-US" sz="2400" b="1" dirty="0"/>
              <a:t>{1,2,3}={3,1,2}={1,3,1,2,2}</a:t>
            </a:r>
            <a:endParaRPr lang="en-US" altLang="zh-CN" sz="2400" dirty="0"/>
          </a:p>
          <a:p>
            <a:pPr marL="804863" indent="-352425">
              <a:lnSpc>
                <a:spcPct val="120000"/>
              </a:lnSpc>
            </a:pPr>
            <a:r>
              <a:rPr lang="en-US" altLang="zh-CN" sz="2400" dirty="0"/>
              <a:t>(3) The two methods should be selected based on the context.</a:t>
            </a:r>
          </a:p>
          <a:p>
            <a:pPr marL="342900" indent="-342900">
              <a:lnSpc>
                <a:spcPct val="110000"/>
              </a:lnSpc>
              <a:buClr>
                <a:srgbClr val="0B61FF"/>
              </a:buClr>
              <a:buSzPct val="80000"/>
              <a:buFont typeface="Wingdings" panose="05000000000000000000" pitchFamily="2" charset="2"/>
              <a:buChar char="n"/>
            </a:pPr>
            <a:r>
              <a:rPr lang="en-US" altLang="zh-CN" sz="2400" b="1" kern="0" dirty="0">
                <a:ea typeface="宋体" panose="02010600030101010101" pitchFamily="2" charset="-122"/>
              </a:rPr>
              <a:t>Common Sets:</a:t>
            </a:r>
            <a:endParaRPr lang="en-US" altLang="zh-CN" sz="2400" dirty="0"/>
          </a:p>
          <a:p>
            <a:pPr marL="363538">
              <a:lnSpc>
                <a:spcPct val="120000"/>
              </a:lnSpc>
            </a:pPr>
            <a:r>
              <a:rPr lang="en-US" altLang="zh-CN" sz="2400" dirty="0"/>
              <a:t>Natural numbers </a:t>
            </a:r>
            <a:r>
              <a:rPr lang="en-US" altLang="zh-CN" sz="2400" b="1" dirty="0">
                <a:solidFill>
                  <a:srgbClr val="0B61FF"/>
                </a:solidFill>
              </a:rPr>
              <a:t>N</a:t>
            </a:r>
            <a:r>
              <a:rPr lang="en-US" altLang="zh-CN" sz="2400" dirty="0"/>
              <a:t> (including 0), integers </a:t>
            </a:r>
            <a:r>
              <a:rPr lang="en-US" altLang="zh-CN" sz="2400" b="1" dirty="0">
                <a:solidFill>
                  <a:srgbClr val="0B61FF"/>
                </a:solidFill>
              </a:rPr>
              <a:t>Z</a:t>
            </a:r>
            <a:r>
              <a:rPr lang="en-US" altLang="zh-CN" sz="2400" dirty="0"/>
              <a:t>, positive integers </a:t>
            </a:r>
            <a:r>
              <a:rPr lang="en-US" altLang="zh-CN" sz="2400" b="1" dirty="0">
                <a:solidFill>
                  <a:srgbClr val="0B61FF"/>
                </a:solidFill>
              </a:rPr>
              <a:t>Z</a:t>
            </a:r>
            <a:r>
              <a:rPr lang="en-US" altLang="zh-CN" sz="2400" b="1" baseline="30000" dirty="0">
                <a:solidFill>
                  <a:srgbClr val="0B61FF"/>
                </a:solidFill>
              </a:rPr>
              <a:t>+</a:t>
            </a:r>
            <a:r>
              <a:rPr lang="en-US" altLang="zh-CN" sz="2400" b="1" dirty="0">
                <a:solidFill>
                  <a:srgbClr val="0B61FF"/>
                </a:solidFill>
              </a:rPr>
              <a:t> </a:t>
            </a:r>
            <a:r>
              <a:rPr lang="en-US" altLang="zh-CN" sz="2400" dirty="0"/>
              <a:t>, rational numbers </a:t>
            </a:r>
            <a:r>
              <a:rPr lang="en-US" altLang="zh-CN" sz="2400" b="1" dirty="0">
                <a:solidFill>
                  <a:srgbClr val="0B61FF"/>
                </a:solidFill>
              </a:rPr>
              <a:t>Q</a:t>
            </a:r>
            <a:r>
              <a:rPr lang="en-US" altLang="zh-CN" sz="2400" b="1" dirty="0"/>
              <a:t>, </a:t>
            </a:r>
            <a:r>
              <a:rPr lang="en-US" altLang="zh-CN" sz="2400" dirty="0"/>
              <a:t>irrational numbers</a:t>
            </a:r>
            <a:r>
              <a:rPr lang="en-US" altLang="zh-CN" sz="2400" b="1" dirty="0">
                <a:solidFill>
                  <a:srgbClr val="0B61FF"/>
                </a:solidFill>
              </a:rPr>
              <a:t> </a:t>
            </a:r>
            <a:r>
              <a:rPr lang="en-US" sz="2400" b="1" dirty="0">
                <a:solidFill>
                  <a:srgbClr val="0B61FF"/>
                </a:solidFill>
              </a:rPr>
              <a:t>Q'</a:t>
            </a:r>
            <a:r>
              <a:rPr lang="en-US" altLang="zh-CN" sz="2400" b="1" dirty="0">
                <a:solidFill>
                  <a:srgbClr val="0B61FF"/>
                </a:solidFill>
              </a:rPr>
              <a:t>,  </a:t>
            </a:r>
            <a:r>
              <a:rPr lang="en-US" altLang="zh-CN" sz="2400" dirty="0"/>
              <a:t>real numbers </a:t>
            </a:r>
            <a:r>
              <a:rPr lang="en-US" altLang="zh-CN" sz="2400" b="1" dirty="0">
                <a:solidFill>
                  <a:srgbClr val="0B61FF"/>
                </a:solidFill>
              </a:rPr>
              <a:t>R</a:t>
            </a:r>
            <a:r>
              <a:rPr lang="en-US" altLang="zh-CN" sz="2400" b="1" dirty="0"/>
              <a:t>, </a:t>
            </a:r>
            <a:r>
              <a:rPr lang="en-US" altLang="zh-CN" sz="2400" dirty="0"/>
              <a:t>a</a:t>
            </a:r>
            <a:r>
              <a:rPr lang="en-US" sz="2400" dirty="0"/>
              <a:t>ll non-zero real numbers </a:t>
            </a:r>
            <a:r>
              <a:rPr lang="en-US" altLang="zh-CN" sz="2400" dirty="0"/>
              <a:t>sets </a:t>
            </a:r>
            <a:r>
              <a:rPr lang="en-US" altLang="zh-CN" sz="2400" b="1" dirty="0">
                <a:solidFill>
                  <a:srgbClr val="0B61FF"/>
                </a:solidFill>
              </a:rPr>
              <a:t>R</a:t>
            </a:r>
            <a:r>
              <a:rPr lang="en-US" altLang="zh-CN" sz="2400" b="1" baseline="30000" dirty="0">
                <a:solidFill>
                  <a:srgbClr val="0B61FF"/>
                </a:solidFill>
              </a:rPr>
              <a:t>*</a:t>
            </a:r>
            <a:r>
              <a:rPr lang="en-US" altLang="zh-CN" sz="2400" b="1" dirty="0"/>
              <a:t>, </a:t>
            </a:r>
            <a:r>
              <a:rPr lang="en-US" altLang="zh-CN" sz="2400" dirty="0"/>
              <a:t>complex numbers </a:t>
            </a:r>
            <a:r>
              <a:rPr lang="en-US" altLang="zh-CN" sz="2400" b="1" dirty="0">
                <a:solidFill>
                  <a:srgbClr val="0B61FF"/>
                </a:solidFill>
              </a:rPr>
              <a:t>C</a:t>
            </a:r>
            <a:r>
              <a:rPr lang="en-US" altLang="zh-CN" sz="2400" b="1" dirty="0"/>
              <a:t>, </a:t>
            </a:r>
            <a:r>
              <a:rPr lang="en-US" altLang="zh-CN" sz="2400" dirty="0"/>
              <a:t>intervals </a:t>
            </a:r>
            <a:r>
              <a:rPr lang="zh-CN" altLang="en-US" sz="2400" b="1" dirty="0">
                <a:solidFill>
                  <a:srgbClr val="0B61FF"/>
                </a:solidFill>
              </a:rPr>
              <a:t>[</a:t>
            </a:r>
            <a:r>
              <a:rPr lang="en-US" altLang="zh-CN" sz="2400" b="1" dirty="0" err="1">
                <a:solidFill>
                  <a:srgbClr val="0B61FF"/>
                </a:solidFill>
              </a:rPr>
              <a:t>a,b</a:t>
            </a:r>
            <a:r>
              <a:rPr lang="en-US" altLang="zh-CN" sz="2400" b="1" dirty="0">
                <a:solidFill>
                  <a:srgbClr val="0B61FF"/>
                </a:solidFill>
              </a:rPr>
              <a:t>]</a:t>
            </a:r>
            <a:r>
              <a:rPr lang="en-US" altLang="zh-CN" sz="2400" b="1" dirty="0"/>
              <a:t>,</a:t>
            </a:r>
            <a:r>
              <a:rPr lang="en-US" altLang="zh-CN" sz="2400" b="1" dirty="0">
                <a:solidFill>
                  <a:srgbClr val="0B61FF"/>
                </a:solidFill>
              </a:rPr>
              <a:t>(</a:t>
            </a:r>
            <a:r>
              <a:rPr lang="en-US" altLang="zh-CN" sz="2400" b="1" dirty="0" err="1">
                <a:solidFill>
                  <a:srgbClr val="0B61FF"/>
                </a:solidFill>
              </a:rPr>
              <a:t>a,b</a:t>
            </a:r>
            <a:r>
              <a:rPr lang="en-US" altLang="zh-CN" sz="2400" b="1" dirty="0">
                <a:solidFill>
                  <a:srgbClr val="0B61FF"/>
                </a:solidFill>
              </a:rPr>
              <a:t>) </a:t>
            </a:r>
            <a:r>
              <a:rPr lang="en-US" altLang="zh-CN" sz="2400" dirty="0"/>
              <a:t>etc.</a:t>
            </a:r>
            <a:endParaRPr lang="en-US" altLang="zh-CN" dirty="0"/>
          </a:p>
        </p:txBody>
      </p:sp>
    </p:spTree>
    <p:extLst>
      <p:ext uri="{BB962C8B-B14F-4D97-AF65-F5344CB8AC3E}">
        <p14:creationId xmlns:p14="http://schemas.microsoft.com/office/powerpoint/2010/main" val="37742870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animEffect transition="in" filter="fade">
                                      <p:cBhvr>
                                        <p:cTn id="7" dur="1000"/>
                                        <p:tgtEl>
                                          <p:spTgt spid="19">
                                            <p:txEl>
                                              <p:pRg st="2" end="2"/>
                                            </p:txEl>
                                          </p:spTgt>
                                        </p:tgtEl>
                                      </p:cBhvr>
                                    </p:animEffect>
                                    <p:anim calcmode="lin" valueType="num">
                                      <p:cBhvr>
                                        <p:cTn id="8"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9">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
                                            <p:txEl>
                                              <p:pRg st="3" end="3"/>
                                            </p:txEl>
                                          </p:spTgt>
                                        </p:tgtEl>
                                        <p:attrNameLst>
                                          <p:attrName>style.visibility</p:attrName>
                                        </p:attrNameLst>
                                      </p:cBhvr>
                                      <p:to>
                                        <p:strVal val="visible"/>
                                      </p:to>
                                    </p:set>
                                    <p:animEffect transition="in" filter="fade">
                                      <p:cBhvr>
                                        <p:cTn id="12" dur="1000"/>
                                        <p:tgtEl>
                                          <p:spTgt spid="19">
                                            <p:txEl>
                                              <p:pRg st="3" end="3"/>
                                            </p:txEl>
                                          </p:spTgt>
                                        </p:tgtEl>
                                      </p:cBhvr>
                                    </p:animEffect>
                                    <p:anim calcmode="lin" valueType="num">
                                      <p:cBhvr>
                                        <p:cTn id="13" dur="10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9">
                                            <p:txEl>
                                              <p:pRg st="8" end="8"/>
                                            </p:txEl>
                                          </p:spTgt>
                                        </p:tgtEl>
                                        <p:attrNameLst>
                                          <p:attrName>style.visibility</p:attrName>
                                        </p:attrNameLst>
                                      </p:cBhvr>
                                      <p:to>
                                        <p:strVal val="visible"/>
                                      </p:to>
                                    </p:set>
                                    <p:animEffect transition="in" filter="fade">
                                      <p:cBhvr>
                                        <p:cTn id="29" dur="1000"/>
                                        <p:tgtEl>
                                          <p:spTgt spid="19">
                                            <p:txEl>
                                              <p:pRg st="8" end="8"/>
                                            </p:txEl>
                                          </p:spTgt>
                                        </p:tgtEl>
                                      </p:cBhvr>
                                    </p:animEffect>
                                    <p:anim calcmode="lin" valueType="num">
                                      <p:cBhvr>
                                        <p:cTn id="30" dur="1000" fill="hold"/>
                                        <p:tgtEl>
                                          <p:spTgt spid="19">
                                            <p:txEl>
                                              <p:pRg st="8" end="8"/>
                                            </p:txEl>
                                          </p:spTgt>
                                        </p:tgtEl>
                                        <p:attrNameLst>
                                          <p:attrName>ppt_x</p:attrName>
                                        </p:attrNameLst>
                                      </p:cBhvr>
                                      <p:tavLst>
                                        <p:tav tm="0">
                                          <p:val>
                                            <p:strVal val="#ppt_x"/>
                                          </p:val>
                                        </p:tav>
                                        <p:tav tm="100000">
                                          <p:val>
                                            <p:strVal val="#ppt_x"/>
                                          </p:val>
                                        </p:tav>
                                      </p:tavLst>
                                    </p:anim>
                                    <p:anim calcmode="lin" valueType="num">
                                      <p:cBhvr>
                                        <p:cTn id="31" dur="1000" fill="hold"/>
                                        <p:tgtEl>
                                          <p:spTgt spid="19">
                                            <p:txEl>
                                              <p:pRg st="8" end="8"/>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9">
                                            <p:txEl>
                                              <p:pRg st="9" end="9"/>
                                            </p:txEl>
                                          </p:spTgt>
                                        </p:tgtEl>
                                        <p:attrNameLst>
                                          <p:attrName>style.visibility</p:attrName>
                                        </p:attrNameLst>
                                      </p:cBhvr>
                                      <p:to>
                                        <p:strVal val="visible"/>
                                      </p:to>
                                    </p:set>
                                    <p:animEffect transition="in" filter="fade">
                                      <p:cBhvr>
                                        <p:cTn id="34" dur="1000"/>
                                        <p:tgtEl>
                                          <p:spTgt spid="19">
                                            <p:txEl>
                                              <p:pRg st="9" end="9"/>
                                            </p:txEl>
                                          </p:spTgt>
                                        </p:tgtEl>
                                      </p:cBhvr>
                                    </p:animEffect>
                                    <p:anim calcmode="lin" valueType="num">
                                      <p:cBhvr>
                                        <p:cTn id="35" dur="1000" fill="hold"/>
                                        <p:tgtEl>
                                          <p:spTgt spid="19">
                                            <p:txEl>
                                              <p:pRg st="9" end="9"/>
                                            </p:txEl>
                                          </p:spTgt>
                                        </p:tgtEl>
                                        <p:attrNameLst>
                                          <p:attrName>ppt_x</p:attrName>
                                        </p:attrNameLst>
                                      </p:cBhvr>
                                      <p:tavLst>
                                        <p:tav tm="0">
                                          <p:val>
                                            <p:strVal val="#ppt_x"/>
                                          </p:val>
                                        </p:tav>
                                        <p:tav tm="100000">
                                          <p:val>
                                            <p:strVal val="#ppt_x"/>
                                          </p:val>
                                        </p:tav>
                                      </p:tavLst>
                                    </p:anim>
                                    <p:anim calcmode="lin" valueType="num">
                                      <p:cBhvr>
                                        <p:cTn id="36" dur="1000" fill="hold"/>
                                        <p:tgtEl>
                                          <p:spTgt spid="19">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zh-CN" altLang="en-US" sz="2000" dirty="0">
                <a:latin typeface="+mj-lt"/>
              </a:rPr>
              <a:t>1.</a:t>
            </a:r>
            <a:r>
              <a:rPr lang="en-US" altLang="zh-CN" sz="2000" dirty="0">
                <a:latin typeface="+mj-lt"/>
              </a:rPr>
              <a:t>2</a:t>
            </a:r>
            <a:r>
              <a:rPr lang="zh-CN" altLang="en-US" sz="2000" dirty="0">
                <a:latin typeface="+mj-lt"/>
              </a:rPr>
              <a:t> </a:t>
            </a:r>
            <a:r>
              <a:rPr lang="en-US" altLang="zh-CN" sz="2000" dirty="0">
                <a:latin typeface="+mj-lt"/>
              </a:rPr>
              <a:t>Sets and  Operations</a:t>
            </a: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Sets</a:t>
            </a:r>
            <a:r>
              <a:rPr lang="en-US" altLang="zh-CN" sz="24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latin typeface="+mj-lt"/>
              </a:rPr>
              <a:t>Inclusion and Equality</a:t>
            </a:r>
            <a:endParaRPr lang="zh-CN" altLang="en-US" sz="2400" b="1" dirty="0">
              <a:latin typeface="+mj-lt"/>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460499" y="822008"/>
            <a:ext cx="8432802" cy="2780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rgbClr val="0B61FF"/>
              </a:buClr>
              <a:buSzPct val="80000"/>
              <a:buFont typeface="Wingdings" panose="05000000000000000000" pitchFamily="2" charset="2"/>
              <a:buChar char="n"/>
            </a:pPr>
            <a:r>
              <a:rPr lang="en-US" altLang="zh-CN" b="1" dirty="0"/>
              <a:t>Subset (Inclusion): </a:t>
            </a:r>
            <a:r>
              <a:rPr lang="en-US" altLang="zh-CN" sz="2800" b="1" i="1" dirty="0">
                <a:solidFill>
                  <a:srgbClr val="333300"/>
                </a:solidFill>
              </a:rPr>
              <a:t>A</a:t>
            </a:r>
            <a:r>
              <a:rPr lang="en-US" altLang="zh-CN" sz="2800" b="1" dirty="0">
                <a:solidFill>
                  <a:srgbClr val="333300"/>
                </a:solidFill>
              </a:rPr>
              <a:t> </a:t>
            </a:r>
            <a:r>
              <a:rPr lang="en-US" altLang="zh-CN" b="1" dirty="0">
                <a:solidFill>
                  <a:srgbClr val="0B61FF"/>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B</a:t>
            </a:r>
            <a:r>
              <a:rPr lang="en-US" altLang="zh-CN" sz="2800" b="1" dirty="0">
                <a:solidFill>
                  <a:srgbClr val="333300"/>
                </a:solidFill>
              </a:rPr>
              <a:t> </a:t>
            </a:r>
            <a:r>
              <a:rPr lang="en-US" altLang="zh-CN" sz="2800" b="1" dirty="0">
                <a:solidFill>
                  <a:srgbClr val="333300"/>
                </a:solidFill>
                <a:sym typeface="Symbol" panose="05050102010706020507" pitchFamily="18" charset="2"/>
              </a:rPr>
              <a:t> </a:t>
            </a:r>
            <a:r>
              <a:rPr lang="en-US" altLang="zh-CN" sz="2800" b="1" i="1" dirty="0">
                <a:solidFill>
                  <a:srgbClr val="333300"/>
                </a:solidFill>
              </a:rPr>
              <a:t>x</a:t>
            </a:r>
            <a:r>
              <a:rPr lang="en-US" altLang="zh-CN" sz="2800" b="1" dirty="0">
                <a:solidFill>
                  <a:srgbClr val="333300"/>
                </a:solidFill>
              </a:rPr>
              <a:t> (</a:t>
            </a:r>
            <a:r>
              <a:rPr lang="en-US" altLang="zh-CN" sz="2800" b="1" i="1" dirty="0" err="1">
                <a:solidFill>
                  <a:srgbClr val="333300"/>
                </a:solidFill>
              </a:rPr>
              <a:t>x</a:t>
            </a:r>
            <a:r>
              <a:rPr lang="en-US" altLang="zh-CN" sz="2800" b="1" dirty="0" err="1">
                <a:solidFill>
                  <a:srgbClr val="333300"/>
                </a:solidFill>
                <a:sym typeface="Symbol" panose="05050102010706020507" pitchFamily="18" charset="2"/>
              </a:rPr>
              <a:t></a:t>
            </a:r>
            <a:r>
              <a:rPr lang="en-US" altLang="zh-CN" sz="2800" b="1" i="1" dirty="0" err="1">
                <a:solidFill>
                  <a:srgbClr val="333300"/>
                </a:solidFill>
              </a:rPr>
              <a:t>A</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err="1">
                <a:solidFill>
                  <a:srgbClr val="333300"/>
                </a:solidFill>
              </a:rPr>
              <a:t>x</a:t>
            </a:r>
            <a:r>
              <a:rPr lang="en-US" altLang="zh-CN" sz="2800" b="1" dirty="0" err="1">
                <a:solidFill>
                  <a:srgbClr val="333300"/>
                </a:solidFill>
                <a:sym typeface="Symbol" panose="05050102010706020507" pitchFamily="18" charset="2"/>
              </a:rPr>
              <a:t></a:t>
            </a:r>
            <a:r>
              <a:rPr lang="en-US" altLang="zh-CN" sz="2800" b="1" i="1" dirty="0" err="1">
                <a:solidFill>
                  <a:srgbClr val="333300"/>
                </a:solidFill>
              </a:rPr>
              <a:t>B</a:t>
            </a:r>
            <a:r>
              <a:rPr lang="en-US" altLang="zh-CN" sz="2800" b="1" dirty="0">
                <a:solidFill>
                  <a:srgbClr val="333300"/>
                </a:solidFill>
              </a:rPr>
              <a:t>)</a:t>
            </a:r>
            <a:endParaRPr lang="en-US" altLang="zh-CN" sz="2800" b="1" i="1" dirty="0">
              <a:solidFill>
                <a:srgbClr val="333300"/>
              </a:solidFill>
            </a:endParaRPr>
          </a:p>
          <a:p>
            <a:pPr>
              <a:lnSpc>
                <a:spcPct val="100000"/>
              </a:lnSpc>
              <a:buClr>
                <a:srgbClr val="0B61FF"/>
              </a:buClr>
              <a:buSzPct val="80000"/>
              <a:buFont typeface="Wingdings" panose="05000000000000000000" pitchFamily="2" charset="2"/>
              <a:buChar char="n"/>
            </a:pPr>
            <a:r>
              <a:rPr lang="en-US" altLang="zh-CN" b="1" dirty="0"/>
              <a:t>Not</a:t>
            </a:r>
            <a:r>
              <a:rPr lang="zh-CN" altLang="en-US" b="1" dirty="0"/>
              <a:t> </a:t>
            </a:r>
            <a:r>
              <a:rPr lang="en-US" altLang="zh-CN" b="1" dirty="0"/>
              <a:t>a</a:t>
            </a:r>
            <a:r>
              <a:rPr lang="zh-CN" altLang="en-US" b="1" dirty="0"/>
              <a:t> </a:t>
            </a:r>
            <a:r>
              <a:rPr lang="en-US" altLang="zh-CN" b="1" dirty="0"/>
              <a:t>Subset:</a:t>
            </a:r>
            <a:r>
              <a:rPr lang="zh-CN" altLang="en-US" b="1" dirty="0"/>
              <a:t>          </a:t>
            </a:r>
            <a:r>
              <a:rPr lang="en-US" altLang="zh-CN" sz="2800" b="1" i="1" dirty="0">
                <a:solidFill>
                  <a:srgbClr val="333300"/>
                </a:solidFill>
              </a:rPr>
              <a:t>A</a:t>
            </a:r>
            <a:r>
              <a:rPr lang="en-US" altLang="zh-CN" sz="2800" b="1" dirty="0">
                <a:solidFill>
                  <a:srgbClr val="333300"/>
                </a:solidFill>
              </a:rPr>
              <a:t> </a:t>
            </a:r>
            <a:r>
              <a:rPr lang="en-US" altLang="zh-CN" sz="2800" b="1" dirty="0">
                <a:solidFill>
                  <a:srgbClr val="0B61FF"/>
                </a:solidFill>
              </a:rPr>
              <a:t>⊈</a:t>
            </a:r>
            <a:r>
              <a:rPr lang="en-US" altLang="zh-CN" sz="2800" b="1" dirty="0">
                <a:solidFill>
                  <a:srgbClr val="333300"/>
                </a:solidFill>
              </a:rPr>
              <a:t> </a:t>
            </a:r>
            <a:r>
              <a:rPr lang="en-US" altLang="zh-CN" sz="2800" b="1" i="1" dirty="0">
                <a:solidFill>
                  <a:srgbClr val="333300"/>
                </a:solidFill>
              </a:rPr>
              <a:t>B</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i="1" dirty="0">
                <a:solidFill>
                  <a:srgbClr val="333300"/>
                </a:solidFill>
              </a:rPr>
              <a:t>x</a:t>
            </a:r>
            <a:r>
              <a:rPr lang="en-US" altLang="zh-CN" sz="2800" b="1" dirty="0">
                <a:solidFill>
                  <a:srgbClr val="333300"/>
                </a:solidFill>
              </a:rPr>
              <a:t> (</a:t>
            </a:r>
            <a:r>
              <a:rPr lang="en-US" altLang="zh-CN" sz="2800" b="1" i="1" dirty="0" err="1">
                <a:solidFill>
                  <a:srgbClr val="333300"/>
                </a:solidFill>
              </a:rPr>
              <a:t>x</a:t>
            </a:r>
            <a:r>
              <a:rPr lang="en-US" altLang="zh-CN" sz="2800" b="1" dirty="0" err="1">
                <a:solidFill>
                  <a:srgbClr val="333300"/>
                </a:solidFill>
                <a:sym typeface="Symbol" panose="05050102010706020507" pitchFamily="18" charset="2"/>
              </a:rPr>
              <a:t></a:t>
            </a:r>
            <a:r>
              <a:rPr lang="en-US" altLang="zh-CN" sz="2800" b="1" i="1" dirty="0" err="1">
                <a:solidFill>
                  <a:srgbClr val="333300"/>
                </a:solidFill>
              </a:rPr>
              <a:t>A</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err="1">
                <a:solidFill>
                  <a:srgbClr val="333300"/>
                </a:solidFill>
              </a:rPr>
              <a:t>x</a:t>
            </a:r>
            <a:r>
              <a:rPr lang="en-US" altLang="zh-CN" sz="2800" b="1" dirty="0" err="1">
                <a:solidFill>
                  <a:srgbClr val="333300"/>
                </a:solidFill>
                <a:sym typeface="Symbol" panose="05050102010706020507" pitchFamily="18" charset="2"/>
              </a:rPr>
              <a:t></a:t>
            </a:r>
            <a:r>
              <a:rPr lang="en-US" altLang="zh-CN" sz="2800" b="1" i="1" dirty="0" err="1">
                <a:solidFill>
                  <a:srgbClr val="333300"/>
                </a:solidFill>
              </a:rPr>
              <a:t>B</a:t>
            </a:r>
            <a:r>
              <a:rPr lang="en-US" altLang="zh-CN" sz="2800" b="1" dirty="0">
                <a:solidFill>
                  <a:srgbClr val="333300"/>
                </a:solidFill>
              </a:rPr>
              <a:t>) </a:t>
            </a:r>
          </a:p>
          <a:p>
            <a:pPr>
              <a:lnSpc>
                <a:spcPct val="100000"/>
              </a:lnSpc>
              <a:buClr>
                <a:srgbClr val="0B61FF"/>
              </a:buClr>
              <a:buSzPct val="80000"/>
              <a:buFont typeface="Wingdings" panose="05000000000000000000" pitchFamily="2" charset="2"/>
              <a:buChar char="n"/>
            </a:pPr>
            <a:r>
              <a:rPr lang="en-US" altLang="zh-CN" b="1" dirty="0"/>
              <a:t>Equality of Sets:</a:t>
            </a:r>
            <a:r>
              <a:rPr lang="zh-CN" altLang="en-US" b="1" dirty="0"/>
              <a:t>      </a:t>
            </a:r>
            <a:r>
              <a:rPr lang="en-US" altLang="zh-CN" sz="2800" b="1" i="1" dirty="0">
                <a:solidFill>
                  <a:srgbClr val="333300"/>
                </a:solidFill>
              </a:rPr>
              <a:t>A</a:t>
            </a:r>
            <a:r>
              <a:rPr lang="en-US" altLang="zh-CN" sz="2800" b="1" dirty="0">
                <a:solidFill>
                  <a:srgbClr val="333300"/>
                </a:solidFill>
              </a:rPr>
              <a:t> </a:t>
            </a:r>
            <a:r>
              <a:rPr lang="en-US" altLang="zh-CN" sz="2800" b="1" dirty="0">
                <a:solidFill>
                  <a:srgbClr val="0B61FF"/>
                </a:solidFill>
              </a:rPr>
              <a:t>=</a:t>
            </a:r>
            <a:r>
              <a:rPr lang="en-US" altLang="zh-CN" sz="2800" b="1" dirty="0">
                <a:solidFill>
                  <a:srgbClr val="333300"/>
                </a:solidFill>
              </a:rPr>
              <a:t> </a:t>
            </a:r>
            <a:r>
              <a:rPr lang="en-US" altLang="zh-CN" sz="2800" b="1" i="1" dirty="0">
                <a:solidFill>
                  <a:srgbClr val="333300"/>
                </a:solidFill>
              </a:rPr>
              <a:t>B</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A</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B</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B</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A</a:t>
            </a:r>
          </a:p>
          <a:p>
            <a:pPr>
              <a:lnSpc>
                <a:spcPct val="100000"/>
              </a:lnSpc>
              <a:buClr>
                <a:srgbClr val="0B61FF"/>
              </a:buClr>
              <a:buSzPct val="80000"/>
              <a:buFont typeface="Wingdings" panose="05000000000000000000" pitchFamily="2" charset="2"/>
              <a:buChar char="n"/>
            </a:pPr>
            <a:r>
              <a:rPr lang="en-US" altLang="zh-CN" b="1" dirty="0"/>
              <a:t>Not</a:t>
            </a:r>
            <a:r>
              <a:rPr lang="zh-CN" altLang="en-US" b="1" dirty="0"/>
              <a:t> </a:t>
            </a:r>
            <a:r>
              <a:rPr lang="en-US" altLang="zh-CN" b="1" dirty="0"/>
              <a:t>Equal:</a:t>
            </a:r>
            <a:r>
              <a:rPr lang="zh-CN" altLang="en-US" b="1" dirty="0"/>
              <a:t>                </a:t>
            </a:r>
            <a:r>
              <a:rPr lang="en-US" altLang="zh-CN" sz="2800" b="1" i="1" dirty="0">
                <a:solidFill>
                  <a:srgbClr val="333300"/>
                </a:solidFill>
              </a:rPr>
              <a:t>A</a:t>
            </a:r>
            <a:r>
              <a:rPr lang="en-US" altLang="zh-CN" sz="2800" b="1" dirty="0">
                <a:solidFill>
                  <a:srgbClr val="333300"/>
                </a:solidFill>
              </a:rPr>
              <a:t> </a:t>
            </a:r>
            <a:r>
              <a:rPr lang="en-US" altLang="zh-CN" sz="2800" b="1" dirty="0">
                <a:solidFill>
                  <a:srgbClr val="0B61FF"/>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B </a:t>
            </a:r>
            <a:r>
              <a:rPr lang="en-US" altLang="zh-CN" sz="2800" b="1" dirty="0">
                <a:solidFill>
                  <a:srgbClr val="333300"/>
                </a:solidFill>
                <a:sym typeface="Symbol" panose="05050102010706020507" pitchFamily="18" charset="2"/>
              </a:rPr>
              <a:t></a:t>
            </a:r>
            <a:r>
              <a:rPr lang="en-US" altLang="zh-CN" sz="2800" b="1" i="1" dirty="0">
                <a:solidFill>
                  <a:srgbClr val="333300"/>
                </a:solidFill>
              </a:rPr>
              <a:t> A</a:t>
            </a:r>
            <a:r>
              <a:rPr lang="en-US" altLang="zh-CN" sz="2800" b="1" dirty="0">
                <a:solidFill>
                  <a:srgbClr val="333300"/>
                </a:solidFill>
              </a:rPr>
              <a:t> ⊈ </a:t>
            </a:r>
            <a:r>
              <a:rPr lang="en-US" altLang="zh-CN" sz="2800" b="1" i="1" dirty="0">
                <a:solidFill>
                  <a:srgbClr val="333300"/>
                </a:solidFill>
              </a:rPr>
              <a:t>B </a:t>
            </a:r>
            <a:r>
              <a:rPr lang="en-US" altLang="zh-CN" sz="2800" b="1" dirty="0">
                <a:sym typeface="Symbol" panose="05050102010706020507" pitchFamily="18" charset="2"/>
              </a:rPr>
              <a:t></a:t>
            </a:r>
            <a:r>
              <a:rPr lang="en-US" altLang="zh-CN" sz="2800" b="1" i="1" dirty="0">
                <a:solidFill>
                  <a:srgbClr val="333300"/>
                </a:solidFill>
              </a:rPr>
              <a:t> B</a:t>
            </a:r>
            <a:r>
              <a:rPr lang="en-US" altLang="zh-CN" sz="2800" b="1" dirty="0">
                <a:solidFill>
                  <a:srgbClr val="333300"/>
                </a:solidFill>
              </a:rPr>
              <a:t> ⊈ </a:t>
            </a:r>
            <a:r>
              <a:rPr lang="en-US" altLang="zh-CN" sz="2800" b="1" i="1" dirty="0">
                <a:solidFill>
                  <a:srgbClr val="333300"/>
                </a:solidFill>
              </a:rPr>
              <a:t>A</a:t>
            </a:r>
          </a:p>
          <a:p>
            <a:pPr>
              <a:lnSpc>
                <a:spcPct val="100000"/>
              </a:lnSpc>
              <a:buClr>
                <a:srgbClr val="0B61FF"/>
              </a:buClr>
              <a:buSzPct val="80000"/>
              <a:buFont typeface="Wingdings" panose="05000000000000000000" pitchFamily="2" charset="2"/>
              <a:buChar char="n"/>
            </a:pPr>
            <a:r>
              <a:rPr lang="en-US" altLang="zh-CN" b="1" dirty="0"/>
              <a:t>Proper Subset (Strict Subset): </a:t>
            </a:r>
            <a:r>
              <a:rPr lang="en-US" altLang="zh-CN" sz="2800" b="1" i="1" dirty="0">
                <a:solidFill>
                  <a:srgbClr val="333300"/>
                </a:solidFill>
              </a:rPr>
              <a:t>A</a:t>
            </a:r>
            <a:r>
              <a:rPr lang="en-US" altLang="zh-CN" sz="2800" b="1" dirty="0">
                <a:solidFill>
                  <a:srgbClr val="333300"/>
                </a:solidFill>
              </a:rPr>
              <a:t> </a:t>
            </a:r>
            <a:r>
              <a:rPr lang="en-US" altLang="zh-CN" sz="2800" b="1" dirty="0">
                <a:solidFill>
                  <a:srgbClr val="0B61FF"/>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B</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A</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B</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A</a:t>
            </a:r>
            <a:r>
              <a:rPr lang="en-US" altLang="zh-CN" sz="2800" b="1" dirty="0">
                <a:solidFill>
                  <a:srgbClr val="333300"/>
                </a:solidFill>
              </a:rPr>
              <a:t> </a:t>
            </a:r>
            <a:r>
              <a:rPr lang="en-US" altLang="zh-CN" sz="2800" b="1" dirty="0">
                <a:solidFill>
                  <a:srgbClr val="333300"/>
                </a:solidFill>
                <a:sym typeface="Symbol" panose="05050102010706020507" pitchFamily="18" charset="2"/>
              </a:rPr>
              <a:t></a:t>
            </a:r>
            <a:r>
              <a:rPr lang="en-US" altLang="zh-CN" sz="2800" b="1" dirty="0">
                <a:solidFill>
                  <a:srgbClr val="333300"/>
                </a:solidFill>
              </a:rPr>
              <a:t> </a:t>
            </a:r>
            <a:r>
              <a:rPr lang="en-US" altLang="zh-CN" sz="2800" b="1" i="1" dirty="0">
                <a:solidFill>
                  <a:srgbClr val="333300"/>
                </a:solidFill>
              </a:rPr>
              <a:t>B</a:t>
            </a:r>
            <a:r>
              <a:rPr lang="en-US" altLang="zh-CN" sz="2800" b="1" dirty="0">
                <a:solidFill>
                  <a:srgbClr val="333300"/>
                </a:solidFill>
              </a:rPr>
              <a:t> </a:t>
            </a:r>
          </a:p>
        </p:txBody>
      </p:sp>
      <p:sp>
        <p:nvSpPr>
          <p:cNvPr id="9" name="Rectangle 3">
            <a:extLst>
              <a:ext uri="{FF2B5EF4-FFF2-40B4-BE49-F238E27FC236}">
                <a16:creationId xmlns:a16="http://schemas.microsoft.com/office/drawing/2014/main" id="{1972C45C-2E83-4A98-BEEC-F781C3C7072E}"/>
              </a:ext>
            </a:extLst>
          </p:cNvPr>
          <p:cNvSpPr txBox="1">
            <a:spLocks noChangeArrowheads="1"/>
          </p:cNvSpPr>
          <p:nvPr/>
        </p:nvSpPr>
        <p:spPr>
          <a:xfrm>
            <a:off x="1460499" y="3477077"/>
            <a:ext cx="8432802" cy="33313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None/>
            </a:pPr>
            <a:r>
              <a:rPr lang="en-US" altLang="zh-CN" b="1" dirty="0"/>
              <a:t>Example: </a:t>
            </a:r>
            <a:r>
              <a:rPr lang="en-US" altLang="zh-CN" sz="2800" b="1" i="1" dirty="0">
                <a:sym typeface="Symbol" panose="05050102010706020507" pitchFamily="18" charset="2"/>
              </a:rPr>
              <a:t>A</a:t>
            </a:r>
            <a:r>
              <a:rPr lang="en-US" altLang="zh-CN" sz="2800" b="1" dirty="0">
                <a:sym typeface="Symbol" panose="05050102010706020507" pitchFamily="18" charset="2"/>
              </a:rPr>
              <a:t>={1,2,3}, </a:t>
            </a:r>
            <a:r>
              <a:rPr lang="en-US" altLang="zh-CN" sz="2800" b="1" i="1" dirty="0">
                <a:sym typeface="Symbol" panose="05050102010706020507" pitchFamily="18" charset="2"/>
              </a:rPr>
              <a:t>B</a:t>
            </a:r>
            <a:r>
              <a:rPr lang="en-US" altLang="zh-CN" sz="2800" b="1" dirty="0">
                <a:sym typeface="Symbol" panose="05050102010706020507" pitchFamily="18" charset="2"/>
              </a:rPr>
              <a:t>={ </a:t>
            </a:r>
            <a:r>
              <a:rPr lang="en-US" altLang="zh-CN" sz="2800" b="1" i="1" dirty="0">
                <a:sym typeface="Symbol" panose="05050102010706020507" pitchFamily="18" charset="2"/>
              </a:rPr>
              <a:t>x</a:t>
            </a:r>
            <a:r>
              <a:rPr lang="en-US" altLang="zh-CN" sz="2800" b="1" dirty="0">
                <a:sym typeface="Symbol" panose="05050102010706020507" pitchFamily="18" charset="2"/>
              </a:rPr>
              <a:t> | </a:t>
            </a:r>
            <a:r>
              <a:rPr lang="en-US" altLang="zh-CN" sz="2800" b="1" i="1" dirty="0" err="1"/>
              <a:t>x</a:t>
            </a:r>
            <a:r>
              <a:rPr lang="en-US" altLang="zh-CN" sz="2800" b="1" dirty="0" err="1">
                <a:sym typeface="Symbol" panose="05050102010706020507" pitchFamily="18" charset="2"/>
              </a:rPr>
              <a:t>R</a:t>
            </a:r>
            <a:r>
              <a:rPr lang="en-US" altLang="zh-CN" sz="2800" b="1" dirty="0">
                <a:sym typeface="Symbol" panose="05050102010706020507" pitchFamily="18" charset="2"/>
              </a:rPr>
              <a:t>|</a:t>
            </a:r>
            <a:r>
              <a:rPr lang="en-US" altLang="zh-CN" sz="2800" b="1" i="1" dirty="0">
                <a:sym typeface="Symbol" panose="05050102010706020507" pitchFamily="18" charset="2"/>
              </a:rPr>
              <a:t>x</a:t>
            </a:r>
            <a:r>
              <a:rPr lang="en-US" altLang="zh-CN" sz="2800" b="1" dirty="0">
                <a:sym typeface="Symbol" panose="05050102010706020507" pitchFamily="18" charset="2"/>
              </a:rPr>
              <a:t>|1 }, </a:t>
            </a:r>
            <a:r>
              <a:rPr lang="en-US" altLang="zh-CN" sz="2800" b="1" i="1" dirty="0">
                <a:sym typeface="Symbol" panose="05050102010706020507" pitchFamily="18" charset="2"/>
              </a:rPr>
              <a:t>C</a:t>
            </a:r>
            <a:r>
              <a:rPr lang="en-US" altLang="zh-CN" sz="2800" b="1" dirty="0">
                <a:sym typeface="Symbol" panose="05050102010706020507" pitchFamily="18" charset="2"/>
              </a:rPr>
              <a:t>={ </a:t>
            </a:r>
            <a:r>
              <a:rPr lang="en-US" altLang="zh-CN" sz="2800" b="1" i="1" dirty="0">
                <a:sym typeface="Symbol" panose="05050102010706020507" pitchFamily="18" charset="2"/>
              </a:rPr>
              <a:t>x</a:t>
            </a:r>
            <a:r>
              <a:rPr lang="en-US" altLang="zh-CN" sz="2800" b="1" dirty="0">
                <a:sym typeface="Symbol" panose="05050102010706020507" pitchFamily="18" charset="2"/>
              </a:rPr>
              <a:t> | </a:t>
            </a:r>
            <a:r>
              <a:rPr lang="en-US" altLang="zh-CN" sz="2800" b="1" i="1" dirty="0"/>
              <a:t>x</a:t>
            </a:r>
            <a:r>
              <a:rPr lang="en-US" altLang="zh-CN" sz="2800" b="1" dirty="0">
                <a:sym typeface="Symbol" panose="05050102010706020507" pitchFamily="18" charset="2"/>
              </a:rPr>
              <a:t>R</a:t>
            </a:r>
            <a:r>
              <a:rPr lang="en-US" altLang="zh-CN" sz="2800" b="1" i="1" dirty="0">
                <a:sym typeface="Symbol" panose="05050102010706020507" pitchFamily="18" charset="2"/>
              </a:rPr>
              <a:t>x</a:t>
            </a:r>
            <a:r>
              <a:rPr lang="en-US" altLang="zh-CN" sz="2800" b="1" baseline="30000" dirty="0">
                <a:sym typeface="Symbol" panose="05050102010706020507" pitchFamily="18" charset="2"/>
              </a:rPr>
              <a:t>2</a:t>
            </a:r>
            <a:r>
              <a:rPr lang="en-US" altLang="zh-CN" sz="2800" b="1" dirty="0">
                <a:sym typeface="Symbol" panose="05050102010706020507" pitchFamily="18" charset="2"/>
              </a:rPr>
              <a:t>=1 }, </a:t>
            </a:r>
            <a:r>
              <a:rPr lang="en-US" altLang="zh-CN" sz="2800" b="1" i="1" dirty="0">
                <a:sym typeface="Symbol" panose="05050102010706020507" pitchFamily="18" charset="2"/>
              </a:rPr>
              <a:t> D</a:t>
            </a:r>
            <a:r>
              <a:rPr lang="en-US" altLang="zh-CN" sz="2800" b="1" dirty="0">
                <a:sym typeface="Symbol" panose="05050102010706020507" pitchFamily="18" charset="2"/>
              </a:rPr>
              <a:t>={-1,1}, </a:t>
            </a:r>
            <a:r>
              <a:rPr lang="en-US" altLang="zh-CN" b="1" dirty="0">
                <a:sym typeface="Symbol" panose="05050102010706020507" pitchFamily="18" charset="2"/>
              </a:rPr>
              <a:t>then we have </a:t>
            </a:r>
            <a:r>
              <a:rPr lang="en-US" altLang="zh-CN" sz="2800" b="1" i="1" dirty="0">
                <a:sym typeface="Symbol" panose="05050102010706020507" pitchFamily="18" charset="2"/>
              </a:rPr>
              <a:t>C </a:t>
            </a:r>
            <a:r>
              <a:rPr lang="en-US" altLang="zh-CN" sz="2800" b="1" dirty="0">
                <a:sym typeface="Symbol" panose="05050102010706020507" pitchFamily="18" charset="2"/>
              </a:rPr>
              <a:t></a:t>
            </a:r>
            <a:r>
              <a:rPr lang="en-US" altLang="zh-CN" sz="2800" b="1" i="1" dirty="0">
                <a:sym typeface="Symbol" panose="05050102010706020507" pitchFamily="18" charset="2"/>
              </a:rPr>
              <a:t> B, C </a:t>
            </a:r>
            <a:r>
              <a:rPr lang="en-US" altLang="zh-CN" sz="2800" b="1" dirty="0">
                <a:sym typeface="Symbol" panose="05050102010706020507" pitchFamily="18" charset="2"/>
              </a:rPr>
              <a:t></a:t>
            </a:r>
            <a:r>
              <a:rPr lang="en-US" altLang="zh-CN" sz="2800" b="1" i="1" dirty="0">
                <a:sym typeface="Symbol" panose="05050102010706020507" pitchFamily="18" charset="2"/>
              </a:rPr>
              <a:t> B, C </a:t>
            </a:r>
            <a:r>
              <a:rPr lang="en-US" altLang="zh-CN" sz="2800" b="1" dirty="0"/>
              <a:t>⊈</a:t>
            </a:r>
            <a:r>
              <a:rPr lang="en-US" altLang="zh-CN" sz="2800" b="1" i="1" dirty="0">
                <a:sym typeface="Symbol" panose="05050102010706020507" pitchFamily="18" charset="2"/>
              </a:rPr>
              <a:t> A, A </a:t>
            </a:r>
            <a:r>
              <a:rPr lang="en-US" altLang="zh-CN" sz="2800" b="1" dirty="0"/>
              <a:t>⊈</a:t>
            </a:r>
            <a:r>
              <a:rPr lang="en-US" altLang="zh-CN" sz="2800" b="1" i="1" dirty="0">
                <a:sym typeface="Symbol" panose="05050102010706020507" pitchFamily="18" charset="2"/>
              </a:rPr>
              <a:t> B, B </a:t>
            </a:r>
            <a:r>
              <a:rPr lang="en-US" altLang="zh-CN" sz="2800" b="1" dirty="0"/>
              <a:t>⊈</a:t>
            </a:r>
            <a:r>
              <a:rPr lang="en-US" altLang="zh-CN" sz="2800" b="1" i="1" dirty="0">
                <a:sym typeface="Symbol" panose="05050102010706020507" pitchFamily="18" charset="2"/>
              </a:rPr>
              <a:t> A, C = D</a:t>
            </a:r>
            <a:endParaRPr lang="zh-CN" altLang="en-US" sz="2800" b="1" dirty="0">
              <a:sym typeface="Symbol" panose="05050102010706020507" pitchFamily="18" charset="2"/>
            </a:endParaRPr>
          </a:p>
          <a:p>
            <a:pPr>
              <a:lnSpc>
                <a:spcPct val="110000"/>
              </a:lnSpc>
              <a:buClr>
                <a:srgbClr val="0B61FF"/>
              </a:buClr>
              <a:buSzPct val="80000"/>
              <a:buFont typeface="Wingdings" panose="05000000000000000000" pitchFamily="2" charset="2"/>
              <a:buChar char="n"/>
            </a:pPr>
            <a:r>
              <a:rPr lang="en-US" altLang="zh-CN" b="1" dirty="0"/>
              <a:t>Properties:</a:t>
            </a:r>
          </a:p>
          <a:p>
            <a:pPr indent="36513" eaLnBrk="1" hangingPunct="1">
              <a:lnSpc>
                <a:spcPct val="110000"/>
              </a:lnSpc>
              <a:buFontTx/>
              <a:buNone/>
            </a:pPr>
            <a:r>
              <a:rPr lang="zh-CN" altLang="en-US" sz="2800" b="1" dirty="0">
                <a:sym typeface="Symbol" panose="05050102010706020507" pitchFamily="18" charset="2"/>
              </a:rPr>
              <a:t> (1) </a:t>
            </a:r>
            <a:r>
              <a:rPr lang="en-US" altLang="zh-CN" sz="2800" b="1" i="1" dirty="0">
                <a:sym typeface="Symbol" panose="05050102010706020507" pitchFamily="18" charset="2"/>
              </a:rPr>
              <a:t>A </a:t>
            </a:r>
            <a:r>
              <a:rPr lang="en-US" altLang="zh-CN" sz="2800" b="1" dirty="0">
                <a:solidFill>
                  <a:srgbClr val="333300"/>
                </a:solidFill>
                <a:sym typeface="Symbol" panose="05050102010706020507" pitchFamily="18" charset="2"/>
              </a:rPr>
              <a:t></a:t>
            </a:r>
            <a:r>
              <a:rPr lang="en-US" altLang="zh-CN" sz="2800" b="1" i="1" dirty="0">
                <a:sym typeface="Symbol" panose="05050102010706020507" pitchFamily="18" charset="2"/>
              </a:rPr>
              <a:t> A</a:t>
            </a:r>
          </a:p>
          <a:p>
            <a:pPr indent="36513" eaLnBrk="1" hangingPunct="1">
              <a:lnSpc>
                <a:spcPct val="110000"/>
              </a:lnSpc>
              <a:buFontTx/>
              <a:buNone/>
            </a:pPr>
            <a:r>
              <a:rPr lang="en-US" altLang="zh-CN" sz="2800" b="1" dirty="0">
                <a:sym typeface="Symbol" panose="05050102010706020507" pitchFamily="18" charset="2"/>
              </a:rPr>
              <a:t> (2) </a:t>
            </a:r>
            <a:r>
              <a:rPr lang="en-US" altLang="zh-CN" sz="2800" b="1" i="1" dirty="0">
                <a:sym typeface="Symbol" panose="05050102010706020507" pitchFamily="18" charset="2"/>
              </a:rPr>
              <a:t>A </a:t>
            </a:r>
            <a:r>
              <a:rPr lang="en-US" altLang="zh-CN" sz="2800" b="1" dirty="0">
                <a:solidFill>
                  <a:srgbClr val="333300"/>
                </a:solidFill>
                <a:sym typeface="Symbol" panose="05050102010706020507" pitchFamily="18" charset="2"/>
              </a:rPr>
              <a:t></a:t>
            </a:r>
            <a:r>
              <a:rPr lang="en-US" altLang="zh-CN" sz="2800" b="1" i="1" dirty="0">
                <a:sym typeface="Symbol" panose="05050102010706020507" pitchFamily="18" charset="2"/>
              </a:rPr>
              <a:t> B </a:t>
            </a:r>
            <a:r>
              <a:rPr lang="en-US" altLang="zh-CN" sz="2800" b="1" dirty="0">
                <a:solidFill>
                  <a:srgbClr val="333300"/>
                </a:solidFill>
                <a:sym typeface="Symbol" panose="05050102010706020507" pitchFamily="18" charset="2"/>
              </a:rPr>
              <a:t></a:t>
            </a:r>
            <a:r>
              <a:rPr lang="en-US" altLang="zh-CN" sz="2800" b="1" i="1" dirty="0">
                <a:sym typeface="Symbol" panose="05050102010706020507" pitchFamily="18" charset="2"/>
              </a:rPr>
              <a:t> B </a:t>
            </a:r>
            <a:r>
              <a:rPr lang="en-US" altLang="zh-CN" sz="2800" b="1" dirty="0">
                <a:solidFill>
                  <a:srgbClr val="333300"/>
                </a:solidFill>
                <a:sym typeface="Symbol" panose="05050102010706020507" pitchFamily="18" charset="2"/>
              </a:rPr>
              <a:t></a:t>
            </a:r>
            <a:r>
              <a:rPr lang="en-US" altLang="zh-CN" sz="2800" b="1" i="1" dirty="0">
                <a:sym typeface="Symbol" panose="05050102010706020507" pitchFamily="18" charset="2"/>
              </a:rPr>
              <a:t> C </a:t>
            </a:r>
            <a:r>
              <a:rPr lang="en-US" altLang="zh-CN" sz="2800" b="1" dirty="0">
                <a:solidFill>
                  <a:srgbClr val="333300"/>
                </a:solidFill>
                <a:sym typeface="Symbol" panose="05050102010706020507" pitchFamily="18" charset="2"/>
              </a:rPr>
              <a:t></a:t>
            </a:r>
            <a:r>
              <a:rPr lang="en-US" altLang="zh-CN" sz="2800" b="1" i="1" dirty="0">
                <a:sym typeface="Symbol" panose="05050102010706020507" pitchFamily="18" charset="2"/>
              </a:rPr>
              <a:t> A </a:t>
            </a:r>
            <a:r>
              <a:rPr lang="en-US" altLang="zh-CN" sz="2800" b="1" dirty="0">
                <a:solidFill>
                  <a:srgbClr val="333300"/>
                </a:solidFill>
                <a:sym typeface="Symbol" panose="05050102010706020507" pitchFamily="18" charset="2"/>
              </a:rPr>
              <a:t></a:t>
            </a:r>
            <a:r>
              <a:rPr lang="en-US" altLang="zh-CN" sz="2800" b="1" i="1" dirty="0">
                <a:sym typeface="Symbol" panose="05050102010706020507" pitchFamily="18" charset="2"/>
              </a:rPr>
              <a:t> C</a:t>
            </a:r>
            <a:endParaRPr lang="zh-CN" altLang="en-US" b="1" dirty="0"/>
          </a:p>
        </p:txBody>
      </p:sp>
    </p:spTree>
    <p:extLst>
      <p:ext uri="{BB962C8B-B14F-4D97-AF65-F5344CB8AC3E}">
        <p14:creationId xmlns:p14="http://schemas.microsoft.com/office/powerpoint/2010/main" val="24281423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animEffect transition="in" filter="fade">
                                      <p:cBhvr>
                                        <p:cTn id="19" dur="1000"/>
                                        <p:tgtEl>
                                          <p:spTgt spid="9">
                                            <p:txEl>
                                              <p:pRg st="2" end="2"/>
                                            </p:txEl>
                                          </p:spTgt>
                                        </p:tgtEl>
                                      </p:cBhvr>
                                    </p:animEffect>
                                    <p:anim calcmode="lin" valueType="num">
                                      <p:cBhvr>
                                        <p:cTn id="2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1.</a:t>
            </a:r>
            <a:r>
              <a:rPr lang="en-US" altLang="zh-CN" sz="2000" b="1" dirty="0">
                <a:cs typeface="Times New Roman" panose="02020603050405020304" pitchFamily="18" charset="0"/>
              </a:rPr>
              <a:t>2</a:t>
            </a:r>
            <a:r>
              <a:rPr lang="zh-CN" altLang="en-US" sz="2000" b="1" dirty="0">
                <a:cs typeface="Times New Roman" panose="02020603050405020304" pitchFamily="18" charset="0"/>
              </a:rPr>
              <a:t> </a:t>
            </a:r>
            <a:r>
              <a:rPr lang="en-US" altLang="zh-CN" sz="2000" dirty="0">
                <a:latin typeface="+mj-lt"/>
              </a:rPr>
              <a:t>Set and its operations</a:t>
            </a:r>
            <a:br>
              <a:rPr lang="en-US" altLang="zh-CN" sz="2000" dirty="0">
                <a:latin typeface="+mj-lt"/>
              </a:rPr>
            </a:br>
            <a:r>
              <a:rPr lang="en-US" altLang="zh-CN" sz="2000" b="1" dirty="0">
                <a:latin typeface="+mj-lt"/>
                <a:ea typeface="宋体" panose="02010600030101010101" pitchFamily="2" charset="-122"/>
                <a:cs typeface="Times New Roman" panose="02020603050405020304" pitchFamily="18" charset="0"/>
              </a:rPr>
              <a:t>                   </a:t>
            </a:r>
            <a:r>
              <a:rPr lang="zh-CN" altLang="en-US" sz="2400" b="1" dirty="0">
                <a:solidFill>
                  <a:srgbClr val="CFA57C"/>
                </a:solidFill>
                <a:latin typeface="+mj-lt"/>
                <a:ea typeface="宋体" panose="02010600030101010101" pitchFamily="2" charset="-122"/>
                <a:cs typeface="Times New Roman" panose="02020603050405020304" pitchFamily="18" charset="0"/>
              </a:rPr>
              <a:t>⤷</a:t>
            </a:r>
            <a:r>
              <a:rPr lang="en-US" altLang="zh-CN" sz="2000" dirty="0">
                <a:latin typeface="+mj-lt"/>
              </a:rPr>
              <a:t>Sets </a:t>
            </a:r>
            <a:r>
              <a:rPr lang="en-US" altLang="zh-CN" sz="24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latin typeface="+mj-lt"/>
              </a:rPr>
              <a:t>Empty Set and Universal Set</a:t>
            </a:r>
            <a:endParaRPr lang="zh-CN" altLang="en-US" sz="2400" b="1" dirty="0">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371599" y="765175"/>
            <a:ext cx="9696894" cy="33441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spcBef>
                <a:spcPts val="0"/>
              </a:spcBef>
              <a:buClr>
                <a:srgbClr val="0B61FF"/>
              </a:buClr>
              <a:buSzPct val="80000"/>
              <a:buFont typeface="Wingdings" panose="05000000000000000000" pitchFamily="2" charset="2"/>
              <a:buChar char="n"/>
            </a:pPr>
            <a:r>
              <a:rPr lang="en-US" altLang="zh-CN" sz="2400" b="1" dirty="0"/>
              <a:t>Empty set </a:t>
            </a:r>
            <a:r>
              <a:rPr lang="zh-CN" altLang="en-US" sz="2400" b="1" dirty="0">
                <a:solidFill>
                  <a:srgbClr val="0B61FF"/>
                </a:solidFill>
                <a:sym typeface="Symbol" panose="05050102010706020507" pitchFamily="18" charset="2"/>
              </a:rPr>
              <a:t></a:t>
            </a:r>
            <a:r>
              <a:rPr lang="zh-CN" altLang="en-US" sz="2400" b="1" dirty="0">
                <a:sym typeface="Symbol" panose="05050102010706020507" pitchFamily="18" charset="2"/>
              </a:rPr>
              <a:t>: </a:t>
            </a:r>
            <a:r>
              <a:rPr lang="en-US" altLang="zh-CN" sz="2400" dirty="0"/>
              <a:t>A set that contains no elements.</a:t>
            </a:r>
            <a:endParaRPr lang="zh-CN" altLang="en-US" sz="2400" dirty="0">
              <a:sym typeface="Symbol" panose="05050102010706020507" pitchFamily="18" charset="2"/>
            </a:endParaRPr>
          </a:p>
          <a:p>
            <a:pPr indent="36513" eaLnBrk="1" hangingPunct="1">
              <a:lnSpc>
                <a:spcPct val="110000"/>
              </a:lnSpc>
              <a:spcBef>
                <a:spcPts val="0"/>
              </a:spcBef>
              <a:buFontTx/>
              <a:buNone/>
            </a:pPr>
            <a:r>
              <a:rPr lang="en-US" altLang="zh-CN" sz="2400" b="1" dirty="0">
                <a:sym typeface="Symbol" panose="05050102010706020507" pitchFamily="18" charset="2"/>
              </a:rPr>
              <a:t>Example</a:t>
            </a:r>
            <a:r>
              <a:rPr lang="en-US" altLang="zh-CN" sz="2400" dirty="0">
                <a:sym typeface="Symbol" panose="05050102010706020507" pitchFamily="18" charset="2"/>
              </a:rPr>
              <a:t>:</a:t>
            </a:r>
            <a:r>
              <a:rPr lang="zh-CN" altLang="en-US" sz="2400" dirty="0">
                <a:sym typeface="Symbol" panose="05050102010706020507" pitchFamily="18" charset="2"/>
              </a:rPr>
              <a:t> </a:t>
            </a:r>
            <a:r>
              <a:rPr lang="zh-CN" altLang="en-US" sz="2400" b="1" dirty="0">
                <a:sym typeface="Symbol" panose="05050102010706020507" pitchFamily="18" charset="2"/>
              </a:rPr>
              <a:t>{</a:t>
            </a:r>
            <a:r>
              <a:rPr lang="en-US" altLang="zh-CN" sz="2400" b="1" i="1" dirty="0">
                <a:sym typeface="Symbol" panose="05050102010706020507" pitchFamily="18" charset="2"/>
              </a:rPr>
              <a:t>x</a:t>
            </a:r>
            <a:r>
              <a:rPr lang="en-US" altLang="zh-CN" sz="2400" b="1" dirty="0">
                <a:sym typeface="Symbol" panose="05050102010706020507" pitchFamily="18" charset="2"/>
              </a:rPr>
              <a:t> | </a:t>
            </a:r>
            <a:r>
              <a:rPr lang="en-US" altLang="zh-CN" sz="2400" b="1" i="1" dirty="0">
                <a:sym typeface="Symbol" panose="05050102010706020507" pitchFamily="18" charset="2"/>
              </a:rPr>
              <a:t>x</a:t>
            </a:r>
            <a:r>
              <a:rPr lang="en-US" altLang="zh-CN" sz="2400" b="1" baseline="30000" dirty="0">
                <a:sym typeface="Symbol" panose="05050102010706020507" pitchFamily="18" charset="2"/>
              </a:rPr>
              <a:t>2</a:t>
            </a:r>
            <a:r>
              <a:rPr lang="en-US" altLang="zh-CN" sz="2400" b="1" dirty="0">
                <a:sym typeface="Symbol" panose="05050102010706020507" pitchFamily="18" charset="2"/>
              </a:rPr>
              <a:t>&lt;0</a:t>
            </a:r>
            <a:r>
              <a:rPr lang="en-US" altLang="zh-CN" sz="2400" b="1" i="1" dirty="0">
                <a:sym typeface="Symbol" panose="05050102010706020507" pitchFamily="18" charset="2"/>
              </a:rPr>
              <a:t>x</a:t>
            </a:r>
            <a:r>
              <a:rPr lang="en-US" altLang="zh-CN" sz="2400" b="1" dirty="0">
                <a:sym typeface="Symbol" panose="05050102010706020507" pitchFamily="18" charset="2"/>
              </a:rPr>
              <a:t>R}=</a:t>
            </a:r>
            <a:r>
              <a:rPr lang="zh-CN" altLang="en-US" sz="2400" b="1" dirty="0">
                <a:sym typeface="Symbol" panose="05050102010706020507" pitchFamily="18" charset="2"/>
              </a:rPr>
              <a:t></a:t>
            </a:r>
          </a:p>
          <a:p>
            <a:pPr>
              <a:lnSpc>
                <a:spcPct val="110000"/>
              </a:lnSpc>
              <a:spcBef>
                <a:spcPts val="0"/>
              </a:spcBef>
              <a:buClr>
                <a:srgbClr val="0B61FF"/>
              </a:buClr>
              <a:buSzPct val="80000"/>
              <a:buFont typeface="Wingdings" panose="05000000000000000000" pitchFamily="2" charset="2"/>
              <a:buChar char="n"/>
            </a:pPr>
            <a:r>
              <a:rPr lang="en-US" altLang="zh-CN" sz="2400" b="1" dirty="0"/>
              <a:t>Theorem 1.1: </a:t>
            </a:r>
            <a:r>
              <a:rPr lang="en-US" altLang="zh-CN" sz="2400" dirty="0"/>
              <a:t>The empty set is a subset of any set.</a:t>
            </a:r>
          </a:p>
          <a:p>
            <a:pPr indent="36513" eaLnBrk="1" hangingPunct="1">
              <a:lnSpc>
                <a:spcPct val="110000"/>
              </a:lnSpc>
              <a:spcBef>
                <a:spcPts val="0"/>
              </a:spcBef>
              <a:buFontTx/>
              <a:buNone/>
            </a:pPr>
            <a:r>
              <a:rPr lang="en-US" altLang="zh-CN" sz="2400" b="1" dirty="0"/>
              <a:t>Proof:</a:t>
            </a:r>
            <a:r>
              <a:rPr lang="zh-CN" altLang="en-US" sz="2400" b="1" dirty="0">
                <a:sym typeface="Symbol" panose="05050102010706020507" pitchFamily="18" charset="2"/>
              </a:rPr>
              <a:t> </a:t>
            </a:r>
            <a:r>
              <a:rPr lang="en-US" altLang="zh-CN" sz="2400" dirty="0"/>
              <a:t>By contradiction. </a:t>
            </a:r>
          </a:p>
          <a:p>
            <a:pPr indent="36513" eaLnBrk="1" hangingPunct="1">
              <a:lnSpc>
                <a:spcPct val="110000"/>
              </a:lnSpc>
              <a:spcBef>
                <a:spcPts val="200"/>
              </a:spcBef>
              <a:buFontTx/>
              <a:buNone/>
            </a:pPr>
            <a:r>
              <a:rPr lang="en-US" altLang="zh-CN" sz="2400" dirty="0"/>
              <a:t>Suppose the contrary, i.e., there exists a set </a:t>
            </a:r>
            <a:r>
              <a:rPr lang="en-US" altLang="zh-CN" sz="2400" b="1" i="1" dirty="0">
                <a:sym typeface="Symbol" panose="05050102010706020507" pitchFamily="18" charset="2"/>
              </a:rPr>
              <a:t>A</a:t>
            </a:r>
            <a:r>
              <a:rPr lang="en-US" altLang="zh-CN" sz="2400" b="1" dirty="0">
                <a:sym typeface="Symbol" panose="05050102010706020507" pitchFamily="18" charset="2"/>
              </a:rPr>
              <a:t>, such</a:t>
            </a:r>
            <a:r>
              <a:rPr lang="zh-CN" altLang="en-US" sz="2400" b="1" dirty="0">
                <a:sym typeface="Symbol" panose="05050102010706020507" pitchFamily="18" charset="2"/>
              </a:rPr>
              <a:t> </a:t>
            </a:r>
            <a:r>
              <a:rPr lang="en-US" altLang="zh-CN" sz="2400" b="1" dirty="0">
                <a:sym typeface="Symbol" panose="05050102010706020507" pitchFamily="18" charset="2"/>
              </a:rPr>
              <a:t>that</a:t>
            </a:r>
            <a:r>
              <a:rPr lang="zh-CN" altLang="en-US" sz="2400" b="1" dirty="0">
                <a:sym typeface="Symbol" panose="05050102010706020507" pitchFamily="18" charset="2"/>
              </a:rPr>
              <a:t>  </a:t>
            </a:r>
            <a:r>
              <a:rPr lang="en-US" altLang="zh-CN" sz="2400" b="1" dirty="0">
                <a:solidFill>
                  <a:srgbClr val="333300"/>
                </a:solidFill>
              </a:rPr>
              <a:t>⊈ </a:t>
            </a:r>
            <a:r>
              <a:rPr lang="en-US" altLang="zh-CN" sz="2400" b="1" i="1" dirty="0">
                <a:solidFill>
                  <a:srgbClr val="333300"/>
                </a:solidFill>
              </a:rPr>
              <a:t>A</a:t>
            </a:r>
            <a:r>
              <a:rPr lang="zh-CN" altLang="en-US" sz="2400" b="1" dirty="0">
                <a:sym typeface="Symbol" panose="05050102010706020507" pitchFamily="18" charset="2"/>
              </a:rPr>
              <a:t>, </a:t>
            </a:r>
            <a:r>
              <a:rPr lang="en-US" altLang="zh-CN" sz="2400" dirty="0"/>
              <a:t>This means there exists an element </a:t>
            </a:r>
            <a:r>
              <a:rPr lang="en-US" altLang="zh-CN" sz="2400" b="1" i="1" dirty="0">
                <a:sym typeface="Symbol" panose="05050102010706020507" pitchFamily="18" charset="2"/>
              </a:rPr>
              <a:t>x, x</a:t>
            </a:r>
            <a:r>
              <a:rPr lang="en-US" altLang="zh-CN" sz="2400" b="1" dirty="0">
                <a:sym typeface="Symbol" panose="05050102010706020507" pitchFamily="18" charset="2"/>
              </a:rPr>
              <a:t></a:t>
            </a:r>
            <a:r>
              <a:rPr lang="zh-CN" altLang="en-US" sz="2400" b="1" dirty="0">
                <a:sym typeface="Symbol" panose="05050102010706020507" pitchFamily="18" charset="2"/>
              </a:rPr>
              <a:t> </a:t>
            </a:r>
            <a:r>
              <a:rPr lang="en-US" altLang="zh-CN" sz="2400" b="1" dirty="0">
                <a:sym typeface="Symbol" panose="05050102010706020507" pitchFamily="18" charset="2"/>
              </a:rPr>
              <a:t>and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sym typeface="Symbol" panose="05050102010706020507" pitchFamily="18" charset="2"/>
              </a:rPr>
              <a:t>A</a:t>
            </a:r>
            <a:r>
              <a:rPr lang="en-US" altLang="zh-CN" sz="2400" b="1" dirty="0">
                <a:sym typeface="Symbol" panose="05050102010706020507" pitchFamily="18" charset="2"/>
              </a:rPr>
              <a:t>, which is a contradiction</a:t>
            </a:r>
            <a:r>
              <a:rPr lang="zh-CN" altLang="en-US" sz="2400" b="1" dirty="0">
                <a:sym typeface="Symbol" panose="05050102010706020507" pitchFamily="18" charset="2"/>
              </a:rPr>
              <a:t>. </a:t>
            </a:r>
            <a:endParaRPr lang="zh-CN" altLang="en-US" sz="2400" b="1" dirty="0"/>
          </a:p>
        </p:txBody>
      </p:sp>
      <p:sp>
        <p:nvSpPr>
          <p:cNvPr id="9" name="Rectangle 3">
            <a:extLst>
              <a:ext uri="{FF2B5EF4-FFF2-40B4-BE49-F238E27FC236}">
                <a16:creationId xmlns:a16="http://schemas.microsoft.com/office/drawing/2014/main" id="{15DF1E9F-5D4E-49DC-9330-344D849B2D2E}"/>
              </a:ext>
            </a:extLst>
          </p:cNvPr>
          <p:cNvSpPr txBox="1">
            <a:spLocks noChangeArrowheads="1"/>
          </p:cNvSpPr>
          <p:nvPr/>
        </p:nvSpPr>
        <p:spPr>
          <a:xfrm>
            <a:off x="1371599" y="3627243"/>
            <a:ext cx="9888280" cy="26154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Clr>
                <a:srgbClr val="0B61FF"/>
              </a:buClr>
              <a:buSzPct val="80000"/>
              <a:buFont typeface="Wingdings" panose="05000000000000000000" pitchFamily="2" charset="2"/>
              <a:buChar char="n"/>
            </a:pPr>
            <a:r>
              <a:rPr lang="en-US" altLang="zh-CN" sz="2400" b="1" dirty="0"/>
              <a:t>Corollary: </a:t>
            </a:r>
            <a:r>
              <a:rPr lang="en-US" altLang="zh-CN" sz="2400" dirty="0"/>
              <a:t>The empty set is unique.</a:t>
            </a:r>
          </a:p>
          <a:p>
            <a:pPr marL="265113" indent="0">
              <a:lnSpc>
                <a:spcPct val="100000"/>
              </a:lnSpc>
              <a:buClr>
                <a:srgbClr val="0B61FF"/>
              </a:buClr>
              <a:buSzPct val="80000"/>
              <a:buNone/>
            </a:pPr>
            <a:r>
              <a:rPr lang="en-US" altLang="zh-CN" sz="2400" b="1" dirty="0"/>
              <a:t>Proof</a:t>
            </a:r>
            <a:r>
              <a:rPr lang="en-US" altLang="zh-CN" sz="2400" dirty="0"/>
              <a:t>: Suppose there exist two empty sets </a:t>
            </a:r>
            <a:r>
              <a:rPr lang="zh-CN" altLang="en-US" sz="2400" b="1" dirty="0">
                <a:sym typeface="Symbol" panose="05050102010706020507" pitchFamily="18" charset="2"/>
              </a:rPr>
              <a:t></a:t>
            </a:r>
            <a:r>
              <a:rPr lang="zh-CN" altLang="en-US" sz="2400" b="1" baseline="-25000" dirty="0">
                <a:sym typeface="Symbol" panose="05050102010706020507" pitchFamily="18" charset="2"/>
              </a:rPr>
              <a:t>1 </a:t>
            </a:r>
            <a:r>
              <a:rPr lang="zh-CN" altLang="en-US" sz="2400" b="1" dirty="0">
                <a:sym typeface="Symbol" panose="05050102010706020507" pitchFamily="18" charset="2"/>
              </a:rPr>
              <a:t></a:t>
            </a:r>
            <a:r>
              <a:rPr lang="zh-CN" altLang="en-US" sz="2400" b="1" baseline="-25000" dirty="0">
                <a:sym typeface="Symbol" panose="05050102010706020507" pitchFamily="18" charset="2"/>
              </a:rPr>
              <a:t>2</a:t>
            </a:r>
            <a:r>
              <a:rPr lang="en-US" altLang="zh-CN" sz="2400" b="1" dirty="0">
                <a:sym typeface="Symbol" panose="05050102010706020507" pitchFamily="18" charset="2"/>
              </a:rPr>
              <a:t>, </a:t>
            </a:r>
            <a:r>
              <a:rPr lang="en-US" altLang="zh-CN" sz="2400" dirty="0">
                <a:sym typeface="Symbol" panose="05050102010706020507" pitchFamily="18" charset="2"/>
              </a:rPr>
              <a:t>then </a:t>
            </a:r>
            <a:r>
              <a:rPr lang="zh-CN" altLang="en-US" sz="2400" b="1" dirty="0">
                <a:sym typeface="Symbol" panose="05050102010706020507" pitchFamily="18" charset="2"/>
              </a:rPr>
              <a:t></a:t>
            </a:r>
            <a:r>
              <a:rPr lang="zh-CN" altLang="en-US" sz="2400" b="1" baseline="-25000" dirty="0">
                <a:sym typeface="Symbol" panose="05050102010706020507" pitchFamily="18" charset="2"/>
              </a:rPr>
              <a:t>1</a:t>
            </a:r>
            <a:r>
              <a:rPr lang="zh-CN" altLang="en-US" sz="2400" b="1" dirty="0">
                <a:sym typeface="Symbol" panose="05050102010706020507" pitchFamily="18" charset="2"/>
              </a:rPr>
              <a:t></a:t>
            </a:r>
            <a:r>
              <a:rPr lang="zh-CN" altLang="en-US" sz="2400" b="1" baseline="-25000" dirty="0">
                <a:sym typeface="Symbol" panose="05050102010706020507" pitchFamily="18" charset="2"/>
              </a:rPr>
              <a:t>2 </a:t>
            </a:r>
            <a:r>
              <a:rPr lang="en-US" altLang="zh-CN" sz="2400" dirty="0">
                <a:sym typeface="Symbol" panose="05050102010706020507" pitchFamily="18" charset="2"/>
              </a:rPr>
              <a:t>and </a:t>
            </a:r>
            <a:r>
              <a:rPr lang="zh-CN" altLang="en-US" sz="2400" b="1" dirty="0">
                <a:sym typeface="Symbol" panose="05050102010706020507" pitchFamily="18" charset="2"/>
              </a:rPr>
              <a:t></a:t>
            </a:r>
            <a:r>
              <a:rPr lang="en-US" altLang="zh-CN" sz="2400" b="1" baseline="-25000" dirty="0">
                <a:sym typeface="Symbol" panose="05050102010706020507" pitchFamily="18" charset="2"/>
              </a:rPr>
              <a:t>2</a:t>
            </a:r>
            <a:r>
              <a:rPr lang="zh-CN" altLang="en-US" sz="2400" b="1" dirty="0">
                <a:sym typeface="Symbol" panose="05050102010706020507" pitchFamily="18" charset="2"/>
              </a:rPr>
              <a:t></a:t>
            </a:r>
            <a:r>
              <a:rPr lang="en-US" altLang="zh-CN" sz="2400" b="1" baseline="-25000" dirty="0">
                <a:sym typeface="Symbol" panose="05050102010706020507" pitchFamily="18" charset="2"/>
              </a:rPr>
              <a:t>1</a:t>
            </a:r>
            <a:r>
              <a:rPr lang="en-US" altLang="zh-CN" sz="2400" dirty="0">
                <a:sym typeface="Symbol" panose="05050102010706020507" pitchFamily="18" charset="2"/>
              </a:rPr>
              <a:t>, Hence</a:t>
            </a:r>
            <a:r>
              <a:rPr lang="zh-CN" altLang="en-US" sz="2400" dirty="0">
                <a:sym typeface="Symbol" panose="05050102010706020507" pitchFamily="18" charset="2"/>
              </a:rPr>
              <a:t> </a:t>
            </a:r>
            <a:r>
              <a:rPr lang="zh-CN" altLang="en-US" sz="2400" b="1" dirty="0">
                <a:sym typeface="Symbol" panose="05050102010706020507" pitchFamily="18" charset="2"/>
              </a:rPr>
              <a:t></a:t>
            </a:r>
            <a:r>
              <a:rPr lang="zh-CN" altLang="en-US" sz="2400" b="1" baseline="-25000" dirty="0">
                <a:sym typeface="Symbol" panose="05050102010706020507" pitchFamily="18" charset="2"/>
              </a:rPr>
              <a:t>1</a:t>
            </a:r>
            <a:r>
              <a:rPr lang="zh-CN" altLang="en-US" sz="2400" b="1" dirty="0">
                <a:sym typeface="Symbol" panose="05050102010706020507" pitchFamily="18" charset="2"/>
              </a:rPr>
              <a:t>=</a:t>
            </a:r>
            <a:r>
              <a:rPr lang="zh-CN" altLang="en-US" sz="2400" b="1" baseline="-25000" dirty="0">
                <a:sym typeface="Symbol" panose="05050102010706020507" pitchFamily="18" charset="2"/>
              </a:rPr>
              <a:t>2</a:t>
            </a:r>
          </a:p>
          <a:p>
            <a:pPr>
              <a:lnSpc>
                <a:spcPct val="100000"/>
              </a:lnSpc>
              <a:buClr>
                <a:srgbClr val="0B61FF"/>
              </a:buClr>
              <a:buSzPct val="80000"/>
              <a:buFont typeface="Wingdings" panose="05000000000000000000" pitchFamily="2" charset="2"/>
              <a:buChar char="n"/>
            </a:pPr>
            <a:r>
              <a:rPr lang="en-US" altLang="zh-CN" sz="2400" b="1" dirty="0"/>
              <a:t>Universal set </a:t>
            </a:r>
            <a:r>
              <a:rPr lang="en-US" altLang="zh-CN" sz="2400" b="1" dirty="0">
                <a:sym typeface="Symbol" panose="05050102010706020507" pitchFamily="18" charset="2"/>
              </a:rPr>
              <a:t>E: </a:t>
            </a:r>
            <a:r>
              <a:rPr lang="en-US" altLang="zh-CN" sz="2400" dirty="0">
                <a:sym typeface="Symbol" panose="05050102010706020507" pitchFamily="18" charset="2"/>
              </a:rPr>
              <a:t>A set</a:t>
            </a:r>
            <a:r>
              <a:rPr lang="en-US" altLang="zh-CN" sz="2400" i="1" dirty="0">
                <a:sym typeface="Symbol" panose="05050102010706020507" pitchFamily="18" charset="2"/>
              </a:rPr>
              <a:t> E is called the universal set if all sets discussed in a problem is subset of E </a:t>
            </a:r>
            <a:r>
              <a:rPr lang="en-US" altLang="zh-CN" sz="2400" dirty="0">
                <a:sym typeface="Symbol" panose="05050102010706020507" pitchFamily="18" charset="2"/>
              </a:rPr>
              <a:t>, then </a:t>
            </a:r>
            <a:r>
              <a:rPr lang="zh-CN" altLang="en-US" sz="2400" dirty="0">
                <a:sym typeface="Symbol" panose="05050102010706020507" pitchFamily="18" charset="2"/>
              </a:rPr>
              <a:t></a:t>
            </a:r>
            <a:r>
              <a:rPr lang="en-US" altLang="zh-CN" sz="2400" i="1" dirty="0">
                <a:sym typeface="Symbol" panose="05050102010706020507" pitchFamily="18" charset="2"/>
              </a:rPr>
              <a:t>A</a:t>
            </a:r>
            <a:r>
              <a:rPr lang="en-US" altLang="zh-CN" sz="2400" dirty="0">
                <a:sym typeface="Symbol" panose="05050102010706020507" pitchFamily="18" charset="2"/>
              </a:rPr>
              <a:t> (</a:t>
            </a:r>
            <a:r>
              <a:rPr lang="en-US" altLang="zh-CN" sz="2400" i="1" dirty="0">
                <a:sym typeface="Symbol" panose="05050102010706020507" pitchFamily="18" charset="2"/>
              </a:rPr>
              <a:t>A</a:t>
            </a:r>
            <a:r>
              <a:rPr lang="en-US" altLang="zh-CN" sz="2400" dirty="0">
                <a:sym typeface="Symbol" panose="05050102010706020507" pitchFamily="18" charset="2"/>
              </a:rPr>
              <a:t></a:t>
            </a:r>
            <a:r>
              <a:rPr lang="en-US" altLang="zh-CN" sz="2400" i="1" dirty="0">
                <a:sym typeface="Symbol" panose="05050102010706020507" pitchFamily="18" charset="2"/>
              </a:rPr>
              <a:t>E </a:t>
            </a:r>
            <a:r>
              <a:rPr lang="en-US" altLang="zh-CN" sz="2400" dirty="0">
                <a:sym typeface="Symbol" panose="05050102010706020507" pitchFamily="18" charset="2"/>
              </a:rPr>
              <a:t>), then </a:t>
            </a:r>
            <a:r>
              <a:rPr lang="en-US" altLang="zh-CN" sz="2400" i="1" dirty="0">
                <a:sym typeface="Symbol" panose="05050102010706020507" pitchFamily="18" charset="2"/>
              </a:rPr>
              <a:t>E</a:t>
            </a:r>
            <a:r>
              <a:rPr lang="zh-CN" altLang="en-US" sz="2400" dirty="0">
                <a:sym typeface="Symbol" panose="05050102010706020507" pitchFamily="18" charset="2"/>
              </a:rPr>
              <a:t> </a:t>
            </a:r>
            <a:r>
              <a:rPr lang="en-US" altLang="zh-CN" sz="2400" dirty="0"/>
              <a:t>is referred to as the universal set.</a:t>
            </a:r>
            <a:endParaRPr lang="zh-CN" altLang="en-US" b="1" dirty="0"/>
          </a:p>
        </p:txBody>
      </p:sp>
    </p:spTree>
    <p:extLst>
      <p:ext uri="{BB962C8B-B14F-4D97-AF65-F5344CB8AC3E}">
        <p14:creationId xmlns:p14="http://schemas.microsoft.com/office/powerpoint/2010/main" val="11316124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fade">
                                      <p:cBhvr>
                                        <p:cTn id="7" dur="1000"/>
                                        <p:tgtEl>
                                          <p:spTgt spid="8">
                                            <p:txEl>
                                              <p:pRg st="2" end="2"/>
                                            </p:txEl>
                                          </p:spTgt>
                                        </p:tgtEl>
                                      </p:cBhvr>
                                    </p:animEffect>
                                    <p:anim calcmode="lin" valueType="num">
                                      <p:cBhvr>
                                        <p:cTn id="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3" end="3"/>
                                            </p:txEl>
                                          </p:spTgt>
                                        </p:tgtEl>
                                        <p:attrNameLst>
                                          <p:attrName>style.visibility</p:attrName>
                                        </p:attrNameLst>
                                      </p:cBhvr>
                                      <p:to>
                                        <p:strVal val="visible"/>
                                      </p:to>
                                    </p:set>
                                    <p:animEffect transition="in" filter="fade">
                                      <p:cBhvr>
                                        <p:cTn id="14" dur="1000"/>
                                        <p:tgtEl>
                                          <p:spTgt spid="8">
                                            <p:txEl>
                                              <p:pRg st="3" end="3"/>
                                            </p:txEl>
                                          </p:spTgt>
                                        </p:tgtEl>
                                      </p:cBhvr>
                                    </p:animEffect>
                                    <p:anim calcmode="lin" valueType="num">
                                      <p:cBhvr>
                                        <p:cTn id="15"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Effect transition="in" filter="fade">
                                      <p:cBhvr>
                                        <p:cTn id="19" dur="1000"/>
                                        <p:tgtEl>
                                          <p:spTgt spid="8">
                                            <p:txEl>
                                              <p:pRg st="4" end="4"/>
                                            </p:txEl>
                                          </p:spTgt>
                                        </p:tgtEl>
                                      </p:cBhvr>
                                    </p:animEffect>
                                    <p:anim calcmode="lin" valueType="num">
                                      <p:cBhvr>
                                        <p:cTn id="20"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9">
                                            <p:txEl>
                                              <p:pRg st="0" end="0"/>
                                            </p:txEl>
                                          </p:spTgt>
                                        </p:tgtEl>
                                        <p:attrNameLst>
                                          <p:attrName>style.visibility</p:attrName>
                                        </p:attrNameLst>
                                      </p:cBhvr>
                                      <p:to>
                                        <p:strVal val="visible"/>
                                      </p:to>
                                    </p:set>
                                    <p:anim calcmode="lin" valueType="num">
                                      <p:cBhvr additive="base">
                                        <p:cTn id="26"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9">
                                            <p:txEl>
                                              <p:pRg st="1" end="1"/>
                                            </p:txEl>
                                          </p:spTgt>
                                        </p:tgtEl>
                                        <p:attrNameLst>
                                          <p:attrName>style.visibility</p:attrName>
                                        </p:attrNameLst>
                                      </p:cBhvr>
                                      <p:to>
                                        <p:strVal val="visible"/>
                                      </p:to>
                                    </p:set>
                                    <p:animEffect transition="in" filter="fade">
                                      <p:cBhvr>
                                        <p:cTn id="32" dur="1000"/>
                                        <p:tgtEl>
                                          <p:spTgt spid="9">
                                            <p:txEl>
                                              <p:pRg st="1" end="1"/>
                                            </p:txEl>
                                          </p:spTgt>
                                        </p:tgtEl>
                                      </p:cBhvr>
                                    </p:animEffect>
                                    <p:anim calcmode="lin" valueType="num">
                                      <p:cBhvr>
                                        <p:cTn id="3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9">
                                            <p:txEl>
                                              <p:pRg st="2" end="2"/>
                                            </p:txEl>
                                          </p:spTgt>
                                        </p:tgtEl>
                                        <p:attrNameLst>
                                          <p:attrName>style.visibility</p:attrName>
                                        </p:attrNameLst>
                                      </p:cBhvr>
                                      <p:to>
                                        <p:strVal val="visible"/>
                                      </p:to>
                                    </p:set>
                                    <p:animEffect transition="in" filter="fade">
                                      <p:cBhvr>
                                        <p:cTn id="39" dur="1000"/>
                                        <p:tgtEl>
                                          <p:spTgt spid="9">
                                            <p:txEl>
                                              <p:pRg st="2" end="2"/>
                                            </p:txEl>
                                          </p:spTgt>
                                        </p:tgtEl>
                                      </p:cBhvr>
                                    </p:animEffect>
                                    <p:anim calcmode="lin" valueType="num">
                                      <p:cBhvr>
                                        <p:cTn id="4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1.</a:t>
            </a:r>
            <a:r>
              <a:rPr lang="en-US" altLang="zh-CN" sz="2000" b="1" dirty="0">
                <a:cs typeface="Times New Roman" panose="02020603050405020304" pitchFamily="18" charset="0"/>
              </a:rPr>
              <a:t>2</a:t>
            </a:r>
            <a:r>
              <a:rPr lang="zh-CN" altLang="en-US" sz="2000" b="1" dirty="0">
                <a:cs typeface="Times New Roman" panose="02020603050405020304" pitchFamily="18" charset="0"/>
              </a:rPr>
              <a:t> </a:t>
            </a:r>
            <a:r>
              <a:rPr lang="en-US" altLang="zh-CN" sz="2000" dirty="0"/>
              <a:t>Set and its operations</a:t>
            </a:r>
            <a:endParaRPr lang="en-US" altLang="zh-CN" sz="2000" b="1" dirty="0">
              <a:effectLst/>
              <a:ea typeface="宋体" panose="02010600030101010101" pitchFamily="2" charset="-122"/>
              <a:cs typeface="Times New Roman" panose="02020603050405020304" pitchFamily="18" charset="0"/>
            </a:endParaRPr>
          </a:p>
          <a:p>
            <a:r>
              <a:rPr lang="en-US" altLang="zh-CN" sz="2000" b="1" dirty="0">
                <a:ea typeface="宋体" panose="02010600030101010101" pitchFamily="2" charset="-122"/>
                <a:cs typeface="Times New Roman" panose="02020603050405020304" pitchFamily="18" charset="0"/>
              </a:rPr>
              <a:t>                   </a:t>
            </a:r>
            <a:r>
              <a:rPr lang="zh-CN" altLang="en-US" sz="2400" b="1" dirty="0">
                <a:solidFill>
                  <a:srgbClr val="CFA57C"/>
                </a:solidFill>
                <a:ea typeface="宋体" panose="02010600030101010101" pitchFamily="2" charset="-122"/>
                <a:cs typeface="Times New Roman" panose="02020603050405020304" pitchFamily="18" charset="0"/>
              </a:rPr>
              <a:t>⤷</a:t>
            </a:r>
            <a:r>
              <a:rPr lang="en-US" altLang="zh-CN" sz="2000" b="1" dirty="0">
                <a:ea typeface="宋体" panose="02010600030101010101" pitchFamily="2" charset="-122"/>
                <a:cs typeface="Times New Roman" panose="02020603050405020304" pitchFamily="18" charset="0"/>
              </a:rPr>
              <a:t>Sets</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Power Set and Universal Set</a:t>
            </a:r>
            <a:endParaRPr lang="zh-CN" altLang="en-US" sz="2400" b="1" dirty="0">
              <a:highlight>
                <a:srgbClr val="FF0000"/>
              </a:highligh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371599" y="875346"/>
            <a:ext cx="8088087" cy="49746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buClr>
                <a:srgbClr val="0B61FF"/>
              </a:buClr>
              <a:buSzPct val="80000"/>
              <a:buFont typeface="Wingdings" panose="05000000000000000000" pitchFamily="2" charset="2"/>
              <a:buChar char="n"/>
            </a:pPr>
            <a:r>
              <a:rPr lang="en-US" altLang="zh-CN" sz="2400" b="1" dirty="0">
                <a:latin typeface="Times New Roman" panose="02020603050405020304" pitchFamily="18" charset="0"/>
              </a:rPr>
              <a:t>(Power Set) </a:t>
            </a:r>
            <a:r>
              <a:rPr lang="en-US" altLang="zh-CN" sz="2400" dirty="0"/>
              <a:t>It refers to the set of all subsets of a given set, including the empty set and the set itself</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express as </a:t>
            </a:r>
            <a:r>
              <a:rPr lang="zh-CN" altLang="zh-CN" sz="2400" b="1" dirty="0">
                <a:latin typeface="Times New Roman" panose="02020603050405020304" pitchFamily="18" charset="0"/>
              </a:rPr>
              <a:t> </a:t>
            </a:r>
            <a:r>
              <a:rPr lang="en-US" altLang="zh-CN" sz="2400" b="1" i="1" dirty="0">
                <a:solidFill>
                  <a:srgbClr val="0B61FF"/>
                </a:solidFill>
                <a:effectLst/>
                <a:latin typeface="KaTeX_Math"/>
                <a:ea typeface="等线" panose="02010600030101010101" pitchFamily="2" charset="-122"/>
                <a:cs typeface="Times New Roman" panose="02020603050405020304" pitchFamily="18" charset="0"/>
              </a:rPr>
              <a:t>P</a:t>
            </a:r>
            <a:r>
              <a:rPr lang="en-US" altLang="zh-CN" sz="2400" b="1" dirty="0">
                <a:solidFill>
                  <a:srgbClr val="0B61FF"/>
                </a:solidFill>
                <a:effectLst/>
                <a:latin typeface="Times New Roman" panose="02020603050405020304" pitchFamily="18" charset="0"/>
                <a:ea typeface="等线" panose="02010600030101010101" pitchFamily="2" charset="-122"/>
              </a:rPr>
              <a:t>(</a:t>
            </a:r>
            <a:r>
              <a:rPr lang="en-US" altLang="zh-CN" sz="2400" b="1" i="1" dirty="0">
                <a:solidFill>
                  <a:srgbClr val="0B61FF"/>
                </a:solidFill>
                <a:effectLst/>
                <a:latin typeface="KaTeX_Math"/>
                <a:ea typeface="等线" panose="02010600030101010101" pitchFamily="2" charset="-122"/>
                <a:cs typeface="Times New Roman" panose="02020603050405020304" pitchFamily="18" charset="0"/>
              </a:rPr>
              <a:t>A</a:t>
            </a:r>
            <a:r>
              <a:rPr lang="en-US" altLang="zh-CN" sz="2400" b="1" dirty="0">
                <a:solidFill>
                  <a:srgbClr val="0B61FF"/>
                </a:solidFill>
                <a:effectLst/>
                <a:latin typeface="Times New Roman" panose="02020603050405020304" pitchFamily="18" charset="0"/>
                <a:ea typeface="等线" panose="02010600030101010101" pitchFamily="2" charset="-122"/>
              </a:rPr>
              <a:t>)</a:t>
            </a:r>
            <a:r>
              <a:rPr lang="en-US" altLang="zh-CN" sz="2400" b="1" dirty="0">
                <a:solidFill>
                  <a:srgbClr val="0B61FF"/>
                </a:solidFill>
                <a:effectLst/>
                <a:latin typeface="等线" panose="02010600030101010101" pitchFamily="2" charset="-122"/>
                <a:cs typeface="Times New Roman" panose="02020603050405020304" pitchFamily="18" charset="0"/>
              </a:rPr>
              <a:t> </a:t>
            </a:r>
            <a:r>
              <a:rPr lang="en-US" altLang="zh-CN" sz="2400" b="1" dirty="0">
                <a:effectLst/>
                <a:latin typeface="Times New Roman" panose="02020603050405020304" pitchFamily="18" charset="0"/>
                <a:cs typeface="Times New Roman" panose="02020603050405020304" pitchFamily="18" charset="0"/>
              </a:rPr>
              <a:t>or</a:t>
            </a:r>
            <a:r>
              <a:rPr lang="zh-CN" altLang="zh-CN" sz="2400" dirty="0">
                <a:effectLst/>
                <a:ea typeface="等线" panose="02010600030101010101" pitchFamily="2" charset="-122"/>
                <a:cs typeface="Times New Roman" panose="02020603050405020304" pitchFamily="18" charset="0"/>
              </a:rPr>
              <a:t> </a:t>
            </a:r>
            <a:r>
              <a:rPr lang="en-US" altLang="zh-CN" sz="2400" b="1" dirty="0">
                <a:solidFill>
                  <a:srgbClr val="0B61FF"/>
                </a:solidFill>
                <a:effectLst/>
                <a:latin typeface="Times New Roman" panose="02020603050405020304" pitchFamily="18" charset="0"/>
                <a:ea typeface="等线" panose="02010600030101010101" pitchFamily="2" charset="-122"/>
              </a:rPr>
              <a:t>2</a:t>
            </a:r>
            <a:r>
              <a:rPr lang="en-US" altLang="zh-CN" sz="2400" b="1" i="1" baseline="30000" dirty="0">
                <a:solidFill>
                  <a:srgbClr val="0B61FF"/>
                </a:solidFill>
                <a:effectLst/>
                <a:latin typeface="KaTeX_Math"/>
                <a:ea typeface="等线" panose="02010600030101010101" pitchFamily="2" charset="-122"/>
                <a:cs typeface="Times New Roman" panose="02020603050405020304" pitchFamily="18" charset="0"/>
              </a:rPr>
              <a:t>A</a:t>
            </a:r>
            <a:endParaRPr lang="en-US" altLang="zh-CN" sz="2400" b="1" dirty="0">
              <a:solidFill>
                <a:srgbClr val="0B61FF"/>
              </a:solidFill>
              <a:latin typeface="Times New Roman" panose="02020603050405020304" pitchFamily="18" charset="0"/>
            </a:endParaRPr>
          </a:p>
          <a:p>
            <a:pPr>
              <a:buClr>
                <a:srgbClr val="0B61FF"/>
              </a:buClr>
              <a:buSzPct val="80000"/>
              <a:buFont typeface="Wingdings" panose="05000000000000000000" pitchFamily="2" charset="2"/>
              <a:buChar char="n"/>
            </a:pPr>
            <a:r>
              <a:rPr lang="en-US" altLang="zh-CN" sz="2400" b="1" dirty="0">
                <a:latin typeface="Times New Roman" panose="02020603050405020304" pitchFamily="18" charset="0"/>
              </a:rPr>
              <a:t>Definition</a:t>
            </a:r>
            <a:r>
              <a:rPr lang="zh-CN" altLang="en-US" sz="2400" b="1" dirty="0">
                <a:latin typeface="Times New Roman" panose="02020603050405020304" pitchFamily="18" charset="0"/>
              </a:rPr>
              <a:t>    </a:t>
            </a:r>
            <a:r>
              <a:rPr lang="en-US" altLang="zh-CN" sz="2400" b="1" i="1" dirty="0">
                <a:latin typeface="Times New Roman" panose="02020603050405020304" pitchFamily="18" charset="0"/>
              </a:rPr>
              <a:t>P</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a:t>
            </a:r>
            <a:r>
              <a:rPr lang="en-US" altLang="zh-CN" sz="2400" b="1" dirty="0">
                <a:latin typeface="Times New Roman" panose="02020603050405020304" pitchFamily="18" charset="0"/>
              </a:rPr>
              <a:t>) = { </a:t>
            </a:r>
            <a:r>
              <a:rPr lang="en-US" altLang="zh-CN" sz="2400" b="1" i="1" dirty="0">
                <a:latin typeface="Times New Roman" panose="02020603050405020304" pitchFamily="18" charset="0"/>
              </a:rPr>
              <a:t>x</a:t>
            </a:r>
            <a:r>
              <a:rPr lang="en-US" altLang="zh-CN" sz="2400" b="1" dirty="0">
                <a:latin typeface="Times New Roman" panose="02020603050405020304" pitchFamily="18" charset="0"/>
              </a:rPr>
              <a:t> | </a:t>
            </a:r>
            <a:r>
              <a:rPr lang="en-US" altLang="zh-CN" sz="2400" b="1" i="1" dirty="0" err="1">
                <a:latin typeface="Times New Roman" panose="02020603050405020304" pitchFamily="18" charset="0"/>
              </a:rPr>
              <a:t>x</a:t>
            </a:r>
            <a:r>
              <a:rPr lang="en-US" altLang="zh-CN" sz="2400" b="1" dirty="0" err="1">
                <a:latin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rPr>
              <a:t>A</a:t>
            </a:r>
            <a:r>
              <a:rPr lang="en-US" altLang="zh-CN" sz="2400" b="1" i="1" dirty="0">
                <a:latin typeface="Times New Roman" panose="02020603050405020304" pitchFamily="18" charset="0"/>
              </a:rPr>
              <a:t> </a:t>
            </a:r>
            <a:r>
              <a:rPr lang="en-US" altLang="zh-CN" sz="2400" b="1" dirty="0">
                <a:latin typeface="Times New Roman" panose="02020603050405020304" pitchFamily="18" charset="0"/>
              </a:rPr>
              <a:t>}  </a:t>
            </a:r>
          </a:p>
          <a:p>
            <a:pPr indent="36513" eaLnBrk="1" hangingPunct="1">
              <a:buFont typeface="Wingdings" panose="05000000000000000000" pitchFamily="2" charset="2"/>
              <a:buNone/>
            </a:pPr>
            <a:r>
              <a:rPr lang="en-US" altLang="zh-CN" sz="2400" b="1" dirty="0">
                <a:latin typeface="Times New Roman" panose="02020603050405020304" pitchFamily="18" charset="0"/>
              </a:rPr>
              <a:t>Example:</a:t>
            </a:r>
            <a:r>
              <a:rPr lang="zh-CN" altLang="en-US" sz="2400" b="1" dirty="0">
                <a:latin typeface="Times New Roman" panose="02020603050405020304" pitchFamily="18" charset="0"/>
              </a:rPr>
              <a:t>  </a:t>
            </a:r>
          </a:p>
          <a:p>
            <a:pPr eaLnBrk="1" hangingPunct="1">
              <a:buFont typeface="Wingdings" panose="05000000000000000000" pitchFamily="2" charset="2"/>
              <a:buNone/>
            </a:pPr>
            <a:r>
              <a:rPr lang="zh-CN" altLang="en-US" sz="2400" b="1" dirty="0">
                <a:latin typeface="Times New Roman" panose="02020603050405020304" pitchFamily="18" charset="0"/>
              </a:rPr>
              <a:t>    </a:t>
            </a:r>
            <a:r>
              <a:rPr lang="en-US" altLang="zh-CN" sz="2400" b="1" i="1" dirty="0">
                <a:latin typeface="Times New Roman" panose="02020603050405020304" pitchFamily="18" charset="0"/>
              </a:rPr>
              <a:t>P</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a:t>
            </a:r>
            <a:r>
              <a:rPr lang="zh-CN" altLang="en-US" sz="2400" b="1" dirty="0">
                <a:latin typeface="Times New Roman" panose="02020603050405020304" pitchFamily="18" charset="0"/>
              </a:rPr>
              <a:t>，</a:t>
            </a:r>
          </a:p>
          <a:p>
            <a:pPr eaLnBrk="1" hangingPunct="1">
              <a:buFont typeface="Wingdings" panose="05000000000000000000" pitchFamily="2" charset="2"/>
              <a:buNone/>
            </a:pPr>
            <a:r>
              <a:rPr lang="zh-CN" altLang="en-US" sz="2400" b="1" dirty="0">
                <a:latin typeface="Times New Roman" panose="02020603050405020304" pitchFamily="18" charset="0"/>
              </a:rPr>
              <a:t>    </a:t>
            </a:r>
            <a:r>
              <a:rPr lang="en-US" altLang="zh-CN" sz="2400" b="1" i="1" dirty="0">
                <a:latin typeface="Times New Roman" panose="02020603050405020304" pitchFamily="18" charset="0"/>
              </a:rPr>
              <a:t>P</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 =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rPr>
              <a:t>}}</a:t>
            </a:r>
          </a:p>
          <a:p>
            <a:pPr eaLnBrk="1" hangingPunct="1">
              <a:buFont typeface="Wingdings" panose="05000000000000000000" pitchFamily="2" charset="2"/>
              <a:buNone/>
            </a:pPr>
            <a:r>
              <a:rPr lang="en-US" altLang="zh-CN" sz="2400" b="1" dirty="0">
                <a:latin typeface="Times New Roman" panose="02020603050405020304" pitchFamily="18" charset="0"/>
              </a:rPr>
              <a:t>    </a:t>
            </a:r>
            <a:r>
              <a:rPr lang="en-US" altLang="zh-CN" sz="2400" b="1" i="1" dirty="0">
                <a:latin typeface="Times New Roman" panose="02020603050405020304" pitchFamily="18" charset="0"/>
              </a:rPr>
              <a:t>P</a:t>
            </a:r>
            <a:r>
              <a:rPr lang="en-US" altLang="zh-CN" sz="2400" b="1" dirty="0">
                <a:latin typeface="Times New Roman" panose="02020603050405020304" pitchFamily="18" charset="0"/>
              </a:rPr>
              <a:t>({1,{2,3}})={</a:t>
            </a:r>
            <a:r>
              <a:rPr lang="en-US" altLang="zh-CN" sz="2400" b="1" dirty="0">
                <a:latin typeface="Times New Roman" panose="02020603050405020304" pitchFamily="18" charset="0"/>
                <a:sym typeface="Symbol" panose="05050102010706020507" pitchFamily="18" charset="2"/>
              </a:rPr>
              <a:t>,{1},{{2,3}},{1,{2,3}}}</a:t>
            </a:r>
            <a:endParaRPr lang="en-US" altLang="zh-CN" sz="2400" b="1" dirty="0">
              <a:latin typeface="Times New Roman" panose="02020603050405020304" pitchFamily="18" charset="0"/>
            </a:endParaRPr>
          </a:p>
          <a:p>
            <a:pPr>
              <a:buClr>
                <a:srgbClr val="0B61FF"/>
              </a:buClr>
              <a:buSzPct val="80000"/>
              <a:buFont typeface="Wingdings" panose="05000000000000000000" pitchFamily="2" charset="2"/>
              <a:buChar char="n"/>
            </a:pPr>
            <a:r>
              <a:rPr lang="en-US" altLang="zh-CN" sz="2400" b="1" dirty="0">
                <a:latin typeface="Times New Roman" panose="02020603050405020304" pitchFamily="18" charset="0"/>
              </a:rPr>
              <a:t>Count</a:t>
            </a:r>
            <a:r>
              <a:rPr lang="zh-CN" altLang="en-US" sz="2400" b="1" dirty="0">
                <a:latin typeface="Times New Roman" panose="02020603050405020304" pitchFamily="18" charset="0"/>
              </a:rPr>
              <a:t>   </a:t>
            </a:r>
          </a:p>
          <a:p>
            <a:pPr eaLnBrk="1" hangingPunct="1">
              <a:buFont typeface="Wingdings" panose="05000000000000000000" pitchFamily="2" charset="2"/>
              <a:buNone/>
            </a:pPr>
            <a:r>
              <a:rPr lang="zh-CN" altLang="en-US" sz="2400" b="1" dirty="0">
                <a:solidFill>
                  <a:srgbClr val="333300"/>
                </a:solidFill>
                <a:latin typeface="Times New Roman" panose="02020603050405020304" pitchFamily="18" charset="0"/>
              </a:rPr>
              <a:t>    </a:t>
            </a:r>
            <a:r>
              <a:rPr lang="en-US" altLang="zh-CN" sz="2400" b="1" dirty="0">
                <a:solidFill>
                  <a:srgbClr val="333300"/>
                </a:solidFill>
                <a:latin typeface="Times New Roman" panose="02020603050405020304" pitchFamily="18" charset="0"/>
              </a:rPr>
              <a:t>If</a:t>
            </a:r>
            <a:r>
              <a:rPr lang="zh-CN" altLang="en-US" sz="2400" b="1" dirty="0">
                <a:solidFill>
                  <a:srgbClr val="333300"/>
                </a:solidFill>
                <a:latin typeface="Times New Roman" panose="02020603050405020304" pitchFamily="18" charset="0"/>
              </a:rPr>
              <a:t> </a:t>
            </a:r>
            <a:r>
              <a:rPr lang="en-US" altLang="zh-CN" sz="2400" b="1" dirty="0">
                <a:solidFill>
                  <a:srgbClr val="333300"/>
                </a:solidFill>
                <a:latin typeface="Times New Roman" panose="02020603050405020304" pitchFamily="18" charset="0"/>
              </a:rPr>
              <a:t>|</a:t>
            </a:r>
            <a:r>
              <a:rPr lang="en-US" altLang="zh-CN" sz="2400" b="1" i="1" dirty="0">
                <a:solidFill>
                  <a:srgbClr val="333300"/>
                </a:solidFill>
                <a:latin typeface="Times New Roman" panose="02020603050405020304" pitchFamily="18" charset="0"/>
              </a:rPr>
              <a:t>A</a:t>
            </a:r>
            <a:r>
              <a:rPr lang="en-US" altLang="zh-CN" sz="2400" b="1" dirty="0">
                <a:solidFill>
                  <a:srgbClr val="333300"/>
                </a:solidFill>
                <a:latin typeface="Times New Roman" panose="02020603050405020304" pitchFamily="18" charset="0"/>
              </a:rPr>
              <a:t>| = </a:t>
            </a:r>
            <a:r>
              <a:rPr lang="en-US" altLang="zh-CN" sz="2400" b="1" i="1" dirty="0">
                <a:solidFill>
                  <a:srgbClr val="333300"/>
                </a:solidFill>
                <a:latin typeface="Times New Roman" panose="02020603050405020304" pitchFamily="18" charset="0"/>
              </a:rPr>
              <a:t>n</a:t>
            </a:r>
            <a:r>
              <a:rPr lang="zh-CN" altLang="en-US" sz="2400" b="1" dirty="0">
                <a:solidFill>
                  <a:srgbClr val="333300"/>
                </a:solidFill>
                <a:latin typeface="Times New Roman" panose="02020603050405020304" pitchFamily="18" charset="0"/>
              </a:rPr>
              <a:t>，</a:t>
            </a:r>
            <a:r>
              <a:rPr lang="en-US" altLang="zh-CN" sz="2400" b="1" dirty="0">
                <a:solidFill>
                  <a:srgbClr val="333300"/>
                </a:solidFill>
                <a:latin typeface="Times New Roman" panose="02020603050405020304" pitchFamily="18" charset="0"/>
              </a:rPr>
              <a:t>then </a:t>
            </a:r>
            <a:r>
              <a:rPr lang="zh-CN" altLang="en-US" sz="2400" b="1" dirty="0">
                <a:solidFill>
                  <a:srgbClr val="333300"/>
                </a:solidFill>
                <a:latin typeface="Times New Roman" panose="02020603050405020304" pitchFamily="18" charset="0"/>
              </a:rPr>
              <a:t> </a:t>
            </a:r>
            <a:r>
              <a:rPr lang="en-US" altLang="zh-CN" sz="2400" b="1" dirty="0">
                <a:solidFill>
                  <a:srgbClr val="333300"/>
                </a:solidFill>
                <a:latin typeface="Times New Roman" panose="02020603050405020304" pitchFamily="18" charset="0"/>
              </a:rPr>
              <a:t>|</a:t>
            </a:r>
            <a:r>
              <a:rPr lang="en-US" altLang="zh-CN" sz="2400" b="1" i="1" dirty="0">
                <a:solidFill>
                  <a:srgbClr val="333300"/>
                </a:solidFill>
                <a:latin typeface="Times New Roman" panose="02020603050405020304" pitchFamily="18" charset="0"/>
              </a:rPr>
              <a:t>P</a:t>
            </a:r>
            <a:r>
              <a:rPr lang="en-US" altLang="zh-CN" sz="2400" b="1" dirty="0">
                <a:solidFill>
                  <a:srgbClr val="333300"/>
                </a:solidFill>
                <a:latin typeface="Times New Roman" panose="02020603050405020304" pitchFamily="18" charset="0"/>
              </a:rPr>
              <a:t>(</a:t>
            </a:r>
            <a:r>
              <a:rPr lang="en-US" altLang="zh-CN" sz="2400" b="1" i="1" dirty="0">
                <a:solidFill>
                  <a:srgbClr val="333300"/>
                </a:solidFill>
                <a:latin typeface="Times New Roman" panose="02020603050405020304" pitchFamily="18" charset="0"/>
              </a:rPr>
              <a:t>A</a:t>
            </a:r>
            <a:r>
              <a:rPr lang="en-US" altLang="zh-CN" sz="2400" b="1" dirty="0">
                <a:solidFill>
                  <a:srgbClr val="333300"/>
                </a:solidFill>
                <a:latin typeface="Times New Roman" panose="02020603050405020304" pitchFamily="18" charset="0"/>
              </a:rPr>
              <a:t>)| = 2</a:t>
            </a:r>
            <a:r>
              <a:rPr lang="en-US" altLang="zh-CN" sz="2400" b="1" i="1" baseline="30000" dirty="0">
                <a:solidFill>
                  <a:srgbClr val="333300"/>
                </a:solidFill>
                <a:latin typeface="Times New Roman" panose="02020603050405020304" pitchFamily="18" charset="0"/>
              </a:rPr>
              <a:t>n</a:t>
            </a:r>
            <a:r>
              <a:rPr lang="en-US" altLang="zh-CN" sz="2400" b="1" dirty="0">
                <a:solidFill>
                  <a:srgbClr val="333300"/>
                </a:solidFill>
                <a:latin typeface="Times New Roman" panose="02020603050405020304" pitchFamily="18" charset="0"/>
              </a:rPr>
              <a:t> </a:t>
            </a:r>
          </a:p>
          <a:p>
            <a:pPr eaLnBrk="1" hangingPunct="1">
              <a:buFontTx/>
              <a:buNone/>
            </a:pPr>
            <a:endParaRPr lang="zh-CN" altLang="en-US" b="1" dirty="0"/>
          </a:p>
        </p:txBody>
      </p:sp>
    </p:spTree>
    <p:extLst>
      <p:ext uri="{BB962C8B-B14F-4D97-AF65-F5344CB8AC3E}">
        <p14:creationId xmlns:p14="http://schemas.microsoft.com/office/powerpoint/2010/main" val="11652154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zh-CN" altLang="en-US" sz="2000" b="1" dirty="0">
                <a:latin typeface="+mj-lt"/>
                <a:cs typeface="Times New Roman" panose="02020603050405020304" pitchFamily="18" charset="0"/>
              </a:rPr>
              <a:t>1.</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Sets and operations</a:t>
            </a:r>
          </a:p>
          <a:p>
            <a:pPr lvl="0" algn="just">
              <a:tabLst>
                <a:tab pos="457200" algn="l"/>
              </a:tabLst>
            </a:pPr>
            <a:r>
              <a:rPr lang="en-US" altLang="zh-CN" sz="2000" b="1" dirty="0">
                <a:latin typeface="+mj-lt"/>
                <a:ea typeface="宋体" panose="02010600030101010101" pitchFamily="2" charset="-122"/>
                <a:cs typeface="Times New Roman" panose="02020603050405020304" pitchFamily="18" charset="0"/>
              </a:rPr>
              <a:t>                   </a:t>
            </a:r>
            <a:r>
              <a:rPr lang="zh-CN" altLang="en-US" sz="24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a typeface="宋体" panose="02010600030101010101" pitchFamily="2" charset="-122"/>
                <a:cs typeface="Times New Roman" panose="02020603050405020304" pitchFamily="18" charset="0"/>
              </a:rPr>
              <a:t> Sets </a:t>
            </a:r>
            <a:r>
              <a:rPr lang="en-US" altLang="zh-CN" sz="2000" b="1" dirty="0">
                <a:effectLst/>
                <a:latin typeface="+mj-lt"/>
                <a:ea typeface="宋体" panose="02010600030101010101" pitchFamily="2" charset="-122"/>
                <a:cs typeface="Times New Roman" panose="02020603050405020304" pitchFamily="18" charset="0"/>
              </a:rPr>
              <a:t>Operations</a:t>
            </a:r>
            <a:r>
              <a:rPr lang="en-US" altLang="zh-CN" sz="2000" b="1" dirty="0">
                <a:solidFill>
                  <a:srgbClr val="CFA57C"/>
                </a:solidFill>
                <a:latin typeface="+mj-lt"/>
                <a:ea typeface="宋体" panose="02010600030101010101" pitchFamily="2" charset="-122"/>
                <a:cs typeface="Times New Roman" panose="02020603050405020304" pitchFamily="18" charset="0"/>
              </a:rPr>
              <a:t>•</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2400" b="1" kern="100" dirty="0">
                <a:effectLst/>
                <a:latin typeface="Times New Roman" panose="02020603050405020304" pitchFamily="18" charset="0"/>
                <a:ea typeface="宋体" panose="02010600030101010101" pitchFamily="2" charset="-122"/>
                <a:cs typeface="宋体" panose="02010600030101010101" pitchFamily="2" charset="-122"/>
              </a:rPr>
              <a:t>∪ </a:t>
            </a:r>
            <a:r>
              <a:rPr lang="en-US" altLang="zh-CN" sz="2400" b="1" kern="100" dirty="0">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zh-CN" altLang="zh-CN" sz="2400" b="1" kern="100" dirty="0">
                <a:solidFill>
                  <a:schemeClr val="bg1"/>
                </a:solidFill>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000" b="1" dirty="0">
              <a:solidFill>
                <a:srgbClr val="CFA57C"/>
              </a:solidFill>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97F08C45-3D15-45C1-A5A3-D1EB58DC91FE}"/>
              </a:ext>
            </a:extLst>
          </p:cNvPr>
          <p:cNvSpPr txBox="1">
            <a:spLocks noChangeArrowheads="1"/>
          </p:cNvSpPr>
          <p:nvPr/>
        </p:nvSpPr>
        <p:spPr>
          <a:xfrm>
            <a:off x="1019059" y="765176"/>
            <a:ext cx="7620000" cy="2947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110000"/>
              </a:lnSpc>
              <a:spcBef>
                <a:spcPct val="15000"/>
              </a:spcBef>
              <a:buClr>
                <a:srgbClr val="0B61FF"/>
              </a:buClr>
              <a:buSzPct val="80000"/>
              <a:buFont typeface="Wingdings" panose="05000000000000000000" pitchFamily="2" charset="2"/>
              <a:buChar char="n"/>
            </a:pPr>
            <a:r>
              <a:rPr lang="en-US" altLang="zh-CN" sz="2400" b="1" dirty="0"/>
              <a:t>Union:</a:t>
            </a:r>
            <a:r>
              <a:rPr lang="zh-CN" altLang="en-US" sz="2400" b="1" dirty="0"/>
              <a:t>              </a:t>
            </a:r>
            <a:r>
              <a:rPr lang="en-US" altLang="zh-CN" sz="2400" b="1" i="1" dirty="0"/>
              <a:t>A</a:t>
            </a:r>
            <a:r>
              <a:rPr lang="zh-CN" altLang="zh-CN" sz="2400" b="1" kern="100" dirty="0">
                <a:effectLst/>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rgbClr val="0B61FF"/>
                </a:solidFill>
                <a:effectLst/>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cs typeface="宋体" panose="02010600030101010101" pitchFamily="2" charset="-122"/>
              </a:rPr>
              <a:t> </a:t>
            </a:r>
            <a:r>
              <a:rPr lang="en-US" altLang="zh-CN" sz="2400" b="1" i="1" dirty="0"/>
              <a:t>B</a:t>
            </a:r>
            <a:r>
              <a:rPr lang="en-US" altLang="zh-CN" sz="2400" b="1" dirty="0"/>
              <a:t> = { </a:t>
            </a:r>
            <a:r>
              <a:rPr lang="en-US" altLang="zh-CN" sz="2400" b="1" i="1" dirty="0"/>
              <a:t>x</a:t>
            </a:r>
            <a:r>
              <a:rPr lang="en-US" altLang="zh-CN" sz="2400" b="1" dirty="0"/>
              <a:t> | </a:t>
            </a:r>
            <a:r>
              <a:rPr lang="en-US" altLang="zh-CN" sz="2400" b="1" i="1" dirty="0" err="1"/>
              <a:t>x</a:t>
            </a:r>
            <a:r>
              <a:rPr lang="en-US" altLang="zh-CN" sz="2400" b="1" dirty="0" err="1">
                <a:sym typeface="Symbol" panose="05050102010706020507" pitchFamily="18" charset="2"/>
              </a:rPr>
              <a:t></a:t>
            </a:r>
            <a:r>
              <a:rPr lang="en-US" altLang="zh-CN" sz="2400" b="1" i="1" dirty="0" err="1"/>
              <a:t>A</a:t>
            </a:r>
            <a:r>
              <a:rPr lang="en-US" altLang="zh-CN" sz="2400" b="1" dirty="0"/>
              <a:t> </a:t>
            </a:r>
            <a:r>
              <a:rPr lang="en-US" altLang="zh-CN" sz="2400" b="1" dirty="0">
                <a:sym typeface="Symbol" panose="05050102010706020507" pitchFamily="18" charset="2"/>
              </a:rPr>
              <a:t></a:t>
            </a:r>
            <a:r>
              <a:rPr lang="en-US" altLang="zh-CN" sz="2400" b="1" dirty="0"/>
              <a:t> </a:t>
            </a:r>
            <a:r>
              <a:rPr lang="en-US" altLang="zh-CN" sz="2400" b="1" i="1" dirty="0" err="1"/>
              <a:t>x</a:t>
            </a:r>
            <a:r>
              <a:rPr lang="en-US" altLang="zh-CN" sz="2400" b="1" dirty="0" err="1">
                <a:sym typeface="Symbol" panose="05050102010706020507" pitchFamily="18" charset="2"/>
              </a:rPr>
              <a:t></a:t>
            </a:r>
            <a:r>
              <a:rPr lang="en-US" altLang="zh-CN" sz="2400" b="1" i="1" dirty="0" err="1"/>
              <a:t>B</a:t>
            </a:r>
            <a:r>
              <a:rPr lang="en-US" altLang="zh-CN" sz="2400" b="1" i="1" dirty="0"/>
              <a:t> </a:t>
            </a:r>
            <a:r>
              <a:rPr lang="en-US" altLang="zh-CN" sz="2400" b="1" dirty="0"/>
              <a:t>}</a:t>
            </a:r>
          </a:p>
          <a:p>
            <a:pPr eaLnBrk="1" hangingPunct="1">
              <a:lnSpc>
                <a:spcPct val="110000"/>
              </a:lnSpc>
              <a:spcBef>
                <a:spcPct val="15000"/>
              </a:spcBef>
              <a:buClr>
                <a:srgbClr val="0B61FF"/>
              </a:buClr>
              <a:buSzPct val="80000"/>
              <a:buFont typeface="Wingdings" panose="05000000000000000000" pitchFamily="2" charset="2"/>
              <a:buChar char="n"/>
            </a:pPr>
            <a:r>
              <a:rPr lang="en-US" altLang="zh-CN" sz="2400" b="1" dirty="0"/>
              <a:t>Intersection:</a:t>
            </a:r>
            <a:r>
              <a:rPr lang="zh-CN" altLang="en-US" sz="2400" b="1" dirty="0"/>
              <a:t>     </a:t>
            </a:r>
            <a:r>
              <a:rPr lang="en-US" altLang="zh-CN" sz="2400" b="1" i="1" dirty="0"/>
              <a:t>A</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100" dirty="0">
                <a:solidFill>
                  <a:srgbClr val="0B61FF"/>
                </a:solidFill>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t>B</a:t>
            </a:r>
            <a:r>
              <a:rPr lang="en-US" altLang="zh-CN" sz="2400" b="1" dirty="0"/>
              <a:t> = { </a:t>
            </a:r>
            <a:r>
              <a:rPr lang="en-US" altLang="zh-CN" sz="2400" b="1" i="1" dirty="0"/>
              <a:t>x</a:t>
            </a:r>
            <a:r>
              <a:rPr lang="en-US" altLang="zh-CN" sz="2400" b="1" dirty="0"/>
              <a:t> | </a:t>
            </a:r>
            <a:r>
              <a:rPr lang="en-US" altLang="zh-CN" sz="2400" b="1" i="1" dirty="0" err="1"/>
              <a:t>x</a:t>
            </a:r>
            <a:r>
              <a:rPr lang="en-US" altLang="zh-CN" sz="2400" b="1" dirty="0" err="1">
                <a:sym typeface="Symbol" panose="05050102010706020507" pitchFamily="18" charset="2"/>
              </a:rPr>
              <a:t></a:t>
            </a:r>
            <a:r>
              <a:rPr lang="en-US" altLang="zh-CN" sz="2400" b="1" i="1" dirty="0" err="1"/>
              <a:t>A</a:t>
            </a:r>
            <a:r>
              <a:rPr lang="en-US" altLang="zh-CN" sz="2400" b="1" dirty="0"/>
              <a:t> </a:t>
            </a:r>
            <a:r>
              <a:rPr lang="en-US" altLang="zh-CN" sz="2400" b="1" dirty="0">
                <a:sym typeface="Symbol" panose="05050102010706020507" pitchFamily="18" charset="2"/>
              </a:rPr>
              <a:t></a:t>
            </a:r>
            <a:r>
              <a:rPr lang="en-US" altLang="zh-CN" sz="2400" b="1" dirty="0"/>
              <a:t> </a:t>
            </a:r>
            <a:r>
              <a:rPr lang="en-US" altLang="zh-CN" sz="2400" b="1" i="1" dirty="0" err="1"/>
              <a:t>x</a:t>
            </a:r>
            <a:r>
              <a:rPr lang="en-US" altLang="zh-CN" sz="2400" b="1" dirty="0" err="1">
                <a:sym typeface="Symbol" panose="05050102010706020507" pitchFamily="18" charset="2"/>
              </a:rPr>
              <a:t></a:t>
            </a:r>
            <a:r>
              <a:rPr lang="en-US" altLang="zh-CN" sz="2400" b="1" i="1" dirty="0" err="1"/>
              <a:t>B</a:t>
            </a:r>
            <a:r>
              <a:rPr lang="en-US" altLang="zh-CN" sz="2400" b="1" dirty="0"/>
              <a:t> }</a:t>
            </a:r>
          </a:p>
          <a:p>
            <a:pPr eaLnBrk="1" hangingPunct="1">
              <a:lnSpc>
                <a:spcPct val="110000"/>
              </a:lnSpc>
              <a:spcBef>
                <a:spcPct val="15000"/>
              </a:spcBef>
              <a:buClr>
                <a:srgbClr val="0B61FF"/>
              </a:buClr>
              <a:buSzPct val="80000"/>
              <a:buFont typeface="Wingdings" panose="05000000000000000000" pitchFamily="2" charset="2"/>
              <a:buChar char="n"/>
            </a:pPr>
            <a:r>
              <a:rPr lang="en-US" altLang="zh-CN" sz="2400" b="1" dirty="0"/>
              <a:t>Relative Complement</a:t>
            </a:r>
            <a:r>
              <a:rPr lang="en-US" altLang="zh-CN" sz="2400" dirty="0"/>
              <a:t>:</a:t>
            </a:r>
            <a:r>
              <a:rPr lang="zh-CN" altLang="en-US" sz="2400" b="1" dirty="0"/>
              <a:t>   </a:t>
            </a:r>
            <a:r>
              <a:rPr lang="en-US" altLang="zh-CN" sz="2400" b="1" i="1" dirty="0"/>
              <a:t>A</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100" dirty="0">
                <a:solidFill>
                  <a:srgbClr val="0B61FF"/>
                </a:solidFill>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t>B</a:t>
            </a:r>
            <a:r>
              <a:rPr lang="en-US" altLang="zh-CN" sz="2400" b="1" dirty="0"/>
              <a:t> = { </a:t>
            </a:r>
            <a:r>
              <a:rPr lang="en-US" altLang="zh-CN" sz="2400" b="1" i="1" dirty="0"/>
              <a:t>x</a:t>
            </a:r>
            <a:r>
              <a:rPr lang="en-US" altLang="zh-CN" sz="2400" b="1" dirty="0"/>
              <a:t> | </a:t>
            </a:r>
            <a:r>
              <a:rPr lang="en-US" altLang="zh-CN" sz="2400" b="1" i="1" dirty="0" err="1"/>
              <a:t>x</a:t>
            </a:r>
            <a:r>
              <a:rPr lang="en-US" altLang="zh-CN" sz="2400" b="1" dirty="0" err="1">
                <a:sym typeface="Symbol" panose="05050102010706020507" pitchFamily="18" charset="2"/>
              </a:rPr>
              <a:t></a:t>
            </a:r>
            <a:r>
              <a:rPr lang="en-US" altLang="zh-CN" sz="2400" b="1" i="1" dirty="0" err="1"/>
              <a:t>A</a:t>
            </a:r>
            <a:r>
              <a:rPr lang="en-US" altLang="zh-CN" sz="2400" b="1" dirty="0"/>
              <a:t> </a:t>
            </a:r>
            <a:r>
              <a:rPr lang="en-US" altLang="zh-CN" sz="2400" b="1" dirty="0">
                <a:sym typeface="Symbol" panose="05050102010706020507" pitchFamily="18" charset="2"/>
              </a:rPr>
              <a:t></a:t>
            </a:r>
            <a:r>
              <a:rPr lang="en-US" altLang="zh-CN" sz="2400" b="1" dirty="0"/>
              <a:t> </a:t>
            </a:r>
            <a:r>
              <a:rPr lang="en-US" altLang="zh-CN" sz="2400" b="1" i="1" dirty="0" err="1"/>
              <a:t>x</a:t>
            </a:r>
            <a:r>
              <a:rPr lang="en-US" altLang="zh-CN" sz="2400" b="1" dirty="0" err="1">
                <a:sym typeface="Symbol" panose="05050102010706020507" pitchFamily="18" charset="2"/>
              </a:rPr>
              <a:t></a:t>
            </a:r>
            <a:r>
              <a:rPr lang="en-US" altLang="zh-CN" sz="2400" b="1" i="1" dirty="0" err="1"/>
              <a:t>B</a:t>
            </a:r>
            <a:r>
              <a:rPr lang="en-US" altLang="zh-CN" sz="2400" b="1" dirty="0"/>
              <a:t> }</a:t>
            </a:r>
          </a:p>
          <a:p>
            <a:pPr eaLnBrk="1" hangingPunct="1">
              <a:lnSpc>
                <a:spcPct val="110000"/>
              </a:lnSpc>
              <a:spcBef>
                <a:spcPct val="15000"/>
              </a:spcBef>
              <a:buClr>
                <a:srgbClr val="0B61FF"/>
              </a:buClr>
              <a:buSzPct val="80000"/>
              <a:buFont typeface="Wingdings" panose="05000000000000000000" pitchFamily="2" charset="2"/>
              <a:buChar char="n"/>
            </a:pPr>
            <a:r>
              <a:rPr lang="en-US" altLang="zh-CN" sz="2400" b="1" dirty="0"/>
              <a:t>Symmetric Difference</a:t>
            </a:r>
            <a:r>
              <a:rPr lang="en-US" altLang="zh-CN" sz="2400" dirty="0"/>
              <a:t>:</a:t>
            </a:r>
            <a:r>
              <a:rPr lang="zh-CN" altLang="en-US" sz="2400" b="1" dirty="0"/>
              <a:t>   </a:t>
            </a:r>
            <a:endParaRPr lang="en-US" altLang="zh-CN" sz="2400" b="1" dirty="0"/>
          </a:p>
          <a:p>
            <a:pPr eaLnBrk="1" hangingPunct="1">
              <a:lnSpc>
                <a:spcPct val="110000"/>
              </a:lnSpc>
              <a:spcBef>
                <a:spcPct val="15000"/>
              </a:spcBef>
              <a:buFontTx/>
              <a:buNone/>
            </a:pPr>
            <a:r>
              <a:rPr lang="en-US" altLang="zh-CN" sz="2400" b="1" dirty="0"/>
              <a:t>            </a:t>
            </a:r>
            <a:r>
              <a:rPr lang="zh-CN" altLang="en-US" sz="2400" b="1" dirty="0"/>
              <a:t>   </a:t>
            </a:r>
            <a:r>
              <a:rPr lang="en-US" altLang="zh-CN" sz="2400" b="1" i="1" dirty="0"/>
              <a:t>A</a:t>
            </a:r>
            <a:r>
              <a:rPr lang="zh-CN" altLang="zh-CN" sz="2400" b="1" kern="100" dirty="0">
                <a:solidFill>
                  <a:srgbClr val="0B61FF"/>
                </a:solidFill>
                <a:latin typeface="Times New Roman" panose="02020603050405020304" pitchFamily="18" charset="0"/>
                <a:ea typeface="宋体" panose="02010600030101010101" pitchFamily="2" charset="-122"/>
              </a:rPr>
              <a:t> ⊕ </a:t>
            </a:r>
            <a:r>
              <a:rPr lang="en-US" altLang="zh-CN" sz="2400" b="1" i="1" dirty="0"/>
              <a:t>B</a:t>
            </a:r>
            <a:r>
              <a:rPr lang="en-US" altLang="zh-CN" sz="2400" b="1" dirty="0"/>
              <a:t> = (</a:t>
            </a:r>
            <a:r>
              <a:rPr lang="en-US" altLang="zh-CN" sz="2400" b="1" i="1" dirty="0"/>
              <a:t>A</a:t>
            </a:r>
            <a:r>
              <a:rPr lang="en-US" altLang="zh-CN" sz="2400" b="1" dirty="0">
                <a:sym typeface="Symbol" panose="05050102010706020507" pitchFamily="18" charset="2"/>
              </a:rPr>
              <a:t></a:t>
            </a:r>
            <a:r>
              <a:rPr lang="en-US" altLang="zh-CN" sz="2400" b="1" i="1" dirty="0"/>
              <a:t>B</a:t>
            </a:r>
            <a:r>
              <a:rPr lang="en-US" altLang="zh-CN" sz="2400" b="1" dirty="0"/>
              <a:t>)</a:t>
            </a:r>
            <a:r>
              <a:rPr lang="zh-CN" altLang="zh-CN" sz="2400" b="1" kern="100" dirty="0">
                <a:solidFill>
                  <a:srgbClr val="0B61FF"/>
                </a:solidFill>
                <a:effectLst/>
                <a:latin typeface="Times New Roman" panose="02020603050405020304" pitchFamily="18" charset="0"/>
                <a:ea typeface="宋体" panose="02010600030101010101" pitchFamily="2" charset="-122"/>
                <a:cs typeface="宋体" panose="02010600030101010101" pitchFamily="2" charset="-122"/>
              </a:rPr>
              <a:t> ∪</a:t>
            </a:r>
            <a:r>
              <a:rPr lang="en-US" altLang="zh-CN" sz="2400" b="1" kern="100" dirty="0">
                <a:solidFill>
                  <a:srgbClr val="0B61FF"/>
                </a:solidFill>
                <a:effectLst/>
                <a:latin typeface="Times New Roman" panose="02020603050405020304" pitchFamily="18" charset="0"/>
                <a:ea typeface="宋体" panose="02010600030101010101" pitchFamily="2" charset="-122"/>
                <a:cs typeface="宋体" panose="02010600030101010101" pitchFamily="2" charset="-122"/>
              </a:rPr>
              <a:t> </a:t>
            </a:r>
            <a:r>
              <a:rPr lang="en-US" altLang="zh-CN" sz="2400" b="1" dirty="0"/>
              <a:t>(</a:t>
            </a:r>
            <a:r>
              <a:rPr lang="en-US" altLang="zh-CN" sz="2400" b="1" i="1" dirty="0"/>
              <a:t>B</a:t>
            </a:r>
            <a:r>
              <a:rPr lang="en-US" altLang="zh-CN" sz="2400" b="1" dirty="0">
                <a:sym typeface="Symbol" panose="05050102010706020507" pitchFamily="18" charset="2"/>
              </a:rPr>
              <a:t></a:t>
            </a:r>
            <a:r>
              <a:rPr lang="en-US" altLang="zh-CN" sz="2400" b="1" i="1" dirty="0"/>
              <a:t>A</a:t>
            </a:r>
            <a:r>
              <a:rPr lang="en-US" altLang="zh-CN" sz="2400" b="1" dirty="0"/>
              <a:t>) = (</a:t>
            </a:r>
            <a:r>
              <a:rPr lang="en-US" altLang="zh-CN" sz="2400" b="1" i="1" dirty="0"/>
              <a:t>A</a:t>
            </a:r>
            <a:r>
              <a:rPr lang="zh-CN" altLang="zh-CN" sz="2400" b="1" kern="100" dirty="0">
                <a:effectLst/>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rgbClr val="0B61FF"/>
                </a:solidFill>
                <a:latin typeface="Times New Roman" panose="02020603050405020304" pitchFamily="18" charset="0"/>
                <a:ea typeface="宋体" panose="02010600030101010101" pitchFamily="2" charset="-122"/>
              </a:rPr>
              <a:t>∪</a:t>
            </a:r>
            <a:r>
              <a:rPr lang="zh-CN" altLang="zh-CN" sz="2400" b="1" kern="100" dirty="0">
                <a:effectLst/>
                <a:latin typeface="Times New Roman" panose="02020603050405020304" pitchFamily="18" charset="0"/>
                <a:ea typeface="宋体" panose="02010600030101010101" pitchFamily="2" charset="-122"/>
                <a:cs typeface="宋体" panose="02010600030101010101" pitchFamily="2" charset="-122"/>
              </a:rPr>
              <a:t> </a:t>
            </a:r>
            <a:r>
              <a:rPr lang="en-US" altLang="zh-CN" sz="2400" b="1" i="1" dirty="0">
                <a:sym typeface="Symbol" panose="05050102010706020507" pitchFamily="18" charset="2"/>
              </a:rPr>
              <a:t>B</a:t>
            </a:r>
            <a:r>
              <a:rPr lang="en-US" altLang="zh-CN" sz="2400" b="1" dirty="0">
                <a:sym typeface="Symbol" panose="05050102010706020507" pitchFamily="18" charset="2"/>
              </a:rPr>
              <a: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ym typeface="Symbol" panose="05050102010706020507" pitchFamily="18" charset="2"/>
              </a:rPr>
              <a:t>(</a:t>
            </a:r>
            <a:r>
              <a:rPr lang="en-US" altLang="zh-CN" sz="2400" b="1" i="1" dirty="0">
                <a:sym typeface="Symbol" panose="05050102010706020507" pitchFamily="18" charset="2"/>
              </a:rPr>
              <a:t>A</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kern="100" dirty="0">
                <a:solidFill>
                  <a:srgbClr val="0B61FF"/>
                </a:solidFill>
                <a:latin typeface="Times New Roman" panose="02020603050405020304" pitchFamily="18" charset="0"/>
                <a:ea typeface="宋体" panose="02010600030101010101" pitchFamily="2" charset="-122"/>
              </a:rPr>
              <a:t>∩</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sym typeface="Symbol" panose="05050102010706020507" pitchFamily="18" charset="2"/>
              </a:rPr>
              <a:t>B</a:t>
            </a:r>
            <a:r>
              <a:rPr lang="en-US" altLang="zh-CN" sz="2400" b="1" dirty="0">
                <a:sym typeface="Symbol" panose="05050102010706020507" pitchFamily="18" charset="2"/>
              </a:rPr>
              <a:t>)</a:t>
            </a:r>
            <a:r>
              <a:rPr lang="en-US" altLang="zh-CN" sz="2400" b="1" dirty="0"/>
              <a:t> </a:t>
            </a:r>
          </a:p>
          <a:p>
            <a:pPr eaLnBrk="1" hangingPunct="1">
              <a:lnSpc>
                <a:spcPct val="110000"/>
              </a:lnSpc>
              <a:spcBef>
                <a:spcPct val="15000"/>
              </a:spcBef>
              <a:buClr>
                <a:srgbClr val="0B61FF"/>
              </a:buClr>
              <a:buSzPct val="80000"/>
              <a:buFont typeface="Wingdings" panose="05000000000000000000" pitchFamily="2" charset="2"/>
              <a:buChar char="n"/>
            </a:pPr>
            <a:r>
              <a:rPr lang="en-US" altLang="zh-CN" sz="2400" b="1" dirty="0"/>
              <a:t>Absolute Complement</a:t>
            </a:r>
            <a:r>
              <a:rPr lang="en-US" altLang="zh-CN" sz="2400" dirty="0"/>
              <a:t>:</a:t>
            </a:r>
            <a:r>
              <a:rPr lang="en-US" altLang="zh-CN" sz="2400" b="1" kern="100" dirty="0">
                <a:solidFill>
                  <a:srgbClr val="0B61FF"/>
                </a:solidFill>
                <a:latin typeface="Times New Roman" panose="02020603050405020304" pitchFamily="18" charset="0"/>
                <a:ea typeface="宋体" panose="02010600030101010101" pitchFamily="2" charset="-122"/>
              </a:rPr>
              <a:t> ~</a:t>
            </a:r>
            <a:r>
              <a:rPr lang="en-US" altLang="zh-CN" sz="24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i="1" dirty="0"/>
              <a:t>A</a:t>
            </a:r>
            <a:r>
              <a:rPr lang="en-US" altLang="zh-CN" sz="2400" b="1" dirty="0"/>
              <a:t> = </a:t>
            </a:r>
            <a:r>
              <a:rPr lang="en-US" altLang="zh-CN" sz="2400" b="1" i="1" dirty="0"/>
              <a:t>E</a:t>
            </a:r>
            <a:r>
              <a:rPr lang="en-US" altLang="zh-CN" sz="2400" b="1" kern="100" dirty="0">
                <a:solidFill>
                  <a:srgbClr val="0B61FF"/>
                </a:solidFill>
                <a:latin typeface="Times New Roman" panose="02020603050405020304" pitchFamily="18" charset="0"/>
                <a:ea typeface="宋体" panose="02010600030101010101" pitchFamily="2" charset="-122"/>
              </a:rPr>
              <a:t> − </a:t>
            </a:r>
            <a:r>
              <a:rPr lang="en-US" altLang="zh-CN" sz="2400" b="1" i="1" dirty="0"/>
              <a:t>A</a:t>
            </a:r>
            <a:r>
              <a:rPr lang="en-US" altLang="zh-CN" sz="2400" b="1" dirty="0"/>
              <a:t>= { </a:t>
            </a:r>
            <a:r>
              <a:rPr lang="en-US" altLang="zh-CN" sz="2400" b="1" i="1" dirty="0"/>
              <a:t>x</a:t>
            </a:r>
            <a:r>
              <a:rPr lang="en-US" altLang="zh-CN" sz="2400" b="1" dirty="0"/>
              <a:t> | </a:t>
            </a:r>
            <a:r>
              <a:rPr lang="en-US" altLang="zh-CN" sz="2400" b="1" i="1" dirty="0" err="1"/>
              <a:t>x</a:t>
            </a:r>
            <a:r>
              <a:rPr lang="en-US" altLang="zh-CN" sz="2400" b="1" dirty="0" err="1">
                <a:sym typeface="Symbol" panose="05050102010706020507" pitchFamily="18" charset="2"/>
              </a:rPr>
              <a:t></a:t>
            </a:r>
            <a:r>
              <a:rPr lang="en-US" altLang="zh-CN" sz="2400" b="1" i="1" dirty="0" err="1"/>
              <a:t>A</a:t>
            </a:r>
            <a:r>
              <a:rPr lang="en-US" altLang="zh-CN" sz="2400" b="1" dirty="0"/>
              <a:t> }</a:t>
            </a:r>
          </a:p>
          <a:p>
            <a:pPr eaLnBrk="1" hangingPunct="1">
              <a:lnSpc>
                <a:spcPct val="110000"/>
              </a:lnSpc>
              <a:spcBef>
                <a:spcPct val="15000"/>
              </a:spcBef>
              <a:buClr>
                <a:srgbClr val="0B61FF"/>
              </a:buClr>
              <a:buSzPct val="80000"/>
              <a:buFont typeface="Wingdings" panose="05000000000000000000" pitchFamily="2" charset="2"/>
              <a:buChar char="n"/>
            </a:pPr>
            <a:endParaRPr lang="en-US" altLang="zh-CN" sz="2400" b="1" dirty="0"/>
          </a:p>
          <a:p>
            <a:pPr eaLnBrk="1" hangingPunct="1">
              <a:spcBef>
                <a:spcPct val="15000"/>
              </a:spcBef>
              <a:buFontTx/>
              <a:buNone/>
            </a:pPr>
            <a:endParaRPr lang="zh-CN" altLang="en-US" sz="2800" b="1" dirty="0">
              <a:sym typeface="Symbol" panose="05050102010706020507" pitchFamily="18" charset="2"/>
            </a:endParaRPr>
          </a:p>
          <a:p>
            <a:pPr eaLnBrk="1" hangingPunct="1">
              <a:buFontTx/>
              <a:buNone/>
            </a:pPr>
            <a:endParaRPr lang="zh-CN" altLang="en-US" b="1" dirty="0"/>
          </a:p>
        </p:txBody>
      </p:sp>
      <p:sp>
        <p:nvSpPr>
          <p:cNvPr id="16" name="Rectangle 3">
            <a:extLst>
              <a:ext uri="{FF2B5EF4-FFF2-40B4-BE49-F238E27FC236}">
                <a16:creationId xmlns:a16="http://schemas.microsoft.com/office/drawing/2014/main" id="{C8166FCC-0659-4E1B-B92D-A0C0E5811761}"/>
              </a:ext>
            </a:extLst>
          </p:cNvPr>
          <p:cNvSpPr txBox="1">
            <a:spLocks noChangeArrowheads="1"/>
          </p:cNvSpPr>
          <p:nvPr/>
        </p:nvSpPr>
        <p:spPr>
          <a:xfrm>
            <a:off x="1019059" y="3761770"/>
            <a:ext cx="7620000" cy="20331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110000"/>
              </a:lnSpc>
              <a:spcBef>
                <a:spcPct val="15000"/>
              </a:spcBef>
              <a:buFontTx/>
              <a:buNone/>
            </a:pPr>
            <a:r>
              <a:rPr lang="en-US" altLang="zh-CN" sz="2400" b="1" dirty="0"/>
              <a:t>           Example1</a:t>
            </a:r>
            <a:r>
              <a:rPr lang="zh-CN" altLang="en-US" sz="2400" b="1" dirty="0"/>
              <a:t>：</a:t>
            </a:r>
            <a:endParaRPr lang="en-US" altLang="zh-CN" sz="2400" b="1" dirty="0"/>
          </a:p>
          <a:p>
            <a:pPr eaLnBrk="1" hangingPunct="1">
              <a:lnSpc>
                <a:spcPct val="110000"/>
              </a:lnSpc>
              <a:spcBef>
                <a:spcPct val="15000"/>
              </a:spcBef>
              <a:buFontTx/>
              <a:buNone/>
            </a:pPr>
            <a:r>
              <a:rPr lang="zh-CN" altLang="en-US" sz="2400" b="1" dirty="0"/>
              <a:t>  </a:t>
            </a:r>
            <a:r>
              <a:rPr lang="en-US" altLang="zh-CN" sz="2400" b="1" dirty="0"/>
              <a:t>Design </a:t>
            </a:r>
            <a:r>
              <a:rPr lang="en-US" altLang="zh-CN" sz="2400" b="1" i="1" dirty="0"/>
              <a:t>E</a:t>
            </a:r>
            <a:r>
              <a:rPr lang="en-US" altLang="zh-CN" sz="2400" b="1" dirty="0"/>
              <a:t>={0,1, </a:t>
            </a:r>
            <a:r>
              <a:rPr lang="en-US" altLang="zh-CN" sz="2400" b="1" dirty="0">
                <a:cs typeface="Times New Roman" panose="02020603050405020304" pitchFamily="18" charset="0"/>
              </a:rPr>
              <a:t>… ,9}, </a:t>
            </a:r>
            <a:r>
              <a:rPr lang="en-US" altLang="zh-CN" sz="2400" b="1" i="1" dirty="0">
                <a:cs typeface="Times New Roman" panose="02020603050405020304" pitchFamily="18" charset="0"/>
              </a:rPr>
              <a:t>A</a:t>
            </a:r>
            <a:r>
              <a:rPr lang="en-US" altLang="zh-CN" sz="2400" b="1" dirty="0">
                <a:cs typeface="Times New Roman" panose="02020603050405020304" pitchFamily="18" charset="0"/>
              </a:rPr>
              <a:t>={0,1,2,3}, </a:t>
            </a:r>
            <a:r>
              <a:rPr lang="en-US" altLang="zh-CN" sz="2400" b="1" i="1" dirty="0">
                <a:cs typeface="Times New Roman" panose="02020603050405020304" pitchFamily="18" charset="0"/>
              </a:rPr>
              <a:t>B</a:t>
            </a:r>
            <a:r>
              <a:rPr lang="en-US" altLang="zh-CN" sz="2400" b="1" dirty="0">
                <a:cs typeface="Times New Roman" panose="02020603050405020304" pitchFamily="18" charset="0"/>
              </a:rPr>
              <a:t>={1,3,5,7,9},</a:t>
            </a:r>
          </a:p>
          <a:p>
            <a:pPr eaLnBrk="1" hangingPunct="1">
              <a:lnSpc>
                <a:spcPct val="110000"/>
              </a:lnSpc>
              <a:spcBef>
                <a:spcPct val="15000"/>
              </a:spcBef>
              <a:buFontTx/>
              <a:buNone/>
            </a:pPr>
            <a:r>
              <a:rPr lang="en-US" altLang="zh-CN" sz="2400" b="1" dirty="0"/>
              <a:t>  Then</a:t>
            </a:r>
            <a:r>
              <a:rPr lang="zh-CN" altLang="en-US" sz="2400" b="1" dirty="0"/>
              <a:t>：</a:t>
            </a:r>
            <a:r>
              <a:rPr lang="en-US" altLang="zh-CN" sz="2400" b="1" i="1" dirty="0"/>
              <a:t> A</a:t>
            </a:r>
            <a:r>
              <a:rPr lang="zh-CN" altLang="zh-CN" sz="2400" b="1" kern="100" dirty="0">
                <a:solidFill>
                  <a:srgbClr val="0B61FF"/>
                </a:solidFill>
                <a:effectLst/>
                <a:latin typeface="Times New Roman" panose="02020603050405020304" pitchFamily="18" charset="0"/>
                <a:ea typeface="宋体" panose="02010600030101010101" pitchFamily="2" charset="-122"/>
                <a:cs typeface="宋体" panose="02010600030101010101" pitchFamily="2" charset="-122"/>
              </a:rPr>
              <a:t> ∪ </a:t>
            </a:r>
            <a:r>
              <a:rPr lang="en-US" altLang="zh-CN" sz="2400" b="1" i="1" dirty="0"/>
              <a:t>B</a:t>
            </a:r>
            <a:r>
              <a:rPr lang="en-US" altLang="zh-CN" sz="2400" b="1" dirty="0"/>
              <a:t> ={0,1,2,3,5,7,9}, </a:t>
            </a:r>
            <a:r>
              <a:rPr lang="en-US" altLang="zh-CN" sz="2400" b="1" i="1" dirty="0"/>
              <a:t>A</a:t>
            </a:r>
            <a:r>
              <a:rPr lang="en-US" altLang="zh-CN" sz="2400" b="1" kern="100" dirty="0">
                <a:solidFill>
                  <a:srgbClr val="0B61FF"/>
                </a:solidFill>
                <a:latin typeface="Times New Roman" panose="02020603050405020304" pitchFamily="18" charset="0"/>
                <a:ea typeface="宋体" panose="02010600030101010101" pitchFamily="2" charset="-122"/>
              </a:rPr>
              <a:t> ∩ </a:t>
            </a:r>
            <a:r>
              <a:rPr lang="en-US" altLang="zh-CN" sz="2400" b="1" i="1" dirty="0"/>
              <a:t>B</a:t>
            </a:r>
            <a:r>
              <a:rPr lang="en-US" altLang="zh-CN" sz="2400" b="1" dirty="0"/>
              <a:t> ={1,3}, </a:t>
            </a:r>
            <a:r>
              <a:rPr lang="en-US" altLang="zh-CN" sz="2400" b="1" i="1" dirty="0"/>
              <a:t>A</a:t>
            </a:r>
            <a:r>
              <a:rPr lang="en-US" altLang="zh-CN" sz="2400" b="1" kern="100" dirty="0">
                <a:solidFill>
                  <a:srgbClr val="0B61FF"/>
                </a:solidFill>
                <a:latin typeface="Times New Roman" panose="02020603050405020304" pitchFamily="18" charset="0"/>
                <a:ea typeface="宋体" panose="02010600030101010101" pitchFamily="2" charset="-122"/>
              </a:rPr>
              <a:t> − </a:t>
            </a:r>
            <a:r>
              <a:rPr lang="en-US" altLang="zh-CN" sz="2400" b="1" i="1" dirty="0"/>
              <a:t>B</a:t>
            </a:r>
            <a:r>
              <a:rPr lang="en-US" altLang="zh-CN" sz="2400" b="1" dirty="0"/>
              <a:t> ={0,2}, </a:t>
            </a:r>
          </a:p>
          <a:p>
            <a:pPr eaLnBrk="1" hangingPunct="1">
              <a:lnSpc>
                <a:spcPct val="110000"/>
              </a:lnSpc>
              <a:spcBef>
                <a:spcPct val="15000"/>
              </a:spcBef>
              <a:buFontTx/>
              <a:buNone/>
            </a:pPr>
            <a:r>
              <a:rPr lang="en-US" altLang="zh-CN" sz="2400" b="1" i="1" dirty="0"/>
              <a:t>          A</a:t>
            </a:r>
            <a:r>
              <a:rPr lang="zh-CN" altLang="zh-CN" sz="2400" b="1" kern="100" dirty="0">
                <a:solidFill>
                  <a:srgbClr val="0B61FF"/>
                </a:solidFill>
                <a:latin typeface="Times New Roman" panose="02020603050405020304" pitchFamily="18" charset="0"/>
                <a:ea typeface="宋体" panose="02010600030101010101" pitchFamily="2" charset="-122"/>
              </a:rPr>
              <a:t> ⊕ </a:t>
            </a:r>
            <a:r>
              <a:rPr lang="en-US" altLang="zh-CN" sz="2400" b="1" i="1" dirty="0"/>
              <a:t>B</a:t>
            </a:r>
            <a:r>
              <a:rPr lang="en-US" altLang="zh-CN" sz="2400" b="1" dirty="0"/>
              <a:t> ={0,2,5,7,9}, </a:t>
            </a:r>
            <a:r>
              <a:rPr lang="en-US" altLang="zh-CN" sz="2400" b="1" kern="100" dirty="0">
                <a:solidFill>
                  <a:srgbClr val="0B61FF"/>
                </a:solidFill>
                <a:latin typeface="Times New Roman" panose="02020603050405020304" pitchFamily="18" charset="0"/>
                <a:ea typeface="宋体" panose="02010600030101010101" pitchFamily="2" charset="-122"/>
              </a:rPr>
              <a:t>~ </a:t>
            </a:r>
            <a:r>
              <a:rPr lang="en-US" altLang="zh-CN" sz="2400" b="1" i="1" dirty="0"/>
              <a:t>A</a:t>
            </a:r>
            <a:r>
              <a:rPr lang="en-US" altLang="zh-CN" sz="2400" b="1" dirty="0"/>
              <a:t> ={4,5,6,7,8,9}, </a:t>
            </a:r>
            <a:r>
              <a:rPr lang="en-US" altLang="zh-CN" sz="2400" b="1" dirty="0">
                <a:sym typeface="Symbol" panose="05050102010706020507" pitchFamily="18" charset="2"/>
              </a:rPr>
              <a:t> </a:t>
            </a:r>
            <a:r>
              <a:rPr lang="en-US" altLang="zh-CN" sz="2400" b="1" kern="100" dirty="0">
                <a:solidFill>
                  <a:srgbClr val="0B61FF"/>
                </a:solidFill>
                <a:latin typeface="Times New Roman" panose="02020603050405020304" pitchFamily="18" charset="0"/>
                <a:ea typeface="宋体" panose="02010600030101010101" pitchFamily="2" charset="-122"/>
              </a:rPr>
              <a:t>~ </a:t>
            </a:r>
            <a:r>
              <a:rPr lang="en-US" altLang="zh-CN" sz="2400" b="1" i="1" dirty="0"/>
              <a:t>B</a:t>
            </a:r>
            <a:r>
              <a:rPr lang="en-US" altLang="zh-CN" sz="2400" b="1" dirty="0"/>
              <a:t> ={0,2,4,6,8}</a:t>
            </a:r>
          </a:p>
          <a:p>
            <a:pPr eaLnBrk="1" hangingPunct="1">
              <a:spcBef>
                <a:spcPct val="15000"/>
              </a:spcBef>
              <a:buFontTx/>
              <a:buNone/>
            </a:pPr>
            <a:endParaRPr lang="en-US" altLang="zh-CN" sz="2800" b="1" dirty="0">
              <a:sym typeface="Symbol" panose="05050102010706020507" pitchFamily="18" charset="2"/>
            </a:endParaRPr>
          </a:p>
          <a:p>
            <a:pPr eaLnBrk="1" hangingPunct="1">
              <a:spcBef>
                <a:spcPct val="15000"/>
              </a:spcBef>
              <a:buFontTx/>
              <a:buNone/>
            </a:pPr>
            <a:endParaRPr lang="zh-CN" altLang="en-US" sz="2800" b="1" dirty="0">
              <a:sym typeface="Symbol" panose="05050102010706020507" pitchFamily="18" charset="2"/>
            </a:endParaRPr>
          </a:p>
          <a:p>
            <a:pPr eaLnBrk="1" hangingPunct="1">
              <a:buFontTx/>
              <a:buNone/>
            </a:pPr>
            <a:endParaRPr lang="zh-CN" altLang="en-US" b="1" dirty="0"/>
          </a:p>
        </p:txBody>
      </p:sp>
      <p:pic>
        <p:nvPicPr>
          <p:cNvPr id="17" name="图片 16">
            <a:extLst>
              <a:ext uri="{FF2B5EF4-FFF2-40B4-BE49-F238E27FC236}">
                <a16:creationId xmlns:a16="http://schemas.microsoft.com/office/drawing/2014/main" id="{F9AEFCCC-B5FD-4EBD-A89D-7FF92BB57AA3}"/>
              </a:ext>
            </a:extLst>
          </p:cNvPr>
          <p:cNvPicPr>
            <a:picLocks noChangeAspect="1"/>
          </p:cNvPicPr>
          <p:nvPr/>
        </p:nvPicPr>
        <p:blipFill>
          <a:blip r:embed="rId5"/>
          <a:stretch>
            <a:fillRect/>
          </a:stretch>
        </p:blipFill>
        <p:spPr>
          <a:xfrm>
            <a:off x="1290156" y="4057501"/>
            <a:ext cx="577850" cy="241300"/>
          </a:xfrm>
          <a:prstGeom prst="rect">
            <a:avLst/>
          </a:prstGeom>
        </p:spPr>
      </p:pic>
      <p:grpSp>
        <p:nvGrpSpPr>
          <p:cNvPr id="14" name="组合 13">
            <a:extLst>
              <a:ext uri="{FF2B5EF4-FFF2-40B4-BE49-F238E27FC236}">
                <a16:creationId xmlns:a16="http://schemas.microsoft.com/office/drawing/2014/main" id="{A42775BF-8494-40D0-AE3C-A03022C23C24}"/>
              </a:ext>
            </a:extLst>
          </p:cNvPr>
          <p:cNvGrpSpPr/>
          <p:nvPr/>
        </p:nvGrpSpPr>
        <p:grpSpPr>
          <a:xfrm>
            <a:off x="8031298" y="718631"/>
            <a:ext cx="3966071" cy="4431983"/>
            <a:chOff x="8031298" y="718631"/>
            <a:chExt cx="3966071" cy="4431983"/>
          </a:xfrm>
        </p:grpSpPr>
        <p:sp>
          <p:nvSpPr>
            <p:cNvPr id="19" name="Rectangle 6">
              <a:extLst>
                <a:ext uri="{FF2B5EF4-FFF2-40B4-BE49-F238E27FC236}">
                  <a16:creationId xmlns:a16="http://schemas.microsoft.com/office/drawing/2014/main" id="{6B4A936F-9F1B-47C0-A0CD-FE76B361BF4C}"/>
                </a:ext>
              </a:extLst>
            </p:cNvPr>
            <p:cNvSpPr>
              <a:spLocks noChangeArrowheads="1"/>
            </p:cNvSpPr>
            <p:nvPr/>
          </p:nvSpPr>
          <p:spPr bwMode="auto">
            <a:xfrm>
              <a:off x="8031298" y="718631"/>
              <a:ext cx="3966071"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rPr>
                <a:t>     </a:t>
              </a:r>
              <a:r>
                <a:rPr kumimoji="0" lang="zh-CN" altLang="zh-CN" sz="2400" b="1" i="0" u="none" strike="noStrike" cap="none" normalizeH="0" baseline="0" dirty="0">
                  <a:ln>
                    <a:noFill/>
                  </a:ln>
                  <a:solidFill>
                    <a:schemeClr val="tx1"/>
                  </a:solidFill>
                  <a:effectLst/>
                </a:rPr>
                <a:t>Instructions:</a:t>
              </a:r>
              <a:endParaRPr kumimoji="0" lang="zh-CN" altLang="zh-CN"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zh-CN" sz="2400" b="0" i="0" u="none" strike="noStrike" cap="none" normalizeH="0" baseline="0" dirty="0">
                  <a:ln>
                    <a:noFill/>
                  </a:ln>
                  <a:solidFill>
                    <a:schemeClr val="tx1"/>
                  </a:solidFill>
                  <a:effectLst/>
                </a:rPr>
                <a:t>(1)</a:t>
              </a:r>
              <a:r>
                <a:rPr kumimoji="0" lang="zh-CN" altLang="zh-CN" sz="2400" b="0" i="0" u="none" strike="noStrike" cap="none" normalizeH="0" baseline="0" dirty="0">
                  <a:ln>
                    <a:noFill/>
                  </a:ln>
                  <a:solidFill>
                    <a:schemeClr val="tx1"/>
                  </a:solidFill>
                  <a:effectLst/>
                </a:rPr>
                <a:t>Use </a:t>
              </a:r>
              <a:r>
                <a:rPr kumimoji="0" lang="zh-CN" altLang="zh-CN" sz="2400" b="1" i="0" u="none" strike="noStrike" cap="none" normalizeH="0" baseline="0" dirty="0">
                  <a:ln>
                    <a:noFill/>
                  </a:ln>
                  <a:solidFill>
                    <a:schemeClr val="tx1"/>
                  </a:solidFill>
                  <a:effectLst/>
                </a:rPr>
                <a:t>only parentheses</a:t>
              </a:r>
              <a:r>
                <a:rPr kumimoji="0" lang="zh-CN" altLang="zh-CN"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r>
                <a:rPr kumimoji="0" lang="en-US" altLang="zh-CN" sz="2400" i="0" u="none" strike="noStrike" cap="none" normalizeH="0" baseline="0" dirty="0">
                  <a:ln>
                    <a:noFill/>
                  </a:ln>
                  <a:solidFill>
                    <a:schemeClr val="tx1"/>
                  </a:solidFill>
                  <a:effectLst/>
                </a:rPr>
                <a:t>(2)</a:t>
              </a:r>
              <a:r>
                <a:rPr kumimoji="0" lang="zh-CN" altLang="zh-CN" sz="2400" b="1" i="0" u="none" strike="noStrike" cap="none" normalizeH="0" baseline="0" dirty="0">
                  <a:ln>
                    <a:noFill/>
                  </a:ln>
                  <a:solidFill>
                    <a:schemeClr val="tx1"/>
                  </a:solidFill>
                  <a:effectLst/>
                </a:rPr>
                <a:t>Order of Operations</a:t>
              </a:r>
              <a:r>
                <a:rPr kumimoji="0" lang="zh-CN" altLang="zh-CN" sz="2400" b="0" i="0" u="none" strike="noStrike" cap="none" normalizeH="0" baseline="0" dirty="0">
                  <a:ln>
                    <a:noFill/>
                  </a:ln>
                  <a:solidFill>
                    <a:schemeClr val="tx1"/>
                  </a:solidFill>
                  <a:effectLst/>
                </a:rPr>
                <a:t>:</a:t>
              </a:r>
            </a:p>
            <a:p>
              <a:pPr marL="342900" marR="0" lvl="1" indent="-166688" algn="l" defTabSz="914400" rtl="0" eaLnBrk="0" fontAlgn="base" latinLnBrk="0" hangingPunct="0">
                <a:lnSpc>
                  <a:spcPct val="100000"/>
                </a:lnSpc>
                <a:spcBef>
                  <a:spcPct val="0"/>
                </a:spcBef>
                <a:spcAft>
                  <a:spcPct val="0"/>
                </a:spcAft>
                <a:buClr>
                  <a:srgbClr val="0B61FF"/>
                </a:buClr>
                <a:buSzPct val="120000"/>
                <a:buFont typeface="Arial" panose="020B0604020202020204" pitchFamily="34" charset="0"/>
                <a:buChar char="•"/>
                <a:tabLst/>
              </a:pPr>
              <a:r>
                <a:rPr kumimoji="0" lang="zh-CN" altLang="zh-CN" sz="2400" b="0" i="0" u="none" strike="noStrike" cap="none" normalizeH="0" baseline="0" dirty="0">
                  <a:ln>
                    <a:noFill/>
                  </a:ln>
                  <a:solidFill>
                    <a:schemeClr val="tx1"/>
                  </a:solidFill>
                  <a:effectLst/>
                </a:rPr>
                <a:t>Priority (1):Parentheses</a:t>
              </a:r>
            </a:p>
            <a:p>
              <a:pPr marL="342900" marR="0" lvl="1" indent="-166688" algn="l" defTabSz="914400" rtl="0" eaLnBrk="0" fontAlgn="base" latinLnBrk="0" hangingPunct="0">
                <a:lnSpc>
                  <a:spcPct val="100000"/>
                </a:lnSpc>
                <a:spcBef>
                  <a:spcPct val="0"/>
                </a:spcBef>
                <a:spcAft>
                  <a:spcPct val="0"/>
                </a:spcAft>
                <a:buClr>
                  <a:srgbClr val="0B61FF"/>
                </a:buClr>
                <a:buSzPct val="120000"/>
                <a:buFont typeface="Arial" panose="020B0604020202020204" pitchFamily="34" charset="0"/>
                <a:buChar char="•"/>
                <a:tabLst/>
              </a:pPr>
              <a:r>
                <a:rPr lang="zh-CN" altLang="zh-CN" sz="2400" dirty="0"/>
                <a:t>Priority (2): </a:t>
              </a:r>
              <a:r>
                <a:rPr kumimoji="0" lang="zh-CN" altLang="zh-CN" sz="2400" b="0" i="0" u="none" strike="noStrike" cap="none" normalizeH="0" baseline="0" dirty="0">
                  <a:ln>
                    <a:noFill/>
                  </a:ln>
                  <a:solidFill>
                    <a:schemeClr val="tx1"/>
                  </a:solidFill>
                  <a:effectLst/>
                </a:rPr>
                <a:t>Complement ∼\sim∼ and power set</a:t>
              </a:r>
            </a:p>
            <a:p>
              <a:pPr marL="342900" marR="0" lvl="1" indent="-166688" algn="l" defTabSz="914400" rtl="0" eaLnBrk="0" fontAlgn="base" latinLnBrk="0" hangingPunct="0">
                <a:lnSpc>
                  <a:spcPct val="100000"/>
                </a:lnSpc>
                <a:spcBef>
                  <a:spcPct val="0"/>
                </a:spcBef>
                <a:spcAft>
                  <a:spcPct val="0"/>
                </a:spcAft>
                <a:buClr>
                  <a:srgbClr val="0B61FF"/>
                </a:buClr>
                <a:buSzPct val="120000"/>
                <a:buFont typeface="Arial" panose="020B0604020202020204" pitchFamily="34" charset="0"/>
                <a:buChar char="•"/>
                <a:tabLst/>
              </a:pPr>
              <a:r>
                <a:rPr lang="zh-CN" altLang="zh-CN" sz="2400" dirty="0"/>
                <a:t>Priority (3): Other</a:t>
              </a:r>
              <a:r>
                <a:rPr lang="en-US" altLang="zh-CN" sz="2400" dirty="0"/>
                <a:t> </a:t>
              </a:r>
              <a:r>
                <a:rPr lang="zh-CN" altLang="zh-CN" sz="2400" dirty="0"/>
                <a:t>operations.</a:t>
              </a:r>
              <a:endParaRPr lang="en-US" altLang="zh-CN" sz="2400" dirty="0"/>
            </a:p>
            <a:p>
              <a:pPr marL="342900" marR="0" lvl="1" indent="-166688" algn="l" defTabSz="914400" rtl="0" eaLnBrk="0" fontAlgn="base" latinLnBrk="0" hangingPunct="0">
                <a:lnSpc>
                  <a:spcPct val="100000"/>
                </a:lnSpc>
                <a:spcBef>
                  <a:spcPct val="0"/>
                </a:spcBef>
                <a:spcAft>
                  <a:spcPct val="0"/>
                </a:spcAft>
                <a:buClr>
                  <a:srgbClr val="0B61FF"/>
                </a:buClr>
                <a:buSzPct val="120000"/>
                <a:buFont typeface="Arial" panose="020B0604020202020204" pitchFamily="34" charset="0"/>
                <a:buChar char="•"/>
                <a:tabLst/>
              </a:pPr>
              <a:r>
                <a:rPr kumimoji="0" lang="zh-CN" altLang="zh-CN" sz="2400" b="0" i="0" u="none" strike="noStrike" cap="none" normalizeH="0" baseline="0" dirty="0">
                  <a:ln>
                    <a:noFill/>
                  </a:ln>
                  <a:solidFill>
                    <a:schemeClr val="tx1"/>
                  </a:solidFill>
                  <a:effectLst/>
                </a:rPr>
                <a:t>Operations of the same priority are evaluated from </a:t>
              </a:r>
              <a:r>
                <a:rPr kumimoji="0" lang="zh-CN" altLang="zh-CN" sz="2400" b="1" i="0" u="none" strike="noStrike" cap="none" normalizeH="0" baseline="0" dirty="0">
                  <a:ln>
                    <a:noFill/>
                  </a:ln>
                  <a:solidFill>
                    <a:schemeClr val="tx1"/>
                  </a:solidFill>
                  <a:effectLst/>
                </a:rPr>
                <a:t>left to right</a:t>
              </a:r>
              <a:r>
                <a:rPr kumimoji="0" lang="zh-CN" altLang="zh-CN" sz="24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pic>
          <p:nvPicPr>
            <p:cNvPr id="21" name="图片 20">
              <a:extLst>
                <a:ext uri="{FF2B5EF4-FFF2-40B4-BE49-F238E27FC236}">
                  <a16:creationId xmlns:a16="http://schemas.microsoft.com/office/drawing/2014/main" id="{EF1ECF49-3483-446F-9649-FC1F920F8726}"/>
                </a:ext>
              </a:extLst>
            </p:cNvPr>
            <p:cNvPicPr>
              <a:picLocks noChangeAspect="1"/>
            </p:cNvPicPr>
            <p:nvPr/>
          </p:nvPicPr>
          <p:blipFill>
            <a:blip r:embed="rId6"/>
            <a:stretch>
              <a:fillRect/>
            </a:stretch>
          </p:blipFill>
          <p:spPr>
            <a:xfrm>
              <a:off x="8065186" y="835518"/>
              <a:ext cx="298450" cy="317500"/>
            </a:xfrm>
            <a:prstGeom prst="rect">
              <a:avLst/>
            </a:prstGeom>
          </p:spPr>
        </p:pic>
      </p:grpSp>
    </p:spTree>
    <p:extLst>
      <p:ext uri="{BB962C8B-B14F-4D97-AF65-F5344CB8AC3E}">
        <p14:creationId xmlns:p14="http://schemas.microsoft.com/office/powerpoint/2010/main" val="34334068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mj-lt"/>
                <a:ea typeface="宋体" panose="02010600030101010101" pitchFamily="2" charset="-122"/>
                <a:cs typeface="Times New Roman" panose="02020603050405020304" pitchFamily="18" charset="0"/>
              </a:rPr>
              <a:t>                1.</a:t>
            </a:r>
            <a:r>
              <a:rPr lang="en-US" altLang="zh-CN" sz="2000" b="1" dirty="0">
                <a:latin typeface="+mj-lt"/>
                <a:ea typeface="宋体" panose="02010600030101010101" pitchFamily="2" charset="-122"/>
                <a:cs typeface="Times New Roman" panose="02020603050405020304" pitchFamily="18" charset="0"/>
              </a:rPr>
              <a:t>2</a:t>
            </a:r>
            <a:r>
              <a:rPr lang="zh-CN" altLang="en-US" sz="2000" b="1" dirty="0">
                <a:latin typeface="+mj-lt"/>
                <a:ea typeface="宋体" panose="02010600030101010101" pitchFamily="2" charset="-122"/>
                <a:cs typeface="Times New Roman" panose="02020603050405020304" pitchFamily="18" charset="0"/>
              </a:rPr>
              <a:t> </a:t>
            </a:r>
            <a:r>
              <a:rPr lang="en-US" altLang="zh-CN" sz="2000" b="1" dirty="0">
                <a:latin typeface="+mj-lt"/>
                <a:ea typeface="宋体" panose="02010600030101010101" pitchFamily="2" charset="-122"/>
                <a:cs typeface="Times New Roman" panose="02020603050405020304" pitchFamily="18" charset="0"/>
              </a:rPr>
              <a:t>Sets and its operations</a:t>
            </a: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CFA57C"/>
                </a:solidFill>
                <a:ea typeface="宋体" panose="02010600030101010101" pitchFamily="2" charset="-122"/>
                <a:cs typeface="Times New Roman" panose="02020603050405020304" pitchFamily="18" charset="0"/>
              </a:rPr>
              <a:t>⤷</a:t>
            </a:r>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Sets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Set and its operations</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Rectangle 1042">
            <a:extLst>
              <a:ext uri="{FF2B5EF4-FFF2-40B4-BE49-F238E27FC236}">
                <a16:creationId xmlns:a16="http://schemas.microsoft.com/office/drawing/2014/main" id="{3DA9BA59-EAC5-4BA8-B15D-C4E9CE299FB1}"/>
              </a:ext>
            </a:extLst>
          </p:cNvPr>
          <p:cNvSpPr txBox="1">
            <a:spLocks noChangeArrowheads="1"/>
          </p:cNvSpPr>
          <p:nvPr/>
        </p:nvSpPr>
        <p:spPr>
          <a:xfrm>
            <a:off x="1101687" y="852601"/>
            <a:ext cx="9760944" cy="2224776"/>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sz="2400" b="1" dirty="0">
                <a:solidFill>
                  <a:srgbClr val="800000"/>
                </a:solidFill>
              </a:rPr>
              <a:t>         </a:t>
            </a:r>
            <a:r>
              <a:rPr lang="en-US" altLang="zh-CN" sz="2400" b="1" dirty="0"/>
              <a:t>Example </a:t>
            </a:r>
            <a:r>
              <a:rPr lang="zh-CN" altLang="en-US" sz="2400" b="1" dirty="0"/>
              <a:t>1</a:t>
            </a:r>
            <a:r>
              <a:rPr lang="en-US" altLang="zh-CN" sz="2400" b="1" dirty="0"/>
              <a:t>:</a:t>
            </a:r>
            <a:r>
              <a:rPr lang="zh-CN" altLang="en-US" sz="2400" b="1" dirty="0"/>
              <a:t> </a:t>
            </a:r>
            <a:r>
              <a:rPr lang="en-US" altLang="zh-CN" sz="2400" b="1" dirty="0"/>
              <a:t>Let</a:t>
            </a:r>
            <a:r>
              <a:rPr lang="zh-CN" altLang="en-US" sz="2400" b="1" dirty="0"/>
              <a:t> </a:t>
            </a:r>
            <a:r>
              <a:rPr lang="en-US" altLang="zh-CN" sz="2400" b="1" i="1" dirty="0"/>
              <a:t>E</a:t>
            </a:r>
            <a:r>
              <a:rPr lang="en-US" altLang="zh-CN" sz="2400" b="1" dirty="0"/>
              <a:t>={ </a:t>
            </a:r>
            <a:r>
              <a:rPr lang="en-US" altLang="zh-CN" sz="2400" b="1" i="1" dirty="0"/>
              <a:t>x</a:t>
            </a:r>
            <a:r>
              <a:rPr lang="en-US" altLang="zh-CN" sz="2400" b="1" dirty="0"/>
              <a:t> | </a:t>
            </a:r>
            <a:r>
              <a:rPr lang="en-US" altLang="zh-CN" sz="2400" b="1" i="1" dirty="0"/>
              <a:t>x</a:t>
            </a:r>
            <a:r>
              <a:rPr lang="en-US" altLang="zh-CN" sz="2400" dirty="0"/>
              <a:t> is a student at a university in Beijing</a:t>
            </a:r>
            <a:r>
              <a:rPr lang="zh-CN" altLang="en-US" sz="2400" b="1" dirty="0"/>
              <a:t>}, </a:t>
            </a:r>
            <a:r>
              <a:rPr lang="en-US" altLang="zh-CN" sz="2400" b="1" i="1" dirty="0"/>
              <a:t>A,B,C,D</a:t>
            </a:r>
            <a:r>
              <a:rPr lang="zh-CN" altLang="en-US" sz="2400" b="1" i="1" dirty="0"/>
              <a:t> </a:t>
            </a:r>
            <a:r>
              <a:rPr lang="en-US" altLang="zh-CN" sz="2400" b="1" i="1" dirty="0"/>
              <a:t>are subsets from E</a:t>
            </a:r>
            <a:r>
              <a:rPr lang="zh-CN" altLang="en-US" sz="2400" b="1" dirty="0"/>
              <a:t>,</a:t>
            </a:r>
          </a:p>
          <a:p>
            <a:pPr>
              <a:buFontTx/>
              <a:buNone/>
            </a:pPr>
            <a:r>
              <a:rPr lang="en-US" altLang="zh-CN" sz="2400" b="1" i="1" dirty="0"/>
              <a:t>        A</a:t>
            </a:r>
            <a:r>
              <a:rPr lang="en-US" altLang="zh-CN" sz="2400" b="1" dirty="0"/>
              <a:t>= { </a:t>
            </a:r>
            <a:r>
              <a:rPr lang="en-US" altLang="zh-CN" sz="2400" b="1" i="1" dirty="0"/>
              <a:t>x</a:t>
            </a:r>
            <a:r>
              <a:rPr lang="en-US" altLang="zh-CN" sz="2400" b="1" dirty="0"/>
              <a:t> | </a:t>
            </a:r>
            <a:r>
              <a:rPr lang="en-US" altLang="zh-CN" sz="2400" b="1" i="1" dirty="0"/>
              <a:t>x</a:t>
            </a:r>
            <a:r>
              <a:rPr lang="zh-CN" altLang="en-US" sz="2400" b="1" i="1" dirty="0"/>
              <a:t> </a:t>
            </a:r>
            <a:r>
              <a:rPr lang="en-US" altLang="zh-CN" sz="2400" dirty="0"/>
              <a:t>is from Beijing}</a:t>
            </a:r>
            <a:r>
              <a:rPr lang="zh-CN" altLang="en-US" sz="2400" b="1" dirty="0"/>
              <a:t>},   </a:t>
            </a:r>
            <a:r>
              <a:rPr lang="en-US" altLang="zh-CN" sz="2400" b="1" i="1" dirty="0"/>
              <a:t>B</a:t>
            </a:r>
            <a:r>
              <a:rPr lang="en-US" altLang="zh-CN" sz="2400" b="1" dirty="0"/>
              <a:t>= { </a:t>
            </a:r>
            <a:r>
              <a:rPr lang="en-US" altLang="zh-CN" sz="2400" b="1" i="1" dirty="0"/>
              <a:t>x</a:t>
            </a:r>
            <a:r>
              <a:rPr lang="en-US" altLang="zh-CN" sz="2400" b="1" dirty="0"/>
              <a:t> | </a:t>
            </a:r>
            <a:r>
              <a:rPr lang="en-US" altLang="zh-CN" sz="2400" b="1" i="1" dirty="0"/>
              <a:t>x</a:t>
            </a:r>
            <a:r>
              <a:rPr lang="en-US" altLang="zh-CN" sz="2400" dirty="0"/>
              <a:t> is a </a:t>
            </a:r>
            <a:r>
              <a:rPr lang="en-US" altLang="zh-CN" sz="2400" b="0" i="0" dirty="0">
                <a:solidFill>
                  <a:srgbClr val="474747"/>
                </a:solidFill>
                <a:effectLst/>
              </a:rPr>
              <a:t> external student</a:t>
            </a:r>
            <a:r>
              <a:rPr lang="zh-CN" altLang="en-US" sz="2400" b="1" dirty="0"/>
              <a:t>},</a:t>
            </a:r>
          </a:p>
          <a:p>
            <a:pPr>
              <a:buFontTx/>
              <a:buNone/>
            </a:pPr>
            <a:r>
              <a:rPr lang="en-US" altLang="zh-CN" sz="2400" b="1" i="1" dirty="0"/>
              <a:t>        C</a:t>
            </a:r>
            <a:r>
              <a:rPr lang="en-US" altLang="zh-CN" sz="2400" b="1" dirty="0"/>
              <a:t>= { </a:t>
            </a:r>
            <a:r>
              <a:rPr lang="en-US" altLang="zh-CN" sz="2400" b="1" i="1" dirty="0"/>
              <a:t>x</a:t>
            </a:r>
            <a:r>
              <a:rPr lang="en-US" altLang="zh-CN" sz="2400" b="1" dirty="0"/>
              <a:t> | </a:t>
            </a:r>
            <a:r>
              <a:rPr lang="en-US" altLang="zh-CN" sz="2400" b="1" i="1" dirty="0"/>
              <a:t>x</a:t>
            </a:r>
            <a:r>
              <a:rPr lang="en-US" altLang="zh-CN" sz="2400" dirty="0"/>
              <a:t> is a student in the Department of Mathematics</a:t>
            </a:r>
          </a:p>
          <a:p>
            <a:pPr>
              <a:buFontTx/>
              <a:buNone/>
            </a:pPr>
            <a:r>
              <a:rPr lang="en-US" altLang="zh-CN" sz="2400" b="1" i="1" dirty="0"/>
              <a:t>       D</a:t>
            </a:r>
            <a:r>
              <a:rPr lang="en-US" altLang="zh-CN" sz="2400" b="1" dirty="0"/>
              <a:t>= { </a:t>
            </a:r>
            <a:r>
              <a:rPr lang="en-US" altLang="zh-CN" sz="2400" b="1" i="1" dirty="0"/>
              <a:t>x</a:t>
            </a:r>
            <a:r>
              <a:rPr lang="en-US" altLang="zh-CN" sz="2400" b="1" dirty="0"/>
              <a:t> | </a:t>
            </a:r>
            <a:r>
              <a:rPr lang="en-US" altLang="zh-CN" sz="2400" b="1" i="1" dirty="0"/>
              <a:t>x</a:t>
            </a:r>
            <a:r>
              <a:rPr lang="en-US" altLang="zh-CN" sz="2400" dirty="0"/>
              <a:t> likes listening to music</a:t>
            </a:r>
            <a:r>
              <a:rPr lang="zh-CN" altLang="en-US" sz="2400" b="1" dirty="0"/>
              <a:t>}.</a:t>
            </a:r>
            <a:endParaRPr lang="en-US" altLang="zh-CN" sz="2400" b="1" dirty="0"/>
          </a:p>
          <a:p>
            <a:pPr>
              <a:buClr>
                <a:srgbClr val="0B61FF"/>
              </a:buClr>
              <a:buSzPct val="90000"/>
              <a:buFont typeface="Wingdings" panose="05000000000000000000" pitchFamily="2" charset="2"/>
              <a:buChar char="Ø"/>
            </a:pPr>
            <a:endParaRPr lang="en-US" altLang="zh-CN" sz="2400" b="1" dirty="0"/>
          </a:p>
          <a:p>
            <a:pPr>
              <a:buClr>
                <a:srgbClr val="0B61FF"/>
              </a:buClr>
              <a:buSzPct val="90000"/>
              <a:buFont typeface="Wingdings" panose="05000000000000000000" pitchFamily="2" charset="2"/>
              <a:buChar char="Ø"/>
            </a:pPr>
            <a:r>
              <a:rPr lang="en-US" altLang="zh-CN" sz="2400" b="1" dirty="0"/>
              <a:t>Describe the characteristics of the following sets of students:</a:t>
            </a:r>
            <a:endParaRPr lang="en-US" altLang="zh-CN" sz="2400" dirty="0"/>
          </a:p>
        </p:txBody>
      </p:sp>
      <p:sp>
        <p:nvSpPr>
          <p:cNvPr id="23" name="Text Box 1043">
            <a:extLst>
              <a:ext uri="{FF2B5EF4-FFF2-40B4-BE49-F238E27FC236}">
                <a16:creationId xmlns:a16="http://schemas.microsoft.com/office/drawing/2014/main" id="{577DC234-712A-4D15-848B-8F3CF660DC28}"/>
              </a:ext>
            </a:extLst>
          </p:cNvPr>
          <p:cNvSpPr txBox="1">
            <a:spLocks noChangeArrowheads="1"/>
          </p:cNvSpPr>
          <p:nvPr/>
        </p:nvSpPr>
        <p:spPr bwMode="auto">
          <a:xfrm>
            <a:off x="1466162" y="3989946"/>
            <a:ext cx="20372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spcBef>
                <a:spcPct val="50000"/>
              </a:spcBef>
            </a:pPr>
            <a:r>
              <a:rPr lang="en-US" altLang="zh-CN" sz="2400" b="1" dirty="0">
                <a:solidFill>
                  <a:schemeClr val="tx1"/>
                </a:solidFill>
                <a:latin typeface="+mn-lt"/>
              </a:rPr>
              <a:t>(</a:t>
            </a:r>
            <a:r>
              <a:rPr lang="en-US" altLang="zh-CN" sz="2400" b="1" i="1" dirty="0">
                <a:solidFill>
                  <a:schemeClr val="tx1"/>
                </a:solidFill>
                <a:latin typeface="+mn-lt"/>
              </a:rPr>
              <a:t>A</a:t>
            </a:r>
            <a:r>
              <a:rPr lang="zh-CN" altLang="zh-CN" sz="2400" b="1" dirty="0">
                <a:solidFill>
                  <a:srgbClr val="0B61FF"/>
                </a:solidFill>
                <a:latin typeface="+mn-lt"/>
              </a:rPr>
              <a:t>∪</a:t>
            </a:r>
            <a:r>
              <a:rPr lang="en-US" altLang="zh-CN" sz="2400" b="1" i="1" dirty="0">
                <a:solidFill>
                  <a:schemeClr val="tx1"/>
                </a:solidFill>
                <a:latin typeface="+mn-lt"/>
              </a:rPr>
              <a:t>D</a:t>
            </a:r>
            <a:r>
              <a:rPr lang="en-US" altLang="zh-CN" sz="2400" b="1" dirty="0">
                <a:solidFill>
                  <a:schemeClr val="tx1"/>
                </a:solidFill>
                <a:latin typeface="+mn-lt"/>
              </a:rPr>
              <a:t>) </a:t>
            </a:r>
            <a:r>
              <a:rPr lang="en-US" altLang="zh-CN" sz="2400" b="1" dirty="0">
                <a:solidFill>
                  <a:srgbClr val="0B61FF"/>
                </a:solidFill>
              </a:rPr>
              <a:t>∩</a:t>
            </a:r>
            <a:r>
              <a:rPr lang="en-US" altLang="zh-CN" sz="2400" b="1" dirty="0">
                <a:solidFill>
                  <a:srgbClr val="0B61FF"/>
                </a:solidFill>
                <a:latin typeface="+mn-lt"/>
                <a:sym typeface="Symbol" panose="05050102010706020507" pitchFamily="18" charset="2"/>
              </a:rPr>
              <a:t> </a:t>
            </a:r>
            <a:r>
              <a:rPr lang="en-US" altLang="zh-CN" sz="2400" b="1" dirty="0">
                <a:solidFill>
                  <a:srgbClr val="0B61FF"/>
                </a:solidFill>
              </a:rPr>
              <a:t>~</a:t>
            </a:r>
            <a:r>
              <a:rPr lang="en-US" altLang="zh-CN" sz="2400" b="1" i="1" dirty="0">
                <a:solidFill>
                  <a:schemeClr val="tx1"/>
                </a:solidFill>
                <a:latin typeface="+mn-lt"/>
              </a:rPr>
              <a:t>C</a:t>
            </a:r>
            <a:r>
              <a:rPr lang="en-US" altLang="zh-CN" sz="2400" b="1" dirty="0">
                <a:solidFill>
                  <a:schemeClr val="tx1"/>
                </a:solidFill>
                <a:latin typeface="+mn-lt"/>
              </a:rPr>
              <a:t>=</a:t>
            </a:r>
          </a:p>
        </p:txBody>
      </p:sp>
      <p:sp>
        <p:nvSpPr>
          <p:cNvPr id="24" name="Text Box 1044">
            <a:extLst>
              <a:ext uri="{FF2B5EF4-FFF2-40B4-BE49-F238E27FC236}">
                <a16:creationId xmlns:a16="http://schemas.microsoft.com/office/drawing/2014/main" id="{AC142BBC-CCAB-4148-BA5F-1697282378E8}"/>
              </a:ext>
            </a:extLst>
          </p:cNvPr>
          <p:cNvSpPr txBox="1">
            <a:spLocks noChangeArrowheads="1"/>
          </p:cNvSpPr>
          <p:nvPr/>
        </p:nvSpPr>
        <p:spPr bwMode="auto">
          <a:xfrm>
            <a:off x="1466162" y="4418809"/>
            <a:ext cx="16295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spcBef>
                <a:spcPct val="50000"/>
              </a:spcBef>
            </a:pPr>
            <a:r>
              <a:rPr lang="en-US" altLang="zh-CN" sz="2400" b="1" dirty="0">
                <a:solidFill>
                  <a:srgbClr val="0B61FF"/>
                </a:solidFill>
              </a:rPr>
              <a:t>~</a:t>
            </a:r>
            <a:r>
              <a:rPr lang="en-US" altLang="zh-CN" sz="2400" b="1" dirty="0">
                <a:solidFill>
                  <a:schemeClr val="tx1"/>
                </a:solidFill>
                <a:latin typeface="Times New Roman" panose="02020603050405020304" pitchFamily="18" charset="0"/>
              </a:rPr>
              <a:t> </a:t>
            </a:r>
            <a:r>
              <a:rPr lang="en-US" altLang="zh-CN" sz="2400" b="1" i="1" dirty="0">
                <a:solidFill>
                  <a:schemeClr val="tx1"/>
                </a:solidFill>
                <a:latin typeface="Times New Roman" panose="02020603050405020304" pitchFamily="18" charset="0"/>
              </a:rPr>
              <a:t>A</a:t>
            </a:r>
            <a:r>
              <a:rPr lang="en-US" altLang="zh-CN" sz="2400" b="1" dirty="0">
                <a:solidFill>
                  <a:srgbClr val="0B61FF"/>
                </a:solidFill>
              </a:rPr>
              <a:t> ∩ </a:t>
            </a:r>
            <a:r>
              <a:rPr lang="en-US" altLang="zh-CN" sz="2400" b="1" i="1" dirty="0">
                <a:solidFill>
                  <a:schemeClr val="tx1"/>
                </a:solidFill>
                <a:latin typeface="Times New Roman" panose="02020603050405020304" pitchFamily="18" charset="0"/>
              </a:rPr>
              <a:t>B</a:t>
            </a:r>
            <a:r>
              <a:rPr lang="en-US" altLang="zh-CN" sz="2400" b="1" dirty="0">
                <a:solidFill>
                  <a:schemeClr val="tx1"/>
                </a:solidFill>
                <a:latin typeface="Times New Roman" panose="02020603050405020304" pitchFamily="18" charset="0"/>
              </a:rPr>
              <a:t>=</a:t>
            </a:r>
            <a:endParaRPr lang="zh-CN" altLang="en-US" sz="2400" b="1" dirty="0">
              <a:solidFill>
                <a:schemeClr val="tx1"/>
              </a:solidFill>
              <a:latin typeface="Times New Roman" panose="02020603050405020304" pitchFamily="18" charset="0"/>
            </a:endParaRPr>
          </a:p>
        </p:txBody>
      </p:sp>
      <p:sp>
        <p:nvSpPr>
          <p:cNvPr id="25" name="Text Box 1045">
            <a:extLst>
              <a:ext uri="{FF2B5EF4-FFF2-40B4-BE49-F238E27FC236}">
                <a16:creationId xmlns:a16="http://schemas.microsoft.com/office/drawing/2014/main" id="{3BCEB342-4F4A-4E3A-A5FF-7ED2CFF631FD}"/>
              </a:ext>
            </a:extLst>
          </p:cNvPr>
          <p:cNvSpPr txBox="1">
            <a:spLocks noChangeArrowheads="1"/>
          </p:cNvSpPr>
          <p:nvPr/>
        </p:nvSpPr>
        <p:spPr bwMode="auto">
          <a:xfrm>
            <a:off x="1167784" y="4904347"/>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lgn="ctr">
              <a:spcBef>
                <a:spcPct val="50000"/>
              </a:spcBef>
            </a:pPr>
            <a:r>
              <a:rPr lang="en-US" altLang="zh-CN" sz="2400" b="1" dirty="0">
                <a:solidFill>
                  <a:schemeClr val="tx1"/>
                </a:solidFill>
                <a:latin typeface="Times New Roman" panose="02020603050405020304" pitchFamily="18" charset="0"/>
              </a:rPr>
              <a:t>(</a:t>
            </a:r>
            <a:r>
              <a:rPr lang="en-US" altLang="zh-CN" sz="2400" b="1" i="1" dirty="0">
                <a:solidFill>
                  <a:schemeClr val="tx1"/>
                </a:solidFill>
                <a:latin typeface="Times New Roman" panose="02020603050405020304" pitchFamily="18" charset="0"/>
              </a:rPr>
              <a:t>A</a:t>
            </a:r>
            <a:r>
              <a:rPr lang="en-US" altLang="zh-CN" b="1" dirty="0"/>
              <a:t> </a:t>
            </a:r>
            <a:r>
              <a:rPr lang="en-US" altLang="zh-CN" sz="2400" b="1" dirty="0">
                <a:solidFill>
                  <a:srgbClr val="0B61FF"/>
                </a:solidFill>
              </a:rPr>
              <a:t>−</a:t>
            </a:r>
            <a:r>
              <a:rPr lang="en-US" altLang="zh-CN" b="1" dirty="0"/>
              <a:t> </a:t>
            </a:r>
            <a:r>
              <a:rPr lang="en-US" altLang="zh-CN" sz="2400" b="1" i="1" dirty="0">
                <a:solidFill>
                  <a:schemeClr val="tx1"/>
                </a:solidFill>
                <a:latin typeface="Times New Roman" panose="02020603050405020304" pitchFamily="18" charset="0"/>
              </a:rPr>
              <a:t>B</a:t>
            </a:r>
            <a:r>
              <a:rPr lang="en-US" altLang="zh-CN" sz="2400" b="1" dirty="0">
                <a:solidFill>
                  <a:schemeClr val="tx1"/>
                </a:solidFill>
                <a:latin typeface="Times New Roman" panose="02020603050405020304" pitchFamily="18" charset="0"/>
              </a:rPr>
              <a:t>) </a:t>
            </a:r>
            <a:r>
              <a:rPr lang="en-US" altLang="zh-CN" sz="2400" b="1" dirty="0">
                <a:solidFill>
                  <a:srgbClr val="0B61FF"/>
                </a:solidFill>
              </a:rPr>
              <a:t>∩</a:t>
            </a:r>
            <a:r>
              <a:rPr kumimoji="1" lang="en-US" altLang="zh-CN" sz="24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1" i="1" dirty="0">
                <a:solidFill>
                  <a:schemeClr val="tx1"/>
                </a:solidFill>
                <a:latin typeface="Times New Roman" panose="02020603050405020304" pitchFamily="18" charset="0"/>
              </a:rPr>
              <a:t>D</a:t>
            </a:r>
            <a:r>
              <a:rPr lang="en-US" altLang="zh-CN" sz="2400" b="1" dirty="0">
                <a:solidFill>
                  <a:schemeClr val="tx1"/>
                </a:solidFill>
                <a:latin typeface="Times New Roman" panose="02020603050405020304" pitchFamily="18" charset="0"/>
              </a:rPr>
              <a:t>=</a:t>
            </a:r>
            <a:endParaRPr lang="zh-CN" altLang="en-US" sz="2400" b="1" dirty="0">
              <a:solidFill>
                <a:schemeClr val="tx1"/>
              </a:solidFill>
              <a:latin typeface="Times New Roman" panose="02020603050405020304" pitchFamily="18" charset="0"/>
            </a:endParaRPr>
          </a:p>
        </p:txBody>
      </p:sp>
      <p:sp>
        <p:nvSpPr>
          <p:cNvPr id="26" name="Text Box 1046">
            <a:extLst>
              <a:ext uri="{FF2B5EF4-FFF2-40B4-BE49-F238E27FC236}">
                <a16:creationId xmlns:a16="http://schemas.microsoft.com/office/drawing/2014/main" id="{2DA4ADB3-09B6-49DE-9CDA-E741791C6CFE}"/>
              </a:ext>
            </a:extLst>
          </p:cNvPr>
          <p:cNvSpPr txBox="1">
            <a:spLocks noChangeArrowheads="1"/>
          </p:cNvSpPr>
          <p:nvPr/>
        </p:nvSpPr>
        <p:spPr bwMode="auto">
          <a:xfrm>
            <a:off x="1548784" y="546391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spcBef>
                <a:spcPct val="50000"/>
              </a:spcBef>
            </a:pPr>
            <a:r>
              <a:rPr lang="en-US" altLang="zh-CN" sz="2400" b="1" dirty="0">
                <a:solidFill>
                  <a:srgbClr val="0B61FF"/>
                </a:solidFill>
              </a:rPr>
              <a:t>~</a:t>
            </a:r>
            <a:r>
              <a:rPr kumimoji="1" lang="en-US" altLang="zh-CN" sz="24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1" i="1" dirty="0">
                <a:solidFill>
                  <a:schemeClr val="tx1"/>
                </a:solidFill>
                <a:latin typeface="Times New Roman" panose="02020603050405020304" pitchFamily="18" charset="0"/>
              </a:rPr>
              <a:t>D</a:t>
            </a:r>
            <a:r>
              <a:rPr lang="en-US" altLang="zh-CN" sz="2400" b="1" dirty="0">
                <a:solidFill>
                  <a:schemeClr val="tx1"/>
                </a:solidFill>
                <a:latin typeface="Times New Roman" panose="02020603050405020304" pitchFamily="18" charset="0"/>
              </a:rPr>
              <a:t> </a:t>
            </a:r>
            <a:r>
              <a:rPr lang="en-US" altLang="zh-CN" sz="2400" b="1" dirty="0">
                <a:solidFill>
                  <a:srgbClr val="0B61FF"/>
                </a:solidFill>
              </a:rPr>
              <a:t>∩</a:t>
            </a:r>
            <a:r>
              <a:rPr kumimoji="1" lang="en-US" altLang="zh-CN" sz="24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b="1" dirty="0">
                <a:solidFill>
                  <a:srgbClr val="0B61FF"/>
                </a:solidFill>
              </a:rPr>
              <a:t>~</a:t>
            </a:r>
            <a:r>
              <a:rPr lang="en-US" altLang="zh-CN" sz="2400" b="1" i="1" dirty="0">
                <a:solidFill>
                  <a:schemeClr val="tx1"/>
                </a:solidFill>
                <a:latin typeface="Times New Roman" panose="02020603050405020304" pitchFamily="18" charset="0"/>
              </a:rPr>
              <a:t>B</a:t>
            </a:r>
            <a:r>
              <a:rPr lang="en-US" altLang="zh-CN" sz="2400" b="1" dirty="0">
                <a:solidFill>
                  <a:schemeClr val="tx1"/>
                </a:solidFill>
                <a:latin typeface="Times New Roman" panose="02020603050405020304" pitchFamily="18" charset="0"/>
              </a:rPr>
              <a:t>=</a:t>
            </a:r>
            <a:endParaRPr lang="zh-CN" altLang="en-US" sz="2400" b="1" dirty="0">
              <a:solidFill>
                <a:schemeClr val="tx1"/>
              </a:solidFill>
              <a:latin typeface="Times New Roman" panose="02020603050405020304" pitchFamily="18" charset="0"/>
            </a:endParaRPr>
          </a:p>
        </p:txBody>
      </p:sp>
      <p:sp>
        <p:nvSpPr>
          <p:cNvPr id="27" name="Text Box 1047">
            <a:extLst>
              <a:ext uri="{FF2B5EF4-FFF2-40B4-BE49-F238E27FC236}">
                <a16:creationId xmlns:a16="http://schemas.microsoft.com/office/drawing/2014/main" id="{C45FB8E7-1C51-4DE9-B22A-3A36822FC5E3}"/>
              </a:ext>
            </a:extLst>
          </p:cNvPr>
          <p:cNvSpPr txBox="1">
            <a:spLocks noChangeArrowheads="1"/>
          </p:cNvSpPr>
          <p:nvPr/>
        </p:nvSpPr>
        <p:spPr bwMode="auto">
          <a:xfrm>
            <a:off x="3294039" y="3937738"/>
            <a:ext cx="86372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spcBef>
                <a:spcPct val="50000"/>
              </a:spcBef>
            </a:pPr>
            <a:r>
              <a:rPr kumimoji="1" lang="en-US" altLang="zh-CN" sz="2400" b="1" dirty="0">
                <a:solidFill>
                  <a:schemeClr val="tx1"/>
                </a:solidFill>
                <a:latin typeface="Times New Roman" panose="02020603050405020304" pitchFamily="18" charset="0"/>
                <a:ea typeface="宋体" panose="02010600030101010101" pitchFamily="2" charset="-122"/>
              </a:rPr>
              <a:t>{ </a:t>
            </a:r>
            <a:r>
              <a:rPr kumimoji="1" lang="en-US" altLang="zh-CN" sz="2400" b="1" i="1" dirty="0">
                <a:solidFill>
                  <a:schemeClr val="tx1"/>
                </a:solidFill>
                <a:latin typeface="Times New Roman" panose="02020603050405020304" pitchFamily="18" charset="0"/>
                <a:ea typeface="宋体" panose="02010600030101010101" pitchFamily="2" charset="-122"/>
              </a:rPr>
              <a:t>x</a:t>
            </a:r>
            <a:r>
              <a:rPr kumimoji="1" lang="en-US" altLang="zh-CN" sz="2400" b="1" dirty="0">
                <a:solidFill>
                  <a:schemeClr val="tx1"/>
                </a:solidFill>
                <a:latin typeface="Times New Roman" panose="02020603050405020304" pitchFamily="18" charset="0"/>
                <a:ea typeface="宋体" panose="02010600030101010101" pitchFamily="2" charset="-122"/>
              </a:rPr>
              <a:t> | </a:t>
            </a:r>
            <a:r>
              <a:rPr kumimoji="1" lang="en-US" altLang="zh-CN" sz="2400" b="1" i="1" dirty="0">
                <a:solidFill>
                  <a:schemeClr val="tx1"/>
                </a:solidFill>
                <a:latin typeface="Times New Roman" panose="02020603050405020304" pitchFamily="18" charset="0"/>
                <a:ea typeface="宋体" panose="02010600030101010101" pitchFamily="2" charset="-122"/>
              </a:rPr>
              <a:t>x</a:t>
            </a:r>
            <a:r>
              <a:rPr lang="en-US" altLang="zh-CN" sz="2400" dirty="0"/>
              <a:t> </a:t>
            </a:r>
            <a:r>
              <a:rPr lang="en-US" altLang="zh-CN" sz="2000" dirty="0">
                <a:solidFill>
                  <a:schemeClr val="tx1"/>
                </a:solidFill>
                <a:latin typeface="+mn-lt"/>
              </a:rPr>
              <a:t>is from Beijing or likes listening to music, but is not a mathematics student</a:t>
            </a:r>
            <a:r>
              <a:rPr kumimoji="1" lang="zh-CN" altLang="en-US" sz="2400" b="1" dirty="0">
                <a:solidFill>
                  <a:schemeClr val="tx1"/>
                </a:solidFill>
                <a:latin typeface="Times New Roman" panose="02020603050405020304" pitchFamily="18" charset="0"/>
                <a:ea typeface="宋体" panose="02010600030101010101" pitchFamily="2" charset="-122"/>
              </a:rPr>
              <a:t>}</a:t>
            </a:r>
            <a:endParaRPr kumimoji="1" lang="en-US" altLang="zh-CN" sz="2400" b="1" dirty="0">
              <a:solidFill>
                <a:schemeClr val="tx1"/>
              </a:solidFill>
              <a:latin typeface="Times New Roman" panose="02020603050405020304" pitchFamily="18" charset="0"/>
              <a:ea typeface="宋体" panose="02010600030101010101" pitchFamily="2" charset="-122"/>
            </a:endParaRPr>
          </a:p>
        </p:txBody>
      </p:sp>
      <p:sp>
        <p:nvSpPr>
          <p:cNvPr id="28" name="Text Box 1048">
            <a:extLst>
              <a:ext uri="{FF2B5EF4-FFF2-40B4-BE49-F238E27FC236}">
                <a16:creationId xmlns:a16="http://schemas.microsoft.com/office/drawing/2014/main" id="{9E20E5BC-E824-43DD-B1F2-FB21863A04C4}"/>
              </a:ext>
            </a:extLst>
          </p:cNvPr>
          <p:cNvSpPr txBox="1">
            <a:spLocks noChangeArrowheads="1"/>
          </p:cNvSpPr>
          <p:nvPr/>
        </p:nvSpPr>
        <p:spPr bwMode="auto">
          <a:xfrm>
            <a:off x="2743200" y="4418809"/>
            <a:ext cx="556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spcBef>
                <a:spcPct val="50000"/>
              </a:spcBef>
            </a:pPr>
            <a:r>
              <a:rPr kumimoji="1" lang="en-US" altLang="zh-CN" sz="2400" b="1" dirty="0">
                <a:solidFill>
                  <a:schemeClr val="tx1"/>
                </a:solidFill>
                <a:latin typeface="Times New Roman" panose="02020603050405020304" pitchFamily="18" charset="0"/>
                <a:ea typeface="宋体" panose="02010600030101010101" pitchFamily="2" charset="-122"/>
              </a:rPr>
              <a:t>{ </a:t>
            </a:r>
            <a:r>
              <a:rPr kumimoji="1" lang="en-US" altLang="zh-CN" sz="2400" b="1" i="1" dirty="0">
                <a:solidFill>
                  <a:schemeClr val="tx1"/>
                </a:solidFill>
                <a:latin typeface="Times New Roman" panose="02020603050405020304" pitchFamily="18" charset="0"/>
                <a:ea typeface="宋体" panose="02010600030101010101" pitchFamily="2" charset="-122"/>
              </a:rPr>
              <a:t>x</a:t>
            </a:r>
            <a:r>
              <a:rPr kumimoji="1" lang="en-US" altLang="zh-CN" sz="2400" b="1" dirty="0">
                <a:solidFill>
                  <a:schemeClr val="tx1"/>
                </a:solidFill>
                <a:latin typeface="Times New Roman" panose="02020603050405020304" pitchFamily="18" charset="0"/>
                <a:ea typeface="宋体" panose="02010600030101010101" pitchFamily="2" charset="-122"/>
              </a:rPr>
              <a:t> | </a:t>
            </a:r>
            <a:r>
              <a:rPr kumimoji="1" lang="en-US" altLang="zh-CN" sz="2400" b="1" i="1" dirty="0">
                <a:solidFill>
                  <a:schemeClr val="tx1"/>
                </a:solidFill>
                <a:latin typeface="Times New Roman" panose="02020603050405020304" pitchFamily="18" charset="0"/>
                <a:ea typeface="宋体" panose="02010600030101010101" pitchFamily="2" charset="-122"/>
              </a:rPr>
              <a:t>x</a:t>
            </a:r>
            <a:r>
              <a:rPr lang="en-US" altLang="zh-CN" sz="2400" dirty="0">
                <a:solidFill>
                  <a:schemeClr val="tx1"/>
                </a:solidFill>
              </a:rPr>
              <a:t>  </a:t>
            </a:r>
            <a:r>
              <a:rPr lang="en-US" altLang="zh-CN" sz="2000" dirty="0">
                <a:solidFill>
                  <a:schemeClr val="tx1"/>
                </a:solidFill>
                <a:latin typeface="+mn-lt"/>
              </a:rPr>
              <a:t>is a non-local commuting student</a:t>
            </a:r>
            <a:r>
              <a:rPr kumimoji="1" lang="zh-CN" altLang="en-US" sz="2400" b="1" dirty="0">
                <a:solidFill>
                  <a:schemeClr val="tx1"/>
                </a:solidFill>
                <a:latin typeface="Times New Roman" panose="02020603050405020304" pitchFamily="18" charset="0"/>
                <a:ea typeface="宋体" panose="02010600030101010101" pitchFamily="2" charset="-122"/>
              </a:rPr>
              <a:t>}</a:t>
            </a:r>
          </a:p>
        </p:txBody>
      </p:sp>
      <p:sp>
        <p:nvSpPr>
          <p:cNvPr id="29" name="Text Box 1049">
            <a:extLst>
              <a:ext uri="{FF2B5EF4-FFF2-40B4-BE49-F238E27FC236}">
                <a16:creationId xmlns:a16="http://schemas.microsoft.com/office/drawing/2014/main" id="{2D37C6C4-25A4-43A4-B424-B2808BB55256}"/>
              </a:ext>
            </a:extLst>
          </p:cNvPr>
          <p:cNvSpPr txBox="1">
            <a:spLocks noChangeArrowheads="1"/>
          </p:cNvSpPr>
          <p:nvPr/>
        </p:nvSpPr>
        <p:spPr bwMode="auto">
          <a:xfrm>
            <a:off x="3148069" y="4876009"/>
            <a:ext cx="72077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spcBef>
                <a:spcPct val="50000"/>
              </a:spcBef>
            </a:pPr>
            <a:r>
              <a:rPr kumimoji="1" lang="en-US" altLang="zh-CN" sz="2400" b="1" dirty="0">
                <a:solidFill>
                  <a:schemeClr val="tx1"/>
                </a:solidFill>
                <a:latin typeface="Times New Roman" panose="02020603050405020304" pitchFamily="18" charset="0"/>
                <a:ea typeface="宋体" panose="02010600030101010101" pitchFamily="2" charset="-122"/>
              </a:rPr>
              <a:t>{ </a:t>
            </a:r>
            <a:r>
              <a:rPr kumimoji="1" lang="en-US" altLang="zh-CN" sz="2400" b="1" i="1" dirty="0">
                <a:solidFill>
                  <a:schemeClr val="tx1"/>
                </a:solidFill>
                <a:latin typeface="Times New Roman" panose="02020603050405020304" pitchFamily="18" charset="0"/>
                <a:ea typeface="宋体" panose="02010600030101010101" pitchFamily="2" charset="-122"/>
              </a:rPr>
              <a:t>x</a:t>
            </a:r>
            <a:r>
              <a:rPr kumimoji="1" lang="en-US" altLang="zh-CN" sz="2400" b="1" dirty="0">
                <a:solidFill>
                  <a:schemeClr val="tx1"/>
                </a:solidFill>
                <a:latin typeface="Times New Roman" panose="02020603050405020304" pitchFamily="18" charset="0"/>
                <a:ea typeface="宋体" panose="02010600030101010101" pitchFamily="2" charset="-122"/>
              </a:rPr>
              <a:t> | </a:t>
            </a:r>
            <a:r>
              <a:rPr kumimoji="1" lang="en-US" altLang="zh-CN" sz="2400" b="1" i="1" dirty="0">
                <a:solidFill>
                  <a:schemeClr val="tx1"/>
                </a:solidFill>
                <a:latin typeface="Times New Roman" panose="02020603050405020304" pitchFamily="18" charset="0"/>
                <a:ea typeface="宋体" panose="02010600030101010101" pitchFamily="2" charset="-122"/>
              </a:rPr>
              <a:t>x</a:t>
            </a:r>
            <a:r>
              <a:rPr lang="en-US" altLang="zh-CN" sz="2400" dirty="0">
                <a:solidFill>
                  <a:schemeClr val="tx1"/>
                </a:solidFill>
              </a:rPr>
              <a:t> </a:t>
            </a:r>
            <a:r>
              <a:rPr lang="en-US" altLang="zh-CN" sz="2000" dirty="0">
                <a:solidFill>
                  <a:schemeClr val="tx1"/>
                </a:solidFill>
                <a:latin typeface="+mn-lt"/>
              </a:rPr>
              <a:t>is a boarding student in Beijing and likes listening to music</a:t>
            </a:r>
            <a:r>
              <a:rPr kumimoji="1" lang="zh-CN" altLang="en-US" sz="2000" b="1" dirty="0">
                <a:solidFill>
                  <a:schemeClr val="tx1"/>
                </a:solidFill>
                <a:latin typeface="+mn-lt"/>
                <a:ea typeface="宋体" panose="02010600030101010101" pitchFamily="2" charset="-122"/>
              </a:rPr>
              <a:t>}</a:t>
            </a:r>
          </a:p>
        </p:txBody>
      </p:sp>
      <p:sp>
        <p:nvSpPr>
          <p:cNvPr id="30" name="Text Box 1050">
            <a:extLst>
              <a:ext uri="{FF2B5EF4-FFF2-40B4-BE49-F238E27FC236}">
                <a16:creationId xmlns:a16="http://schemas.microsoft.com/office/drawing/2014/main" id="{7CFA6642-C45A-4083-A515-434C28A1E5A2}"/>
              </a:ext>
            </a:extLst>
          </p:cNvPr>
          <p:cNvSpPr txBox="1">
            <a:spLocks noChangeArrowheads="1"/>
          </p:cNvSpPr>
          <p:nvPr/>
        </p:nvSpPr>
        <p:spPr bwMode="auto">
          <a:xfrm>
            <a:off x="3031015" y="5463910"/>
            <a:ext cx="72364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square">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a:spcBef>
                <a:spcPct val="50000"/>
              </a:spcBef>
            </a:pPr>
            <a:r>
              <a:rPr kumimoji="1" lang="en-US" altLang="zh-CN" sz="2400" b="1" dirty="0">
                <a:solidFill>
                  <a:schemeClr val="tx1"/>
                </a:solidFill>
                <a:latin typeface="Times New Roman" panose="02020603050405020304" pitchFamily="18" charset="0"/>
                <a:ea typeface="宋体" panose="02010600030101010101" pitchFamily="2" charset="-122"/>
              </a:rPr>
              <a:t>{ </a:t>
            </a:r>
            <a:r>
              <a:rPr kumimoji="1" lang="en-US" altLang="zh-CN" sz="2400" b="1" i="1" dirty="0">
                <a:solidFill>
                  <a:schemeClr val="tx1"/>
                </a:solidFill>
                <a:latin typeface="Times New Roman" panose="02020603050405020304" pitchFamily="18" charset="0"/>
                <a:ea typeface="宋体" panose="02010600030101010101" pitchFamily="2" charset="-122"/>
              </a:rPr>
              <a:t>x</a:t>
            </a:r>
            <a:r>
              <a:rPr kumimoji="1" lang="en-US" altLang="zh-CN" sz="2400" b="1" dirty="0">
                <a:solidFill>
                  <a:schemeClr val="tx1"/>
                </a:solidFill>
                <a:latin typeface="Times New Roman" panose="02020603050405020304" pitchFamily="18" charset="0"/>
                <a:ea typeface="宋体" panose="02010600030101010101" pitchFamily="2" charset="-122"/>
              </a:rPr>
              <a:t> | </a:t>
            </a:r>
            <a:r>
              <a:rPr kumimoji="1" lang="en-US" altLang="zh-CN" sz="2400" b="1" i="1" dirty="0">
                <a:solidFill>
                  <a:schemeClr val="tx1"/>
                </a:solidFill>
                <a:latin typeface="Times New Roman" panose="02020603050405020304" pitchFamily="18" charset="0"/>
                <a:ea typeface="宋体" panose="02010600030101010101" pitchFamily="2" charset="-122"/>
              </a:rPr>
              <a:t>x</a:t>
            </a:r>
            <a:r>
              <a:rPr lang="en-US" altLang="zh-CN" sz="2400" dirty="0">
                <a:solidFill>
                  <a:schemeClr val="tx1"/>
                </a:solidFill>
              </a:rPr>
              <a:t> i</a:t>
            </a:r>
            <a:r>
              <a:rPr lang="en-US" altLang="zh-CN" sz="2000" dirty="0">
                <a:solidFill>
                  <a:schemeClr val="tx1"/>
                </a:solidFill>
                <a:latin typeface="+mn-lt"/>
              </a:rPr>
              <a:t>s a boarding student who does not like listening to music</a:t>
            </a:r>
            <a:r>
              <a:rPr kumimoji="1" lang="zh-CN" altLang="en-US" sz="2400" b="1" dirty="0">
                <a:solidFill>
                  <a:schemeClr val="tx1"/>
                </a:solidFill>
                <a:latin typeface="Times New Roman" panose="02020603050405020304" pitchFamily="18" charset="0"/>
                <a:ea typeface="宋体" panose="02010600030101010101" pitchFamily="2" charset="-122"/>
              </a:rPr>
              <a:t>}</a:t>
            </a:r>
          </a:p>
        </p:txBody>
      </p:sp>
      <p:pic>
        <p:nvPicPr>
          <p:cNvPr id="16" name="图片 15">
            <a:extLst>
              <a:ext uri="{FF2B5EF4-FFF2-40B4-BE49-F238E27FC236}">
                <a16:creationId xmlns:a16="http://schemas.microsoft.com/office/drawing/2014/main" id="{EF5EC934-FF3A-480D-AD16-A452B97535D5}"/>
              </a:ext>
            </a:extLst>
          </p:cNvPr>
          <p:cNvPicPr>
            <a:picLocks noChangeAspect="1"/>
          </p:cNvPicPr>
          <p:nvPr/>
        </p:nvPicPr>
        <p:blipFill>
          <a:blip r:embed="rId5"/>
          <a:stretch>
            <a:fillRect/>
          </a:stretch>
        </p:blipFill>
        <p:spPr>
          <a:xfrm>
            <a:off x="1246088" y="950739"/>
            <a:ext cx="577850" cy="241300"/>
          </a:xfrm>
          <a:prstGeom prst="rect">
            <a:avLst/>
          </a:prstGeom>
        </p:spPr>
      </p:pic>
    </p:spTree>
    <p:extLst>
      <p:ext uri="{BB962C8B-B14F-4D97-AF65-F5344CB8AC3E}">
        <p14:creationId xmlns:p14="http://schemas.microsoft.com/office/powerpoint/2010/main" val="9677560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0-#ppt_w/2"/>
                                          </p:val>
                                        </p:tav>
                                        <p:tav tm="100000">
                                          <p:val>
                                            <p:strVal val="#ppt_x"/>
                                          </p:val>
                                        </p:tav>
                                      </p:tavLst>
                                    </p:anim>
                                    <p:anim calcmode="lin" valueType="num">
                                      <p:cBhvr additive="base">
                                        <p:cTn id="8"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0-#ppt_w/2"/>
                                          </p:val>
                                        </p:tav>
                                        <p:tav tm="100000">
                                          <p:val>
                                            <p:strVal val="#ppt_x"/>
                                          </p:val>
                                        </p:tav>
                                      </p:tavLst>
                                    </p:anim>
                                    <p:anim calcmode="lin" valueType="num">
                                      <p:cBhvr additive="base">
                                        <p:cTn id="14"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500" fill="hold"/>
                                        <p:tgtEl>
                                          <p:spTgt spid="24"/>
                                        </p:tgtEl>
                                        <p:attrNameLst>
                                          <p:attrName>ppt_x</p:attrName>
                                        </p:attrNameLst>
                                      </p:cBhvr>
                                      <p:tavLst>
                                        <p:tav tm="0">
                                          <p:val>
                                            <p:strVal val="0-#ppt_w/2"/>
                                          </p:val>
                                        </p:tav>
                                        <p:tav tm="100000">
                                          <p:val>
                                            <p:strVal val="#ppt_x"/>
                                          </p:val>
                                        </p:tav>
                                      </p:tavLst>
                                    </p:anim>
                                    <p:anim calcmode="lin" valueType="num">
                                      <p:cBhvr additive="base">
                                        <p:cTn id="20"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additive="base">
                                        <p:cTn id="25" dur="500" fill="hold"/>
                                        <p:tgtEl>
                                          <p:spTgt spid="28"/>
                                        </p:tgtEl>
                                        <p:attrNameLst>
                                          <p:attrName>ppt_x</p:attrName>
                                        </p:attrNameLst>
                                      </p:cBhvr>
                                      <p:tavLst>
                                        <p:tav tm="0">
                                          <p:val>
                                            <p:strVal val="0-#ppt_w/2"/>
                                          </p:val>
                                        </p:tav>
                                        <p:tav tm="100000">
                                          <p:val>
                                            <p:strVal val="#ppt_x"/>
                                          </p:val>
                                        </p:tav>
                                      </p:tavLst>
                                    </p:anim>
                                    <p:anim calcmode="lin" valueType="num">
                                      <p:cBhvr additive="base">
                                        <p:cTn id="2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0-#ppt_w/2"/>
                                          </p:val>
                                        </p:tav>
                                        <p:tav tm="100000">
                                          <p:val>
                                            <p:strVal val="#ppt_x"/>
                                          </p:val>
                                        </p:tav>
                                      </p:tavLst>
                                    </p:anim>
                                    <p:anim calcmode="lin" valueType="num">
                                      <p:cBhvr additive="base">
                                        <p:cTn id="32"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0-#ppt_w/2"/>
                                          </p:val>
                                        </p:tav>
                                        <p:tav tm="100000">
                                          <p:val>
                                            <p:strVal val="#ppt_x"/>
                                          </p:val>
                                        </p:tav>
                                      </p:tavLst>
                                    </p:anim>
                                    <p:anim calcmode="lin" valueType="num">
                                      <p:cBhvr additive="base">
                                        <p:cTn id="38"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0-#ppt_w/2"/>
                                          </p:val>
                                        </p:tav>
                                        <p:tav tm="100000">
                                          <p:val>
                                            <p:strVal val="#ppt_x"/>
                                          </p:val>
                                        </p:tav>
                                      </p:tavLst>
                                    </p:anim>
                                    <p:anim calcmode="lin" valueType="num">
                                      <p:cBhvr additive="base">
                                        <p:cTn id="44"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fill="hold"/>
                                        <p:tgtEl>
                                          <p:spTgt spid="30"/>
                                        </p:tgtEl>
                                        <p:attrNameLst>
                                          <p:attrName>ppt_x</p:attrName>
                                        </p:attrNameLst>
                                      </p:cBhvr>
                                      <p:tavLst>
                                        <p:tav tm="0">
                                          <p:val>
                                            <p:strVal val="0-#ppt_w/2"/>
                                          </p:val>
                                        </p:tav>
                                        <p:tav tm="100000">
                                          <p:val>
                                            <p:strVal val="#ppt_x"/>
                                          </p:val>
                                        </p:tav>
                                      </p:tavLst>
                                    </p:anim>
                                    <p:anim calcmode="lin" valueType="num">
                                      <p:cBhvr additive="base">
                                        <p:cTn id="50" dur="500" fill="hold"/>
                                        <p:tgtEl>
                                          <p:spTgt spid="30"/>
                                        </p:tgtEl>
                                        <p:attrNameLst>
                                          <p:attrName>ppt_y</p:attrName>
                                        </p:attrNameLst>
                                      </p:cBhvr>
                                      <p:tavLst>
                                        <p:tav tm="0">
                                          <p:val>
                                            <p:strVal val="#ppt_y"/>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1000"/>
                                        <p:tgtEl>
                                          <p:spTgt spid="16"/>
                                        </p:tgtEl>
                                      </p:cBhvr>
                                    </p:animEffect>
                                    <p:anim calcmode="lin" valueType="num">
                                      <p:cBhvr>
                                        <p:cTn id="54" dur="1000" fill="hold"/>
                                        <p:tgtEl>
                                          <p:spTgt spid="16"/>
                                        </p:tgtEl>
                                        <p:attrNameLst>
                                          <p:attrName>ppt_x</p:attrName>
                                        </p:attrNameLst>
                                      </p:cBhvr>
                                      <p:tavLst>
                                        <p:tav tm="0">
                                          <p:val>
                                            <p:strVal val="#ppt_x"/>
                                          </p:val>
                                        </p:tav>
                                        <p:tav tm="100000">
                                          <p:val>
                                            <p:strVal val="#ppt_x"/>
                                          </p:val>
                                        </p:tav>
                                      </p:tavLst>
                                    </p:anim>
                                    <p:anim calcmode="lin" valueType="num">
                                      <p:cBhvr>
                                        <p:cTn id="5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24" grpId="0" autoUpdateAnimBg="0"/>
      <p:bldP spid="25" grpId="0" autoUpdateAnimBg="0"/>
      <p:bldP spid="26" grpId="0" autoUpdateAnimBg="0"/>
      <p:bldP spid="27" grpId="0" autoUpdateAnimBg="0"/>
      <p:bldP spid="28" grpId="0" autoUpdateAnimBg="0"/>
      <p:bldP spid="29" grpId="0" autoUpdateAnimBg="0"/>
      <p:bldP spid="30"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mj-lt"/>
                <a:ea typeface="宋体" panose="02010600030101010101" pitchFamily="2" charset="-122"/>
                <a:cs typeface="Times New Roman" panose="02020603050405020304" pitchFamily="18" charset="0"/>
              </a:rPr>
              <a:t>                1.</a:t>
            </a:r>
            <a:r>
              <a:rPr lang="en-US" altLang="zh-CN" sz="2000" b="1" dirty="0">
                <a:latin typeface="+mj-lt"/>
                <a:ea typeface="宋体" panose="02010600030101010101" pitchFamily="2" charset="-122"/>
                <a:cs typeface="Times New Roman" panose="02020603050405020304" pitchFamily="18" charset="0"/>
              </a:rPr>
              <a:t>2</a:t>
            </a:r>
            <a:r>
              <a:rPr lang="zh-CN" altLang="en-US" sz="2000" b="1" dirty="0">
                <a:latin typeface="+mj-lt"/>
                <a:ea typeface="宋体" panose="02010600030101010101" pitchFamily="2" charset="-122"/>
                <a:cs typeface="Times New Roman" panose="02020603050405020304" pitchFamily="18" charset="0"/>
              </a:rPr>
              <a:t> </a:t>
            </a:r>
            <a:r>
              <a:rPr lang="en-US" altLang="zh-CN" sz="2000" b="1" dirty="0">
                <a:latin typeface="+mj-lt"/>
                <a:ea typeface="宋体" panose="02010600030101010101" pitchFamily="2" charset="-122"/>
                <a:cs typeface="Times New Roman" panose="02020603050405020304" pitchFamily="18" charset="0"/>
              </a:rPr>
              <a:t>Set Operations</a:t>
            </a:r>
          </a:p>
          <a:p>
            <a:r>
              <a:rPr lang="en-US" altLang="zh-CN" sz="20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dirty="0">
                <a:solidFill>
                  <a:srgbClr val="CFA57C"/>
                </a:solidFill>
                <a:ea typeface="宋体" panose="02010600030101010101" pitchFamily="2" charset="-122"/>
                <a:cs typeface="Times New Roman" panose="02020603050405020304" pitchFamily="18" charset="0"/>
              </a:rPr>
              <a:t>⤷</a:t>
            </a:r>
            <a:r>
              <a:rPr lang="en-US" altLang="zh-CN" sz="2000" b="1" dirty="0">
                <a:effectLst/>
                <a:latin typeface="Times New Roman" panose="02020603050405020304" pitchFamily="18" charset="0"/>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Venn Diagram Representation</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6" name="图片 1">
            <a:extLst>
              <a:ext uri="{FF2B5EF4-FFF2-40B4-BE49-F238E27FC236}">
                <a16:creationId xmlns:a16="http://schemas.microsoft.com/office/drawing/2014/main" id="{84B8FB08-80EB-4C83-8BAC-2FC135CDF1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9991"/>
          <a:stretch>
            <a:fillRect/>
          </a:stretch>
        </p:blipFill>
        <p:spPr bwMode="auto">
          <a:xfrm>
            <a:off x="1726293" y="1124439"/>
            <a:ext cx="8150225" cy="46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8842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zh-CN" altLang="en-US" sz="2000" b="1" dirty="0">
                <a:latin typeface="+mj-lt"/>
                <a:cs typeface="Times New Roman" panose="02020603050405020304" pitchFamily="18" charset="0"/>
              </a:rPr>
              <a:t>1.</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Extended</a:t>
            </a:r>
            <a:endParaRPr lang="zh-CN" altLang="en-US" sz="2400" b="1" dirty="0">
              <a:highlight>
                <a:srgbClr val="FF0000"/>
              </a:highligh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1" name="文本框 20">
            <a:extLst>
              <a:ext uri="{FF2B5EF4-FFF2-40B4-BE49-F238E27FC236}">
                <a16:creationId xmlns:a16="http://schemas.microsoft.com/office/drawing/2014/main" id="{AC333A06-D125-489A-B90A-CA018535809F}"/>
              </a:ext>
            </a:extLst>
          </p:cNvPr>
          <p:cNvSpPr txBox="1"/>
          <p:nvPr/>
        </p:nvSpPr>
        <p:spPr>
          <a:xfrm>
            <a:off x="908375" y="890344"/>
            <a:ext cx="10393112" cy="476349"/>
          </a:xfrm>
          <a:prstGeom prst="rect">
            <a:avLst/>
          </a:prstGeom>
          <a:noFill/>
        </p:spPr>
        <p:txBody>
          <a:bodyPr wrap="square">
            <a:spAutoFit/>
          </a:bodyPr>
          <a:lstStyle/>
          <a:p>
            <a:pPr marL="342900" indent="-342900" eaLnBrk="1" hangingPunct="1">
              <a:lnSpc>
                <a:spcPct val="110000"/>
              </a:lnSpc>
              <a:spcBef>
                <a:spcPct val="85000"/>
              </a:spcBef>
              <a:buClr>
                <a:srgbClr val="0B61FF"/>
              </a:buClr>
              <a:buSzPct val="80000"/>
              <a:buFont typeface="Wingdings" panose="05000000000000000000" pitchFamily="2" charset="2"/>
              <a:buChar char="n"/>
            </a:pPr>
            <a:r>
              <a:rPr lang="en-US" altLang="zh-CN" sz="2400" dirty="0"/>
              <a:t> Union and intersection operations can be extended to a </a:t>
            </a:r>
            <a:r>
              <a:rPr lang="en-US" altLang="zh-CN" sz="2400" b="1" dirty="0">
                <a:solidFill>
                  <a:srgbClr val="0B61FF"/>
                </a:solidFill>
              </a:rPr>
              <a:t>finite </a:t>
            </a:r>
            <a:r>
              <a:rPr lang="en-US" altLang="zh-CN" sz="2400" b="1" dirty="0"/>
              <a:t>number </a:t>
            </a:r>
            <a:r>
              <a:rPr lang="en-US" altLang="zh-CN" sz="2400" dirty="0"/>
              <a:t>of sets</a:t>
            </a:r>
            <a:endParaRPr kumimoji="1" lang="zh-CN" altLang="en-US" sz="2400" b="1" dirty="0">
              <a:solidFill>
                <a:schemeClr val="tx1"/>
              </a:solidFill>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11548CC-BDAC-494E-AB28-E4964B0DADF3}"/>
                  </a:ext>
                </a:extLst>
              </p:cNvPr>
              <p:cNvSpPr txBox="1"/>
              <p:nvPr/>
            </p:nvSpPr>
            <p:spPr>
              <a:xfrm>
                <a:off x="983656" y="1329185"/>
                <a:ext cx="10393112" cy="1213345"/>
              </a:xfrm>
              <a:prstGeom prst="rect">
                <a:avLst/>
              </a:prstGeom>
              <a:noFill/>
            </p:spPr>
            <p:txBody>
              <a:bodyPr wrap="square">
                <a:spAutoFit/>
              </a:bodyPr>
              <a:lstStyle/>
              <a:p>
                <a:pPr>
                  <a:lnSpc>
                    <a:spcPct val="110000"/>
                  </a:lnSpc>
                  <a:spcBef>
                    <a:spcPct val="85000"/>
                  </a:spcBef>
                  <a:buClr>
                    <a:srgbClr val="0B61FF"/>
                  </a:buClr>
                  <a:buSzPct val="80000"/>
                </a:pPr>
                <a14:m>
                  <m:oMathPara xmlns:m="http://schemas.openxmlformats.org/officeDocument/2006/math">
                    <m:oMathParaPr>
                      <m:jc m:val="centerGroup"/>
                    </m:oMathParaPr>
                    <m:oMath xmlns:m="http://schemas.openxmlformats.org/officeDocument/2006/math">
                      <m:nary>
                        <m:naryPr>
                          <m:chr m:val="⋃"/>
                          <m:ctrlPr>
                            <a:rPr kumimoji="1" lang="zh-CN" altLang="en-US" sz="2400" b="1" i="1" smtClean="0">
                              <a:solidFill>
                                <a:schemeClr val="tx1"/>
                              </a:solidFill>
                              <a:latin typeface="Cambria Math" panose="02040503050406030204" pitchFamily="18" charset="0"/>
                              <a:ea typeface="宋体" panose="02010600030101010101" pitchFamily="2" charset="-122"/>
                            </a:rPr>
                          </m:ctrlPr>
                        </m:naryPr>
                        <m:sub>
                          <m:r>
                            <m:rPr>
                              <m:brk m:alnAt="23"/>
                            </m:rPr>
                            <a:rPr kumimoji="1" lang="en-US" altLang="zh-CN" sz="2400" b="1" i="1" smtClean="0">
                              <a:solidFill>
                                <a:schemeClr val="tx1"/>
                              </a:solidFill>
                              <a:latin typeface="Cambria Math" panose="02040503050406030204" pitchFamily="18" charset="0"/>
                              <a:ea typeface="宋体" panose="02010600030101010101" pitchFamily="2" charset="-122"/>
                            </a:rPr>
                            <m:t>𝒊</m:t>
                          </m:r>
                          <m:r>
                            <a:rPr kumimoji="1" lang="en-US" altLang="zh-CN" sz="2400" b="1" i="1" smtClean="0">
                              <a:solidFill>
                                <a:schemeClr val="tx1"/>
                              </a:solidFill>
                              <a:latin typeface="Cambria Math" panose="02040503050406030204" pitchFamily="18" charset="0"/>
                              <a:ea typeface="宋体" panose="02010600030101010101" pitchFamily="2" charset="-122"/>
                            </a:rPr>
                            <m:t>=</m:t>
                          </m:r>
                          <m:r>
                            <a:rPr kumimoji="1" lang="en-US" altLang="zh-CN" sz="2400" b="1" i="1" smtClean="0">
                              <a:solidFill>
                                <a:schemeClr val="tx1"/>
                              </a:solidFill>
                              <a:latin typeface="Cambria Math" panose="02040503050406030204" pitchFamily="18" charset="0"/>
                              <a:ea typeface="宋体" panose="02010600030101010101" pitchFamily="2" charset="-122"/>
                            </a:rPr>
                            <m:t>𝟏</m:t>
                          </m:r>
                        </m:sub>
                        <m:sup>
                          <m:r>
                            <a:rPr kumimoji="1" lang="en-US" altLang="zh-CN" sz="2400" b="1" i="1" smtClean="0">
                              <a:solidFill>
                                <a:schemeClr val="tx1"/>
                              </a:solidFill>
                              <a:latin typeface="Cambria Math" panose="02040503050406030204" pitchFamily="18" charset="0"/>
                              <a:ea typeface="宋体" panose="02010600030101010101" pitchFamily="2" charset="-122"/>
                            </a:rPr>
                            <m:t>𝒏</m:t>
                          </m:r>
                        </m:sup>
                        <m:e>
                          <m:sSub>
                            <m:sSubPr>
                              <m:ctrlPr>
                                <a:rPr kumimoji="1" lang="en-US" altLang="zh-CN" sz="2400" b="1" i="1" smtClean="0">
                                  <a:solidFill>
                                    <a:schemeClr val="tx1"/>
                                  </a:solidFill>
                                  <a:latin typeface="Cambria Math" panose="02040503050406030204" pitchFamily="18" charset="0"/>
                                  <a:ea typeface="宋体" panose="02010600030101010101" pitchFamily="2" charset="-122"/>
                                </a:rPr>
                              </m:ctrlPr>
                            </m:sSubPr>
                            <m:e>
                              <m:r>
                                <a:rPr kumimoji="1" lang="en-US" altLang="zh-CN" sz="2400" b="1" i="1" smtClean="0">
                                  <a:solidFill>
                                    <a:schemeClr val="tx1"/>
                                  </a:solidFill>
                                  <a:latin typeface="Cambria Math" panose="02040503050406030204" pitchFamily="18" charset="0"/>
                                  <a:ea typeface="宋体" panose="02010600030101010101" pitchFamily="2" charset="-122"/>
                                </a:rPr>
                                <m:t>𝑨</m:t>
                              </m:r>
                            </m:e>
                            <m:sub>
                              <m:r>
                                <a:rPr kumimoji="1" lang="en-US" altLang="zh-CN" sz="2400" b="1" i="1" smtClean="0">
                                  <a:solidFill>
                                    <a:schemeClr val="tx1"/>
                                  </a:solidFill>
                                  <a:latin typeface="Cambria Math" panose="02040503050406030204" pitchFamily="18" charset="0"/>
                                  <a:ea typeface="宋体" panose="02010600030101010101" pitchFamily="2" charset="-122"/>
                                </a:rPr>
                                <m:t>𝒊</m:t>
                              </m:r>
                            </m:sub>
                          </m:sSub>
                        </m:e>
                      </m:nary>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𝟏</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𝟐</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𝒏</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d>
                        <m:dPr>
                          <m:begChr m:val="{"/>
                          <m:endChr m:val="}"/>
                          <m:ctrlPr>
                            <a:rPr kumimoji="1" lang="en-US" altLang="zh-CN" sz="2400" b="1" i="1" smtClean="0">
                              <a:solidFill>
                                <a:schemeClr val="tx1"/>
                              </a:solidFill>
                              <a:latin typeface="Cambria Math" panose="02040503050406030204" pitchFamily="18" charset="0"/>
                              <a:ea typeface="Cambria Math" panose="02040503050406030204" pitchFamily="18" charset="0"/>
                            </a:rPr>
                          </m:ctrlPr>
                        </m:dPr>
                        <m:e>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𝟏</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𝟐</m:t>
                              </m:r>
                            </m:sub>
                          </m:sSub>
                          <m:r>
                            <a:rPr kumimoji="1" lang="en-US" altLang="zh-CN" sz="2400" b="1" i="1">
                              <a:latin typeface="Cambria Math" panose="02040503050406030204" pitchFamily="18" charset="0"/>
                              <a:ea typeface="Cambria Math" panose="02040503050406030204" pitchFamily="18" charset="0"/>
                            </a:rPr>
                            <m:t>∨⋯∨</m:t>
                          </m:r>
                          <m:r>
                            <a:rPr kumimoji="1" lang="en-US" altLang="zh-CN" sz="2400" b="1" i="1">
                              <a:latin typeface="Cambria Math" panose="02040503050406030204" pitchFamily="18" charset="0"/>
                              <a:ea typeface="Cambria Math" panose="02040503050406030204" pitchFamily="18" charset="0"/>
                            </a:rPr>
                            <m:t>𝒙</m:t>
                          </m:r>
                          <m:r>
                            <a:rPr kumimoji="1" lang="en-US" altLang="zh-CN" sz="2400" b="1" i="1">
                              <a:latin typeface="Cambria Math" panose="02040503050406030204" pitchFamily="18" charset="0"/>
                              <a:ea typeface="Cambria Math" panose="02040503050406030204" pitchFamily="18" charset="0"/>
                            </a:rPr>
                            <m:t>∈</m:t>
                          </m:r>
                          <m:sSub>
                            <m:sSubPr>
                              <m:ctrlPr>
                                <a:rPr kumimoji="1" lang="en-US" altLang="zh-CN" sz="2400" b="1" i="1">
                                  <a:latin typeface="Cambria Math" panose="02040503050406030204" pitchFamily="18" charset="0"/>
                                  <a:ea typeface="Cambria Math" panose="02040503050406030204" pitchFamily="18" charset="0"/>
                                </a:rPr>
                              </m:ctrlPr>
                            </m:sSubPr>
                            <m:e>
                              <m:r>
                                <a:rPr kumimoji="1" lang="en-US" altLang="zh-CN" sz="2400" b="1" i="1" smtClean="0">
                                  <a:latin typeface="Cambria Math" panose="02040503050406030204" pitchFamily="18" charset="0"/>
                                  <a:ea typeface="Cambria Math" panose="02040503050406030204" pitchFamily="18" charset="0"/>
                                </a:rPr>
                                <m:t>𝑨</m:t>
                              </m:r>
                            </m:e>
                            <m:sub>
                              <m:r>
                                <a:rPr kumimoji="1" lang="en-US" altLang="zh-CN" sz="2400" b="1" i="1" smtClean="0">
                                  <a:latin typeface="Cambria Math" panose="02040503050406030204" pitchFamily="18" charset="0"/>
                                  <a:ea typeface="Cambria Math" panose="02040503050406030204" pitchFamily="18" charset="0"/>
                                </a:rPr>
                                <m:t>𝒏</m:t>
                              </m:r>
                            </m:sub>
                          </m:sSub>
                        </m:e>
                      </m:d>
                    </m:oMath>
                  </m:oMathPara>
                </a14:m>
                <a:endParaRPr kumimoji="1" lang="zh-CN" altLang="en-US" sz="2400" b="1" dirty="0">
                  <a:solidFill>
                    <a:schemeClr val="tx1"/>
                  </a:solidFill>
                  <a:latin typeface="Times New Roman" panose="02020603050405020304" pitchFamily="18" charset="0"/>
                  <a:ea typeface="宋体" panose="02010600030101010101" pitchFamily="2" charset="-122"/>
                </a:endParaRPr>
              </a:p>
            </p:txBody>
          </p:sp>
        </mc:Choice>
        <mc:Fallback xmlns="">
          <p:sp>
            <p:nvSpPr>
              <p:cNvPr id="29" name="文本框 28">
                <a:extLst>
                  <a:ext uri="{FF2B5EF4-FFF2-40B4-BE49-F238E27FC236}">
                    <a16:creationId xmlns:a16="http://schemas.microsoft.com/office/drawing/2014/main" id="{711548CC-BDAC-494E-AB28-E4964B0DADF3}"/>
                  </a:ext>
                </a:extLst>
              </p:cNvPr>
              <p:cNvSpPr txBox="1">
                <a:spLocks noRot="1" noChangeAspect="1" noMove="1" noResize="1" noEditPoints="1" noAdjustHandles="1" noChangeArrowheads="1" noChangeShapeType="1" noTextEdit="1"/>
              </p:cNvSpPr>
              <p:nvPr/>
            </p:nvSpPr>
            <p:spPr>
              <a:xfrm>
                <a:off x="983656" y="1329185"/>
                <a:ext cx="10393112" cy="121334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475891E6-F314-4807-A480-0DED3E547641}"/>
                  </a:ext>
                </a:extLst>
              </p:cNvPr>
              <p:cNvSpPr txBox="1"/>
              <p:nvPr/>
            </p:nvSpPr>
            <p:spPr>
              <a:xfrm>
                <a:off x="948767" y="2440058"/>
                <a:ext cx="10393112" cy="1205971"/>
              </a:xfrm>
              <a:prstGeom prst="rect">
                <a:avLst/>
              </a:prstGeom>
              <a:noFill/>
            </p:spPr>
            <p:txBody>
              <a:bodyPr wrap="square">
                <a:spAutoFit/>
              </a:bodyPr>
              <a:lstStyle/>
              <a:p>
                <a:pPr>
                  <a:lnSpc>
                    <a:spcPct val="110000"/>
                  </a:lnSpc>
                  <a:spcBef>
                    <a:spcPct val="85000"/>
                  </a:spcBef>
                  <a:buClr>
                    <a:srgbClr val="0B61FF"/>
                  </a:buClr>
                  <a:buSzPct val="80000"/>
                </a:pPr>
                <a14:m>
                  <m:oMathPara xmlns:m="http://schemas.openxmlformats.org/officeDocument/2006/math">
                    <m:oMathParaPr>
                      <m:jc m:val="centerGroup"/>
                    </m:oMathParaPr>
                    <m:oMath xmlns:m="http://schemas.openxmlformats.org/officeDocument/2006/math">
                      <m:nary>
                        <m:naryPr>
                          <m:chr m:val="⋂"/>
                          <m:ctrlPr>
                            <a:rPr kumimoji="1" lang="zh-CN" altLang="en-US" sz="2400" b="1" i="1" smtClean="0">
                              <a:solidFill>
                                <a:schemeClr val="tx1"/>
                              </a:solidFill>
                              <a:latin typeface="Cambria Math" panose="02040503050406030204" pitchFamily="18" charset="0"/>
                              <a:ea typeface="宋体" panose="02010600030101010101" pitchFamily="2" charset="-122"/>
                            </a:rPr>
                          </m:ctrlPr>
                        </m:naryPr>
                        <m:sub>
                          <m:r>
                            <m:rPr>
                              <m:brk m:alnAt="23"/>
                            </m:rPr>
                            <a:rPr kumimoji="1" lang="en-US" altLang="zh-CN" sz="2400" b="1" i="1" smtClean="0">
                              <a:solidFill>
                                <a:schemeClr val="tx1"/>
                              </a:solidFill>
                              <a:latin typeface="Cambria Math" panose="02040503050406030204" pitchFamily="18" charset="0"/>
                              <a:ea typeface="宋体" panose="02010600030101010101" pitchFamily="2" charset="-122"/>
                            </a:rPr>
                            <m:t>𝒊</m:t>
                          </m:r>
                          <m:r>
                            <a:rPr kumimoji="1" lang="en-US" altLang="zh-CN" sz="2400" b="1" i="1" smtClean="0">
                              <a:solidFill>
                                <a:schemeClr val="tx1"/>
                              </a:solidFill>
                              <a:latin typeface="Cambria Math" panose="02040503050406030204" pitchFamily="18" charset="0"/>
                              <a:ea typeface="宋体" panose="02010600030101010101" pitchFamily="2" charset="-122"/>
                            </a:rPr>
                            <m:t>=</m:t>
                          </m:r>
                          <m:r>
                            <a:rPr kumimoji="1" lang="en-US" altLang="zh-CN" sz="2400" b="1" i="1" smtClean="0">
                              <a:solidFill>
                                <a:schemeClr val="tx1"/>
                              </a:solidFill>
                              <a:latin typeface="Cambria Math" panose="02040503050406030204" pitchFamily="18" charset="0"/>
                              <a:ea typeface="宋体" panose="02010600030101010101" pitchFamily="2" charset="-122"/>
                            </a:rPr>
                            <m:t>𝟏</m:t>
                          </m:r>
                        </m:sub>
                        <m:sup>
                          <m:r>
                            <a:rPr kumimoji="1" lang="en-US" altLang="zh-CN" sz="2400" b="1" i="1" smtClean="0">
                              <a:solidFill>
                                <a:schemeClr val="tx1"/>
                              </a:solidFill>
                              <a:latin typeface="Cambria Math" panose="02040503050406030204" pitchFamily="18" charset="0"/>
                              <a:ea typeface="宋体" panose="02010600030101010101" pitchFamily="2" charset="-122"/>
                            </a:rPr>
                            <m:t>𝒏</m:t>
                          </m:r>
                        </m:sup>
                        <m:e>
                          <m:sSub>
                            <m:sSubPr>
                              <m:ctrlPr>
                                <a:rPr kumimoji="1" lang="en-US" altLang="zh-CN" sz="2400" b="1" i="1" smtClean="0">
                                  <a:solidFill>
                                    <a:schemeClr val="tx1"/>
                                  </a:solidFill>
                                  <a:latin typeface="Cambria Math" panose="02040503050406030204" pitchFamily="18" charset="0"/>
                                  <a:ea typeface="宋体" panose="02010600030101010101" pitchFamily="2" charset="-122"/>
                                </a:rPr>
                              </m:ctrlPr>
                            </m:sSubPr>
                            <m:e>
                              <m:r>
                                <a:rPr kumimoji="1" lang="en-US" altLang="zh-CN" sz="2400" b="1" i="1" smtClean="0">
                                  <a:solidFill>
                                    <a:schemeClr val="tx1"/>
                                  </a:solidFill>
                                  <a:latin typeface="Cambria Math" panose="02040503050406030204" pitchFamily="18" charset="0"/>
                                  <a:ea typeface="宋体" panose="02010600030101010101" pitchFamily="2" charset="-122"/>
                                </a:rPr>
                                <m:t>𝑨</m:t>
                              </m:r>
                            </m:e>
                            <m:sub>
                              <m:r>
                                <a:rPr kumimoji="1" lang="en-US" altLang="zh-CN" sz="2400" b="1" i="1" smtClean="0">
                                  <a:solidFill>
                                    <a:schemeClr val="tx1"/>
                                  </a:solidFill>
                                  <a:latin typeface="Cambria Math" panose="02040503050406030204" pitchFamily="18" charset="0"/>
                                  <a:ea typeface="宋体" panose="02010600030101010101" pitchFamily="2" charset="-122"/>
                                </a:rPr>
                                <m:t>𝒊</m:t>
                              </m:r>
                            </m:sub>
                          </m:sSub>
                        </m:e>
                      </m:nary>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𝟏</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𝟐</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𝒏</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d>
                        <m:dPr>
                          <m:begChr m:val="{"/>
                          <m:endChr m:val="}"/>
                          <m:ctrlPr>
                            <a:rPr kumimoji="1" lang="en-US" altLang="zh-CN" sz="2400" b="1" i="1" smtClean="0">
                              <a:solidFill>
                                <a:schemeClr val="tx1"/>
                              </a:solidFill>
                              <a:latin typeface="Cambria Math" panose="02040503050406030204" pitchFamily="18" charset="0"/>
                              <a:ea typeface="Cambria Math" panose="02040503050406030204" pitchFamily="18" charset="0"/>
                            </a:rPr>
                          </m:ctrlPr>
                        </m:dPr>
                        <m:e>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𝟏</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𝟐</m:t>
                              </m:r>
                            </m:sub>
                          </m:sSub>
                          <m:r>
                            <a:rPr kumimoji="1" lang="en-US" altLang="zh-CN" sz="2400" b="1" i="1">
                              <a:latin typeface="Cambria Math" panose="02040503050406030204" pitchFamily="18" charset="0"/>
                              <a:ea typeface="Cambria Math" panose="02040503050406030204" pitchFamily="18" charset="0"/>
                            </a:rPr>
                            <m:t>∧⋯∧</m:t>
                          </m:r>
                          <m:r>
                            <a:rPr kumimoji="1" lang="en-US" altLang="zh-CN" sz="2400" b="1" i="1">
                              <a:latin typeface="Cambria Math" panose="02040503050406030204" pitchFamily="18" charset="0"/>
                              <a:ea typeface="Cambria Math" panose="02040503050406030204" pitchFamily="18" charset="0"/>
                            </a:rPr>
                            <m:t>𝒙</m:t>
                          </m:r>
                          <m:r>
                            <a:rPr kumimoji="1" lang="en-US" altLang="zh-CN" sz="2400" b="1" i="1">
                              <a:latin typeface="Cambria Math" panose="02040503050406030204" pitchFamily="18" charset="0"/>
                              <a:ea typeface="Cambria Math" panose="02040503050406030204" pitchFamily="18" charset="0"/>
                            </a:rPr>
                            <m:t>∈</m:t>
                          </m:r>
                          <m:sSub>
                            <m:sSubPr>
                              <m:ctrlPr>
                                <a:rPr kumimoji="1" lang="en-US" altLang="zh-CN" sz="2400" b="1" i="1">
                                  <a:latin typeface="Cambria Math" panose="02040503050406030204" pitchFamily="18" charset="0"/>
                                  <a:ea typeface="Cambria Math" panose="02040503050406030204" pitchFamily="18" charset="0"/>
                                </a:rPr>
                              </m:ctrlPr>
                            </m:sSubPr>
                            <m:e>
                              <m:r>
                                <a:rPr kumimoji="1" lang="en-US" altLang="zh-CN" sz="2400" b="1" i="1" smtClean="0">
                                  <a:latin typeface="Cambria Math" panose="02040503050406030204" pitchFamily="18" charset="0"/>
                                  <a:ea typeface="Cambria Math" panose="02040503050406030204" pitchFamily="18" charset="0"/>
                                </a:rPr>
                                <m:t>𝑨</m:t>
                              </m:r>
                            </m:e>
                            <m:sub>
                              <m:r>
                                <a:rPr kumimoji="1" lang="en-US" altLang="zh-CN" sz="2400" b="1" i="1" smtClean="0">
                                  <a:latin typeface="Cambria Math" panose="02040503050406030204" pitchFamily="18" charset="0"/>
                                  <a:ea typeface="Cambria Math" panose="02040503050406030204" pitchFamily="18" charset="0"/>
                                </a:rPr>
                                <m:t>𝒏</m:t>
                              </m:r>
                            </m:sub>
                          </m:sSub>
                        </m:e>
                      </m:d>
                    </m:oMath>
                  </m:oMathPara>
                </a14:m>
                <a:endParaRPr kumimoji="1" lang="zh-CN" altLang="en-US" sz="2400" b="1" dirty="0">
                  <a:solidFill>
                    <a:schemeClr val="tx1"/>
                  </a:solidFill>
                  <a:latin typeface="Times New Roman" panose="02020603050405020304" pitchFamily="18" charset="0"/>
                  <a:ea typeface="宋体" panose="02010600030101010101" pitchFamily="2" charset="-122"/>
                </a:endParaRPr>
              </a:p>
            </p:txBody>
          </p:sp>
        </mc:Choice>
        <mc:Fallback xmlns="">
          <p:sp>
            <p:nvSpPr>
              <p:cNvPr id="30" name="文本框 29">
                <a:extLst>
                  <a:ext uri="{FF2B5EF4-FFF2-40B4-BE49-F238E27FC236}">
                    <a16:creationId xmlns:a16="http://schemas.microsoft.com/office/drawing/2014/main" id="{475891E6-F314-4807-A480-0DED3E547641}"/>
                  </a:ext>
                </a:extLst>
              </p:cNvPr>
              <p:cNvSpPr txBox="1">
                <a:spLocks noRot="1" noChangeAspect="1" noMove="1" noResize="1" noEditPoints="1" noAdjustHandles="1" noChangeArrowheads="1" noChangeShapeType="1" noTextEdit="1"/>
              </p:cNvSpPr>
              <p:nvPr/>
            </p:nvSpPr>
            <p:spPr>
              <a:xfrm>
                <a:off x="948767" y="2440058"/>
                <a:ext cx="10393112" cy="1205971"/>
              </a:xfrm>
              <a:prstGeom prst="rect">
                <a:avLst/>
              </a:prstGeom>
              <a:blipFill>
                <a:blip r:embed="rId6"/>
                <a:stretch>
                  <a:fillRect/>
                </a:stretch>
              </a:blipFill>
            </p:spPr>
            <p:txBody>
              <a:bodyPr/>
              <a:lstStyle/>
              <a:p>
                <a:r>
                  <a:rPr lang="zh-CN" altLang="en-US">
                    <a:noFill/>
                  </a:rPr>
                  <a:t> </a:t>
                </a:r>
              </a:p>
            </p:txBody>
          </p:sp>
        </mc:Fallback>
      </mc:AlternateContent>
      <p:sp>
        <p:nvSpPr>
          <p:cNvPr id="34" name="文本框 33">
            <a:extLst>
              <a:ext uri="{FF2B5EF4-FFF2-40B4-BE49-F238E27FC236}">
                <a16:creationId xmlns:a16="http://schemas.microsoft.com/office/drawing/2014/main" id="{BC4C542E-F783-4C38-A111-A0BBED266800}"/>
              </a:ext>
            </a:extLst>
          </p:cNvPr>
          <p:cNvSpPr txBox="1"/>
          <p:nvPr/>
        </p:nvSpPr>
        <p:spPr>
          <a:xfrm>
            <a:off x="952442" y="3637794"/>
            <a:ext cx="10701586" cy="478272"/>
          </a:xfrm>
          <a:prstGeom prst="rect">
            <a:avLst/>
          </a:prstGeom>
          <a:noFill/>
        </p:spPr>
        <p:txBody>
          <a:bodyPr wrap="square">
            <a:spAutoFit/>
          </a:bodyPr>
          <a:lstStyle/>
          <a:p>
            <a:pPr marL="342900" indent="-342900">
              <a:lnSpc>
                <a:spcPct val="110000"/>
              </a:lnSpc>
              <a:spcBef>
                <a:spcPct val="85000"/>
              </a:spcBef>
              <a:buClr>
                <a:srgbClr val="0B61FF"/>
              </a:buClr>
              <a:buSzPct val="80000"/>
              <a:buFont typeface="Wingdings" panose="05000000000000000000" pitchFamily="2" charset="2"/>
              <a:buChar char="n"/>
            </a:pPr>
            <a:r>
              <a:rPr lang="en-US" altLang="zh-CN" sz="2400" dirty="0"/>
              <a:t>Union and intersection operations can also be extended to countably </a:t>
            </a:r>
            <a:r>
              <a:rPr lang="en-US" altLang="zh-CN" sz="2400" b="1" dirty="0">
                <a:solidFill>
                  <a:srgbClr val="0B61FF"/>
                </a:solidFill>
              </a:rPr>
              <a:t>infinite </a:t>
            </a:r>
            <a:r>
              <a:rPr lang="en-US" altLang="zh-CN" sz="2400" dirty="0"/>
              <a:t>sets.</a:t>
            </a:r>
            <a:endParaRPr lang="zh-CN" altLang="en-US" sz="2400" dirty="0"/>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9D87321E-E758-4B3C-BD7D-88A873FD7C77}"/>
                  </a:ext>
                </a:extLst>
              </p:cNvPr>
              <p:cNvSpPr txBox="1"/>
              <p:nvPr/>
            </p:nvSpPr>
            <p:spPr>
              <a:xfrm>
                <a:off x="1288971" y="3960383"/>
                <a:ext cx="8091904" cy="1213345"/>
              </a:xfrm>
              <a:prstGeom prst="rect">
                <a:avLst/>
              </a:prstGeom>
              <a:noFill/>
            </p:spPr>
            <p:txBody>
              <a:bodyPr wrap="square">
                <a:spAutoFit/>
              </a:bodyPr>
              <a:lstStyle/>
              <a:p>
                <a:pPr>
                  <a:lnSpc>
                    <a:spcPct val="110000"/>
                  </a:lnSpc>
                  <a:spcBef>
                    <a:spcPct val="85000"/>
                  </a:spcBef>
                  <a:buClr>
                    <a:srgbClr val="0B61FF"/>
                  </a:buClr>
                  <a:buSzPct val="80000"/>
                </a:pPr>
                <a14:m>
                  <m:oMathPara xmlns:m="http://schemas.openxmlformats.org/officeDocument/2006/math">
                    <m:oMathParaPr>
                      <m:jc m:val="centerGroup"/>
                    </m:oMathParaPr>
                    <m:oMath xmlns:m="http://schemas.openxmlformats.org/officeDocument/2006/math">
                      <m:nary>
                        <m:naryPr>
                          <m:chr m:val="⋃"/>
                          <m:ctrlPr>
                            <a:rPr kumimoji="1" lang="zh-CN" altLang="en-US" sz="2400" b="1" i="1" smtClean="0">
                              <a:solidFill>
                                <a:schemeClr val="tx1"/>
                              </a:solidFill>
                              <a:latin typeface="Cambria Math" panose="02040503050406030204" pitchFamily="18" charset="0"/>
                              <a:ea typeface="宋体" panose="02010600030101010101" pitchFamily="2" charset="-122"/>
                            </a:rPr>
                          </m:ctrlPr>
                        </m:naryPr>
                        <m:sub>
                          <m:r>
                            <m:rPr>
                              <m:brk m:alnAt="23"/>
                            </m:rPr>
                            <a:rPr kumimoji="1" lang="en-US" altLang="zh-CN" sz="2400" b="1" i="1" smtClean="0">
                              <a:solidFill>
                                <a:schemeClr val="tx1"/>
                              </a:solidFill>
                              <a:latin typeface="Cambria Math" panose="02040503050406030204" pitchFamily="18" charset="0"/>
                              <a:ea typeface="宋体" panose="02010600030101010101" pitchFamily="2" charset="-122"/>
                            </a:rPr>
                            <m:t>𝒊</m:t>
                          </m:r>
                          <m:r>
                            <a:rPr kumimoji="1" lang="en-US" altLang="zh-CN" sz="2400" b="1" i="1" smtClean="0">
                              <a:solidFill>
                                <a:schemeClr val="tx1"/>
                              </a:solidFill>
                              <a:latin typeface="Cambria Math" panose="02040503050406030204" pitchFamily="18" charset="0"/>
                              <a:ea typeface="宋体" panose="02010600030101010101" pitchFamily="2" charset="-122"/>
                            </a:rPr>
                            <m:t>=</m:t>
                          </m:r>
                          <m:r>
                            <a:rPr kumimoji="1" lang="en-US" altLang="zh-CN" sz="2400" b="1" i="1" smtClean="0">
                              <a:solidFill>
                                <a:schemeClr val="tx1"/>
                              </a:solidFill>
                              <a:latin typeface="Cambria Math" panose="02040503050406030204" pitchFamily="18" charset="0"/>
                              <a:ea typeface="宋体" panose="02010600030101010101" pitchFamily="2" charset="-122"/>
                            </a:rPr>
                            <m:t>𝟏</m:t>
                          </m:r>
                        </m:sub>
                        <m:sup>
                          <m:r>
                            <a:rPr kumimoji="1" lang="en-US" altLang="zh-CN" sz="2400" b="1" i="1" smtClean="0">
                              <a:solidFill>
                                <a:schemeClr val="tx1"/>
                              </a:solidFill>
                              <a:latin typeface="Cambria Math" panose="02040503050406030204" pitchFamily="18" charset="0"/>
                              <a:ea typeface="Cambria Math" panose="02040503050406030204" pitchFamily="18" charset="0"/>
                            </a:rPr>
                            <m:t>∞</m:t>
                          </m:r>
                        </m:sup>
                        <m:e>
                          <m:sSub>
                            <m:sSubPr>
                              <m:ctrlPr>
                                <a:rPr kumimoji="1" lang="en-US" altLang="zh-CN" sz="2400" b="1" i="1" smtClean="0">
                                  <a:solidFill>
                                    <a:schemeClr val="tx1"/>
                                  </a:solidFill>
                                  <a:latin typeface="Cambria Math" panose="02040503050406030204" pitchFamily="18" charset="0"/>
                                  <a:ea typeface="宋体" panose="02010600030101010101" pitchFamily="2" charset="-122"/>
                                </a:rPr>
                              </m:ctrlPr>
                            </m:sSubPr>
                            <m:e>
                              <m:r>
                                <a:rPr kumimoji="1" lang="en-US" altLang="zh-CN" sz="2400" b="1" i="1" smtClean="0">
                                  <a:solidFill>
                                    <a:schemeClr val="tx1"/>
                                  </a:solidFill>
                                  <a:latin typeface="Cambria Math" panose="02040503050406030204" pitchFamily="18" charset="0"/>
                                  <a:ea typeface="宋体" panose="02010600030101010101" pitchFamily="2" charset="-122"/>
                                </a:rPr>
                                <m:t>𝑨</m:t>
                              </m:r>
                            </m:e>
                            <m:sub>
                              <m:r>
                                <a:rPr kumimoji="1" lang="en-US" altLang="zh-CN" sz="2400" b="1" i="1" smtClean="0">
                                  <a:solidFill>
                                    <a:schemeClr val="tx1"/>
                                  </a:solidFill>
                                  <a:latin typeface="Cambria Math" panose="02040503050406030204" pitchFamily="18" charset="0"/>
                                  <a:ea typeface="宋体" panose="02010600030101010101" pitchFamily="2" charset="-122"/>
                                </a:rPr>
                                <m:t>𝒊</m:t>
                              </m:r>
                            </m:sub>
                          </m:sSub>
                        </m:e>
                      </m:nary>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𝟏</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𝟐</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d>
                        <m:dPr>
                          <m:begChr m:val="{"/>
                          <m:endChr m:val="}"/>
                          <m:ctrlPr>
                            <a:rPr kumimoji="1" lang="en-US" altLang="zh-CN" sz="2400" b="1" i="1" smtClean="0">
                              <a:solidFill>
                                <a:schemeClr val="tx1"/>
                              </a:solidFill>
                              <a:latin typeface="Cambria Math" panose="02040503050406030204" pitchFamily="18" charset="0"/>
                              <a:ea typeface="Cambria Math" panose="02040503050406030204" pitchFamily="18" charset="0"/>
                            </a:rPr>
                          </m:ctrlPr>
                        </m:dPr>
                        <m:e>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𝒊</m:t>
                          </m:r>
                          <m:d>
                            <m:dPr>
                              <m:ctrlPr>
                                <a:rPr kumimoji="1" lang="en-US" altLang="zh-CN" sz="2400" b="1" i="1" smtClean="0">
                                  <a:solidFill>
                                    <a:schemeClr val="tx1"/>
                                  </a:solidFill>
                                  <a:latin typeface="Cambria Math" panose="02040503050406030204" pitchFamily="18" charset="0"/>
                                  <a:ea typeface="Cambria Math" panose="02040503050406030204" pitchFamily="18" charset="0"/>
                                </a:rPr>
                              </m:ctrlPr>
                            </m:dPr>
                            <m:e>
                              <m:r>
                                <a:rPr kumimoji="1" lang="en-US" altLang="zh-CN" sz="2400" b="1" i="1" smtClean="0">
                                  <a:solidFill>
                                    <a:schemeClr val="tx1"/>
                                  </a:solidFill>
                                  <a:latin typeface="Cambria Math" panose="02040503050406030204" pitchFamily="18" charset="0"/>
                                  <a:ea typeface="Cambria Math" panose="02040503050406030204" pitchFamily="18" charset="0"/>
                                </a:rPr>
                                <m:t>𝒊</m:t>
                              </m:r>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𝟏</m:t>
                              </m:r>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𝟐</m:t>
                              </m:r>
                              <m:r>
                                <a:rPr kumimoji="1" lang="en-US" altLang="zh-CN" sz="2400" b="1" i="1" smtClean="0">
                                  <a:solidFill>
                                    <a:schemeClr val="tx1"/>
                                  </a:solidFill>
                                  <a:latin typeface="Cambria Math" panose="02040503050406030204" pitchFamily="18" charset="0"/>
                                  <a:ea typeface="Cambria Math" panose="02040503050406030204" pitchFamily="18" charset="0"/>
                                </a:rPr>
                                <m:t>,⋯</m:t>
                              </m:r>
                            </m:e>
                          </m:d>
                          <m:r>
                            <a:rPr kumimoji="1" lang="en-US" altLang="zh-CN" sz="2400" b="1" i="1" smtClean="0">
                              <a:solidFill>
                                <a:schemeClr val="tx1"/>
                              </a:solidFill>
                              <a:latin typeface="Cambria Math" panose="02040503050406030204" pitchFamily="18" charset="0"/>
                              <a:ea typeface="Cambria Math" panose="02040503050406030204" pitchFamily="18" charset="0"/>
                            </a:rPr>
                            <m:t> </m:t>
                          </m:r>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𝒊</m:t>
                              </m:r>
                            </m:sub>
                          </m:sSub>
                        </m:e>
                      </m:d>
                    </m:oMath>
                  </m:oMathPara>
                </a14:m>
                <a:endParaRPr kumimoji="1" lang="zh-CN" altLang="en-US" sz="2400" b="1" dirty="0">
                  <a:solidFill>
                    <a:schemeClr val="tx1"/>
                  </a:solidFill>
                  <a:latin typeface="Times New Roman" panose="02020603050405020304" pitchFamily="18" charset="0"/>
                  <a:ea typeface="宋体" panose="02010600030101010101" pitchFamily="2" charset="-122"/>
                </a:endParaRPr>
              </a:p>
            </p:txBody>
          </p:sp>
        </mc:Choice>
        <mc:Fallback xmlns="">
          <p:sp>
            <p:nvSpPr>
              <p:cNvPr id="35" name="文本框 34">
                <a:extLst>
                  <a:ext uri="{FF2B5EF4-FFF2-40B4-BE49-F238E27FC236}">
                    <a16:creationId xmlns:a16="http://schemas.microsoft.com/office/drawing/2014/main" id="{9D87321E-E758-4B3C-BD7D-88A873FD7C77}"/>
                  </a:ext>
                </a:extLst>
              </p:cNvPr>
              <p:cNvSpPr txBox="1">
                <a:spLocks noRot="1" noChangeAspect="1" noMove="1" noResize="1" noEditPoints="1" noAdjustHandles="1" noChangeArrowheads="1" noChangeShapeType="1" noTextEdit="1"/>
              </p:cNvSpPr>
              <p:nvPr/>
            </p:nvSpPr>
            <p:spPr>
              <a:xfrm>
                <a:off x="1288971" y="3960383"/>
                <a:ext cx="8091904" cy="121334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728D6D0D-EA57-4AB4-BB20-090A9C1CCD51}"/>
                  </a:ext>
                </a:extLst>
              </p:cNvPr>
              <p:cNvSpPr txBox="1"/>
              <p:nvPr/>
            </p:nvSpPr>
            <p:spPr>
              <a:xfrm>
                <a:off x="1309167" y="4994132"/>
                <a:ext cx="8091904" cy="1206164"/>
              </a:xfrm>
              <a:prstGeom prst="rect">
                <a:avLst/>
              </a:prstGeom>
              <a:noFill/>
            </p:spPr>
            <p:txBody>
              <a:bodyPr wrap="square">
                <a:spAutoFit/>
              </a:bodyPr>
              <a:lstStyle/>
              <a:p>
                <a:pPr>
                  <a:lnSpc>
                    <a:spcPct val="110000"/>
                  </a:lnSpc>
                  <a:spcBef>
                    <a:spcPct val="85000"/>
                  </a:spcBef>
                  <a:buClr>
                    <a:srgbClr val="0B61FF"/>
                  </a:buClr>
                  <a:buSzPct val="80000"/>
                </a:pPr>
                <a14:m>
                  <m:oMathPara xmlns:m="http://schemas.openxmlformats.org/officeDocument/2006/math">
                    <m:oMathParaPr>
                      <m:jc m:val="centerGroup"/>
                    </m:oMathParaPr>
                    <m:oMath xmlns:m="http://schemas.openxmlformats.org/officeDocument/2006/math">
                      <m:nary>
                        <m:naryPr>
                          <m:chr m:val="⋂"/>
                          <m:ctrlPr>
                            <a:rPr kumimoji="1" lang="en-US" altLang="zh-CN" sz="2400" b="1" i="1" smtClean="0">
                              <a:solidFill>
                                <a:schemeClr val="tx1"/>
                              </a:solidFill>
                              <a:latin typeface="Cambria Math" panose="02040503050406030204" pitchFamily="18" charset="0"/>
                              <a:ea typeface="宋体" panose="02010600030101010101" pitchFamily="2" charset="-122"/>
                            </a:rPr>
                          </m:ctrlPr>
                        </m:naryPr>
                        <m:sub>
                          <m:r>
                            <m:rPr>
                              <m:brk m:alnAt="23"/>
                            </m:rPr>
                            <a:rPr kumimoji="1" lang="en-US" altLang="zh-CN" sz="2400" b="1" i="1" smtClean="0">
                              <a:solidFill>
                                <a:schemeClr val="tx1"/>
                              </a:solidFill>
                              <a:latin typeface="Cambria Math" panose="02040503050406030204" pitchFamily="18" charset="0"/>
                              <a:ea typeface="宋体" panose="02010600030101010101" pitchFamily="2" charset="-122"/>
                            </a:rPr>
                            <m:t>𝒊</m:t>
                          </m:r>
                          <m:r>
                            <a:rPr kumimoji="1" lang="en-US" altLang="zh-CN" sz="2400" b="1" i="1" smtClean="0">
                              <a:solidFill>
                                <a:schemeClr val="tx1"/>
                              </a:solidFill>
                              <a:latin typeface="Cambria Math" panose="02040503050406030204" pitchFamily="18" charset="0"/>
                              <a:ea typeface="宋体" panose="02010600030101010101" pitchFamily="2" charset="-122"/>
                            </a:rPr>
                            <m:t>=</m:t>
                          </m:r>
                          <m:r>
                            <a:rPr kumimoji="1" lang="en-US" altLang="zh-CN" sz="2400" b="1" i="1" smtClean="0">
                              <a:solidFill>
                                <a:schemeClr val="tx1"/>
                              </a:solidFill>
                              <a:latin typeface="Cambria Math" panose="02040503050406030204" pitchFamily="18" charset="0"/>
                              <a:ea typeface="宋体" panose="02010600030101010101" pitchFamily="2" charset="-122"/>
                            </a:rPr>
                            <m:t>𝟏</m:t>
                          </m:r>
                        </m:sub>
                        <m:sup>
                          <m:r>
                            <a:rPr kumimoji="1" lang="en-US" altLang="zh-CN" sz="2400" b="1" i="1" smtClean="0">
                              <a:solidFill>
                                <a:schemeClr val="tx1"/>
                              </a:solidFill>
                              <a:latin typeface="Cambria Math" panose="02040503050406030204" pitchFamily="18" charset="0"/>
                              <a:ea typeface="Cambria Math" panose="02040503050406030204" pitchFamily="18" charset="0"/>
                            </a:rPr>
                            <m:t>∞</m:t>
                          </m:r>
                        </m:sup>
                        <m:e>
                          <m:sSub>
                            <m:sSubPr>
                              <m:ctrlPr>
                                <a:rPr kumimoji="1" lang="en-US" altLang="zh-CN" sz="2400" b="1" i="1">
                                  <a:latin typeface="Cambria Math" panose="02040503050406030204" pitchFamily="18" charset="0"/>
                                </a:rPr>
                              </m:ctrlPr>
                            </m:sSubPr>
                            <m:e>
                              <m:r>
                                <a:rPr kumimoji="1" lang="en-US" altLang="zh-CN" sz="2400" b="1" i="1">
                                  <a:latin typeface="Cambria Math" panose="02040503050406030204" pitchFamily="18" charset="0"/>
                                </a:rPr>
                                <m:t>𝑨</m:t>
                              </m:r>
                            </m:e>
                            <m:sub>
                              <m:r>
                                <a:rPr kumimoji="1" lang="en-US" altLang="zh-CN" sz="2400" b="1" i="1">
                                  <a:latin typeface="Cambria Math" panose="02040503050406030204" pitchFamily="18" charset="0"/>
                                </a:rPr>
                                <m:t>𝒊</m:t>
                              </m:r>
                            </m:sub>
                          </m:sSub>
                        </m:e>
                      </m:nary>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𝟏</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𝟐</m:t>
                          </m:r>
                        </m:sub>
                      </m:sSub>
                      <m:r>
                        <a:rPr kumimoji="1" lang="en-US" altLang="zh-CN" sz="2400" b="1" i="1" smtClean="0">
                          <a:solidFill>
                            <a:schemeClr val="tx1"/>
                          </a:solidFill>
                          <a:latin typeface="Cambria Math" panose="02040503050406030204" pitchFamily="18" charset="0"/>
                          <a:ea typeface="Cambria Math" panose="02040503050406030204" pitchFamily="18" charset="0"/>
                        </a:rPr>
                        <m:t>∩⋯=</m:t>
                      </m:r>
                      <m:d>
                        <m:dPr>
                          <m:begChr m:val="{"/>
                          <m:endChr m:val="}"/>
                          <m:ctrlPr>
                            <a:rPr kumimoji="1" lang="en-US" altLang="zh-CN" sz="2400" b="1" i="1" smtClean="0">
                              <a:solidFill>
                                <a:schemeClr val="tx1"/>
                              </a:solidFill>
                              <a:latin typeface="Cambria Math" panose="02040503050406030204" pitchFamily="18" charset="0"/>
                              <a:ea typeface="Cambria Math" panose="02040503050406030204" pitchFamily="18" charset="0"/>
                            </a:rPr>
                          </m:ctrlPr>
                        </m:dPr>
                        <m:e>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𝒊</m:t>
                          </m:r>
                          <m:d>
                            <m:dPr>
                              <m:ctrlPr>
                                <a:rPr kumimoji="1" lang="en-US" altLang="zh-CN" sz="2400" b="1" i="1" smtClean="0">
                                  <a:solidFill>
                                    <a:schemeClr val="tx1"/>
                                  </a:solidFill>
                                  <a:latin typeface="Cambria Math" panose="02040503050406030204" pitchFamily="18" charset="0"/>
                                  <a:ea typeface="Cambria Math" panose="02040503050406030204" pitchFamily="18" charset="0"/>
                                </a:rPr>
                              </m:ctrlPr>
                            </m:dPr>
                            <m:e>
                              <m:r>
                                <a:rPr kumimoji="1" lang="en-US" altLang="zh-CN" sz="2400" b="1" i="1" smtClean="0">
                                  <a:solidFill>
                                    <a:schemeClr val="tx1"/>
                                  </a:solidFill>
                                  <a:latin typeface="Cambria Math" panose="02040503050406030204" pitchFamily="18" charset="0"/>
                                  <a:ea typeface="Cambria Math" panose="02040503050406030204" pitchFamily="18" charset="0"/>
                                </a:rPr>
                                <m:t>𝒊</m:t>
                              </m:r>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𝟏</m:t>
                              </m:r>
                              <m:r>
                                <a:rPr kumimoji="1" lang="en-US" altLang="zh-CN" sz="2400" b="1" i="1" smtClean="0">
                                  <a:solidFill>
                                    <a:schemeClr val="tx1"/>
                                  </a:solidFill>
                                  <a:latin typeface="Cambria Math" panose="02040503050406030204" pitchFamily="18" charset="0"/>
                                  <a:ea typeface="Cambria Math" panose="02040503050406030204" pitchFamily="18" charset="0"/>
                                </a:rPr>
                                <m:t>,</m:t>
                              </m:r>
                              <m:r>
                                <a:rPr kumimoji="1" lang="en-US" altLang="zh-CN" sz="2400" b="1" i="1" smtClean="0">
                                  <a:solidFill>
                                    <a:schemeClr val="tx1"/>
                                  </a:solidFill>
                                  <a:latin typeface="Cambria Math" panose="02040503050406030204" pitchFamily="18" charset="0"/>
                                  <a:ea typeface="Cambria Math" panose="02040503050406030204" pitchFamily="18" charset="0"/>
                                </a:rPr>
                                <m:t>𝟐</m:t>
                              </m:r>
                              <m:r>
                                <a:rPr kumimoji="1" lang="en-US" altLang="zh-CN" sz="2400" b="1" i="1" smtClean="0">
                                  <a:solidFill>
                                    <a:schemeClr val="tx1"/>
                                  </a:solidFill>
                                  <a:latin typeface="Cambria Math" panose="02040503050406030204" pitchFamily="18" charset="0"/>
                                  <a:ea typeface="Cambria Math" panose="02040503050406030204" pitchFamily="18" charset="0"/>
                                </a:rPr>
                                <m:t>,⋯</m:t>
                              </m:r>
                            </m:e>
                          </m:d>
                          <m:r>
                            <a:rPr kumimoji="1" lang="en-US" altLang="zh-CN" sz="2400" b="1" i="1" smtClean="0">
                              <a:solidFill>
                                <a:schemeClr val="tx1"/>
                              </a:solidFill>
                              <a:latin typeface="Cambria Math" panose="02040503050406030204" pitchFamily="18" charset="0"/>
                              <a:ea typeface="Cambria Math" panose="02040503050406030204" pitchFamily="18" charset="0"/>
                            </a:rPr>
                            <m:t> </m:t>
                          </m:r>
                          <m:r>
                            <a:rPr kumimoji="1" lang="en-US" altLang="zh-CN" sz="2400" b="1" i="1" smtClean="0">
                              <a:solidFill>
                                <a:schemeClr val="tx1"/>
                              </a:solidFill>
                              <a:latin typeface="Cambria Math" panose="02040503050406030204" pitchFamily="18" charset="0"/>
                              <a:ea typeface="Cambria Math" panose="02040503050406030204" pitchFamily="18" charset="0"/>
                            </a:rPr>
                            <m:t>𝒙</m:t>
                          </m:r>
                          <m:r>
                            <a:rPr kumimoji="1" lang="en-US" altLang="zh-CN" sz="2400" b="1" i="1" smtClean="0">
                              <a:solidFill>
                                <a:schemeClr val="tx1"/>
                              </a:solidFill>
                              <a:latin typeface="Cambria Math" panose="02040503050406030204" pitchFamily="18" charset="0"/>
                              <a:ea typeface="Cambria Math" panose="02040503050406030204" pitchFamily="18" charset="0"/>
                            </a:rPr>
                            <m:t>∈</m:t>
                          </m:r>
                          <m:sSub>
                            <m:sSubPr>
                              <m:ctrlPr>
                                <a:rPr kumimoji="1" lang="en-US" altLang="zh-CN" sz="2400" b="1" i="1" smtClean="0">
                                  <a:solidFill>
                                    <a:schemeClr val="tx1"/>
                                  </a:solidFill>
                                  <a:latin typeface="Cambria Math" panose="02040503050406030204" pitchFamily="18" charset="0"/>
                                  <a:ea typeface="Cambria Math" panose="02040503050406030204" pitchFamily="18" charset="0"/>
                                </a:rPr>
                              </m:ctrlPr>
                            </m:sSubPr>
                            <m:e>
                              <m:r>
                                <a:rPr kumimoji="1" lang="en-US" altLang="zh-CN" sz="2400" b="1" i="1" smtClean="0">
                                  <a:solidFill>
                                    <a:schemeClr val="tx1"/>
                                  </a:solidFill>
                                  <a:latin typeface="Cambria Math" panose="02040503050406030204" pitchFamily="18" charset="0"/>
                                  <a:ea typeface="Cambria Math" panose="02040503050406030204" pitchFamily="18" charset="0"/>
                                </a:rPr>
                                <m:t>𝑨</m:t>
                              </m:r>
                            </m:e>
                            <m:sub>
                              <m:r>
                                <a:rPr kumimoji="1" lang="en-US" altLang="zh-CN" sz="2400" b="1" i="1" smtClean="0">
                                  <a:solidFill>
                                    <a:schemeClr val="tx1"/>
                                  </a:solidFill>
                                  <a:latin typeface="Cambria Math" panose="02040503050406030204" pitchFamily="18" charset="0"/>
                                  <a:ea typeface="Cambria Math" panose="02040503050406030204" pitchFamily="18" charset="0"/>
                                </a:rPr>
                                <m:t>𝒊</m:t>
                              </m:r>
                            </m:sub>
                          </m:sSub>
                        </m:e>
                      </m:d>
                    </m:oMath>
                  </m:oMathPara>
                </a14:m>
                <a:endParaRPr kumimoji="1" lang="zh-CN" altLang="en-US" sz="2400" b="1" dirty="0">
                  <a:solidFill>
                    <a:schemeClr val="tx1"/>
                  </a:solidFill>
                  <a:latin typeface="Times New Roman" panose="02020603050405020304" pitchFamily="18" charset="0"/>
                  <a:ea typeface="宋体" panose="02010600030101010101" pitchFamily="2" charset="-122"/>
                </a:endParaRPr>
              </a:p>
            </p:txBody>
          </p:sp>
        </mc:Choice>
        <mc:Fallback xmlns="">
          <p:sp>
            <p:nvSpPr>
              <p:cNvPr id="37" name="文本框 36">
                <a:extLst>
                  <a:ext uri="{FF2B5EF4-FFF2-40B4-BE49-F238E27FC236}">
                    <a16:creationId xmlns:a16="http://schemas.microsoft.com/office/drawing/2014/main" id="{728D6D0D-EA57-4AB4-BB20-090A9C1CCD51}"/>
                  </a:ext>
                </a:extLst>
              </p:cNvPr>
              <p:cNvSpPr txBox="1">
                <a:spLocks noRot="1" noChangeAspect="1" noMove="1" noResize="1" noEditPoints="1" noAdjustHandles="1" noChangeArrowheads="1" noChangeShapeType="1" noTextEdit="1"/>
              </p:cNvSpPr>
              <p:nvPr/>
            </p:nvSpPr>
            <p:spPr>
              <a:xfrm>
                <a:off x="1309167" y="4994132"/>
                <a:ext cx="8091904" cy="1206164"/>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86670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1000"/>
                                        <p:tgtEl>
                                          <p:spTgt spid="30"/>
                                        </p:tgtEl>
                                      </p:cBhvr>
                                    </p:animEffect>
                                    <p:anim calcmode="lin" valueType="num">
                                      <p:cBhvr>
                                        <p:cTn id="15" dur="1000" fill="hold"/>
                                        <p:tgtEl>
                                          <p:spTgt spid="30"/>
                                        </p:tgtEl>
                                        <p:attrNameLst>
                                          <p:attrName>ppt_x</p:attrName>
                                        </p:attrNameLst>
                                      </p:cBhvr>
                                      <p:tavLst>
                                        <p:tav tm="0">
                                          <p:val>
                                            <p:strVal val="#ppt_x"/>
                                          </p:val>
                                        </p:tav>
                                        <p:tav tm="100000">
                                          <p:val>
                                            <p:strVal val="#ppt_x"/>
                                          </p:val>
                                        </p:tav>
                                      </p:tavLst>
                                    </p:anim>
                                    <p:anim calcmode="lin" valueType="num">
                                      <p:cBhvr>
                                        <p:cTn id="1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fade">
                                      <p:cBhvr>
                                        <p:cTn id="21" dur="1000"/>
                                        <p:tgtEl>
                                          <p:spTgt spid="34"/>
                                        </p:tgtEl>
                                      </p:cBhvr>
                                    </p:animEffect>
                                    <p:anim calcmode="lin" valueType="num">
                                      <p:cBhvr>
                                        <p:cTn id="22" dur="1000" fill="hold"/>
                                        <p:tgtEl>
                                          <p:spTgt spid="34"/>
                                        </p:tgtEl>
                                        <p:attrNameLst>
                                          <p:attrName>ppt_x</p:attrName>
                                        </p:attrNameLst>
                                      </p:cBhvr>
                                      <p:tavLst>
                                        <p:tav tm="0">
                                          <p:val>
                                            <p:strVal val="#ppt_x"/>
                                          </p:val>
                                        </p:tav>
                                        <p:tav tm="100000">
                                          <p:val>
                                            <p:strVal val="#ppt_x"/>
                                          </p:val>
                                        </p:tav>
                                      </p:tavLst>
                                    </p:anim>
                                    <p:anim calcmode="lin" valueType="num">
                                      <p:cBhvr>
                                        <p:cTn id="2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1000"/>
                                        <p:tgtEl>
                                          <p:spTgt spid="35"/>
                                        </p:tgtEl>
                                      </p:cBhvr>
                                    </p:animEffect>
                                    <p:anim calcmode="lin" valueType="num">
                                      <p:cBhvr>
                                        <p:cTn id="29" dur="1000" fill="hold"/>
                                        <p:tgtEl>
                                          <p:spTgt spid="35"/>
                                        </p:tgtEl>
                                        <p:attrNameLst>
                                          <p:attrName>ppt_x</p:attrName>
                                        </p:attrNameLst>
                                      </p:cBhvr>
                                      <p:tavLst>
                                        <p:tav tm="0">
                                          <p:val>
                                            <p:strVal val="#ppt_x"/>
                                          </p:val>
                                        </p:tav>
                                        <p:tav tm="100000">
                                          <p:val>
                                            <p:strVal val="#ppt_x"/>
                                          </p:val>
                                        </p:tav>
                                      </p:tavLst>
                                    </p:anim>
                                    <p:anim calcmode="lin" valueType="num">
                                      <p:cBhvr>
                                        <p:cTn id="30"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1000"/>
                                        <p:tgtEl>
                                          <p:spTgt spid="37"/>
                                        </p:tgtEl>
                                      </p:cBhvr>
                                    </p:animEffect>
                                    <p:anim calcmode="lin" valueType="num">
                                      <p:cBhvr>
                                        <p:cTn id="36" dur="1000" fill="hold"/>
                                        <p:tgtEl>
                                          <p:spTgt spid="37"/>
                                        </p:tgtEl>
                                        <p:attrNameLst>
                                          <p:attrName>ppt_x</p:attrName>
                                        </p:attrNameLst>
                                      </p:cBhvr>
                                      <p:tavLst>
                                        <p:tav tm="0">
                                          <p:val>
                                            <p:strVal val="#ppt_x"/>
                                          </p:val>
                                        </p:tav>
                                        <p:tav tm="100000">
                                          <p:val>
                                            <p:strVal val="#ppt_x"/>
                                          </p:val>
                                        </p:tav>
                                      </p:tavLst>
                                    </p:anim>
                                    <p:anim calcmode="lin" valueType="num">
                                      <p:cBhvr>
                                        <p:cTn id="37"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4" grpId="0"/>
      <p:bldP spid="35" grpId="0"/>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zh-CN" altLang="en-US" sz="2000" b="1" dirty="0">
                <a:latin typeface="+mj-lt"/>
                <a:cs typeface="Times New Roman" panose="02020603050405020304" pitchFamily="18" charset="0"/>
              </a:rPr>
              <a:t>1.</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extended</a:t>
            </a:r>
            <a:endParaRPr lang="zh-CN" altLang="en-US" sz="2400" b="1" dirty="0">
              <a:highlight>
                <a:srgbClr val="FF0000"/>
              </a:highligh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4806764A-BF8D-49CD-9737-CC0F647A8E33}"/>
              </a:ext>
            </a:extLst>
          </p:cNvPr>
          <p:cNvSpPr txBox="1">
            <a:spLocks noChangeArrowheads="1"/>
          </p:cNvSpPr>
          <p:nvPr/>
        </p:nvSpPr>
        <p:spPr>
          <a:xfrm>
            <a:off x="2286000" y="1752600"/>
            <a:ext cx="7772400" cy="5334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en-US" altLang="zh-CN" sz="2400" b="1" dirty="0"/>
              <a:t>Example2</a:t>
            </a:r>
            <a:r>
              <a:rPr lang="zh-CN" altLang="en-US" sz="2400" b="1" dirty="0"/>
              <a:t>：</a:t>
            </a:r>
            <a:r>
              <a:rPr lang="en-US" altLang="zh-CN" sz="2400" b="1" dirty="0"/>
              <a:t> Let </a:t>
            </a:r>
            <a:r>
              <a:rPr lang="en-US" altLang="zh-CN" sz="2400" b="1" i="1" dirty="0"/>
              <a:t>A</a:t>
            </a:r>
            <a:r>
              <a:rPr lang="en-US" altLang="zh-CN" sz="2400" b="1" i="1" baseline="-25000" dirty="0"/>
              <a:t>i</a:t>
            </a:r>
            <a:r>
              <a:rPr lang="en-US" altLang="zh-CN" sz="2400" b="1" dirty="0"/>
              <a:t>=[0, 1/</a:t>
            </a:r>
            <a:r>
              <a:rPr lang="en-US" altLang="zh-CN" sz="2400" b="1" i="1" dirty="0"/>
              <a:t>i</a:t>
            </a:r>
            <a:r>
              <a:rPr lang="en-US" altLang="zh-CN" sz="2400" b="1" dirty="0"/>
              <a:t> ), </a:t>
            </a:r>
            <a:r>
              <a:rPr lang="en-US" altLang="zh-CN" sz="2400" b="1" i="1" dirty="0"/>
              <a:t>B</a:t>
            </a:r>
            <a:r>
              <a:rPr lang="en-US" altLang="zh-CN" sz="2400" b="1" i="1" baseline="-25000" dirty="0"/>
              <a:t>i</a:t>
            </a:r>
            <a:r>
              <a:rPr lang="en-US" altLang="zh-CN" sz="2400" b="1" dirty="0"/>
              <a:t>=(0, </a:t>
            </a:r>
            <a:r>
              <a:rPr lang="en-US" altLang="zh-CN" sz="2400" b="1" i="1" dirty="0"/>
              <a:t>i</a:t>
            </a:r>
            <a:r>
              <a:rPr lang="en-US" altLang="zh-CN" sz="2400" b="1" dirty="0"/>
              <a:t> ), </a:t>
            </a:r>
            <a:r>
              <a:rPr lang="en-US" altLang="zh-CN" sz="2400" b="1" i="1" dirty="0"/>
              <a:t>i</a:t>
            </a:r>
            <a:r>
              <a:rPr lang="en-US" altLang="zh-CN" sz="2400" b="1" dirty="0"/>
              <a:t>=1,2, </a:t>
            </a:r>
            <a:r>
              <a:rPr lang="en-US" altLang="zh-CN" sz="2400" b="1" dirty="0">
                <a:cs typeface="Times New Roman" panose="02020603050405020304" pitchFamily="18" charset="0"/>
              </a:rPr>
              <a:t>…, t</a:t>
            </a:r>
            <a:r>
              <a:rPr lang="en-US" altLang="zh-CN" sz="2400" b="1" dirty="0"/>
              <a:t>hen</a:t>
            </a:r>
            <a:endParaRPr lang="zh-CN" altLang="en-US" sz="2400" b="1" dirty="0"/>
          </a:p>
        </p:txBody>
      </p:sp>
      <p:graphicFrame>
        <p:nvGraphicFramePr>
          <p:cNvPr id="8" name="Object 0">
            <a:extLst>
              <a:ext uri="{FF2B5EF4-FFF2-40B4-BE49-F238E27FC236}">
                <a16:creationId xmlns:a16="http://schemas.microsoft.com/office/drawing/2014/main" id="{B0C09DB5-8171-4CE1-8172-C7A09B89BFC0}"/>
              </a:ext>
            </a:extLst>
          </p:cNvPr>
          <p:cNvGraphicFramePr>
            <a:graphicFrameLocks noChangeAspect="1"/>
          </p:cNvGraphicFramePr>
          <p:nvPr/>
        </p:nvGraphicFramePr>
        <p:xfrm>
          <a:off x="2743200" y="2286000"/>
          <a:ext cx="1003300" cy="898525"/>
        </p:xfrm>
        <a:graphic>
          <a:graphicData uri="http://schemas.openxmlformats.org/presentationml/2006/ole">
            <mc:AlternateContent xmlns:mc="http://schemas.openxmlformats.org/markup-compatibility/2006">
              <mc:Choice xmlns:v="urn:schemas-microsoft-com:vml" Requires="v">
                <p:oleObj spid="_x0000_s1170" name="Equation" r:id="rId6" imgW="482391" imgH="431613" progId="Equation.3">
                  <p:embed/>
                </p:oleObj>
              </mc:Choice>
              <mc:Fallback>
                <p:oleObj name="Equation" r:id="rId6" imgW="482391" imgH="431613" progId="Equation.3">
                  <p:embed/>
                  <p:pic>
                    <p:nvPicPr>
                      <p:cNvPr id="8" name="Object 0">
                        <a:extLst>
                          <a:ext uri="{FF2B5EF4-FFF2-40B4-BE49-F238E27FC236}">
                            <a16:creationId xmlns:a16="http://schemas.microsoft.com/office/drawing/2014/main" id="{B0C09DB5-8171-4CE1-8172-C7A09B89BFC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2286000"/>
                        <a:ext cx="10033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1">
            <a:extLst>
              <a:ext uri="{FF2B5EF4-FFF2-40B4-BE49-F238E27FC236}">
                <a16:creationId xmlns:a16="http://schemas.microsoft.com/office/drawing/2014/main" id="{BBDEBA8C-2BF0-4F73-A2CA-66964F677636}"/>
              </a:ext>
            </a:extLst>
          </p:cNvPr>
          <p:cNvGraphicFramePr>
            <a:graphicFrameLocks noChangeAspect="1"/>
          </p:cNvGraphicFramePr>
          <p:nvPr/>
        </p:nvGraphicFramePr>
        <p:xfrm>
          <a:off x="5715000" y="2286000"/>
          <a:ext cx="1003300" cy="898525"/>
        </p:xfrm>
        <a:graphic>
          <a:graphicData uri="http://schemas.openxmlformats.org/presentationml/2006/ole">
            <mc:AlternateContent xmlns:mc="http://schemas.openxmlformats.org/markup-compatibility/2006">
              <mc:Choice xmlns:v="urn:schemas-microsoft-com:vml" Requires="v">
                <p:oleObj spid="_x0000_s1171" name="Equation" r:id="rId8" imgW="482391" imgH="431613" progId="Equation.3">
                  <p:embed/>
                </p:oleObj>
              </mc:Choice>
              <mc:Fallback>
                <p:oleObj name="Equation" r:id="rId8" imgW="482391" imgH="431613" progId="Equation.3">
                  <p:embed/>
                  <p:pic>
                    <p:nvPicPr>
                      <p:cNvPr id="9" name="Object 1">
                        <a:extLst>
                          <a:ext uri="{FF2B5EF4-FFF2-40B4-BE49-F238E27FC236}">
                            <a16:creationId xmlns:a16="http://schemas.microsoft.com/office/drawing/2014/main" id="{BBDEBA8C-2BF0-4F73-A2CA-66964F67763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0" y="2286000"/>
                        <a:ext cx="10033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
            <a:extLst>
              <a:ext uri="{FF2B5EF4-FFF2-40B4-BE49-F238E27FC236}">
                <a16:creationId xmlns:a16="http://schemas.microsoft.com/office/drawing/2014/main" id="{8CDBEFFC-CFB5-4602-9AC4-616C0F2D8EF3}"/>
              </a:ext>
            </a:extLst>
          </p:cNvPr>
          <p:cNvGraphicFramePr>
            <a:graphicFrameLocks noChangeAspect="1"/>
          </p:cNvGraphicFramePr>
          <p:nvPr/>
        </p:nvGraphicFramePr>
        <p:xfrm>
          <a:off x="2743200" y="3140075"/>
          <a:ext cx="1003300" cy="898525"/>
        </p:xfrm>
        <a:graphic>
          <a:graphicData uri="http://schemas.openxmlformats.org/presentationml/2006/ole">
            <mc:AlternateContent xmlns:mc="http://schemas.openxmlformats.org/markup-compatibility/2006">
              <mc:Choice xmlns:v="urn:schemas-microsoft-com:vml" Requires="v">
                <p:oleObj spid="_x0000_s1172" name="Equation" r:id="rId10" imgW="482391" imgH="431613" progId="Equation.3">
                  <p:embed/>
                </p:oleObj>
              </mc:Choice>
              <mc:Fallback>
                <p:oleObj name="Equation" r:id="rId10" imgW="482391" imgH="431613" progId="Equation.3">
                  <p:embed/>
                  <p:pic>
                    <p:nvPicPr>
                      <p:cNvPr id="10" name="Object 2">
                        <a:extLst>
                          <a:ext uri="{FF2B5EF4-FFF2-40B4-BE49-F238E27FC236}">
                            <a16:creationId xmlns:a16="http://schemas.microsoft.com/office/drawing/2014/main" id="{8CDBEFFC-CFB5-4602-9AC4-616C0F2D8EF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43200" y="3140075"/>
                        <a:ext cx="10033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3">
            <a:extLst>
              <a:ext uri="{FF2B5EF4-FFF2-40B4-BE49-F238E27FC236}">
                <a16:creationId xmlns:a16="http://schemas.microsoft.com/office/drawing/2014/main" id="{9A97C5A1-629B-4684-9B20-75847E07A503}"/>
              </a:ext>
            </a:extLst>
          </p:cNvPr>
          <p:cNvGraphicFramePr>
            <a:graphicFrameLocks noChangeAspect="1"/>
          </p:cNvGraphicFramePr>
          <p:nvPr/>
        </p:nvGraphicFramePr>
        <p:xfrm>
          <a:off x="5715000" y="3140075"/>
          <a:ext cx="1003300" cy="898525"/>
        </p:xfrm>
        <a:graphic>
          <a:graphicData uri="http://schemas.openxmlformats.org/presentationml/2006/ole">
            <mc:AlternateContent xmlns:mc="http://schemas.openxmlformats.org/markup-compatibility/2006">
              <mc:Choice xmlns:v="urn:schemas-microsoft-com:vml" Requires="v">
                <p:oleObj spid="_x0000_s1173" name="Equation" r:id="rId12" imgW="482391" imgH="431613" progId="Equation.3">
                  <p:embed/>
                </p:oleObj>
              </mc:Choice>
              <mc:Fallback>
                <p:oleObj name="Equation" r:id="rId12" imgW="482391" imgH="431613" progId="Equation.3">
                  <p:embed/>
                  <p:pic>
                    <p:nvPicPr>
                      <p:cNvPr id="11" name="Object 3">
                        <a:extLst>
                          <a:ext uri="{FF2B5EF4-FFF2-40B4-BE49-F238E27FC236}">
                            <a16:creationId xmlns:a16="http://schemas.microsoft.com/office/drawing/2014/main" id="{9A97C5A1-629B-4684-9B20-75847E07A50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15000" y="3140075"/>
                        <a:ext cx="10033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4">
            <a:extLst>
              <a:ext uri="{FF2B5EF4-FFF2-40B4-BE49-F238E27FC236}">
                <a16:creationId xmlns:a16="http://schemas.microsoft.com/office/drawing/2014/main" id="{1A58419F-59F7-442E-BC98-2C1FEF54D21B}"/>
              </a:ext>
            </a:extLst>
          </p:cNvPr>
          <p:cNvGraphicFramePr>
            <a:graphicFrameLocks noChangeAspect="1"/>
          </p:cNvGraphicFramePr>
          <p:nvPr/>
        </p:nvGraphicFramePr>
        <p:xfrm>
          <a:off x="2743200" y="4054475"/>
          <a:ext cx="1003300" cy="898525"/>
        </p:xfrm>
        <a:graphic>
          <a:graphicData uri="http://schemas.openxmlformats.org/presentationml/2006/ole">
            <mc:AlternateContent xmlns:mc="http://schemas.openxmlformats.org/markup-compatibility/2006">
              <mc:Choice xmlns:v="urn:schemas-microsoft-com:vml" Requires="v">
                <p:oleObj spid="_x0000_s1174" name="Equation" r:id="rId14" imgW="482391" imgH="431613" progId="Equation.3">
                  <p:embed/>
                </p:oleObj>
              </mc:Choice>
              <mc:Fallback>
                <p:oleObj name="Equation" r:id="rId14" imgW="482391" imgH="431613" progId="Equation.3">
                  <p:embed/>
                  <p:pic>
                    <p:nvPicPr>
                      <p:cNvPr id="12" name="Object 4">
                        <a:extLst>
                          <a:ext uri="{FF2B5EF4-FFF2-40B4-BE49-F238E27FC236}">
                            <a16:creationId xmlns:a16="http://schemas.microsoft.com/office/drawing/2014/main" id="{1A58419F-59F7-442E-BC98-2C1FEF54D21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43200" y="4054475"/>
                        <a:ext cx="10033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5">
            <a:extLst>
              <a:ext uri="{FF2B5EF4-FFF2-40B4-BE49-F238E27FC236}">
                <a16:creationId xmlns:a16="http://schemas.microsoft.com/office/drawing/2014/main" id="{6F53A828-3600-4945-AC88-F12059B65A8B}"/>
              </a:ext>
            </a:extLst>
          </p:cNvPr>
          <p:cNvGraphicFramePr>
            <a:graphicFrameLocks noChangeAspect="1"/>
          </p:cNvGraphicFramePr>
          <p:nvPr/>
        </p:nvGraphicFramePr>
        <p:xfrm>
          <a:off x="5715000" y="4054475"/>
          <a:ext cx="1003300" cy="898525"/>
        </p:xfrm>
        <a:graphic>
          <a:graphicData uri="http://schemas.openxmlformats.org/presentationml/2006/ole">
            <mc:AlternateContent xmlns:mc="http://schemas.openxmlformats.org/markup-compatibility/2006">
              <mc:Choice xmlns:v="urn:schemas-microsoft-com:vml" Requires="v">
                <p:oleObj spid="_x0000_s1175" name="Equation" r:id="rId16" imgW="482391" imgH="431613" progId="Equation.3">
                  <p:embed/>
                </p:oleObj>
              </mc:Choice>
              <mc:Fallback>
                <p:oleObj name="Equation" r:id="rId16" imgW="482391" imgH="431613" progId="Equation.3">
                  <p:embed/>
                  <p:pic>
                    <p:nvPicPr>
                      <p:cNvPr id="14" name="Object 5">
                        <a:extLst>
                          <a:ext uri="{FF2B5EF4-FFF2-40B4-BE49-F238E27FC236}">
                            <a16:creationId xmlns:a16="http://schemas.microsoft.com/office/drawing/2014/main" id="{6F53A828-3600-4945-AC88-F12059B65A8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15000" y="4054475"/>
                        <a:ext cx="10033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6">
            <a:extLst>
              <a:ext uri="{FF2B5EF4-FFF2-40B4-BE49-F238E27FC236}">
                <a16:creationId xmlns:a16="http://schemas.microsoft.com/office/drawing/2014/main" id="{F6E3955D-33DB-4B76-BC38-09C13B33AC87}"/>
              </a:ext>
            </a:extLst>
          </p:cNvPr>
          <p:cNvGraphicFramePr>
            <a:graphicFrameLocks noChangeAspect="1"/>
          </p:cNvGraphicFramePr>
          <p:nvPr/>
        </p:nvGraphicFramePr>
        <p:xfrm>
          <a:off x="2743200" y="4953000"/>
          <a:ext cx="1003300" cy="898525"/>
        </p:xfrm>
        <a:graphic>
          <a:graphicData uri="http://schemas.openxmlformats.org/presentationml/2006/ole">
            <mc:AlternateContent xmlns:mc="http://schemas.openxmlformats.org/markup-compatibility/2006">
              <mc:Choice xmlns:v="urn:schemas-microsoft-com:vml" Requires="v">
                <p:oleObj spid="_x0000_s1176" name="Equation" r:id="rId18" imgW="482391" imgH="431613" progId="Equation.3">
                  <p:embed/>
                </p:oleObj>
              </mc:Choice>
              <mc:Fallback>
                <p:oleObj name="Equation" r:id="rId18" imgW="482391" imgH="431613" progId="Equation.3">
                  <p:embed/>
                  <p:pic>
                    <p:nvPicPr>
                      <p:cNvPr id="15" name="Object 6">
                        <a:extLst>
                          <a:ext uri="{FF2B5EF4-FFF2-40B4-BE49-F238E27FC236}">
                            <a16:creationId xmlns:a16="http://schemas.microsoft.com/office/drawing/2014/main" id="{F6E3955D-33DB-4B76-BC38-09C13B33AC8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43200" y="4953000"/>
                        <a:ext cx="10033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7">
            <a:extLst>
              <a:ext uri="{FF2B5EF4-FFF2-40B4-BE49-F238E27FC236}">
                <a16:creationId xmlns:a16="http://schemas.microsoft.com/office/drawing/2014/main" id="{EBCFEAA2-BF14-4612-BA83-627BEEEE4AFB}"/>
              </a:ext>
            </a:extLst>
          </p:cNvPr>
          <p:cNvGraphicFramePr>
            <a:graphicFrameLocks noChangeAspect="1"/>
          </p:cNvGraphicFramePr>
          <p:nvPr/>
        </p:nvGraphicFramePr>
        <p:xfrm>
          <a:off x="5715000" y="4968875"/>
          <a:ext cx="1003300" cy="898525"/>
        </p:xfrm>
        <a:graphic>
          <a:graphicData uri="http://schemas.openxmlformats.org/presentationml/2006/ole">
            <mc:AlternateContent xmlns:mc="http://schemas.openxmlformats.org/markup-compatibility/2006">
              <mc:Choice xmlns:v="urn:schemas-microsoft-com:vml" Requires="v">
                <p:oleObj spid="_x0000_s1177" name="Equation" r:id="rId20" imgW="482391" imgH="431613" progId="Equation.3">
                  <p:embed/>
                </p:oleObj>
              </mc:Choice>
              <mc:Fallback>
                <p:oleObj name="Equation" r:id="rId20" imgW="482391" imgH="431613" progId="Equation.3">
                  <p:embed/>
                  <p:pic>
                    <p:nvPicPr>
                      <p:cNvPr id="16" name="Object 7">
                        <a:extLst>
                          <a:ext uri="{FF2B5EF4-FFF2-40B4-BE49-F238E27FC236}">
                            <a16:creationId xmlns:a16="http://schemas.microsoft.com/office/drawing/2014/main" id="{EBCFEAA2-BF14-4612-BA83-627BEEEE4AF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715000" y="4968875"/>
                        <a:ext cx="1003300" cy="89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Text Box 12">
            <a:extLst>
              <a:ext uri="{FF2B5EF4-FFF2-40B4-BE49-F238E27FC236}">
                <a16:creationId xmlns:a16="http://schemas.microsoft.com/office/drawing/2014/main" id="{E6059F04-368B-4F74-92F9-854FF1FAC4CF}"/>
              </a:ext>
            </a:extLst>
          </p:cNvPr>
          <p:cNvSpPr txBox="1">
            <a:spLocks noChangeArrowheads="1"/>
          </p:cNvSpPr>
          <p:nvPr/>
        </p:nvSpPr>
        <p:spPr bwMode="auto">
          <a:xfrm>
            <a:off x="3657600" y="25146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2400" b="1" dirty="0">
                <a:solidFill>
                  <a:schemeClr val="tx1"/>
                </a:solidFill>
                <a:latin typeface="Times New Roman" panose="02020603050405020304" pitchFamily="18" charset="0"/>
              </a:rPr>
              <a:t>[0, 1)</a:t>
            </a:r>
          </a:p>
        </p:txBody>
      </p:sp>
      <p:sp>
        <p:nvSpPr>
          <p:cNvPr id="19" name="Text Box 13">
            <a:extLst>
              <a:ext uri="{FF2B5EF4-FFF2-40B4-BE49-F238E27FC236}">
                <a16:creationId xmlns:a16="http://schemas.microsoft.com/office/drawing/2014/main" id="{8B7819A1-1031-4C99-B790-65581CCC7F19}"/>
              </a:ext>
            </a:extLst>
          </p:cNvPr>
          <p:cNvSpPr txBox="1">
            <a:spLocks noChangeArrowheads="1"/>
          </p:cNvSpPr>
          <p:nvPr/>
        </p:nvSpPr>
        <p:spPr bwMode="auto">
          <a:xfrm>
            <a:off x="6705600" y="25146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2400" b="1" dirty="0">
                <a:solidFill>
                  <a:schemeClr val="tx1"/>
                </a:solidFill>
                <a:latin typeface="Times New Roman" panose="02020603050405020304" pitchFamily="18" charset="0"/>
              </a:rPr>
              <a:t>[0, 1)</a:t>
            </a:r>
            <a:endParaRPr lang="zh-CN" altLang="en-US" dirty="0"/>
          </a:p>
        </p:txBody>
      </p:sp>
      <p:sp>
        <p:nvSpPr>
          <p:cNvPr id="21" name="Text Box 14">
            <a:extLst>
              <a:ext uri="{FF2B5EF4-FFF2-40B4-BE49-F238E27FC236}">
                <a16:creationId xmlns:a16="http://schemas.microsoft.com/office/drawing/2014/main" id="{59D437CB-7AA1-4302-B29D-69859B258803}"/>
              </a:ext>
            </a:extLst>
          </p:cNvPr>
          <p:cNvSpPr txBox="1">
            <a:spLocks noChangeArrowheads="1"/>
          </p:cNvSpPr>
          <p:nvPr/>
        </p:nvSpPr>
        <p:spPr bwMode="auto">
          <a:xfrm>
            <a:off x="3733800" y="33528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2400" b="1">
                <a:solidFill>
                  <a:schemeClr val="tx1"/>
                </a:solidFill>
                <a:latin typeface="Times New Roman" panose="02020603050405020304" pitchFamily="18" charset="0"/>
              </a:rPr>
              <a:t>[0, 1/</a:t>
            </a:r>
            <a:r>
              <a:rPr lang="en-US" altLang="zh-CN" sz="2400" b="1" i="1">
                <a:solidFill>
                  <a:schemeClr val="tx1"/>
                </a:solidFill>
                <a:latin typeface="Times New Roman" panose="02020603050405020304" pitchFamily="18" charset="0"/>
              </a:rPr>
              <a:t>n</a:t>
            </a:r>
            <a:r>
              <a:rPr lang="en-US" altLang="zh-CN" sz="2400" b="1">
                <a:solidFill>
                  <a:schemeClr val="tx1"/>
                </a:solidFill>
                <a:latin typeface="Times New Roman" panose="02020603050405020304" pitchFamily="18" charset="0"/>
              </a:rPr>
              <a:t> )</a:t>
            </a:r>
            <a:endParaRPr lang="en-US" altLang="zh-CN"/>
          </a:p>
        </p:txBody>
      </p:sp>
      <p:sp>
        <p:nvSpPr>
          <p:cNvPr id="23" name="Text Box 15">
            <a:extLst>
              <a:ext uri="{FF2B5EF4-FFF2-40B4-BE49-F238E27FC236}">
                <a16:creationId xmlns:a16="http://schemas.microsoft.com/office/drawing/2014/main" id="{0237BA16-5578-47AB-A6E5-DD8D955412C2}"/>
              </a:ext>
            </a:extLst>
          </p:cNvPr>
          <p:cNvSpPr txBox="1">
            <a:spLocks noChangeArrowheads="1"/>
          </p:cNvSpPr>
          <p:nvPr/>
        </p:nvSpPr>
        <p:spPr bwMode="auto">
          <a:xfrm>
            <a:off x="6705600" y="33528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2400" b="1">
                <a:solidFill>
                  <a:schemeClr val="tx1"/>
                </a:solidFill>
                <a:latin typeface="Times New Roman" panose="02020603050405020304" pitchFamily="18" charset="0"/>
              </a:rPr>
              <a:t>{ 0 }</a:t>
            </a:r>
            <a:endParaRPr lang="zh-CN" altLang="en-US"/>
          </a:p>
        </p:txBody>
      </p:sp>
      <p:sp>
        <p:nvSpPr>
          <p:cNvPr id="24" name="Text Box 16">
            <a:extLst>
              <a:ext uri="{FF2B5EF4-FFF2-40B4-BE49-F238E27FC236}">
                <a16:creationId xmlns:a16="http://schemas.microsoft.com/office/drawing/2014/main" id="{F4F87FB0-8AC8-4F5D-9819-84119FD9191E}"/>
              </a:ext>
            </a:extLst>
          </p:cNvPr>
          <p:cNvSpPr txBox="1">
            <a:spLocks noChangeArrowheads="1"/>
          </p:cNvSpPr>
          <p:nvPr/>
        </p:nvSpPr>
        <p:spPr bwMode="auto">
          <a:xfrm>
            <a:off x="3657600" y="4267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2400" b="1">
                <a:solidFill>
                  <a:schemeClr val="tx1"/>
                </a:solidFill>
                <a:latin typeface="Times New Roman" panose="02020603050405020304" pitchFamily="18" charset="0"/>
              </a:rPr>
              <a:t>(0, </a:t>
            </a:r>
            <a:r>
              <a:rPr lang="en-US" altLang="zh-CN" sz="2400" b="1" i="1">
                <a:solidFill>
                  <a:schemeClr val="tx1"/>
                </a:solidFill>
                <a:latin typeface="Times New Roman" panose="02020603050405020304" pitchFamily="18" charset="0"/>
              </a:rPr>
              <a:t>n</a:t>
            </a:r>
            <a:r>
              <a:rPr lang="en-US" altLang="zh-CN" sz="2400" b="1">
                <a:solidFill>
                  <a:schemeClr val="tx1"/>
                </a:solidFill>
                <a:latin typeface="Times New Roman" panose="02020603050405020304" pitchFamily="18" charset="0"/>
              </a:rPr>
              <a:t>)</a:t>
            </a:r>
            <a:endParaRPr lang="en-US" altLang="zh-CN"/>
          </a:p>
        </p:txBody>
      </p:sp>
      <p:sp>
        <p:nvSpPr>
          <p:cNvPr id="25" name="Text Box 17">
            <a:extLst>
              <a:ext uri="{FF2B5EF4-FFF2-40B4-BE49-F238E27FC236}">
                <a16:creationId xmlns:a16="http://schemas.microsoft.com/office/drawing/2014/main" id="{9FAAA32B-8F85-497E-9E10-8EC4951AF04F}"/>
              </a:ext>
            </a:extLst>
          </p:cNvPr>
          <p:cNvSpPr txBox="1">
            <a:spLocks noChangeArrowheads="1"/>
          </p:cNvSpPr>
          <p:nvPr/>
        </p:nvSpPr>
        <p:spPr bwMode="auto">
          <a:xfrm>
            <a:off x="6705600" y="4267200"/>
            <a:ext cx="129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2400" b="1">
                <a:solidFill>
                  <a:schemeClr val="tx1"/>
                </a:solidFill>
                <a:latin typeface="Times New Roman" panose="02020603050405020304" pitchFamily="18" charset="0"/>
              </a:rPr>
              <a:t>(0, +</a:t>
            </a:r>
            <a:r>
              <a:rPr kumimoji="1" lang="en-US" altLang="zh-CN"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a:solidFill>
                  <a:schemeClr val="tx1"/>
                </a:solidFill>
                <a:latin typeface="Times New Roman" panose="02020603050405020304" pitchFamily="18" charset="0"/>
              </a:rPr>
              <a:t>)</a:t>
            </a:r>
          </a:p>
        </p:txBody>
      </p:sp>
      <p:sp>
        <p:nvSpPr>
          <p:cNvPr id="26" name="Text Box 18">
            <a:extLst>
              <a:ext uri="{FF2B5EF4-FFF2-40B4-BE49-F238E27FC236}">
                <a16:creationId xmlns:a16="http://schemas.microsoft.com/office/drawing/2014/main" id="{4993E74E-C16E-4509-A122-E0791D53D068}"/>
              </a:ext>
            </a:extLst>
          </p:cNvPr>
          <p:cNvSpPr txBox="1">
            <a:spLocks noChangeArrowheads="1"/>
          </p:cNvSpPr>
          <p:nvPr/>
        </p:nvSpPr>
        <p:spPr bwMode="auto">
          <a:xfrm>
            <a:off x="3657600" y="51816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2400" b="1">
                <a:solidFill>
                  <a:schemeClr val="tx1"/>
                </a:solidFill>
                <a:latin typeface="Times New Roman" panose="02020603050405020304" pitchFamily="18" charset="0"/>
              </a:rPr>
              <a:t>(0, 1)</a:t>
            </a:r>
            <a:endParaRPr lang="zh-CN" altLang="en-US"/>
          </a:p>
        </p:txBody>
      </p:sp>
      <p:sp>
        <p:nvSpPr>
          <p:cNvPr id="27" name="Text Box 19">
            <a:extLst>
              <a:ext uri="{FF2B5EF4-FFF2-40B4-BE49-F238E27FC236}">
                <a16:creationId xmlns:a16="http://schemas.microsoft.com/office/drawing/2014/main" id="{D14C215F-BD41-4E49-8D4E-F888298DB74C}"/>
              </a:ext>
            </a:extLst>
          </p:cNvPr>
          <p:cNvSpPr txBox="1">
            <a:spLocks noChangeArrowheads="1"/>
          </p:cNvSpPr>
          <p:nvPr/>
        </p:nvSpPr>
        <p:spPr bwMode="auto">
          <a:xfrm>
            <a:off x="6705600" y="51816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a:defRPr>
                <a:solidFill>
                  <a:schemeClr val="accent2"/>
                </a:solidFill>
                <a:latin typeface="Arial" panose="020B0604020202020204" pitchFamily="34" charset="0"/>
                <a:ea typeface="华文行楷" panose="02010800040101010101" pitchFamily="2" charset="-122"/>
              </a:defRPr>
            </a:lvl1pPr>
            <a:lvl2pPr marL="742950" indent="-285750">
              <a:defRPr>
                <a:solidFill>
                  <a:schemeClr val="accent2"/>
                </a:solidFill>
                <a:latin typeface="Arial" panose="020B0604020202020204" pitchFamily="34" charset="0"/>
                <a:ea typeface="华文行楷" panose="02010800040101010101" pitchFamily="2" charset="-122"/>
              </a:defRPr>
            </a:lvl2pPr>
            <a:lvl3pPr marL="1143000" indent="-228600">
              <a:defRPr>
                <a:solidFill>
                  <a:schemeClr val="accent2"/>
                </a:solidFill>
                <a:latin typeface="Arial" panose="020B0604020202020204" pitchFamily="34" charset="0"/>
                <a:ea typeface="华文行楷" panose="02010800040101010101" pitchFamily="2" charset="-122"/>
              </a:defRPr>
            </a:lvl3pPr>
            <a:lvl4pPr marL="1600200" indent="-228600">
              <a:defRPr>
                <a:solidFill>
                  <a:schemeClr val="accent2"/>
                </a:solidFill>
                <a:latin typeface="Arial" panose="020B0604020202020204" pitchFamily="34" charset="0"/>
                <a:ea typeface="华文行楷" panose="02010800040101010101" pitchFamily="2" charset="-122"/>
              </a:defRPr>
            </a:lvl4pPr>
            <a:lvl5pPr marL="2057400" indent="-228600">
              <a:defRPr>
                <a:solidFill>
                  <a:schemeClr val="accent2"/>
                </a:solidFill>
                <a:latin typeface="Arial" panose="020B0604020202020204" pitchFamily="34" charset="0"/>
                <a:ea typeface="华文行楷" panose="02010800040101010101" pitchFamily="2" charset="-122"/>
              </a:defRPr>
            </a:lvl5pPr>
            <a:lvl6pPr marL="25146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6pPr>
            <a:lvl7pPr marL="29718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7pPr>
            <a:lvl8pPr marL="34290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8pPr>
            <a:lvl9pPr marL="3886200" indent="-228600" eaLnBrk="0" fontAlgn="base" hangingPunct="0">
              <a:spcBef>
                <a:spcPct val="0"/>
              </a:spcBef>
              <a:spcAft>
                <a:spcPct val="0"/>
              </a:spcAft>
              <a:defRPr>
                <a:solidFill>
                  <a:schemeClr val="accent2"/>
                </a:solidFill>
                <a:latin typeface="Arial" panose="020B0604020202020204" pitchFamily="34" charset="0"/>
                <a:ea typeface="华文行楷" panose="02010800040101010101" pitchFamily="2" charset="-122"/>
              </a:defRPr>
            </a:lvl9pPr>
          </a:lstStyle>
          <a:p>
            <a:pPr eaLnBrk="1" hangingPunct="1">
              <a:spcBef>
                <a:spcPct val="50000"/>
              </a:spcBef>
            </a:pPr>
            <a:r>
              <a:rPr lang="zh-CN" altLang="en-US" sz="2400" b="1">
                <a:solidFill>
                  <a:schemeClr val="tx1"/>
                </a:solidFill>
                <a:latin typeface="Times New Roman" panose="02020603050405020304" pitchFamily="18" charset="0"/>
              </a:rPr>
              <a:t>(0, 1)</a:t>
            </a:r>
            <a:endParaRPr lang="zh-CN" altLang="en-US"/>
          </a:p>
        </p:txBody>
      </p:sp>
      <p:pic>
        <p:nvPicPr>
          <p:cNvPr id="28" name="图片 27">
            <a:extLst>
              <a:ext uri="{FF2B5EF4-FFF2-40B4-BE49-F238E27FC236}">
                <a16:creationId xmlns:a16="http://schemas.microsoft.com/office/drawing/2014/main" id="{170BF4BA-CD5A-4790-B94B-439AEEB1AF3C}"/>
              </a:ext>
            </a:extLst>
          </p:cNvPr>
          <p:cNvPicPr>
            <a:picLocks noChangeAspect="1"/>
          </p:cNvPicPr>
          <p:nvPr/>
        </p:nvPicPr>
        <p:blipFill>
          <a:blip r:embed="rId22"/>
          <a:stretch>
            <a:fillRect/>
          </a:stretch>
        </p:blipFill>
        <p:spPr>
          <a:xfrm>
            <a:off x="1758242" y="1858586"/>
            <a:ext cx="577850" cy="241300"/>
          </a:xfrm>
          <a:prstGeom prst="rect">
            <a:avLst/>
          </a:prstGeom>
        </p:spPr>
      </p:pic>
    </p:spTree>
    <p:extLst>
      <p:ext uri="{BB962C8B-B14F-4D97-AF65-F5344CB8AC3E}">
        <p14:creationId xmlns:p14="http://schemas.microsoft.com/office/powerpoint/2010/main" val="28850404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0-#ppt_w/2"/>
                                          </p:val>
                                        </p:tav>
                                        <p:tav tm="100000">
                                          <p:val>
                                            <p:strVal val="#ppt_x"/>
                                          </p:val>
                                        </p:tav>
                                      </p:tavLst>
                                    </p:anim>
                                    <p:anim calcmode="lin" valueType="num">
                                      <p:cBhvr additive="base">
                                        <p:cTn id="14"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0-#ppt_w/2"/>
                                          </p:val>
                                        </p:tav>
                                        <p:tav tm="100000">
                                          <p:val>
                                            <p:strVal val="#ppt_x"/>
                                          </p:val>
                                        </p:tav>
                                      </p:tavLst>
                                    </p:anim>
                                    <p:anim calcmode="lin" valueType="num">
                                      <p:cBhvr additive="base">
                                        <p:cTn id="26"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0-#ppt_w/2"/>
                                          </p:val>
                                        </p:tav>
                                        <p:tav tm="100000">
                                          <p:val>
                                            <p:strVal val="#ppt_x"/>
                                          </p:val>
                                        </p:tav>
                                      </p:tavLst>
                                    </p:anim>
                                    <p:anim calcmode="lin" valueType="num">
                                      <p:cBhvr additive="base">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0-#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0-#ppt_w/2"/>
                                          </p:val>
                                        </p:tav>
                                        <p:tav tm="100000">
                                          <p:val>
                                            <p:strVal val="#ppt_x"/>
                                          </p:val>
                                        </p:tav>
                                      </p:tavLst>
                                    </p:anim>
                                    <p:anim calcmode="lin" valueType="num">
                                      <p:cBhvr additive="base">
                                        <p:cTn id="50"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500" fill="hold"/>
                                        <p:tgtEl>
                                          <p:spTgt spid="12"/>
                                        </p:tgtEl>
                                        <p:attrNameLst>
                                          <p:attrName>ppt_x</p:attrName>
                                        </p:attrNameLst>
                                      </p:cBhvr>
                                      <p:tavLst>
                                        <p:tav tm="0">
                                          <p:val>
                                            <p:strVal val="0-#ppt_w/2"/>
                                          </p:val>
                                        </p:tav>
                                        <p:tav tm="100000">
                                          <p:val>
                                            <p:strVal val="#ppt_x"/>
                                          </p:val>
                                        </p:tav>
                                      </p:tavLst>
                                    </p:anim>
                                    <p:anim calcmode="lin" valueType="num">
                                      <p:cBhvr additive="base">
                                        <p:cTn id="5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0-#ppt_w/2"/>
                                          </p:val>
                                        </p:tav>
                                        <p:tav tm="100000">
                                          <p:val>
                                            <p:strVal val="#ppt_x"/>
                                          </p:val>
                                        </p:tav>
                                      </p:tavLst>
                                    </p:anim>
                                    <p:anim calcmode="lin" valueType="num">
                                      <p:cBhvr additive="base">
                                        <p:cTn id="62"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nodeType="clickEffect">
                                  <p:stCondLst>
                                    <p:cond delay="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0-#ppt_w/2"/>
                                          </p:val>
                                        </p:tav>
                                        <p:tav tm="100000">
                                          <p:val>
                                            <p:strVal val="#ppt_x"/>
                                          </p:val>
                                        </p:tav>
                                      </p:tavLst>
                                    </p:anim>
                                    <p:anim calcmode="lin" valueType="num">
                                      <p:cBhvr additive="base">
                                        <p:cTn id="68"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500" fill="hold"/>
                                        <p:tgtEl>
                                          <p:spTgt spid="25"/>
                                        </p:tgtEl>
                                        <p:attrNameLst>
                                          <p:attrName>ppt_x</p:attrName>
                                        </p:attrNameLst>
                                      </p:cBhvr>
                                      <p:tavLst>
                                        <p:tav tm="0">
                                          <p:val>
                                            <p:strVal val="0-#ppt_w/2"/>
                                          </p:val>
                                        </p:tav>
                                        <p:tav tm="100000">
                                          <p:val>
                                            <p:strVal val="#ppt_x"/>
                                          </p:val>
                                        </p:tav>
                                      </p:tavLst>
                                    </p:anim>
                                    <p:anim calcmode="lin" valueType="num">
                                      <p:cBhvr additive="base">
                                        <p:cTn id="74"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15"/>
                                        </p:tgtEl>
                                        <p:attrNameLst>
                                          <p:attrName>style.visibility</p:attrName>
                                        </p:attrNameLst>
                                      </p:cBhvr>
                                      <p:to>
                                        <p:strVal val="visible"/>
                                      </p:to>
                                    </p:set>
                                    <p:anim calcmode="lin" valueType="num">
                                      <p:cBhvr additive="base">
                                        <p:cTn id="79" dur="500" fill="hold"/>
                                        <p:tgtEl>
                                          <p:spTgt spid="15"/>
                                        </p:tgtEl>
                                        <p:attrNameLst>
                                          <p:attrName>ppt_x</p:attrName>
                                        </p:attrNameLst>
                                      </p:cBhvr>
                                      <p:tavLst>
                                        <p:tav tm="0">
                                          <p:val>
                                            <p:strVal val="0-#ppt_w/2"/>
                                          </p:val>
                                        </p:tav>
                                        <p:tav tm="100000">
                                          <p:val>
                                            <p:strVal val="#ppt_x"/>
                                          </p:val>
                                        </p:tav>
                                      </p:tavLst>
                                    </p:anim>
                                    <p:anim calcmode="lin" valueType="num">
                                      <p:cBhvr additive="base">
                                        <p:cTn id="8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0-#ppt_w/2"/>
                                          </p:val>
                                        </p:tav>
                                        <p:tav tm="100000">
                                          <p:val>
                                            <p:strVal val="#ppt_x"/>
                                          </p:val>
                                        </p:tav>
                                      </p:tavLst>
                                    </p:anim>
                                    <p:anim calcmode="lin" valueType="num">
                                      <p:cBhvr additive="base">
                                        <p:cTn id="86"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nodeType="clickEffect">
                                  <p:stCondLst>
                                    <p:cond delay="0"/>
                                  </p:stCondLst>
                                  <p:childTnLst>
                                    <p:set>
                                      <p:cBhvr>
                                        <p:cTn id="90" dur="1" fill="hold">
                                          <p:stCondLst>
                                            <p:cond delay="0"/>
                                          </p:stCondLst>
                                        </p:cTn>
                                        <p:tgtEl>
                                          <p:spTgt spid="16"/>
                                        </p:tgtEl>
                                        <p:attrNameLst>
                                          <p:attrName>style.visibility</p:attrName>
                                        </p:attrNameLst>
                                      </p:cBhvr>
                                      <p:to>
                                        <p:strVal val="visible"/>
                                      </p:to>
                                    </p:set>
                                    <p:anim calcmode="lin" valueType="num">
                                      <p:cBhvr additive="base">
                                        <p:cTn id="91" dur="500" fill="hold"/>
                                        <p:tgtEl>
                                          <p:spTgt spid="16"/>
                                        </p:tgtEl>
                                        <p:attrNameLst>
                                          <p:attrName>ppt_x</p:attrName>
                                        </p:attrNameLst>
                                      </p:cBhvr>
                                      <p:tavLst>
                                        <p:tav tm="0">
                                          <p:val>
                                            <p:strVal val="0-#ppt_w/2"/>
                                          </p:val>
                                        </p:tav>
                                        <p:tav tm="100000">
                                          <p:val>
                                            <p:strVal val="#ppt_x"/>
                                          </p:val>
                                        </p:tav>
                                      </p:tavLst>
                                    </p:anim>
                                    <p:anim calcmode="lin" valueType="num">
                                      <p:cBhvr additive="base">
                                        <p:cTn id="92"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0-#ppt_w/2"/>
                                          </p:val>
                                        </p:tav>
                                        <p:tav tm="100000">
                                          <p:val>
                                            <p:strVal val="#ppt_x"/>
                                          </p:val>
                                        </p:tav>
                                      </p:tavLst>
                                    </p:anim>
                                    <p:anim calcmode="lin" valueType="num">
                                      <p:cBhvr additive="base">
                                        <p:cTn id="98" dur="500" fill="hold"/>
                                        <p:tgtEl>
                                          <p:spTgt spid="27"/>
                                        </p:tgtEl>
                                        <p:attrNameLst>
                                          <p:attrName>ppt_y</p:attrName>
                                        </p:attrNameLst>
                                      </p:cBhvr>
                                      <p:tavLst>
                                        <p:tav tm="0">
                                          <p:val>
                                            <p:strVal val="#ppt_y"/>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1000"/>
                                        <p:tgtEl>
                                          <p:spTgt spid="28"/>
                                        </p:tgtEl>
                                      </p:cBhvr>
                                    </p:animEffect>
                                    <p:anim calcmode="lin" valueType="num">
                                      <p:cBhvr>
                                        <p:cTn id="102" dur="1000" fill="hold"/>
                                        <p:tgtEl>
                                          <p:spTgt spid="28"/>
                                        </p:tgtEl>
                                        <p:attrNameLst>
                                          <p:attrName>ppt_x</p:attrName>
                                        </p:attrNameLst>
                                      </p:cBhvr>
                                      <p:tavLst>
                                        <p:tav tm="0">
                                          <p:val>
                                            <p:strVal val="#ppt_x"/>
                                          </p:val>
                                        </p:tav>
                                        <p:tav tm="100000">
                                          <p:val>
                                            <p:strVal val="#ppt_x"/>
                                          </p:val>
                                        </p:tav>
                                      </p:tavLst>
                                    </p:anim>
                                    <p:anim calcmode="lin" valueType="num">
                                      <p:cBhvr>
                                        <p:cTn id="10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19" grpId="0" autoUpdateAnimBg="0"/>
      <p:bldP spid="21" grpId="0" autoUpdateAnimBg="0"/>
      <p:bldP spid="23" grpId="0" autoUpdateAnimBg="0"/>
      <p:bldP spid="24" grpId="0" autoUpdateAnimBg="0"/>
      <p:bldP spid="25" grpId="0" autoUpdateAnimBg="0"/>
      <p:bldP spid="26" grpId="0" autoUpdateAnimBg="0"/>
      <p:bldP spid="27"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zh-CN" altLang="en-US" sz="2000" b="1" dirty="0">
                <a:latin typeface="+mj-lt"/>
                <a:cs typeface="Times New Roman" panose="02020603050405020304" pitchFamily="18" charset="0"/>
              </a:rPr>
              <a:t>1.</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latin typeface="+mj-lt"/>
              </a:rPr>
              <a:t>Identical equation</a:t>
            </a:r>
            <a:r>
              <a:rPr lang="zh-CN" altLang="en-US" sz="2400" b="1" dirty="0">
                <a:latin typeface="+mj-lt"/>
              </a:rPr>
              <a:t>（</a:t>
            </a:r>
            <a:r>
              <a:rPr lang="en-US" altLang="zh-CN" sz="2400" b="1" dirty="0">
                <a:latin typeface="+mj-lt"/>
              </a:rPr>
              <a:t>law</a:t>
            </a:r>
            <a:r>
              <a:rPr lang="zh-CN" altLang="en-US" sz="2400" b="1" dirty="0"/>
              <a:t>）</a:t>
            </a: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28056" y="815366"/>
                <a:ext cx="9082883" cy="54656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marL="0" indent="0">
                  <a:lnSpc>
                    <a:spcPct val="110000"/>
                  </a:lnSpc>
                  <a:buClr>
                    <a:srgbClr val="0B61FF"/>
                  </a:buClr>
                  <a:buSzPct val="80000"/>
                  <a:buNone/>
                </a:pPr>
                <a:r>
                  <a:rPr lang="en-US" altLang="zh-CN" sz="2400" dirty="0">
                    <a:solidFill>
                      <a:srgbClr val="0B61FF"/>
                    </a:solidFill>
                  </a:rPr>
                  <a:t>1. </a:t>
                </a:r>
                <a:r>
                  <a:rPr lang="en-US" altLang="zh-CN" sz="2400" dirty="0"/>
                  <a:t>Idempotent Law: </a:t>
                </a:r>
                <a:r>
                  <a:rPr lang="zh-CN" altLang="en-US" sz="2400" dirty="0">
                    <a:solidFill>
                      <a:srgbClr val="FF0000"/>
                    </a:solidFill>
                    <a:cs typeface="Times New Roman" panose="02020603050405020304" pitchFamily="18" charset="0"/>
                  </a:rPr>
                  <a:t>  </a:t>
                </a:r>
                <a:r>
                  <a:rPr lang="zh-CN" altLang="en-US" sz="2400" dirty="0">
                    <a:cs typeface="Times New Roman" panose="02020603050405020304" pitchFamily="18" charset="0"/>
                  </a:rPr>
                  <a:t> </a:t>
                </a:r>
                <a:r>
                  <a:rPr lang="en-US" altLang="zh-CN" sz="2400" b="1" i="1" dirty="0">
                    <a:cs typeface="Times New Roman" panose="02020603050405020304" pitchFamily="18" charset="0"/>
                  </a:rPr>
                  <a:t>A</a:t>
                </a:r>
                <a:r>
                  <a:rPr kumimoji="1" lang="en-US" altLang="zh-CN" sz="2400" b="1" dirty="0">
                    <a:solidFill>
                      <a:schemeClr val="tx1"/>
                    </a:solidFill>
                    <a:ea typeface="Cambria Math" panose="02040503050406030204" pitchFamily="18" charset="0"/>
                  </a:rPr>
                  <a:t> </a:t>
                </a:r>
                <a14:m>
                  <m:oMath xmlns:m="http://schemas.openxmlformats.org/officeDocument/2006/math">
                    <m:r>
                      <a:rPr kumimoji="1" lang="en-US" altLang="zh-CN" sz="2400" b="1" i="1" smtClean="0">
                        <a:solidFill>
                          <a:schemeClr val="tx1"/>
                        </a:solidFill>
                        <a:latin typeface="Cambria Math" panose="02040503050406030204" pitchFamily="18" charset="0"/>
                        <a:ea typeface="Cambria Math" panose="02040503050406030204" pitchFamily="18" charset="0"/>
                      </a:rPr>
                      <m:t>∪</m:t>
                    </m:r>
                  </m:oMath>
                </a14:m>
                <a:r>
                  <a:rPr lang="zh-CN" altLang="zh-CN" sz="2400" b="1" dirty="0">
                    <a:solidFill>
                      <a:srgbClr val="0B61FF"/>
                    </a:solidFill>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 </a:t>
                </a:r>
                <a:r>
                  <a:rPr lang="en-US" altLang="zh-CN" sz="2400" b="1" i="1" dirty="0">
                    <a:cs typeface="Times New Roman" panose="02020603050405020304" pitchFamily="18" charset="0"/>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endParaRPr lang="en-US" altLang="zh-CN" sz="2400" b="1" dirty="0">
                  <a:cs typeface="Times New Roman" panose="02020603050405020304" pitchFamily="18" charset="0"/>
                  <a:sym typeface="Symbol" panose="05050102010706020507" pitchFamily="18" charset="2"/>
                </a:endParaRPr>
              </a:p>
              <a:p>
                <a:pPr marL="0" indent="0">
                  <a:lnSpc>
                    <a:spcPct val="110000"/>
                  </a:lnSpc>
                  <a:buClr>
                    <a:srgbClr val="0B61FF"/>
                  </a:buClr>
                  <a:buSzPct val="80000"/>
                  <a:buNone/>
                </a:pPr>
                <a:r>
                  <a:rPr lang="en-US" altLang="zh-CN" sz="2400" dirty="0">
                    <a:solidFill>
                      <a:srgbClr val="0B61FF"/>
                    </a:solidFill>
                  </a:rPr>
                  <a:t>2. </a:t>
                </a:r>
                <a:r>
                  <a:rPr lang="en-US" altLang="zh-CN" sz="2400" dirty="0"/>
                  <a:t>Associative Law</a:t>
                </a:r>
                <a:r>
                  <a:rPr lang="en-US" altLang="zh-CN" sz="2400" b="1" dirty="0"/>
                  <a:t>:   </a:t>
                </a:r>
                <a:r>
                  <a:rPr lang="zh-CN" altLang="en-US" sz="2400" b="1" dirty="0">
                    <a:solidFill>
                      <a:srgbClr val="FF0000"/>
                    </a:solidFill>
                  </a:rPr>
                  <a:t> </a:t>
                </a:r>
                <a:r>
                  <a:rPr lang="zh-CN" altLang="en-US" sz="2400" b="1" dirty="0">
                    <a:cs typeface="Times New Roman" panose="02020603050405020304" pitchFamily="18" charset="0"/>
                  </a:rPr>
                  <a:t> (</a:t>
                </a:r>
                <a:r>
                  <a:rPr lang="en-US" altLang="zh-CN" sz="2400" b="1" i="1" dirty="0">
                    <a:cs typeface="Times New Roman" panose="02020603050405020304" pitchFamily="18" charset="0"/>
                  </a:rPr>
                  <a:t>A</a:t>
                </a:r>
                <a:r>
                  <a:rPr kumimoji="1" lang="en-US" altLang="zh-CN" sz="2400" b="1" dirty="0">
                    <a:solidFill>
                      <a:schemeClr val="tx1"/>
                    </a:solidFill>
                    <a:ea typeface="Cambria Math" panose="02040503050406030204" pitchFamily="18" charset="0"/>
                  </a:rPr>
                  <a:t> </a:t>
                </a:r>
                <a14:m>
                  <m:oMath xmlns:m="http://schemas.openxmlformats.org/officeDocument/2006/math">
                    <m:r>
                      <a:rPr kumimoji="1" lang="en-US" altLang="zh-CN" sz="2400" b="1" i="1" smtClean="0">
                        <a:solidFill>
                          <a:schemeClr val="tx1"/>
                        </a:solidFill>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m:t>
                    </m:r>
                  </m:oMath>
                </a14:m>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p>
              <a:p>
                <a:pPr>
                  <a:lnSpc>
                    <a:spcPct val="110000"/>
                  </a:lnSpc>
                  <a:buNone/>
                </a:pPr>
                <a:r>
                  <a:rPr lang="zh-CN" altLang="en-US" sz="2400" b="1" dirty="0">
                    <a:cs typeface="Times New Roman" panose="02020603050405020304" pitchFamily="18" charset="0"/>
                  </a:rPr>
                  <a:t>                                      (</a:t>
                </a:r>
                <a:r>
                  <a:rPr lang="en-US" altLang="zh-CN" sz="2400" b="1" i="1" dirty="0">
                    <a:cs typeface="Times New Roman" panose="02020603050405020304" pitchFamily="18" charset="0"/>
                  </a:rPr>
                  <a:t>A</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m:t>
                    </m:r>
                  </m:oMath>
                </a14:m>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m:t>
                    </m:r>
                  </m:oMath>
                </a14:m>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p>
              <a:p>
                <a:pPr marL="0" indent="0">
                  <a:lnSpc>
                    <a:spcPct val="110000"/>
                  </a:lnSpc>
                  <a:buClr>
                    <a:srgbClr val="0B61FF"/>
                  </a:buClr>
                  <a:buSzPct val="80000"/>
                  <a:buNone/>
                </a:pPr>
                <a:r>
                  <a:rPr lang="en-US" altLang="zh-CN" sz="2400" dirty="0">
                    <a:solidFill>
                      <a:srgbClr val="0B61FF"/>
                    </a:solidFill>
                  </a:rPr>
                  <a:t>3. </a:t>
                </a:r>
                <a:r>
                  <a:rPr lang="en-US" altLang="zh-CN" sz="2400" dirty="0"/>
                  <a:t>Commutative Law: </a:t>
                </a:r>
                <a:r>
                  <a:rPr lang="zh-CN" altLang="en-US" sz="2400" dirty="0">
                    <a:solidFill>
                      <a:srgbClr val="FF0000"/>
                    </a:solidFill>
                  </a:rPr>
                  <a:t> </a:t>
                </a:r>
                <a:r>
                  <a:rPr lang="en-US" altLang="zh-CN" sz="2400" b="1" i="1" dirty="0">
                    <a:cs typeface="Times New Roman" panose="02020603050405020304" pitchFamily="18" charset="0"/>
                  </a:rPr>
                  <a:t>A</a:t>
                </a:r>
                <a:r>
                  <a:rPr kumimoji="1" lang="en-US" altLang="zh-CN" sz="2400" b="1" dirty="0">
                    <a:solidFill>
                      <a:schemeClr val="tx1"/>
                    </a:solidFill>
                    <a:ea typeface="Cambria Math" panose="02040503050406030204" pitchFamily="18" charset="0"/>
                  </a:rPr>
                  <a:t> </a:t>
                </a:r>
                <a14:m>
                  <m:oMath xmlns:m="http://schemas.openxmlformats.org/officeDocument/2006/math">
                    <m:r>
                      <a:rPr kumimoji="1" lang="en-US" altLang="zh-CN" sz="2400" b="1" i="1" smtClean="0">
                        <a:solidFill>
                          <a:schemeClr val="tx1"/>
                        </a:solidFill>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B</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A,    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B</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A</a:t>
                </a:r>
                <a:endParaRPr lang="en-US" altLang="zh-CN" sz="2400" b="1" dirty="0">
                  <a:cs typeface="Times New Roman" panose="02020603050405020304" pitchFamily="18" charset="0"/>
                </a:endParaRPr>
              </a:p>
              <a:p>
                <a:pPr marL="0" indent="0">
                  <a:lnSpc>
                    <a:spcPct val="110000"/>
                  </a:lnSpc>
                  <a:buClr>
                    <a:srgbClr val="0B61FF"/>
                  </a:buClr>
                  <a:buSzPct val="80000"/>
                  <a:buNone/>
                </a:pPr>
                <a:r>
                  <a:rPr lang="en-US" altLang="zh-CN" sz="2400" dirty="0">
                    <a:solidFill>
                      <a:srgbClr val="0B61FF"/>
                    </a:solidFill>
                  </a:rPr>
                  <a:t>4. </a:t>
                </a:r>
                <a:r>
                  <a:rPr lang="en-US" altLang="zh-CN" sz="2400" dirty="0"/>
                  <a:t>Distributive Law:</a:t>
                </a:r>
                <a:r>
                  <a:rPr lang="zh-CN" altLang="en-US" sz="2400" dirty="0">
                    <a:solidFill>
                      <a:srgbClr val="FF0000"/>
                    </a:solidFill>
                    <a:cs typeface="Times New Roman" panose="02020603050405020304" pitchFamily="18" charset="0"/>
                  </a:rPr>
                  <a:t>     </a:t>
                </a:r>
                <a:r>
                  <a:rPr lang="en-US" altLang="zh-CN" sz="2400" b="1" i="1" dirty="0">
                    <a:cs typeface="Times New Roman" panose="02020603050405020304" pitchFamily="18" charset="0"/>
                  </a:rPr>
                  <a:t>A</a:t>
                </a:r>
                <a:r>
                  <a:rPr kumimoji="1" lang="en-US" altLang="zh-CN" sz="2400" b="1" dirty="0">
                    <a:solidFill>
                      <a:schemeClr val="tx1"/>
                    </a:solidFill>
                    <a:ea typeface="Cambria Math" panose="02040503050406030204" pitchFamily="18" charset="0"/>
                  </a:rPr>
                  <a:t> </a:t>
                </a:r>
                <a14:m>
                  <m:oMath xmlns:m="http://schemas.openxmlformats.org/officeDocument/2006/math">
                    <m:r>
                      <a:rPr kumimoji="1" lang="en-US" altLang="zh-CN" sz="2400" b="1" i="1" smtClean="0">
                        <a:solidFill>
                          <a:schemeClr val="tx1"/>
                        </a:solidFill>
                        <a:latin typeface="Cambria Math" panose="02040503050406030204" pitchFamily="18" charset="0"/>
                        <a:ea typeface="Cambria Math" panose="02040503050406030204" pitchFamily="18" charset="0"/>
                      </a:rPr>
                      <m:t>∪</m:t>
                    </m:r>
                  </m:oMath>
                </a14:m>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m:t>
                    </m:r>
                  </m:oMath>
                </a14:m>
                <a:r>
                  <a:rPr lang="en-US" altLang="zh-CN" sz="2400" b="1" dirty="0">
                    <a:cs typeface="Times New Roman" panose="02020603050405020304" pitchFamily="18" charset="0"/>
                  </a:rPr>
                  <a:t> (</a:t>
                </a:r>
                <a:r>
                  <a:rPr lang="en-US" altLang="zh-CN" sz="2400" b="1" i="1" dirty="0">
                    <a:cs typeface="Times New Roman" panose="02020603050405020304" pitchFamily="18" charset="0"/>
                    <a:sym typeface="Symbol" panose="05050102010706020507" pitchFamily="18" charset="2"/>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p>
              <a:p>
                <a:pPr>
                  <a:lnSpc>
                    <a:spcPct val="110000"/>
                  </a:lnSpc>
                  <a:buFontTx/>
                  <a:buNone/>
                </a:pPr>
                <a:r>
                  <a:rPr lang="en-US" altLang="zh-CN" sz="2400" i="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sym typeface="Symbol" panose="05050102010706020507" pitchFamily="18" charset="2"/>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m:t>
                    </m:r>
                  </m:oMath>
                </a14:m>
                <a:r>
                  <a:rPr lang="en-US" altLang="zh-CN" sz="2400" b="1" dirty="0">
                    <a:cs typeface="Times New Roman" panose="02020603050405020304" pitchFamily="18" charset="0"/>
                  </a:rPr>
                  <a:t> (</a:t>
                </a:r>
                <a:r>
                  <a:rPr lang="en-US" altLang="zh-CN" sz="2400" b="1" i="1" dirty="0">
                    <a:cs typeface="Times New Roman" panose="02020603050405020304" pitchFamily="18" charset="0"/>
                    <a:sym typeface="Symbol" panose="05050102010706020507" pitchFamily="18" charset="2"/>
                  </a:rPr>
                  <a:t>B</a:t>
                </a:r>
                <a:r>
                  <a:rPr kumimoji="1" lang="en-US" altLang="zh-CN" sz="2400" b="1" dirty="0">
                    <a:solidFill>
                      <a:schemeClr val="tx1"/>
                    </a:solidFill>
                    <a:ea typeface="Cambria Math" panose="02040503050406030204" pitchFamily="18" charset="0"/>
                  </a:rPr>
                  <a:t> </a:t>
                </a:r>
                <a14:m>
                  <m:oMath xmlns:m="http://schemas.openxmlformats.org/officeDocument/2006/math">
                    <m:r>
                      <a:rPr kumimoji="1" lang="en-US" altLang="zh-CN" sz="2400" b="1" i="1" smtClean="0">
                        <a:solidFill>
                          <a:schemeClr val="tx1"/>
                        </a:solidFill>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m:t>
                    </m:r>
                  </m:oMath>
                </a14:m>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p>
              <a:p>
                <a:pPr marL="0" indent="0">
                  <a:lnSpc>
                    <a:spcPct val="110000"/>
                  </a:lnSpc>
                  <a:buClr>
                    <a:srgbClr val="0B61FF"/>
                  </a:buClr>
                  <a:buSzPct val="80000"/>
                  <a:buNone/>
                </a:pPr>
                <a:r>
                  <a:rPr lang="en-US" altLang="zh-CN" sz="2400" dirty="0">
                    <a:solidFill>
                      <a:srgbClr val="0B61FF"/>
                    </a:solidFill>
                  </a:rPr>
                  <a:t>5. </a:t>
                </a:r>
                <a:r>
                  <a:rPr lang="en-US" altLang="zh-CN" sz="2400" dirty="0"/>
                  <a:t>Identity Law :            </a:t>
                </a:r>
                <a:r>
                  <a:rPr lang="en-US" altLang="zh-CN" sz="2400" b="1" i="1" dirty="0">
                    <a:cs typeface="Times New Roman" panose="02020603050405020304" pitchFamily="18" charset="0"/>
                  </a:rPr>
                  <a:t>A</a:t>
                </a:r>
                <a:r>
                  <a:rPr kumimoji="1" lang="en-US" altLang="zh-CN" sz="2400" b="1" dirty="0">
                    <a:solidFill>
                      <a:schemeClr val="tx1"/>
                    </a:solidFill>
                    <a:ea typeface="Cambria Math" panose="02040503050406030204" pitchFamily="18" charset="0"/>
                  </a:rPr>
                  <a:t> </a:t>
                </a:r>
                <a14:m>
                  <m:oMath xmlns:m="http://schemas.openxmlformats.org/officeDocument/2006/math">
                    <m:r>
                      <a:rPr kumimoji="1" lang="en-US" altLang="zh-CN" sz="2400" b="1" i="1" smtClean="0">
                        <a:solidFill>
                          <a:schemeClr val="tx1"/>
                        </a:solidFill>
                        <a:latin typeface="Cambria Math" panose="02040503050406030204" pitchFamily="18" charset="0"/>
                        <a:ea typeface="Cambria Math" panose="02040503050406030204" pitchFamily="18" charset="0"/>
                      </a:rPr>
                      <m:t>∪ </m:t>
                    </m:r>
                  </m:oMath>
                </a14:m>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  </a:t>
                </a:r>
                <a:r>
                  <a:rPr lang="en-US" altLang="zh-CN" sz="2400" b="1" i="1" dirty="0">
                    <a:cs typeface="Times New Roman" panose="02020603050405020304" pitchFamily="18" charset="0"/>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E</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p>
              <a:p>
                <a:pPr marL="0" indent="0">
                  <a:lnSpc>
                    <a:spcPct val="110000"/>
                  </a:lnSpc>
                  <a:buClr>
                    <a:srgbClr val="0B61FF"/>
                  </a:buClr>
                  <a:buSzPct val="80000"/>
                  <a:buNone/>
                </a:pPr>
                <a:r>
                  <a:rPr lang="en-US" altLang="zh-CN" sz="2400" dirty="0">
                    <a:solidFill>
                      <a:srgbClr val="0B61FF"/>
                    </a:solidFill>
                  </a:rPr>
                  <a:t>6. </a:t>
                </a:r>
                <a:r>
                  <a:rPr lang="en-US" altLang="zh-CN" sz="2400" dirty="0"/>
                  <a:t>Zero Law :                  </a:t>
                </a:r>
                <a:r>
                  <a:rPr lang="en-US" altLang="zh-CN" sz="2400" b="1" i="1" dirty="0">
                    <a:cs typeface="Times New Roman" panose="02020603050405020304" pitchFamily="18" charset="0"/>
                  </a:rPr>
                  <a:t>A</a:t>
                </a:r>
                <a:r>
                  <a:rPr kumimoji="1" lang="en-US" altLang="zh-CN" sz="2400" b="1" dirty="0">
                    <a:solidFill>
                      <a:schemeClr val="tx1"/>
                    </a:solidFill>
                    <a:ea typeface="Cambria Math" panose="02040503050406030204" pitchFamily="18" charset="0"/>
                  </a:rPr>
                  <a:t> </a:t>
                </a:r>
                <a14:m>
                  <m:oMath xmlns:m="http://schemas.openxmlformats.org/officeDocument/2006/math">
                    <m:r>
                      <a:rPr kumimoji="1" lang="en-US" altLang="zh-CN" sz="2400" b="1" i="1" smtClean="0">
                        <a:solidFill>
                          <a:schemeClr val="tx1"/>
                        </a:solidFill>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E</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E,   </a:t>
                </a:r>
                <a:r>
                  <a:rPr lang="en-US" altLang="zh-CN" sz="2400" b="1" i="1" dirty="0">
                    <a:cs typeface="Times New Roman" panose="02020603050405020304" pitchFamily="18" charset="0"/>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kumimoji="1" lang="en-US" altLang="zh-CN" sz="2400" b="1" dirty="0">
                    <a:latin typeface="Cambria Math" panose="02040503050406030204" pitchFamily="18" charset="0"/>
                    <a:ea typeface="Cambria Math" panose="02040503050406030204" pitchFamily="18" charset="0"/>
                  </a:rPr>
                  <a:t>=</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cs typeface="Times New Roman" panose="02020603050405020304" pitchFamily="18" charset="0"/>
                    <a:sym typeface="Symbol" panose="05050102010706020507" pitchFamily="18" charset="2"/>
                  </a:rPr>
                  <a:t> </a:t>
                </a:r>
                <a:r>
                  <a:rPr lang="zh-CN" altLang="en-US" sz="2400" b="1" dirty="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sym typeface="Symbol" panose="05050102010706020507" pitchFamily="18" charset="2"/>
                  </a:rPr>
                  <a:t>E is </a:t>
                </a:r>
                <a:r>
                  <a:rPr lang="en-US" altLang="zh-CN" sz="2400" b="1" dirty="0"/>
                  <a:t>universal set </a:t>
                </a:r>
                <a:endParaRPr lang="en-US" altLang="zh-CN" sz="2400" b="1" dirty="0">
                  <a:cs typeface="Times New Roman" panose="02020603050405020304" pitchFamily="18" charset="0"/>
                  <a:sym typeface="Symbol" panose="05050102010706020507" pitchFamily="18" charset="2"/>
                </a:endParaRPr>
              </a:p>
              <a:p>
                <a:pPr marL="0" indent="0">
                  <a:lnSpc>
                    <a:spcPct val="110000"/>
                  </a:lnSpc>
                  <a:buClr>
                    <a:srgbClr val="0B61FF"/>
                  </a:buClr>
                  <a:buSzPct val="80000"/>
                  <a:buNone/>
                </a:pPr>
                <a:r>
                  <a:rPr lang="en-US" altLang="zh-CN" sz="2400" dirty="0">
                    <a:solidFill>
                      <a:srgbClr val="0B61FF"/>
                    </a:solidFill>
                  </a:rPr>
                  <a:t>7. </a:t>
                </a:r>
                <a:r>
                  <a:rPr lang="en-US" altLang="zh-CN" sz="2400" dirty="0"/>
                  <a:t>Law of Excluded Middle:</a:t>
                </a:r>
                <a:r>
                  <a:rPr lang="zh-CN" altLang="en-US" sz="2400" dirty="0">
                    <a:cs typeface="Times New Roman" panose="02020603050405020304" pitchFamily="18" charset="0"/>
                  </a:rPr>
                  <a:t>	 </a:t>
                </a:r>
                <a:r>
                  <a:rPr lang="en-US" altLang="zh-CN" sz="2400" b="1" i="1" dirty="0">
                    <a:cs typeface="Times New Roman" panose="02020603050405020304" pitchFamily="18" charset="0"/>
                  </a:rPr>
                  <a:t>A</a:t>
                </a:r>
                <a:r>
                  <a:rPr kumimoji="1" lang="en-US" altLang="zh-CN" sz="2400" b="1" dirty="0">
                    <a:solidFill>
                      <a:schemeClr val="tx1"/>
                    </a:solidFill>
                    <a:ea typeface="Cambria Math" panose="02040503050406030204" pitchFamily="18" charset="0"/>
                  </a:rPr>
                  <a:t> </a:t>
                </a:r>
                <a14:m>
                  <m:oMath xmlns:m="http://schemas.openxmlformats.org/officeDocument/2006/math">
                    <m:r>
                      <a:rPr kumimoji="1" lang="en-US" altLang="zh-CN" sz="2400" b="1" i="1" smtClean="0">
                        <a:solidFill>
                          <a:schemeClr val="tx1"/>
                        </a:solidFill>
                        <a:latin typeface="Cambria Math" panose="02040503050406030204" pitchFamily="18" charset="0"/>
                        <a:ea typeface="Cambria Math" panose="02040503050406030204" pitchFamily="18" charset="0"/>
                      </a:rPr>
                      <m:t>∪ </m:t>
                    </m:r>
                  </m:oMath>
                </a14:m>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E</a:t>
                </a:r>
                <a:endParaRPr lang="zh-CN" altLang="en-US" sz="2400" b="1" dirty="0">
                  <a:cs typeface="Times New Roman" panose="02020603050405020304" pitchFamily="18" charset="0"/>
                  <a:sym typeface="Symbol" panose="05050102010706020507" pitchFamily="18" charset="2"/>
                </a:endParaRPr>
              </a:p>
              <a:p>
                <a:pPr>
                  <a:buFontTx/>
                  <a:buNone/>
                </a:pPr>
                <a:endParaRPr lang="en-US" altLang="zh-CN" sz="2800" b="1" dirty="0">
                  <a:cs typeface="Times New Roman" panose="02020603050405020304" pitchFamily="18" charset="0"/>
                  <a:sym typeface="Symbol" panose="05050102010706020507" pitchFamily="18" charset="2"/>
                </a:endParaRPr>
              </a:p>
            </p:txBody>
          </p:sp>
        </mc:Choice>
        <mc:Fallback xmlns="">
          <p:sp>
            <p:nvSpPr>
              <p:cNvPr id="7" name="Rectangle 3">
                <a:extLst>
                  <a:ext uri="{FF2B5EF4-FFF2-40B4-BE49-F238E27FC236}">
                    <a16:creationId xmlns:a16="http://schemas.microsoft.com/office/drawing/2014/main" id="{0C4AA291-0DD5-4B8E-8AC2-D1DBF361E49D}"/>
                  </a:ext>
                </a:extLst>
              </p:cNvPr>
              <p:cNvSpPr txBox="1">
                <a:spLocks noRot="1" noChangeAspect="1" noMove="1" noResize="1" noEditPoints="1" noAdjustHandles="1" noChangeArrowheads="1" noChangeShapeType="1" noTextEdit="1"/>
              </p:cNvSpPr>
              <p:nvPr/>
            </p:nvSpPr>
            <p:spPr>
              <a:xfrm>
                <a:off x="1328056" y="815366"/>
                <a:ext cx="9082883" cy="5465692"/>
              </a:xfrm>
              <a:prstGeom prst="rect">
                <a:avLst/>
              </a:prstGeom>
              <a:blipFill>
                <a:blip r:embed="rId5"/>
                <a:stretch>
                  <a:fillRect l="-10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945464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zh-CN" altLang="en-US" sz="2000" b="1" dirty="0">
                <a:latin typeface="+mj-lt"/>
                <a:cs typeface="Times New Roman" panose="02020603050405020304" pitchFamily="18" charset="0"/>
              </a:rPr>
              <a:t>1.</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latin typeface="+mj-lt"/>
              </a:rPr>
              <a:t>Identical equation</a:t>
            </a:r>
            <a:r>
              <a:rPr lang="zh-CN" altLang="en-US" sz="2400" b="1" dirty="0">
                <a:latin typeface="+mj-lt"/>
              </a:rPr>
              <a:t>（</a:t>
            </a:r>
            <a:r>
              <a:rPr lang="en-US" altLang="zh-CN" sz="2400" b="1" dirty="0">
                <a:latin typeface="+mj-lt"/>
              </a:rPr>
              <a:t>law</a:t>
            </a:r>
            <a:r>
              <a:rPr lang="zh-CN" altLang="en-US" sz="2400" b="1" dirty="0"/>
              <a:t>）</a:t>
            </a:r>
            <a:endParaRPr lang="zh-CN" altLang="en-US" sz="20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752901"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nSpc>
                    <a:spcPct val="120000"/>
                  </a:lnSpc>
                  <a:spcBef>
                    <a:spcPct val="40000"/>
                  </a:spcBef>
                  <a:buNone/>
                </a:pPr>
                <a:r>
                  <a:rPr lang="en-US" altLang="zh-CN" sz="2400" dirty="0">
                    <a:solidFill>
                      <a:srgbClr val="0B61FF"/>
                    </a:solidFill>
                  </a:rPr>
                  <a:t>8</a:t>
                </a:r>
                <a:r>
                  <a:rPr lang="zh-CN" altLang="en-US" sz="2400" dirty="0">
                    <a:solidFill>
                      <a:srgbClr val="0B61FF"/>
                    </a:solidFill>
                  </a:rPr>
                  <a:t>. </a:t>
                </a:r>
                <a:r>
                  <a:rPr lang="en-US" altLang="zh-CN" sz="2400" dirty="0"/>
                  <a:t>Law of Contradiction:</a:t>
                </a:r>
                <a:r>
                  <a:rPr lang="zh-CN" altLang="en-US" sz="2400" dirty="0"/>
                  <a:t>     </a:t>
                </a:r>
                <a:r>
                  <a:rPr lang="en-US" altLang="zh-CN" sz="2400" b="1" i="1" dirty="0">
                    <a:cs typeface="Times New Roman" panose="02020603050405020304" pitchFamily="18" charset="0"/>
                  </a:rPr>
                  <a:t>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 </m:t>
                    </m:r>
                  </m:oMath>
                </a14:m>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i="1" dirty="0">
                    <a:cs typeface="Times New Roman" panose="02020603050405020304" pitchFamily="18" charset="0"/>
                  </a:rPr>
                  <a:t>A</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a:t>
                </a:r>
                <a:endParaRPr lang="zh-CN" altLang="en-US" sz="2400" b="1" dirty="0">
                  <a:cs typeface="Times New Roman" panose="02020603050405020304" pitchFamily="18" charset="0"/>
                  <a:sym typeface="Symbol" panose="05050102010706020507" pitchFamily="18" charset="2"/>
                </a:endParaRPr>
              </a:p>
              <a:p>
                <a:pPr>
                  <a:lnSpc>
                    <a:spcPct val="120000"/>
                  </a:lnSpc>
                  <a:spcBef>
                    <a:spcPct val="40000"/>
                  </a:spcBef>
                  <a:buNone/>
                </a:pPr>
                <a:r>
                  <a:rPr lang="en-US" altLang="zh-CN" sz="2400" dirty="0">
                    <a:solidFill>
                      <a:srgbClr val="0B61FF"/>
                    </a:solidFill>
                  </a:rPr>
                  <a:t>9</a:t>
                </a:r>
                <a:r>
                  <a:rPr lang="zh-CN" altLang="en-US" sz="2400" dirty="0">
                    <a:solidFill>
                      <a:srgbClr val="0B61FF"/>
                    </a:solidFill>
                  </a:rPr>
                  <a:t>.</a:t>
                </a:r>
                <a:r>
                  <a:rPr lang="en-US" altLang="zh-CN" sz="2400" dirty="0">
                    <a:solidFill>
                      <a:srgbClr val="0B61FF"/>
                    </a:solidFill>
                  </a:rPr>
                  <a:t> </a:t>
                </a:r>
                <a:r>
                  <a:rPr lang="en-US" altLang="zh-CN" sz="2400" dirty="0">
                    <a:cs typeface="Times New Roman" panose="02020603050405020304" pitchFamily="18" charset="0"/>
                  </a:rPr>
                  <a:t>Absorption Law:</a:t>
                </a:r>
                <a:r>
                  <a:rPr lang="zh-CN" altLang="en-US" sz="2400" dirty="0">
                    <a:cs typeface="Times New Roman" panose="02020603050405020304" pitchFamily="18" charset="0"/>
                  </a:rPr>
                  <a:t>	   </a:t>
                </a:r>
                <a:r>
                  <a:rPr lang="en-US" altLang="zh-CN" sz="2400" b="1" i="1" dirty="0">
                    <a:cs typeface="Times New Roman" panose="02020603050405020304" pitchFamily="18" charset="0"/>
                  </a:rPr>
                  <a:t>A</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kumimoji="1" lang="en-US" altLang="zh-CN" sz="2400" b="1" dirty="0">
                    <a:ea typeface="Cambria Math" panose="02040503050406030204" pitchFamily="18" charset="0"/>
                  </a:rPr>
                  <a:t> </a:t>
                </a:r>
                <a14:m>
                  <m:oMath xmlns:m="http://schemas.openxmlformats.org/officeDocument/2006/math">
                    <m:r>
                      <a:rPr kumimoji="1" lang="en-US" altLang="zh-CN" sz="2400" b="1">
                        <a:latin typeface="Cambria Math" panose="02040503050406030204" pitchFamily="18" charset="0"/>
                        <a:ea typeface="Cambria Math" panose="02040503050406030204" pitchFamily="18" charset="0"/>
                      </a:rPr>
                      <m:t>∩ </m:t>
                    </m:r>
                  </m:oMath>
                </a14:m>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    A</a:t>
                </a:r>
                <a:r>
                  <a:rPr kumimoji="1" lang="en-US" altLang="zh-CN" sz="2400" b="1" dirty="0">
                    <a:ea typeface="Cambria Math" panose="02040503050406030204" pitchFamily="18" charset="0"/>
                  </a:rPr>
                  <a:t> </a:t>
                </a:r>
                <a14:m>
                  <m:oMath xmlns:m="http://schemas.openxmlformats.org/officeDocument/2006/math">
                    <m:r>
                      <a:rPr kumimoji="1" lang="en-US" altLang="zh-CN" sz="2400" b="1" i="1">
                        <a:latin typeface="Cambria Math" panose="02040503050406030204" pitchFamily="18" charset="0"/>
                        <a:ea typeface="Cambria Math" panose="02040503050406030204" pitchFamily="18" charset="0"/>
                      </a:rPr>
                      <m:t>∩</m:t>
                    </m:r>
                  </m:oMath>
                </a14:m>
                <a:r>
                  <a:rPr lang="en-US" altLang="zh-CN" sz="2400" b="1" dirty="0">
                    <a:cs typeface="Times New Roman" panose="02020603050405020304" pitchFamily="18" charset="0"/>
                  </a:rPr>
                  <a:t> (</a:t>
                </a:r>
                <a:r>
                  <a:rPr lang="en-US" altLang="zh-CN" sz="2400" b="1" i="1" dirty="0">
                    <a:cs typeface="Times New Roman" panose="02020603050405020304" pitchFamily="18" charset="0"/>
                    <a:sym typeface="Symbol" panose="05050102010706020507" pitchFamily="18" charset="2"/>
                  </a:rPr>
                  <a:t>A</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p>
              <a:p>
                <a:pPr>
                  <a:lnSpc>
                    <a:spcPct val="120000"/>
                  </a:lnSpc>
                  <a:buFontTx/>
                  <a:buNone/>
                </a:pPr>
                <a:r>
                  <a:rPr lang="en-US" altLang="zh-CN" sz="2400" dirty="0">
                    <a:solidFill>
                      <a:srgbClr val="0B61FF"/>
                    </a:solidFill>
                  </a:rPr>
                  <a:t>10</a:t>
                </a:r>
                <a:r>
                  <a:rPr lang="zh-CN" altLang="en-US" sz="2400" dirty="0">
                    <a:solidFill>
                      <a:srgbClr val="0B61FF"/>
                    </a:solidFill>
                  </a:rPr>
                  <a:t>. </a:t>
                </a:r>
                <a:r>
                  <a:rPr lang="en-US" altLang="zh-CN" sz="2400" dirty="0"/>
                  <a:t>De</a:t>
                </a:r>
                <a:r>
                  <a:rPr lang="zh-CN" altLang="en-US" sz="2400" dirty="0"/>
                  <a:t> </a:t>
                </a:r>
                <a:r>
                  <a:rPr lang="en-US" altLang="zh-CN" sz="2400" dirty="0"/>
                  <a:t>Morgan’s Laws:</a:t>
                </a:r>
                <a:endParaRPr lang="zh-CN" altLang="en-US" sz="2400" dirty="0"/>
              </a:p>
              <a:p>
                <a:pPr>
                  <a:lnSpc>
                    <a:spcPct val="120000"/>
                  </a:lnSpc>
                  <a:buFontTx/>
                  <a:buNone/>
                </a:pPr>
                <a:r>
                  <a:rPr lang="en-US" altLang="zh-CN" sz="2400" dirty="0"/>
                  <a:t>    Absolute</a:t>
                </a:r>
                <a:r>
                  <a:rPr lang="zh-CN" altLang="en-US" sz="2400" dirty="0"/>
                  <a:t> </a:t>
                </a:r>
                <a:r>
                  <a:rPr lang="en-US" altLang="zh-CN" sz="2400" dirty="0"/>
                  <a:t>Form:  </a:t>
                </a:r>
                <a:r>
                  <a:rPr lang="zh-CN" altLang="en-US" sz="2400" b="1" dirty="0">
                    <a:cs typeface="Times New Roman" panose="02020603050405020304" pitchFamily="18" charset="0"/>
                    <a:sym typeface="Symbol" panose="05050102010706020507" pitchFamily="18" charset="2"/>
                  </a:rPr>
                  <a:t></a:t>
                </a:r>
                <a:r>
                  <a:rPr lang="zh-CN" altLang="en-US"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cs typeface="Times New Roman" panose="02020603050405020304" pitchFamily="18" charset="0"/>
                  </a:rPr>
                  <a:t>B </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a:t>
                </a:r>
                <a:r>
                  <a:rPr lang="en-US" altLang="zh-CN" sz="2400" b="1" i="1" dirty="0">
                    <a:cs typeface="Times New Roman" panose="02020603050405020304" pitchFamily="18" charset="0"/>
                  </a:rPr>
                  <a:t>C,     </a:t>
                </a:r>
                <a:r>
                  <a:rPr lang="en-US" altLang="zh-CN" sz="2400" b="1" dirty="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a:t>
                </a:r>
                <a:r>
                  <a:rPr lang="en-US" altLang="zh-CN" sz="2400" b="1" i="1" dirty="0">
                    <a:cs typeface="Times New Roman" panose="02020603050405020304" pitchFamily="18" charset="0"/>
                  </a:rPr>
                  <a:t>B</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a:t>
                </a:r>
                <a:r>
                  <a:rPr lang="en-US" altLang="zh-CN" sz="2400" b="1" i="1" dirty="0">
                    <a:cs typeface="Times New Roman" panose="02020603050405020304" pitchFamily="18" charset="0"/>
                  </a:rPr>
                  <a:t>C</a:t>
                </a:r>
                <a:endParaRPr lang="en-US" altLang="zh-CN" sz="2400" b="1" dirty="0">
                  <a:cs typeface="Times New Roman" panose="02020603050405020304" pitchFamily="18" charset="0"/>
                </a:endParaRPr>
              </a:p>
              <a:p>
                <a:pPr eaLnBrk="1" hangingPunct="1">
                  <a:lnSpc>
                    <a:spcPct val="120000"/>
                  </a:lnSpc>
                  <a:buFontTx/>
                  <a:buNone/>
                </a:pPr>
                <a:r>
                  <a:rPr lang="en-US" altLang="zh-CN" sz="2400" i="1" dirty="0">
                    <a:cs typeface="Times New Roman" panose="02020603050405020304" pitchFamily="18" charset="0"/>
                  </a:rPr>
                  <a:t>    </a:t>
                </a:r>
                <a:r>
                  <a:rPr lang="en-US" altLang="zh-CN" sz="2400" dirty="0"/>
                  <a:t>Relative Form: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 </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p>
              <a:p>
                <a:pPr>
                  <a:lnSpc>
                    <a:spcPct val="120000"/>
                  </a:lnSpc>
                  <a:buFontTx/>
                  <a:buNone/>
                </a:pPr>
                <a:r>
                  <a:rPr lang="en-US" altLang="zh-CN" sz="2400" i="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endParaRPr lang="zh-CN" altLang="en-US" sz="2400" b="1" dirty="0"/>
              </a:p>
              <a:p>
                <a:pPr>
                  <a:lnSpc>
                    <a:spcPct val="120000"/>
                  </a:lnSpc>
                  <a:spcBef>
                    <a:spcPct val="40000"/>
                  </a:spcBef>
                  <a:buNone/>
                </a:pPr>
                <a:r>
                  <a:rPr lang="zh-CN" altLang="en-US" sz="2400" dirty="0">
                    <a:solidFill>
                      <a:srgbClr val="0B61FF"/>
                    </a:solidFill>
                    <a:sym typeface="Symbol" panose="05050102010706020507" pitchFamily="18" charset="2"/>
                  </a:rPr>
                  <a:t>11. </a:t>
                </a:r>
                <a:r>
                  <a:rPr lang="en-US" altLang="zh-CN" sz="2400" dirty="0"/>
                  <a:t>Complementation Law:</a:t>
                </a:r>
                <a:r>
                  <a:rPr lang="zh-CN" altLang="en-US" sz="2400" dirty="0">
                    <a:sym typeface="Symbol" panose="05050102010706020507" pitchFamily="18" charset="2"/>
                  </a:rPr>
                  <a:t>            </a:t>
                </a:r>
                <a:r>
                  <a:rPr lang="zh-CN" altLang="en-US" sz="2400" b="1" dirty="0">
                    <a:cs typeface="Times New Roman" panose="02020603050405020304" pitchFamily="18" charset="0"/>
                    <a:sym typeface="Symbol" panose="05050102010706020507" pitchFamily="18" charset="2"/>
                  </a:rPr>
                  <a:t></a:t>
                </a:r>
                <a:r>
                  <a:rPr lang="zh-CN" altLang="en-US"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E,  </a:t>
                </a:r>
                <a:r>
                  <a:rPr lang="zh-CN" altLang="en-US" sz="2400" b="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rPr>
                  <a:t>E</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endParaRPr lang="zh-CN" altLang="en-US" sz="2400" b="1" dirty="0">
                  <a:latin typeface="Cambria Math" panose="02040503050406030204" pitchFamily="18" charset="0"/>
                  <a:sym typeface="Symbol" panose="05050102010706020507" pitchFamily="18" charset="2"/>
                </a:endParaRPr>
              </a:p>
              <a:p>
                <a:pPr>
                  <a:lnSpc>
                    <a:spcPct val="120000"/>
                  </a:lnSpc>
                  <a:spcBef>
                    <a:spcPct val="40000"/>
                  </a:spcBef>
                  <a:buNone/>
                </a:pPr>
                <a:r>
                  <a:rPr lang="zh-CN" altLang="en-US" sz="2400" dirty="0">
                    <a:solidFill>
                      <a:srgbClr val="0B61FF"/>
                    </a:solidFill>
                  </a:rPr>
                  <a:t>12. </a:t>
                </a:r>
                <a:r>
                  <a:rPr lang="en-US" altLang="zh-CN" sz="2400" dirty="0"/>
                  <a:t>Double Negation Law:     </a:t>
                </a:r>
                <a:r>
                  <a:rPr lang="zh-CN" altLang="en-US" sz="2400" b="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endParaRPr lang="zh-CN" altLang="en-US" sz="2400" b="1" dirty="0">
                  <a:cs typeface="Times New Roman" panose="02020603050405020304" pitchFamily="18" charset="0"/>
                  <a:sym typeface="Symbol" panose="05050102010706020507" pitchFamily="18" charset="2"/>
                </a:endParaRPr>
              </a:p>
              <a:p>
                <a:pPr eaLnBrk="1" hangingPunct="1">
                  <a:lnSpc>
                    <a:spcPct val="120000"/>
                  </a:lnSpc>
                  <a:spcBef>
                    <a:spcPct val="40000"/>
                  </a:spcBef>
                  <a:buFontTx/>
                  <a:buNone/>
                </a:pPr>
                <a:r>
                  <a:rPr lang="zh-CN" altLang="en-US" sz="2400" dirty="0">
                    <a:solidFill>
                      <a:srgbClr val="0B61FF"/>
                    </a:solidFill>
                    <a:sym typeface="Symbol" panose="05050102010706020507" pitchFamily="18" charset="2"/>
                  </a:rPr>
                  <a:t>1</a:t>
                </a:r>
                <a:r>
                  <a:rPr lang="en-US" altLang="zh-CN" sz="2400" dirty="0">
                    <a:solidFill>
                      <a:srgbClr val="0B61FF"/>
                    </a:solidFill>
                    <a:sym typeface="Symbol" panose="05050102010706020507" pitchFamily="18" charset="2"/>
                  </a:rPr>
                  <a:t>3</a:t>
                </a:r>
                <a:r>
                  <a:rPr lang="zh-CN" altLang="en-US" sz="2400" dirty="0">
                    <a:solidFill>
                      <a:srgbClr val="0B61FF"/>
                    </a:solidFill>
                    <a:sym typeface="Symbol" panose="05050102010706020507" pitchFamily="18" charset="2"/>
                  </a:rPr>
                  <a:t>. </a:t>
                </a:r>
                <a:r>
                  <a:rPr lang="en-US" altLang="zh-CN" sz="2400" dirty="0"/>
                  <a:t>Complement and Intersection Conversion Law:    </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endParaRPr lang="zh-CN" altLang="en-US" sz="2400" b="1" dirty="0"/>
              </a:p>
            </p:txBody>
          </p:sp>
        </mc:Choice>
        <mc:Fallback xmlns="">
          <p:sp>
            <p:nvSpPr>
              <p:cNvPr id="7" name="Rectangle 3">
                <a:extLst>
                  <a:ext uri="{FF2B5EF4-FFF2-40B4-BE49-F238E27FC236}">
                    <a16:creationId xmlns:a16="http://schemas.microsoft.com/office/drawing/2014/main" id="{0C4AA291-0DD5-4B8E-8AC2-D1DBF361E49D}"/>
                  </a:ext>
                </a:extLst>
              </p:cNvPr>
              <p:cNvSpPr txBox="1">
                <a:spLocks noRot="1" noChangeAspect="1" noMove="1" noResize="1" noEditPoints="1" noAdjustHandles="1" noChangeArrowheads="1" noChangeShapeType="1" noTextEdit="1"/>
              </p:cNvSpPr>
              <p:nvPr/>
            </p:nvSpPr>
            <p:spPr>
              <a:xfrm>
                <a:off x="1371599" y="765175"/>
                <a:ext cx="8752901" cy="5788025"/>
              </a:xfrm>
              <a:prstGeom prst="rect">
                <a:avLst/>
              </a:prstGeom>
              <a:blipFill>
                <a:blip r:embed="rId5"/>
                <a:stretch>
                  <a:fillRect l="-10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76382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zh-CN" altLang="en-US" sz="2000" b="1" dirty="0">
                <a:latin typeface="+mj-lt"/>
                <a:cs typeface="Times New Roman" panose="02020603050405020304" pitchFamily="18" charset="0"/>
              </a:rPr>
              <a:t>1.</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latin typeface="+mj-lt"/>
              </a:rPr>
              <a:t>Identical equation</a:t>
            </a:r>
            <a:r>
              <a:rPr lang="zh-CN" altLang="en-US" sz="2400" b="1" dirty="0">
                <a:latin typeface="+mj-lt"/>
              </a:rPr>
              <a:t>（</a:t>
            </a:r>
            <a:r>
              <a:rPr lang="en-US" altLang="zh-CN" sz="2400" b="1" dirty="0">
                <a:latin typeface="+mj-lt"/>
              </a:rPr>
              <a:t>law</a:t>
            </a:r>
            <a:r>
              <a:rPr lang="zh-CN" altLang="en-US" sz="2400" b="1" dirty="0"/>
              <a:t>）</a:t>
            </a:r>
            <a:endParaRPr lang="zh-CN" altLang="en-US" sz="20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8" y="765175"/>
            <a:ext cx="10165003"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buFontTx/>
              <a:buNone/>
            </a:pPr>
            <a:r>
              <a:rPr lang="zh-CN" altLang="en-US" sz="2400" dirty="0">
                <a:solidFill>
                  <a:srgbClr val="0B61FF"/>
                </a:solidFill>
              </a:rPr>
              <a:t>14. </a:t>
            </a:r>
            <a:r>
              <a:rPr lang="en-US" altLang="zh-CN" sz="2400" dirty="0"/>
              <a:t>Identities of Symmetric Difference</a:t>
            </a:r>
            <a:endParaRPr lang="zh-CN" altLang="en-US" sz="2400" dirty="0">
              <a:solidFill>
                <a:srgbClr val="FF0000"/>
              </a:solidFill>
            </a:endParaRPr>
          </a:p>
          <a:p>
            <a:pPr eaLnBrk="1" hangingPunct="1">
              <a:buFontTx/>
              <a:buNone/>
            </a:pPr>
            <a:r>
              <a:rPr lang="zh-CN" altLang="en-US" sz="2400" b="1" dirty="0"/>
              <a:t>      </a:t>
            </a:r>
            <a:r>
              <a:rPr lang="zh-CN" altLang="en-US" sz="2400" dirty="0"/>
              <a:t>(1) </a:t>
            </a:r>
            <a:r>
              <a:rPr lang="en-US" altLang="zh-CN" sz="2400" dirty="0"/>
              <a:t>Commutative Law</a:t>
            </a:r>
            <a:r>
              <a:rPr lang="en-US" altLang="zh-CN" sz="2400" b="1" dirty="0"/>
              <a:t>:</a:t>
            </a:r>
            <a:r>
              <a:rPr lang="zh-CN" altLang="en-US" sz="2400" b="1" dirty="0"/>
              <a:t>                 </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A</a:t>
            </a:r>
            <a:endParaRPr lang="zh-CN" altLang="en-US" sz="2400" b="1" dirty="0"/>
          </a:p>
          <a:p>
            <a:pPr eaLnBrk="1" hangingPunct="1">
              <a:buFontTx/>
              <a:buNone/>
            </a:pPr>
            <a:r>
              <a:rPr lang="zh-CN" altLang="en-US" sz="2400" b="1" dirty="0"/>
              <a:t>     </a:t>
            </a:r>
            <a:r>
              <a:rPr lang="zh-CN" altLang="en-US" sz="2400" dirty="0"/>
              <a:t> (2) </a:t>
            </a:r>
            <a:r>
              <a:rPr lang="en-US" altLang="zh-CN" sz="2400" dirty="0"/>
              <a:t>Associative Law</a:t>
            </a:r>
            <a:r>
              <a:rPr lang="zh-CN" altLang="en-US" sz="2400" b="1" dirty="0">
                <a:solidFill>
                  <a:srgbClr val="FF0000"/>
                </a:solidFill>
              </a:rPr>
              <a:t> </a:t>
            </a:r>
            <a:r>
              <a:rPr lang="en-US" altLang="zh-CN" sz="2400" b="1" dirty="0"/>
              <a:t>:</a:t>
            </a:r>
            <a:r>
              <a:rPr lang="zh-CN" altLang="en-US" sz="2400" b="1" dirty="0">
                <a:solidFill>
                  <a:srgbClr val="FF0000"/>
                </a:solidFill>
              </a:rPr>
              <a:t>  </a:t>
            </a:r>
            <a:r>
              <a:rPr lang="zh-CN" altLang="en-US" sz="2400" b="1" dirty="0"/>
              <a:t>               </a:t>
            </a:r>
            <a:r>
              <a:rPr lang="zh-CN" altLang="en-US" sz="2400" b="1" dirty="0">
                <a:cs typeface="Times New Roman" panose="02020603050405020304" pitchFamily="18" charset="0"/>
              </a:rPr>
              <a:t>(</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endParaRPr lang="zh-CN" altLang="en-US" sz="2400" b="1" dirty="0"/>
          </a:p>
          <a:p>
            <a:pPr>
              <a:buNone/>
            </a:pPr>
            <a:r>
              <a:rPr lang="en-US" altLang="zh-CN" sz="2400" dirty="0">
                <a:cs typeface="Times New Roman" panose="02020603050405020304" pitchFamily="18" charset="0"/>
                <a:sym typeface="Symbol" panose="05050102010706020507" pitchFamily="18" charset="2"/>
              </a:rPr>
              <a:t>      (3) </a:t>
            </a:r>
            <a:r>
              <a:rPr lang="en-US" altLang="zh-CN" sz="2400" dirty="0">
                <a:cs typeface="Times New Roman" panose="02020603050405020304" pitchFamily="18" charset="0"/>
              </a:rPr>
              <a:t>Distributive Law of Intersection over Symmetric Difference:</a:t>
            </a:r>
          </a:p>
          <a:p>
            <a:pPr eaLnBrk="1" hangingPunct="1">
              <a:buFontTx/>
              <a:buNone/>
            </a:pPr>
            <a:r>
              <a:rPr lang="en-US" altLang="zh-CN" sz="2400" b="1" i="1" dirty="0">
                <a:cs typeface="Times New Roman" panose="02020603050405020304" pitchFamily="18" charset="0"/>
              </a:rPr>
              <a:t>                                         A</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p>
          <a:p>
            <a:pPr eaLnBrk="1" hangingPunct="1">
              <a:buFontTx/>
              <a:buNone/>
            </a:pPr>
            <a:r>
              <a:rPr lang="en-US" altLang="zh-CN" sz="2400" b="1" i="1" dirty="0">
                <a:cs typeface="Times New Roman" panose="02020603050405020304" pitchFamily="18" charset="0"/>
              </a:rPr>
              <a:t>     </a:t>
            </a:r>
            <a:r>
              <a:rPr lang="en-US" altLang="zh-CN" sz="2400" i="1" dirty="0">
                <a:cs typeface="Times New Roman" panose="02020603050405020304" pitchFamily="18" charset="0"/>
              </a:rPr>
              <a:t> </a:t>
            </a:r>
            <a:r>
              <a:rPr lang="en-US" altLang="zh-CN" sz="2400" dirty="0">
                <a:cs typeface="Times New Roman" panose="02020603050405020304" pitchFamily="18" charset="0"/>
              </a:rPr>
              <a:t>(4)</a:t>
            </a:r>
            <a:r>
              <a:rPr lang="en-US" altLang="zh-CN" sz="2400" i="1" dirty="0">
                <a:cs typeface="Times New Roman" panose="02020603050405020304" pitchFamily="18" charset="0"/>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dirty="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A</a:t>
            </a:r>
            <a:r>
              <a:rPr lang="en-US" altLang="zh-CN" sz="2400" b="1" dirty="0">
                <a:cs typeface="Times New Roman" panose="02020603050405020304" pitchFamily="18" charset="0"/>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E</a:t>
            </a:r>
            <a:r>
              <a:rPr lang="en-US" altLang="zh-CN" sz="2400" b="1" dirty="0">
                <a:cs typeface="Times New Roman" panose="020206030504050203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A</a:t>
            </a:r>
            <a:endParaRPr lang="en-US" altLang="zh-CN" sz="2400" b="1" dirty="0">
              <a:cs typeface="Times New Roman" panose="02020603050405020304" pitchFamily="18" charset="0"/>
            </a:endParaRPr>
          </a:p>
          <a:p>
            <a:pPr eaLnBrk="1" hangingPunct="1">
              <a:buFontTx/>
              <a:buNone/>
            </a:pPr>
            <a:r>
              <a:rPr lang="en-US" altLang="zh-CN" sz="2400" b="1" i="1" dirty="0">
                <a:cs typeface="Times New Roman" panose="02020603050405020304" pitchFamily="18" charset="0"/>
              </a:rPr>
              <a:t>      </a:t>
            </a:r>
            <a:r>
              <a:rPr lang="en-US" altLang="zh-CN" sz="2400" dirty="0">
                <a:cs typeface="Times New Roman" panose="02020603050405020304" pitchFamily="18" charset="0"/>
              </a:rPr>
              <a:t>(5)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sym typeface="Symbol" panose="05050102010706020507" pitchFamily="18" charset="2"/>
              </a:rPr>
              <a:t></a:t>
            </a:r>
            <a:r>
              <a:rPr lang="en-US" altLang="zh-CN" sz="2400" b="1" dirty="0">
                <a:cs typeface="Times New Roman" panose="02020603050405020304" pitchFamily="18" charset="0"/>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rPr>
              <a:t>E</a:t>
            </a:r>
          </a:p>
          <a:p>
            <a:pPr marL="0" indent="0" eaLnBrk="1" hangingPunct="1">
              <a:spcBef>
                <a:spcPct val="80000"/>
              </a:spcBef>
              <a:buNone/>
            </a:pPr>
            <a:r>
              <a:rPr kumimoji="1" lang="en-US" altLang="zh-CN" sz="2800" b="1" dirty="0">
                <a:solidFill>
                  <a:schemeClr val="tx1"/>
                </a:solidFill>
                <a:latin typeface="Times New Roman" panose="02020603050405020304" pitchFamily="18" charset="0"/>
                <a:ea typeface="宋体" panose="02010600030101010101" pitchFamily="2" charset="-122"/>
              </a:rPr>
              <a:t> </a:t>
            </a:r>
            <a:endParaRPr lang="zh-CN" altLang="en-US" b="1" dirty="0"/>
          </a:p>
        </p:txBody>
      </p:sp>
      <p:sp>
        <p:nvSpPr>
          <p:cNvPr id="10" name="Rectangle 3">
            <a:extLst>
              <a:ext uri="{FF2B5EF4-FFF2-40B4-BE49-F238E27FC236}">
                <a16:creationId xmlns:a16="http://schemas.microsoft.com/office/drawing/2014/main" id="{2EFDDB0C-B232-4A92-B8D9-388EF3DB0AB2}"/>
              </a:ext>
            </a:extLst>
          </p:cNvPr>
          <p:cNvSpPr txBox="1">
            <a:spLocks noChangeArrowheads="1"/>
          </p:cNvSpPr>
          <p:nvPr/>
        </p:nvSpPr>
        <p:spPr>
          <a:xfrm>
            <a:off x="1558885" y="3904989"/>
            <a:ext cx="10165003" cy="24407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buFontTx/>
              <a:buNone/>
            </a:pPr>
            <a:r>
              <a:rPr kumimoji="1" lang="en-US" altLang="zh-CN" sz="2400" b="1" dirty="0">
                <a:solidFill>
                  <a:schemeClr val="tx1"/>
                </a:solidFill>
                <a:ea typeface="宋体" panose="02010600030101010101" pitchFamily="2" charset="-122"/>
              </a:rPr>
              <a:t>Note</a:t>
            </a:r>
            <a:r>
              <a:rPr kumimoji="1" lang="zh-CN" altLang="en-US" sz="2400" b="1" dirty="0">
                <a:solidFill>
                  <a:schemeClr val="tx1"/>
                </a:solidFill>
                <a:ea typeface="宋体" panose="02010600030101010101" pitchFamily="2" charset="-122"/>
              </a:rPr>
              <a:t>: </a:t>
            </a:r>
            <a:r>
              <a:rPr lang="en-US" altLang="zh-CN" sz="2400" dirty="0"/>
              <a:t> The union operation </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a:t>
            </a:r>
            <a:r>
              <a:rPr kumimoji="1" lang="en-US" altLang="zh-CN" sz="2400" b="1" dirty="0">
                <a:solidFill>
                  <a:schemeClr val="tx1"/>
                </a:solidFill>
                <a:ea typeface="宋体" panose="02010600030101010101" pitchFamily="2" charset="-122"/>
                <a:sym typeface="Symbol" panose="05050102010706020507" pitchFamily="18" charset="2"/>
              </a:rPr>
              <a:t> </a:t>
            </a:r>
            <a:r>
              <a:rPr lang="en-US" altLang="zh-CN" sz="2400" dirty="0"/>
              <a:t>does not distribute over the symmetric difference</a:t>
            </a:r>
            <a:r>
              <a:rPr kumimoji="1" lang="en-US" altLang="zh-CN" sz="2400" b="1" dirty="0">
                <a:solidFill>
                  <a:srgbClr val="0B61FF"/>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kumimoji="1" lang="zh-CN" altLang="en-US" sz="2400" b="1" dirty="0">
                <a:solidFill>
                  <a:schemeClr val="tx1"/>
                </a:solidFill>
                <a:ea typeface="宋体" panose="02010600030101010101" pitchFamily="2" charset="-122"/>
              </a:rPr>
              <a:t>, </a:t>
            </a:r>
            <a:r>
              <a:rPr kumimoji="1" lang="en-US" altLang="zh-CN" sz="2400" dirty="0">
                <a:solidFill>
                  <a:schemeClr val="tx1"/>
                </a:solidFill>
                <a:ea typeface="宋体" panose="02010600030101010101" pitchFamily="2" charset="-122"/>
              </a:rPr>
              <a:t>A</a:t>
            </a:r>
            <a:r>
              <a:rPr kumimoji="1" lang="en-US" altLang="zh-CN" sz="2400" b="1" dirty="0">
                <a:solidFill>
                  <a:schemeClr val="tx1"/>
                </a:solidFill>
                <a:ea typeface="宋体" panose="02010600030101010101" pitchFamily="2" charset="-122"/>
              </a:rPr>
              <a:t> </a:t>
            </a:r>
            <a:r>
              <a:rPr lang="en-US" altLang="zh-CN" sz="2400" dirty="0"/>
              <a:t>counter example is given below:</a:t>
            </a:r>
          </a:p>
          <a:p>
            <a:pPr marL="0" indent="0" eaLnBrk="1" hangingPunct="1">
              <a:lnSpc>
                <a:spcPct val="110000"/>
              </a:lnSpc>
              <a:spcBef>
                <a:spcPts val="0"/>
              </a:spcBef>
              <a:buNone/>
            </a:pPr>
            <a:r>
              <a:rPr kumimoji="1" lang="en-US" altLang="zh-CN" sz="2400" b="1" i="1" dirty="0">
                <a:ea typeface="宋体" panose="02010600030101010101" pitchFamily="2" charset="-122"/>
              </a:rPr>
              <a:t>             A={</a:t>
            </a:r>
            <a:r>
              <a:rPr kumimoji="1" lang="en-US" altLang="zh-CN" sz="2400" b="1" i="1" dirty="0" err="1">
                <a:ea typeface="宋体" panose="02010600030101010101" pitchFamily="2" charset="-122"/>
              </a:rPr>
              <a:t>a,b,c</a:t>
            </a:r>
            <a:r>
              <a:rPr kumimoji="1" lang="en-US" altLang="zh-CN" sz="2400" b="1" i="1" dirty="0">
                <a:ea typeface="宋体" panose="02010600030101010101" pitchFamily="2" charset="-122"/>
              </a:rPr>
              <a:t>}, B={</a:t>
            </a:r>
            <a:r>
              <a:rPr kumimoji="1" lang="en-US" altLang="zh-CN" sz="2400" b="1" i="1" dirty="0" err="1">
                <a:ea typeface="宋体" panose="02010600030101010101" pitchFamily="2" charset="-122"/>
              </a:rPr>
              <a:t>b,c,d</a:t>
            </a:r>
            <a:r>
              <a:rPr kumimoji="1" lang="en-US" altLang="zh-CN" sz="2400" b="1" i="1" dirty="0">
                <a:ea typeface="宋体" panose="02010600030101010101" pitchFamily="2" charset="-122"/>
              </a:rPr>
              <a:t>}, C={</a:t>
            </a:r>
            <a:r>
              <a:rPr kumimoji="1" lang="en-US" altLang="zh-CN" sz="2400" b="1" i="1" dirty="0" err="1">
                <a:ea typeface="宋体" panose="02010600030101010101" pitchFamily="2" charset="-122"/>
              </a:rPr>
              <a:t>c,d,e</a:t>
            </a:r>
            <a:r>
              <a:rPr kumimoji="1" lang="en-US" altLang="zh-CN" sz="2400" b="1" i="1" dirty="0">
                <a:ea typeface="宋体" panose="02010600030101010101" pitchFamily="2" charset="-122"/>
              </a:rPr>
              <a:t>}</a:t>
            </a:r>
          </a:p>
          <a:p>
            <a:pPr marL="0" indent="0" eaLnBrk="1" hangingPunct="1">
              <a:lnSpc>
                <a:spcPct val="110000"/>
              </a:lnSpc>
              <a:spcBef>
                <a:spcPct val="20000"/>
              </a:spcBef>
              <a:buNone/>
            </a:pPr>
            <a:r>
              <a:rPr kumimoji="1" lang="en-US" altLang="zh-CN" sz="2400" b="1" i="1" dirty="0">
                <a:solidFill>
                  <a:schemeClr val="tx1"/>
                </a:solidFill>
                <a:ea typeface="宋体" panose="02010600030101010101" pitchFamily="2" charset="-122"/>
              </a:rPr>
              <a:t>            A</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 ∪ </a:t>
            </a:r>
            <a:r>
              <a:rPr kumimoji="1" lang="en-US" altLang="zh-CN" sz="2400" b="1" dirty="0">
                <a:solidFill>
                  <a:schemeClr val="tx1"/>
                </a:solidFill>
                <a:ea typeface="宋体" panose="02010600030101010101" pitchFamily="2" charset="-122"/>
              </a:rPr>
              <a:t>(</a:t>
            </a:r>
            <a:r>
              <a:rPr kumimoji="1" lang="en-US" altLang="zh-CN" sz="2400" b="1" i="1" dirty="0">
                <a:solidFill>
                  <a:schemeClr val="tx1"/>
                </a:solidFill>
                <a:ea typeface="宋体" panose="02010600030101010101" pitchFamily="2" charset="-122"/>
                <a:sym typeface="Symbol" panose="05050102010706020507" pitchFamily="18" charset="2"/>
              </a:rPr>
              <a:t>B</a:t>
            </a:r>
            <a:r>
              <a:rPr kumimoji="1" lang="en-US" altLang="zh-CN" sz="2400" b="1" dirty="0">
                <a:solidFill>
                  <a:srgbClr val="0B61FF"/>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kumimoji="1" lang="en-US" altLang="zh-CN" sz="2400" b="1" i="1" dirty="0">
                <a:solidFill>
                  <a:schemeClr val="tx1"/>
                </a:solidFill>
                <a:ea typeface="宋体" panose="02010600030101010101" pitchFamily="2" charset="-122"/>
              </a:rPr>
              <a:t>C</a:t>
            </a:r>
            <a:r>
              <a:rPr kumimoji="1" lang="en-US" altLang="zh-CN" sz="2400" b="1" dirty="0">
                <a:solidFill>
                  <a:schemeClr val="tx1"/>
                </a:solidFill>
                <a:ea typeface="宋体" panose="02010600030101010101" pitchFamily="2" charset="-122"/>
                <a:sym typeface="Symbol" panose="05050102010706020507" pitchFamily="18" charset="2"/>
              </a:rPr>
              <a:t>)= </a:t>
            </a:r>
            <a:r>
              <a:rPr kumimoji="1" lang="en-US" altLang="zh-CN" sz="2400" b="1" dirty="0">
                <a:solidFill>
                  <a:schemeClr val="tx1"/>
                </a:solidFill>
                <a:ea typeface="宋体" panose="02010600030101010101" pitchFamily="2" charset="-122"/>
              </a:rPr>
              <a:t>{</a:t>
            </a:r>
            <a:r>
              <a:rPr kumimoji="1" lang="en-US" altLang="zh-CN" sz="2400" b="1" i="1" dirty="0" err="1">
                <a:solidFill>
                  <a:schemeClr val="tx1"/>
                </a:solidFill>
                <a:ea typeface="宋体" panose="02010600030101010101" pitchFamily="2" charset="-122"/>
              </a:rPr>
              <a:t>a,b,c</a:t>
            </a:r>
            <a:r>
              <a:rPr kumimoji="1" lang="en-US" altLang="zh-CN" sz="2400" b="1" dirty="0">
                <a:solidFill>
                  <a:schemeClr val="tx1"/>
                </a:solidFill>
                <a:ea typeface="宋体" panose="02010600030101010101" pitchFamily="2" charset="-122"/>
              </a:rPr>
              <a:t>}</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 ∪ </a:t>
            </a:r>
            <a:r>
              <a:rPr kumimoji="1" lang="en-US" altLang="zh-CN" sz="2400" b="1" dirty="0">
                <a:solidFill>
                  <a:schemeClr val="tx1"/>
                </a:solidFill>
                <a:ea typeface="宋体" panose="02010600030101010101" pitchFamily="2" charset="-122"/>
              </a:rPr>
              <a:t>{</a:t>
            </a:r>
            <a:r>
              <a:rPr kumimoji="1" lang="en-US" altLang="zh-CN" sz="2400" b="1" i="1" dirty="0" err="1">
                <a:solidFill>
                  <a:schemeClr val="tx1"/>
                </a:solidFill>
                <a:ea typeface="宋体" panose="02010600030101010101" pitchFamily="2" charset="-122"/>
              </a:rPr>
              <a:t>b,e</a:t>
            </a:r>
            <a:r>
              <a:rPr kumimoji="1" lang="en-US" altLang="zh-CN" sz="2400" b="1" dirty="0">
                <a:solidFill>
                  <a:schemeClr val="tx1"/>
                </a:solidFill>
                <a:ea typeface="宋体" panose="02010600030101010101" pitchFamily="2" charset="-122"/>
              </a:rPr>
              <a:t>}= {</a:t>
            </a:r>
            <a:r>
              <a:rPr kumimoji="1" lang="en-US" altLang="zh-CN" sz="2400" b="1" i="1" dirty="0" err="1">
                <a:solidFill>
                  <a:schemeClr val="tx1"/>
                </a:solidFill>
                <a:ea typeface="宋体" panose="02010600030101010101" pitchFamily="2" charset="-122"/>
              </a:rPr>
              <a:t>a,b,c,e</a:t>
            </a:r>
            <a:r>
              <a:rPr kumimoji="1" lang="en-US" altLang="zh-CN" sz="2400" b="1" dirty="0">
                <a:solidFill>
                  <a:schemeClr val="tx1"/>
                </a:solidFill>
                <a:ea typeface="宋体" panose="02010600030101010101" pitchFamily="2" charset="-122"/>
              </a:rPr>
              <a:t>}</a:t>
            </a:r>
          </a:p>
          <a:p>
            <a:pPr marL="0" indent="0" eaLnBrk="1" hangingPunct="1">
              <a:lnSpc>
                <a:spcPct val="110000"/>
              </a:lnSpc>
              <a:spcBef>
                <a:spcPct val="20000"/>
              </a:spcBef>
              <a:buNone/>
            </a:pPr>
            <a:r>
              <a:rPr kumimoji="1" lang="en-US" altLang="zh-CN" sz="2400" b="1" dirty="0">
                <a:solidFill>
                  <a:schemeClr val="tx1"/>
                </a:solidFill>
                <a:ea typeface="宋体" panose="02010600030101010101" pitchFamily="2" charset="-122"/>
                <a:sym typeface="Symbol" panose="05050102010706020507" pitchFamily="18" charset="2"/>
              </a:rPr>
              <a:t>            (</a:t>
            </a:r>
            <a:r>
              <a:rPr kumimoji="1" lang="en-US" altLang="zh-CN" sz="2400" b="1" i="1" dirty="0">
                <a:solidFill>
                  <a:schemeClr val="tx1"/>
                </a:solidFill>
                <a:ea typeface="宋体" panose="02010600030101010101" pitchFamily="2" charset="-122"/>
                <a:sym typeface="Symbol" panose="05050102010706020507" pitchFamily="18" charset="2"/>
              </a:rPr>
              <a:t>A</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 ∪ </a:t>
            </a:r>
            <a:r>
              <a:rPr kumimoji="1" lang="en-US" altLang="zh-CN" sz="2400" b="1" i="1" dirty="0">
                <a:solidFill>
                  <a:schemeClr val="tx1"/>
                </a:solidFill>
                <a:ea typeface="宋体" panose="02010600030101010101" pitchFamily="2" charset="-122"/>
              </a:rPr>
              <a:t>B</a:t>
            </a:r>
            <a:r>
              <a:rPr kumimoji="1" lang="en-US" altLang="zh-CN" sz="2400" b="1" dirty="0">
                <a:solidFill>
                  <a:schemeClr val="tx1"/>
                </a:solidFill>
                <a:ea typeface="宋体" panose="02010600030101010101" pitchFamily="2" charset="-122"/>
                <a:sym typeface="Symbol" panose="05050102010706020507" pitchFamily="18" charset="2"/>
              </a:rPr>
              <a:t>)</a:t>
            </a:r>
            <a:r>
              <a:rPr kumimoji="1" lang="en-US" altLang="zh-CN" sz="2400" b="1" dirty="0">
                <a:solidFill>
                  <a:srgbClr val="0B61FF"/>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kumimoji="1" lang="en-US" altLang="zh-CN" sz="2400" b="1" dirty="0">
                <a:solidFill>
                  <a:schemeClr val="tx1"/>
                </a:solidFill>
                <a:ea typeface="宋体" panose="02010600030101010101" pitchFamily="2" charset="-122"/>
              </a:rPr>
              <a:t>(</a:t>
            </a:r>
            <a:r>
              <a:rPr kumimoji="1" lang="en-US" altLang="zh-CN" sz="2400" b="1" i="1" dirty="0">
                <a:solidFill>
                  <a:schemeClr val="tx1"/>
                </a:solidFill>
                <a:ea typeface="宋体" panose="02010600030101010101" pitchFamily="2" charset="-122"/>
                <a:sym typeface="Symbol" panose="05050102010706020507" pitchFamily="18" charset="2"/>
              </a:rPr>
              <a:t>A</a:t>
            </a:r>
            <a:r>
              <a:rPr kumimoji="1" lang="en-US" altLang="zh-CN" sz="2400" b="1" dirty="0">
                <a:solidFill>
                  <a:schemeClr val="tx1"/>
                </a:solidFill>
                <a:ea typeface="宋体" panose="02010600030101010101" pitchFamily="2" charset="-122"/>
                <a:sym typeface="Symbol" panose="05050102010706020507" pitchFamily="18" charset="2"/>
              </a:rPr>
              <a:t></a:t>
            </a:r>
            <a:r>
              <a:rPr kumimoji="1" lang="en-US" altLang="zh-CN" sz="2400" b="1" i="1" dirty="0">
                <a:solidFill>
                  <a:schemeClr val="tx1"/>
                </a:solidFill>
                <a:ea typeface="宋体" panose="02010600030101010101" pitchFamily="2" charset="-122"/>
              </a:rPr>
              <a:t>C</a:t>
            </a:r>
            <a:r>
              <a:rPr kumimoji="1" lang="en-US" altLang="zh-CN" sz="2400" b="1" dirty="0">
                <a:solidFill>
                  <a:schemeClr val="tx1"/>
                </a:solidFill>
                <a:ea typeface="宋体" panose="02010600030101010101" pitchFamily="2" charset="-122"/>
                <a:sym typeface="Symbol" panose="05050102010706020507" pitchFamily="18" charset="2"/>
              </a:rPr>
              <a:t>)= </a:t>
            </a:r>
            <a:r>
              <a:rPr kumimoji="1" lang="en-US" altLang="zh-CN" sz="2400" b="1" dirty="0">
                <a:solidFill>
                  <a:schemeClr val="tx1"/>
                </a:solidFill>
                <a:ea typeface="宋体" panose="02010600030101010101" pitchFamily="2" charset="-122"/>
              </a:rPr>
              <a:t>{</a:t>
            </a:r>
            <a:r>
              <a:rPr kumimoji="1" lang="en-US" altLang="zh-CN" sz="2400" b="1" i="1" dirty="0" err="1">
                <a:solidFill>
                  <a:schemeClr val="tx1"/>
                </a:solidFill>
                <a:ea typeface="宋体" panose="02010600030101010101" pitchFamily="2" charset="-122"/>
              </a:rPr>
              <a:t>a,b,c,d</a:t>
            </a:r>
            <a:r>
              <a:rPr kumimoji="1" lang="en-US" altLang="zh-CN" sz="2400" b="1" dirty="0">
                <a:solidFill>
                  <a:schemeClr val="tx1"/>
                </a:solidFill>
                <a:ea typeface="宋体" panose="02010600030101010101" pitchFamily="2" charset="-122"/>
              </a:rPr>
              <a:t>}</a:t>
            </a:r>
            <a:r>
              <a:rPr kumimoji="1" lang="en-US" altLang="zh-CN" sz="2400" b="1" dirty="0">
                <a:solidFill>
                  <a:srgbClr val="0B61FF"/>
                </a:solidFill>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kumimoji="1" lang="en-US" altLang="zh-CN" sz="2400" b="1" dirty="0">
                <a:solidFill>
                  <a:schemeClr val="tx1"/>
                </a:solidFill>
                <a:ea typeface="宋体" panose="02010600030101010101" pitchFamily="2" charset="-122"/>
              </a:rPr>
              <a:t>{</a:t>
            </a:r>
            <a:r>
              <a:rPr kumimoji="1" lang="en-US" altLang="zh-CN" sz="2400" b="1" i="1" dirty="0" err="1">
                <a:solidFill>
                  <a:schemeClr val="tx1"/>
                </a:solidFill>
                <a:ea typeface="宋体" panose="02010600030101010101" pitchFamily="2" charset="-122"/>
              </a:rPr>
              <a:t>a,b,c,d,e</a:t>
            </a:r>
            <a:r>
              <a:rPr kumimoji="1" lang="en-US" altLang="zh-CN" sz="2400" b="1" dirty="0">
                <a:solidFill>
                  <a:schemeClr val="tx1"/>
                </a:solidFill>
                <a:ea typeface="宋体" panose="02010600030101010101" pitchFamily="2" charset="-122"/>
              </a:rPr>
              <a:t>}= {</a:t>
            </a:r>
            <a:r>
              <a:rPr kumimoji="1" lang="en-US" altLang="zh-CN" sz="2400" b="1" i="1" dirty="0">
                <a:solidFill>
                  <a:schemeClr val="tx1"/>
                </a:solidFill>
                <a:ea typeface="宋体" panose="02010600030101010101" pitchFamily="2" charset="-122"/>
              </a:rPr>
              <a:t>e</a:t>
            </a:r>
            <a:r>
              <a:rPr kumimoji="1" lang="en-US" altLang="zh-CN" sz="2400" b="1" dirty="0">
                <a:solidFill>
                  <a:schemeClr val="tx1"/>
                </a:solidFill>
                <a:ea typeface="宋体" panose="02010600030101010101" pitchFamily="2" charset="-122"/>
              </a:rPr>
              <a:t>}, </a:t>
            </a:r>
            <a:r>
              <a:rPr kumimoji="1" lang="en-US" altLang="zh-CN" sz="2400" b="1" dirty="0">
                <a:solidFill>
                  <a:srgbClr val="0B61FF"/>
                </a:solidFill>
                <a:ea typeface="宋体" panose="02010600030101010101" pitchFamily="2" charset="-122"/>
              </a:rPr>
              <a:t>not equal</a:t>
            </a:r>
          </a:p>
          <a:p>
            <a:pPr eaLnBrk="1" hangingPunct="1">
              <a:buFontTx/>
              <a:buNone/>
            </a:pPr>
            <a:endParaRPr lang="zh-CN" altLang="en-US" b="1" dirty="0"/>
          </a:p>
        </p:txBody>
      </p:sp>
    </p:spTree>
    <p:extLst>
      <p:ext uri="{BB962C8B-B14F-4D97-AF65-F5344CB8AC3E}">
        <p14:creationId xmlns:p14="http://schemas.microsoft.com/office/powerpoint/2010/main" val="2837196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zh-CN" altLang="en-US" sz="2000" b="1" dirty="0">
                <a:latin typeface="+mj-lt"/>
                <a:cs typeface="Times New Roman" panose="02020603050405020304" pitchFamily="18" charset="0"/>
              </a:rPr>
              <a:t>1.</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latin typeface="+mj-lt"/>
              </a:rPr>
              <a:t>Identical equation</a:t>
            </a:r>
            <a:r>
              <a:rPr lang="zh-CN" altLang="en-US" sz="2400" b="1" dirty="0">
                <a:latin typeface="+mj-lt"/>
              </a:rPr>
              <a:t>（</a:t>
            </a:r>
            <a:r>
              <a:rPr lang="en-US" altLang="zh-CN" sz="2400" b="1" dirty="0">
                <a:latin typeface="+mj-lt"/>
              </a:rPr>
              <a:t>law</a:t>
            </a:r>
            <a:r>
              <a:rPr lang="zh-CN" altLang="en-US" sz="2400" b="1" dirty="0"/>
              <a:t>）</a:t>
            </a:r>
            <a:endParaRPr lang="zh-CN" altLang="en-US" sz="20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600" y="765176"/>
            <a:ext cx="7620000" cy="35424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nSpc>
                <a:spcPct val="120000"/>
              </a:lnSpc>
              <a:spcBef>
                <a:spcPct val="40000"/>
              </a:spcBef>
              <a:buNone/>
              <a:defRPr/>
            </a:pPr>
            <a:r>
              <a:rPr lang="zh-CN" altLang="en-US" sz="2400" dirty="0">
                <a:solidFill>
                  <a:srgbClr val="0B61FF"/>
                </a:solidFill>
                <a:cs typeface="Times New Roman" panose="02020603050405020304" pitchFamily="18" charset="0"/>
              </a:rPr>
              <a:t>1</a:t>
            </a:r>
            <a:r>
              <a:rPr lang="en-US" altLang="zh-CN" sz="2400" dirty="0">
                <a:solidFill>
                  <a:srgbClr val="0B61FF"/>
                </a:solidFill>
                <a:cs typeface="Times New Roman" panose="02020603050405020304" pitchFamily="18" charset="0"/>
              </a:rPr>
              <a:t>5</a:t>
            </a:r>
            <a:r>
              <a:rPr lang="zh-CN" altLang="en-US" sz="2400" dirty="0">
                <a:solidFill>
                  <a:srgbClr val="0B61FF"/>
                </a:solidFill>
                <a:cs typeface="Times New Roman" panose="02020603050405020304" pitchFamily="18" charset="0"/>
              </a:rPr>
              <a:t>.  </a:t>
            </a:r>
            <a:r>
              <a:rPr lang="en-US" altLang="zh-CN" sz="2400" b="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a:rPr>
              <a:t></a:t>
            </a:r>
            <a:r>
              <a:rPr lang="en-US" altLang="zh-CN" sz="2400" b="1" dirty="0">
                <a:cs typeface="Times New Roman" panose="02020603050405020304" pitchFamily="18" charset="0"/>
                <a:sym typeface="Symbol"/>
              </a:rPr>
              <a:t>A</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 </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 </a:t>
            </a:r>
            <a:r>
              <a:rPr lang="en-US" altLang="zh-CN" sz="2400" b="1" dirty="0">
                <a:cs typeface="Times New Roman" panose="02020603050405020304" pitchFamily="18" charset="0"/>
                <a:sym typeface="Symbol"/>
              </a:rPr>
              <a:t>B,   BA</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 </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 </a:t>
            </a:r>
            <a:r>
              <a:rPr lang="en-US" altLang="zh-CN" sz="2400" b="1" dirty="0">
                <a:cs typeface="Times New Roman" panose="02020603050405020304" pitchFamily="18" charset="0"/>
              </a:rPr>
              <a:t>B.</a:t>
            </a:r>
            <a:endParaRPr lang="zh-CN" altLang="en-US" sz="2400" b="1" dirty="0">
              <a:cs typeface="Times New Roman" panose="02020603050405020304" pitchFamily="18" charset="0"/>
            </a:endParaRPr>
          </a:p>
          <a:p>
            <a:pPr>
              <a:lnSpc>
                <a:spcPct val="120000"/>
              </a:lnSpc>
              <a:spcBef>
                <a:spcPct val="40000"/>
              </a:spcBef>
              <a:buNone/>
              <a:defRPr/>
            </a:pPr>
            <a:r>
              <a:rPr lang="en-US" altLang="zh-CN" sz="2400" dirty="0">
                <a:solidFill>
                  <a:srgbClr val="0B61FF"/>
                </a:solidFill>
                <a:cs typeface="Times New Roman" panose="02020603050405020304" pitchFamily="18" charset="0"/>
              </a:rPr>
              <a:t>16.</a:t>
            </a:r>
            <a:r>
              <a:rPr lang="zh-CN" altLang="en-US" sz="2400" dirty="0">
                <a:solidFill>
                  <a:srgbClr val="0B61FF"/>
                </a:solidFill>
                <a:cs typeface="Times New Roman" panose="02020603050405020304" pitchFamily="18" charset="0"/>
              </a:rPr>
              <a:t>  </a:t>
            </a:r>
            <a:r>
              <a:rPr lang="en-US" altLang="zh-CN" sz="2400" b="1" dirty="0">
                <a:cs typeface="Times New Roman" panose="02020603050405020304" pitchFamily="18" charset="0"/>
              </a:rPr>
              <a:t>A</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cs typeface="Times New Roman" panose="02020603050405020304" pitchFamily="18" charset="0"/>
                <a:sym typeface="Symbol"/>
              </a:rPr>
              <a:t>BA,   </a:t>
            </a:r>
            <a:r>
              <a:rPr lang="en-US" altLang="zh-CN" sz="2400" b="1" dirty="0">
                <a:cs typeface="Times New Roman" panose="02020603050405020304" pitchFamily="18" charset="0"/>
              </a:rPr>
              <a:t>A</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cs typeface="Times New Roman" panose="02020603050405020304" pitchFamily="18" charset="0"/>
                <a:sym typeface="Symbol"/>
              </a:rPr>
              <a:t>BB.</a:t>
            </a:r>
            <a:r>
              <a:rPr lang="zh-CN" altLang="en-US" sz="2400" b="1" dirty="0">
                <a:cs typeface="Times New Roman" panose="02020603050405020304" pitchFamily="18" charset="0"/>
              </a:rPr>
              <a:t>  </a:t>
            </a:r>
            <a:endParaRPr lang="en-US" altLang="zh-CN" sz="2400" b="1" dirty="0">
              <a:cs typeface="Times New Roman" panose="02020603050405020304" pitchFamily="18" charset="0"/>
            </a:endParaRPr>
          </a:p>
          <a:p>
            <a:pPr>
              <a:lnSpc>
                <a:spcPct val="120000"/>
              </a:lnSpc>
              <a:spcBef>
                <a:spcPct val="40000"/>
              </a:spcBef>
              <a:buNone/>
              <a:defRPr/>
            </a:pPr>
            <a:r>
              <a:rPr lang="en-US" altLang="zh-CN" sz="2400" dirty="0">
                <a:solidFill>
                  <a:srgbClr val="0B61FF"/>
                </a:solidFill>
                <a:cs typeface="Times New Roman" panose="02020603050405020304" pitchFamily="18" charset="0"/>
              </a:rPr>
              <a:t>17.</a:t>
            </a:r>
            <a:r>
              <a:rPr lang="zh-CN" altLang="en-US" sz="2400" dirty="0">
                <a:solidFill>
                  <a:srgbClr val="0B61FF"/>
                </a:solidFill>
                <a:cs typeface="Times New Roman" panose="02020603050405020304" pitchFamily="18" charset="0"/>
              </a:rPr>
              <a:t>  </a:t>
            </a:r>
            <a:r>
              <a:rPr lang="en-US" altLang="zh-CN" sz="2400" b="1" dirty="0">
                <a:cs typeface="Times New Roman" panose="02020603050405020304" pitchFamily="18" charset="0"/>
              </a:rPr>
              <a:t>A-B</a:t>
            </a:r>
            <a:r>
              <a:rPr lang="en-US" altLang="zh-CN" sz="2400" b="1" dirty="0">
                <a:cs typeface="Times New Roman" panose="02020603050405020304" pitchFamily="18" charset="0"/>
                <a:sym typeface="Symbol"/>
              </a:rPr>
              <a:t></a:t>
            </a:r>
            <a:r>
              <a:rPr lang="en-US" altLang="zh-CN" sz="2400" b="1" dirty="0">
                <a:cs typeface="Times New Roman" panose="02020603050405020304" pitchFamily="18" charset="0"/>
                <a:sym typeface="Symbol" pitchFamily="18" charset="2"/>
              </a:rPr>
              <a:t>A.</a:t>
            </a:r>
            <a:endParaRPr lang="zh-CN" altLang="en-US" sz="2400" b="1" dirty="0">
              <a:cs typeface="Times New Roman" panose="02020603050405020304" pitchFamily="18" charset="0"/>
            </a:endParaRPr>
          </a:p>
          <a:p>
            <a:pPr>
              <a:lnSpc>
                <a:spcPct val="120000"/>
              </a:lnSpc>
              <a:spcBef>
                <a:spcPct val="40000"/>
              </a:spcBef>
              <a:buNone/>
              <a:defRPr/>
            </a:pPr>
            <a:r>
              <a:rPr lang="en-US" altLang="zh-CN" sz="2400" dirty="0">
                <a:solidFill>
                  <a:srgbClr val="0B61FF"/>
                </a:solidFill>
                <a:cs typeface="Times New Roman" panose="02020603050405020304" pitchFamily="18" charset="0"/>
                <a:sym typeface="Symbol" pitchFamily="18" charset="2"/>
              </a:rPr>
              <a:t>18.  </a:t>
            </a:r>
            <a:r>
              <a:rPr lang="en-US" altLang="zh-CN" sz="2400" b="1" dirty="0">
                <a:cs typeface="Times New Roman" panose="02020603050405020304" pitchFamily="18" charset="0"/>
              </a:rPr>
              <a:t>A</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 </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kumimoji="1" lang="en-US" altLang="zh-CN" sz="2400" b="1" dirty="0">
                <a:solidFill>
                  <a:srgbClr val="0B61FF"/>
                </a:solidFill>
                <a:latin typeface="Cambria Math" panose="02040503050406030204" pitchFamily="18" charset="0"/>
                <a:ea typeface="Cambria Math" panose="02040503050406030204" pitchFamily="18" charset="0"/>
                <a:sym typeface="Symbol" panose="05050102010706020507" pitchFamily="18" charset="2"/>
              </a:rPr>
              <a:t> </a:t>
            </a:r>
            <a:r>
              <a:rPr lang="en-US" altLang="zh-CN" sz="2400" b="1" dirty="0">
                <a:cs typeface="Times New Roman" panose="02020603050405020304" pitchFamily="18" charset="0"/>
                <a:sym typeface="Symbol" pitchFamily="18" charset="2"/>
              </a:rPr>
              <a:t>B=</a:t>
            </a:r>
            <a:r>
              <a:rPr lang="en-US" altLang="zh-CN" sz="2400" b="1" dirty="0">
                <a:cs typeface="Times New Roman" panose="02020603050405020304" pitchFamily="18" charset="0"/>
              </a:rPr>
              <a:t>B</a:t>
            </a:r>
            <a:r>
              <a:rPr lang="en-US" altLang="zh-CN" sz="2400" b="1" dirty="0">
                <a:cs typeface="Times New Roman" panose="02020603050405020304" pitchFamily="18" charset="0"/>
                <a:sym typeface="Symbol"/>
              </a:rPr>
              <a:t></a:t>
            </a:r>
            <a:r>
              <a:rPr lang="en-US" altLang="zh-CN" sz="2400" b="1" dirty="0">
                <a:cs typeface="Times New Roman" panose="02020603050405020304" pitchFamily="18" charset="0"/>
                <a:sym typeface="Symbol" pitchFamily="18" charset="2"/>
              </a:rPr>
              <a:t>AB</a:t>
            </a:r>
            <a:r>
              <a:rPr lang="en-US" altLang="zh-CN" sz="2400" b="1" dirty="0">
                <a:cs typeface="Times New Roman" panose="02020603050405020304" pitchFamily="18" charset="0"/>
                <a:sym typeface="Symbol"/>
              </a:rPr>
              <a:t></a:t>
            </a:r>
            <a:r>
              <a:rPr lang="en-US" altLang="zh-CN" sz="2400" b="1" dirty="0">
                <a:cs typeface="Times New Roman" panose="02020603050405020304" pitchFamily="18" charset="0"/>
                <a:sym typeface="Symbol" pitchFamily="18" charset="2"/>
              </a:rPr>
              <a:t>A</a:t>
            </a:r>
            <a:r>
              <a:rPr kumimoji="1"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cs typeface="Times New Roman" panose="02020603050405020304" pitchFamily="18" charset="0"/>
                <a:sym typeface="Symbol"/>
              </a:rPr>
              <a:t>B=AA-B=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a:rPr>
              <a:t></a:t>
            </a:r>
            <a:r>
              <a:rPr lang="en-US" altLang="zh-CN" sz="2400" b="1" dirty="0">
                <a:cs typeface="Times New Roman" panose="02020603050405020304" pitchFamily="18" charset="0"/>
                <a:sym typeface="Symbol"/>
              </a:rPr>
              <a:t>.</a:t>
            </a:r>
            <a:endParaRPr lang="en-US" altLang="zh-CN" sz="2400" b="1" dirty="0">
              <a:cs typeface="Times New Roman" panose="02020603050405020304" pitchFamily="18" charset="0"/>
              <a:sym typeface="Symbol" pitchFamily="18" charset="2"/>
            </a:endParaRPr>
          </a:p>
          <a:p>
            <a:pPr marL="457200" indent="-457200">
              <a:lnSpc>
                <a:spcPct val="120000"/>
              </a:lnSpc>
              <a:spcBef>
                <a:spcPct val="40000"/>
              </a:spcBef>
              <a:buAutoNum type="arabicPeriod" startAt="19"/>
              <a:defRPr/>
            </a:pPr>
            <a:r>
              <a:rPr lang="en-US" altLang="zh-CN" sz="2400" b="1" dirty="0">
                <a:cs typeface="Times New Roman" panose="02020603050405020304" pitchFamily="18" charset="0"/>
              </a:rPr>
              <a:t> A</a:t>
            </a:r>
            <a:r>
              <a:rPr lang="en-US" altLang="zh-CN" sz="2400" b="1" dirty="0">
                <a:cs typeface="Times New Roman" panose="02020603050405020304" pitchFamily="18" charset="0"/>
                <a:sym typeface="Symbol" pitchFamily="18" charset="2"/>
              </a:rPr>
              <a:t>B=</a:t>
            </a:r>
            <a:r>
              <a:rPr lang="en-US" altLang="zh-CN" sz="2400" b="1" dirty="0">
                <a:cs typeface="Times New Roman" panose="02020603050405020304" pitchFamily="18" charset="0"/>
              </a:rPr>
              <a:t>A</a:t>
            </a:r>
            <a:r>
              <a:rPr lang="en-US" altLang="zh-CN" sz="2400" b="1" dirty="0">
                <a:cs typeface="Times New Roman" panose="02020603050405020304" pitchFamily="18" charset="0"/>
                <a:sym typeface="Symbol" pitchFamily="18" charset="2"/>
              </a:rPr>
              <a:t>C</a:t>
            </a:r>
            <a:r>
              <a:rPr lang="en-US" altLang="zh-CN" sz="2400" b="1" dirty="0">
                <a:cs typeface="Times New Roman" panose="02020603050405020304" pitchFamily="18" charset="0"/>
                <a:sym typeface="Symbol"/>
              </a:rPr>
              <a:t>  </a:t>
            </a:r>
            <a:r>
              <a:rPr lang="en-US" altLang="zh-CN" sz="2400" b="1" dirty="0">
                <a:cs typeface="Times New Roman" panose="02020603050405020304" pitchFamily="18" charset="0"/>
                <a:sym typeface="Symbol" pitchFamily="18" charset="2"/>
              </a:rPr>
              <a:t>B</a:t>
            </a:r>
            <a:r>
              <a:rPr lang="en-US" altLang="zh-CN" sz="2400" b="1" dirty="0">
                <a:cs typeface="Times New Roman" panose="02020603050405020304" pitchFamily="18" charset="0"/>
              </a:rPr>
              <a:t>=C</a:t>
            </a:r>
            <a:r>
              <a:rPr lang="en-US" altLang="zh-CN" sz="2400" b="1" dirty="0">
                <a:cs typeface="Times New Roman" panose="02020603050405020304" pitchFamily="18" charset="0"/>
                <a:sym typeface="Symbol" pitchFamily="18" charset="2"/>
              </a:rPr>
              <a:t>.</a:t>
            </a:r>
          </a:p>
          <a:p>
            <a:pPr marL="0" indent="0">
              <a:lnSpc>
                <a:spcPct val="120000"/>
              </a:lnSpc>
              <a:spcBef>
                <a:spcPct val="40000"/>
              </a:spcBef>
              <a:buNone/>
              <a:defRPr/>
            </a:pPr>
            <a:endParaRPr lang="zh-CN" altLang="en-US" sz="2400" dirty="0">
              <a:solidFill>
                <a:srgbClr val="0B61FF"/>
              </a:solidFill>
              <a:cs typeface="Times New Roman" panose="02020603050405020304" pitchFamily="18" charset="0"/>
            </a:endParaRPr>
          </a:p>
          <a:p>
            <a:pPr eaLnBrk="1" hangingPunct="1">
              <a:buFontTx/>
              <a:buNone/>
            </a:pPr>
            <a:endParaRPr lang="zh-CN" altLang="en-US" b="1" dirty="0"/>
          </a:p>
        </p:txBody>
      </p:sp>
    </p:spTree>
    <p:extLst>
      <p:ext uri="{BB962C8B-B14F-4D97-AF65-F5344CB8AC3E}">
        <p14:creationId xmlns:p14="http://schemas.microsoft.com/office/powerpoint/2010/main" val="834661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a:t>
            </a:r>
            <a:r>
              <a:rPr lang="zh-CN" altLang="en-US" sz="2000" b="1" dirty="0">
                <a:latin typeface="+mj-lt"/>
                <a:cs typeface="Times New Roman" panose="02020603050405020304" pitchFamily="18" charset="0"/>
              </a:rPr>
              <a:t>.</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t>Proof of Identity</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9820276"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00000"/>
              </a:lnSpc>
              <a:buClr>
                <a:srgbClr val="0B61FF"/>
              </a:buClr>
              <a:buSzPct val="80000"/>
              <a:buFont typeface="Wingdings" panose="05000000000000000000" pitchFamily="2" charset="2"/>
              <a:buChar char="n"/>
            </a:pPr>
            <a:r>
              <a:rPr lang="en-US" altLang="zh-CN" sz="2400" b="1" dirty="0"/>
              <a:t>Method </a:t>
            </a:r>
          </a:p>
          <a:p>
            <a:pPr marL="609600" indent="-609600" eaLnBrk="1" hangingPunct="1">
              <a:lnSpc>
                <a:spcPct val="100000"/>
              </a:lnSpc>
              <a:buFontTx/>
              <a:buNone/>
            </a:pPr>
            <a:r>
              <a:rPr lang="en-US" altLang="zh-CN" sz="2400" dirty="0"/>
              <a:t>(1) Prove based on the definition.</a:t>
            </a:r>
          </a:p>
          <a:p>
            <a:pPr marL="609600" indent="-609600" eaLnBrk="1" hangingPunct="1">
              <a:lnSpc>
                <a:spcPct val="100000"/>
              </a:lnSpc>
              <a:buFontTx/>
              <a:buNone/>
            </a:pPr>
            <a:r>
              <a:rPr lang="en-US" altLang="zh-CN" sz="2400" dirty="0"/>
              <a:t>(2) Use known set equalities or inclusions and prove through set algebra</a:t>
            </a:r>
            <a:endParaRPr lang="zh-CN" altLang="en-US" sz="2400" b="1" dirty="0"/>
          </a:p>
          <a:p>
            <a:pPr marL="609600" indent="-609600" eaLnBrk="1" hangingPunct="1">
              <a:lnSpc>
                <a:spcPct val="100000"/>
              </a:lnSpc>
              <a:buFontTx/>
              <a:buNone/>
            </a:pPr>
            <a:r>
              <a:rPr lang="en-US" altLang="zh-CN" sz="2400" b="1" dirty="0">
                <a:solidFill>
                  <a:srgbClr val="663300"/>
                </a:solidFill>
              </a:rPr>
              <a:t>           </a:t>
            </a:r>
            <a:r>
              <a:rPr lang="en-US" altLang="zh-CN" sz="2400" b="1" dirty="0"/>
              <a:t>Example </a:t>
            </a:r>
            <a:r>
              <a:rPr lang="zh-CN" altLang="en-US" sz="2400" b="1" dirty="0"/>
              <a:t>3 </a:t>
            </a:r>
            <a:r>
              <a:rPr lang="en-US" altLang="zh-CN" sz="2400" b="1" dirty="0"/>
              <a:t>proof</a:t>
            </a:r>
            <a:r>
              <a:rPr lang="zh-CN" altLang="en-US" sz="2400" b="1" dirty="0"/>
              <a:t>:</a:t>
            </a:r>
          </a:p>
          <a:p>
            <a:pPr marL="609600" indent="-609600" eaLnBrk="1" hangingPunct="1">
              <a:lnSpc>
                <a:spcPct val="100000"/>
              </a:lnSpc>
              <a:buFontTx/>
              <a:buNone/>
            </a:pPr>
            <a:r>
              <a:rPr lang="en-US" altLang="zh-CN" sz="2400" b="1" dirty="0">
                <a:solidFill>
                  <a:srgbClr val="0B61FF"/>
                </a:solidFill>
                <a:cs typeface="Times New Roman" panose="02020603050405020304" pitchFamily="18" charset="0"/>
              </a:rPr>
              <a:t>(1) </a:t>
            </a:r>
            <a:r>
              <a:rPr lang="en-US" altLang="zh-CN" sz="2400" b="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rPr>
              <a:t> ∪ </a:t>
            </a:r>
            <a:r>
              <a:rPr lang="en-US" altLang="zh-CN" sz="2400" b="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rPr>
              <a:t> ∪ </a:t>
            </a:r>
            <a:r>
              <a:rPr lang="en-US" altLang="zh-CN" sz="2400" b="1" dirty="0">
                <a:cs typeface="Times New Roman" panose="02020603050405020304" pitchFamily="18" charset="0"/>
                <a:sym typeface="Symbol" panose="05050102010706020507" pitchFamily="18" charset="2"/>
              </a:rPr>
              <a:t>A (</a:t>
            </a:r>
            <a:r>
              <a:rPr lang="en-US" altLang="zh-CN" sz="2400" dirty="0"/>
              <a:t>Commutative Law of Union</a:t>
            </a:r>
            <a:r>
              <a:rPr lang="zh-CN" altLang="en-US" sz="2400" b="1" dirty="0"/>
              <a:t>)</a:t>
            </a:r>
          </a:p>
          <a:p>
            <a:pPr marL="609600" indent="-609600" eaLnBrk="1" hangingPunct="1">
              <a:lnSpc>
                <a:spcPct val="100000"/>
              </a:lnSpc>
              <a:buFontTx/>
              <a:buNone/>
            </a:pPr>
            <a:r>
              <a:rPr lang="en-US" altLang="zh-CN" sz="2400" b="1" dirty="0"/>
              <a:t>Proof</a:t>
            </a:r>
            <a:r>
              <a:rPr lang="zh-CN" altLang="en-US" sz="2400" b="1" dirty="0"/>
              <a:t>：</a:t>
            </a:r>
            <a:r>
              <a:rPr lang="en-US" altLang="zh-CN" sz="2400" dirty="0"/>
              <a:t>We</a:t>
            </a:r>
            <a:r>
              <a:rPr lang="zh-CN" altLang="en-US" sz="2400" dirty="0"/>
              <a:t> </a:t>
            </a:r>
            <a:r>
              <a:rPr lang="en-US" altLang="zh-CN" sz="2400" dirty="0"/>
              <a:t>need to prove that both A</a:t>
            </a:r>
            <a:r>
              <a:rPr lang="en-US" altLang="zh-CN" sz="2400" dirty="0">
                <a:latin typeface="Cambria Math" panose="02040503050406030204" pitchFamily="18" charset="0"/>
                <a:ea typeface="Cambria Math" panose="02040503050406030204" pitchFamily="18" charset="0"/>
              </a:rPr>
              <a:t>∪</a:t>
            </a:r>
            <a:r>
              <a:rPr lang="en-US" altLang="zh-CN" sz="2400" dirty="0"/>
              <a:t>B⊆B</a:t>
            </a:r>
            <a:r>
              <a:rPr lang="en-US" altLang="zh-CN" sz="2400" dirty="0">
                <a:latin typeface="Cambria Math" panose="02040503050406030204" pitchFamily="18" charset="0"/>
                <a:ea typeface="Cambria Math" panose="02040503050406030204" pitchFamily="18" charset="0"/>
              </a:rPr>
              <a:t>∪</a:t>
            </a:r>
            <a:r>
              <a:rPr lang="en-US" altLang="zh-CN" sz="2400" dirty="0"/>
              <a:t>A and</a:t>
            </a:r>
            <a:r>
              <a:rPr lang="zh-CN" altLang="zh-CN" sz="2400" dirty="0"/>
              <a:t> </a:t>
            </a:r>
            <a:r>
              <a:rPr lang="en-US" altLang="zh-CN" sz="2400" dirty="0"/>
              <a:t>B</a:t>
            </a:r>
            <a:r>
              <a:rPr lang="en-US" altLang="zh-CN" sz="2400" dirty="0">
                <a:latin typeface="Cambria Math" panose="02040503050406030204" pitchFamily="18" charset="0"/>
                <a:ea typeface="Cambria Math" panose="02040503050406030204" pitchFamily="18" charset="0"/>
              </a:rPr>
              <a:t>∪</a:t>
            </a:r>
            <a:r>
              <a:rPr lang="en-US" altLang="zh-CN" sz="2400" dirty="0"/>
              <a:t>A⊆A</a:t>
            </a:r>
            <a:r>
              <a:rPr lang="en-US" altLang="zh-CN" sz="2400" dirty="0">
                <a:latin typeface="Cambria Math" panose="02040503050406030204" pitchFamily="18" charset="0"/>
                <a:ea typeface="Cambria Math" panose="02040503050406030204" pitchFamily="18" charset="0"/>
              </a:rPr>
              <a:t>∪</a:t>
            </a:r>
            <a:r>
              <a:rPr lang="en-US" altLang="zh-CN" sz="2400" dirty="0"/>
              <a:t>B</a:t>
            </a:r>
            <a:r>
              <a:rPr lang="zh-CN" altLang="en-US" sz="2400" dirty="0"/>
              <a:t> </a:t>
            </a:r>
            <a:r>
              <a:rPr lang="en-US" altLang="zh-CN" sz="2400" dirty="0"/>
              <a:t>hold</a:t>
            </a:r>
          </a:p>
          <a:p>
            <a:pPr marL="609600" indent="-609600" eaLnBrk="1" hangingPunct="1">
              <a:lnSpc>
                <a:spcPct val="100000"/>
              </a:lnSpc>
              <a:buFontTx/>
              <a:buNone/>
            </a:pPr>
            <a:r>
              <a:rPr lang="en-US" altLang="zh-CN" sz="2400" b="1" dirty="0">
                <a:sym typeface="Symbol" panose="05050102010706020507" pitchFamily="18" charset="2"/>
              </a:rPr>
              <a:t>          </a:t>
            </a:r>
            <a:r>
              <a:rPr lang="en-US" altLang="zh-CN" sz="2400" b="1" i="1" dirty="0">
                <a:sym typeface="Symbol" panose="05050102010706020507" pitchFamily="18" charset="2"/>
              </a:rPr>
              <a:t>x</a:t>
            </a:r>
            <a:r>
              <a:rPr lang="en-US" altLang="zh-CN" sz="2400" b="1" dirty="0">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rPr>
              <a:t> ∪ </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 </a:t>
            </a:r>
          </a:p>
          <a:p>
            <a:pPr marL="609600" indent="-609600" eaLnBrk="1" hangingPunct="1">
              <a:lnSpc>
                <a:spcPct val="100000"/>
              </a:lnSpc>
              <a:buFontTx/>
              <a:buNone/>
            </a:pPr>
            <a:r>
              <a:rPr lang="en-US" altLang="zh-CN" sz="2400" b="1" dirty="0">
                <a:cs typeface="Times New Roman" panose="02020603050405020304" pitchFamily="18" charset="0"/>
                <a:sym typeface="Symbol" panose="05050102010706020507" pitchFamily="18" charset="2"/>
              </a:rPr>
              <a:t>             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A</a:t>
            </a:r>
            <a:r>
              <a:rPr lang="en-US" altLang="zh-CN" sz="2400" b="1" i="1" dirty="0">
                <a:cs typeface="Times New Roman" panose="02020603050405020304" pitchFamily="18" charset="0"/>
              </a:rPr>
              <a:t> </a:t>
            </a:r>
            <a:r>
              <a:rPr lang="en-US" altLang="zh-CN" sz="2400" b="1" i="1" dirty="0">
                <a:cs typeface="Times New Roman" panose="02020603050405020304" pitchFamily="18" charset="0"/>
                <a:sym typeface="Symbol" panose="05050102010706020507" pitchFamily="18" charset="2"/>
              </a:rPr>
              <a:t>or</a:t>
            </a:r>
            <a:r>
              <a:rPr lang="zh-CN" altLang="en-US" sz="2400" b="1" dirty="0">
                <a:cs typeface="Times New Roman" panose="02020603050405020304" pitchFamily="18" charset="0"/>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B</a:t>
            </a:r>
            <a:r>
              <a:rPr lang="en-US" altLang="zh-CN" sz="2400" b="1" dirty="0">
                <a:cs typeface="Times New Roman" panose="02020603050405020304" pitchFamily="18" charset="0"/>
              </a:rPr>
              <a:t>, Then</a:t>
            </a:r>
            <a:r>
              <a:rPr lang="en-US" altLang="zh-CN" sz="2400" b="1" dirty="0">
                <a:solidFill>
                  <a:srgbClr val="333300"/>
                </a:solidFill>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sym typeface="Symbol" panose="05050102010706020507" pitchFamily="18" charset="2"/>
              </a:rPr>
              <a:t>B</a:t>
            </a:r>
            <a:r>
              <a:rPr lang="en-US" altLang="zh-CN" sz="2400" b="1" i="1" dirty="0">
                <a:sym typeface="Symbol" panose="05050102010706020507" pitchFamily="18" charset="2"/>
              </a:rPr>
              <a:t> </a:t>
            </a:r>
            <a:r>
              <a:rPr lang="zh-CN" altLang="en-US" sz="2400" b="1" dirty="0">
                <a:sym typeface="Symbol" panose="05050102010706020507" pitchFamily="18" charset="2"/>
              </a:rPr>
              <a:t> </a:t>
            </a:r>
            <a:r>
              <a:rPr lang="en-US" altLang="zh-CN" sz="2400" b="1" dirty="0">
                <a:sym typeface="Symbol" panose="05050102010706020507" pitchFamily="18" charset="2"/>
              </a:rPr>
              <a:t>or</a:t>
            </a:r>
            <a:r>
              <a:rPr lang="zh-CN" altLang="en-US" sz="2400" b="1" dirty="0">
                <a:sym typeface="Symbol" panose="05050102010706020507" pitchFamily="18" charset="2"/>
              </a:rPr>
              <a:t> </a:t>
            </a:r>
            <a:r>
              <a:rPr lang="en-US" altLang="zh-CN" sz="2400" b="1" i="1" dirty="0" err="1">
                <a:sym typeface="Symbol" panose="05050102010706020507" pitchFamily="18" charset="2"/>
              </a:rPr>
              <a:t>x</a:t>
            </a:r>
            <a:r>
              <a:rPr lang="en-US" altLang="zh-CN" sz="2400" b="1" dirty="0" err="1">
                <a:latin typeface="Cambria Math" panose="02040503050406030204" pitchFamily="18" charset="0"/>
                <a:ea typeface="Cambria Math" panose="02040503050406030204" pitchFamily="18" charset="0"/>
                <a:sym typeface="Symbol" panose="05050102010706020507" pitchFamily="18" charset="2"/>
              </a:rPr>
              <a:t></a:t>
            </a:r>
            <a:r>
              <a:rPr lang="en-US" altLang="zh-CN" sz="2400" b="1" i="1" dirty="0" err="1">
                <a:sym typeface="Symbol" panose="05050102010706020507" pitchFamily="18" charset="2"/>
              </a:rPr>
              <a:t>A</a:t>
            </a:r>
            <a:endParaRPr lang="zh-CN" altLang="en-US" sz="2400" b="1" dirty="0">
              <a:sym typeface="Symbol" panose="05050102010706020507" pitchFamily="18" charset="2"/>
            </a:endParaRPr>
          </a:p>
          <a:p>
            <a:pPr marL="609600" indent="-609600" eaLnBrk="1" hangingPunct="1">
              <a:lnSpc>
                <a:spcPct val="100000"/>
              </a:lnSpc>
              <a:buFontTx/>
              <a:buNone/>
            </a:pPr>
            <a:r>
              <a:rPr lang="en-US" altLang="zh-CN" sz="2400" b="1" dirty="0">
                <a:solidFill>
                  <a:srgbClr val="333300"/>
                </a:solidFill>
                <a:sym typeface="Symbol" panose="05050102010706020507" pitchFamily="18" charset="2"/>
              </a:rPr>
              <a:t>             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rPr>
              <a:t> ∪ </a:t>
            </a:r>
            <a:r>
              <a:rPr lang="en-US" altLang="zh-CN" sz="2400" b="1" i="1" dirty="0">
                <a:cs typeface="Times New Roman" panose="02020603050405020304" pitchFamily="18" charset="0"/>
              </a:rPr>
              <a:t>A</a:t>
            </a:r>
          </a:p>
          <a:p>
            <a:pPr marL="609600" indent="-609600" eaLnBrk="1" hangingPunct="1">
              <a:lnSpc>
                <a:spcPct val="100000"/>
              </a:lnSpc>
              <a:buFontTx/>
              <a:buNone/>
            </a:pPr>
            <a:r>
              <a:rPr lang="zh-CN" altLang="en-US" sz="2400" b="1" dirty="0">
                <a:cs typeface="Times New Roman" panose="02020603050405020304" pitchFamily="18" charset="0"/>
                <a:sym typeface="Symbol" panose="05050102010706020507" pitchFamily="18" charset="2"/>
              </a:rPr>
              <a:t>              </a:t>
            </a:r>
            <a:r>
              <a:rPr lang="en-US" altLang="zh-CN" sz="2400" b="1" dirty="0">
                <a:cs typeface="Times New Roman" panose="02020603050405020304" pitchFamily="18" charset="0"/>
                <a:sym typeface="Symbol" panose="05050102010706020507" pitchFamily="18" charset="2"/>
              </a:rPr>
              <a:t>Thus, we have proven that </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rPr>
              <a:t> ∪ </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rPr>
              <a:t> ∪ </a:t>
            </a:r>
            <a:r>
              <a:rPr lang="en-US" altLang="zh-CN" sz="2400" b="1" i="1" dirty="0">
                <a:cs typeface="Times New Roman" panose="02020603050405020304" pitchFamily="18" charset="0"/>
                <a:sym typeface="Symbol" panose="05050102010706020507" pitchFamily="18" charset="2"/>
              </a:rPr>
              <a:t>A.</a:t>
            </a:r>
          </a:p>
          <a:p>
            <a:pPr marL="609600" indent="-609600" eaLnBrk="1" hangingPunct="1">
              <a:lnSpc>
                <a:spcPct val="100000"/>
              </a:lnSpc>
              <a:buFontTx/>
              <a:buNone/>
            </a:pPr>
            <a:r>
              <a:rPr lang="en-US" altLang="zh-CN" sz="2400" b="1" i="1" dirty="0">
                <a:cs typeface="Times New Roman" panose="02020603050405020304" pitchFamily="18" charset="0"/>
                <a:sym typeface="Symbol" panose="05050102010706020507" pitchFamily="18" charset="2"/>
              </a:rPr>
              <a:t>              </a:t>
            </a:r>
            <a:r>
              <a:rPr lang="en-US" altLang="zh-CN" sz="2400" b="1" dirty="0">
                <a:cs typeface="Times New Roman" panose="02020603050405020304" pitchFamily="18" charset="0"/>
                <a:sym typeface="Symbol" panose="05050102010706020507" pitchFamily="18" charset="2"/>
              </a:rPr>
              <a:t>Similarly, we can prove that</a:t>
            </a:r>
            <a:r>
              <a:rPr lang="zh-CN" altLang="en-US" sz="2400" b="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rPr>
              <a:t> ∪ </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rPr>
              <a:t> ∪ </a:t>
            </a:r>
            <a:r>
              <a:rPr lang="en-US" altLang="zh-CN" sz="2400" b="1" i="1" dirty="0">
                <a:cs typeface="Times New Roman" panose="02020603050405020304" pitchFamily="18" charset="0"/>
                <a:sym typeface="Symbol" panose="05050102010706020507" pitchFamily="18" charset="2"/>
              </a:rPr>
              <a:t>B.</a:t>
            </a:r>
            <a:endParaRPr lang="zh-CN" altLang="en-US" sz="2400" b="1" dirty="0"/>
          </a:p>
        </p:txBody>
      </p:sp>
      <p:pic>
        <p:nvPicPr>
          <p:cNvPr id="8" name="图片 7">
            <a:extLst>
              <a:ext uri="{FF2B5EF4-FFF2-40B4-BE49-F238E27FC236}">
                <a16:creationId xmlns:a16="http://schemas.microsoft.com/office/drawing/2014/main" id="{0A8EB402-53EC-4FB1-B485-018C1F17FF74}"/>
              </a:ext>
            </a:extLst>
          </p:cNvPr>
          <p:cNvPicPr/>
          <p:nvPr/>
        </p:nvPicPr>
        <p:blipFill>
          <a:blip r:embed="rId5"/>
          <a:stretch>
            <a:fillRect/>
          </a:stretch>
        </p:blipFill>
        <p:spPr>
          <a:xfrm>
            <a:off x="1477439" y="2371914"/>
            <a:ext cx="577850" cy="241300"/>
          </a:xfrm>
          <a:prstGeom prst="rect">
            <a:avLst/>
          </a:prstGeom>
        </p:spPr>
      </p:pic>
    </p:spTree>
    <p:extLst>
      <p:ext uri="{BB962C8B-B14F-4D97-AF65-F5344CB8AC3E}">
        <p14:creationId xmlns:p14="http://schemas.microsoft.com/office/powerpoint/2010/main" val="395180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1000"/>
                                        <p:tgtEl>
                                          <p:spTgt spid="7">
                                            <p:txEl>
                                              <p:pRg st="4" end="4"/>
                                            </p:txEl>
                                          </p:spTgt>
                                        </p:tgtEl>
                                      </p:cBhvr>
                                    </p:animEffect>
                                    <p:anim calcmode="lin" valueType="num">
                                      <p:cBhvr>
                                        <p:cTn id="1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fade">
                                      <p:cBhvr>
                                        <p:cTn id="24" dur="1000"/>
                                        <p:tgtEl>
                                          <p:spTgt spid="7">
                                            <p:txEl>
                                              <p:pRg st="5" end="5"/>
                                            </p:txEl>
                                          </p:spTgt>
                                        </p:tgtEl>
                                      </p:cBhvr>
                                    </p:animEffect>
                                    <p:anim calcmode="lin" valueType="num">
                                      <p:cBhvr>
                                        <p:cTn id="2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1000"/>
                                        <p:tgtEl>
                                          <p:spTgt spid="7">
                                            <p:txEl>
                                              <p:pRg st="6" end="6"/>
                                            </p:txEl>
                                          </p:spTgt>
                                        </p:tgtEl>
                                      </p:cBhvr>
                                    </p:animEffect>
                                    <p:anim calcmode="lin" valueType="num">
                                      <p:cBhvr>
                                        <p:cTn id="3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7" end="7"/>
                                            </p:txEl>
                                          </p:spTgt>
                                        </p:tgtEl>
                                        <p:attrNameLst>
                                          <p:attrName>style.visibility</p:attrName>
                                        </p:attrNameLst>
                                      </p:cBhvr>
                                      <p:to>
                                        <p:strVal val="visible"/>
                                      </p:to>
                                    </p:set>
                                    <p:animEffect transition="in" filter="fade">
                                      <p:cBhvr>
                                        <p:cTn id="34" dur="1000"/>
                                        <p:tgtEl>
                                          <p:spTgt spid="7">
                                            <p:txEl>
                                              <p:pRg st="7" end="7"/>
                                            </p:txEl>
                                          </p:spTgt>
                                        </p:tgtEl>
                                      </p:cBhvr>
                                    </p:animEffect>
                                    <p:anim calcmode="lin" valueType="num">
                                      <p:cBhvr>
                                        <p:cTn id="35"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Effect transition="in" filter="fade">
                                      <p:cBhvr>
                                        <p:cTn id="39" dur="1000"/>
                                        <p:tgtEl>
                                          <p:spTgt spid="7">
                                            <p:txEl>
                                              <p:pRg st="8" end="8"/>
                                            </p:txEl>
                                          </p:spTgt>
                                        </p:tgtEl>
                                      </p:cBhvr>
                                    </p:animEffect>
                                    <p:anim calcmode="lin" valueType="num">
                                      <p:cBhvr>
                                        <p:cTn id="4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8" end="8"/>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7">
                                            <p:txEl>
                                              <p:pRg st="9" end="9"/>
                                            </p:txEl>
                                          </p:spTgt>
                                        </p:tgtEl>
                                        <p:attrNameLst>
                                          <p:attrName>style.visibility</p:attrName>
                                        </p:attrNameLst>
                                      </p:cBhvr>
                                      <p:to>
                                        <p:strVal val="visible"/>
                                      </p:to>
                                    </p:set>
                                    <p:animEffect transition="in" filter="fade">
                                      <p:cBhvr>
                                        <p:cTn id="44" dur="1000"/>
                                        <p:tgtEl>
                                          <p:spTgt spid="7">
                                            <p:txEl>
                                              <p:pRg st="9" end="9"/>
                                            </p:txEl>
                                          </p:spTgt>
                                        </p:tgtEl>
                                      </p:cBhvr>
                                    </p:animEffect>
                                    <p:anim calcmode="lin" valueType="num">
                                      <p:cBhvr>
                                        <p:cTn id="45"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9" end="9"/>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7">
                                            <p:txEl>
                                              <p:pRg st="10" end="10"/>
                                            </p:txEl>
                                          </p:spTgt>
                                        </p:tgtEl>
                                        <p:attrNameLst>
                                          <p:attrName>style.visibility</p:attrName>
                                        </p:attrNameLst>
                                      </p:cBhvr>
                                      <p:to>
                                        <p:strVal val="visible"/>
                                      </p:to>
                                    </p:set>
                                    <p:animEffect transition="in" filter="fade">
                                      <p:cBhvr>
                                        <p:cTn id="49" dur="1000"/>
                                        <p:tgtEl>
                                          <p:spTgt spid="7">
                                            <p:txEl>
                                              <p:pRg st="10" end="10"/>
                                            </p:txEl>
                                          </p:spTgt>
                                        </p:tgtEl>
                                      </p:cBhvr>
                                    </p:animEffect>
                                    <p:anim calcmode="lin" valueType="num">
                                      <p:cBhvr>
                                        <p:cTn id="50"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a:t>
            </a:r>
            <a:r>
              <a:rPr lang="zh-CN" altLang="en-US" sz="2000" b="1" dirty="0">
                <a:latin typeface="+mj-lt"/>
                <a:cs typeface="Times New Roman" panose="02020603050405020304" pitchFamily="18" charset="0"/>
              </a:rPr>
              <a:t>.</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t>Proof of Identity</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713732" y="765175"/>
            <a:ext cx="11086381"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buNone/>
            </a:pPr>
            <a:r>
              <a:rPr lang="en-US" altLang="zh-CN" sz="2400" b="1" dirty="0">
                <a:solidFill>
                  <a:srgbClr val="0B61FF"/>
                </a:solidFill>
                <a:cs typeface="Times New Roman" panose="02020603050405020304" pitchFamily="18" charset="0"/>
              </a:rPr>
              <a:t>(2) </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rPr>
              <a:t> ∪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rPr>
              <a:t> ∪ </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rPr>
              <a:t> ∪ </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    (</a:t>
            </a:r>
            <a:r>
              <a:rPr lang="en-US" altLang="zh-CN" sz="2400" i="0" dirty="0">
                <a:solidFill>
                  <a:srgbClr val="0C0D0E"/>
                </a:solidFill>
                <a:effectLst/>
              </a:rPr>
              <a:t>Distributive Law of Union over Intersection</a:t>
            </a:r>
            <a:r>
              <a:rPr lang="zh-CN" altLang="en-US" sz="2400" b="1" dirty="0"/>
              <a:t>)</a:t>
            </a:r>
          </a:p>
          <a:p>
            <a:pPr eaLnBrk="1" hangingPunct="1">
              <a:lnSpc>
                <a:spcPct val="90000"/>
              </a:lnSpc>
              <a:buFontTx/>
              <a:buNone/>
            </a:pPr>
            <a:r>
              <a:rPr lang="en-US" altLang="zh-CN" sz="2400" b="1" dirty="0"/>
              <a:t>Proof</a:t>
            </a:r>
            <a:r>
              <a:rPr lang="zh-CN" altLang="en-US" sz="2400" b="1" dirty="0"/>
              <a:t>：</a:t>
            </a:r>
            <a:r>
              <a:rPr lang="en-US" altLang="zh-CN" sz="2400" dirty="0"/>
              <a:t>We need to proof </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zh-CN" altLang="en-US" sz="2400" b="1" dirty="0">
                <a:cs typeface="Times New Roman" panose="02020603050405020304" pitchFamily="18" charset="0"/>
                <a:sym typeface="Symbol" panose="05050102010706020507" pitchFamily="18" charset="2"/>
              </a:rPr>
              <a:t> </a:t>
            </a:r>
            <a:r>
              <a:rPr lang="en-US" altLang="zh-CN" sz="2400" b="1" dirty="0">
                <a:cs typeface="Times New Roman" panose="02020603050405020304" pitchFamily="18" charset="0"/>
                <a:sym typeface="Symbol" panose="05050102010706020507" pitchFamily="18" charset="2"/>
              </a:rPr>
              <a:t>and</a:t>
            </a:r>
            <a:r>
              <a:rPr lang="zh-CN" altLang="en-US" sz="2400" b="1" dirty="0">
                <a:cs typeface="Times New Roman" panose="02020603050405020304" pitchFamily="18" charset="0"/>
                <a:sym typeface="Symbol" panose="05050102010706020507" pitchFamily="18" charset="2"/>
              </a:rPr>
              <a:t> </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endParaRPr lang="en-US" altLang="zh-CN" sz="2400" b="1" dirty="0"/>
          </a:p>
          <a:p>
            <a:pPr eaLnBrk="1" hangingPunct="1">
              <a:lnSpc>
                <a:spcPct val="90000"/>
              </a:lnSpc>
              <a:buFontTx/>
              <a:buNone/>
            </a:pPr>
            <a:r>
              <a:rPr lang="zh-CN" altLang="en-US" sz="2400" b="1" dirty="0"/>
              <a:t> </a:t>
            </a:r>
            <a:r>
              <a:rPr lang="en-US" altLang="zh-CN" sz="2400" b="1" dirty="0">
                <a:sym typeface="Symbol" panose="05050102010706020507" pitchFamily="18" charset="2"/>
              </a:rPr>
              <a:t></a:t>
            </a:r>
            <a:r>
              <a:rPr lang="en-US" altLang="zh-CN" sz="2400" b="1" i="1" dirty="0">
                <a:sym typeface="Symbol" panose="05050102010706020507" pitchFamily="18" charset="2"/>
              </a:rPr>
              <a:t>x</a:t>
            </a:r>
            <a:r>
              <a:rPr lang="en-US" altLang="zh-CN" sz="2400" b="1" dirty="0">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p>
          <a:p>
            <a:pPr eaLnBrk="1" hangingPunct="1">
              <a:lnSpc>
                <a:spcPct val="90000"/>
              </a:lnSpc>
              <a:buFontTx/>
              <a:buNone/>
            </a:pPr>
            <a:r>
              <a:rPr lang="en-US" altLang="zh-CN" sz="2400" b="1" dirty="0">
                <a:solidFill>
                  <a:srgbClr val="333300"/>
                </a:solidFill>
                <a:sym typeface="Symbol" panose="05050102010706020507" pitchFamily="18" charset="2"/>
              </a:rPr>
              <a:t>         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A</a:t>
            </a:r>
            <a:r>
              <a:rPr lang="zh-CN" altLang="en-US" sz="2400" b="1" i="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sym typeface="Symbol" panose="05050102010706020507" pitchFamily="18" charset="2"/>
              </a:rPr>
              <a:t>or</a:t>
            </a:r>
            <a:r>
              <a:rPr lang="zh-CN" altLang="en-US" sz="2400" b="1" i="1" dirty="0">
                <a:cs typeface="Times New Roman" panose="02020603050405020304" pitchFamily="18" charset="0"/>
                <a:sym typeface="Symbol" panose="05050102010706020507" pitchFamily="18" charset="2"/>
              </a:rPr>
              <a:t> </a:t>
            </a:r>
            <a:r>
              <a:rPr lang="en-US" altLang="zh-CN" sz="2400" b="1" dirty="0">
                <a:sym typeface="Symbol" panose="05050102010706020507" pitchFamily="18" charset="2"/>
              </a:rPr>
              <a:t>(</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B</a:t>
            </a:r>
            <a:r>
              <a:rPr lang="en-US" altLang="zh-CN" sz="2400" b="1" i="1" dirty="0">
                <a:cs typeface="Times New Roman" panose="02020603050405020304" pitchFamily="18" charset="0"/>
              </a:rPr>
              <a:t> </a:t>
            </a:r>
            <a:r>
              <a:rPr lang="en-US" altLang="zh-CN" sz="2400" b="1" i="1" dirty="0">
                <a:cs typeface="Times New Roman" panose="02020603050405020304" pitchFamily="18" charset="0"/>
                <a:sym typeface="Symbol" panose="05050102010706020507" pitchFamily="18" charset="2"/>
              </a:rPr>
              <a:t>and</a:t>
            </a:r>
            <a:r>
              <a:rPr lang="en-US" altLang="zh-CN" sz="2400" b="1" dirty="0">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endParaRPr lang="zh-CN" altLang="en-US" sz="2400" b="1" dirty="0">
              <a:sym typeface="Symbol" panose="05050102010706020507" pitchFamily="18" charset="2"/>
            </a:endParaRPr>
          </a:p>
          <a:p>
            <a:pPr eaLnBrk="1" hangingPunct="1">
              <a:lnSpc>
                <a:spcPct val="90000"/>
              </a:lnSpc>
              <a:buFontTx/>
              <a:buNone/>
            </a:pPr>
            <a:r>
              <a:rPr lang="en-US" altLang="zh-CN" sz="2400" b="1" dirty="0">
                <a:solidFill>
                  <a:srgbClr val="333300"/>
                </a:solidFill>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A</a:t>
            </a:r>
            <a:r>
              <a:rPr lang="zh-CN" altLang="en-US" sz="2400" b="1" i="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sym typeface="Symbol" panose="05050102010706020507" pitchFamily="18" charset="2"/>
              </a:rPr>
              <a:t>or</a:t>
            </a:r>
            <a:r>
              <a:rPr lang="zh-CN" altLang="en-US" sz="2400" b="1" i="1" dirty="0">
                <a:cs typeface="Times New Roman" panose="02020603050405020304" pitchFamily="18" charset="0"/>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B</a:t>
            </a:r>
            <a:r>
              <a:rPr lang="en-US" altLang="zh-CN" sz="2400" b="1" dirty="0">
                <a:cs typeface="Times New Roman" panose="02020603050405020304" pitchFamily="18" charset="0"/>
              </a:rPr>
              <a:t>) </a:t>
            </a:r>
            <a:r>
              <a:rPr lang="en-US" altLang="zh-CN" sz="2400" b="1" i="1" dirty="0">
                <a:cs typeface="Times New Roman" panose="02020603050405020304" pitchFamily="18" charset="0"/>
              </a:rPr>
              <a:t>and </a:t>
            </a:r>
            <a:r>
              <a:rPr lang="en-US" altLang="zh-CN" sz="2400" b="1" dirty="0">
                <a:sym typeface="Symbol" panose="05050102010706020507" pitchFamily="18" charset="2"/>
              </a:rPr>
              <a:t>(</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A</a:t>
            </a:r>
            <a:r>
              <a:rPr lang="en-US" altLang="zh-CN" sz="2400" b="1" i="1" dirty="0">
                <a:cs typeface="Times New Roman" panose="02020603050405020304" pitchFamily="18" charset="0"/>
                <a:sym typeface="Symbol" panose="05050102010706020507" pitchFamily="18" charset="2"/>
              </a:rPr>
              <a:t> or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C</a:t>
            </a:r>
            <a:r>
              <a:rPr lang="en-US" altLang="zh-CN" sz="2400" b="1" dirty="0">
                <a:sym typeface="Symbol" panose="05050102010706020507" pitchFamily="18" charset="2"/>
              </a:rPr>
              <a:t>)</a:t>
            </a:r>
            <a:endParaRPr lang="zh-CN" altLang="en-US" sz="2400" b="1" dirty="0">
              <a:sym typeface="Symbol" panose="05050102010706020507" pitchFamily="18" charset="2"/>
            </a:endParaRPr>
          </a:p>
          <a:p>
            <a:pPr eaLnBrk="1" hangingPunct="1">
              <a:lnSpc>
                <a:spcPct val="90000"/>
              </a:lnSpc>
              <a:buFontTx/>
              <a:buNone/>
            </a:pPr>
            <a:r>
              <a:rPr lang="en-US" altLang="zh-CN" sz="2400" b="1" dirty="0">
                <a:solidFill>
                  <a:srgbClr val="333300"/>
                </a:solidFill>
                <a:sym typeface="Symbol" panose="05050102010706020507" pitchFamily="18" charset="2"/>
              </a:rPr>
              <a:t>         </a:t>
            </a:r>
            <a:r>
              <a:rPr lang="en-US" altLang="zh-CN" sz="2400" b="1" i="1" dirty="0">
                <a:sym typeface="Symbol" panose="05050102010706020507" pitchFamily="18" charset="2"/>
              </a:rPr>
              <a:t>x</a:t>
            </a:r>
            <a:r>
              <a:rPr lang="en-US" altLang="zh-CN" sz="2400" b="1" dirty="0">
                <a:sym typeface="Symbol" panose="05050102010706020507" pitchFamily="18" charset="2"/>
              </a:rPr>
              <a:t></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 </a:t>
            </a:r>
          </a:p>
          <a:p>
            <a:pPr eaLnBrk="1" hangingPunct="1">
              <a:lnSpc>
                <a:spcPct val="90000"/>
              </a:lnSpc>
              <a:buFontTx/>
              <a:buNone/>
            </a:pPr>
            <a:r>
              <a:rPr lang="zh-CN" altLang="en-US" sz="2400" b="1" dirty="0">
                <a:cs typeface="Times New Roman" panose="02020603050405020304" pitchFamily="18" charset="0"/>
                <a:sym typeface="Symbol" panose="05050102010706020507" pitchFamily="18" charset="2"/>
              </a:rPr>
              <a:t>      </a:t>
            </a:r>
            <a:r>
              <a:rPr lang="en-US" altLang="zh-CN" sz="2400" b="1" dirty="0">
                <a:cs typeface="Times New Roman" panose="02020603050405020304" pitchFamily="18" charset="0"/>
                <a:sym typeface="Symbol" panose="05050102010706020507" pitchFamily="18" charset="2"/>
              </a:rPr>
              <a:t>Therefore</a:t>
            </a:r>
            <a:r>
              <a:rPr lang="zh-CN" altLang="en-US" sz="2400" b="1" dirty="0">
                <a:cs typeface="Times New Roman" panose="02020603050405020304" pitchFamily="18" charset="0"/>
                <a:sym typeface="Symbol" panose="05050102010706020507" pitchFamily="18" charset="2"/>
              </a:rPr>
              <a:t> </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p>
          <a:p>
            <a:pPr eaLnBrk="1" hangingPunct="1">
              <a:lnSpc>
                <a:spcPct val="90000"/>
              </a:lnSpc>
              <a:buFontTx/>
              <a:buNone/>
            </a:pPr>
            <a:r>
              <a:rPr lang="en-US" altLang="zh-CN" sz="2400" b="1" dirty="0">
                <a:cs typeface="Times New Roman" panose="02020603050405020304" pitchFamily="18" charset="0"/>
                <a:sym typeface="Symbol" panose="05050102010706020507" pitchFamily="18" charset="2"/>
              </a:rPr>
              <a:t>    </a:t>
            </a:r>
            <a:r>
              <a:rPr lang="en-US" altLang="zh-CN" sz="2400" i="0" dirty="0">
                <a:solidFill>
                  <a:srgbClr val="0C0D0E"/>
                </a:solidFill>
                <a:effectLst/>
                <a:latin typeface="-apple-system"/>
              </a:rPr>
              <a:t>which proves </a:t>
            </a:r>
            <a:r>
              <a:rPr lang="zh-CN" altLang="en-US" sz="2400" b="1" dirty="0">
                <a:cs typeface="Times New Roman" panose="02020603050405020304" pitchFamily="18" charset="0"/>
                <a:sym typeface="Symbol" panose="05050102010706020507" pitchFamily="18" charset="2"/>
              </a:rPr>
              <a:t> </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rPr>
              <a:t>A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rPr>
              <a:t>C</a:t>
            </a:r>
            <a:r>
              <a:rPr lang="en-US" altLang="zh-CN" sz="2400" b="1" dirty="0">
                <a:cs typeface="Times New Roman" panose="02020603050405020304" pitchFamily="18" charset="0"/>
                <a:sym typeface="Symbol" panose="05050102010706020507" pitchFamily="18" charset="2"/>
              </a:rPr>
              <a:t>).</a:t>
            </a:r>
          </a:p>
          <a:p>
            <a:pPr>
              <a:buNone/>
            </a:pPr>
            <a:r>
              <a:rPr lang="en-US" altLang="zh-CN" sz="2400" b="1" dirty="0">
                <a:solidFill>
                  <a:srgbClr val="0B61FF"/>
                </a:solidFill>
                <a:cs typeface="Times New Roman" panose="02020603050405020304" pitchFamily="18" charset="0"/>
              </a:rPr>
              <a:t>(3)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E</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E </a:t>
            </a:r>
            <a:r>
              <a:rPr lang="en-US" altLang="zh-CN" sz="2400" b="1" dirty="0">
                <a:cs typeface="Times New Roman" panose="02020603050405020304" pitchFamily="18" charset="0"/>
                <a:sym typeface="Symbol" panose="05050102010706020507" pitchFamily="18" charset="2"/>
              </a:rPr>
              <a:t>(</a:t>
            </a:r>
            <a:r>
              <a:rPr lang="en-US" altLang="zh-CN" sz="2400" i="0" dirty="0">
                <a:solidFill>
                  <a:srgbClr val="0C0D0E"/>
                </a:solidFill>
                <a:effectLst/>
              </a:rPr>
              <a:t>Union with the Universal Set</a:t>
            </a:r>
            <a:r>
              <a:rPr lang="zh-CN" altLang="en-US" sz="2400" b="1" dirty="0">
                <a:cs typeface="Times New Roman" panose="02020603050405020304" pitchFamily="18" charset="0"/>
              </a:rPr>
              <a:t>)</a:t>
            </a:r>
          </a:p>
          <a:p>
            <a:pPr eaLnBrk="1" hangingPunct="1">
              <a:lnSpc>
                <a:spcPct val="90000"/>
              </a:lnSpc>
              <a:buFontTx/>
              <a:buNone/>
            </a:pPr>
            <a:r>
              <a:rPr lang="en-US" altLang="zh-CN" sz="2400" b="1" dirty="0"/>
              <a:t>Proof</a:t>
            </a:r>
            <a:r>
              <a:rPr lang="zh-CN" altLang="en-US" sz="2400" b="1" dirty="0"/>
              <a:t>：</a:t>
            </a:r>
            <a:r>
              <a:rPr lang="en-US" altLang="zh-CN" sz="2400" i="0" dirty="0">
                <a:solidFill>
                  <a:srgbClr val="0C0D0E"/>
                </a:solidFill>
                <a:effectLst/>
              </a:rPr>
              <a:t>According to the definition of union</a:t>
            </a:r>
            <a:r>
              <a:rPr lang="en-US" altLang="zh-CN" sz="2400" dirty="0"/>
              <a:t>, </a:t>
            </a:r>
            <a:r>
              <a:rPr lang="en-US" altLang="zh-CN" sz="2400" dirty="0">
                <a:sym typeface="Symbol" panose="05050102010706020507" pitchFamily="18" charset="2"/>
              </a:rPr>
              <a:t>we</a:t>
            </a:r>
            <a:r>
              <a:rPr lang="zh-CN" altLang="en-US" sz="2400" dirty="0">
                <a:sym typeface="Symbol" panose="05050102010706020507" pitchFamily="18" charset="2"/>
              </a:rPr>
              <a:t> </a:t>
            </a:r>
            <a:r>
              <a:rPr lang="en-US" altLang="zh-CN" sz="2400" dirty="0">
                <a:sym typeface="Symbol" panose="05050102010706020507" pitchFamily="18" charset="2"/>
              </a:rPr>
              <a:t>have</a:t>
            </a:r>
            <a:r>
              <a:rPr lang="zh-CN" altLang="en-US" sz="2400" dirty="0">
                <a:sym typeface="Symbol" panose="05050102010706020507" pitchFamily="18" charset="2"/>
              </a:rPr>
              <a:t>  </a:t>
            </a:r>
            <a:r>
              <a:rPr lang="en-US" altLang="zh-CN" sz="2400" b="1" i="1" dirty="0"/>
              <a:t>E </a:t>
            </a:r>
            <a:r>
              <a:rPr lang="en-US" altLang="zh-CN" sz="2400" b="1" dirty="0">
                <a:sym typeface="Symbol" panose="05050102010706020507" pitchFamily="18" charset="2"/>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E.</a:t>
            </a:r>
            <a:endParaRPr lang="zh-CN" altLang="en-US" sz="2400" b="1" dirty="0"/>
          </a:p>
          <a:p>
            <a:pPr eaLnBrk="1" hangingPunct="1">
              <a:lnSpc>
                <a:spcPct val="90000"/>
              </a:lnSpc>
              <a:buFontTx/>
              <a:buNone/>
            </a:pPr>
            <a:r>
              <a:rPr lang="zh-CN" altLang="en-US" sz="2400" b="1" dirty="0">
                <a:sym typeface="Symbol" panose="05050102010706020507" pitchFamily="18" charset="2"/>
              </a:rPr>
              <a:t>      </a:t>
            </a:r>
            <a:r>
              <a:rPr lang="en-US" altLang="zh-CN" sz="2400" i="0" dirty="0">
                <a:solidFill>
                  <a:srgbClr val="0C0D0E"/>
                </a:solidFill>
                <a:effectLst/>
              </a:rPr>
              <a:t>According to the definition of the universal set,</a:t>
            </a:r>
            <a:r>
              <a:rPr lang="en-US" altLang="zh-CN" sz="2400" b="1" dirty="0">
                <a:sym typeface="Symbol" panose="05050102010706020507" pitchFamily="18" charset="2"/>
              </a:rPr>
              <a:t> </a:t>
            </a:r>
            <a:r>
              <a:rPr lang="en-US" altLang="zh-CN" sz="2400" dirty="0">
                <a:sym typeface="Symbol" panose="05050102010706020507" pitchFamily="18" charset="2"/>
              </a:rPr>
              <a:t>we</a:t>
            </a:r>
            <a:r>
              <a:rPr lang="zh-CN" altLang="en-US" sz="2400" dirty="0">
                <a:sym typeface="Symbol" panose="05050102010706020507" pitchFamily="18" charset="2"/>
              </a:rPr>
              <a:t> </a:t>
            </a:r>
            <a:r>
              <a:rPr lang="en-US" altLang="zh-CN" sz="2400" dirty="0">
                <a:sym typeface="Symbol" panose="05050102010706020507" pitchFamily="18" charset="2"/>
              </a:rPr>
              <a:t>have</a:t>
            </a:r>
            <a:r>
              <a:rPr lang="zh-CN" altLang="en-US" sz="2400" dirty="0">
                <a:sym typeface="Symbol" panose="05050102010706020507" pitchFamily="18" charset="2"/>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t>E </a:t>
            </a:r>
            <a:r>
              <a:rPr lang="en-US" altLang="zh-CN" sz="2400" b="1" dirty="0">
                <a:sym typeface="Symbol" panose="05050102010706020507" pitchFamily="18" charset="2"/>
              </a:rPr>
              <a:t> </a:t>
            </a:r>
            <a:r>
              <a:rPr lang="en-US" altLang="zh-CN" sz="2400" b="1" i="1" dirty="0">
                <a:cs typeface="Times New Roman" panose="02020603050405020304" pitchFamily="18" charset="0"/>
              </a:rPr>
              <a:t>E</a:t>
            </a:r>
            <a:endParaRPr lang="zh-CN" altLang="en-US" sz="2400" b="1" dirty="0"/>
          </a:p>
        </p:txBody>
      </p:sp>
    </p:spTree>
    <p:extLst>
      <p:ext uri="{BB962C8B-B14F-4D97-AF65-F5344CB8AC3E}">
        <p14:creationId xmlns:p14="http://schemas.microsoft.com/office/powerpoint/2010/main" val="39065750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9" end="9"/>
                                            </p:txEl>
                                          </p:spTgt>
                                        </p:tgtEl>
                                        <p:attrNameLst>
                                          <p:attrName>style.visibility</p:attrName>
                                        </p:attrNameLst>
                                      </p:cBhvr>
                                      <p:to>
                                        <p:strVal val="visible"/>
                                      </p:to>
                                    </p:set>
                                    <p:anim calcmode="lin" valueType="num">
                                      <p:cBhvr additive="base">
                                        <p:cTn id="7"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
                                            <p:txEl>
                                              <p:pRg st="10" end="10"/>
                                            </p:txEl>
                                          </p:spTgt>
                                        </p:tgtEl>
                                        <p:attrNameLst>
                                          <p:attrName>style.visibility</p:attrName>
                                        </p:attrNameLst>
                                      </p:cBhvr>
                                      <p:to>
                                        <p:strVal val="visible"/>
                                      </p:to>
                                    </p:set>
                                    <p:anim calcmode="lin" valueType="num">
                                      <p:cBhvr additive="base">
                                        <p:cTn id="11" dur="500" fill="hold"/>
                                        <p:tgtEl>
                                          <p:spTgt spid="7">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
                                            <p:txEl>
                                              <p:pRg st="11" end="11"/>
                                            </p:txEl>
                                          </p:spTgt>
                                        </p:tgtEl>
                                        <p:attrNameLst>
                                          <p:attrName>style.visibility</p:attrName>
                                        </p:attrNameLst>
                                      </p:cBhvr>
                                      <p:to>
                                        <p:strVal val="visible"/>
                                      </p:to>
                                    </p:set>
                                    <p:anim calcmode="lin" valueType="num">
                                      <p:cBhvr additive="base">
                                        <p:cTn id="15" dur="500" fill="hold"/>
                                        <p:tgtEl>
                                          <p:spTgt spid="7">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a:t>
            </a:r>
            <a:r>
              <a:rPr lang="zh-CN" altLang="en-US" sz="2000" b="1" dirty="0">
                <a:latin typeface="+mj-lt"/>
                <a:cs typeface="Times New Roman" panose="02020603050405020304" pitchFamily="18" charset="0"/>
              </a:rPr>
              <a:t>.</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t>Proof of Identity</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9035143"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buNone/>
            </a:pPr>
            <a:r>
              <a:rPr lang="en-US" altLang="zh-CN" sz="2400" b="1" dirty="0">
                <a:solidFill>
                  <a:srgbClr val="0B61FF"/>
                </a:solidFill>
                <a:cs typeface="Times New Roman" panose="02020603050405020304" pitchFamily="18" charset="0"/>
              </a:rPr>
              <a:t>(4) </a:t>
            </a:r>
            <a:r>
              <a:rPr lang="en-US" altLang="zh-CN" sz="2400" b="1" i="1" dirty="0">
                <a:cs typeface="Times New Roman" panose="02020603050405020304" pitchFamily="18" charset="0"/>
              </a:rPr>
              <a:t>A</a:t>
            </a:r>
            <a:r>
              <a:rPr lang="en-US" altLang="zh-CN" sz="2400" b="1" dirty="0">
                <a:sym typeface="Symbol" panose="05050102010706020507" pitchFamily="18" charset="2"/>
              </a:rPr>
              <a:t></a:t>
            </a:r>
            <a:r>
              <a:rPr lang="en-US" altLang="zh-CN" sz="2400" b="1" i="1" dirty="0">
                <a:cs typeface="Times New Roman" panose="02020603050405020304" pitchFamily="18" charset="0"/>
              </a:rPr>
              <a:t>E</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   </a:t>
            </a:r>
            <a:r>
              <a:rPr lang="en-US" altLang="zh-CN" sz="2400" b="1" dirty="0">
                <a:cs typeface="Times New Roman" panose="02020603050405020304" pitchFamily="18" charset="0"/>
                <a:sym typeface="Symbol" panose="05050102010706020507" pitchFamily="18" charset="2"/>
              </a:rPr>
              <a:t>(</a:t>
            </a:r>
            <a:r>
              <a:rPr lang="en-US" altLang="zh-CN" sz="2400" i="0" dirty="0">
                <a:solidFill>
                  <a:srgbClr val="0C0D0E"/>
                </a:solidFill>
                <a:effectLst/>
              </a:rPr>
              <a:t>Law of Identity</a:t>
            </a:r>
            <a:r>
              <a:rPr lang="zh-CN" altLang="en-US" sz="2400" b="1" dirty="0">
                <a:cs typeface="Times New Roman" panose="02020603050405020304" pitchFamily="18" charset="0"/>
              </a:rPr>
              <a:t>)</a:t>
            </a:r>
            <a:endParaRPr lang="zh-CN" altLang="en-US" sz="2400" b="1" dirty="0">
              <a:sym typeface="Symbol" panose="05050102010706020507" pitchFamily="18" charset="2"/>
            </a:endParaRPr>
          </a:p>
          <a:p>
            <a:pPr eaLnBrk="1" hangingPunct="1">
              <a:buFont typeface="Symbol" panose="05050102010706020507" pitchFamily="18" charset="2"/>
              <a:buNone/>
            </a:pPr>
            <a:r>
              <a:rPr lang="en-US" altLang="zh-CN" sz="2400" b="1" dirty="0">
                <a:sym typeface="Symbol" panose="05050102010706020507" pitchFamily="18" charset="2"/>
              </a:rPr>
              <a:t>Proof</a:t>
            </a:r>
            <a:r>
              <a:rPr lang="zh-CN" altLang="en-US" sz="2400" b="1" dirty="0">
                <a:sym typeface="Symbol" panose="05050102010706020507" pitchFamily="18" charset="2"/>
              </a:rPr>
              <a:t>：</a:t>
            </a:r>
            <a:r>
              <a:rPr lang="en-US" altLang="zh-CN" sz="2400" b="1" dirty="0">
                <a:sym typeface="Symbol" panose="05050102010706020507" pitchFamily="18" charset="2"/>
              </a:rPr>
              <a:t>We need to prove</a:t>
            </a:r>
            <a:r>
              <a:rPr lang="zh-CN" altLang="zh-CN" sz="2400" dirty="0">
                <a:effectLst/>
                <a:ea typeface="等线" panose="02010600030101010101" pitchFamily="2" charset="-122"/>
                <a:cs typeface="Times New Roman" panose="02020603050405020304" pitchFamily="18" charset="0"/>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rPr>
              <a:t>⊆</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i="1" dirty="0">
                <a:cs typeface="Times New Roman" panose="02020603050405020304" pitchFamily="18" charset="0"/>
              </a:rPr>
              <a:t>E</a:t>
            </a:r>
            <a:r>
              <a:rPr lang="en-US" altLang="zh-CN" sz="2400" i="1" dirty="0">
                <a:effectLst/>
                <a:latin typeface="KaTeX_Math"/>
                <a:ea typeface="等线" panose="02010600030101010101" pitchFamily="2" charset="-122"/>
                <a:cs typeface="Times New Roman" panose="02020603050405020304" pitchFamily="18" charset="0"/>
              </a:rPr>
              <a:t> </a:t>
            </a:r>
            <a:r>
              <a:rPr lang="zh-CN" altLang="en-US" sz="2400" b="1" i="1" dirty="0">
                <a:effectLst/>
                <a:latin typeface="KaTeX_Math"/>
                <a:ea typeface="等线" panose="02010600030101010101" pitchFamily="2" charset="-122"/>
                <a:cs typeface="Times New Roman" panose="02020603050405020304" pitchFamily="18" charset="0"/>
              </a:rPr>
              <a:t> </a:t>
            </a:r>
            <a:r>
              <a:rPr lang="en-US" altLang="zh-CN" sz="2400" b="1" i="1" dirty="0">
                <a:effectLst/>
                <a:latin typeface="KaTeX_Math"/>
                <a:ea typeface="等线" panose="02010600030101010101" pitchFamily="2" charset="-122"/>
                <a:cs typeface="Times New Roman" panose="02020603050405020304" pitchFamily="18" charset="0"/>
              </a:rPr>
              <a:t>and</a:t>
            </a:r>
            <a:r>
              <a:rPr lang="zh-CN" altLang="en-US" sz="2400" b="1" i="1" dirty="0">
                <a:effectLst/>
                <a:latin typeface="KaTeX_Math"/>
                <a:ea typeface="等线" panose="02010600030101010101" pitchFamily="2" charset="-122"/>
                <a:cs typeface="Times New Roman" panose="02020603050405020304" pitchFamily="18" charset="0"/>
              </a:rPr>
              <a:t> </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 ∩ </a:t>
            </a:r>
            <a:r>
              <a:rPr lang="en-US" altLang="zh-CN" sz="2400" b="1" i="1" dirty="0">
                <a:cs typeface="Times New Roman" panose="02020603050405020304" pitchFamily="18" charset="0"/>
              </a:rPr>
              <a:t>E</a:t>
            </a:r>
            <a:r>
              <a:rPr lang="en-US" altLang="zh-CN" sz="2400" b="1" dirty="0">
                <a:cs typeface="Times New Roman" panose="02020603050405020304" pitchFamily="18" charset="0"/>
              </a:rPr>
              <a:t>⊆</a:t>
            </a:r>
            <a:r>
              <a:rPr lang="en-US" altLang="zh-CN" sz="2400" b="1" i="1" dirty="0">
                <a:cs typeface="Times New Roman" panose="02020603050405020304" pitchFamily="18" charset="0"/>
              </a:rPr>
              <a:t>A</a:t>
            </a:r>
            <a:endParaRPr lang="en-US" altLang="zh-CN" sz="2400" b="1" i="1" dirty="0">
              <a:cs typeface="Times New Roman" panose="02020603050405020304" pitchFamily="18" charset="0"/>
              <a:sym typeface="Symbol" panose="05050102010706020507" pitchFamily="18" charset="2"/>
            </a:endParaRPr>
          </a:p>
          <a:p>
            <a:pPr eaLnBrk="1" hangingPunct="1">
              <a:buFont typeface="Symbol" panose="05050102010706020507" pitchFamily="18" charset="2"/>
              <a:buNone/>
            </a:pPr>
            <a:r>
              <a:rPr lang="zh-CN" altLang="en-US" sz="2400" b="1" dirty="0">
                <a:sym typeface="Symbol" panose="05050102010706020507" pitchFamily="18" charset="2"/>
              </a:rPr>
              <a:t>        </a:t>
            </a:r>
            <a:r>
              <a:rPr lang="en-US" altLang="zh-CN" sz="2400" b="0" i="0" dirty="0">
                <a:solidFill>
                  <a:srgbClr val="0C0D0E"/>
                </a:solidFill>
                <a:effectLst/>
              </a:rPr>
              <a:t>By the definition of intersection</a:t>
            </a:r>
            <a:r>
              <a:rPr lang="en-US" altLang="zh-CN" sz="2400" b="1" dirty="0">
                <a:sym typeface="Symbol" panose="05050102010706020507" pitchFamily="18" charset="2"/>
              </a:rPr>
              <a:t>, we</a:t>
            </a:r>
            <a:r>
              <a:rPr lang="zh-CN" altLang="en-US" sz="2400" b="1" dirty="0">
                <a:sym typeface="Symbol" panose="05050102010706020507" pitchFamily="18" charset="2"/>
              </a:rPr>
              <a:t> </a:t>
            </a:r>
            <a:r>
              <a:rPr lang="en-US" altLang="zh-CN" sz="2400" b="1" dirty="0">
                <a:sym typeface="Symbol" panose="05050102010706020507" pitchFamily="18" charset="2"/>
              </a:rPr>
              <a:t>have</a:t>
            </a:r>
            <a:r>
              <a:rPr lang="zh-CN" altLang="en-US" sz="2400" b="1" dirty="0">
                <a:sym typeface="Symbol" panose="05050102010706020507" pitchFamily="18" charset="2"/>
              </a:rPr>
              <a:t> </a:t>
            </a:r>
            <a:r>
              <a:rPr lang="en-US" altLang="zh-CN" sz="2400" b="1" i="1" dirty="0">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 ∩ </a:t>
            </a:r>
            <a:r>
              <a:rPr lang="en-US" altLang="zh-CN" sz="2400" b="1" i="1" dirty="0">
                <a:cs typeface="Times New Roman" panose="02020603050405020304" pitchFamily="18" charset="0"/>
              </a:rPr>
              <a:t>E</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endParaRPr lang="en-US" altLang="zh-CN" sz="2400" b="1" dirty="0">
              <a:sym typeface="Symbol" panose="05050102010706020507" pitchFamily="18" charset="2"/>
            </a:endParaRPr>
          </a:p>
          <a:p>
            <a:pPr eaLnBrk="1" hangingPunct="1">
              <a:buFont typeface="Symbol" panose="05050102010706020507" pitchFamily="18" charset="2"/>
              <a:buNone/>
            </a:pPr>
            <a:r>
              <a:rPr lang="en-US" altLang="zh-CN" sz="2400" b="1" dirty="0">
                <a:sym typeface="Symbol" panose="05050102010706020507" pitchFamily="18" charset="2"/>
              </a:rPr>
              <a:t>             For </a:t>
            </a:r>
            <a:r>
              <a:rPr lang="en-US" altLang="zh-CN" sz="2400" b="1" i="1" dirty="0">
                <a:sym typeface="Symbol" panose="05050102010706020507" pitchFamily="18" charset="2"/>
              </a:rPr>
              <a:t>x  </a:t>
            </a:r>
            <a:r>
              <a:rPr lang="en-US" altLang="zh-CN" sz="2400" b="1" dirty="0">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A</a:t>
            </a:r>
            <a:r>
              <a:rPr lang="en-US" altLang="zh-CN" sz="2400" b="1" i="1" dirty="0">
                <a:cs typeface="Times New Roman" panose="02020603050405020304" pitchFamily="18" charset="0"/>
              </a:rPr>
              <a:t>,</a:t>
            </a:r>
          </a:p>
          <a:p>
            <a:pPr eaLnBrk="1" hangingPunct="1">
              <a:buFontTx/>
              <a:buNone/>
            </a:pPr>
            <a:r>
              <a:rPr lang="en-US" altLang="zh-CN" sz="2400" b="0" i="0" dirty="0">
                <a:solidFill>
                  <a:srgbClr val="0C0D0E"/>
                </a:solidFill>
                <a:effectLst/>
              </a:rPr>
              <a:t>        By the definition of the universal set </a:t>
            </a:r>
            <a:r>
              <a:rPr lang="en-US" altLang="zh-CN" sz="2400" b="0" dirty="0">
                <a:solidFill>
                  <a:srgbClr val="0C0D0E"/>
                </a:solidFill>
                <a:effectLst/>
              </a:rPr>
              <a:t>E</a:t>
            </a:r>
          </a:p>
          <a:p>
            <a:pPr eaLnBrk="1" hangingPunct="1">
              <a:buFontTx/>
              <a:buNone/>
            </a:pPr>
            <a:r>
              <a:rPr lang="en-US" altLang="zh-CN" sz="2400" b="1" i="1" dirty="0">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E</a:t>
            </a:r>
            <a:r>
              <a:rPr lang="en-US" altLang="zh-CN" sz="2400" b="1" i="1" dirty="0">
                <a:cs typeface="Times New Roman" panose="02020603050405020304" pitchFamily="18" charset="0"/>
              </a:rPr>
              <a:t>, </a:t>
            </a:r>
            <a:r>
              <a:rPr lang="en-US" altLang="zh-CN" sz="2400" b="0" i="0" dirty="0">
                <a:solidFill>
                  <a:srgbClr val="0C0D0E"/>
                </a:solidFill>
                <a:effectLst/>
              </a:rPr>
              <a:t>Therefore</a:t>
            </a:r>
            <a:r>
              <a:rPr lang="en-US" altLang="zh-CN" sz="2400" b="1" dirty="0">
                <a:solidFill>
                  <a:srgbClr val="333300"/>
                </a:solidFill>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A</a:t>
            </a:r>
            <a:r>
              <a:rPr lang="en-US" altLang="zh-CN" sz="2400" b="1" i="1" dirty="0">
                <a:cs typeface="Times New Roman" panose="02020603050405020304" pitchFamily="18" charset="0"/>
              </a:rPr>
              <a:t> </a:t>
            </a:r>
            <a:r>
              <a:rPr lang="en-US" altLang="zh-CN" sz="2400" b="1" i="1" dirty="0">
                <a:cs typeface="Times New Roman" panose="02020603050405020304" pitchFamily="18" charset="0"/>
                <a:sym typeface="Symbol" panose="05050102010706020507" pitchFamily="18" charset="2"/>
              </a:rPr>
              <a:t>and</a:t>
            </a:r>
            <a:r>
              <a:rPr lang="zh-CN" altLang="en-US" sz="2400" b="1" i="1" dirty="0">
                <a:cs typeface="Times New Roman" panose="02020603050405020304" pitchFamily="18" charset="0"/>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E</a:t>
            </a:r>
            <a:r>
              <a:rPr lang="en-US" altLang="zh-CN" sz="2400" b="1" i="1" dirty="0">
                <a:cs typeface="Times New Roman" panose="02020603050405020304" pitchFamily="18" charset="0"/>
              </a:rPr>
              <a:t>,</a:t>
            </a:r>
            <a:endParaRPr lang="zh-CN" altLang="en-US" sz="2400" b="1" dirty="0"/>
          </a:p>
          <a:p>
            <a:pPr eaLnBrk="1" hangingPunct="1">
              <a:buFontTx/>
              <a:buNone/>
            </a:pPr>
            <a:r>
              <a:rPr lang="zh-CN" altLang="en-US" sz="2400" b="1" dirty="0">
                <a:solidFill>
                  <a:srgbClr val="333300"/>
                </a:solidFill>
                <a:sym typeface="Symbol" panose="05050102010706020507" pitchFamily="18" charset="2"/>
              </a:rPr>
              <a:t>         </a:t>
            </a:r>
            <a:r>
              <a:rPr lang="en-US" altLang="zh-CN" sz="2400" b="1" dirty="0">
                <a:solidFill>
                  <a:srgbClr val="333300"/>
                </a:solidFill>
                <a:sym typeface="Symbol" panose="05050102010706020507" pitchFamily="18" charset="2"/>
              </a:rPr>
              <a:t>    </a:t>
            </a:r>
            <a:r>
              <a:rPr lang="en-US" altLang="zh-CN" sz="2400" b="1" i="1" dirty="0" err="1">
                <a:solidFill>
                  <a:srgbClr val="333300"/>
                </a:solidFill>
                <a:sym typeface="Symbol" panose="05050102010706020507" pitchFamily="18" charset="2"/>
              </a:rPr>
              <a:t>x</a:t>
            </a:r>
            <a:r>
              <a:rPr lang="en-US" altLang="zh-CN" sz="2400" b="1" dirty="0" err="1">
                <a:sym typeface="Symbol" panose="05050102010706020507" pitchFamily="18" charset="2"/>
              </a:rPr>
              <a:t></a:t>
            </a:r>
            <a:r>
              <a:rPr lang="en-US" altLang="zh-CN" sz="2400" b="1" i="1" dirty="0" err="1">
                <a:cs typeface="Times New Roman" panose="02020603050405020304" pitchFamily="18" charset="0"/>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 ∩ </a:t>
            </a:r>
            <a:r>
              <a:rPr lang="en-US" altLang="zh-CN" sz="2400" b="1" i="1" dirty="0">
                <a:cs typeface="Times New Roman" panose="02020603050405020304" pitchFamily="18" charset="0"/>
              </a:rPr>
              <a:t>E</a:t>
            </a:r>
            <a:endParaRPr lang="zh-CN" altLang="en-US" sz="2400" b="1" dirty="0">
              <a:sym typeface="Symbol" panose="05050102010706020507" pitchFamily="18" charset="2"/>
            </a:endParaRPr>
          </a:p>
          <a:p>
            <a:pPr eaLnBrk="1" hangingPunct="1">
              <a:buFont typeface="Symbol" panose="05050102010706020507" pitchFamily="18" charset="2"/>
              <a:buNone/>
            </a:pPr>
            <a:r>
              <a:rPr lang="en-US" altLang="zh-CN" sz="2400" b="0" i="0" dirty="0">
                <a:solidFill>
                  <a:srgbClr val="0C0D0E"/>
                </a:solidFill>
                <a:effectLst/>
              </a:rPr>
              <a:t>       Thus</a:t>
            </a:r>
            <a:r>
              <a:rPr lang="zh-CN" altLang="en-US" sz="2400" b="1" dirty="0">
                <a:solidFill>
                  <a:srgbClr val="333300"/>
                </a:solidFill>
                <a:sym typeface="Symbol" panose="05050102010706020507" pitchFamily="18" charset="2"/>
              </a:rPr>
              <a:t>  </a:t>
            </a:r>
            <a:r>
              <a:rPr lang="en-US" altLang="zh-CN" sz="2400" b="1" i="1" dirty="0">
                <a:cs typeface="Times New Roman" panose="02020603050405020304" pitchFamily="18" charset="0"/>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 ∩ </a:t>
            </a:r>
            <a:r>
              <a:rPr lang="en-US" altLang="zh-CN" sz="2400" b="1" i="1" dirty="0">
                <a:cs typeface="Times New Roman" panose="02020603050405020304" pitchFamily="18" charset="0"/>
              </a:rPr>
              <a:t>E</a:t>
            </a:r>
            <a:r>
              <a:rPr lang="en-US" altLang="zh-CN" sz="2400" b="1" i="1" dirty="0">
                <a:cs typeface="Times New Roman" panose="02020603050405020304" pitchFamily="18" charset="0"/>
                <a:sym typeface="Symbol" panose="05050102010706020507" pitchFamily="18" charset="2"/>
              </a:rPr>
              <a:t>.</a:t>
            </a:r>
            <a:endParaRPr lang="zh-CN" altLang="en-US" sz="2400" b="1" dirty="0"/>
          </a:p>
        </p:txBody>
      </p:sp>
    </p:spTree>
    <p:extLst>
      <p:ext uri="{BB962C8B-B14F-4D97-AF65-F5344CB8AC3E}">
        <p14:creationId xmlns:p14="http://schemas.microsoft.com/office/powerpoint/2010/main" val="28143494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a:t>
            </a:r>
            <a:r>
              <a:rPr lang="zh-CN" altLang="en-US" sz="2000" b="1" dirty="0">
                <a:latin typeface="+mj-lt"/>
                <a:cs typeface="Times New Roman" panose="02020603050405020304" pitchFamily="18" charset="0"/>
              </a:rPr>
              <a:t>.</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t>Proof of Identity</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132115" y="765175"/>
            <a:ext cx="9135308"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100000"/>
              </a:lnSpc>
              <a:spcBef>
                <a:spcPts val="0"/>
              </a:spcBef>
              <a:buFontTx/>
              <a:buNone/>
            </a:pPr>
            <a:r>
              <a:rPr lang="en-US" altLang="zh-CN" b="1" i="0" dirty="0">
                <a:solidFill>
                  <a:srgbClr val="0C0D0E"/>
                </a:solidFill>
                <a:effectLst/>
                <a:latin typeface="-apple-system"/>
              </a:rPr>
              <a:t>       </a:t>
            </a:r>
            <a:r>
              <a:rPr lang="en-US" altLang="zh-CN" sz="2400" b="1" i="0" dirty="0">
                <a:solidFill>
                  <a:srgbClr val="0C0D0E"/>
                </a:solidFill>
                <a:effectLst/>
              </a:rPr>
              <a:t>Example 4</a:t>
            </a:r>
            <a:r>
              <a:rPr lang="zh-CN" altLang="en-US" sz="2400" b="1" i="0" dirty="0">
                <a:solidFill>
                  <a:srgbClr val="0C0D0E"/>
                </a:solidFill>
                <a:effectLst/>
              </a:rPr>
              <a:t>：</a:t>
            </a:r>
            <a:r>
              <a:rPr lang="en-US" altLang="zh-CN" sz="2400" b="1" i="0" dirty="0">
                <a:solidFill>
                  <a:srgbClr val="0C0D0E"/>
                </a:solidFill>
                <a:effectLst/>
              </a:rPr>
              <a:t> Prove that </a:t>
            </a:r>
            <a:r>
              <a:rPr lang="en-US" altLang="zh-CN" sz="2400" b="1" i="1" dirty="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sym typeface="Symbol" panose="05050102010706020507" pitchFamily="18" charset="2"/>
              </a:rPr>
              <a:t>(</a:t>
            </a:r>
            <a:r>
              <a:rPr lang="en-US" altLang="zh-CN" sz="2400" b="1" i="1" dirty="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i="1" dirty="0">
                <a:sym typeface="Symbol" panose="05050102010706020507" pitchFamily="18" charset="2"/>
              </a:rPr>
              <a:t>B</a:t>
            </a:r>
            <a:r>
              <a:rPr lang="en-US" altLang="zh-CN" sz="2400" b="1" dirty="0">
                <a:sym typeface="Symbol" panose="05050102010706020507" pitchFamily="18" charset="2"/>
              </a:rPr>
              <a:t>)=</a:t>
            </a:r>
            <a:r>
              <a:rPr lang="en-US" altLang="zh-CN" sz="2400" b="1" i="1" dirty="0">
                <a:sym typeface="Symbol" panose="05050102010706020507" pitchFamily="18" charset="2"/>
              </a:rPr>
              <a:t>A</a:t>
            </a:r>
            <a:r>
              <a:rPr lang="en-US" altLang="zh-CN" sz="2400" b="1" dirty="0">
                <a:sym typeface="Symbol" panose="05050102010706020507" pitchFamily="18" charset="2"/>
              </a:rPr>
              <a:t> （</a:t>
            </a:r>
            <a:r>
              <a:rPr lang="en-US" altLang="zh-CN" sz="2400" i="0" dirty="0">
                <a:solidFill>
                  <a:srgbClr val="0C0D0E"/>
                </a:solidFill>
                <a:effectLst/>
              </a:rPr>
              <a:t>Absorption Law</a:t>
            </a:r>
            <a:r>
              <a:rPr lang="zh-CN" altLang="en-US" sz="2400" b="1" dirty="0">
                <a:sym typeface="Symbol" panose="05050102010706020507" pitchFamily="18" charset="2"/>
              </a:rPr>
              <a:t>）</a:t>
            </a:r>
          </a:p>
          <a:p>
            <a:pPr marL="0" indent="0" algn="l">
              <a:lnSpc>
                <a:spcPct val="100000"/>
              </a:lnSpc>
              <a:buNone/>
            </a:pPr>
            <a:r>
              <a:rPr lang="en-US" altLang="zh-CN" sz="2400" b="1" i="0" dirty="0">
                <a:solidFill>
                  <a:srgbClr val="0C0D0E"/>
                </a:solidFill>
                <a:effectLst/>
              </a:rPr>
              <a:t>Proof:</a:t>
            </a:r>
            <a:r>
              <a:rPr lang="en-US" altLang="zh-CN" sz="2400" b="0" i="0" dirty="0">
                <a:solidFill>
                  <a:srgbClr val="0C0D0E"/>
                </a:solidFill>
                <a:effectLst/>
              </a:rPr>
              <a:t> Using the four identities proven in Example 3 to prove:</a:t>
            </a:r>
          </a:p>
          <a:p>
            <a:pPr marL="0" indent="0">
              <a:lnSpc>
                <a:spcPct val="100000"/>
              </a:lnSpc>
              <a:buNone/>
            </a:pPr>
            <a:r>
              <a:rPr lang="en-US" altLang="zh-CN" sz="2600" b="1" i="1" dirty="0">
                <a:sym typeface="Symbol" panose="05050102010706020507" pitchFamily="18" charset="2"/>
              </a:rPr>
              <a:t>       </a:t>
            </a:r>
            <a:r>
              <a:rPr lang="en-US" altLang="zh-CN" sz="2400" b="1" i="1" dirty="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sym typeface="Symbol" panose="05050102010706020507" pitchFamily="18" charset="2"/>
              </a:rPr>
              <a:t>(</a:t>
            </a:r>
            <a:r>
              <a:rPr lang="en-US" altLang="zh-CN" sz="2400" b="1" i="1" dirty="0">
                <a:sym typeface="Symbol" panose="05050102010706020507" pitchFamily="18" charset="2"/>
              </a:rPr>
              <a:t>A</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i="1" dirty="0">
                <a:sym typeface="Symbol" panose="05050102010706020507" pitchFamily="18" charset="2"/>
              </a:rPr>
              <a:t>B</a:t>
            </a:r>
            <a:r>
              <a:rPr lang="en-US" altLang="zh-CN" sz="2400" b="1" dirty="0">
                <a:sym typeface="Symbol" panose="05050102010706020507" pitchFamily="18" charset="2"/>
              </a:rPr>
              <a:t>)</a:t>
            </a:r>
          </a:p>
          <a:p>
            <a:pPr eaLnBrk="1" hangingPunct="1">
              <a:lnSpc>
                <a:spcPct val="100000"/>
              </a:lnSpc>
              <a:buFontTx/>
              <a:buNone/>
            </a:pPr>
            <a:r>
              <a:rPr lang="zh-CN" altLang="en-US" sz="2400" b="1" dirty="0">
                <a:sym typeface="Symbol" panose="05050102010706020507" pitchFamily="18" charset="2"/>
              </a:rPr>
              <a:t>    = (</a:t>
            </a:r>
            <a:r>
              <a:rPr lang="en-US" altLang="zh-CN" sz="2400" b="1" i="1" dirty="0">
                <a:sym typeface="Symbol" panose="05050102010706020507" pitchFamily="18" charset="2"/>
              </a:rPr>
              <a:t>A</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i="1" dirty="0">
                <a:sym typeface="Symbol" panose="05050102010706020507" pitchFamily="18" charset="2"/>
              </a:rPr>
              <a:t>E</a:t>
            </a:r>
            <a:r>
              <a:rPr lang="en-US" altLang="zh-CN" sz="2400" b="1" dirty="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sym typeface="Symbol" panose="05050102010706020507" pitchFamily="18" charset="2"/>
              </a:rPr>
              <a:t>(</a:t>
            </a:r>
            <a:r>
              <a:rPr lang="en-US" altLang="zh-CN" sz="2400" b="1" i="1" dirty="0">
                <a:sym typeface="Symbol" panose="05050102010706020507" pitchFamily="18" charset="2"/>
              </a:rPr>
              <a:t>A</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i="1" dirty="0">
                <a:sym typeface="Symbol" panose="05050102010706020507" pitchFamily="18" charset="2"/>
              </a:rPr>
              <a:t>B</a:t>
            </a:r>
            <a:r>
              <a:rPr lang="en-US" altLang="zh-CN" sz="2400" b="1" dirty="0">
                <a:sym typeface="Symbol" panose="05050102010706020507" pitchFamily="18" charset="2"/>
              </a:rPr>
              <a:t>)    (</a:t>
            </a:r>
            <a:r>
              <a:rPr lang="en-US" altLang="zh-CN" sz="2400" b="0" i="0" dirty="0">
                <a:solidFill>
                  <a:srgbClr val="0C0D0E"/>
                </a:solidFill>
                <a:effectLst/>
                <a:latin typeface="math"/>
              </a:rPr>
              <a:t>Law of Identity</a:t>
            </a:r>
            <a:r>
              <a:rPr lang="zh-CN" altLang="en-US" sz="2400" b="1" dirty="0">
                <a:sym typeface="Symbol" panose="05050102010706020507" pitchFamily="18" charset="2"/>
              </a:rPr>
              <a:t>)</a:t>
            </a:r>
          </a:p>
          <a:p>
            <a:pPr eaLnBrk="1" hangingPunct="1">
              <a:lnSpc>
                <a:spcPct val="100000"/>
              </a:lnSpc>
              <a:buFontTx/>
              <a:buNone/>
            </a:pPr>
            <a:r>
              <a:rPr lang="zh-CN" altLang="en-US" sz="2400" b="1" dirty="0">
                <a:sym typeface="Symbol" panose="05050102010706020507" pitchFamily="18" charset="2"/>
              </a:rPr>
              <a:t>    = </a:t>
            </a:r>
            <a:r>
              <a:rPr lang="en-US" altLang="zh-CN" sz="2400" b="1" i="1" dirty="0">
                <a:sym typeface="Symbol" panose="05050102010706020507" pitchFamily="18" charset="2"/>
              </a:rPr>
              <a:t>A</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a:t>
            </a:r>
            <a:r>
              <a:rPr lang="en-US" altLang="zh-CN" sz="2400" b="1" dirty="0">
                <a:sym typeface="Symbol" panose="05050102010706020507" pitchFamily="18" charset="2"/>
              </a:rPr>
              <a:t>(</a:t>
            </a:r>
            <a:r>
              <a:rPr lang="en-US" altLang="zh-CN" sz="2400" b="1" i="1" dirty="0">
                <a:sym typeface="Symbol" panose="05050102010706020507" pitchFamily="18" charset="2"/>
              </a:rPr>
              <a:t>E</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sym typeface="Symbol" panose="05050102010706020507" pitchFamily="18" charset="2"/>
              </a:rPr>
              <a:t>B</a:t>
            </a:r>
            <a:r>
              <a:rPr lang="en-US" altLang="zh-CN" sz="2400" b="1" dirty="0">
                <a:sym typeface="Symbol" panose="05050102010706020507" pitchFamily="18" charset="2"/>
              </a:rPr>
              <a:t>)               (</a:t>
            </a:r>
            <a:r>
              <a:rPr lang="en-US" altLang="zh-CN" sz="2400" b="0" i="0" dirty="0">
                <a:solidFill>
                  <a:srgbClr val="0C0D0E"/>
                </a:solidFill>
                <a:effectLst/>
                <a:latin typeface="math"/>
              </a:rPr>
              <a:t>Distributive Law</a:t>
            </a:r>
            <a:r>
              <a:rPr lang="zh-CN" altLang="en-US" sz="2400" b="1" dirty="0">
                <a:sym typeface="Symbol" panose="05050102010706020507" pitchFamily="18" charset="2"/>
              </a:rPr>
              <a:t>)</a:t>
            </a:r>
          </a:p>
          <a:p>
            <a:pPr eaLnBrk="1" hangingPunct="1">
              <a:lnSpc>
                <a:spcPct val="100000"/>
              </a:lnSpc>
              <a:buFontTx/>
              <a:buNone/>
            </a:pPr>
            <a:r>
              <a:rPr lang="zh-CN" altLang="en-US" sz="2400" b="1" dirty="0">
                <a:sym typeface="Symbol" panose="05050102010706020507" pitchFamily="18" charset="2"/>
              </a:rPr>
              <a:t>    = </a:t>
            </a:r>
            <a:r>
              <a:rPr lang="en-US" altLang="zh-CN" sz="2400" b="1" i="1" dirty="0">
                <a:sym typeface="Symbol" panose="05050102010706020507" pitchFamily="18" charset="2"/>
              </a:rPr>
              <a:t>A</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a:t>
            </a:r>
            <a:r>
              <a:rPr lang="en-US" altLang="zh-CN" sz="2400" b="1" dirty="0">
                <a:sym typeface="Symbol" panose="05050102010706020507" pitchFamily="18" charset="2"/>
              </a:rPr>
              <a:t>(</a:t>
            </a:r>
            <a:r>
              <a:rPr lang="en-US" altLang="zh-CN" sz="2400" b="1" i="1" dirty="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sym typeface="Symbol" panose="05050102010706020507" pitchFamily="18" charset="2"/>
              </a:rPr>
              <a:t>E</a:t>
            </a:r>
            <a:r>
              <a:rPr lang="en-US" altLang="zh-CN" sz="2400" b="1" dirty="0">
                <a:sym typeface="Symbol" panose="05050102010706020507" pitchFamily="18" charset="2"/>
              </a:rPr>
              <a:t>)               (</a:t>
            </a:r>
            <a:r>
              <a:rPr lang="en-US" altLang="zh-CN" sz="2400" b="0" i="0" dirty="0">
                <a:solidFill>
                  <a:srgbClr val="0C0D0E"/>
                </a:solidFill>
                <a:effectLst/>
                <a:latin typeface="math"/>
              </a:rPr>
              <a:t>Commutative Law</a:t>
            </a:r>
            <a:r>
              <a:rPr lang="zh-CN" altLang="en-US" sz="2400" b="1" dirty="0">
                <a:sym typeface="Symbol" panose="05050102010706020507" pitchFamily="18" charset="2"/>
              </a:rPr>
              <a:t>)</a:t>
            </a:r>
          </a:p>
          <a:p>
            <a:pPr eaLnBrk="1" hangingPunct="1">
              <a:lnSpc>
                <a:spcPct val="100000"/>
              </a:lnSpc>
              <a:buFontTx/>
              <a:buNone/>
            </a:pPr>
            <a:r>
              <a:rPr lang="zh-CN" altLang="en-US" sz="2400" b="1" dirty="0">
                <a:sym typeface="Symbol" panose="05050102010706020507" pitchFamily="18" charset="2"/>
              </a:rPr>
              <a:t>    = </a:t>
            </a:r>
            <a:r>
              <a:rPr lang="en-US" altLang="zh-CN" sz="2400" b="1" i="1" dirty="0">
                <a:sym typeface="Symbol" panose="05050102010706020507" pitchFamily="18" charset="2"/>
              </a:rPr>
              <a:t>A</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i="1" dirty="0">
                <a:sym typeface="Symbol" panose="05050102010706020507" pitchFamily="18" charset="2"/>
              </a:rPr>
              <a:t>E                         </a:t>
            </a:r>
            <a:r>
              <a:rPr lang="en-US" altLang="zh-CN" sz="2400" b="1" dirty="0">
                <a:sym typeface="Symbol" panose="05050102010706020507" pitchFamily="18" charset="2"/>
              </a:rPr>
              <a:t>(</a:t>
            </a:r>
            <a:r>
              <a:rPr lang="en-US" altLang="zh-CN" sz="2400" b="0" i="0" dirty="0">
                <a:solidFill>
                  <a:srgbClr val="0C0D0E"/>
                </a:solidFill>
                <a:effectLst/>
                <a:latin typeface="math"/>
              </a:rPr>
              <a:t>Law of Excluded Null</a:t>
            </a:r>
            <a:r>
              <a:rPr lang="zh-CN" altLang="en-US" sz="2400" b="1" dirty="0">
                <a:sym typeface="Symbol" panose="05050102010706020507" pitchFamily="18" charset="2"/>
              </a:rPr>
              <a:t>)</a:t>
            </a:r>
          </a:p>
          <a:p>
            <a:pPr eaLnBrk="1" hangingPunct="1">
              <a:lnSpc>
                <a:spcPct val="100000"/>
              </a:lnSpc>
              <a:buFontTx/>
              <a:buNone/>
            </a:pPr>
            <a:r>
              <a:rPr lang="zh-CN" altLang="en-US" sz="2400" b="1" dirty="0">
                <a:sym typeface="Symbol" panose="05050102010706020507" pitchFamily="18" charset="2"/>
              </a:rPr>
              <a:t>    = </a:t>
            </a:r>
            <a:r>
              <a:rPr lang="en-US" altLang="zh-CN" sz="2400" b="1" i="1" dirty="0">
                <a:sym typeface="Symbol" panose="05050102010706020507" pitchFamily="18" charset="2"/>
              </a:rPr>
              <a:t>A                                </a:t>
            </a:r>
            <a:r>
              <a:rPr lang="en-US" altLang="zh-CN" sz="2400" b="1" dirty="0">
                <a:sym typeface="Symbol" panose="05050102010706020507" pitchFamily="18" charset="2"/>
              </a:rPr>
              <a:t>(</a:t>
            </a:r>
            <a:r>
              <a:rPr lang="en-US" altLang="zh-CN" sz="2400" b="0" i="0" dirty="0">
                <a:solidFill>
                  <a:srgbClr val="0C0D0E"/>
                </a:solidFill>
                <a:effectLst/>
                <a:latin typeface="math"/>
              </a:rPr>
              <a:t>Law of Identity</a:t>
            </a:r>
            <a:r>
              <a:rPr lang="zh-CN" altLang="en-US" sz="2400" b="1" dirty="0">
                <a:sym typeface="Symbol" panose="05050102010706020507" pitchFamily="18" charset="2"/>
              </a:rPr>
              <a:t>)</a:t>
            </a:r>
            <a:endParaRPr lang="en-US" altLang="zh-CN" sz="2400" b="1" dirty="0">
              <a:sym typeface="Symbol" panose="05050102010706020507" pitchFamily="18" charset="2"/>
            </a:endParaRPr>
          </a:p>
          <a:p>
            <a:pPr marL="0" indent="0" algn="l" latinLnBrk="1">
              <a:buNone/>
            </a:pPr>
            <a:r>
              <a:rPr lang="en-US" altLang="zh-CN" sz="2400" b="0" i="0" dirty="0">
                <a:effectLst/>
              </a:rPr>
              <a:t> </a:t>
            </a:r>
          </a:p>
          <a:p>
            <a:pPr marL="0" indent="0" algn="l" latinLnBrk="1">
              <a:buNone/>
            </a:pPr>
            <a:r>
              <a:rPr lang="en-US" altLang="zh-CN" sz="2400" b="0" i="0" dirty="0">
                <a:effectLst/>
              </a:rPr>
              <a:t>    For the remaining basic set identities, we will not prove each one individually (please prove them yourself). From now on, we will use them as known set identities.</a:t>
            </a:r>
          </a:p>
          <a:p>
            <a:endParaRPr lang="zh-CN" altLang="en-US" sz="2800" b="1" dirty="0">
              <a:sym typeface="Symbol" panose="05050102010706020507" pitchFamily="18" charset="2"/>
            </a:endParaRPr>
          </a:p>
        </p:txBody>
      </p:sp>
      <p:pic>
        <p:nvPicPr>
          <p:cNvPr id="8" name="图片 7">
            <a:extLst>
              <a:ext uri="{FF2B5EF4-FFF2-40B4-BE49-F238E27FC236}">
                <a16:creationId xmlns:a16="http://schemas.microsoft.com/office/drawing/2014/main" id="{0C8EFAC7-27DB-4CE1-9222-85BF9E9281FB}"/>
              </a:ext>
            </a:extLst>
          </p:cNvPr>
          <p:cNvPicPr>
            <a:picLocks noChangeAspect="1"/>
          </p:cNvPicPr>
          <p:nvPr/>
        </p:nvPicPr>
        <p:blipFill>
          <a:blip r:embed="rId5"/>
          <a:stretch>
            <a:fillRect/>
          </a:stretch>
        </p:blipFill>
        <p:spPr>
          <a:xfrm>
            <a:off x="1159526" y="1020386"/>
            <a:ext cx="577850" cy="241300"/>
          </a:xfrm>
          <a:prstGeom prst="rect">
            <a:avLst/>
          </a:prstGeom>
        </p:spPr>
      </p:pic>
      <p:pic>
        <p:nvPicPr>
          <p:cNvPr id="4" name="图片 3">
            <a:extLst>
              <a:ext uri="{FF2B5EF4-FFF2-40B4-BE49-F238E27FC236}">
                <a16:creationId xmlns:a16="http://schemas.microsoft.com/office/drawing/2014/main" id="{6F063C8A-4D63-4CC6-84A0-5BF3A1132C27}"/>
              </a:ext>
            </a:extLst>
          </p:cNvPr>
          <p:cNvPicPr>
            <a:picLocks noChangeAspect="1"/>
          </p:cNvPicPr>
          <p:nvPr/>
        </p:nvPicPr>
        <p:blipFill>
          <a:blip r:embed="rId6"/>
          <a:stretch>
            <a:fillRect/>
          </a:stretch>
        </p:blipFill>
        <p:spPr>
          <a:xfrm>
            <a:off x="1178836" y="5403848"/>
            <a:ext cx="298450" cy="317500"/>
          </a:xfrm>
          <a:prstGeom prst="rect">
            <a:avLst/>
          </a:prstGeom>
        </p:spPr>
      </p:pic>
    </p:spTree>
    <p:extLst>
      <p:ext uri="{BB962C8B-B14F-4D97-AF65-F5344CB8AC3E}">
        <p14:creationId xmlns:p14="http://schemas.microsoft.com/office/powerpoint/2010/main" val="790816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0" end="10"/>
                                            </p:txEl>
                                          </p:spTgt>
                                        </p:tgtEl>
                                        <p:attrNameLst>
                                          <p:attrName>style.visibility</p:attrName>
                                        </p:attrNameLst>
                                      </p:cBhvr>
                                      <p:to>
                                        <p:strVal val="visible"/>
                                      </p:to>
                                    </p:set>
                                    <p:animEffect transition="in" filter="fade">
                                      <p:cBhvr>
                                        <p:cTn id="12" dur="1000"/>
                                        <p:tgtEl>
                                          <p:spTgt spid="7">
                                            <p:txEl>
                                              <p:pRg st="10" end="10"/>
                                            </p:txEl>
                                          </p:spTgt>
                                        </p:tgtEl>
                                      </p:cBhvr>
                                    </p:animEffect>
                                    <p:anim calcmode="lin" valueType="num">
                                      <p:cBhvr>
                                        <p:cTn id="1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a:t>
            </a:r>
            <a:r>
              <a:rPr lang="zh-CN" altLang="en-US" sz="2000" b="1" dirty="0">
                <a:latin typeface="+mj-lt"/>
                <a:cs typeface="Times New Roman" panose="02020603050405020304" pitchFamily="18" charset="0"/>
              </a:rPr>
              <a:t>.</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t>Proof of Identity</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9467851"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90000"/>
              </a:lnSpc>
              <a:buFontTx/>
              <a:buNone/>
            </a:pPr>
            <a:r>
              <a:rPr lang="en-US" altLang="zh-CN" sz="2400" b="1" i="0" dirty="0">
                <a:solidFill>
                  <a:srgbClr val="0C0D0E"/>
                </a:solidFill>
                <a:effectLst/>
              </a:rPr>
              <a:t>     Example 5</a:t>
            </a:r>
            <a:r>
              <a:rPr lang="zh-CN" altLang="en-US" sz="2400" b="1" i="0" dirty="0">
                <a:solidFill>
                  <a:srgbClr val="0C0D0E"/>
                </a:solidFill>
                <a:effectLst/>
              </a:rPr>
              <a:t>：</a:t>
            </a:r>
            <a:r>
              <a:rPr lang="en-US" altLang="zh-CN" sz="2400" b="1" i="0" dirty="0">
                <a:solidFill>
                  <a:srgbClr val="0C0D0E"/>
                </a:solidFill>
                <a:effectLst/>
              </a:rPr>
              <a:t> Prove that </a:t>
            </a:r>
            <a:r>
              <a:rPr lang="zh-CN" altLang="en-US" sz="2400" b="1" dirty="0"/>
              <a:t>(</a:t>
            </a:r>
            <a:r>
              <a:rPr lang="en-US" altLang="zh-CN" sz="2400" b="1" i="1" dirty="0"/>
              <a:t>A</a:t>
            </a:r>
            <a:r>
              <a:rPr lang="en-US" altLang="zh-CN" sz="2400" b="1" dirty="0">
                <a:latin typeface="Cambria Math" panose="02040503050406030204" pitchFamily="18" charset="0"/>
                <a:ea typeface="Cambria Math" panose="02040503050406030204" pitchFamily="18" charset="0"/>
              </a:rPr>
              <a:t> – </a:t>
            </a:r>
            <a:r>
              <a:rPr lang="en-US" altLang="zh-CN" sz="2400" b="1" i="1" dirty="0"/>
              <a:t>B</a:t>
            </a:r>
            <a:r>
              <a:rPr lang="en-US" altLang="zh-CN" sz="2400" b="1" dirty="0"/>
              <a:t>)</a:t>
            </a:r>
            <a:r>
              <a:rPr lang="en-US" altLang="zh-CN" sz="2400" b="1" dirty="0">
                <a:latin typeface="Cambria Math" panose="02040503050406030204" pitchFamily="18" charset="0"/>
                <a:ea typeface="Cambria Math" panose="02040503050406030204" pitchFamily="18" charset="0"/>
              </a:rPr>
              <a:t> – </a:t>
            </a:r>
            <a:r>
              <a:rPr lang="en-US" altLang="zh-CN" sz="2400" b="1" i="1" dirty="0"/>
              <a:t>C</a:t>
            </a:r>
            <a:r>
              <a:rPr lang="en-US" altLang="zh-CN" sz="2400" b="1" dirty="0">
                <a:latin typeface="Cambria Math" panose="02040503050406030204" pitchFamily="18" charset="0"/>
                <a:ea typeface="Cambria Math" panose="02040503050406030204" pitchFamily="18" charset="0"/>
              </a:rPr>
              <a:t>=</a:t>
            </a:r>
            <a:r>
              <a:rPr lang="en-US" altLang="zh-CN" sz="2400" b="1" dirty="0"/>
              <a:t>(</a:t>
            </a:r>
            <a:r>
              <a:rPr lang="en-US" altLang="zh-CN" sz="2400" b="1" i="1" dirty="0"/>
              <a:t>A</a:t>
            </a:r>
            <a:r>
              <a:rPr lang="en-US" altLang="zh-CN" sz="2400" b="1" dirty="0">
                <a:latin typeface="Cambria Math" panose="02040503050406030204" pitchFamily="18" charset="0"/>
                <a:ea typeface="Cambria Math" panose="02040503050406030204" pitchFamily="18" charset="0"/>
              </a:rPr>
              <a:t> – </a:t>
            </a:r>
            <a:r>
              <a:rPr lang="en-US" altLang="zh-CN" sz="2400" b="1" i="1" dirty="0"/>
              <a:t>C</a:t>
            </a:r>
            <a:r>
              <a:rPr lang="en-US" altLang="zh-CN" sz="2400" b="1" dirty="0"/>
              <a:t>)</a:t>
            </a:r>
            <a:r>
              <a:rPr lang="en-US" altLang="zh-CN" sz="2400" b="1" dirty="0">
                <a:latin typeface="Cambria Math" panose="02040503050406030204" pitchFamily="18" charset="0"/>
                <a:ea typeface="Cambria Math" panose="02040503050406030204" pitchFamily="18" charset="0"/>
              </a:rPr>
              <a:t> – </a:t>
            </a:r>
            <a:r>
              <a:rPr lang="en-US" altLang="zh-CN" sz="2400" b="1" dirty="0"/>
              <a:t>(</a:t>
            </a:r>
            <a:r>
              <a:rPr lang="en-US" altLang="zh-CN" sz="2400" b="1" i="1" dirty="0"/>
              <a:t>B</a:t>
            </a:r>
            <a:r>
              <a:rPr lang="en-US" altLang="zh-CN" sz="2400" b="1" dirty="0">
                <a:latin typeface="Cambria Math" panose="02040503050406030204" pitchFamily="18" charset="0"/>
                <a:ea typeface="Cambria Math" panose="02040503050406030204" pitchFamily="18" charset="0"/>
              </a:rPr>
              <a:t> – </a:t>
            </a:r>
            <a:r>
              <a:rPr lang="en-US" altLang="zh-CN" sz="2400" b="1" i="1" dirty="0"/>
              <a:t>C</a:t>
            </a:r>
            <a:r>
              <a:rPr lang="en-US" altLang="zh-CN" sz="2400" b="1" dirty="0"/>
              <a:t>)</a:t>
            </a:r>
          </a:p>
          <a:p>
            <a:pPr marL="0" indent="0" algn="l">
              <a:buNone/>
            </a:pPr>
            <a:r>
              <a:rPr lang="en-US" altLang="zh-CN" sz="2400" b="1" i="0" dirty="0">
                <a:solidFill>
                  <a:srgbClr val="0C0D0E"/>
                </a:solidFill>
                <a:effectLst/>
              </a:rPr>
              <a:t>Proof:</a:t>
            </a:r>
            <a:endParaRPr lang="en-US" altLang="zh-CN" sz="2400" b="0" i="0" dirty="0">
              <a:solidFill>
                <a:srgbClr val="0C0D0E"/>
              </a:solidFill>
              <a:effectLst/>
            </a:endParaRPr>
          </a:p>
          <a:p>
            <a:pPr marL="0" indent="0">
              <a:buNone/>
            </a:pPr>
            <a:r>
              <a:rPr lang="zh-CN" altLang="en-US" sz="2400" b="1" dirty="0"/>
              <a:t>    </a:t>
            </a:r>
            <a:r>
              <a:rPr lang="en-US" altLang="zh-CN" sz="2400" b="1" dirty="0"/>
              <a:t>(</a:t>
            </a:r>
            <a:r>
              <a:rPr lang="en-US" altLang="zh-CN" sz="2400" b="1" i="1" dirty="0"/>
              <a:t>A</a:t>
            </a:r>
            <a:r>
              <a:rPr lang="en-US" altLang="zh-CN" sz="2400" b="1" dirty="0">
                <a:latin typeface="Cambria Math" panose="02040503050406030204" pitchFamily="18" charset="0"/>
                <a:ea typeface="Cambria Math" panose="02040503050406030204" pitchFamily="18" charset="0"/>
              </a:rPr>
              <a:t> – </a:t>
            </a:r>
            <a:r>
              <a:rPr lang="en-US" altLang="zh-CN" sz="2400" b="1" i="1" dirty="0"/>
              <a:t>C</a:t>
            </a:r>
            <a:r>
              <a:rPr lang="en-US" altLang="zh-CN" sz="2400" b="1" dirty="0"/>
              <a:t>)</a:t>
            </a:r>
            <a:r>
              <a:rPr lang="en-US" altLang="zh-CN" sz="2400" b="1" dirty="0">
                <a:latin typeface="Cambria Math" panose="02040503050406030204" pitchFamily="18" charset="0"/>
                <a:ea typeface="Cambria Math" panose="02040503050406030204" pitchFamily="18" charset="0"/>
              </a:rPr>
              <a:t> –</a:t>
            </a:r>
            <a:r>
              <a:rPr lang="en-US" altLang="zh-CN" sz="2400" b="1" i="1" dirty="0">
                <a:latin typeface="Cambria Math" panose="02040503050406030204" pitchFamily="18" charset="0"/>
                <a:ea typeface="Cambria Math" panose="02040503050406030204" pitchFamily="18" charset="0"/>
              </a:rPr>
              <a:t> </a:t>
            </a:r>
            <a:r>
              <a:rPr lang="en-US" altLang="zh-CN" sz="2400" b="1" dirty="0"/>
              <a:t>(</a:t>
            </a:r>
            <a:r>
              <a:rPr lang="en-US" altLang="zh-CN" sz="2400" b="1" i="1" dirty="0"/>
              <a:t>B</a:t>
            </a:r>
            <a:r>
              <a:rPr lang="en-US" altLang="zh-CN" sz="2400" b="1" dirty="0">
                <a:latin typeface="Cambria Math" panose="02040503050406030204" pitchFamily="18" charset="0"/>
                <a:ea typeface="Cambria Math" panose="02040503050406030204" pitchFamily="18" charset="0"/>
              </a:rPr>
              <a:t> –</a:t>
            </a:r>
            <a:r>
              <a:rPr lang="en-US" altLang="zh-CN" sz="2400" b="1" i="1" dirty="0">
                <a:latin typeface="Cambria Math" panose="02040503050406030204" pitchFamily="18" charset="0"/>
                <a:ea typeface="Cambria Math" panose="02040503050406030204" pitchFamily="18" charset="0"/>
              </a:rPr>
              <a:t> </a:t>
            </a:r>
            <a:r>
              <a:rPr lang="en-US" altLang="zh-CN" sz="2400" b="1" i="1" dirty="0"/>
              <a:t>C</a:t>
            </a:r>
            <a:r>
              <a:rPr lang="en-US" altLang="zh-CN" sz="2400" b="1" dirty="0"/>
              <a:t>)</a:t>
            </a:r>
            <a:endParaRPr lang="en-US" altLang="zh-CN" sz="2400" b="1" i="1" dirty="0"/>
          </a:p>
          <a:p>
            <a:pPr eaLnBrk="1" hangingPunct="1">
              <a:lnSpc>
                <a:spcPct val="90000"/>
              </a:lnSpc>
              <a:buFontTx/>
              <a:buNone/>
            </a:pPr>
            <a:r>
              <a:rPr lang="en-US" altLang="zh-CN" sz="2400" b="1" i="1" dirty="0"/>
              <a:t>     </a:t>
            </a:r>
            <a:r>
              <a:rPr lang="en-US" altLang="zh-CN" sz="2400" b="1" dirty="0">
                <a:latin typeface="Cambria Math" panose="02040503050406030204" pitchFamily="18" charset="0"/>
                <a:ea typeface="Cambria Math" panose="02040503050406030204" pitchFamily="18" charset="0"/>
              </a:rPr>
              <a:t>=</a:t>
            </a:r>
            <a:r>
              <a:rPr lang="en-US" altLang="zh-CN" sz="2400" b="1" dirty="0"/>
              <a:t> (</a:t>
            </a:r>
            <a:r>
              <a:rPr lang="en-US" altLang="zh-CN" sz="2400" b="1" i="1" dirty="0"/>
              <a:t>A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rPr>
              <a:t>~</a:t>
            </a:r>
            <a:r>
              <a:rPr lang="en-US" altLang="zh-CN" sz="2400" b="1" i="1" dirty="0"/>
              <a:t>C</a:t>
            </a:r>
            <a:r>
              <a:rPr lang="en-US" altLang="zh-CN" sz="2400" b="1" dirty="0"/>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t> </a:t>
            </a:r>
            <a:r>
              <a:rPr lang="en-US" altLang="zh-CN" sz="2400" b="1" dirty="0">
                <a:latin typeface="Cambria Math" panose="02040503050406030204" pitchFamily="18" charset="0"/>
                <a:ea typeface="Cambria Math" panose="02040503050406030204" pitchFamily="18" charset="0"/>
              </a:rPr>
              <a:t>~</a:t>
            </a:r>
            <a:r>
              <a:rPr lang="en-US" altLang="zh-CN" sz="2400" b="1" dirty="0"/>
              <a:t>(</a:t>
            </a:r>
            <a:r>
              <a:rPr lang="en-US" altLang="zh-CN" sz="2400" b="1" i="1" dirty="0"/>
              <a:t>B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i="1" dirty="0"/>
              <a:t> </a:t>
            </a:r>
            <a:r>
              <a:rPr lang="en-US" altLang="zh-CN" sz="2400" b="1" dirty="0">
                <a:latin typeface="Cambria Math" panose="02040503050406030204" pitchFamily="18" charset="0"/>
                <a:ea typeface="Cambria Math" panose="02040503050406030204" pitchFamily="18" charset="0"/>
              </a:rPr>
              <a:t>~ </a:t>
            </a:r>
            <a:r>
              <a:rPr lang="en-US" altLang="zh-CN" sz="2400" b="1" i="1" dirty="0"/>
              <a:t>C</a:t>
            </a:r>
            <a:r>
              <a:rPr lang="en-US" altLang="zh-CN" sz="2400" b="1" dirty="0"/>
              <a:t>)                 (C</a:t>
            </a:r>
            <a:r>
              <a:rPr lang="en-US" altLang="zh-CN" sz="2400" b="0" i="0" dirty="0">
                <a:solidFill>
                  <a:srgbClr val="0C0D0E"/>
                </a:solidFill>
                <a:effectLst/>
              </a:rPr>
              <a:t>omplement Intersection Conversion</a:t>
            </a:r>
            <a:r>
              <a:rPr lang="zh-CN" altLang="en-US" sz="2400" b="1" dirty="0"/>
              <a:t>)</a:t>
            </a:r>
          </a:p>
          <a:p>
            <a:pPr eaLnBrk="1" hangingPunct="1">
              <a:lnSpc>
                <a:spcPct val="90000"/>
              </a:lnSpc>
              <a:buFontTx/>
              <a:buNone/>
            </a:pPr>
            <a:r>
              <a:rPr lang="zh-CN" altLang="en-US" sz="2400" b="1" dirty="0"/>
              <a:t>     </a:t>
            </a:r>
            <a:r>
              <a:rPr lang="zh-CN" altLang="en-US" sz="2400" b="1" dirty="0">
                <a:latin typeface="Cambria Math" panose="02040503050406030204" pitchFamily="18" charset="0"/>
              </a:rPr>
              <a:t>=</a:t>
            </a:r>
            <a:r>
              <a:rPr lang="zh-CN" altLang="en-US" sz="2400" b="1" dirty="0"/>
              <a:t> </a:t>
            </a:r>
            <a:r>
              <a:rPr lang="en-US" altLang="zh-CN" sz="2400" b="1" dirty="0"/>
              <a:t>(</a:t>
            </a:r>
            <a:r>
              <a:rPr lang="en-US" altLang="zh-CN" sz="2400" b="1" i="1" dirty="0"/>
              <a:t>A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rPr>
              <a:t>~</a:t>
            </a:r>
            <a:r>
              <a:rPr lang="en-US" altLang="zh-CN" sz="2400" b="1" i="1" dirty="0"/>
              <a:t>C</a:t>
            </a:r>
            <a:r>
              <a:rPr lang="en-US" altLang="zh-CN" sz="2400" b="1" dirty="0"/>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t> (</a:t>
            </a:r>
            <a:r>
              <a:rPr lang="en-US" altLang="zh-CN" sz="2400" b="1" dirty="0">
                <a:latin typeface="Cambria Math" panose="02040503050406030204" pitchFamily="18" charset="0"/>
                <a:ea typeface="Cambria Math" panose="02040503050406030204" pitchFamily="18" charset="0"/>
              </a:rPr>
              <a:t>~</a:t>
            </a:r>
            <a:r>
              <a:rPr lang="en-US" altLang="zh-CN" sz="2400" b="1" i="1" dirty="0"/>
              <a:t>B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t> </a:t>
            </a:r>
            <a:r>
              <a:rPr lang="en-US" altLang="zh-CN" sz="2400" b="1" dirty="0">
                <a:latin typeface="Cambria Math" panose="02040503050406030204" pitchFamily="18" charset="0"/>
                <a:ea typeface="Cambria Math" panose="02040503050406030204" pitchFamily="18" charset="0"/>
              </a:rPr>
              <a:t>~~</a:t>
            </a:r>
            <a:r>
              <a:rPr lang="en-US" altLang="zh-CN" sz="2400" b="1" i="1" dirty="0"/>
              <a:t>C</a:t>
            </a:r>
            <a:r>
              <a:rPr lang="en-US" altLang="zh-CN" sz="2400" b="1" dirty="0"/>
              <a:t>)                 (</a:t>
            </a:r>
            <a:r>
              <a:rPr lang="en-US" altLang="zh-CN" sz="2400" b="0" i="0" dirty="0">
                <a:solidFill>
                  <a:srgbClr val="0C0D0E"/>
                </a:solidFill>
                <a:effectLst/>
              </a:rPr>
              <a:t>De Morgan’s Law)</a:t>
            </a:r>
            <a:r>
              <a:rPr lang="zh-CN" altLang="en-US" sz="2400" b="1" dirty="0"/>
              <a:t>)    </a:t>
            </a:r>
          </a:p>
          <a:p>
            <a:pPr eaLnBrk="1" hangingPunct="1">
              <a:lnSpc>
                <a:spcPct val="90000"/>
              </a:lnSpc>
              <a:buFontTx/>
              <a:buNone/>
            </a:pPr>
            <a:r>
              <a:rPr lang="zh-CN" altLang="en-US" sz="2400" b="1" dirty="0"/>
              <a:t>     </a:t>
            </a:r>
            <a:r>
              <a:rPr lang="zh-CN" altLang="en-US" sz="2400" b="1" dirty="0">
                <a:latin typeface="Cambria Math" panose="02040503050406030204" pitchFamily="18" charset="0"/>
              </a:rPr>
              <a:t>=</a:t>
            </a:r>
            <a:r>
              <a:rPr lang="zh-CN" altLang="en-US" sz="2400" b="1" dirty="0"/>
              <a:t> </a:t>
            </a:r>
            <a:r>
              <a:rPr lang="en-US" altLang="zh-CN" sz="2400" b="1" dirty="0"/>
              <a:t>(</a:t>
            </a:r>
            <a:r>
              <a:rPr lang="en-US" altLang="zh-CN" sz="2400" b="1" i="1" dirty="0"/>
              <a:t>A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rPr>
              <a:t>~</a:t>
            </a:r>
            <a:r>
              <a:rPr lang="en-US" altLang="zh-CN" sz="2400" b="1" i="1" dirty="0"/>
              <a:t>C</a:t>
            </a:r>
            <a:r>
              <a:rPr lang="en-US" altLang="zh-CN" sz="2400" b="1" dirty="0"/>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t> (</a:t>
            </a:r>
            <a:r>
              <a:rPr lang="en-US" altLang="zh-CN" sz="2400" b="1" dirty="0">
                <a:latin typeface="Cambria Math" panose="02040503050406030204" pitchFamily="18" charset="0"/>
                <a:ea typeface="Cambria Math" panose="02040503050406030204" pitchFamily="18" charset="0"/>
              </a:rPr>
              <a:t>~</a:t>
            </a:r>
            <a:r>
              <a:rPr lang="en-US" altLang="zh-CN" sz="2400" b="1" i="1" dirty="0"/>
              <a:t>B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t> C</a:t>
            </a:r>
            <a:r>
              <a:rPr lang="en-US" altLang="zh-CN" sz="2400" b="1" dirty="0"/>
              <a:t>)                      (</a:t>
            </a:r>
            <a:r>
              <a:rPr lang="en-US" altLang="zh-CN" sz="2400" b="0" i="0" dirty="0">
                <a:solidFill>
                  <a:srgbClr val="0C0D0E"/>
                </a:solidFill>
                <a:effectLst/>
              </a:rPr>
              <a:t>Double Negation Law</a:t>
            </a:r>
            <a:r>
              <a:rPr lang="zh-CN" altLang="en-US" sz="2400" b="1" dirty="0"/>
              <a:t>)</a:t>
            </a:r>
          </a:p>
          <a:p>
            <a:pPr eaLnBrk="1" hangingPunct="1">
              <a:lnSpc>
                <a:spcPct val="90000"/>
              </a:lnSpc>
              <a:buFontTx/>
              <a:buNone/>
            </a:pPr>
            <a:r>
              <a:rPr lang="zh-CN" altLang="en-US" sz="2400" b="1" dirty="0"/>
              <a:t>     </a:t>
            </a:r>
            <a:r>
              <a:rPr lang="zh-CN" altLang="en-US" sz="2400" b="1" dirty="0">
                <a:latin typeface="Cambria Math" panose="02040503050406030204" pitchFamily="18" charset="0"/>
              </a:rPr>
              <a:t>= </a:t>
            </a:r>
            <a:r>
              <a:rPr lang="en-US" altLang="zh-CN" sz="2400" b="1" dirty="0"/>
              <a:t>(</a:t>
            </a:r>
            <a:r>
              <a:rPr lang="en-US" altLang="zh-CN" sz="2400" b="1" i="1" dirty="0"/>
              <a:t>A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rPr>
              <a:t>~</a:t>
            </a:r>
            <a:r>
              <a:rPr lang="en-US" altLang="zh-CN" sz="2400" b="1" i="1" dirty="0"/>
              <a:t>C</a:t>
            </a:r>
            <a:r>
              <a:rPr lang="en-US" altLang="zh-CN" sz="2400" b="1" dirty="0"/>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t> </a:t>
            </a:r>
            <a:r>
              <a:rPr lang="en-US" altLang="zh-CN" sz="2400" b="1" dirty="0">
                <a:latin typeface="Cambria Math" panose="02040503050406030204" pitchFamily="18" charset="0"/>
                <a:ea typeface="Cambria Math" panose="02040503050406030204" pitchFamily="18" charset="0"/>
              </a:rPr>
              <a:t>~</a:t>
            </a:r>
            <a:r>
              <a:rPr lang="en-US" altLang="zh-CN" sz="2400" b="1" i="1" dirty="0"/>
              <a:t>B</a:t>
            </a:r>
            <a:r>
              <a:rPr lang="en-US" altLang="zh-CN" sz="2400" b="1" dirty="0"/>
              <a:t>)</a:t>
            </a:r>
            <a:r>
              <a:rPr lang="en-US" altLang="zh-CN" sz="2400" b="1" i="1" dirty="0"/>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zh-CN" sz="2400" b="1" dirty="0">
                <a:sym typeface="Symbol" panose="05050102010706020507" pitchFamily="18" charset="2"/>
              </a:rPr>
              <a:t>(</a:t>
            </a:r>
            <a:r>
              <a:rPr lang="en-US" altLang="zh-CN" sz="2400" b="1" i="1" dirty="0"/>
              <a:t>A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rPr>
              <a:t>~</a:t>
            </a:r>
            <a:r>
              <a:rPr lang="en-US" altLang="zh-CN" sz="2400" b="1" i="1" dirty="0"/>
              <a:t>C</a:t>
            </a:r>
            <a:r>
              <a:rPr lang="en-US" altLang="zh-CN" sz="2400" b="1" dirty="0"/>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i="1" dirty="0"/>
              <a:t> C</a:t>
            </a:r>
            <a:r>
              <a:rPr lang="en-US" altLang="zh-CN" sz="2400" b="1" dirty="0"/>
              <a:t>)     (</a:t>
            </a:r>
            <a:r>
              <a:rPr lang="en-US" altLang="zh-CN" sz="2400" b="0" i="0" dirty="0">
                <a:solidFill>
                  <a:srgbClr val="0C0D0E"/>
                </a:solidFill>
                <a:effectLst/>
              </a:rPr>
              <a:t>Distributive Law</a:t>
            </a:r>
            <a:r>
              <a:rPr lang="zh-CN" altLang="en-US" sz="2400" b="1" dirty="0"/>
              <a:t>)</a:t>
            </a:r>
          </a:p>
          <a:p>
            <a:pPr eaLnBrk="1" hangingPunct="1">
              <a:lnSpc>
                <a:spcPct val="90000"/>
              </a:lnSpc>
              <a:buFontTx/>
              <a:buNone/>
            </a:pPr>
            <a:r>
              <a:rPr lang="zh-CN" altLang="en-US" sz="2400" b="1" dirty="0"/>
              <a:t>     </a:t>
            </a:r>
            <a:r>
              <a:rPr lang="zh-CN" altLang="en-US" sz="2400" b="1" dirty="0">
                <a:latin typeface="Cambria Math" panose="02040503050406030204" pitchFamily="18" charset="0"/>
              </a:rPr>
              <a:t>=</a:t>
            </a:r>
            <a:r>
              <a:rPr lang="zh-CN" altLang="en-US" sz="2400" b="1" dirty="0"/>
              <a:t> </a:t>
            </a:r>
            <a:r>
              <a:rPr lang="en-US" altLang="zh-CN" sz="2400" b="1" dirty="0"/>
              <a:t>(</a:t>
            </a:r>
            <a:r>
              <a:rPr lang="en-US" altLang="zh-CN" sz="2400" b="1" i="1" dirty="0"/>
              <a:t>A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rPr>
              <a:t>~</a:t>
            </a:r>
            <a:r>
              <a:rPr lang="en-US" altLang="zh-CN" sz="2400" b="1" i="1" dirty="0"/>
              <a:t>C</a:t>
            </a:r>
            <a:r>
              <a:rPr lang="en-US" altLang="zh-CN" sz="2400" b="1" dirty="0"/>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t> </a:t>
            </a:r>
            <a:r>
              <a:rPr lang="en-US" altLang="zh-CN" sz="2400" b="1" dirty="0">
                <a:latin typeface="Cambria Math" panose="02040503050406030204" pitchFamily="18" charset="0"/>
                <a:ea typeface="Cambria Math" panose="02040503050406030204" pitchFamily="18" charset="0"/>
              </a:rPr>
              <a:t>~</a:t>
            </a:r>
            <a:r>
              <a:rPr lang="en-US" altLang="zh-CN" sz="2400" b="1" i="1" dirty="0"/>
              <a:t>B</a:t>
            </a:r>
            <a:r>
              <a:rPr lang="en-US" altLang="zh-CN" sz="2400" b="1" dirty="0"/>
              <a:t>)</a:t>
            </a:r>
            <a:r>
              <a:rPr lang="en-US" altLang="zh-CN" sz="2400" b="1" i="1" dirty="0"/>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zh-CN" sz="2400" b="1" dirty="0">
                <a:sym typeface="Symbol" panose="05050102010706020507" pitchFamily="18" charset="2"/>
              </a:rPr>
              <a:t>(</a:t>
            </a:r>
            <a:r>
              <a:rPr lang="en-US" altLang="zh-CN" sz="2400" b="1" i="1" dirty="0"/>
              <a:t>A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dirty="0"/>
              <a:t>)               (</a:t>
            </a:r>
            <a:r>
              <a:rPr lang="en-US" altLang="zh-CN" sz="2400" b="0" i="0" dirty="0">
                <a:solidFill>
                  <a:srgbClr val="0C0D0E"/>
                </a:solidFill>
                <a:effectLst/>
              </a:rPr>
              <a:t>Contradiction Law</a:t>
            </a:r>
            <a:r>
              <a:rPr lang="zh-CN" altLang="en-US" sz="2400" b="1" dirty="0"/>
              <a:t>)</a:t>
            </a:r>
          </a:p>
          <a:p>
            <a:pPr eaLnBrk="1" hangingPunct="1">
              <a:lnSpc>
                <a:spcPct val="90000"/>
              </a:lnSpc>
              <a:buFontTx/>
              <a:buNone/>
            </a:pPr>
            <a:r>
              <a:rPr lang="zh-CN" altLang="en-US" sz="2400" b="1" dirty="0"/>
              <a:t>     </a:t>
            </a:r>
            <a:r>
              <a:rPr lang="zh-CN" altLang="en-US" sz="2400" b="1" dirty="0">
                <a:latin typeface="Cambria Math" panose="02040503050406030204" pitchFamily="18" charset="0"/>
              </a:rPr>
              <a:t>=</a:t>
            </a:r>
            <a:r>
              <a:rPr lang="zh-CN" altLang="en-US" sz="2400" b="1" dirty="0"/>
              <a:t> </a:t>
            </a:r>
            <a:r>
              <a:rPr lang="en-US" altLang="zh-CN" sz="2400" b="1" i="1" dirty="0"/>
              <a:t>A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rPr>
              <a:t>~</a:t>
            </a:r>
            <a:r>
              <a:rPr lang="en-US" altLang="zh-CN" sz="2400" b="1" i="1" dirty="0"/>
              <a:t>C</a:t>
            </a:r>
            <a:r>
              <a:rPr lang="en-US" altLang="zh-CN" sz="2400" b="1" dirty="0"/>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t> </a:t>
            </a:r>
            <a:r>
              <a:rPr lang="en-US" altLang="zh-CN" sz="2400" b="1" dirty="0">
                <a:latin typeface="Cambria Math" panose="02040503050406030204" pitchFamily="18" charset="0"/>
                <a:ea typeface="Cambria Math" panose="02040503050406030204" pitchFamily="18" charset="0"/>
              </a:rPr>
              <a:t>~</a:t>
            </a:r>
            <a:r>
              <a:rPr lang="en-US" altLang="zh-CN" sz="2400" b="1" i="1" dirty="0"/>
              <a:t>B                                   </a:t>
            </a:r>
            <a:r>
              <a:rPr lang="en-US" altLang="zh-CN" sz="2400" b="1" dirty="0"/>
              <a:t>(</a:t>
            </a:r>
            <a:r>
              <a:rPr lang="en-US" altLang="zh-CN" sz="2400" b="0" i="0" dirty="0">
                <a:solidFill>
                  <a:srgbClr val="0C0D0E"/>
                </a:solidFill>
                <a:effectLst/>
              </a:rPr>
              <a:t>Zero Law, Identity Law</a:t>
            </a:r>
            <a:r>
              <a:rPr lang="zh-CN" altLang="en-US" sz="2400" b="1" dirty="0"/>
              <a:t>)</a:t>
            </a:r>
          </a:p>
          <a:p>
            <a:pPr eaLnBrk="1" hangingPunct="1">
              <a:lnSpc>
                <a:spcPct val="90000"/>
              </a:lnSpc>
              <a:buFontTx/>
              <a:buNone/>
            </a:pPr>
            <a:r>
              <a:rPr lang="zh-CN" altLang="en-US" sz="2400" b="1" dirty="0"/>
              <a:t>     </a:t>
            </a:r>
            <a:r>
              <a:rPr lang="zh-CN" altLang="en-US" sz="2400" b="1" dirty="0">
                <a:latin typeface="Cambria Math" panose="02040503050406030204" pitchFamily="18" charset="0"/>
              </a:rPr>
              <a:t>=</a:t>
            </a:r>
            <a:r>
              <a:rPr lang="zh-CN" altLang="en-US" sz="2400" b="1" dirty="0"/>
              <a:t> (</a:t>
            </a:r>
            <a:r>
              <a:rPr lang="en-US" altLang="zh-CN" sz="2400" b="1" i="1" dirty="0"/>
              <a:t>A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rPr>
              <a:t>~</a:t>
            </a:r>
            <a:r>
              <a:rPr lang="en-US" altLang="zh-CN" sz="2400" b="1" i="1" dirty="0"/>
              <a:t>B</a:t>
            </a:r>
            <a:r>
              <a:rPr lang="en-US" altLang="zh-CN" sz="2400" b="1" dirty="0"/>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a:t>
            </a:r>
            <a:r>
              <a:rPr lang="en-US" altLang="zh-CN" sz="2400" b="1" dirty="0"/>
              <a:t> </a:t>
            </a:r>
            <a:r>
              <a:rPr lang="en-US" altLang="zh-CN" sz="2400" b="1" dirty="0">
                <a:latin typeface="Cambria Math" panose="02040503050406030204" pitchFamily="18" charset="0"/>
                <a:ea typeface="Cambria Math" panose="02040503050406030204" pitchFamily="18" charset="0"/>
              </a:rPr>
              <a:t>~</a:t>
            </a:r>
            <a:r>
              <a:rPr lang="en-US" altLang="zh-CN" sz="2400" b="1" i="1" dirty="0"/>
              <a:t>C                              </a:t>
            </a:r>
            <a:r>
              <a:rPr lang="en-US" altLang="zh-CN" sz="2400" b="1" dirty="0"/>
              <a:t>(</a:t>
            </a:r>
            <a:r>
              <a:rPr lang="en-US" altLang="zh-CN" sz="2400" b="0" i="0" dirty="0">
                <a:solidFill>
                  <a:srgbClr val="0C0D0E"/>
                </a:solidFill>
                <a:effectLst/>
              </a:rPr>
              <a:t>Commutative Law, Associative Law</a:t>
            </a:r>
            <a:r>
              <a:rPr lang="zh-CN" altLang="en-US" sz="2400" b="1" dirty="0"/>
              <a:t>)</a:t>
            </a:r>
            <a:r>
              <a:rPr lang="zh-CN" altLang="en-US" sz="2400" b="1" i="1" dirty="0"/>
              <a:t>               </a:t>
            </a:r>
          </a:p>
          <a:p>
            <a:pPr eaLnBrk="1" hangingPunct="1">
              <a:lnSpc>
                <a:spcPct val="90000"/>
              </a:lnSpc>
              <a:buFontTx/>
              <a:buNone/>
            </a:pPr>
            <a:r>
              <a:rPr lang="zh-CN" altLang="en-US" sz="2400" b="1" dirty="0"/>
              <a:t>     </a:t>
            </a:r>
            <a:r>
              <a:rPr lang="zh-CN" altLang="en-US" sz="2400" b="1" dirty="0">
                <a:latin typeface="Cambria Math" panose="02040503050406030204" pitchFamily="18" charset="0"/>
              </a:rPr>
              <a:t>=</a:t>
            </a:r>
            <a:r>
              <a:rPr lang="zh-CN" altLang="en-US" sz="2400" b="1" dirty="0"/>
              <a:t> (</a:t>
            </a:r>
            <a:r>
              <a:rPr lang="en-US" altLang="zh-CN" sz="2400" b="1" i="1" dirty="0"/>
              <a:t>A </a:t>
            </a:r>
            <a:r>
              <a:rPr lang="en-US" altLang="zh-CN" sz="2400" b="1" i="1" dirty="0">
                <a:latin typeface="Cambria Math" panose="02040503050406030204" pitchFamily="18" charset="0"/>
                <a:ea typeface="Cambria Math" panose="02040503050406030204" pitchFamily="18" charset="0"/>
              </a:rPr>
              <a:t>–</a:t>
            </a:r>
            <a:r>
              <a:rPr lang="en-US" altLang="zh-CN" sz="2400" b="1" i="1" dirty="0"/>
              <a:t> B</a:t>
            </a:r>
            <a:r>
              <a:rPr lang="en-US" altLang="zh-CN" sz="2400" b="1" dirty="0"/>
              <a:t>) </a:t>
            </a:r>
            <a:r>
              <a:rPr lang="en-US" altLang="zh-CN" sz="2400" b="1" dirty="0">
                <a:latin typeface="Cambria Math" panose="02040503050406030204" pitchFamily="18" charset="0"/>
                <a:ea typeface="Cambria Math" panose="02040503050406030204" pitchFamily="18" charset="0"/>
              </a:rPr>
              <a:t>–</a:t>
            </a:r>
            <a:r>
              <a:rPr lang="en-US" altLang="zh-CN" sz="2400" b="1" dirty="0"/>
              <a:t> </a:t>
            </a:r>
            <a:r>
              <a:rPr lang="en-US" altLang="zh-CN" sz="2400" b="1" i="1" dirty="0"/>
              <a:t>C                     </a:t>
            </a:r>
            <a:r>
              <a:rPr lang="en-US" altLang="zh-CN" sz="2400" b="1" dirty="0"/>
              <a:t>(</a:t>
            </a:r>
            <a:r>
              <a:rPr lang="en-US" altLang="zh-CN" sz="2400" b="0" i="0" dirty="0">
                <a:solidFill>
                  <a:srgbClr val="0C0D0E"/>
                </a:solidFill>
                <a:effectLst/>
              </a:rPr>
              <a:t>Complement Intersection Conversion Law</a:t>
            </a:r>
            <a:r>
              <a:rPr lang="zh-CN" altLang="en-US" sz="2400" b="1" dirty="0"/>
              <a:t>)</a:t>
            </a:r>
          </a:p>
          <a:p>
            <a:pPr eaLnBrk="1" hangingPunct="1">
              <a:buFontTx/>
              <a:buNone/>
            </a:pPr>
            <a:endParaRPr lang="zh-CN" altLang="en-US" sz="2800" b="1" dirty="0">
              <a:sym typeface="Symbol" panose="05050102010706020507" pitchFamily="18" charset="2"/>
            </a:endParaRPr>
          </a:p>
        </p:txBody>
      </p:sp>
      <p:pic>
        <p:nvPicPr>
          <p:cNvPr id="8" name="图片 7">
            <a:extLst>
              <a:ext uri="{FF2B5EF4-FFF2-40B4-BE49-F238E27FC236}">
                <a16:creationId xmlns:a16="http://schemas.microsoft.com/office/drawing/2014/main" id="{4D239990-684B-427A-937C-282B51ABFCDD}"/>
              </a:ext>
            </a:extLst>
          </p:cNvPr>
          <p:cNvPicPr>
            <a:picLocks noChangeAspect="1"/>
          </p:cNvPicPr>
          <p:nvPr/>
        </p:nvPicPr>
        <p:blipFill>
          <a:blip r:embed="rId5"/>
          <a:stretch>
            <a:fillRect/>
          </a:stretch>
        </p:blipFill>
        <p:spPr>
          <a:xfrm>
            <a:off x="1159526" y="1020386"/>
            <a:ext cx="577850" cy="241300"/>
          </a:xfrm>
          <a:prstGeom prst="rect">
            <a:avLst/>
          </a:prstGeom>
        </p:spPr>
      </p:pic>
    </p:spTree>
    <p:extLst>
      <p:ext uri="{BB962C8B-B14F-4D97-AF65-F5344CB8AC3E}">
        <p14:creationId xmlns:p14="http://schemas.microsoft.com/office/powerpoint/2010/main" val="17464354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a:t>
            </a:r>
            <a:r>
              <a:rPr lang="zh-CN" altLang="en-US" sz="2000" b="1" dirty="0">
                <a:latin typeface="+mj-lt"/>
                <a:cs typeface="Times New Roman" panose="02020603050405020304" pitchFamily="18" charset="0"/>
              </a:rPr>
              <a:t>.</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t>Proof of Identity</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600" y="764799"/>
            <a:ext cx="7620000"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110000"/>
              </a:lnSpc>
              <a:buFontTx/>
              <a:buNone/>
            </a:pPr>
            <a:r>
              <a:rPr lang="en-US" altLang="zh-CN" sz="2400" b="1" dirty="0">
                <a:solidFill>
                  <a:srgbClr val="800000"/>
                </a:solidFill>
                <a:latin typeface="Cambria Math" panose="02040503050406030204" pitchFamily="18" charset="0"/>
                <a:ea typeface="Cambria Math" panose="02040503050406030204" pitchFamily="18" charset="0"/>
              </a:rPr>
              <a:t>    </a:t>
            </a:r>
            <a:r>
              <a:rPr lang="en-US" altLang="zh-CN" sz="2400" b="1" dirty="0">
                <a:ea typeface="Cambria Math" panose="02040503050406030204" pitchFamily="18" charset="0"/>
              </a:rPr>
              <a:t>Example 6</a:t>
            </a:r>
            <a:r>
              <a:rPr lang="zh-CN" altLang="en-US" sz="2400" b="1" dirty="0">
                <a:ea typeface="Cambria Math" panose="02040503050406030204" pitchFamily="18" charset="0"/>
              </a:rPr>
              <a:t>：</a:t>
            </a:r>
            <a:r>
              <a:rPr lang="en-US" altLang="zh-CN" sz="2400" b="1" dirty="0">
                <a:ea typeface="Cambria Math" panose="02040503050406030204" pitchFamily="18" charset="0"/>
              </a:rPr>
              <a:t> </a:t>
            </a:r>
            <a:r>
              <a:rPr lang="en-US" altLang="zh-CN" sz="2400" b="1" dirty="0">
                <a:latin typeface="Cambria Math" panose="02040503050406030204" pitchFamily="18" charset="0"/>
                <a:ea typeface="Cambria Math" panose="02040503050406030204" pitchFamily="18" charset="0"/>
              </a:rPr>
              <a:t>Prove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B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A</a:t>
            </a:r>
            <a:endPar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endParaRPr>
          </a:p>
          <a:p>
            <a:pPr eaLnBrk="1" hangingPunct="1">
              <a:lnSpc>
                <a:spcPct val="110000"/>
              </a:lnSpc>
              <a:buFontTx/>
              <a:buNone/>
            </a:pPr>
            <a:r>
              <a:rPr lang="en-US" altLang="zh-CN" sz="2400" b="1" dirty="0">
                <a:latin typeface="Cambria Math" panose="02040503050406030204" pitchFamily="18" charset="0"/>
                <a:ea typeface="Cambria Math" panose="02040503050406030204" pitchFamily="18" charset="0"/>
                <a:sym typeface="Symbol" panose="05050102010706020507" pitchFamily="18" charset="2"/>
              </a:rPr>
              <a:t>Need</a:t>
            </a:r>
            <a:r>
              <a:rPr lang="zh-CN" altLang="en-US" sz="2400" b="1" dirty="0">
                <a:latin typeface="Cambria Math" panose="020405030504060302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to</a:t>
            </a:r>
            <a:r>
              <a:rPr lang="zh-CN" altLang="en-US" sz="2400" b="1" dirty="0">
                <a:latin typeface="Cambria Math" panose="020405030504060302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prove</a:t>
            </a:r>
            <a:r>
              <a:rPr lang="zh-CN" altLang="en-US" sz="2400" b="1" dirty="0">
                <a:latin typeface="Cambria Math" panose="020405030504060302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p>
          <a:p>
            <a:pPr eaLnBrk="1" hangingPunct="1">
              <a:lnSpc>
                <a:spcPct val="110000"/>
              </a:lnSpc>
              <a:buFontTx/>
              <a:buNone/>
            </a:pPr>
            <a:r>
              <a:rPr lang="zh-CN" altLang="en-US" sz="2400" b="1" dirty="0">
                <a:latin typeface="Cambria Math" panose="02040503050406030204" pitchFamily="18" charset="0"/>
                <a:cs typeface="Times New Roman" panose="020206030504050203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p>
          <a:p>
            <a:pPr eaLnBrk="1" hangingPunct="1">
              <a:lnSpc>
                <a:spcPct val="110000"/>
              </a:lnSpc>
              <a:buFontTx/>
              <a:buNone/>
            </a:pPr>
            <a:r>
              <a:rPr lang="zh-CN" altLang="en-US" sz="2400" b="1" dirty="0">
                <a:latin typeface="Cambria Math" panose="02040503050406030204" pitchFamily="18" charset="0"/>
                <a:cs typeface="Times New Roman" panose="020206030504050203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p>
          <a:p>
            <a:pPr eaLnBrk="1" hangingPunct="1">
              <a:lnSpc>
                <a:spcPct val="110000"/>
              </a:lnSpc>
              <a:buFontTx/>
              <a:buNone/>
            </a:pPr>
            <a:r>
              <a:rPr lang="zh-CN" altLang="en-US" sz="2400" b="1" dirty="0">
                <a:latin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p>
          <a:p>
            <a:pPr eaLnBrk="1" hangingPunct="1">
              <a:lnSpc>
                <a:spcPct val="110000"/>
              </a:lnSpc>
              <a:buFontTx/>
              <a:buNone/>
            </a:pPr>
            <a:r>
              <a:rPr lang="zh-CN" altLang="en-US" sz="2400" b="1" dirty="0">
                <a:latin typeface="Cambria Math" panose="02040503050406030204" pitchFamily="18" charset="0"/>
                <a:cs typeface="Times New Roman" panose="02020603050405020304" pitchFamily="18" charset="0"/>
                <a:sym typeface="Symbol" panose="05050102010706020507" pitchFamily="18" charset="2"/>
              </a:rPr>
              <a:t>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endPar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endParaRPr>
          </a:p>
          <a:p>
            <a:pPr eaLnBrk="1" hangingPunct="1">
              <a:lnSpc>
                <a:spcPct val="110000"/>
              </a:lnSpc>
              <a:buFontTx/>
              <a:buNone/>
            </a:pPr>
            <a:r>
              <a:rPr lang="zh-CN" altLang="en-US" sz="2400" b="1" dirty="0">
                <a:latin typeface="Cambria Math" panose="02040503050406030204" pitchFamily="18" charset="0"/>
                <a:cs typeface="Times New Roman" panose="02020603050405020304" pitchFamily="18" charset="0"/>
                <a:sym typeface="Symbol" panose="05050102010706020507" pitchFamily="18" charset="2"/>
              </a:rPr>
              <a:t>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B-C</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C-B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a:t>
            </a:r>
            <a:endPar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endParaRPr>
          </a:p>
          <a:p>
            <a:pPr eaLnBrk="1" hangingPunct="1">
              <a:lnSpc>
                <a:spcPct val="110000"/>
              </a:lnSpc>
              <a:buFontTx/>
              <a:buNone/>
            </a:pPr>
            <a:r>
              <a:rPr lang="zh-CN" altLang="en-US" sz="2400" b="1" dirty="0">
                <a:latin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B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C</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latin typeface="Cambria Math" panose="02040503050406030204" pitchFamily="18" charset="0"/>
                <a:ea typeface="Cambria Math" panose="02040503050406030204" pitchFamily="18" charset="0"/>
                <a:cs typeface="Times New Roman" panose="02020603050405020304" pitchFamily="18" charset="0"/>
              </a:rPr>
              <a:t>A</a:t>
            </a:r>
            <a:endParaRPr lang="zh-CN" altLang="en-US" sz="2400" b="1" dirty="0">
              <a:latin typeface="Cambria Math" panose="02040503050406030204" pitchFamily="18" charset="0"/>
              <a:sym typeface="Symbol" panose="05050102010706020507" pitchFamily="18" charset="2"/>
            </a:endParaRPr>
          </a:p>
        </p:txBody>
      </p:sp>
      <p:pic>
        <p:nvPicPr>
          <p:cNvPr id="8" name="图片 7">
            <a:extLst>
              <a:ext uri="{FF2B5EF4-FFF2-40B4-BE49-F238E27FC236}">
                <a16:creationId xmlns:a16="http://schemas.microsoft.com/office/drawing/2014/main" id="{3B13EFB4-C4CE-490F-A80E-CCA6A244C17E}"/>
              </a:ext>
            </a:extLst>
          </p:cNvPr>
          <p:cNvPicPr>
            <a:picLocks noChangeAspect="1"/>
          </p:cNvPicPr>
          <p:nvPr/>
        </p:nvPicPr>
        <p:blipFill>
          <a:blip r:embed="rId5"/>
          <a:stretch>
            <a:fillRect/>
          </a:stretch>
        </p:blipFill>
        <p:spPr>
          <a:xfrm>
            <a:off x="1159526" y="1140127"/>
            <a:ext cx="577850" cy="241300"/>
          </a:xfrm>
          <a:prstGeom prst="rect">
            <a:avLst/>
          </a:prstGeom>
        </p:spPr>
      </p:pic>
    </p:spTree>
    <p:extLst>
      <p:ext uri="{BB962C8B-B14F-4D97-AF65-F5344CB8AC3E}">
        <p14:creationId xmlns:p14="http://schemas.microsoft.com/office/powerpoint/2010/main" val="4029554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a:t>
            </a:r>
            <a:r>
              <a:rPr lang="zh-CN" altLang="en-US" sz="2000" b="1" dirty="0">
                <a:latin typeface="+mj-lt"/>
                <a:cs typeface="Times New Roman" panose="02020603050405020304" pitchFamily="18" charset="0"/>
              </a:rPr>
              <a:t>.</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t>Proof of Identity</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600" y="765175"/>
            <a:ext cx="8088086"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120000"/>
              </a:lnSpc>
              <a:buFontTx/>
              <a:buNone/>
            </a:pPr>
            <a:r>
              <a:rPr lang="en-US" altLang="zh-CN" sz="2400" b="0" i="0" dirty="0">
                <a:solidFill>
                  <a:srgbClr val="0C0D0E"/>
                </a:solidFill>
                <a:effectLst/>
                <a:latin typeface="-apple-system"/>
              </a:rPr>
              <a:t>     </a:t>
            </a:r>
            <a:r>
              <a:rPr lang="en-US" altLang="zh-CN" sz="2400" b="1" i="0" dirty="0">
                <a:solidFill>
                  <a:srgbClr val="0C0D0E"/>
                </a:solidFill>
                <a:effectLst/>
              </a:rPr>
              <a:t>Example 7</a:t>
            </a:r>
            <a:r>
              <a:rPr lang="zh-CN" altLang="en-US" sz="2400" b="1" i="0" dirty="0">
                <a:solidFill>
                  <a:srgbClr val="0C0D0E"/>
                </a:solidFill>
                <a:effectLst/>
              </a:rPr>
              <a:t>：</a:t>
            </a:r>
            <a:br>
              <a:rPr lang="en-US" altLang="zh-CN" sz="2400" dirty="0"/>
            </a:br>
            <a:r>
              <a:rPr lang="en-US" altLang="zh-CN" sz="2400" b="0" i="0" dirty="0">
                <a:solidFill>
                  <a:srgbClr val="0C0D0E"/>
                </a:solidFill>
                <a:effectLst/>
                <a:latin typeface="-apple-system"/>
              </a:rPr>
              <a:t>Let </a:t>
            </a:r>
            <a:r>
              <a:rPr lang="en-US" altLang="zh-CN" sz="2400" b="0" dirty="0">
                <a:solidFill>
                  <a:srgbClr val="0C0D0E"/>
                </a:solidFill>
                <a:effectLst/>
                <a:latin typeface="KaTeX_Main"/>
              </a:rPr>
              <a:t>A</a:t>
            </a:r>
            <a:r>
              <a:rPr lang="en-US" altLang="zh-CN" sz="2400" b="0" i="0" dirty="0">
                <a:solidFill>
                  <a:srgbClr val="0C0D0E"/>
                </a:solidFill>
                <a:effectLst/>
                <a:latin typeface="-apple-system"/>
              </a:rPr>
              <a:t> and </a:t>
            </a:r>
            <a:r>
              <a:rPr lang="en-US" altLang="zh-CN" sz="2400" b="0" dirty="0">
                <a:solidFill>
                  <a:srgbClr val="0C0D0E"/>
                </a:solidFill>
                <a:effectLst/>
                <a:latin typeface="KaTeX_Main"/>
              </a:rPr>
              <a:t>B</a:t>
            </a:r>
            <a:r>
              <a:rPr lang="en-US" altLang="zh-CN" sz="2400" b="0" i="0" dirty="0">
                <a:solidFill>
                  <a:srgbClr val="0C0D0E"/>
                </a:solidFill>
                <a:effectLst/>
                <a:latin typeface="-apple-system"/>
              </a:rPr>
              <a:t> be any sets, with power sets </a:t>
            </a:r>
            <a:r>
              <a:rPr lang="en-US" altLang="zh-CN" sz="2400" b="0" dirty="0">
                <a:solidFill>
                  <a:srgbClr val="0C0D0E"/>
                </a:solidFill>
                <a:effectLst/>
                <a:latin typeface="KaTeX_Main"/>
              </a:rPr>
              <a:t>P(A)</a:t>
            </a:r>
            <a:r>
              <a:rPr lang="en-US" altLang="zh-CN" sz="2400" b="0" i="0" dirty="0">
                <a:solidFill>
                  <a:srgbClr val="0C0D0E"/>
                </a:solidFill>
                <a:effectLst/>
                <a:latin typeface="-apple-system"/>
              </a:rPr>
              <a:t> and </a:t>
            </a:r>
            <a:r>
              <a:rPr lang="en-US" altLang="zh-CN" sz="2400" b="0" dirty="0">
                <a:solidFill>
                  <a:srgbClr val="0C0D0E"/>
                </a:solidFill>
                <a:effectLst/>
                <a:latin typeface="KaTeX_Main"/>
              </a:rPr>
              <a:t>P(B)</a:t>
            </a:r>
            <a:r>
              <a:rPr lang="en-US" altLang="zh-CN" sz="2400" b="0" i="0" dirty="0">
                <a:solidFill>
                  <a:srgbClr val="0C0D0E"/>
                </a:solidFill>
                <a:effectLst/>
                <a:latin typeface="-apple-system"/>
              </a:rPr>
              <a:t>. </a:t>
            </a:r>
          </a:p>
          <a:p>
            <a:pPr eaLnBrk="1" hangingPunct="1">
              <a:lnSpc>
                <a:spcPct val="120000"/>
              </a:lnSpc>
              <a:buFontTx/>
              <a:buNone/>
            </a:pPr>
            <a:r>
              <a:rPr lang="en-US" altLang="zh-CN" sz="2400" b="1" dirty="0">
                <a:solidFill>
                  <a:srgbClr val="0C0D0E"/>
                </a:solidFill>
                <a:latin typeface="-apple-system"/>
              </a:rPr>
              <a:t>   </a:t>
            </a:r>
            <a:r>
              <a:rPr lang="en-US" altLang="zh-CN" sz="2400" b="1" i="0" dirty="0">
                <a:solidFill>
                  <a:srgbClr val="0C0D0E"/>
                </a:solidFill>
                <a:effectLst/>
                <a:latin typeface="-apple-system"/>
              </a:rPr>
              <a:t>Prove that:</a:t>
            </a:r>
            <a:r>
              <a:rPr lang="zh-CN" altLang="en-US" sz="2400" b="1" dirty="0"/>
              <a:t>     </a:t>
            </a:r>
            <a:r>
              <a:rPr lang="en-US" altLang="zh-CN" sz="2400" b="1" i="1" dirty="0"/>
              <a:t>If A</a:t>
            </a:r>
            <a:r>
              <a:rPr lang="en-US" altLang="zh-CN" sz="2400" b="1" dirty="0">
                <a:sym typeface="Symbol" panose="05050102010706020507" pitchFamily="18" charset="2"/>
              </a:rPr>
              <a:t></a:t>
            </a:r>
            <a:r>
              <a:rPr lang="en-US" altLang="zh-CN" sz="2400" b="1" i="1" dirty="0"/>
              <a:t>B, then</a:t>
            </a:r>
            <a:r>
              <a:rPr lang="zh-CN" altLang="en-US" sz="2400" b="1" i="1" dirty="0"/>
              <a:t> </a:t>
            </a:r>
            <a:r>
              <a:rPr lang="en-US" altLang="zh-CN" sz="2400" b="1" i="1" dirty="0"/>
              <a:t>P</a:t>
            </a:r>
            <a:r>
              <a:rPr lang="en-US" altLang="zh-CN" sz="2400" b="1" dirty="0"/>
              <a:t>(</a:t>
            </a:r>
            <a:r>
              <a:rPr lang="en-US" altLang="zh-CN" sz="2400" b="1" i="1" dirty="0"/>
              <a:t>A</a:t>
            </a:r>
            <a:r>
              <a:rPr lang="en-US" altLang="zh-CN" sz="2400" b="1" dirty="0"/>
              <a:t>)</a:t>
            </a:r>
            <a:r>
              <a:rPr lang="en-US" altLang="zh-CN" sz="2400" b="1" dirty="0">
                <a:sym typeface="Symbol" panose="05050102010706020507" pitchFamily="18" charset="2"/>
              </a:rPr>
              <a:t></a:t>
            </a:r>
            <a:r>
              <a:rPr lang="en-US" altLang="zh-CN" sz="2400" b="1" i="1" dirty="0"/>
              <a:t>P</a:t>
            </a:r>
            <a:r>
              <a:rPr lang="en-US" altLang="zh-CN" sz="2400" b="1" dirty="0"/>
              <a:t>(</a:t>
            </a:r>
            <a:r>
              <a:rPr lang="en-US" altLang="zh-CN" sz="2400" b="1" i="1" dirty="0"/>
              <a:t>B</a:t>
            </a:r>
            <a:r>
              <a:rPr lang="en-US" altLang="zh-CN" sz="2400" b="1" dirty="0"/>
              <a:t>)</a:t>
            </a:r>
          </a:p>
          <a:p>
            <a:pPr eaLnBrk="1" hangingPunct="1">
              <a:lnSpc>
                <a:spcPct val="120000"/>
              </a:lnSpc>
              <a:buFontTx/>
              <a:buNone/>
            </a:pPr>
            <a:r>
              <a:rPr lang="en-US" altLang="zh-CN" sz="2400" b="1" dirty="0"/>
              <a:t>   Proof</a:t>
            </a:r>
            <a:r>
              <a:rPr lang="zh-CN" altLang="en-US" sz="2400" b="1" dirty="0"/>
              <a:t> ：</a:t>
            </a:r>
            <a:r>
              <a:rPr lang="en-US" altLang="zh-CN" sz="2400" b="1" dirty="0">
                <a:sym typeface="Symbol" panose="05050102010706020507" pitchFamily="18" charset="2"/>
              </a:rPr>
              <a:t></a:t>
            </a:r>
            <a:r>
              <a:rPr lang="en-US" altLang="zh-CN" sz="2400" b="1" i="1" dirty="0">
                <a:sym typeface="Symbol" panose="05050102010706020507" pitchFamily="18" charset="2"/>
              </a:rPr>
              <a:t>x  </a:t>
            </a:r>
            <a:r>
              <a:rPr lang="en-US" altLang="zh-CN" sz="2400" b="1" i="1" dirty="0" err="1">
                <a:sym typeface="Symbol" panose="05050102010706020507" pitchFamily="18" charset="2"/>
              </a:rPr>
              <a:t>x</a:t>
            </a:r>
            <a:r>
              <a:rPr lang="en-US" altLang="zh-CN" sz="2400" b="1" dirty="0" err="1">
                <a:latin typeface="Cambria Math" panose="02040503050406030204" pitchFamily="18" charset="0"/>
                <a:ea typeface="Cambria Math" panose="02040503050406030204" pitchFamily="18" charset="0"/>
                <a:sym typeface="Symbol" panose="05050102010706020507" pitchFamily="18" charset="2"/>
              </a:rPr>
              <a:t></a:t>
            </a:r>
            <a:r>
              <a:rPr lang="en-US" altLang="zh-CN" sz="2400" b="1" i="1" dirty="0" err="1"/>
              <a:t>P</a:t>
            </a:r>
            <a:r>
              <a:rPr lang="en-US" altLang="zh-CN" sz="2400" b="1" dirty="0"/>
              <a:t>(</a:t>
            </a:r>
            <a:r>
              <a:rPr lang="en-US" altLang="zh-CN" sz="2400" b="1" i="1" dirty="0"/>
              <a:t>A</a:t>
            </a:r>
            <a:r>
              <a:rPr lang="en-US" altLang="zh-CN" sz="2400" b="1" dirty="0"/>
              <a:t>) </a:t>
            </a:r>
            <a:r>
              <a:rPr lang="en-US" altLang="zh-CN" sz="2400" b="1" dirty="0">
                <a:solidFill>
                  <a:srgbClr val="333300"/>
                </a:solidFill>
                <a:sym typeface="Symbol" panose="05050102010706020507" pitchFamily="18" charset="2"/>
              </a:rPr>
              <a:t>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t>A</a:t>
            </a:r>
            <a:endParaRPr lang="zh-CN" altLang="en-US" sz="2400" b="1" dirty="0"/>
          </a:p>
          <a:p>
            <a:pPr eaLnBrk="1" hangingPunct="1">
              <a:lnSpc>
                <a:spcPct val="120000"/>
              </a:lnSpc>
              <a:buFontTx/>
              <a:buNone/>
            </a:pPr>
            <a:r>
              <a:rPr lang="en-US" altLang="zh-CN" sz="2400" b="1" dirty="0">
                <a:sym typeface="Symbol" panose="05050102010706020507" pitchFamily="18" charset="2"/>
              </a:rPr>
              <a:t>                          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t>B</a:t>
            </a:r>
            <a:r>
              <a:rPr lang="en-US" altLang="zh-CN" sz="2400" b="1" i="1" dirty="0"/>
              <a:t>                   </a:t>
            </a:r>
            <a:r>
              <a:rPr lang="en-US" altLang="zh-CN" sz="2400" b="1" dirty="0"/>
              <a:t>(Since</a:t>
            </a:r>
            <a:r>
              <a:rPr lang="zh-CN" altLang="en-US" sz="2400" b="1" dirty="0"/>
              <a:t> </a:t>
            </a:r>
            <a:r>
              <a:rPr lang="en-US" altLang="zh-CN" sz="2400" b="1" i="1" dirty="0"/>
              <a:t>A</a:t>
            </a:r>
            <a:r>
              <a:rPr lang="en-US" altLang="zh-CN" sz="2400" b="1" dirty="0">
                <a:sym typeface="Symbol" panose="05050102010706020507" pitchFamily="18" charset="2"/>
              </a:rPr>
              <a:t></a:t>
            </a:r>
            <a:r>
              <a:rPr lang="en-US" altLang="zh-CN" sz="2400" b="1" i="1" dirty="0"/>
              <a:t>B</a:t>
            </a:r>
            <a:r>
              <a:rPr lang="zh-CN" altLang="en-US" sz="2400" b="1" dirty="0"/>
              <a:t>)</a:t>
            </a:r>
          </a:p>
          <a:p>
            <a:pPr eaLnBrk="1" hangingPunct="1">
              <a:lnSpc>
                <a:spcPct val="120000"/>
              </a:lnSpc>
              <a:buFontTx/>
              <a:buNone/>
            </a:pPr>
            <a:r>
              <a:rPr lang="en-US" altLang="zh-CN" sz="2400" b="1" dirty="0">
                <a:solidFill>
                  <a:srgbClr val="333300"/>
                </a:solidFill>
                <a:sym typeface="Symbol" panose="05050102010706020507" pitchFamily="18" charset="2"/>
              </a:rPr>
              <a:t>                           </a:t>
            </a:r>
            <a:r>
              <a:rPr lang="en-US" altLang="zh-CN" sz="2400" b="1" i="1" dirty="0" err="1">
                <a:sym typeface="Symbol" panose="05050102010706020507" pitchFamily="18" charset="2"/>
              </a:rPr>
              <a:t>x</a:t>
            </a:r>
            <a:r>
              <a:rPr lang="en-US" altLang="zh-CN" sz="2400" b="1" dirty="0" err="1">
                <a:sym typeface="Symbol" panose="05050102010706020507" pitchFamily="18" charset="2"/>
              </a:rPr>
              <a:t></a:t>
            </a:r>
            <a:r>
              <a:rPr lang="en-US" altLang="zh-CN" sz="2400" b="1" i="1" dirty="0" err="1"/>
              <a:t>P</a:t>
            </a:r>
            <a:r>
              <a:rPr lang="en-US" altLang="zh-CN" sz="2400" b="1" dirty="0"/>
              <a:t>(</a:t>
            </a:r>
            <a:r>
              <a:rPr lang="en-US" altLang="zh-CN" sz="2400" b="1" i="1" dirty="0"/>
              <a:t>B</a:t>
            </a:r>
            <a:r>
              <a:rPr lang="en-US" altLang="zh-CN" sz="2400" b="1" dirty="0"/>
              <a:t>)</a:t>
            </a:r>
            <a:endParaRPr lang="zh-CN" altLang="en-US" sz="2400" b="1" dirty="0"/>
          </a:p>
        </p:txBody>
      </p:sp>
      <p:pic>
        <p:nvPicPr>
          <p:cNvPr id="9" name="图片 8">
            <a:extLst>
              <a:ext uri="{FF2B5EF4-FFF2-40B4-BE49-F238E27FC236}">
                <a16:creationId xmlns:a16="http://schemas.microsoft.com/office/drawing/2014/main" id="{DC451B2C-EAA0-47B0-BF8B-A634AAC8AFD6}"/>
              </a:ext>
            </a:extLst>
          </p:cNvPr>
          <p:cNvPicPr>
            <a:picLocks noChangeAspect="1"/>
          </p:cNvPicPr>
          <p:nvPr/>
        </p:nvPicPr>
        <p:blipFill>
          <a:blip r:embed="rId5"/>
          <a:stretch>
            <a:fillRect/>
          </a:stretch>
        </p:blipFill>
        <p:spPr>
          <a:xfrm>
            <a:off x="1159526" y="1140127"/>
            <a:ext cx="577850" cy="241300"/>
          </a:xfrm>
          <a:prstGeom prst="rect">
            <a:avLst/>
          </a:prstGeom>
        </p:spPr>
      </p:pic>
    </p:spTree>
    <p:extLst>
      <p:ext uri="{BB962C8B-B14F-4D97-AF65-F5344CB8AC3E}">
        <p14:creationId xmlns:p14="http://schemas.microsoft.com/office/powerpoint/2010/main" val="7602306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a:t>
            </a:r>
            <a:r>
              <a:rPr lang="zh-CN" altLang="en-US" sz="2000" b="1" dirty="0">
                <a:latin typeface="+mj-lt"/>
                <a:cs typeface="Times New Roman" panose="02020603050405020304" pitchFamily="18" charset="0"/>
              </a:rPr>
              <a:t>.</a:t>
            </a:r>
            <a:r>
              <a:rPr lang="en-US" altLang="zh-CN" sz="2000" b="1" dirty="0">
                <a:latin typeface="+mj-lt"/>
                <a:cs typeface="Times New Roman" panose="02020603050405020304" pitchFamily="18" charset="0"/>
              </a:rPr>
              <a:t>2</a:t>
            </a:r>
            <a:r>
              <a:rPr lang="zh-CN" altLang="en-US" sz="2000" b="1" dirty="0">
                <a:latin typeface="+mj-lt"/>
                <a:cs typeface="Times New Roman" panose="02020603050405020304" pitchFamily="18" charset="0"/>
              </a:rPr>
              <a:t> </a:t>
            </a:r>
            <a:r>
              <a:rPr lang="en-US" altLang="zh-CN" sz="2000" b="1" dirty="0">
                <a:effectLst/>
                <a:latin typeface="+mj-lt"/>
                <a:ea typeface="宋体" panose="02010600030101010101" pitchFamily="2" charset="-122"/>
                <a:cs typeface="Times New Roman" panose="02020603050405020304" pitchFamily="18" charset="0"/>
              </a:rPr>
              <a:t>Set Operations</a:t>
            </a:r>
          </a:p>
          <a:p>
            <a:r>
              <a:rPr lang="en-US" altLang="zh-CN" sz="2000" b="1" dirty="0">
                <a:latin typeface="+mj-lt"/>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effectLst/>
                <a:latin typeface="+mj-lt"/>
                <a:ea typeface="宋体" panose="02010600030101010101" pitchFamily="2" charset="-122"/>
                <a:cs typeface="Times New Roman" panose="02020603050405020304" pitchFamily="18" charset="0"/>
              </a:rPr>
              <a:t> Set Operations </a:t>
            </a:r>
            <a:r>
              <a:rPr lang="en-US" altLang="zh-CN" sz="2400" b="1" dirty="0">
                <a:solidFill>
                  <a:srgbClr val="CFA57C"/>
                </a:solidFill>
                <a:ea typeface="宋体" panose="02010600030101010101" pitchFamily="2" charset="-122"/>
                <a:cs typeface="Times New Roman" panose="02020603050405020304" pitchFamily="18" charset="0"/>
              </a:rPr>
              <a:t>•</a:t>
            </a:r>
            <a:r>
              <a:rPr lang="en-US" altLang="zh-CN" sz="2400" dirty="0"/>
              <a:t> </a:t>
            </a:r>
            <a:r>
              <a:rPr lang="en-US" altLang="zh-CN" sz="2400" b="1" dirty="0"/>
              <a:t>Proof of Identity</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600" y="765175"/>
            <a:ext cx="7620000"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buFontTx/>
              <a:buNone/>
            </a:pPr>
            <a:r>
              <a:rPr lang="en-US" altLang="zh-CN" sz="2800" b="1" dirty="0">
                <a:solidFill>
                  <a:srgbClr val="800000"/>
                </a:solidFill>
              </a:rPr>
              <a:t>     </a:t>
            </a:r>
            <a:r>
              <a:rPr lang="en-US" altLang="zh-CN" sz="2400" b="1" dirty="0"/>
              <a:t>Example8</a:t>
            </a:r>
            <a:r>
              <a:rPr lang="zh-CN" altLang="en-US" sz="2400" b="1" dirty="0"/>
              <a:t>：</a:t>
            </a:r>
            <a:r>
              <a:rPr lang="en-US" altLang="zh-CN" sz="2400" b="1" dirty="0">
                <a:solidFill>
                  <a:srgbClr val="800000"/>
                </a:solidFill>
              </a:rPr>
              <a:t> </a:t>
            </a:r>
            <a:r>
              <a:rPr lang="en-US" altLang="zh-CN" sz="2400" b="1" dirty="0"/>
              <a:t>Proof </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sym typeface="Symbol" panose="05050102010706020507" pitchFamily="18" charset="2"/>
              </a:rPr>
              <a:t>B-A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cs typeface="Times New Roman" panose="02020603050405020304" pitchFamily="18" charset="0"/>
              </a:rPr>
              <a:t>B.</a:t>
            </a:r>
          </a:p>
          <a:p>
            <a:pPr eaLnBrk="1" hangingPunct="1">
              <a:buFontTx/>
              <a:buNone/>
            </a:pPr>
            <a:r>
              <a:rPr lang="en-US" altLang="zh-CN" sz="2400" b="1" dirty="0"/>
              <a:t>Proof</a:t>
            </a:r>
            <a:r>
              <a:rPr lang="zh-CN" altLang="en-US" sz="2400" b="1" dirty="0"/>
              <a:t>    </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endParaRPr lang="en-US" altLang="zh-CN" sz="2400" b="1" i="1" dirty="0">
              <a:cs typeface="Times New Roman" panose="02020603050405020304" pitchFamily="18" charset="0"/>
            </a:endParaRPr>
          </a:p>
          <a:p>
            <a:pPr eaLnBrk="1" hangingPunct="1">
              <a:buFontTx/>
              <a:buNone/>
            </a:pPr>
            <a:r>
              <a:rPr lang="en-US" altLang="zh-CN" sz="2400" b="1" dirty="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p>
          <a:p>
            <a:pPr eaLnBrk="1" hangingPunct="1">
              <a:buFontTx/>
              <a:buNone/>
            </a:pPr>
            <a:r>
              <a:rPr lang="en-US" altLang="zh-CN" sz="2400" b="1" dirty="0">
                <a:cs typeface="Times New Roman" panose="020206030504050203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dirty="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B</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dirty="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cs typeface="Times New Roman" panose="02020603050405020304" pitchFamily="18" charset="0"/>
                <a:sym typeface="Symbol" panose="05050102010706020507" pitchFamily="18" charset="2"/>
              </a:rPr>
              <a:t>)</a:t>
            </a:r>
            <a:endParaRPr lang="en-US" altLang="zh-CN" sz="2400" b="1" dirty="0">
              <a:cs typeface="Times New Roman" panose="02020603050405020304" pitchFamily="18" charset="0"/>
            </a:endParaRPr>
          </a:p>
          <a:p>
            <a:pPr eaLnBrk="1" hangingPunct="1">
              <a:buFontTx/>
              <a:buNone/>
            </a:pPr>
            <a:r>
              <a:rPr lang="zh-CN" altLang="en-US" sz="2400" b="1" dirty="0"/>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rPr>
              <a:t>=</a:t>
            </a:r>
            <a:r>
              <a:rPr lang="en-US" altLang="zh-CN" sz="2400" b="1" dirty="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dirty="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cs typeface="Times New Roman" panose="02020603050405020304" pitchFamily="18" charset="0"/>
                <a:sym typeface="Symbol" panose="05050102010706020507" pitchFamily="18" charset="2"/>
              </a:rPr>
              <a:t>B</a:t>
            </a:r>
            <a:r>
              <a:rPr lang="en-US" altLang="zh-CN" sz="2400" b="1" dirty="0">
                <a:cs typeface="Times New Roman" panose="02020603050405020304" pitchFamily="18" charset="0"/>
                <a:sym typeface="Symbol" panose="05050102010706020507" pitchFamily="18" charset="2"/>
              </a:rPr>
              <a:t>)</a:t>
            </a:r>
          </a:p>
          <a:p>
            <a:pPr eaLnBrk="1" hangingPunct="1">
              <a:buFontTx/>
              <a:buNone/>
            </a:pPr>
            <a:r>
              <a:rPr lang="en-US" altLang="zh-CN" sz="2400" b="1" dirty="0">
                <a:cs typeface="Times New Roman" panose="02020603050405020304" pitchFamily="18" charset="0"/>
                <a:sym typeface="Symbol" panose="05050102010706020507" pitchFamily="18" charset="2"/>
              </a:rPr>
              <a:t>                </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a:t>
            </a:r>
            <a:r>
              <a:rPr lang="en-US" altLang="zh-CN" sz="2400" b="1" i="1" dirty="0">
                <a:cs typeface="Times New Roman" panose="02020603050405020304" pitchFamily="18" charset="0"/>
                <a:sym typeface="Symbol" panose="05050102010706020507" pitchFamily="18" charset="2"/>
              </a:rPr>
              <a:t>A</a:t>
            </a:r>
            <a:r>
              <a:rPr lang="en-US" altLang="zh-CN" sz="2400" b="1" dirty="0">
                <a:latin typeface="Cambria Math" panose="02040503050406030204" pitchFamily="18" charset="0"/>
                <a:ea typeface="Cambria Math" panose="02040503050406030204" pitchFamily="18" charset="0"/>
                <a:cs typeface="Times New Roman" panose="02020603050405020304" pitchFamily="18" charset="0"/>
                <a:sym typeface="Symbol" panose="05050102010706020507" pitchFamily="18" charset="2"/>
              </a:rPr>
              <a:t> ∪ </a:t>
            </a:r>
            <a:r>
              <a:rPr lang="en-US" altLang="zh-CN" sz="2400" b="1" i="1" dirty="0">
                <a:cs typeface="Times New Roman" panose="02020603050405020304" pitchFamily="18" charset="0"/>
                <a:sym typeface="Symbol" panose="05050102010706020507" pitchFamily="18" charset="2"/>
              </a:rPr>
              <a:t>B-A</a:t>
            </a:r>
            <a:r>
              <a:rPr lang="en-US" altLang="zh-CN" sz="2400" b="1" dirty="0">
                <a:latin typeface="Cambria Math" panose="02040503050406030204" pitchFamily="18" charset="0"/>
                <a:ea typeface="Cambria Math" panose="02040503050406030204" pitchFamily="18" charset="0"/>
                <a:sym typeface="Symbol" panose="05050102010706020507" pitchFamily="18" charset="2"/>
              </a:rPr>
              <a:t> ∩ </a:t>
            </a:r>
            <a:r>
              <a:rPr lang="en-US" altLang="zh-CN" sz="2400" b="1" i="1" dirty="0">
                <a:cs typeface="Times New Roman" panose="02020603050405020304" pitchFamily="18" charset="0"/>
              </a:rPr>
              <a:t>B</a:t>
            </a:r>
            <a:endParaRPr lang="zh-CN" altLang="en-US" sz="2400" b="1" dirty="0"/>
          </a:p>
        </p:txBody>
      </p:sp>
      <p:pic>
        <p:nvPicPr>
          <p:cNvPr id="9" name="图片 8">
            <a:extLst>
              <a:ext uri="{FF2B5EF4-FFF2-40B4-BE49-F238E27FC236}">
                <a16:creationId xmlns:a16="http://schemas.microsoft.com/office/drawing/2014/main" id="{31F4CA99-F5B8-4C33-AE2F-A88C7BDF1C84}"/>
              </a:ext>
            </a:extLst>
          </p:cNvPr>
          <p:cNvPicPr>
            <a:picLocks noChangeAspect="1"/>
          </p:cNvPicPr>
          <p:nvPr/>
        </p:nvPicPr>
        <p:blipFill>
          <a:blip r:embed="rId5"/>
          <a:stretch>
            <a:fillRect/>
          </a:stretch>
        </p:blipFill>
        <p:spPr>
          <a:xfrm>
            <a:off x="1268386" y="1096583"/>
            <a:ext cx="577850" cy="241300"/>
          </a:xfrm>
          <a:prstGeom prst="rect">
            <a:avLst/>
          </a:prstGeom>
        </p:spPr>
      </p:pic>
    </p:spTree>
    <p:extLst>
      <p:ext uri="{BB962C8B-B14F-4D97-AF65-F5344CB8AC3E}">
        <p14:creationId xmlns:p14="http://schemas.microsoft.com/office/powerpoint/2010/main" val="39887179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4387"/>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400" b="1" dirty="0">
                <a:cs typeface="Times New Roman" panose="02020603050405020304" pitchFamily="18" charset="0"/>
              </a:rPr>
              <a:t>1.3 </a:t>
            </a:r>
            <a:r>
              <a:rPr lang="en-US" altLang="zh-CN" sz="2400" b="1" i="0" dirty="0">
                <a:solidFill>
                  <a:schemeClr val="bg1"/>
                </a:solidFill>
                <a:effectLst/>
                <a:latin typeface="+mj-lt"/>
              </a:rPr>
              <a:t>Proof Methods</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14450" y="957944"/>
            <a:ext cx="7620000" cy="52393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120000"/>
              </a:lnSpc>
              <a:buClr>
                <a:srgbClr val="0B61FF"/>
              </a:buClr>
              <a:buSzPct val="80000"/>
              <a:buFont typeface="Wingdings" panose="05000000000000000000" pitchFamily="2" charset="2"/>
              <a:buChar char="n"/>
            </a:pPr>
            <a:r>
              <a:rPr lang="en-US" altLang="zh-CN" sz="2400" b="1" i="0" dirty="0">
                <a:solidFill>
                  <a:srgbClr val="0C0D0E"/>
                </a:solidFill>
                <a:effectLst/>
              </a:rPr>
              <a:t>Direct Proof Method</a:t>
            </a:r>
          </a:p>
          <a:p>
            <a:pPr eaLnBrk="1" hangingPunct="1">
              <a:lnSpc>
                <a:spcPct val="120000"/>
              </a:lnSpc>
              <a:buClr>
                <a:srgbClr val="0B61FF"/>
              </a:buClr>
              <a:buSzPct val="80000"/>
              <a:buFont typeface="Wingdings" panose="05000000000000000000" pitchFamily="2" charset="2"/>
              <a:buChar char="n"/>
            </a:pPr>
            <a:r>
              <a:rPr lang="en-US" altLang="zh-CN" sz="2400" b="1" i="0" dirty="0">
                <a:solidFill>
                  <a:srgbClr val="0C0D0E"/>
                </a:solidFill>
                <a:effectLst/>
              </a:rPr>
              <a:t>Indirect Proof Method</a:t>
            </a:r>
          </a:p>
          <a:p>
            <a:pPr eaLnBrk="1" hangingPunct="1">
              <a:lnSpc>
                <a:spcPct val="120000"/>
              </a:lnSpc>
              <a:buClr>
                <a:srgbClr val="0B61FF"/>
              </a:buClr>
              <a:buSzPct val="80000"/>
              <a:buFont typeface="Wingdings" panose="05000000000000000000" pitchFamily="2" charset="2"/>
              <a:buChar char="n"/>
            </a:pPr>
            <a:r>
              <a:rPr lang="en-US" altLang="zh-CN" sz="2400" b="1" i="0" dirty="0">
                <a:solidFill>
                  <a:srgbClr val="0C0D0E"/>
                </a:solidFill>
                <a:effectLst/>
              </a:rPr>
              <a:t>Reductio ad Absurdum (Proof by Contradiction)</a:t>
            </a:r>
          </a:p>
          <a:p>
            <a:pPr eaLnBrk="1" hangingPunct="1">
              <a:lnSpc>
                <a:spcPct val="120000"/>
              </a:lnSpc>
              <a:buClr>
                <a:srgbClr val="0B61FF"/>
              </a:buClr>
              <a:buSzPct val="80000"/>
              <a:buFont typeface="Wingdings" panose="05000000000000000000" pitchFamily="2" charset="2"/>
              <a:buChar char="n"/>
            </a:pPr>
            <a:r>
              <a:rPr lang="en-US" altLang="zh-CN" sz="2400" b="1" i="0" dirty="0">
                <a:solidFill>
                  <a:srgbClr val="0C0D0E"/>
                </a:solidFill>
                <a:effectLst/>
              </a:rPr>
              <a:t>Exhaustive Method</a:t>
            </a:r>
          </a:p>
          <a:p>
            <a:pPr eaLnBrk="1" hangingPunct="1">
              <a:lnSpc>
                <a:spcPct val="120000"/>
              </a:lnSpc>
              <a:buClr>
                <a:srgbClr val="0B61FF"/>
              </a:buClr>
              <a:buSzPct val="80000"/>
              <a:buFont typeface="Wingdings" panose="05000000000000000000" pitchFamily="2" charset="2"/>
              <a:buChar char="n"/>
            </a:pPr>
            <a:r>
              <a:rPr lang="en-US" altLang="zh-CN" sz="2400" b="1" i="0" dirty="0">
                <a:solidFill>
                  <a:srgbClr val="0C0D0E"/>
                </a:solidFill>
                <a:effectLst/>
              </a:rPr>
              <a:t>Constructive Proof Method</a:t>
            </a:r>
          </a:p>
          <a:p>
            <a:pPr eaLnBrk="1" hangingPunct="1">
              <a:lnSpc>
                <a:spcPct val="120000"/>
              </a:lnSpc>
              <a:buClr>
                <a:srgbClr val="0B61FF"/>
              </a:buClr>
              <a:buSzPct val="80000"/>
              <a:buFont typeface="Wingdings" panose="05000000000000000000" pitchFamily="2" charset="2"/>
              <a:buChar char="n"/>
            </a:pPr>
            <a:r>
              <a:rPr lang="en-US" altLang="zh-CN" sz="2400" b="1" dirty="0">
                <a:solidFill>
                  <a:srgbClr val="0C0D0E"/>
                </a:solidFill>
              </a:rPr>
              <a:t>Vacuous  </a:t>
            </a:r>
            <a:r>
              <a:rPr lang="en-US" altLang="zh-CN" sz="2400" b="1" i="0" dirty="0">
                <a:solidFill>
                  <a:srgbClr val="0C0D0E"/>
                </a:solidFill>
                <a:effectLst/>
              </a:rPr>
              <a:t>Proof Method</a:t>
            </a:r>
          </a:p>
          <a:p>
            <a:pPr eaLnBrk="1" hangingPunct="1">
              <a:lnSpc>
                <a:spcPct val="120000"/>
              </a:lnSpc>
              <a:buClr>
                <a:srgbClr val="0B61FF"/>
              </a:buClr>
              <a:buSzPct val="80000"/>
              <a:buFont typeface="Wingdings" panose="05000000000000000000" pitchFamily="2" charset="2"/>
              <a:buChar char="n"/>
            </a:pPr>
            <a:r>
              <a:rPr lang="en-US" altLang="zh-CN" sz="2400" b="1" i="0" dirty="0">
                <a:solidFill>
                  <a:srgbClr val="0C0D0E"/>
                </a:solidFill>
                <a:effectLst/>
              </a:rPr>
              <a:t>Trivial Proof Method</a:t>
            </a:r>
          </a:p>
          <a:p>
            <a:pPr eaLnBrk="1" hangingPunct="1">
              <a:lnSpc>
                <a:spcPct val="120000"/>
              </a:lnSpc>
              <a:buClr>
                <a:srgbClr val="0B61FF"/>
              </a:buClr>
              <a:buSzPct val="80000"/>
              <a:buFont typeface="Wingdings" panose="05000000000000000000" pitchFamily="2" charset="2"/>
              <a:buChar char="n"/>
            </a:pPr>
            <a:r>
              <a:rPr lang="en-US" altLang="zh-CN" sz="2400" b="1" i="0" dirty="0">
                <a:solidFill>
                  <a:srgbClr val="0C0D0E"/>
                </a:solidFill>
                <a:effectLst/>
              </a:rPr>
              <a:t>Mathematical Induction</a:t>
            </a:r>
          </a:p>
          <a:p>
            <a:pPr eaLnBrk="1" hangingPunct="1">
              <a:lnSpc>
                <a:spcPct val="120000"/>
              </a:lnSpc>
              <a:buClr>
                <a:srgbClr val="0B61FF"/>
              </a:buClr>
              <a:buSzPct val="80000"/>
              <a:buFont typeface="Wingdings" panose="05000000000000000000" pitchFamily="2" charset="2"/>
              <a:buChar char="n"/>
            </a:pPr>
            <a:r>
              <a:rPr lang="en-US" altLang="zh-CN" sz="2400" b="1" i="0" dirty="0">
                <a:solidFill>
                  <a:srgbClr val="0C0D0E"/>
                </a:solidFill>
                <a:effectLst/>
              </a:rPr>
              <a:t>Counterexample—Proof that a Proposition is False</a:t>
            </a:r>
            <a:endParaRPr lang="zh-CN" altLang="en-US" sz="2400" b="1" dirty="0"/>
          </a:p>
        </p:txBody>
      </p:sp>
    </p:spTree>
    <p:extLst>
      <p:ext uri="{BB962C8B-B14F-4D97-AF65-F5344CB8AC3E}">
        <p14:creationId xmlns:p14="http://schemas.microsoft.com/office/powerpoint/2010/main" val="3266718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47563"/>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en-US" altLang="zh-CN"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latin typeface="+mj-lt"/>
                <a:ea typeface="宋体" panose="02010600030101010101" pitchFamily="2" charset="-122"/>
                <a:cs typeface="Times New Roman" panose="02020603050405020304" pitchFamily="18" charset="0"/>
              </a:rPr>
              <a:t>Propositional Forms</a:t>
            </a:r>
            <a:endParaRPr lang="zh-CN" altLang="en-US" sz="2000" b="1" dirty="0">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600" y="765175"/>
            <a:ext cx="7620000"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3600" b="1" dirty="0"/>
          </a:p>
          <a:p>
            <a:pPr algn="l">
              <a:lnSpc>
                <a:spcPct val="120000"/>
              </a:lnSpc>
              <a:buClr>
                <a:srgbClr val="0B61FF"/>
              </a:buClr>
              <a:buSzPct val="80000"/>
              <a:buFont typeface="Wingdings" panose="05000000000000000000" pitchFamily="2" charset="2"/>
              <a:buChar char="n"/>
            </a:pPr>
            <a:r>
              <a:rPr lang="en-US" altLang="zh-CN" sz="3600" b="1" i="0" dirty="0">
                <a:solidFill>
                  <a:srgbClr val="0C0D0E"/>
                </a:solidFill>
                <a:effectLst/>
              </a:rPr>
              <a:t>Form 1:</a:t>
            </a:r>
            <a:r>
              <a:rPr lang="en-US" altLang="zh-CN" sz="3600" b="0" i="0" dirty="0">
                <a:solidFill>
                  <a:srgbClr val="0C0D0E"/>
                </a:solidFill>
                <a:effectLst/>
              </a:rPr>
              <a:t> If A, then B</a:t>
            </a:r>
          </a:p>
          <a:p>
            <a:pPr algn="l">
              <a:lnSpc>
                <a:spcPct val="120000"/>
              </a:lnSpc>
              <a:buClr>
                <a:srgbClr val="0B61FF"/>
              </a:buClr>
              <a:buSzPct val="80000"/>
              <a:buFont typeface="Wingdings" panose="05000000000000000000" pitchFamily="2" charset="2"/>
              <a:buChar char="n"/>
            </a:pPr>
            <a:r>
              <a:rPr lang="en-US" altLang="zh-CN" sz="3600" b="1" i="0" dirty="0">
                <a:solidFill>
                  <a:srgbClr val="0C0D0E"/>
                </a:solidFill>
                <a:effectLst/>
              </a:rPr>
              <a:t>Form 2:</a:t>
            </a:r>
            <a:r>
              <a:rPr lang="en-US" altLang="zh-CN" sz="3600" b="0" i="0" dirty="0">
                <a:solidFill>
                  <a:srgbClr val="0C0D0E"/>
                </a:solidFill>
                <a:effectLst/>
              </a:rPr>
              <a:t> A if and only if B</a:t>
            </a:r>
          </a:p>
          <a:p>
            <a:pPr algn="l">
              <a:lnSpc>
                <a:spcPct val="120000"/>
              </a:lnSpc>
              <a:buClr>
                <a:srgbClr val="0B61FF"/>
              </a:buClr>
              <a:buSzPct val="80000"/>
              <a:buFont typeface="Wingdings" panose="05000000000000000000" pitchFamily="2" charset="2"/>
              <a:buChar char="n"/>
            </a:pPr>
            <a:r>
              <a:rPr lang="en-US" altLang="zh-CN" sz="3600" b="1" i="0" dirty="0">
                <a:solidFill>
                  <a:srgbClr val="0C0D0E"/>
                </a:solidFill>
                <a:effectLst/>
              </a:rPr>
              <a:t>Form 3:</a:t>
            </a:r>
            <a:r>
              <a:rPr lang="en-US" altLang="zh-CN" sz="3600" b="0" i="0" dirty="0">
                <a:solidFill>
                  <a:srgbClr val="0C0D0E"/>
                </a:solidFill>
                <a:effectLst/>
              </a:rPr>
              <a:t> Prove B</a:t>
            </a:r>
          </a:p>
          <a:p>
            <a:pPr>
              <a:lnSpc>
                <a:spcPct val="120000"/>
              </a:lnSpc>
              <a:buClr>
                <a:srgbClr val="0B61FF"/>
              </a:buClr>
              <a:buSzPct val="80000"/>
              <a:buFont typeface="Wingdings" panose="05000000000000000000" pitchFamily="2" charset="2"/>
              <a:buChar char="n"/>
            </a:pPr>
            <a:r>
              <a:rPr lang="en-US" altLang="zh-CN" sz="3600" b="0" i="0" dirty="0">
                <a:solidFill>
                  <a:srgbClr val="0C0D0E"/>
                </a:solidFill>
                <a:effectLst/>
              </a:rPr>
              <a:t>All can be reduced to </a:t>
            </a:r>
            <a:r>
              <a:rPr lang="en-US" altLang="zh-CN" sz="3600" b="1" i="0" dirty="0">
                <a:solidFill>
                  <a:srgbClr val="0C0D0E"/>
                </a:solidFill>
                <a:effectLst/>
              </a:rPr>
              <a:t>Form 1</a:t>
            </a:r>
            <a:endParaRPr lang="en-US" altLang="zh-CN" sz="3600" b="0" i="0" dirty="0">
              <a:solidFill>
                <a:srgbClr val="0C0D0E"/>
              </a:solidFill>
              <a:effectLst/>
            </a:endParaRPr>
          </a:p>
          <a:p>
            <a:pPr eaLnBrk="1" hangingPunct="1">
              <a:buFontTx/>
              <a:buNone/>
            </a:pPr>
            <a:endParaRPr lang="zh-CN" altLang="en-US" sz="2800" b="1" dirty="0"/>
          </a:p>
        </p:txBody>
      </p:sp>
    </p:spTree>
    <p:extLst>
      <p:ext uri="{BB962C8B-B14F-4D97-AF65-F5344CB8AC3E}">
        <p14:creationId xmlns:p14="http://schemas.microsoft.com/office/powerpoint/2010/main" val="33960001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chemeClr val="bg1"/>
                </a:solidFill>
                <a:effectLst/>
                <a:latin typeface="+mj-lt"/>
              </a:rPr>
              <a:t>Direct Proof Method</a:t>
            </a:r>
            <a:endParaRPr lang="zh-CN" altLang="en-US" sz="2400" b="1" dirty="0">
              <a:solidFill>
                <a:schemeClr val="bg1"/>
              </a:solidFill>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600" y="765175"/>
            <a:ext cx="7620000"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buClr>
                <a:srgbClr val="0B61FF"/>
              </a:buClr>
              <a:buSzPct val="80000"/>
              <a:buFont typeface="Wingdings" panose="05000000000000000000" pitchFamily="2" charset="2"/>
              <a:buChar char="n"/>
            </a:pPr>
            <a:r>
              <a:rPr lang="en-US" altLang="zh-CN" sz="2400" b="1" i="0" dirty="0">
                <a:solidFill>
                  <a:srgbClr val="0C0D0E"/>
                </a:solidFill>
                <a:effectLst/>
                <a:latin typeface="-apple-system"/>
              </a:rPr>
              <a:t>Method:</a:t>
            </a:r>
            <a:r>
              <a:rPr lang="en-US" altLang="zh-CN" sz="2400" b="0" i="0" dirty="0">
                <a:solidFill>
                  <a:srgbClr val="0C0D0E"/>
                </a:solidFill>
                <a:effectLst/>
                <a:latin typeface="-apple-system"/>
              </a:rPr>
              <a:t> Assume A is true, prove B is true.</a:t>
            </a:r>
          </a:p>
          <a:p>
            <a:endParaRPr lang="zh-CN" altLang="en-US" sz="2400" b="1" dirty="0">
              <a:sym typeface="Symbol" panose="05050102010706020507" pitchFamily="18" charset="2"/>
            </a:endParaRPr>
          </a:p>
          <a:p>
            <a:pPr eaLnBrk="1" hangingPunct="1">
              <a:lnSpc>
                <a:spcPct val="120000"/>
              </a:lnSpc>
              <a:buFontTx/>
              <a:buNone/>
            </a:pPr>
            <a:r>
              <a:rPr lang="en-US" altLang="zh-CN" sz="2400" b="1" i="0" dirty="0">
                <a:solidFill>
                  <a:srgbClr val="0C0D0E"/>
                </a:solidFill>
                <a:effectLst/>
                <a:latin typeface="-apple-system"/>
              </a:rPr>
              <a:t>        </a:t>
            </a:r>
            <a:r>
              <a:rPr lang="en-US" altLang="zh-CN" sz="2400" b="1" i="0" dirty="0">
                <a:solidFill>
                  <a:srgbClr val="0C0D0E"/>
                </a:solidFill>
                <a:effectLst/>
              </a:rPr>
              <a:t>Example 1:</a:t>
            </a:r>
            <a:r>
              <a:rPr lang="en-US" altLang="zh-CN" sz="2400" b="0" i="0" dirty="0">
                <a:solidFill>
                  <a:srgbClr val="0C0D0E"/>
                </a:solidFill>
                <a:effectLst/>
              </a:rPr>
              <a:t> If </a:t>
            </a:r>
            <a:r>
              <a:rPr lang="en-US" altLang="zh-CN" sz="2400" b="0" dirty="0">
                <a:solidFill>
                  <a:srgbClr val="0B61FF"/>
                </a:solidFill>
                <a:effectLst/>
                <a:latin typeface="Cambria Math" panose="02040503050406030204" pitchFamily="18" charset="0"/>
                <a:ea typeface="Cambria Math" panose="02040503050406030204" pitchFamily="18" charset="0"/>
              </a:rPr>
              <a:t>n</a:t>
            </a:r>
            <a:r>
              <a:rPr lang="en-US" altLang="zh-CN" sz="2400" b="0" i="0" dirty="0">
                <a:solidFill>
                  <a:srgbClr val="0C0D0E"/>
                </a:solidFill>
                <a:effectLst/>
              </a:rPr>
              <a:t> is odd, then </a:t>
            </a:r>
            <a:r>
              <a:rPr lang="en-US" altLang="zh-CN" sz="2400" b="0" i="0" dirty="0">
                <a:solidFill>
                  <a:srgbClr val="0B61FF"/>
                </a:solidFill>
                <a:effectLst/>
              </a:rPr>
              <a:t>n²</a:t>
            </a:r>
            <a:r>
              <a:rPr lang="en-US" altLang="zh-CN" sz="2400" b="0" i="0" dirty="0">
                <a:solidFill>
                  <a:srgbClr val="0C0D0E"/>
                </a:solidFill>
                <a:effectLst/>
              </a:rPr>
              <a:t> is also odd.</a:t>
            </a:r>
            <a:br>
              <a:rPr lang="en-US" altLang="zh-CN" sz="2400" dirty="0"/>
            </a:br>
            <a:r>
              <a:rPr lang="en-US" altLang="zh-CN" sz="2400" b="1" i="0" dirty="0">
                <a:solidFill>
                  <a:srgbClr val="0C0D0E"/>
                </a:solidFill>
                <a:effectLst/>
              </a:rPr>
              <a:t>Proof:</a:t>
            </a:r>
            <a:r>
              <a:rPr lang="en-US" altLang="zh-CN" sz="2400" b="0" i="0" dirty="0">
                <a:solidFill>
                  <a:srgbClr val="0C0D0E"/>
                </a:solidFill>
                <a:effectLst/>
              </a:rPr>
              <a:t> </a:t>
            </a:r>
          </a:p>
          <a:p>
            <a:pPr eaLnBrk="1" hangingPunct="1">
              <a:lnSpc>
                <a:spcPct val="120000"/>
              </a:lnSpc>
              <a:buFontTx/>
              <a:buNone/>
            </a:pPr>
            <a:r>
              <a:rPr lang="en-US" altLang="zh-CN" sz="2400" dirty="0">
                <a:solidFill>
                  <a:srgbClr val="0C0D0E"/>
                </a:solidFill>
              </a:rPr>
              <a:t>          </a:t>
            </a:r>
            <a:r>
              <a:rPr lang="en-US" altLang="zh-CN" sz="2400" b="0" i="0" dirty="0">
                <a:solidFill>
                  <a:srgbClr val="0C0D0E"/>
                </a:solidFill>
                <a:effectLst/>
              </a:rPr>
              <a:t>Assume n is odd, then there exists k ∈ N, </a:t>
            </a:r>
          </a:p>
          <a:p>
            <a:pPr eaLnBrk="1" hangingPunct="1">
              <a:lnSpc>
                <a:spcPct val="120000"/>
              </a:lnSpc>
              <a:buFontTx/>
              <a:buNone/>
            </a:pPr>
            <a:r>
              <a:rPr lang="en-US" altLang="zh-CN" sz="2400" dirty="0">
                <a:solidFill>
                  <a:srgbClr val="0C0D0E"/>
                </a:solidFill>
              </a:rPr>
              <a:t>          </a:t>
            </a:r>
            <a:r>
              <a:rPr lang="en-US" altLang="zh-CN" sz="2400" b="0" i="0" dirty="0">
                <a:solidFill>
                  <a:srgbClr val="0C0D0E"/>
                </a:solidFill>
                <a:effectLst/>
              </a:rPr>
              <a:t>such that n = 2k + 1. </a:t>
            </a:r>
          </a:p>
          <a:p>
            <a:pPr eaLnBrk="1" hangingPunct="1">
              <a:lnSpc>
                <a:spcPct val="120000"/>
              </a:lnSpc>
              <a:buFontTx/>
              <a:buNone/>
            </a:pPr>
            <a:r>
              <a:rPr lang="en-US" altLang="zh-CN" sz="2400" dirty="0">
                <a:solidFill>
                  <a:srgbClr val="0C0D0E"/>
                </a:solidFill>
              </a:rPr>
              <a:t>         </a:t>
            </a:r>
            <a:r>
              <a:rPr lang="en-US" altLang="zh-CN" sz="2400" b="0" i="0" dirty="0">
                <a:solidFill>
                  <a:srgbClr val="0C0D0E"/>
                </a:solidFill>
                <a:effectLst/>
              </a:rPr>
              <a:t>Therefore,</a:t>
            </a:r>
            <a:br>
              <a:rPr lang="en-US" altLang="zh-CN" sz="2400" dirty="0"/>
            </a:br>
            <a:r>
              <a:rPr lang="en-US" altLang="zh-CN" sz="2400" dirty="0"/>
              <a:t>          </a:t>
            </a:r>
            <a:r>
              <a:rPr lang="en-US" altLang="zh-CN" sz="2400" b="0" i="0" dirty="0">
                <a:solidFill>
                  <a:srgbClr val="0C0D0E"/>
                </a:solidFill>
                <a:effectLst/>
              </a:rPr>
              <a:t>n² = (2k + 1)²</a:t>
            </a:r>
            <a:br>
              <a:rPr lang="en-US" altLang="zh-CN" sz="2400" dirty="0"/>
            </a:br>
            <a:r>
              <a:rPr lang="en-US" altLang="zh-CN" sz="2400" dirty="0"/>
              <a:t>               </a:t>
            </a:r>
            <a:r>
              <a:rPr lang="en-US" altLang="zh-CN" sz="2400" b="0" i="0" dirty="0">
                <a:solidFill>
                  <a:srgbClr val="0C0D0E"/>
                </a:solidFill>
                <a:effectLst/>
              </a:rPr>
              <a:t>= 2(2k² + 2k) + 1</a:t>
            </a:r>
            <a:br>
              <a:rPr lang="en-US" altLang="zh-CN" sz="2400" dirty="0"/>
            </a:br>
            <a:r>
              <a:rPr lang="en-US" altLang="zh-CN" sz="2400" b="0" i="0" dirty="0">
                <a:solidFill>
                  <a:srgbClr val="0C0D0E"/>
                </a:solidFill>
                <a:effectLst/>
              </a:rPr>
              <a:t>Thus, n² is odd.</a:t>
            </a:r>
            <a:endParaRPr lang="zh-CN" altLang="en-US" sz="2400" b="1" dirty="0"/>
          </a:p>
        </p:txBody>
      </p:sp>
      <p:pic>
        <p:nvPicPr>
          <p:cNvPr id="8" name="图片 7">
            <a:extLst>
              <a:ext uri="{FF2B5EF4-FFF2-40B4-BE49-F238E27FC236}">
                <a16:creationId xmlns:a16="http://schemas.microsoft.com/office/drawing/2014/main" id="{AC2F05BC-F362-4900-92A3-F2D19CF987CC}"/>
              </a:ext>
            </a:extLst>
          </p:cNvPr>
          <p:cNvPicPr>
            <a:picLocks noChangeAspect="1"/>
          </p:cNvPicPr>
          <p:nvPr/>
        </p:nvPicPr>
        <p:blipFill>
          <a:blip r:embed="rId5"/>
          <a:stretch>
            <a:fillRect/>
          </a:stretch>
        </p:blipFill>
        <p:spPr>
          <a:xfrm>
            <a:off x="1420788" y="2043642"/>
            <a:ext cx="577850" cy="241300"/>
          </a:xfrm>
          <a:prstGeom prst="rect">
            <a:avLst/>
          </a:prstGeom>
        </p:spPr>
      </p:pic>
    </p:spTree>
    <p:extLst>
      <p:ext uri="{BB962C8B-B14F-4D97-AF65-F5344CB8AC3E}">
        <p14:creationId xmlns:p14="http://schemas.microsoft.com/office/powerpoint/2010/main" val="568173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solidFill>
                  <a:schemeClr val="bg1"/>
                </a:solidFill>
                <a:latin typeface="+mj-lt"/>
                <a:ea typeface="宋体" panose="02010600030101010101" pitchFamily="2" charset="-122"/>
                <a:cs typeface="Times New Roman" panose="02020603050405020304" pitchFamily="18" charset="0"/>
              </a:rPr>
              <a:t>Ind</a:t>
            </a:r>
            <a:r>
              <a:rPr lang="en-US" altLang="zh-CN" sz="2400" b="1" i="0" dirty="0">
                <a:solidFill>
                  <a:schemeClr val="bg1"/>
                </a:solidFill>
                <a:effectLst/>
                <a:latin typeface="+mj-lt"/>
              </a:rPr>
              <a:t>irect Proof Method </a:t>
            </a:r>
            <a:r>
              <a:rPr lang="en-US" altLang="zh-CN"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latin typeface="Cambria Math" panose="02040503050406030204" pitchFamily="18" charset="0"/>
                <a:ea typeface="Cambria Math" panose="02040503050406030204" pitchFamily="18" charset="0"/>
                <a:cs typeface="Times New Roman" panose="02020603050405020304" pitchFamily="18" charset="0"/>
              </a:rPr>
              <a:t> </a:t>
            </a:r>
            <a:r>
              <a:rPr lang="en-US" altLang="zh-CN" sz="2400" b="1" dirty="0"/>
              <a:t>Proof by Contrapositive</a:t>
            </a:r>
            <a:endParaRPr lang="zh-CN" altLang="en-US" sz="2400" b="1" dirty="0">
              <a:highlight>
                <a:srgbClr val="FF00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9024257" cy="27509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10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Indirect proof method</a:t>
            </a:r>
            <a:r>
              <a:rPr lang="en-US" altLang="zh-CN" sz="2400" b="0" i="0" dirty="0">
                <a:solidFill>
                  <a:srgbClr val="0C0D0E"/>
                </a:solidFill>
                <a:effectLst/>
              </a:rPr>
              <a:t> is a generalized proof technique that encompasses any method of proof that does not directly derive the conclusion from the premise.</a:t>
            </a:r>
          </a:p>
          <a:p>
            <a:pPr eaLnBrk="1" hangingPunct="1">
              <a:lnSpc>
                <a:spcPct val="100000"/>
              </a:lnSpc>
              <a:spcBef>
                <a:spcPts val="0"/>
              </a:spcBef>
              <a:buClr>
                <a:srgbClr val="0B61FF"/>
              </a:buClr>
              <a:buSzPct val="80000"/>
              <a:buFont typeface="Wingdings" panose="05000000000000000000" pitchFamily="2" charset="2"/>
              <a:buChar char="n"/>
            </a:pPr>
            <a:r>
              <a:rPr lang="en-US" altLang="zh-CN" sz="2400" b="1" dirty="0"/>
              <a:t>Logical fact</a:t>
            </a:r>
            <a:r>
              <a:rPr lang="zh-CN" altLang="en-US" sz="2400" b="1" dirty="0"/>
              <a:t>：</a:t>
            </a:r>
            <a:r>
              <a:rPr lang="en-US" altLang="zh-CN" sz="2400" b="0" i="0" dirty="0">
                <a:solidFill>
                  <a:srgbClr val="0C0D0E"/>
                </a:solidFill>
                <a:effectLst/>
              </a:rPr>
              <a:t>A proposition and its contrapositive are logically equivalent.</a:t>
            </a:r>
          </a:p>
          <a:p>
            <a:pPr eaLnBrk="1" hangingPunct="1">
              <a:lnSpc>
                <a:spcPct val="10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Method:</a:t>
            </a:r>
            <a:r>
              <a:rPr lang="en-US" altLang="zh-CN" sz="2400" b="0" i="0" dirty="0">
                <a:solidFill>
                  <a:srgbClr val="0C0D0E"/>
                </a:solidFill>
                <a:effectLst/>
              </a:rPr>
              <a:t> To prove "A → B", it is sufficient to prove "¬B → ¬A", that is, "If B is not true, then A is not true."</a:t>
            </a:r>
          </a:p>
        </p:txBody>
      </p:sp>
      <p:sp>
        <p:nvSpPr>
          <p:cNvPr id="9" name="Rectangle 3">
            <a:extLst>
              <a:ext uri="{FF2B5EF4-FFF2-40B4-BE49-F238E27FC236}">
                <a16:creationId xmlns:a16="http://schemas.microsoft.com/office/drawing/2014/main" id="{370444E9-5023-440E-8AB8-7AFDE9C64714}"/>
              </a:ext>
            </a:extLst>
          </p:cNvPr>
          <p:cNvSpPr txBox="1">
            <a:spLocks noChangeArrowheads="1"/>
          </p:cNvSpPr>
          <p:nvPr/>
        </p:nvSpPr>
        <p:spPr>
          <a:xfrm>
            <a:off x="1371599" y="3689195"/>
            <a:ext cx="9024257" cy="23523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marL="0" indent="0" eaLnBrk="1" hangingPunct="1">
              <a:lnSpc>
                <a:spcPct val="100000"/>
              </a:lnSpc>
              <a:spcBef>
                <a:spcPts val="0"/>
              </a:spcBef>
              <a:buClr>
                <a:srgbClr val="0B61FF"/>
              </a:buClr>
              <a:buSzPct val="80000"/>
              <a:buNone/>
            </a:pPr>
            <a:r>
              <a:rPr lang="en-US" altLang="zh-CN" sz="2400" b="1" i="0" dirty="0">
                <a:solidFill>
                  <a:srgbClr val="0C0D0E"/>
                </a:solidFill>
                <a:effectLst/>
              </a:rPr>
              <a:t>         Example 2:</a:t>
            </a:r>
            <a:r>
              <a:rPr lang="en-US" altLang="zh-CN" sz="2400" b="0" i="0" dirty="0">
                <a:solidFill>
                  <a:srgbClr val="0C0D0E"/>
                </a:solidFill>
                <a:effectLst/>
              </a:rPr>
              <a:t> If n² is odd, then n is also odd.</a:t>
            </a:r>
            <a:br>
              <a:rPr lang="en-US" altLang="zh-CN" sz="2400" dirty="0"/>
            </a:br>
            <a:r>
              <a:rPr lang="en-US" altLang="zh-CN" sz="2400" b="1" i="0" dirty="0">
                <a:solidFill>
                  <a:srgbClr val="0C0D0E"/>
                </a:solidFill>
                <a:effectLst/>
              </a:rPr>
              <a:t>Proof:</a:t>
            </a:r>
            <a:r>
              <a:rPr lang="en-US" altLang="zh-CN" sz="2400" b="0" i="0" dirty="0">
                <a:solidFill>
                  <a:srgbClr val="0C0D0E"/>
                </a:solidFill>
                <a:effectLst/>
              </a:rPr>
              <a:t> It suffices to prove that: If n is even, then n² is even. That is, prove the original proposition is true.</a:t>
            </a:r>
            <a:br>
              <a:rPr lang="en-US" altLang="zh-CN" sz="2400" dirty="0"/>
            </a:br>
            <a:r>
              <a:rPr lang="en-US" altLang="zh-CN" sz="2400" b="0" i="0" dirty="0">
                <a:solidFill>
                  <a:srgbClr val="0C0D0E"/>
                </a:solidFill>
                <a:effectLst/>
              </a:rPr>
              <a:t>Assume n is even, then there exists k ∈ N, such that n = 2k. Therefore,</a:t>
            </a:r>
            <a:br>
              <a:rPr lang="en-US" altLang="zh-CN" sz="2400" dirty="0"/>
            </a:br>
            <a:r>
              <a:rPr lang="en-US" altLang="zh-CN" sz="2400" b="0" i="0" dirty="0">
                <a:solidFill>
                  <a:srgbClr val="0C0D0E"/>
                </a:solidFill>
                <a:effectLst/>
              </a:rPr>
              <a:t>n² = (2k)² = 2(2k²)</a:t>
            </a:r>
            <a:br>
              <a:rPr lang="en-US" altLang="zh-CN" sz="2400" dirty="0"/>
            </a:br>
            <a:r>
              <a:rPr lang="en-US" altLang="zh-CN" sz="2400" b="0" i="0" dirty="0">
                <a:solidFill>
                  <a:srgbClr val="0C0D0E"/>
                </a:solidFill>
                <a:effectLst/>
              </a:rPr>
              <a:t>Thus, n² is even.</a:t>
            </a:r>
            <a:endParaRPr lang="zh-CN" altLang="en-US" sz="2400" b="1" dirty="0"/>
          </a:p>
        </p:txBody>
      </p:sp>
      <p:pic>
        <p:nvPicPr>
          <p:cNvPr id="10" name="图片 9">
            <a:extLst>
              <a:ext uri="{FF2B5EF4-FFF2-40B4-BE49-F238E27FC236}">
                <a16:creationId xmlns:a16="http://schemas.microsoft.com/office/drawing/2014/main" id="{96D10040-4844-46A5-88FD-82D356B9B370}"/>
              </a:ext>
            </a:extLst>
          </p:cNvPr>
          <p:cNvPicPr>
            <a:picLocks noChangeAspect="1"/>
          </p:cNvPicPr>
          <p:nvPr/>
        </p:nvPicPr>
        <p:blipFill>
          <a:blip r:embed="rId5"/>
          <a:stretch>
            <a:fillRect/>
          </a:stretch>
        </p:blipFill>
        <p:spPr>
          <a:xfrm>
            <a:off x="1420788" y="3937761"/>
            <a:ext cx="577850" cy="241300"/>
          </a:xfrm>
          <a:prstGeom prst="rect">
            <a:avLst/>
          </a:prstGeom>
        </p:spPr>
      </p:pic>
    </p:spTree>
    <p:extLst>
      <p:ext uri="{BB962C8B-B14F-4D97-AF65-F5344CB8AC3E}">
        <p14:creationId xmlns:p14="http://schemas.microsoft.com/office/powerpoint/2010/main" val="22616563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1800" b="1" dirty="0">
                <a:cs typeface="Times New Roman" panose="02020603050405020304" pitchFamily="18" charset="0"/>
              </a:rPr>
              <a:t>1.3 </a:t>
            </a:r>
            <a:r>
              <a:rPr lang="en-US" altLang="zh-CN" sz="1800" b="1" i="0" dirty="0">
                <a:solidFill>
                  <a:schemeClr val="bg1"/>
                </a:solidFill>
                <a:effectLst/>
                <a:latin typeface="+mj-lt"/>
              </a:rPr>
              <a:t>Proof Methods</a:t>
            </a:r>
            <a:endParaRPr lang="en-US" altLang="zh-CN" sz="1800" b="1" dirty="0">
              <a:cs typeface="Times New Roman" panose="02020603050405020304" pitchFamily="18" charset="0"/>
            </a:endParaRPr>
          </a:p>
          <a:p>
            <a:r>
              <a:rPr lang="zh-CN" altLang="en-US" sz="18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18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solidFill>
                  <a:schemeClr val="bg1"/>
                </a:solidFill>
                <a:latin typeface="+mj-lt"/>
                <a:ea typeface="宋体" panose="02010600030101010101" pitchFamily="2" charset="-122"/>
                <a:cs typeface="Times New Roman" panose="02020603050405020304" pitchFamily="18" charset="0"/>
              </a:rPr>
              <a:t>Ind</a:t>
            </a:r>
            <a:r>
              <a:rPr lang="en-US" altLang="zh-CN" sz="2400" b="1" i="0" dirty="0">
                <a:solidFill>
                  <a:schemeClr val="bg1"/>
                </a:solidFill>
                <a:effectLst/>
                <a:latin typeface="+mj-lt"/>
              </a:rPr>
              <a:t>irect Proof Method </a:t>
            </a:r>
            <a:r>
              <a:rPr lang="en-US" altLang="zh-CN" sz="24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latin typeface="+mj-lt"/>
                <a:ea typeface="Cambria Math" panose="02040503050406030204" pitchFamily="18" charset="0"/>
                <a:cs typeface="Times New Roman" panose="02020603050405020304" pitchFamily="18" charset="0"/>
              </a:rPr>
              <a:t> </a:t>
            </a:r>
            <a:r>
              <a:rPr lang="en-US" altLang="zh-CN" sz="2400" b="1" dirty="0">
                <a:latin typeface="+mj-lt"/>
              </a:rPr>
              <a:t>Proof by Contradiction</a:t>
            </a:r>
            <a:endParaRPr lang="zh-CN" altLang="en-US" sz="2400" b="1" dirty="0">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099456" y="765176"/>
            <a:ext cx="9688287" cy="17820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Proof by Contradiction</a:t>
            </a:r>
            <a:r>
              <a:rPr lang="en-US" altLang="zh-CN" sz="2400" b="0" i="0" dirty="0">
                <a:solidFill>
                  <a:srgbClr val="0C0D0E"/>
                </a:solidFill>
                <a:effectLst/>
              </a:rPr>
              <a:t>  begins by assuming that the negation of the proposition to be proven is true, and then through logical reasoning, a contradiction or an impossible result is derived.</a:t>
            </a:r>
          </a:p>
          <a:p>
            <a:pPr>
              <a:lnSpc>
                <a:spcPct val="110000"/>
              </a:lnSpc>
              <a:spcBef>
                <a:spcPts val="0"/>
              </a:spcBef>
              <a:buClr>
                <a:srgbClr val="0B61FF"/>
              </a:buClr>
              <a:buSzPct val="80000"/>
              <a:buFont typeface="Wingdings" panose="05000000000000000000" pitchFamily="2" charset="2"/>
              <a:buChar char="n"/>
            </a:pPr>
            <a:r>
              <a:rPr lang="en-US" altLang="zh-CN" sz="2400" b="1" dirty="0">
                <a:solidFill>
                  <a:srgbClr val="0C0D0E"/>
                </a:solidFill>
              </a:rPr>
              <a:t>Method:</a:t>
            </a:r>
            <a:r>
              <a:rPr lang="en-US" altLang="zh-CN" sz="2400" dirty="0">
                <a:solidFill>
                  <a:srgbClr val="0C0D0E"/>
                </a:solidFill>
              </a:rPr>
              <a:t> Let A be true, assume B is not true, and derive a contradiction.</a:t>
            </a:r>
            <a:endParaRPr lang="en-US" altLang="zh-CN" sz="2400" b="0" i="0" dirty="0">
              <a:solidFill>
                <a:srgbClr val="0C0D0E"/>
              </a:solidFill>
              <a:effectLst/>
            </a:endParaRPr>
          </a:p>
        </p:txBody>
      </p:sp>
      <p:sp>
        <p:nvSpPr>
          <p:cNvPr id="9" name="Rectangle 3">
            <a:extLst>
              <a:ext uri="{FF2B5EF4-FFF2-40B4-BE49-F238E27FC236}">
                <a16:creationId xmlns:a16="http://schemas.microsoft.com/office/drawing/2014/main" id="{8DF68E8D-FFC3-40DD-A882-745C5A90C769}"/>
              </a:ext>
            </a:extLst>
          </p:cNvPr>
          <p:cNvSpPr txBox="1">
            <a:spLocks noChangeArrowheads="1"/>
          </p:cNvSpPr>
          <p:nvPr/>
        </p:nvSpPr>
        <p:spPr>
          <a:xfrm>
            <a:off x="1099456" y="2694340"/>
            <a:ext cx="9688287" cy="34149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marL="0" indent="0" eaLnBrk="1" hangingPunct="1">
              <a:lnSpc>
                <a:spcPct val="110000"/>
              </a:lnSpc>
              <a:spcBef>
                <a:spcPts val="0"/>
              </a:spcBef>
              <a:buClr>
                <a:srgbClr val="0B61FF"/>
              </a:buClr>
              <a:buSzPct val="80000"/>
              <a:buNone/>
            </a:pPr>
            <a:r>
              <a:rPr lang="en-US" altLang="zh-CN" sz="2400" b="1" i="0" dirty="0">
                <a:solidFill>
                  <a:srgbClr val="0C0D0E"/>
                </a:solidFill>
                <a:effectLst/>
              </a:rPr>
              <a:t>       Example 3:</a:t>
            </a:r>
            <a:r>
              <a:rPr lang="en-US" altLang="zh-CN" sz="2400" b="0" i="0" dirty="0">
                <a:solidFill>
                  <a:srgbClr val="0C0D0E"/>
                </a:solidFill>
                <a:effectLst/>
              </a:rPr>
              <a:t> If </a:t>
            </a:r>
            <a:r>
              <a:rPr lang="en-US" altLang="zh-CN" sz="2400" b="0" dirty="0">
                <a:solidFill>
                  <a:srgbClr val="0C0D0E"/>
                </a:solidFill>
                <a:effectLst/>
              </a:rPr>
              <a:t>A−B=A</a:t>
            </a:r>
            <a:r>
              <a:rPr lang="en-US" altLang="zh-CN" sz="2400" b="0" i="0" dirty="0">
                <a:solidFill>
                  <a:srgbClr val="0C0D0E"/>
                </a:solidFill>
                <a:effectLst/>
              </a:rPr>
              <a:t>, then </a:t>
            </a:r>
            <a:r>
              <a:rPr lang="en-US" altLang="zh-CN" sz="2400" b="0" dirty="0">
                <a:solidFill>
                  <a:srgbClr val="0C0D0E"/>
                </a:solidFill>
                <a:effectLst/>
              </a:rPr>
              <a:t>A∩B=∅</a:t>
            </a:r>
            <a:r>
              <a:rPr lang="en-US" altLang="zh-CN" sz="2400" b="0" i="0" dirty="0">
                <a:solidFill>
                  <a:srgbClr val="0C0D0E"/>
                </a:solidFill>
                <a:effectLst/>
              </a:rPr>
              <a:t>.</a:t>
            </a:r>
            <a:br>
              <a:rPr lang="en-US" altLang="zh-CN" sz="2400" dirty="0"/>
            </a:br>
            <a:r>
              <a:rPr lang="en-US" altLang="zh-CN" sz="2400" b="1" i="0" dirty="0">
                <a:solidFill>
                  <a:srgbClr val="0C0D0E"/>
                </a:solidFill>
                <a:effectLst/>
              </a:rPr>
              <a:t>Proof:</a:t>
            </a:r>
            <a:r>
              <a:rPr lang="en-US" altLang="zh-CN" sz="2400" b="0" i="0" dirty="0">
                <a:solidFill>
                  <a:srgbClr val="0C0D0E"/>
                </a:solidFill>
                <a:effectLst/>
              </a:rPr>
              <a:t> Using proof by contradiction, assume </a:t>
            </a:r>
            <a:r>
              <a:rPr lang="en-US" altLang="zh-CN" sz="2400" b="0" dirty="0">
                <a:solidFill>
                  <a:srgbClr val="0C0D0E"/>
                </a:solidFill>
                <a:effectLst/>
              </a:rPr>
              <a:t>A∩B≠</a:t>
            </a:r>
            <a:r>
              <a:rPr lang="en-US" altLang="zh-CN" sz="2400" b="0" dirty="0">
                <a:solidFill>
                  <a:srgbClr val="0C0D0E"/>
                </a:solidFill>
                <a:effectLst/>
                <a:latin typeface="Cambria Math" panose="02040503050406030204" pitchFamily="18" charset="0"/>
                <a:ea typeface="Cambria Math" panose="02040503050406030204" pitchFamily="18" charset="0"/>
              </a:rPr>
              <a:t>∅</a:t>
            </a:r>
            <a:r>
              <a:rPr lang="en-US" altLang="zh-CN" sz="2400" b="0" i="0" dirty="0">
                <a:solidFill>
                  <a:srgbClr val="0C0D0E"/>
                </a:solidFill>
                <a:effectLst/>
              </a:rPr>
              <a:t>. Then there exists an element </a:t>
            </a:r>
            <a:r>
              <a:rPr lang="en-US" altLang="zh-CN" sz="2400" b="0" dirty="0">
                <a:solidFill>
                  <a:srgbClr val="0C0D0E"/>
                </a:solidFill>
                <a:effectLst/>
              </a:rPr>
              <a:t>x</a:t>
            </a:r>
            <a:r>
              <a:rPr lang="en-US" altLang="zh-CN" sz="2400" b="0" i="0" dirty="0">
                <a:solidFill>
                  <a:srgbClr val="0C0D0E"/>
                </a:solidFill>
                <a:effectLst/>
              </a:rPr>
              <a:t> such that</a:t>
            </a:r>
            <a:br>
              <a:rPr lang="en-US" altLang="zh-CN" sz="2400" dirty="0"/>
            </a:br>
            <a:r>
              <a:rPr lang="en-US" altLang="zh-CN" sz="2400" b="0" dirty="0" err="1">
                <a:solidFill>
                  <a:srgbClr val="0C0D0E"/>
                </a:solidFill>
                <a:effectLst/>
              </a:rPr>
              <a:t>x</a:t>
            </a:r>
            <a:r>
              <a:rPr lang="en-US" altLang="zh-CN" sz="2400" b="0" dirty="0" err="1">
                <a:solidFill>
                  <a:srgbClr val="0C0D0E"/>
                </a:solidFill>
                <a:effectLst/>
                <a:latin typeface="Cambria Math" panose="02040503050406030204" pitchFamily="18" charset="0"/>
                <a:ea typeface="Cambria Math" panose="02040503050406030204" pitchFamily="18" charset="0"/>
              </a:rPr>
              <a:t>∈</a:t>
            </a:r>
            <a:r>
              <a:rPr lang="en-US" altLang="zh-CN" sz="2400" b="0" dirty="0" err="1">
                <a:solidFill>
                  <a:srgbClr val="0C0D0E"/>
                </a:solidFill>
                <a:effectLst/>
              </a:rPr>
              <a:t>A∩B</a:t>
            </a:r>
            <a:r>
              <a:rPr lang="en-US" altLang="zh-CN" sz="2400" b="0" dirty="0">
                <a:solidFill>
                  <a:srgbClr val="0C0D0E"/>
                </a:solidFill>
                <a:effectLst/>
              </a:rPr>
              <a:t>  ⟺  </a:t>
            </a:r>
            <a:r>
              <a:rPr lang="en-US" altLang="zh-CN" sz="2400" b="0" dirty="0" err="1">
                <a:solidFill>
                  <a:srgbClr val="0C0D0E"/>
                </a:solidFill>
                <a:effectLst/>
              </a:rPr>
              <a:t>x</a:t>
            </a:r>
            <a:r>
              <a:rPr lang="en-US" altLang="zh-CN" sz="2400" dirty="0" err="1">
                <a:solidFill>
                  <a:srgbClr val="0C0D0E"/>
                </a:solidFill>
                <a:latin typeface="Cambria Math" panose="02040503050406030204" pitchFamily="18" charset="0"/>
                <a:ea typeface="Cambria Math" panose="02040503050406030204" pitchFamily="18" charset="0"/>
              </a:rPr>
              <a:t>∈</a:t>
            </a:r>
            <a:r>
              <a:rPr lang="en-US" altLang="zh-CN" sz="2400" b="0" dirty="0" err="1">
                <a:solidFill>
                  <a:srgbClr val="0C0D0E"/>
                </a:solidFill>
                <a:effectLst/>
              </a:rPr>
              <a:t>A</a:t>
            </a:r>
            <a:r>
              <a:rPr lang="en-US" altLang="zh-CN" sz="2400" b="0" i="0" dirty="0">
                <a:solidFill>
                  <a:srgbClr val="0C0D0E"/>
                </a:solidFill>
                <a:effectLst/>
              </a:rPr>
              <a:t> and </a:t>
            </a:r>
            <a:r>
              <a:rPr lang="en-US" altLang="zh-CN" sz="2400" b="0" dirty="0" err="1">
                <a:solidFill>
                  <a:srgbClr val="0C0D0E"/>
                </a:solidFill>
                <a:effectLst/>
              </a:rPr>
              <a:t>x</a:t>
            </a:r>
            <a:r>
              <a:rPr lang="en-US" altLang="zh-CN" sz="2400" dirty="0" err="1">
                <a:solidFill>
                  <a:srgbClr val="0C0D0E"/>
                </a:solidFill>
                <a:latin typeface="Cambria Math" panose="02040503050406030204" pitchFamily="18" charset="0"/>
                <a:ea typeface="Cambria Math" panose="02040503050406030204" pitchFamily="18" charset="0"/>
              </a:rPr>
              <a:t>∈</a:t>
            </a:r>
            <a:r>
              <a:rPr lang="en-US" altLang="zh-CN" sz="2400" b="0" dirty="0" err="1">
                <a:solidFill>
                  <a:srgbClr val="0C0D0E"/>
                </a:solidFill>
                <a:effectLst/>
              </a:rPr>
              <a:t>B</a:t>
            </a:r>
            <a:r>
              <a:rPr lang="en-US" altLang="zh-CN" sz="2400" b="0" i="0" dirty="0">
                <a:solidFill>
                  <a:srgbClr val="0C0D0E"/>
                </a:solidFill>
                <a:effectLst/>
              </a:rPr>
              <a:t>.</a:t>
            </a:r>
            <a:br>
              <a:rPr lang="en-US" altLang="zh-CN" sz="2400" dirty="0"/>
            </a:br>
            <a:r>
              <a:rPr lang="en-US" altLang="zh-CN" sz="2400" dirty="0"/>
              <a:t>                     </a:t>
            </a:r>
            <a:r>
              <a:rPr lang="en-US" altLang="zh-CN" sz="2400" b="0" i="0" dirty="0">
                <a:solidFill>
                  <a:srgbClr val="0C0D0E"/>
                </a:solidFill>
                <a:effectLst/>
              </a:rPr>
              <a:t>Since </a:t>
            </a:r>
            <a:r>
              <a:rPr lang="en-US" altLang="zh-CN" sz="2400" b="0" dirty="0">
                <a:solidFill>
                  <a:srgbClr val="0C0D0E"/>
                </a:solidFill>
                <a:effectLst/>
              </a:rPr>
              <a:t>A−B=A</a:t>
            </a:r>
            <a:r>
              <a:rPr lang="en-US" altLang="zh-CN" sz="2400" b="0" i="0" dirty="0">
                <a:solidFill>
                  <a:srgbClr val="0C0D0E"/>
                </a:solidFill>
                <a:effectLst/>
              </a:rPr>
              <a:t>, it follows that  </a:t>
            </a:r>
            <a:r>
              <a:rPr lang="en-US" altLang="zh-CN" sz="2400" b="0" dirty="0" err="1">
                <a:solidFill>
                  <a:srgbClr val="0C0D0E"/>
                </a:solidFill>
                <a:effectLst/>
              </a:rPr>
              <a:t>x</a:t>
            </a:r>
            <a:r>
              <a:rPr lang="en-US" altLang="zh-CN" sz="2400" dirty="0" err="1">
                <a:solidFill>
                  <a:srgbClr val="0C0D0E"/>
                </a:solidFill>
                <a:latin typeface="Cambria Math" panose="02040503050406030204" pitchFamily="18" charset="0"/>
                <a:ea typeface="Cambria Math" panose="02040503050406030204" pitchFamily="18" charset="0"/>
              </a:rPr>
              <a:t>∈</a:t>
            </a:r>
            <a:r>
              <a:rPr lang="en-US" altLang="zh-CN" sz="2400" b="0" dirty="0" err="1">
                <a:solidFill>
                  <a:srgbClr val="0C0D0E"/>
                </a:solidFill>
                <a:effectLst/>
              </a:rPr>
              <a:t>A−B</a:t>
            </a:r>
            <a:r>
              <a:rPr lang="en-US" altLang="zh-CN" sz="2400" b="0" i="0" dirty="0">
                <a:solidFill>
                  <a:srgbClr val="0C0D0E"/>
                </a:solidFill>
                <a:effectLst/>
              </a:rPr>
              <a:t> and </a:t>
            </a:r>
            <a:r>
              <a:rPr lang="en-US" altLang="zh-CN" sz="2400" b="0" dirty="0" err="1">
                <a:solidFill>
                  <a:srgbClr val="0C0D0E"/>
                </a:solidFill>
                <a:effectLst/>
              </a:rPr>
              <a:t>x</a:t>
            </a:r>
            <a:r>
              <a:rPr lang="en-US" altLang="zh-CN" sz="2400" dirty="0" err="1">
                <a:solidFill>
                  <a:srgbClr val="0C0D0E"/>
                </a:solidFill>
                <a:latin typeface="Cambria Math" panose="02040503050406030204" pitchFamily="18" charset="0"/>
                <a:ea typeface="Cambria Math" panose="02040503050406030204" pitchFamily="18" charset="0"/>
              </a:rPr>
              <a:t>∈</a:t>
            </a:r>
            <a:r>
              <a:rPr lang="en-US" altLang="zh-CN" sz="2400" b="0" dirty="0" err="1">
                <a:solidFill>
                  <a:srgbClr val="0C0D0E"/>
                </a:solidFill>
                <a:effectLst/>
              </a:rPr>
              <a:t>B</a:t>
            </a:r>
            <a:br>
              <a:rPr lang="en-US" altLang="zh-CN" sz="2400" dirty="0"/>
            </a:br>
            <a:r>
              <a:rPr lang="en-US" altLang="zh-CN" sz="2400" b="0" dirty="0">
                <a:solidFill>
                  <a:srgbClr val="0C0D0E"/>
                </a:solidFill>
                <a:effectLst/>
              </a:rPr>
              <a:t>               ⟺  (</a:t>
            </a:r>
            <a:r>
              <a:rPr lang="en-US" altLang="zh-CN" sz="2400" b="0" dirty="0" err="1">
                <a:solidFill>
                  <a:srgbClr val="0C0D0E"/>
                </a:solidFill>
                <a:effectLst/>
              </a:rPr>
              <a:t>x</a:t>
            </a:r>
            <a:r>
              <a:rPr lang="en-US" altLang="zh-CN" sz="2400" dirty="0" err="1">
                <a:solidFill>
                  <a:srgbClr val="0C0D0E"/>
                </a:solidFill>
                <a:latin typeface="Cambria Math" panose="02040503050406030204" pitchFamily="18" charset="0"/>
                <a:ea typeface="Cambria Math" panose="02040503050406030204" pitchFamily="18" charset="0"/>
              </a:rPr>
              <a:t>∈</a:t>
            </a:r>
            <a:r>
              <a:rPr lang="en-US" altLang="zh-CN" sz="2400" b="0" dirty="0" err="1">
                <a:solidFill>
                  <a:srgbClr val="0C0D0E"/>
                </a:solidFill>
                <a:effectLst/>
              </a:rPr>
              <a:t>A</a:t>
            </a:r>
            <a:r>
              <a:rPr lang="en-US" altLang="zh-CN" sz="2400" b="0" i="0" dirty="0">
                <a:solidFill>
                  <a:srgbClr val="0C0D0E"/>
                </a:solidFill>
                <a:effectLst/>
              </a:rPr>
              <a:t> and </a:t>
            </a:r>
            <a:r>
              <a:rPr lang="en-US" altLang="zh-CN" sz="2400" b="0" dirty="0" err="1">
                <a:solidFill>
                  <a:srgbClr val="0C0D0E"/>
                </a:solidFill>
                <a:effectLst/>
              </a:rPr>
              <a:t>x</a:t>
            </a:r>
            <a:r>
              <a:rPr lang="en-US" altLang="zh-CN" sz="2400" dirty="0" err="1">
                <a:solidFill>
                  <a:srgbClr val="0C0D0E"/>
                </a:solidFill>
                <a:latin typeface="Cambria Math" panose="02040503050406030204" pitchFamily="18" charset="0"/>
                <a:ea typeface="Cambria Math" panose="02040503050406030204" pitchFamily="18" charset="0"/>
              </a:rPr>
              <a:t>∉</a:t>
            </a:r>
            <a:r>
              <a:rPr lang="en-US" altLang="zh-CN" sz="2400" b="0" dirty="0" err="1">
                <a:solidFill>
                  <a:srgbClr val="0C0D0E"/>
                </a:solidFill>
                <a:effectLst/>
              </a:rPr>
              <a:t>B</a:t>
            </a:r>
            <a:r>
              <a:rPr lang="en-US" altLang="zh-CN" sz="2400" b="0" dirty="0">
                <a:solidFill>
                  <a:srgbClr val="0C0D0E"/>
                </a:solidFill>
                <a:effectLst/>
              </a:rPr>
              <a:t>)</a:t>
            </a:r>
            <a:r>
              <a:rPr lang="en-US" altLang="zh-CN" sz="2400" b="0" i="0" dirty="0">
                <a:solidFill>
                  <a:srgbClr val="0C0D0E"/>
                </a:solidFill>
                <a:effectLst/>
              </a:rPr>
              <a:t> and </a:t>
            </a:r>
            <a:r>
              <a:rPr lang="en-US" altLang="zh-CN" sz="2400" b="0" dirty="0" err="1">
                <a:solidFill>
                  <a:srgbClr val="0C0D0E"/>
                </a:solidFill>
                <a:effectLst/>
              </a:rPr>
              <a:t>x</a:t>
            </a:r>
            <a:r>
              <a:rPr lang="en-US" altLang="zh-CN" sz="2400" dirty="0" err="1">
                <a:solidFill>
                  <a:srgbClr val="0C0D0E"/>
                </a:solidFill>
                <a:latin typeface="Cambria Math" panose="02040503050406030204" pitchFamily="18" charset="0"/>
                <a:ea typeface="Cambria Math" panose="02040503050406030204" pitchFamily="18" charset="0"/>
              </a:rPr>
              <a:t>∈</a:t>
            </a:r>
            <a:r>
              <a:rPr lang="en-US" altLang="zh-CN" sz="2400" b="0" dirty="0" err="1">
                <a:solidFill>
                  <a:srgbClr val="0C0D0E"/>
                </a:solidFill>
                <a:effectLst/>
              </a:rPr>
              <a:t>B</a:t>
            </a:r>
            <a:br>
              <a:rPr lang="en-US" altLang="zh-CN" sz="2400" dirty="0"/>
            </a:br>
            <a:r>
              <a:rPr lang="en-US" altLang="zh-CN" sz="2400" dirty="0"/>
              <a:t>             </a:t>
            </a:r>
            <a:r>
              <a:rPr lang="en-US" altLang="zh-CN" sz="2400" b="0" dirty="0">
                <a:solidFill>
                  <a:srgbClr val="0C0D0E"/>
                </a:solidFill>
                <a:effectLst/>
              </a:rPr>
              <a:t>  ⟹  </a:t>
            </a:r>
            <a:r>
              <a:rPr lang="en-US" altLang="zh-CN" sz="2400" b="0" dirty="0" err="1">
                <a:solidFill>
                  <a:srgbClr val="0C0D0E"/>
                </a:solidFill>
                <a:effectLst/>
              </a:rPr>
              <a:t>x</a:t>
            </a:r>
            <a:r>
              <a:rPr lang="en-US" altLang="zh-CN" sz="2400" dirty="0" err="1">
                <a:solidFill>
                  <a:srgbClr val="0C0D0E"/>
                </a:solidFill>
                <a:latin typeface="Cambria Math" panose="02040503050406030204" pitchFamily="18" charset="0"/>
                <a:ea typeface="Cambria Math" panose="02040503050406030204" pitchFamily="18" charset="0"/>
              </a:rPr>
              <a:t>∉</a:t>
            </a:r>
            <a:r>
              <a:rPr lang="en-US" altLang="zh-CN" sz="2400" b="0" dirty="0" err="1">
                <a:solidFill>
                  <a:srgbClr val="0C0D0E"/>
                </a:solidFill>
                <a:effectLst/>
              </a:rPr>
              <a:t>B</a:t>
            </a:r>
            <a:r>
              <a:rPr lang="en-US" altLang="zh-CN" sz="2400" b="0" i="0" dirty="0">
                <a:solidFill>
                  <a:srgbClr val="0C0D0E"/>
                </a:solidFill>
                <a:effectLst/>
              </a:rPr>
              <a:t> and </a:t>
            </a:r>
            <a:r>
              <a:rPr lang="en-US" altLang="zh-CN" sz="2400" b="0" dirty="0" err="1">
                <a:solidFill>
                  <a:srgbClr val="0C0D0E"/>
                </a:solidFill>
                <a:effectLst/>
              </a:rPr>
              <a:t>x</a:t>
            </a:r>
            <a:r>
              <a:rPr lang="en-US" altLang="zh-CN" sz="2400" dirty="0" err="1">
                <a:solidFill>
                  <a:srgbClr val="0C0D0E"/>
                </a:solidFill>
                <a:latin typeface="Cambria Math" panose="02040503050406030204" pitchFamily="18" charset="0"/>
                <a:ea typeface="Cambria Math" panose="02040503050406030204" pitchFamily="18" charset="0"/>
              </a:rPr>
              <a:t>∈</a:t>
            </a:r>
            <a:r>
              <a:rPr lang="en-US" altLang="zh-CN" sz="2400" b="0" dirty="0" err="1">
                <a:solidFill>
                  <a:srgbClr val="0C0D0E"/>
                </a:solidFill>
                <a:effectLst/>
              </a:rPr>
              <a:t>B</a:t>
            </a:r>
            <a:r>
              <a:rPr lang="en-US" altLang="zh-CN" sz="2400" b="0" i="0" dirty="0">
                <a:solidFill>
                  <a:srgbClr val="0C0D0E"/>
                </a:solidFill>
                <a:effectLst/>
              </a:rPr>
              <a:t>,</a:t>
            </a:r>
            <a:br>
              <a:rPr lang="en-US" altLang="zh-CN" sz="2400" dirty="0"/>
            </a:br>
            <a:r>
              <a:rPr lang="en-US" altLang="zh-CN" sz="2400" b="0" i="0" dirty="0">
                <a:solidFill>
                  <a:srgbClr val="0C0D0E"/>
                </a:solidFill>
                <a:effectLst/>
              </a:rPr>
              <a:t>which is a contradiction.</a:t>
            </a:r>
            <a:endParaRPr lang="zh-CN" altLang="en-US" sz="2400" b="1" dirty="0">
              <a:solidFill>
                <a:srgbClr val="333300"/>
              </a:solidFill>
              <a:sym typeface="Symbol" panose="05050102010706020507" pitchFamily="18" charset="2"/>
            </a:endParaRPr>
          </a:p>
        </p:txBody>
      </p:sp>
      <p:pic>
        <p:nvPicPr>
          <p:cNvPr id="10" name="图片 9">
            <a:extLst>
              <a:ext uri="{FF2B5EF4-FFF2-40B4-BE49-F238E27FC236}">
                <a16:creationId xmlns:a16="http://schemas.microsoft.com/office/drawing/2014/main" id="{A2A065AE-3224-4210-8441-C9747D1EA11B}"/>
              </a:ext>
            </a:extLst>
          </p:cNvPr>
          <p:cNvPicPr>
            <a:picLocks noChangeAspect="1"/>
          </p:cNvPicPr>
          <p:nvPr/>
        </p:nvPicPr>
        <p:blipFill>
          <a:blip r:embed="rId5"/>
          <a:stretch>
            <a:fillRect/>
          </a:stretch>
        </p:blipFill>
        <p:spPr>
          <a:xfrm>
            <a:off x="1115332" y="2938664"/>
            <a:ext cx="577850" cy="241300"/>
          </a:xfrm>
          <a:prstGeom prst="rect">
            <a:avLst/>
          </a:prstGeom>
        </p:spPr>
      </p:pic>
    </p:spTree>
    <p:extLst>
      <p:ext uri="{BB962C8B-B14F-4D97-AF65-F5344CB8AC3E}">
        <p14:creationId xmlns:p14="http://schemas.microsoft.com/office/powerpoint/2010/main" val="23169466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1600" b="1" dirty="0">
                <a:cs typeface="Times New Roman" panose="02020603050405020304" pitchFamily="18" charset="0"/>
              </a:rPr>
              <a:t>1.3 </a:t>
            </a:r>
            <a:r>
              <a:rPr lang="en-US" altLang="zh-CN" sz="1600" b="1" i="0" dirty="0">
                <a:solidFill>
                  <a:schemeClr val="bg1"/>
                </a:solidFill>
                <a:effectLst/>
                <a:latin typeface="+mj-lt"/>
              </a:rPr>
              <a:t>Proof Methods</a:t>
            </a:r>
            <a:endParaRPr lang="en-US" altLang="zh-CN" sz="1600" b="1" dirty="0">
              <a:cs typeface="Times New Roman" panose="02020603050405020304" pitchFamily="18" charset="0"/>
            </a:endParaRPr>
          </a:p>
          <a:p>
            <a:r>
              <a:rPr lang="zh-CN" altLang="en-US" sz="16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16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solidFill>
                  <a:schemeClr val="bg1"/>
                </a:solidFill>
                <a:latin typeface="+mj-lt"/>
                <a:ea typeface="宋体" panose="02010600030101010101" pitchFamily="2" charset="-122"/>
                <a:cs typeface="Times New Roman" panose="02020603050405020304" pitchFamily="18" charset="0"/>
              </a:rPr>
              <a:t>Ind</a:t>
            </a:r>
            <a:r>
              <a:rPr lang="en-US" altLang="zh-CN" sz="2000" b="1" i="0" dirty="0">
                <a:solidFill>
                  <a:schemeClr val="bg1"/>
                </a:solidFill>
                <a:effectLst/>
                <a:latin typeface="+mj-lt"/>
              </a:rPr>
              <a:t>irect Proof Method </a:t>
            </a:r>
            <a:r>
              <a:rPr lang="en-US" altLang="zh-CN" sz="2000" b="1" dirty="0">
                <a:solidFill>
                  <a:srgbClr val="CFA57C"/>
                </a:solidFill>
                <a:latin typeface="+mj-lt"/>
                <a:ea typeface="宋体" panose="02010600030101010101" pitchFamily="2" charset="-122"/>
                <a:cs typeface="Times New Roman" panose="02020603050405020304" pitchFamily="18" charset="0"/>
              </a:rPr>
              <a:t>•</a:t>
            </a:r>
            <a:r>
              <a:rPr lang="en-US" altLang="zh-CN" sz="2000" b="1" dirty="0">
                <a:latin typeface="+mj-lt"/>
                <a:ea typeface="Cambria Math" panose="02040503050406030204" pitchFamily="18" charset="0"/>
                <a:cs typeface="Times New Roman" panose="02020603050405020304" pitchFamily="18" charset="0"/>
              </a:rPr>
              <a:t> </a:t>
            </a:r>
            <a:r>
              <a:rPr lang="en-US" altLang="zh-CN" sz="2000" b="1" dirty="0">
                <a:latin typeface="+mj-lt"/>
              </a:rPr>
              <a:t>Proof by Contradiction(</a:t>
            </a:r>
            <a:r>
              <a:rPr lang="en-US" altLang="zh-CN" sz="2000" b="1" dirty="0" err="1">
                <a:latin typeface="+mj-lt"/>
              </a:rPr>
              <a:t>e.g</a:t>
            </a:r>
            <a:r>
              <a:rPr lang="en-US" altLang="zh-CN" sz="2000" b="1" dirty="0">
                <a:latin typeface="+mj-lt"/>
              </a:rPr>
              <a:t>)</a:t>
            </a:r>
            <a:endParaRPr lang="zh-CN" altLang="en-US" sz="2000" b="1" dirty="0">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903E8526-1678-499F-B5A0-7257A6A7BCC4}"/>
                  </a:ext>
                </a:extLst>
              </p:cNvPr>
              <p:cNvSpPr txBox="1"/>
              <p:nvPr/>
            </p:nvSpPr>
            <p:spPr>
              <a:xfrm>
                <a:off x="1273628" y="770687"/>
                <a:ext cx="9252857" cy="4182312"/>
              </a:xfrm>
              <a:prstGeom prst="rect">
                <a:avLst/>
              </a:prstGeom>
              <a:noFill/>
            </p:spPr>
            <p:txBody>
              <a:bodyPr wrap="square">
                <a:noAutofit/>
              </a:bodyPr>
              <a:lstStyle/>
              <a:p>
                <a:pPr indent="306070">
                  <a:lnSpc>
                    <a:spcPct val="120000"/>
                  </a:lnSpc>
                </a:pPr>
                <a:r>
                  <a:rPr lang="en-US" altLang="zh-CN" sz="2400" b="1" dirty="0">
                    <a:effectLst/>
                    <a:ea typeface="宋体" panose="02010600030101010101" pitchFamily="2" charset="-122"/>
                    <a:cs typeface="宋体" panose="02010600030101010101" pitchFamily="2" charset="-122"/>
                  </a:rPr>
                  <a:t>    Example 4: Prove that</a:t>
                </a:r>
                <a14:m>
                  <m:oMath xmlns:m="http://schemas.openxmlformats.org/officeDocument/2006/math">
                    <m:rad>
                      <m:radPr>
                        <m:degHide m:val="on"/>
                        <m:ctrlPr>
                          <a:rPr lang="zh-CN" altLang="zh-CN" sz="2400" b="1" i="1">
                            <a:effectLst/>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2400" b="0" i="1">
                            <a:effectLst/>
                            <a:latin typeface="Cambria Math" panose="02040503050406030204" pitchFamily="18" charset="0"/>
                            <a:ea typeface="宋体" panose="02010600030101010101" pitchFamily="2" charset="-122"/>
                            <a:cs typeface="宋体" panose="02010600030101010101" pitchFamily="2" charset="-122"/>
                          </a:rPr>
                          <m:t>2</m:t>
                        </m:r>
                      </m:e>
                    </m:rad>
                  </m:oMath>
                </a14:m>
                <a:r>
                  <a:rPr lang="en-US" altLang="zh-CN" sz="2400" b="1" dirty="0">
                    <a:effectLst/>
                    <a:ea typeface="宋体" panose="02010600030101010101" pitchFamily="2" charset="-122"/>
                    <a:cs typeface="宋体" panose="02010600030101010101" pitchFamily="2" charset="-122"/>
                  </a:rPr>
                  <a:t> is irrational.</a:t>
                </a:r>
                <a:endParaRPr lang="zh-CN" altLang="zh-CN" sz="2400" dirty="0">
                  <a:effectLst/>
                  <a:ea typeface="宋体" panose="02010600030101010101" pitchFamily="2" charset="-122"/>
                  <a:cs typeface="宋体" panose="02010600030101010101" pitchFamily="2" charset="-122"/>
                </a:endParaRPr>
              </a:p>
              <a:p>
                <a:pPr>
                  <a:lnSpc>
                    <a:spcPct val="120000"/>
                  </a:lnSpc>
                </a:pPr>
                <a:r>
                  <a:rPr lang="en-US" altLang="zh-CN" sz="2400" b="1" dirty="0">
                    <a:effectLst/>
                    <a:ea typeface="宋体" panose="02010600030101010101" pitchFamily="2" charset="-122"/>
                    <a:cs typeface="Times New Roman" panose="02020603050405020304" pitchFamily="18" charset="0"/>
                  </a:rPr>
                  <a:t>Proof</a:t>
                </a:r>
                <a:r>
                  <a:rPr lang="en-US" altLang="zh-CN" sz="2400" dirty="0">
                    <a:effectLst/>
                    <a:ea typeface="宋体" panose="02010600030101010101" pitchFamily="2" charset="-122"/>
                  </a:rPr>
                  <a:t>: Assume </a:t>
                </a:r>
                <a14:m>
                  <m:oMath xmlns:m="http://schemas.openxmlformats.org/officeDocument/2006/math">
                    <m:rad>
                      <m:radPr>
                        <m:degHide m:val="on"/>
                        <m:ctrlPr>
                          <a:rPr lang="zh-CN" altLang="zh-CN" sz="2400" b="1" i="1" kern="0">
                            <a:effectLst/>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𝟐</m:t>
                        </m:r>
                      </m:e>
                    </m:rad>
                  </m:oMath>
                </a14:m>
                <a:r>
                  <a:rPr lang="en-US" altLang="zh-CN" sz="2400" b="1" dirty="0">
                    <a:effectLst/>
                    <a:ea typeface="宋体" panose="02010600030101010101" pitchFamily="2" charset="-122"/>
                    <a:cs typeface="Times New Roman" panose="02020603050405020304" pitchFamily="18" charset="0"/>
                  </a:rPr>
                  <a:t> </a:t>
                </a:r>
                <a:r>
                  <a:rPr lang="zh-CN" altLang="zh-CN" sz="2400" dirty="0">
                    <a:effectLst/>
                    <a:ea typeface="MS Gothic" panose="020B0609070205080204" pitchFamily="49" charset="-128"/>
                    <a:cs typeface="MS Gothic" panose="020B0609070205080204" pitchFamily="49" charset="-128"/>
                  </a:rPr>
                  <a:t>​</a:t>
                </a:r>
                <a:r>
                  <a:rPr lang="zh-CN" altLang="zh-CN" sz="2400" dirty="0">
                    <a:effectLst/>
                  </a:rPr>
                  <a:t> is rational. Then there exist positive integers </a:t>
                </a:r>
                <a:r>
                  <a:rPr lang="zh-CN" altLang="zh-CN" sz="2400" i="1" dirty="0">
                    <a:effectLst/>
                    <a:latin typeface="Times New Roman" panose="02020603050405020304" pitchFamily="18" charset="0"/>
                    <a:cs typeface="Times New Roman" panose="02020603050405020304" pitchFamily="18" charset="0"/>
                  </a:rPr>
                  <a:t>m</a:t>
                </a:r>
                <a:r>
                  <a:rPr lang="zh-CN" altLang="zh-CN" sz="2400" dirty="0">
                    <a:effectLst/>
                  </a:rPr>
                  <a:t> and n such that </a:t>
                </a:r>
                <a14:m>
                  <m:oMath xmlns:m="http://schemas.openxmlformats.org/officeDocument/2006/math">
                    <m:rad>
                      <m:radPr>
                        <m:degHide m:val="on"/>
                        <m:ctrlPr>
                          <a:rPr lang="zh-CN" altLang="zh-CN" sz="2400" b="1" i="1" kern="0">
                            <a:effectLst/>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𝟐</m:t>
                        </m:r>
                      </m:e>
                    </m:rad>
                    <m:r>
                      <a:rPr lang="en-US" altLang="zh-CN" sz="2400" b="0" i="1">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𝒎</m:t>
                        </m:r>
                      </m:num>
                      <m:den>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𝒏</m:t>
                        </m:r>
                      </m:den>
                    </m:f>
                  </m:oMath>
                </a14:m>
                <a:r>
                  <a:rPr lang="en-US" altLang="zh-CN" sz="2400" dirty="0">
                    <a:effectLst/>
                    <a:ea typeface="宋体" panose="02010600030101010101" pitchFamily="2" charset="-122"/>
                  </a:rPr>
                  <a:t>, where n≠0 and m and n have no common factors (i.e., </a:t>
                </a:r>
                <a14:m>
                  <m:oMath xmlns:m="http://schemas.openxmlformats.org/officeDocument/2006/math">
                    <m:f>
                      <m:fPr>
                        <m:ctrlPr>
                          <a:rPr lang="zh-CN" altLang="zh-CN" sz="2400" i="1" kern="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𝒎</m:t>
                        </m:r>
                      </m:num>
                      <m:den>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𝒏</m:t>
                        </m:r>
                      </m:den>
                    </m:f>
                  </m:oMath>
                </a14:m>
                <a:r>
                  <a:rPr lang="zh-CN" altLang="zh-CN" sz="2400" dirty="0">
                    <a:effectLst/>
                    <a:ea typeface="MS Gothic" panose="020B0609070205080204" pitchFamily="49" charset="-128"/>
                    <a:cs typeface="MS Gothic" panose="020B0609070205080204" pitchFamily="49" charset="-128"/>
                  </a:rPr>
                  <a:t>​</a:t>
                </a:r>
                <a:r>
                  <a:rPr lang="zh-CN" altLang="zh-CN" sz="2400" dirty="0">
                    <a:effectLst/>
                  </a:rPr>
                  <a:t> is in lowest terms).</a:t>
                </a:r>
                <a:endParaRPr lang="en-US" altLang="zh-CN" sz="2400" dirty="0">
                  <a:effectLst/>
                </a:endParaRPr>
              </a:p>
              <a:p>
                <a:pPr>
                  <a:lnSpc>
                    <a:spcPct val="120000"/>
                  </a:lnSpc>
                </a:pPr>
                <a:r>
                  <a:rPr lang="en-US" altLang="zh-CN" sz="2400" dirty="0">
                    <a:effectLst/>
                    <a:ea typeface="宋体" panose="02010600030101010101" pitchFamily="2" charset="-122"/>
                  </a:rPr>
                  <a:t>Then </a:t>
                </a:r>
                <a:r>
                  <a:rPr lang="en-US" altLang="zh-CN" sz="2400" i="1" dirty="0">
                    <a:latin typeface="Times New Roman" panose="02020603050405020304" pitchFamily="18" charset="0"/>
                    <a:cs typeface="Times New Roman" panose="02020603050405020304" pitchFamily="18" charset="0"/>
                  </a:rPr>
                  <a:t>m</a:t>
                </a:r>
                <a:r>
                  <a:rPr lang="en-US" altLang="zh-CN" sz="2400" dirty="0">
                    <a:effectLst/>
                    <a:ea typeface="宋体" panose="02010600030101010101" pitchFamily="2" charset="-122"/>
                  </a:rPr>
                  <a:t>=</a:t>
                </a:r>
                <a:r>
                  <a:rPr lang="en-US" altLang="zh-CN" sz="2400" i="1" dirty="0">
                    <a:latin typeface="Times New Roman" panose="02020603050405020304" pitchFamily="18" charset="0"/>
                    <a:cs typeface="Times New Roman" panose="02020603050405020304" pitchFamily="18" charset="0"/>
                  </a:rPr>
                  <a:t>n</a:t>
                </a:r>
                <a14:m>
                  <m:oMath xmlns:m="http://schemas.openxmlformats.org/officeDocument/2006/math">
                    <m:rad>
                      <m:radPr>
                        <m:degHide m:val="on"/>
                        <m:ctrlPr>
                          <a:rPr lang="zh-CN" altLang="zh-CN" sz="2400" b="1" i="1" kern="0">
                            <a:effectLst/>
                            <a:latin typeface="Cambria Math" panose="02040503050406030204" pitchFamily="18" charset="0"/>
                            <a:ea typeface="Cambria Math" panose="02040503050406030204" pitchFamily="18" charset="0"/>
                            <a:cs typeface="宋体" panose="02010600030101010101" pitchFamily="2" charset="-122"/>
                          </a:rPr>
                        </m:ctrlPr>
                      </m:radPr>
                      <m:deg/>
                      <m:e>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𝟐</m:t>
                        </m:r>
                      </m:e>
                    </m:rad>
                  </m:oMath>
                </a14:m>
                <a:r>
                  <a:rPr lang="en-US" altLang="zh-CN" sz="2400" dirty="0">
                    <a:effectLst/>
                    <a:ea typeface="宋体" panose="02010600030101010101" pitchFamily="2" charset="-122"/>
                  </a:rPr>
                  <a:t> </a:t>
                </a:r>
                <a:r>
                  <a:rPr lang="zh-CN" altLang="zh-CN" sz="2400" dirty="0">
                    <a:effectLst/>
                    <a:ea typeface="MS Gothic" panose="020B0609070205080204" pitchFamily="49" charset="-128"/>
                    <a:cs typeface="MS Gothic" panose="020B0609070205080204" pitchFamily="49" charset="-128"/>
                  </a:rPr>
                  <a:t>​</a:t>
                </a:r>
                <a:r>
                  <a:rPr lang="zh-CN" altLang="zh-CN" sz="2400" dirty="0">
                    <a:effectLst/>
                  </a:rPr>
                  <a:t>, squaring both sides gives </a:t>
                </a:r>
                <a:r>
                  <a:rPr lang="zh-CN" altLang="zh-CN" sz="2400" i="1" dirty="0">
                    <a:latin typeface="Times New Roman" panose="02020603050405020304" pitchFamily="18" charset="0"/>
                    <a:cs typeface="Times New Roman" panose="02020603050405020304" pitchFamily="18" charset="0"/>
                  </a:rPr>
                  <a:t>m</a:t>
                </a:r>
                <a:r>
                  <a:rPr lang="zh-CN" altLang="zh-CN" sz="2400" baseline="30000" dirty="0">
                    <a:effectLst/>
                  </a:rPr>
                  <a:t>2</a:t>
                </a:r>
                <a:r>
                  <a:rPr lang="zh-CN" altLang="zh-CN" sz="2400" dirty="0">
                    <a:effectLst/>
                  </a:rPr>
                  <a:t>=2</a:t>
                </a:r>
                <a:r>
                  <a:rPr lang="zh-CN" altLang="zh-CN" sz="2400" i="1" dirty="0">
                    <a:latin typeface="Times New Roman" panose="02020603050405020304" pitchFamily="18" charset="0"/>
                    <a:cs typeface="Times New Roman" panose="02020603050405020304" pitchFamily="18" charset="0"/>
                  </a:rPr>
                  <a:t>n</a:t>
                </a:r>
                <a:r>
                  <a:rPr lang="zh-CN" altLang="zh-CN" sz="2400" baseline="30000" dirty="0">
                    <a:effectLst/>
                  </a:rPr>
                  <a:t>2</a:t>
                </a:r>
                <a:r>
                  <a:rPr lang="zh-CN" altLang="zh-CN" sz="2400" dirty="0">
                    <a:effectLst/>
                  </a:rPr>
                  <a:t>. This implies </a:t>
                </a:r>
                <a:r>
                  <a:rPr lang="zh-CN" altLang="zh-CN" sz="2400" i="1" dirty="0">
                    <a:latin typeface="Times New Roman" panose="02020603050405020304" pitchFamily="18" charset="0"/>
                    <a:cs typeface="Times New Roman" panose="02020603050405020304" pitchFamily="18" charset="0"/>
                  </a:rPr>
                  <a:t>m</a:t>
                </a:r>
                <a:r>
                  <a:rPr lang="zh-CN" altLang="zh-CN" sz="2400" baseline="30000" dirty="0">
                    <a:effectLst/>
                  </a:rPr>
                  <a:t>2</a:t>
                </a:r>
                <a:r>
                  <a:rPr lang="zh-CN" altLang="zh-CN" sz="2400" dirty="0">
                    <a:effectLst/>
                  </a:rPr>
                  <a:t> is even, and therefore </a:t>
                </a:r>
                <a:r>
                  <a:rPr lang="zh-CN" altLang="zh-CN" sz="2400" i="1" dirty="0">
                    <a:latin typeface="Times New Roman" panose="02020603050405020304" pitchFamily="18" charset="0"/>
                    <a:cs typeface="Times New Roman" panose="02020603050405020304" pitchFamily="18" charset="0"/>
                  </a:rPr>
                  <a:t>m</a:t>
                </a:r>
                <a:r>
                  <a:rPr lang="zh-CN" altLang="zh-CN" sz="2400" dirty="0">
                    <a:effectLst/>
                  </a:rPr>
                  <a:t> is even. Let </a:t>
                </a:r>
                <a:r>
                  <a:rPr lang="zh-CN" altLang="zh-CN" sz="2400" i="1" dirty="0">
                    <a:latin typeface="Times New Roman" panose="02020603050405020304" pitchFamily="18" charset="0"/>
                    <a:cs typeface="Times New Roman" panose="02020603050405020304" pitchFamily="18" charset="0"/>
                  </a:rPr>
                  <a:t>m</a:t>
                </a:r>
                <a:r>
                  <a:rPr lang="zh-CN" altLang="zh-CN" sz="2400" dirty="0">
                    <a:effectLst/>
                  </a:rPr>
                  <a:t>=2</a:t>
                </a:r>
                <a:r>
                  <a:rPr lang="zh-CN" altLang="zh-CN" sz="2400" i="1" dirty="0">
                    <a:latin typeface="Times New Roman" panose="02020603050405020304" pitchFamily="18" charset="0"/>
                    <a:cs typeface="Times New Roman" panose="02020603050405020304" pitchFamily="18" charset="0"/>
                  </a:rPr>
                  <a:t>k</a:t>
                </a:r>
                <a:r>
                  <a:rPr lang="zh-CN" altLang="zh-CN" sz="2400" dirty="0">
                    <a:effectLst/>
                  </a:rPr>
                  <a:t>. Substituting back, we get (2</a:t>
                </a:r>
                <a:r>
                  <a:rPr lang="zh-CN" altLang="zh-CN" sz="2400" i="1" dirty="0">
                    <a:latin typeface="Times New Roman" panose="02020603050405020304" pitchFamily="18" charset="0"/>
                    <a:cs typeface="Times New Roman" panose="02020603050405020304" pitchFamily="18" charset="0"/>
                  </a:rPr>
                  <a:t>k</a:t>
                </a:r>
                <a:r>
                  <a:rPr lang="zh-CN" altLang="zh-CN" sz="2400" dirty="0">
                    <a:effectLst/>
                  </a:rPr>
                  <a:t>)</a:t>
                </a:r>
                <a:r>
                  <a:rPr lang="zh-CN" altLang="zh-CN" sz="2400" baseline="30000" dirty="0">
                    <a:effectLst/>
                  </a:rPr>
                  <a:t>2</a:t>
                </a:r>
                <a:r>
                  <a:rPr lang="zh-CN" altLang="zh-CN" sz="2400" dirty="0">
                    <a:effectLst/>
                  </a:rPr>
                  <a:t> = 2</a:t>
                </a:r>
                <a:r>
                  <a:rPr lang="zh-CN" altLang="zh-CN" sz="2400" i="1" dirty="0">
                    <a:latin typeface="Times New Roman" panose="02020603050405020304" pitchFamily="18" charset="0"/>
                    <a:cs typeface="Times New Roman" panose="02020603050405020304" pitchFamily="18" charset="0"/>
                  </a:rPr>
                  <a:t>n</a:t>
                </a:r>
                <a:r>
                  <a:rPr lang="zh-CN" altLang="zh-CN" sz="2400" baseline="30000" dirty="0">
                    <a:effectLst/>
                  </a:rPr>
                  <a:t>2</a:t>
                </a:r>
                <a:r>
                  <a:rPr lang="zh-CN" altLang="zh-CN" sz="2400" dirty="0">
                    <a:effectLst/>
                  </a:rPr>
                  <a:t>, which simplifies to 4</a:t>
                </a:r>
                <a:r>
                  <a:rPr lang="zh-CN" altLang="zh-CN" sz="2400" i="1" dirty="0">
                    <a:latin typeface="Times New Roman" panose="02020603050405020304" pitchFamily="18" charset="0"/>
                    <a:cs typeface="Times New Roman" panose="02020603050405020304" pitchFamily="18" charset="0"/>
                  </a:rPr>
                  <a:t>k</a:t>
                </a:r>
                <a:r>
                  <a:rPr lang="zh-CN" altLang="zh-CN" sz="2400" baseline="30000" dirty="0">
                    <a:effectLst/>
                  </a:rPr>
                  <a:t>2</a:t>
                </a:r>
                <a:r>
                  <a:rPr lang="zh-CN" altLang="zh-CN" sz="2400" dirty="0">
                    <a:effectLst/>
                  </a:rPr>
                  <a:t>=2</a:t>
                </a:r>
                <a:r>
                  <a:rPr lang="zh-CN" altLang="zh-CN" sz="2400" i="1" dirty="0">
                    <a:latin typeface="Times New Roman" panose="02020603050405020304" pitchFamily="18" charset="0"/>
                    <a:cs typeface="Times New Roman" panose="02020603050405020304" pitchFamily="18" charset="0"/>
                  </a:rPr>
                  <a:t>n</a:t>
                </a:r>
                <a:r>
                  <a:rPr lang="zh-CN" altLang="zh-CN" sz="2400" baseline="30000" dirty="0">
                    <a:effectLst/>
                  </a:rPr>
                  <a:t>2</a:t>
                </a:r>
                <a:r>
                  <a:rPr lang="zh-CN" altLang="zh-CN" sz="2400" dirty="0">
                    <a:effectLst/>
                  </a:rPr>
                  <a:t> or </a:t>
                </a:r>
                <a:r>
                  <a:rPr lang="zh-CN" altLang="zh-CN" sz="2400" i="1" dirty="0">
                    <a:latin typeface="Times New Roman" panose="02020603050405020304" pitchFamily="18" charset="0"/>
                    <a:cs typeface="Times New Roman" panose="02020603050405020304" pitchFamily="18" charset="0"/>
                  </a:rPr>
                  <a:t>n</a:t>
                </a:r>
                <a:r>
                  <a:rPr lang="zh-CN" altLang="zh-CN" sz="2400" baseline="30000" dirty="0">
                    <a:effectLst/>
                  </a:rPr>
                  <a:t>2</a:t>
                </a:r>
                <a:r>
                  <a:rPr lang="zh-CN" altLang="zh-CN" sz="2400" dirty="0">
                    <a:effectLst/>
                  </a:rPr>
                  <a:t>=2</a:t>
                </a:r>
                <a:r>
                  <a:rPr lang="zh-CN" altLang="zh-CN" sz="2400" i="1" dirty="0">
                    <a:latin typeface="Times New Roman" panose="02020603050405020304" pitchFamily="18" charset="0"/>
                    <a:cs typeface="Times New Roman" panose="02020603050405020304" pitchFamily="18" charset="0"/>
                  </a:rPr>
                  <a:t>k</a:t>
                </a:r>
                <a:r>
                  <a:rPr lang="zh-CN" altLang="zh-CN" sz="2400" baseline="30000" dirty="0">
                    <a:effectLst/>
                  </a:rPr>
                  <a:t>2</a:t>
                </a:r>
                <a:r>
                  <a:rPr lang="zh-CN" altLang="zh-CN" sz="2400" dirty="0">
                    <a:effectLst/>
                  </a:rPr>
                  <a:t>. This implies </a:t>
                </a:r>
                <a:r>
                  <a:rPr lang="zh-CN" altLang="zh-CN" sz="2400" i="1" dirty="0">
                    <a:latin typeface="Times New Roman" panose="02020603050405020304" pitchFamily="18" charset="0"/>
                    <a:cs typeface="Times New Roman" panose="02020603050405020304" pitchFamily="18" charset="0"/>
                  </a:rPr>
                  <a:t>n</a:t>
                </a:r>
                <a:r>
                  <a:rPr lang="zh-CN" altLang="zh-CN" sz="2400" baseline="30000" dirty="0">
                    <a:effectLst/>
                  </a:rPr>
                  <a:t>2</a:t>
                </a:r>
                <a:r>
                  <a:rPr lang="zh-CN" altLang="zh-CN" sz="2400" dirty="0">
                    <a:effectLst/>
                  </a:rPr>
                  <a:t> is even, and hence n is also even. This contradicts the assumption that </a:t>
                </a:r>
                <a14:m>
                  <m:oMath xmlns:m="http://schemas.openxmlformats.org/officeDocument/2006/math">
                    <m:f>
                      <m:fPr>
                        <m:ctrlPr>
                          <a:rPr lang="zh-CN" altLang="zh-CN" sz="2400" i="1" kern="0">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𝒎</m:t>
                        </m:r>
                      </m:num>
                      <m:den>
                        <m:r>
                          <a:rPr lang="en-US" altLang="zh-CN" sz="2400" b="1" i="1">
                            <a:effectLst/>
                            <a:latin typeface="Cambria Math" panose="02040503050406030204" pitchFamily="18" charset="0"/>
                            <a:ea typeface="宋体" panose="02010600030101010101" pitchFamily="2" charset="-122"/>
                            <a:cs typeface="Times New Roman" panose="02020603050405020304" pitchFamily="18" charset="0"/>
                          </a:rPr>
                          <m:t>𝒏</m:t>
                        </m:r>
                      </m:den>
                    </m:f>
                  </m:oMath>
                </a14:m>
                <a:r>
                  <a:rPr lang="zh-CN" altLang="zh-CN" sz="2400" dirty="0">
                    <a:effectLst/>
                    <a:ea typeface="MS Gothic" panose="020B0609070205080204" pitchFamily="49" charset="-128"/>
                    <a:cs typeface="MS Gothic" panose="020B0609070205080204" pitchFamily="49" charset="-128"/>
                  </a:rPr>
                  <a:t>​</a:t>
                </a:r>
                <a:r>
                  <a:rPr lang="zh-CN" altLang="zh-CN" sz="2400" dirty="0">
                    <a:effectLst/>
                  </a:rPr>
                  <a:t> is in lowest terms.</a:t>
                </a:r>
                <a:br>
                  <a:rPr lang="zh-CN" altLang="zh-CN" dirty="0">
                    <a:effectLst/>
                  </a:rPr>
                </a:br>
                <a:endParaRPr lang="zh-CN" altLang="en-US" dirty="0"/>
              </a:p>
            </p:txBody>
          </p:sp>
        </mc:Choice>
        <mc:Fallback xmlns="">
          <p:sp>
            <p:nvSpPr>
              <p:cNvPr id="11" name="文本框 10">
                <a:extLst>
                  <a:ext uri="{FF2B5EF4-FFF2-40B4-BE49-F238E27FC236}">
                    <a16:creationId xmlns:a16="http://schemas.microsoft.com/office/drawing/2014/main" id="{903E8526-1678-499F-B5A0-7257A6A7BCC4}"/>
                  </a:ext>
                </a:extLst>
              </p:cNvPr>
              <p:cNvSpPr txBox="1">
                <a:spLocks noRot="1" noChangeAspect="1" noMove="1" noResize="1" noEditPoints="1" noAdjustHandles="1" noChangeArrowheads="1" noChangeShapeType="1" noTextEdit="1"/>
              </p:cNvSpPr>
              <p:nvPr/>
            </p:nvSpPr>
            <p:spPr>
              <a:xfrm>
                <a:off x="1273628" y="770687"/>
                <a:ext cx="9252857" cy="4182312"/>
              </a:xfrm>
              <a:prstGeom prst="rect">
                <a:avLst/>
              </a:prstGeom>
              <a:blipFill>
                <a:blip r:embed="rId6"/>
                <a:stretch>
                  <a:fillRect l="-1054" r="-1713" b="-1312"/>
                </a:stretch>
              </a:blipFill>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7AA81B26-3A5B-45C8-B202-98FB75C16FAF}"/>
              </a:ext>
            </a:extLst>
          </p:cNvPr>
          <p:cNvPicPr>
            <a:picLocks noChangeAspect="1"/>
          </p:cNvPicPr>
          <p:nvPr/>
        </p:nvPicPr>
        <p:blipFill>
          <a:blip r:embed="rId7"/>
          <a:stretch>
            <a:fillRect/>
          </a:stretch>
        </p:blipFill>
        <p:spPr>
          <a:xfrm>
            <a:off x="1311273" y="957464"/>
            <a:ext cx="577850" cy="241300"/>
          </a:xfrm>
          <a:prstGeom prst="rect">
            <a:avLst/>
          </a:prstGeom>
        </p:spPr>
      </p:pic>
      <p:sp>
        <p:nvSpPr>
          <p:cNvPr id="15" name="文本框 14">
            <a:extLst>
              <a:ext uri="{FF2B5EF4-FFF2-40B4-BE49-F238E27FC236}">
                <a16:creationId xmlns:a16="http://schemas.microsoft.com/office/drawing/2014/main" id="{0F17F55F-AA7E-4C60-AABF-837AB1DDA7D8}"/>
              </a:ext>
            </a:extLst>
          </p:cNvPr>
          <p:cNvSpPr txBox="1"/>
          <p:nvPr/>
        </p:nvSpPr>
        <p:spPr>
          <a:xfrm>
            <a:off x="1311273" y="5086402"/>
            <a:ext cx="9215212" cy="1129341"/>
          </a:xfrm>
          <a:prstGeom prst="rect">
            <a:avLst/>
          </a:prstGeom>
          <a:noFill/>
        </p:spPr>
        <p:txBody>
          <a:bodyPr wrap="square">
            <a:noAutofit/>
          </a:bodyPr>
          <a:lstStyle/>
          <a:p>
            <a:pPr algn="l" latinLnBrk="1"/>
            <a:r>
              <a:rPr lang="en-US" altLang="zh-CN" sz="2400" b="1" i="0" dirty="0">
                <a:effectLst/>
              </a:rPr>
              <a:t>      Proof by Contradiction</a:t>
            </a:r>
            <a:r>
              <a:rPr lang="en-US" altLang="zh-CN" sz="2400" b="0" i="0" dirty="0">
                <a:effectLst/>
              </a:rPr>
              <a:t> is a special form of indirect proof: by showing that the negation of the conclusion leads to the negation of the premise, thereby contradicting the initial assumption.</a:t>
            </a:r>
          </a:p>
          <a:p>
            <a:br>
              <a:rPr lang="en-US" altLang="zh-CN" b="0" i="0" dirty="0">
                <a:effectLst/>
                <a:latin typeface="Roboto" panose="02000000000000000000" pitchFamily="2" charset="0"/>
              </a:rPr>
            </a:br>
            <a:endParaRPr lang="zh-CN" altLang="en-US" dirty="0"/>
          </a:p>
        </p:txBody>
      </p:sp>
      <p:sp>
        <p:nvSpPr>
          <p:cNvPr id="7" name="Rectangle 2">
            <a:extLst>
              <a:ext uri="{FF2B5EF4-FFF2-40B4-BE49-F238E27FC236}">
                <a16:creationId xmlns:a16="http://schemas.microsoft.com/office/drawing/2014/main" id="{064934EF-A5A3-4298-B290-96F354D9DE1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BFFAEF79-DC8A-4C5B-9A06-A6F75A173B88}"/>
              </a:ext>
            </a:extLst>
          </p:cNvPr>
          <p:cNvGraphicFramePr>
            <a:graphicFrameLocks noChangeAspect="1"/>
          </p:cNvGraphicFramePr>
          <p:nvPr>
            <p:extLst>
              <p:ext uri="{D42A27DB-BD31-4B8C-83A1-F6EECF244321}">
                <p14:modId xmlns:p14="http://schemas.microsoft.com/office/powerpoint/2010/main" val="1719568875"/>
              </p:ext>
            </p:extLst>
          </p:nvPr>
        </p:nvGraphicFramePr>
        <p:xfrm>
          <a:off x="1404257" y="5159824"/>
          <a:ext cx="292100" cy="292100"/>
        </p:xfrm>
        <a:graphic>
          <a:graphicData uri="http://schemas.openxmlformats.org/presentationml/2006/ole">
            <mc:AlternateContent xmlns:mc="http://schemas.openxmlformats.org/markup-compatibility/2006">
              <mc:Choice xmlns:v="urn:schemas-microsoft-com:vml" Requires="v">
                <p:oleObj spid="_x0000_s2068" name="Visio" r:id="rId8" imgW="292148" imgH="292233" progId="Visio.Drawing.15">
                  <p:embed/>
                </p:oleObj>
              </mc:Choice>
              <mc:Fallback>
                <p:oleObj name="Visio" r:id="rId8" imgW="292148" imgH="292233" progId="Visio.Drawing.15">
                  <p:embed/>
                  <p:pic>
                    <p:nvPicPr>
                      <p:cNvPr id="0" name="Object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4257" y="5159824"/>
                        <a:ext cx="2921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75240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p>
          <a:p>
            <a:r>
              <a:rPr lang="zh-CN" altLang="en-US" sz="16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16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solidFill>
                  <a:schemeClr val="bg1"/>
                </a:solidFill>
                <a:latin typeface="+mj-lt"/>
                <a:ea typeface="宋体" panose="02010600030101010101" pitchFamily="2" charset="-122"/>
                <a:cs typeface="Times New Roman" panose="02020603050405020304" pitchFamily="18" charset="0"/>
              </a:rPr>
              <a:t>Ind</a:t>
            </a:r>
            <a:r>
              <a:rPr lang="en-US" altLang="zh-CN" sz="2400" b="1" i="0" dirty="0">
                <a:solidFill>
                  <a:schemeClr val="bg1"/>
                </a:solidFill>
                <a:effectLst/>
                <a:latin typeface="+mj-lt"/>
              </a:rPr>
              <a:t>irect Proof Method </a:t>
            </a:r>
            <a:r>
              <a:rPr lang="en-US" altLang="zh-CN" sz="24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latin typeface="+mj-lt"/>
                <a:ea typeface="Cambria Math" panose="02040503050406030204" pitchFamily="18" charset="0"/>
                <a:cs typeface="Times New Roman" panose="02020603050405020304" pitchFamily="18" charset="0"/>
              </a:rPr>
              <a:t> </a:t>
            </a:r>
            <a:r>
              <a:rPr lang="en-US" altLang="zh-CN" sz="2400" b="1" dirty="0">
                <a:latin typeface="+mj-lt"/>
              </a:rPr>
              <a:t>Proof by </a:t>
            </a:r>
            <a:r>
              <a:rPr lang="en-US" altLang="zh-CN" sz="2400" b="1" i="0" dirty="0">
                <a:solidFill>
                  <a:schemeClr val="bg1"/>
                </a:solidFill>
                <a:effectLst/>
                <a:latin typeface="+mj-lt"/>
              </a:rPr>
              <a:t>Exhaustive</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000125" y="765175"/>
            <a:ext cx="9580789"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Definition:</a:t>
            </a:r>
            <a:r>
              <a:rPr lang="en-US" altLang="zh-CN" sz="2400" b="0" i="0" dirty="0">
                <a:solidFill>
                  <a:srgbClr val="0C0D0E"/>
                </a:solidFill>
                <a:effectLst/>
              </a:rPr>
              <a:t> Exhaustive method (also known as the method of exhaustion) is a technique used to prove a proposition by verifying all possible cases. This method is typically applied when the number of possible situations is finite and can be explicitly listed.</a:t>
            </a:r>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Scope of application:</a:t>
            </a:r>
            <a:r>
              <a:rPr lang="en-US" altLang="zh-CN" sz="2400" b="0" i="0" dirty="0">
                <a:solidFill>
                  <a:srgbClr val="0C0D0E"/>
                </a:solidFill>
                <a:effectLst/>
              </a:rPr>
              <a:t> It is suitable for problems where the solution space is small and manageable.</a:t>
            </a:r>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Proof process:</a:t>
            </a:r>
            <a:r>
              <a:rPr lang="en-US" altLang="zh-CN" sz="2400" b="0" i="0" dirty="0">
                <a:solidFill>
                  <a:srgbClr val="0C0D0E"/>
                </a:solidFill>
                <a:effectLst/>
              </a:rPr>
              <a:t> The prover needs to examine each possible case one by one and demonstrate that the proposition holds true in all these situations.</a:t>
            </a:r>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Characteristics:</a:t>
            </a:r>
            <a:r>
              <a:rPr lang="en-US" altLang="zh-CN" sz="2400" b="0" i="0" dirty="0">
                <a:solidFill>
                  <a:srgbClr val="0C0D0E"/>
                </a:solidFill>
                <a:effectLst/>
              </a:rPr>
              <a:t> The key to the exhaustive method lies in its completeness, ensuring that all possible cases are considered. However, it is generally impractical when dealing with a large solution space.</a:t>
            </a:r>
          </a:p>
          <a:p>
            <a:pPr eaLnBrk="1" hangingPunct="1">
              <a:spcBef>
                <a:spcPct val="40000"/>
              </a:spcBef>
              <a:buFontTx/>
              <a:buNone/>
            </a:pPr>
            <a:endParaRPr lang="en-US" altLang="zh-CN" b="1" dirty="0"/>
          </a:p>
        </p:txBody>
      </p:sp>
    </p:spTree>
    <p:extLst>
      <p:ext uri="{BB962C8B-B14F-4D97-AF65-F5344CB8AC3E}">
        <p14:creationId xmlns:p14="http://schemas.microsoft.com/office/powerpoint/2010/main" val="8875840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animEffect transition="in" filter="fade">
                                      <p:cBhvr>
                                        <p:cTn id="14" dur="1000"/>
                                        <p:tgtEl>
                                          <p:spTgt spid="7">
                                            <p:txEl>
                                              <p:pRg st="3" end="3"/>
                                            </p:txEl>
                                          </p:spTgt>
                                        </p:tgtEl>
                                      </p:cBhvr>
                                    </p:animEffect>
                                    <p:anim calcmode="lin" valueType="num">
                                      <p:cBhvr>
                                        <p:cTn id="1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cs typeface="Times New Roman" panose="02020603050405020304" pitchFamily="18" charset="0"/>
              </a:rPr>
              <a:t>                 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solidFill>
                  <a:schemeClr val="bg1"/>
                </a:solidFill>
                <a:latin typeface="+mj-lt"/>
                <a:ea typeface="宋体" panose="02010600030101010101" pitchFamily="2" charset="-122"/>
                <a:cs typeface="Times New Roman" panose="02020603050405020304" pitchFamily="18" charset="0"/>
              </a:rPr>
              <a:t>Ind</a:t>
            </a:r>
            <a:r>
              <a:rPr lang="en-US" altLang="zh-CN" sz="2400" b="1" i="0" dirty="0">
                <a:solidFill>
                  <a:schemeClr val="bg1"/>
                </a:solidFill>
                <a:effectLst/>
                <a:latin typeface="+mj-lt"/>
              </a:rPr>
              <a:t>irect Proof Method </a:t>
            </a:r>
            <a:r>
              <a:rPr lang="en-US" altLang="zh-CN" sz="2400" b="1" dirty="0">
                <a:solidFill>
                  <a:srgbClr val="CFA57C"/>
                </a:solidFill>
                <a:latin typeface="+mj-lt"/>
                <a:ea typeface="宋体" panose="02010600030101010101" pitchFamily="2" charset="-122"/>
                <a:cs typeface="Times New Roman" panose="02020603050405020304" pitchFamily="18" charset="0"/>
              </a:rPr>
              <a:t>•</a:t>
            </a:r>
            <a:r>
              <a:rPr lang="en-US" altLang="zh-CN" sz="2400" b="1" dirty="0">
                <a:latin typeface="+mj-lt"/>
                <a:ea typeface="Cambria Math" panose="02040503050406030204" pitchFamily="18" charset="0"/>
                <a:cs typeface="Times New Roman" panose="02020603050405020304" pitchFamily="18" charset="0"/>
              </a:rPr>
              <a:t> </a:t>
            </a:r>
            <a:r>
              <a:rPr lang="en-US" altLang="zh-CN" sz="2400" b="1" dirty="0">
                <a:latin typeface="+mj-lt"/>
              </a:rPr>
              <a:t>Proof by </a:t>
            </a:r>
            <a:r>
              <a:rPr lang="en-US" altLang="zh-CN" sz="2400" b="1" i="0" dirty="0">
                <a:solidFill>
                  <a:schemeClr val="bg1"/>
                </a:solidFill>
                <a:effectLst/>
                <a:latin typeface="+mj-lt"/>
              </a:rPr>
              <a:t>cases</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000125" y="765175"/>
            <a:ext cx="9842046"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Definition:</a:t>
            </a:r>
            <a:r>
              <a:rPr lang="en-US" altLang="zh-CN" sz="2400" b="0" i="0" dirty="0">
                <a:solidFill>
                  <a:srgbClr val="0C0D0E"/>
                </a:solidFill>
                <a:effectLst/>
              </a:rPr>
              <a:t> </a:t>
            </a:r>
            <a:r>
              <a:rPr lang="en-US" altLang="zh-CN" sz="2400" b="1" dirty="0">
                <a:solidFill>
                  <a:srgbClr val="0B61FF"/>
                </a:solidFill>
              </a:rPr>
              <a:t>Proof by cases </a:t>
            </a:r>
            <a:r>
              <a:rPr lang="en-US" altLang="zh-CN" sz="2400" dirty="0">
                <a:solidFill>
                  <a:srgbClr val="0C0D0E"/>
                </a:solidFill>
              </a:rPr>
              <a:t>is a method where the original problem is decomposed into several smaller</a:t>
            </a:r>
            <a:r>
              <a:rPr lang="en-US" altLang="zh-CN" sz="2400" b="0" i="0" dirty="0">
                <a:solidFill>
                  <a:srgbClr val="0C0D0E"/>
                </a:solidFill>
                <a:effectLst/>
              </a:rPr>
              <a:t>, more manageable sub-problems, each of which is proven individually. The sum of these sub-problems covers all situations of the original problem.</a:t>
            </a:r>
          </a:p>
          <a:p>
            <a:pPr algn="l">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Usage Scenario:</a:t>
            </a:r>
            <a:r>
              <a:rPr lang="en-US" altLang="zh-CN" sz="2400" b="0" i="0" dirty="0">
                <a:solidFill>
                  <a:srgbClr val="0C0D0E"/>
                </a:solidFill>
                <a:effectLst/>
              </a:rPr>
              <a:t> It is applicable when the problem inherently possesses natural classifications or when the solution can be simplified through logical division.</a:t>
            </a:r>
          </a:p>
          <a:p>
            <a:pPr algn="l">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Proof Process:</a:t>
            </a:r>
            <a:r>
              <a:rPr lang="en-US" altLang="zh-CN" sz="2400" b="0" i="0" dirty="0">
                <a:solidFill>
                  <a:srgbClr val="0C0D0E"/>
                </a:solidFill>
                <a:effectLst/>
              </a:rPr>
              <a:t> The prover decomposes the problem into several non-overlapping cases based on different characteristics or conditions and proves the correctness of the proposition for each case individually.</a:t>
            </a:r>
          </a:p>
          <a:p>
            <a:pPr algn="l">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Characteristics:</a:t>
            </a:r>
            <a:r>
              <a:rPr lang="en-US" altLang="zh-CN" sz="2400" b="0" i="0" dirty="0">
                <a:solidFill>
                  <a:srgbClr val="0C0D0E"/>
                </a:solidFill>
                <a:effectLst/>
              </a:rPr>
              <a:t> The focus of proof by cases lies in the effective division of the problem and the independent handling of each sub-case. This method may employ different proof strategies in different situations.</a:t>
            </a:r>
          </a:p>
          <a:p>
            <a:pPr eaLnBrk="1" hangingPunct="1">
              <a:spcBef>
                <a:spcPct val="40000"/>
              </a:spcBef>
              <a:buFontTx/>
              <a:buNone/>
            </a:pPr>
            <a:endParaRPr lang="en-US" altLang="zh-CN" b="1" dirty="0"/>
          </a:p>
        </p:txBody>
      </p:sp>
    </p:spTree>
    <p:extLst>
      <p:ext uri="{BB962C8B-B14F-4D97-AF65-F5344CB8AC3E}">
        <p14:creationId xmlns:p14="http://schemas.microsoft.com/office/powerpoint/2010/main" val="16495275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animEffect transition="in" filter="fade">
                                      <p:cBhvr>
                                        <p:cTn id="14" dur="1000"/>
                                        <p:tgtEl>
                                          <p:spTgt spid="7">
                                            <p:txEl>
                                              <p:pRg st="3" end="3"/>
                                            </p:txEl>
                                          </p:spTgt>
                                        </p:tgtEl>
                                      </p:cBhvr>
                                    </p:animEffect>
                                    <p:anim calcmode="lin" valueType="num">
                                      <p:cBhvr>
                                        <p:cTn id="1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1000"/>
                                        <p:tgtEl>
                                          <p:spTgt spid="7">
                                            <p:txEl>
                                              <p:pRg st="4" end="4"/>
                                            </p:txEl>
                                          </p:spTgt>
                                        </p:tgtEl>
                                      </p:cBhvr>
                                    </p:animEffect>
                                    <p:anim calcmode="lin" valueType="num">
                                      <p:cBhvr>
                                        <p:cTn id="2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800" b="1" dirty="0">
                <a:solidFill>
                  <a:schemeClr val="bg1"/>
                </a:solidFill>
                <a:latin typeface="+mj-lt"/>
                <a:ea typeface="宋体" panose="02010600030101010101" pitchFamily="2" charset="-122"/>
                <a:cs typeface="Times New Roman" panose="02020603050405020304" pitchFamily="18" charset="0"/>
              </a:rPr>
              <a:t>Ind</a:t>
            </a:r>
            <a:r>
              <a:rPr lang="en-US" altLang="zh-CN" sz="2800" b="1" i="0" dirty="0">
                <a:solidFill>
                  <a:schemeClr val="bg1"/>
                </a:solidFill>
                <a:effectLst/>
                <a:latin typeface="+mj-lt"/>
              </a:rPr>
              <a:t>irect Proof Method </a:t>
            </a:r>
            <a:r>
              <a:rPr lang="en-US" altLang="zh-CN" sz="2800" b="1" dirty="0">
                <a:solidFill>
                  <a:srgbClr val="CFA57C"/>
                </a:solidFill>
                <a:latin typeface="+mj-lt"/>
                <a:ea typeface="宋体" panose="02010600030101010101" pitchFamily="2" charset="-122"/>
                <a:cs typeface="Times New Roman" panose="02020603050405020304" pitchFamily="18" charset="0"/>
              </a:rPr>
              <a:t>•</a:t>
            </a:r>
            <a:r>
              <a:rPr lang="en-US" altLang="zh-CN" sz="2800" b="1" dirty="0">
                <a:latin typeface="+mj-lt"/>
                <a:ea typeface="Cambria Math" panose="02040503050406030204" pitchFamily="18" charset="0"/>
                <a:cs typeface="Times New Roman" panose="02020603050405020304" pitchFamily="18" charset="0"/>
              </a:rPr>
              <a:t> </a:t>
            </a:r>
            <a:r>
              <a:rPr lang="en-US" altLang="zh-CN" sz="2800" b="1" dirty="0">
                <a:latin typeface="+mj-lt"/>
              </a:rPr>
              <a:t>Proof by </a:t>
            </a:r>
            <a:r>
              <a:rPr lang="en-US" altLang="zh-CN" sz="3200" b="1" i="0" dirty="0">
                <a:solidFill>
                  <a:schemeClr val="bg1"/>
                </a:solidFill>
                <a:effectLst/>
                <a:latin typeface="+mj-lt"/>
              </a:rPr>
              <a:t>cases(</a:t>
            </a:r>
            <a:r>
              <a:rPr lang="en-US" altLang="zh-CN" sz="3200" b="1" i="0" dirty="0" err="1">
                <a:solidFill>
                  <a:schemeClr val="bg1"/>
                </a:solidFill>
                <a:effectLst/>
                <a:latin typeface="+mj-lt"/>
              </a:rPr>
              <a:t>e.g</a:t>
            </a:r>
            <a:r>
              <a:rPr lang="en-US" altLang="zh-CN" sz="3200" b="1" i="0" dirty="0">
                <a:solidFill>
                  <a:schemeClr val="bg1"/>
                </a:solidFill>
                <a:effectLst/>
                <a:latin typeface="+mj-lt"/>
              </a:rPr>
              <a:t>)</a:t>
            </a:r>
            <a:endParaRPr lang="zh-CN" altLang="en-US" sz="32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991601"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Definition:</a:t>
            </a:r>
            <a:r>
              <a:rPr lang="en-US" altLang="zh-CN" sz="2400" b="0" i="0" dirty="0">
                <a:solidFill>
                  <a:srgbClr val="0C0D0E"/>
                </a:solidFill>
                <a:effectLst/>
              </a:rPr>
              <a:t> The proposition to be proven is of the form </a:t>
            </a:r>
            <a:r>
              <a:rPr lang="zh-CN" altLang="en-US" sz="2400" b="1" dirty="0"/>
              <a:t>= </a:t>
            </a:r>
            <a:r>
              <a:rPr lang="en-US" altLang="zh-CN" sz="2400" b="1" i="1" dirty="0"/>
              <a:t>A</a:t>
            </a:r>
            <a:r>
              <a:rPr lang="zh-CN" altLang="en-US" sz="2400" b="1" baseline="-25000" dirty="0"/>
              <a:t>1</a:t>
            </a:r>
            <a:r>
              <a:rPr lang="en-US" altLang="zh-CN" sz="2400" b="1" dirty="0">
                <a:sym typeface="Symbol" panose="05050102010706020507" pitchFamily="18" charset="2"/>
              </a:rPr>
              <a:t></a:t>
            </a:r>
            <a:r>
              <a:rPr lang="en-US" altLang="zh-CN" sz="2400" b="1" i="1" dirty="0"/>
              <a:t>A</a:t>
            </a:r>
            <a:r>
              <a:rPr lang="en-US" altLang="zh-CN" sz="2400" b="1" baseline="-25000" dirty="0"/>
              <a:t>2</a:t>
            </a:r>
            <a:r>
              <a:rPr lang="en-US" altLang="zh-CN" sz="2400" b="1" dirty="0">
                <a:sym typeface="Symbol" panose="05050102010706020507" pitchFamily="18" charset="2"/>
              </a:rPr>
              <a:t></a:t>
            </a:r>
            <a:r>
              <a:rPr lang="en-US" altLang="zh-CN" sz="2400" b="1" dirty="0">
                <a:cs typeface="Times New Roman" panose="02020603050405020304" pitchFamily="18" charset="0"/>
              </a:rPr>
              <a:t>…</a:t>
            </a:r>
            <a:r>
              <a:rPr lang="en-US" altLang="zh-CN" sz="2400" b="1" dirty="0">
                <a:sym typeface="Symbol" panose="05050102010706020507" pitchFamily="18" charset="2"/>
              </a:rPr>
              <a:t></a:t>
            </a:r>
            <a:r>
              <a:rPr lang="en-US" altLang="zh-CN" sz="2400" b="1" i="1" dirty="0"/>
              <a:t>A</a:t>
            </a:r>
            <a:r>
              <a:rPr lang="en-US" altLang="zh-CN" sz="2400" b="1" i="1" baseline="-25000" dirty="0"/>
              <a:t>k</a:t>
            </a:r>
            <a:r>
              <a:rPr lang="en-US" altLang="zh-CN" sz="2400" b="1" dirty="0">
                <a:sym typeface="Symbol" panose="05050102010706020507" pitchFamily="18" charset="2"/>
              </a:rPr>
              <a:t> </a:t>
            </a:r>
            <a:r>
              <a:rPr lang="en-US" altLang="zh-CN" sz="2400" b="1" i="1" dirty="0">
                <a:cs typeface="Times New Roman" panose="02020603050405020304" pitchFamily="18" charset="0"/>
              </a:rPr>
              <a:t>B</a:t>
            </a:r>
            <a:r>
              <a:rPr lang="en-US" altLang="zh-CN" sz="2400" b="0" i="0" dirty="0">
                <a:solidFill>
                  <a:srgbClr val="0C0D0E"/>
                </a:solidFill>
                <a:effectLst/>
              </a:rPr>
              <a:t>.</a:t>
            </a:r>
          </a:p>
          <a:p>
            <a:pPr algn="l">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Method:</a:t>
            </a:r>
            <a:r>
              <a:rPr lang="en-US" altLang="zh-CN" sz="2400" b="0" i="0" dirty="0">
                <a:solidFill>
                  <a:srgbClr val="0C0D0E"/>
                </a:solidFill>
                <a:effectLst/>
              </a:rPr>
              <a:t> Prove that </a:t>
            </a:r>
            <a:r>
              <a:rPr lang="en-US" altLang="zh-CN" sz="2400" b="1" i="1" dirty="0"/>
              <a:t>A</a:t>
            </a:r>
            <a:r>
              <a:rPr lang="en-US" altLang="zh-CN" sz="2400" b="1" baseline="-25000" dirty="0"/>
              <a:t>1</a:t>
            </a:r>
            <a:r>
              <a:rPr lang="en-US" altLang="zh-CN" sz="2400" b="1" dirty="0">
                <a:sym typeface="Symbol" panose="05050102010706020507" pitchFamily="18" charset="2"/>
              </a:rPr>
              <a:t></a:t>
            </a:r>
            <a:r>
              <a:rPr lang="en-US" altLang="zh-CN" sz="2400" b="1" i="1" dirty="0">
                <a:cs typeface="Times New Roman" panose="02020603050405020304" pitchFamily="18" charset="0"/>
              </a:rPr>
              <a:t>B, </a:t>
            </a:r>
            <a:r>
              <a:rPr lang="en-US" altLang="zh-CN" sz="2400" b="1" i="1" dirty="0"/>
              <a:t>A</a:t>
            </a:r>
            <a:r>
              <a:rPr lang="en-US" altLang="zh-CN" sz="2400" b="1" baseline="-25000" dirty="0"/>
              <a:t>2</a:t>
            </a:r>
            <a:r>
              <a:rPr lang="en-US" altLang="zh-CN" sz="2400" b="1" dirty="0">
                <a:sym typeface="Symbol" panose="05050102010706020507" pitchFamily="18" charset="2"/>
              </a:rPr>
              <a:t></a:t>
            </a:r>
            <a:r>
              <a:rPr lang="en-US" altLang="zh-CN" sz="2400" b="1" i="1" dirty="0">
                <a:cs typeface="Times New Roman" panose="02020603050405020304" pitchFamily="18" charset="0"/>
              </a:rPr>
              <a:t>B,</a:t>
            </a:r>
            <a:r>
              <a:rPr lang="en-US" altLang="zh-CN" sz="2400" b="1" dirty="0">
                <a:cs typeface="Times New Roman" panose="02020603050405020304" pitchFamily="18" charset="0"/>
              </a:rPr>
              <a:t>…,</a:t>
            </a:r>
            <a:r>
              <a:rPr lang="en-US" altLang="zh-CN" sz="2400" b="1" i="1" dirty="0">
                <a:cs typeface="Times New Roman" panose="02020603050405020304" pitchFamily="18" charset="0"/>
              </a:rPr>
              <a:t> </a:t>
            </a:r>
            <a:r>
              <a:rPr lang="en-US" altLang="zh-CN" sz="2400" b="1" i="1" dirty="0" err="1"/>
              <a:t>A</a:t>
            </a:r>
            <a:r>
              <a:rPr lang="en-US" altLang="zh-CN" sz="2400" b="1" i="1" baseline="-25000" dirty="0" err="1"/>
              <a:t>k</a:t>
            </a:r>
            <a:r>
              <a:rPr lang="en-US" altLang="zh-CN" sz="2400" b="1" dirty="0" err="1">
                <a:sym typeface="Symbol" panose="05050102010706020507" pitchFamily="18" charset="2"/>
              </a:rPr>
              <a:t></a:t>
            </a:r>
            <a:r>
              <a:rPr lang="en-US" altLang="zh-CN" sz="2400" b="1" i="1" dirty="0" err="1">
                <a:cs typeface="Times New Roman" panose="02020603050405020304" pitchFamily="18" charset="0"/>
              </a:rPr>
              <a:t>B</a:t>
            </a:r>
            <a:r>
              <a:rPr lang="en-US" altLang="zh-CN" sz="2400" b="1" i="1" dirty="0">
                <a:cs typeface="Times New Roman" panose="02020603050405020304" pitchFamily="18" charset="0"/>
              </a:rPr>
              <a:t> </a:t>
            </a:r>
            <a:r>
              <a:rPr lang="en-US" altLang="zh-CN" sz="2400" b="0" i="0" dirty="0">
                <a:solidFill>
                  <a:srgbClr val="0C0D0E"/>
                </a:solidFill>
                <a:effectLst/>
              </a:rPr>
              <a:t>are all true.</a:t>
            </a:r>
          </a:p>
          <a:p>
            <a:pPr marL="0" indent="0" algn="l">
              <a:lnSpc>
                <a:spcPct val="110000"/>
              </a:lnSpc>
              <a:spcBef>
                <a:spcPts val="0"/>
              </a:spcBef>
              <a:buNone/>
            </a:pPr>
            <a:endParaRPr lang="en-US" altLang="zh-CN" sz="2400" dirty="0">
              <a:solidFill>
                <a:srgbClr val="0C0D0E"/>
              </a:solidFill>
            </a:endParaRPr>
          </a:p>
          <a:p>
            <a:pPr marL="0" indent="0" algn="l">
              <a:lnSpc>
                <a:spcPct val="110000"/>
              </a:lnSpc>
              <a:spcBef>
                <a:spcPts val="0"/>
              </a:spcBef>
              <a:buNone/>
            </a:pPr>
            <a:r>
              <a:rPr lang="en-US" altLang="zh-CN" sz="2400" b="1" i="0" dirty="0">
                <a:solidFill>
                  <a:srgbClr val="0C0D0E"/>
                </a:solidFill>
                <a:effectLst/>
              </a:rPr>
              <a:t>       Example 5:</a:t>
            </a:r>
            <a:r>
              <a:rPr lang="en-US" altLang="zh-CN" sz="2400" b="0" i="0" dirty="0">
                <a:solidFill>
                  <a:srgbClr val="0C0D0E"/>
                </a:solidFill>
                <a:effectLst/>
              </a:rPr>
              <a:t> Prove that max⁡(</a:t>
            </a:r>
            <a:r>
              <a:rPr lang="en-US" altLang="zh-CN" sz="2400" b="0" i="0" dirty="0" err="1">
                <a:solidFill>
                  <a:srgbClr val="0C0D0E"/>
                </a:solidFill>
                <a:effectLst/>
              </a:rPr>
              <a:t>a,max</a:t>
            </a:r>
            <a:r>
              <a:rPr lang="en-US" altLang="zh-CN" sz="2400" b="0" i="0" dirty="0">
                <a:solidFill>
                  <a:srgbClr val="0C0D0E"/>
                </a:solidFill>
                <a:effectLst/>
              </a:rPr>
              <a:t>⁡(</a:t>
            </a:r>
            <a:r>
              <a:rPr lang="en-US" altLang="zh-CN" sz="2400" b="0" i="0" dirty="0" err="1">
                <a:solidFill>
                  <a:srgbClr val="0C0D0E"/>
                </a:solidFill>
                <a:effectLst/>
              </a:rPr>
              <a:t>b,c</a:t>
            </a:r>
            <a:r>
              <a:rPr lang="en-US" altLang="zh-CN" sz="2400" b="0" i="0" dirty="0">
                <a:solidFill>
                  <a:srgbClr val="0C0D0E"/>
                </a:solidFill>
                <a:effectLst/>
              </a:rPr>
              <a:t>))=max⁡(max⁡(</a:t>
            </a:r>
            <a:r>
              <a:rPr lang="en-US" altLang="zh-CN" sz="2400" b="0" i="0" dirty="0" err="1">
                <a:solidFill>
                  <a:srgbClr val="0C0D0E"/>
                </a:solidFill>
                <a:effectLst/>
              </a:rPr>
              <a:t>a,b</a:t>
            </a:r>
            <a:r>
              <a:rPr lang="en-US" altLang="zh-CN" sz="2400" b="0" i="0" dirty="0">
                <a:solidFill>
                  <a:srgbClr val="0C0D0E"/>
                </a:solidFill>
                <a:effectLst/>
              </a:rPr>
              <a:t>),c).</a:t>
            </a:r>
            <a:br>
              <a:rPr lang="en-US" altLang="zh-CN" sz="2400" b="0" i="0" dirty="0">
                <a:solidFill>
                  <a:srgbClr val="0C0D0E"/>
                </a:solidFill>
                <a:effectLst/>
              </a:rPr>
            </a:br>
            <a:r>
              <a:rPr lang="en-US" altLang="zh-CN" sz="2400" b="1" i="0" dirty="0">
                <a:solidFill>
                  <a:srgbClr val="0C0D0E"/>
                </a:solidFill>
                <a:effectLst/>
              </a:rPr>
              <a:t>Proof:</a:t>
            </a:r>
            <a:endParaRPr lang="zh-CN" altLang="en-US" sz="2800" b="1" dirty="0"/>
          </a:p>
        </p:txBody>
      </p:sp>
      <p:graphicFrame>
        <p:nvGraphicFramePr>
          <p:cNvPr id="8" name="表格 7">
            <a:extLst>
              <a:ext uri="{FF2B5EF4-FFF2-40B4-BE49-F238E27FC236}">
                <a16:creationId xmlns:a16="http://schemas.microsoft.com/office/drawing/2014/main" id="{D974D2D6-EE67-4ADC-ADD9-64192D2289C8}"/>
              </a:ext>
            </a:extLst>
          </p:cNvPr>
          <p:cNvGraphicFramePr>
            <a:graphicFrameLocks noGrp="1"/>
          </p:cNvGraphicFramePr>
          <p:nvPr>
            <p:extLst>
              <p:ext uri="{D42A27DB-BD31-4B8C-83A1-F6EECF244321}">
                <p14:modId xmlns:p14="http://schemas.microsoft.com/office/powerpoint/2010/main" val="1232146724"/>
              </p:ext>
            </p:extLst>
          </p:nvPr>
        </p:nvGraphicFramePr>
        <p:xfrm>
          <a:off x="2341470" y="3341188"/>
          <a:ext cx="6738937" cy="2878136"/>
        </p:xfrm>
        <a:graphic>
          <a:graphicData uri="http://schemas.openxmlformats.org/drawingml/2006/table">
            <a:tbl>
              <a:tblPr/>
              <a:tblGrid>
                <a:gridCol w="1347787">
                  <a:extLst>
                    <a:ext uri="{9D8B030D-6E8A-4147-A177-3AD203B41FA5}">
                      <a16:colId xmlns:a16="http://schemas.microsoft.com/office/drawing/2014/main" val="3383044761"/>
                    </a:ext>
                  </a:extLst>
                </a:gridCol>
                <a:gridCol w="1347788">
                  <a:extLst>
                    <a:ext uri="{9D8B030D-6E8A-4147-A177-3AD203B41FA5}">
                      <a16:colId xmlns:a16="http://schemas.microsoft.com/office/drawing/2014/main" val="3632497399"/>
                    </a:ext>
                  </a:extLst>
                </a:gridCol>
                <a:gridCol w="1347787">
                  <a:extLst>
                    <a:ext uri="{9D8B030D-6E8A-4147-A177-3AD203B41FA5}">
                      <a16:colId xmlns:a16="http://schemas.microsoft.com/office/drawing/2014/main" val="2699851851"/>
                    </a:ext>
                  </a:extLst>
                </a:gridCol>
                <a:gridCol w="1347788">
                  <a:extLst>
                    <a:ext uri="{9D8B030D-6E8A-4147-A177-3AD203B41FA5}">
                      <a16:colId xmlns:a16="http://schemas.microsoft.com/office/drawing/2014/main" val="507766280"/>
                    </a:ext>
                  </a:extLst>
                </a:gridCol>
                <a:gridCol w="1347787">
                  <a:extLst>
                    <a:ext uri="{9D8B030D-6E8A-4147-A177-3AD203B41FA5}">
                      <a16:colId xmlns:a16="http://schemas.microsoft.com/office/drawing/2014/main" val="1093375094"/>
                    </a:ext>
                  </a:extLst>
                </a:gridCol>
              </a:tblGrid>
              <a:tr h="500174">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情况</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u=</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max(</a:t>
                      </a:r>
                      <a:r>
                        <a:rPr kumimoji="1"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b,c</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max(</a:t>
                      </a:r>
                      <a:r>
                        <a:rPr kumimoji="1"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a,u</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v=</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max(</a:t>
                      </a:r>
                      <a:r>
                        <a:rPr kumimoji="1"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a,b</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max(</a:t>
                      </a:r>
                      <a:r>
                        <a:rPr kumimoji="1" lang="en-US" altLang="zh-CN" sz="2000" b="1" i="1"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rPr>
                        <a:t>v,c</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785484718"/>
                  </a:ext>
                </a:extLst>
              </a:tr>
              <a:tr h="396327">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3072723128"/>
                  </a:ext>
                </a:extLst>
              </a:tr>
              <a:tr h="396327">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2330075405"/>
                  </a:ext>
                </a:extLst>
              </a:tr>
              <a:tr h="396327">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941804489"/>
                  </a:ext>
                </a:extLst>
              </a:tr>
              <a:tr h="396327">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c</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958683234"/>
                  </a:ext>
                </a:extLst>
              </a:tr>
              <a:tr h="396327">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b</a:t>
                      </a:r>
                      <a:endPar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endParaRPr kumimoji="1" lang="zh-CN" altLang="en-US"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2198283812"/>
                  </a:ext>
                </a:extLst>
              </a:tr>
              <a:tr h="396327">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c</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a</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b</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 </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lumMod val="20000"/>
                        <a:lumOff val="80000"/>
                      </a:schemeClr>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a:t>
                      </a:r>
                      <a:endParaRPr kumimoji="1" lang="zh-CN" altLang="en-US"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endParaRPr>
                    </a:p>
                  </a:txBody>
                  <a:tcPr marT="45730" marB="4573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3033093608"/>
                  </a:ext>
                </a:extLst>
              </a:tr>
            </a:tbl>
          </a:graphicData>
        </a:graphic>
      </p:graphicFrame>
      <p:pic>
        <p:nvPicPr>
          <p:cNvPr id="9" name="图片 8">
            <a:extLst>
              <a:ext uri="{FF2B5EF4-FFF2-40B4-BE49-F238E27FC236}">
                <a16:creationId xmlns:a16="http://schemas.microsoft.com/office/drawing/2014/main" id="{D886D584-BE86-4CBD-A6AC-9C7EE7B23523}"/>
              </a:ext>
            </a:extLst>
          </p:cNvPr>
          <p:cNvPicPr>
            <a:picLocks noChangeAspect="1"/>
          </p:cNvPicPr>
          <p:nvPr/>
        </p:nvPicPr>
        <p:blipFill>
          <a:blip r:embed="rId5"/>
          <a:stretch>
            <a:fillRect/>
          </a:stretch>
        </p:blipFill>
        <p:spPr>
          <a:xfrm>
            <a:off x="1311273" y="2590319"/>
            <a:ext cx="577850" cy="241300"/>
          </a:xfrm>
          <a:prstGeom prst="rect">
            <a:avLst/>
          </a:prstGeom>
        </p:spPr>
      </p:pic>
    </p:spTree>
    <p:extLst>
      <p:ext uri="{BB962C8B-B14F-4D97-AF65-F5344CB8AC3E}">
        <p14:creationId xmlns:p14="http://schemas.microsoft.com/office/powerpoint/2010/main" val="3014840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chemeClr val="bg1"/>
                </a:solidFill>
                <a:effectLst/>
                <a:latin typeface="+mj-lt"/>
              </a:rPr>
              <a:t>Constructive Proof Method</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9644744"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Definition:</a:t>
            </a:r>
            <a:r>
              <a:rPr lang="en-US" altLang="zh-CN" sz="2400" b="0" i="0" dirty="0">
                <a:solidFill>
                  <a:srgbClr val="0C0D0E"/>
                </a:solidFill>
                <a:effectLst/>
              </a:rPr>
              <a:t> A proof by construction involves creating a specific example or object to prove the truth of a proposition. This method is typically used for "existence proofs."</a:t>
            </a:r>
          </a:p>
          <a:p>
            <a:pPr algn="l">
              <a:lnSpc>
                <a:spcPct val="120000"/>
              </a:lnSpc>
              <a:spcBef>
                <a:spcPts val="0"/>
              </a:spcBef>
              <a:buClr>
                <a:srgbClr val="0B61FF"/>
              </a:buClr>
              <a:buSzPct val="90000"/>
              <a:buFont typeface="Wingdings" panose="05000000000000000000" pitchFamily="2" charset="2"/>
              <a:buChar char="n"/>
            </a:pPr>
            <a:r>
              <a:rPr lang="en-US" altLang="zh-CN" sz="2400" b="1" i="0" dirty="0">
                <a:solidFill>
                  <a:srgbClr val="0C0D0E"/>
                </a:solidFill>
                <a:effectLst/>
              </a:rPr>
              <a:t>Method:</a:t>
            </a:r>
            <a:r>
              <a:rPr lang="en-US" altLang="zh-CN" sz="2400" b="0" i="0" dirty="0">
                <a:solidFill>
                  <a:srgbClr val="0C0D0E"/>
                </a:solidFill>
                <a:effectLst/>
              </a:rPr>
              <a:t> Under the condition that A is true, construct an object with this property.</a:t>
            </a:r>
          </a:p>
          <a:p>
            <a:pPr algn="l">
              <a:lnSpc>
                <a:spcPct val="120000"/>
              </a:lnSpc>
              <a:spcBef>
                <a:spcPts val="0"/>
              </a:spcBef>
              <a:buClr>
                <a:srgbClr val="0B61FF"/>
              </a:buClr>
              <a:buSzPct val="90000"/>
              <a:buFont typeface="Wingdings" panose="05000000000000000000" pitchFamily="2" charset="2"/>
              <a:buChar char="n"/>
            </a:pPr>
            <a:endParaRPr lang="en-US" altLang="zh-CN" sz="2400" b="0" i="0" dirty="0">
              <a:solidFill>
                <a:srgbClr val="0C0D0E"/>
              </a:solidFill>
              <a:effectLst/>
            </a:endParaRPr>
          </a:p>
          <a:p>
            <a:pPr marL="0" indent="0" algn="l">
              <a:lnSpc>
                <a:spcPct val="120000"/>
              </a:lnSpc>
              <a:spcBef>
                <a:spcPts val="0"/>
              </a:spcBef>
              <a:buNone/>
            </a:pPr>
            <a:r>
              <a:rPr lang="en-US" altLang="zh-CN" sz="2400" b="1" i="0" dirty="0">
                <a:solidFill>
                  <a:srgbClr val="0C0D0E"/>
                </a:solidFill>
                <a:effectLst/>
              </a:rPr>
              <a:t>        Example 6:</a:t>
            </a:r>
            <a:r>
              <a:rPr lang="en-US" altLang="zh-CN" sz="2400" b="0" i="0" dirty="0">
                <a:solidFill>
                  <a:srgbClr val="0C0D0E"/>
                </a:solidFill>
                <a:effectLst/>
              </a:rPr>
              <a:t> For every positive integer n, there exist n consecutive positive composite numbers.</a:t>
            </a:r>
          </a:p>
          <a:p>
            <a:pPr marL="0" indent="0" algn="l">
              <a:lnSpc>
                <a:spcPct val="120000"/>
              </a:lnSpc>
              <a:spcBef>
                <a:spcPts val="0"/>
              </a:spcBef>
              <a:buNone/>
            </a:pPr>
            <a:r>
              <a:rPr lang="en-US" altLang="zh-CN" sz="2400" b="1" i="0" dirty="0">
                <a:solidFill>
                  <a:srgbClr val="0C0D0E"/>
                </a:solidFill>
                <a:effectLst/>
              </a:rPr>
              <a:t>Proof:</a:t>
            </a:r>
            <a:r>
              <a:rPr lang="en-US" altLang="zh-CN" sz="2400" b="0" i="0" dirty="0">
                <a:solidFill>
                  <a:srgbClr val="0C0D0E"/>
                </a:solidFill>
                <a:effectLst/>
              </a:rPr>
              <a:t> Let x=(n+1)!.</a:t>
            </a:r>
            <a:br>
              <a:rPr lang="en-US" altLang="zh-CN" sz="2400" b="0" i="0" dirty="0">
                <a:solidFill>
                  <a:srgbClr val="0C0D0E"/>
                </a:solidFill>
                <a:effectLst/>
              </a:rPr>
            </a:br>
            <a:r>
              <a:rPr lang="en-US" altLang="zh-CN" sz="2400" b="0" i="0" dirty="0">
                <a:solidFill>
                  <a:srgbClr val="0C0D0E"/>
                </a:solidFill>
                <a:effectLst/>
              </a:rPr>
              <a:t>Then x+2,x+3,…,x+n+1 are n consecutive positive composite numbers:</a:t>
            </a:r>
          </a:p>
          <a:p>
            <a:pPr marL="0" indent="0" algn="l">
              <a:lnSpc>
                <a:spcPct val="120000"/>
              </a:lnSpc>
              <a:spcBef>
                <a:spcPts val="0"/>
              </a:spcBef>
              <a:buNone/>
            </a:pPr>
            <a:r>
              <a:rPr lang="en-US" altLang="zh-CN" sz="2400" b="0" i="0" dirty="0">
                <a:solidFill>
                  <a:srgbClr val="0C0D0E"/>
                </a:solidFill>
                <a:effectLst/>
              </a:rPr>
              <a:t>For </a:t>
            </a:r>
            <a:r>
              <a:rPr lang="en-US" altLang="zh-CN" sz="2400" b="0" i="0" dirty="0" err="1">
                <a:solidFill>
                  <a:srgbClr val="0C0D0E"/>
                </a:solidFill>
                <a:effectLst/>
              </a:rPr>
              <a:t>i</a:t>
            </a:r>
            <a:r>
              <a:rPr lang="en-US" altLang="zh-CN" sz="2400" b="0" i="0" dirty="0">
                <a:solidFill>
                  <a:srgbClr val="0C0D0E"/>
                </a:solidFill>
                <a:effectLst/>
              </a:rPr>
              <a:t>=2,3,…,n+1, </a:t>
            </a:r>
            <a:r>
              <a:rPr lang="en-US" altLang="zh-CN" sz="2400" b="0" i="0" dirty="0" err="1">
                <a:solidFill>
                  <a:srgbClr val="0C0D0E"/>
                </a:solidFill>
                <a:effectLst/>
              </a:rPr>
              <a:t>x+i</a:t>
            </a:r>
            <a:r>
              <a:rPr lang="en-US" altLang="zh-CN" sz="2400" b="0" i="0" dirty="0">
                <a:solidFill>
                  <a:srgbClr val="0C0D0E"/>
                </a:solidFill>
                <a:effectLst/>
              </a:rPr>
              <a:t> is composite.</a:t>
            </a:r>
          </a:p>
        </p:txBody>
      </p:sp>
      <p:pic>
        <p:nvPicPr>
          <p:cNvPr id="8" name="图片 7">
            <a:extLst>
              <a:ext uri="{FF2B5EF4-FFF2-40B4-BE49-F238E27FC236}">
                <a16:creationId xmlns:a16="http://schemas.microsoft.com/office/drawing/2014/main" id="{0B7DAF71-556D-45E3-8419-9483AB08CF75}"/>
              </a:ext>
            </a:extLst>
          </p:cNvPr>
          <p:cNvPicPr>
            <a:picLocks noChangeAspect="1"/>
          </p:cNvPicPr>
          <p:nvPr/>
        </p:nvPicPr>
        <p:blipFill>
          <a:blip r:embed="rId5"/>
          <a:stretch>
            <a:fillRect/>
          </a:stretch>
        </p:blipFill>
        <p:spPr>
          <a:xfrm>
            <a:off x="1420133" y="3646239"/>
            <a:ext cx="577850" cy="241300"/>
          </a:xfrm>
          <a:prstGeom prst="rect">
            <a:avLst/>
          </a:prstGeom>
        </p:spPr>
      </p:pic>
    </p:spTree>
    <p:extLst>
      <p:ext uri="{BB962C8B-B14F-4D97-AF65-F5344CB8AC3E}">
        <p14:creationId xmlns:p14="http://schemas.microsoft.com/office/powerpoint/2010/main" val="15148945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1300"/>
                                        <p:tgtEl>
                                          <p:spTgt spid="7">
                                            <p:txEl>
                                              <p:pRg st="4" end="4"/>
                                            </p:txEl>
                                          </p:spTgt>
                                        </p:tgtEl>
                                      </p:cBhvr>
                                    </p:animEffect>
                                    <p:anim calcmode="lin" valueType="num">
                                      <p:cBhvr>
                                        <p:cTn id="13" dur="13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4" dur="13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fade">
                                      <p:cBhvr>
                                        <p:cTn id="19" dur="1000"/>
                                        <p:tgtEl>
                                          <p:spTgt spid="7">
                                            <p:txEl>
                                              <p:pRg st="5" end="5"/>
                                            </p:txEl>
                                          </p:spTgt>
                                        </p:tgtEl>
                                      </p:cBhvr>
                                    </p:animEffect>
                                    <p:anim calcmode="lin" valueType="num">
                                      <p:cBhvr>
                                        <p:cTn id="2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1000"/>
                                        <p:tgtEl>
                                          <p:spTgt spid="7">
                                            <p:txEl>
                                              <p:pRg st="6" end="6"/>
                                            </p:txEl>
                                          </p:spTgt>
                                        </p:tgtEl>
                                      </p:cBhvr>
                                    </p:animEffect>
                                    <p:anim calcmode="lin" valueType="num">
                                      <p:cBhvr>
                                        <p:cTn id="2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cs typeface="Times New Roman" panose="02020603050405020304" pitchFamily="18" charset="0"/>
              </a:rPr>
              <a:t>                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chemeClr val="bg1"/>
                </a:solidFill>
                <a:effectLst/>
                <a:latin typeface="+mj-lt"/>
              </a:rPr>
              <a:t>Non</a:t>
            </a:r>
            <a:r>
              <a:rPr lang="en-US" altLang="zh-CN" sz="2400" b="1" i="0" dirty="0">
                <a:solidFill>
                  <a:srgbClr val="0C0D0E"/>
                </a:solidFill>
                <a:effectLst/>
                <a:latin typeface="+mj-lt"/>
              </a:rPr>
              <a:t>-</a:t>
            </a:r>
            <a:r>
              <a:rPr lang="en-US" altLang="zh-CN" sz="2400" b="1" i="0" dirty="0">
                <a:solidFill>
                  <a:schemeClr val="bg1"/>
                </a:solidFill>
                <a:effectLst/>
                <a:latin typeface="+mj-lt"/>
              </a:rPr>
              <a:t>Constructive Proof Method</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000125" y="765175"/>
            <a:ext cx="10191750"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10000"/>
              </a:lnSpc>
              <a:spcBef>
                <a:spcPts val="0"/>
              </a:spcBef>
              <a:buClr>
                <a:srgbClr val="0B61FF"/>
              </a:buClr>
              <a:buSzPct val="80000"/>
              <a:buFont typeface="Wingdings" panose="05000000000000000000" pitchFamily="2" charset="2"/>
              <a:buChar char="n"/>
            </a:pPr>
            <a:r>
              <a:rPr lang="en-US" altLang="zh-CN" b="1" i="0" dirty="0">
                <a:solidFill>
                  <a:srgbClr val="0C0D0E"/>
                </a:solidFill>
                <a:effectLst/>
                <a:latin typeface="-apple-system"/>
              </a:rPr>
              <a:t>Constructive Proof:</a:t>
            </a:r>
            <a:r>
              <a:rPr lang="en-US" altLang="zh-CN" b="0" i="0" dirty="0">
                <a:solidFill>
                  <a:srgbClr val="0C0D0E"/>
                </a:solidFill>
                <a:effectLst/>
                <a:latin typeface="-apple-system"/>
              </a:rPr>
              <a:t> A constructive proof provides one or more specific instances or examples to prove a proposition. It is applicable when demonstrating that there exist particular objects or numbers that satisfy certain conditions.</a:t>
            </a:r>
          </a:p>
          <a:p>
            <a:pPr algn="l">
              <a:lnSpc>
                <a:spcPct val="110000"/>
              </a:lnSpc>
              <a:spcBef>
                <a:spcPts val="0"/>
              </a:spcBef>
              <a:buClr>
                <a:srgbClr val="0B61FF"/>
              </a:buClr>
              <a:buSzPct val="80000"/>
              <a:buFont typeface="Wingdings" panose="05000000000000000000" pitchFamily="2" charset="2"/>
              <a:buChar char="n"/>
            </a:pPr>
            <a:r>
              <a:rPr lang="en-US" altLang="zh-CN" b="1" i="0" dirty="0">
                <a:solidFill>
                  <a:srgbClr val="0C0D0E"/>
                </a:solidFill>
                <a:effectLst/>
                <a:latin typeface="-apple-system"/>
              </a:rPr>
              <a:t>Non-Constructive Proof:</a:t>
            </a:r>
            <a:r>
              <a:rPr lang="en-US" altLang="zh-CN" b="0" i="0" dirty="0">
                <a:solidFill>
                  <a:srgbClr val="0C0D0E"/>
                </a:solidFill>
                <a:effectLst/>
                <a:latin typeface="-apple-system"/>
              </a:rPr>
              <a:t> A non-constructive proof establishes the truth of a proposition without directly presenting specific examples. This method often relies on logical reasoning, existing theories, or theorems, or employs techniques such as proof by contradiction.</a:t>
            </a:r>
          </a:p>
          <a:p>
            <a:pPr algn="l">
              <a:lnSpc>
                <a:spcPct val="110000"/>
              </a:lnSpc>
              <a:spcBef>
                <a:spcPts val="0"/>
              </a:spcBef>
              <a:buClr>
                <a:srgbClr val="0B61FF"/>
              </a:buClr>
              <a:buSzPct val="80000"/>
              <a:buFont typeface="Wingdings" panose="05000000000000000000" pitchFamily="2" charset="2"/>
              <a:buChar char="n"/>
            </a:pPr>
            <a:r>
              <a:rPr lang="en-US" altLang="zh-CN" b="0" i="0" dirty="0">
                <a:solidFill>
                  <a:srgbClr val="0C0D0E"/>
                </a:solidFill>
                <a:effectLst/>
                <a:latin typeface="-apple-system"/>
              </a:rPr>
              <a:t>When it is difficult to directly construct an instance that meets the required conditions, non-constructive proofs allow us to prove the existence of certain entities or the truth of certain propositions.</a:t>
            </a:r>
          </a:p>
          <a:p>
            <a:pPr eaLnBrk="1" hangingPunct="1">
              <a:buFontTx/>
              <a:buNone/>
            </a:pPr>
            <a:endParaRPr lang="en-US" altLang="zh-CN" b="1" dirty="0"/>
          </a:p>
        </p:txBody>
      </p:sp>
    </p:spTree>
    <p:extLst>
      <p:ext uri="{BB962C8B-B14F-4D97-AF65-F5344CB8AC3E}">
        <p14:creationId xmlns:p14="http://schemas.microsoft.com/office/powerpoint/2010/main" val="37133376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3" end="3"/>
                                            </p:txEl>
                                          </p:spTgt>
                                        </p:tgtEl>
                                        <p:attrNameLst>
                                          <p:attrName>style.visibility</p:attrName>
                                        </p:attrNameLst>
                                      </p:cBhvr>
                                      <p:to>
                                        <p:strVal val="visible"/>
                                      </p:to>
                                    </p:set>
                                    <p:animEffect transition="in" filter="fade">
                                      <p:cBhvr>
                                        <p:cTn id="14" dur="1000"/>
                                        <p:tgtEl>
                                          <p:spTgt spid="7">
                                            <p:txEl>
                                              <p:pRg st="3" end="3"/>
                                            </p:txEl>
                                          </p:spTgt>
                                        </p:tgtEl>
                                      </p:cBhvr>
                                    </p:animEffect>
                                    <p:anim calcmode="lin" valueType="num">
                                      <p:cBhvr>
                                        <p:cTn id="1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dirty="0"/>
              <a:t>Vacuous Proof </a:t>
            </a:r>
            <a:r>
              <a:rPr lang="en-US" altLang="zh-CN" sz="2400" b="1" i="0" dirty="0">
                <a:solidFill>
                  <a:schemeClr val="bg1"/>
                </a:solidFill>
                <a:effectLst/>
                <a:latin typeface="+mj-lt"/>
              </a:rPr>
              <a:t>Method (Proof by Vacuity) </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72795"/>
            <a:ext cx="8806544"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lnSpc>
                <a:spcPct val="100000"/>
              </a:lnSpc>
              <a:spcBef>
                <a:spcPts val="0"/>
              </a:spcBef>
              <a:buClr>
                <a:srgbClr val="0B61FF"/>
              </a:buClr>
              <a:buSzPct val="90000"/>
              <a:buFont typeface="Wingdings" panose="05000000000000000000" pitchFamily="2" charset="2"/>
              <a:buChar char="n"/>
            </a:pPr>
            <a:r>
              <a:rPr lang="en-US" altLang="zh-CN" sz="2400" b="0" i="0" dirty="0">
                <a:solidFill>
                  <a:srgbClr val="0C0D0E"/>
                </a:solidFill>
                <a:effectLst/>
              </a:rPr>
              <a:t>A vacuous proof is commonly used to prove statements of the form "All objects satisfying a particular property P also satisfy another property Q" (P→Q). This method is particularly applicable when no objects satisfy the initial property P. In such cases, the statement is considered true because there are no counterexamples to invalidate it.</a:t>
            </a:r>
          </a:p>
          <a:p>
            <a:pPr algn="l">
              <a:lnSpc>
                <a:spcPct val="100000"/>
              </a:lnSpc>
              <a:spcBef>
                <a:spcPts val="0"/>
              </a:spcBef>
              <a:buClr>
                <a:srgbClr val="0B61FF"/>
              </a:buClr>
              <a:buSzPct val="80000"/>
              <a:buFont typeface="Wingdings" panose="05000000000000000000" pitchFamily="2" charset="2"/>
              <a:buChar char="n"/>
            </a:pPr>
            <a:r>
              <a:rPr lang="en-US" altLang="zh-CN" sz="2400" b="0" i="0" dirty="0">
                <a:solidFill>
                  <a:srgbClr val="0C0D0E"/>
                </a:solidFill>
                <a:effectLst/>
              </a:rPr>
              <a:t>A conditional statement P→Q is false only when P is true, and Q is false. Therefore, to prove P→Q is always true using the vacuous proof method, it suffices to show that P is always false.</a:t>
            </a:r>
          </a:p>
          <a:p>
            <a:pPr algn="l">
              <a:lnSpc>
                <a:spcPct val="100000"/>
              </a:lnSpc>
              <a:spcBef>
                <a:spcPts val="0"/>
              </a:spcBef>
              <a:buClr>
                <a:srgbClr val="0B61FF"/>
              </a:buClr>
              <a:buSzPct val="80000"/>
              <a:buFont typeface="Wingdings" panose="05000000000000000000" pitchFamily="2" charset="2"/>
              <a:buChar char="n"/>
            </a:pPr>
            <a:endParaRPr lang="en-US" altLang="zh-CN" sz="2400" b="0" i="0" dirty="0">
              <a:solidFill>
                <a:srgbClr val="0C0D0E"/>
              </a:solidFill>
              <a:effectLst/>
            </a:endParaRPr>
          </a:p>
          <a:p>
            <a:pPr marL="0" indent="0" algn="l">
              <a:lnSpc>
                <a:spcPct val="100000"/>
              </a:lnSpc>
              <a:spcBef>
                <a:spcPts val="0"/>
              </a:spcBef>
              <a:buNone/>
            </a:pPr>
            <a:r>
              <a:rPr lang="en-US" altLang="zh-CN" sz="2400" b="1" i="0" dirty="0">
                <a:solidFill>
                  <a:srgbClr val="0C0D0E"/>
                </a:solidFill>
                <a:effectLst/>
              </a:rPr>
              <a:t>        Example:</a:t>
            </a:r>
            <a:br>
              <a:rPr lang="en-US" altLang="zh-CN" sz="2400" b="0" i="0" dirty="0">
                <a:solidFill>
                  <a:srgbClr val="0C0D0E"/>
                </a:solidFill>
                <a:effectLst/>
              </a:rPr>
            </a:br>
            <a:r>
              <a:rPr lang="en-US" altLang="zh-CN" sz="2400" b="0" i="0" dirty="0">
                <a:solidFill>
                  <a:srgbClr val="0C0D0E"/>
                </a:solidFill>
                <a:effectLst/>
              </a:rPr>
              <a:t>Let n ∈ N. Define P(n): If n &gt; 1, then n² &gt; 1. Prove that P(0) is true.</a:t>
            </a:r>
            <a:br>
              <a:rPr lang="en-US" altLang="zh-CN" sz="2400" b="0" i="0" dirty="0">
                <a:solidFill>
                  <a:srgbClr val="0C0D0E"/>
                </a:solidFill>
                <a:effectLst/>
              </a:rPr>
            </a:br>
            <a:r>
              <a:rPr lang="en-US" altLang="zh-CN" sz="2400" b="0" i="0" dirty="0">
                <a:solidFill>
                  <a:srgbClr val="0C0D0E"/>
                </a:solidFill>
                <a:effectLst/>
              </a:rPr>
              <a:t>P(0): If 0 &gt; 1, then 0² &gt; 1.</a:t>
            </a:r>
            <a:br>
              <a:rPr lang="en-US" altLang="zh-CN" sz="2400" b="0" i="0" dirty="0">
                <a:solidFill>
                  <a:srgbClr val="0C0D0E"/>
                </a:solidFill>
                <a:effectLst/>
              </a:rPr>
            </a:br>
            <a:r>
              <a:rPr lang="en-US" altLang="zh-CN" sz="2400" b="0" i="0" dirty="0">
                <a:solidFill>
                  <a:srgbClr val="0C0D0E"/>
                </a:solidFill>
                <a:effectLst/>
              </a:rPr>
              <a:t>Since the premise 0 &gt; 1 is always false, by the vacuous proof method, we can assert that P(0) is true.</a:t>
            </a:r>
          </a:p>
          <a:p>
            <a:pPr eaLnBrk="1" hangingPunct="1">
              <a:lnSpc>
                <a:spcPct val="100000"/>
              </a:lnSpc>
              <a:spcBef>
                <a:spcPts val="0"/>
              </a:spcBef>
              <a:buFontTx/>
              <a:buNone/>
            </a:pPr>
            <a:endParaRPr lang="en-US" altLang="zh-CN" sz="2400" b="1" dirty="0"/>
          </a:p>
          <a:p>
            <a:pPr eaLnBrk="1" hangingPunct="1">
              <a:buFontTx/>
              <a:buNone/>
            </a:pPr>
            <a:endParaRPr lang="en-US" altLang="zh-CN" sz="2800" b="1" dirty="0">
              <a:solidFill>
                <a:srgbClr val="FF0000"/>
              </a:solidFill>
            </a:endParaRPr>
          </a:p>
        </p:txBody>
      </p:sp>
      <p:pic>
        <p:nvPicPr>
          <p:cNvPr id="8" name="图片 7">
            <a:extLst>
              <a:ext uri="{FF2B5EF4-FFF2-40B4-BE49-F238E27FC236}">
                <a16:creationId xmlns:a16="http://schemas.microsoft.com/office/drawing/2014/main" id="{F9689277-4399-43A2-A5A4-7F85992C9C9E}"/>
              </a:ext>
            </a:extLst>
          </p:cNvPr>
          <p:cNvPicPr>
            <a:picLocks noChangeAspect="1"/>
          </p:cNvPicPr>
          <p:nvPr/>
        </p:nvPicPr>
        <p:blipFill>
          <a:blip r:embed="rId5"/>
          <a:stretch>
            <a:fillRect/>
          </a:stretch>
        </p:blipFill>
        <p:spPr>
          <a:xfrm>
            <a:off x="1420133" y="4604181"/>
            <a:ext cx="577850" cy="241300"/>
          </a:xfrm>
          <a:prstGeom prst="rect">
            <a:avLst/>
          </a:prstGeom>
        </p:spPr>
      </p:pic>
    </p:spTree>
    <p:extLst>
      <p:ext uri="{BB962C8B-B14F-4D97-AF65-F5344CB8AC3E}">
        <p14:creationId xmlns:p14="http://schemas.microsoft.com/office/powerpoint/2010/main" val="3174337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animEffect transition="in" filter="fade">
                                      <p:cBhvr>
                                        <p:cTn id="13" dur="1000"/>
                                        <p:tgtEl>
                                          <p:spTgt spid="7">
                                            <p:txEl>
                                              <p:pRg st="4" end="4"/>
                                            </p:txEl>
                                          </p:spTgt>
                                        </p:tgtEl>
                                      </p:cBhvr>
                                    </p:animEffect>
                                    <p:anim calcmode="lin" valueType="num">
                                      <p:cBhvr>
                                        <p:cTn id="14"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5"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1800" b="1" dirty="0">
                <a:cs typeface="Times New Roman" panose="02020603050405020304" pitchFamily="18" charset="0"/>
              </a:rPr>
              <a:t>1.3 </a:t>
            </a:r>
            <a:r>
              <a:rPr lang="en-US" altLang="zh-CN" sz="1800" b="1" i="0" dirty="0">
                <a:solidFill>
                  <a:schemeClr val="bg1"/>
                </a:solidFill>
                <a:effectLst/>
                <a:latin typeface="+mj-lt"/>
              </a:rPr>
              <a:t>Proof Methods</a:t>
            </a:r>
            <a:endParaRPr lang="en-US" altLang="zh-CN" sz="1800" b="1" dirty="0">
              <a:cs typeface="Times New Roman" panose="02020603050405020304" pitchFamily="18" charset="0"/>
            </a:endParaRPr>
          </a:p>
          <a:p>
            <a:r>
              <a:rPr lang="zh-CN" altLang="en-US" sz="18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1800" b="1" dirty="0">
                <a:solidFill>
                  <a:srgbClr val="CFA57C"/>
                </a:solidFill>
                <a:latin typeface="+mj-lt"/>
                <a:ea typeface="宋体" panose="02010600030101010101" pitchFamily="2" charset="-122"/>
                <a:cs typeface="Times New Roman" panose="02020603050405020304" pitchFamily="18" charset="0"/>
              </a:rPr>
              <a:t>⤷</a:t>
            </a:r>
            <a:r>
              <a:rPr lang="en-US" altLang="zh-CN" sz="2000" b="1" i="0" dirty="0">
                <a:solidFill>
                  <a:srgbClr val="0C0D0E"/>
                </a:solidFill>
                <a:effectLst/>
                <a:latin typeface="-apple-system"/>
              </a:rPr>
              <a:t> </a:t>
            </a:r>
            <a:r>
              <a:rPr lang="en-US" altLang="zh-CN" sz="2400" b="1" i="0" dirty="0">
                <a:solidFill>
                  <a:schemeClr val="bg1"/>
                </a:solidFill>
                <a:effectLst/>
                <a:latin typeface="+mj-lt"/>
              </a:rPr>
              <a:t>Trivial Proof Method </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9655630"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Trivial Proof Method (</a:t>
            </a:r>
            <a:r>
              <a:rPr lang="en-US" altLang="zh-CN" sz="2400" i="0" dirty="0">
                <a:solidFill>
                  <a:srgbClr val="0C0D0E"/>
                </a:solidFill>
                <a:effectLst/>
              </a:rPr>
              <a:t>Proof by Showing the Consequent is True</a:t>
            </a:r>
            <a:r>
              <a:rPr lang="en-US" altLang="zh-CN" sz="2400" b="1" i="0" dirty="0">
                <a:solidFill>
                  <a:srgbClr val="0C0D0E"/>
                </a:solidFill>
                <a:effectLst/>
              </a:rPr>
              <a:t>)</a:t>
            </a:r>
          </a:p>
          <a:p>
            <a:pPr algn="l">
              <a:lnSpc>
                <a:spcPct val="110000"/>
              </a:lnSpc>
              <a:spcBef>
                <a:spcPts val="0"/>
              </a:spcBef>
              <a:buClr>
                <a:srgbClr val="0B61FF"/>
              </a:buClr>
              <a:buSzPct val="80000"/>
              <a:buFont typeface="Wingdings" panose="05000000000000000000" pitchFamily="2" charset="2"/>
              <a:buChar char="n"/>
            </a:pPr>
            <a:r>
              <a:rPr lang="en-US" altLang="zh-CN" sz="2400" b="0" i="0" dirty="0">
                <a:solidFill>
                  <a:srgbClr val="0C0D0E"/>
                </a:solidFill>
                <a:effectLst/>
              </a:rPr>
              <a:t>The trivial proof method is used to prove propositions that are clearly true under specific conditions.</a:t>
            </a:r>
          </a:p>
          <a:p>
            <a:pPr algn="l">
              <a:lnSpc>
                <a:spcPct val="11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Method:</a:t>
            </a:r>
            <a:br>
              <a:rPr lang="en-US" altLang="zh-CN" sz="2400" b="0" i="0" dirty="0">
                <a:solidFill>
                  <a:srgbClr val="0C0D0E"/>
                </a:solidFill>
                <a:effectLst/>
              </a:rPr>
            </a:br>
            <a:r>
              <a:rPr lang="en-US" altLang="zh-CN" sz="2400" b="0" i="0" dirty="0">
                <a:solidFill>
                  <a:srgbClr val="0C0D0E"/>
                </a:solidFill>
                <a:effectLst/>
              </a:rPr>
              <a:t>Prove that </a:t>
            </a:r>
            <a:r>
              <a:rPr lang="en-US" altLang="zh-CN" sz="2400" b="1" i="0" dirty="0">
                <a:solidFill>
                  <a:srgbClr val="0C0D0E"/>
                </a:solidFill>
                <a:effectLst/>
              </a:rPr>
              <a:t>B</a:t>
            </a:r>
            <a:r>
              <a:rPr lang="en-US" altLang="zh-CN" sz="2400" b="0" i="0" dirty="0">
                <a:solidFill>
                  <a:srgbClr val="0C0D0E"/>
                </a:solidFill>
                <a:effectLst/>
              </a:rPr>
              <a:t> is always true, without needing to assume </a:t>
            </a:r>
            <a:r>
              <a:rPr lang="en-US" altLang="zh-CN" sz="2400" b="1" i="0" dirty="0">
                <a:solidFill>
                  <a:srgbClr val="0C0D0E"/>
                </a:solidFill>
                <a:effectLst/>
              </a:rPr>
              <a:t>A</a:t>
            </a:r>
            <a:r>
              <a:rPr lang="en-US" altLang="zh-CN" sz="2400" b="0" i="0" dirty="0">
                <a:solidFill>
                  <a:srgbClr val="0C0D0E"/>
                </a:solidFill>
                <a:effectLst/>
              </a:rPr>
              <a:t> is true.</a:t>
            </a:r>
          </a:p>
          <a:p>
            <a:pPr algn="l">
              <a:lnSpc>
                <a:spcPct val="110000"/>
              </a:lnSpc>
              <a:spcBef>
                <a:spcPts val="0"/>
              </a:spcBef>
            </a:pPr>
            <a:endParaRPr lang="en-US" altLang="zh-CN" sz="2400" b="0" i="0" dirty="0">
              <a:solidFill>
                <a:srgbClr val="0C0D0E"/>
              </a:solidFill>
              <a:effectLst/>
            </a:endParaRPr>
          </a:p>
          <a:p>
            <a:pPr marL="0" indent="0" algn="l">
              <a:lnSpc>
                <a:spcPct val="110000"/>
              </a:lnSpc>
              <a:spcBef>
                <a:spcPts val="0"/>
              </a:spcBef>
              <a:buNone/>
            </a:pPr>
            <a:r>
              <a:rPr lang="en-US" altLang="zh-CN" sz="2400" b="1" i="0" dirty="0">
                <a:solidFill>
                  <a:srgbClr val="0C0D0E"/>
                </a:solidFill>
                <a:effectLst/>
              </a:rPr>
              <a:t>       Example:</a:t>
            </a:r>
            <a:br>
              <a:rPr lang="en-US" altLang="zh-CN" sz="2400" b="0" i="0" dirty="0">
                <a:solidFill>
                  <a:srgbClr val="0C0D0E"/>
                </a:solidFill>
                <a:effectLst/>
              </a:rPr>
            </a:br>
            <a:r>
              <a:rPr lang="en-US" altLang="zh-CN" sz="2400" b="0" i="0" dirty="0">
                <a:solidFill>
                  <a:srgbClr val="0C0D0E"/>
                </a:solidFill>
                <a:effectLst/>
              </a:rPr>
              <a:t>If </a:t>
            </a:r>
            <a:r>
              <a:rPr lang="en-US" altLang="zh-CN" sz="2400" b="0" i="0" dirty="0" err="1">
                <a:solidFill>
                  <a:srgbClr val="0C0D0E"/>
                </a:solidFill>
                <a:effectLst/>
              </a:rPr>
              <a:t>a≤b</a:t>
            </a:r>
            <a:r>
              <a:rPr lang="en-US" altLang="zh-CN" sz="2400" b="0" i="0" dirty="0">
                <a:solidFill>
                  <a:srgbClr val="0C0D0E"/>
                </a:solidFill>
                <a:effectLst/>
              </a:rPr>
              <a:t>, then </a:t>
            </a:r>
            <a:r>
              <a:rPr lang="en-US" altLang="zh-CN" sz="2400" b="1" dirty="0"/>
              <a:t>a</a:t>
            </a:r>
            <a:r>
              <a:rPr lang="en-US" altLang="zh-CN" sz="2400" b="1" baseline="30000" dirty="0"/>
              <a:t>0</a:t>
            </a:r>
            <a:r>
              <a:rPr lang="en-US" altLang="zh-CN" sz="2400" b="1" dirty="0">
                <a:sym typeface="Symbol" panose="05050102010706020507" pitchFamily="18" charset="2"/>
              </a:rPr>
              <a:t>b</a:t>
            </a:r>
            <a:r>
              <a:rPr lang="en-US" altLang="zh-CN" sz="2400" b="1" baseline="30000" dirty="0">
                <a:sym typeface="Symbol" panose="05050102010706020507" pitchFamily="18" charset="2"/>
              </a:rPr>
              <a:t>0</a:t>
            </a:r>
            <a:r>
              <a:rPr lang="en-US" altLang="zh-CN" sz="2400" b="0" i="0" dirty="0">
                <a:solidFill>
                  <a:srgbClr val="0C0D0E"/>
                </a:solidFill>
                <a:effectLst/>
              </a:rPr>
              <a:t>.</a:t>
            </a:r>
          </a:p>
          <a:p>
            <a:pPr marL="0" indent="0" algn="l">
              <a:lnSpc>
                <a:spcPct val="110000"/>
              </a:lnSpc>
              <a:spcBef>
                <a:spcPts val="0"/>
              </a:spcBef>
              <a:buNone/>
            </a:pPr>
            <a:r>
              <a:rPr lang="en-US" altLang="zh-CN" sz="2400" b="1" i="0" dirty="0">
                <a:solidFill>
                  <a:srgbClr val="0C0D0E"/>
                </a:solidFill>
                <a:effectLst/>
              </a:rPr>
              <a:t>Proof:</a:t>
            </a:r>
            <a:br>
              <a:rPr lang="en-US" altLang="zh-CN" sz="2400" b="0" i="0" dirty="0">
                <a:solidFill>
                  <a:srgbClr val="0C0D0E"/>
                </a:solidFill>
                <a:effectLst/>
              </a:rPr>
            </a:br>
            <a:r>
              <a:rPr lang="en-US" altLang="zh-CN" sz="2400" b="0" i="0" dirty="0">
                <a:solidFill>
                  <a:srgbClr val="0C0D0E"/>
                </a:solidFill>
                <a:effectLst/>
              </a:rPr>
              <a:t>Based on a universally accepted mathematical fact, any number raised to the power of 0 equals 1. Therefore, regardless of the size relationship between a and b, both </a:t>
            </a:r>
            <a:r>
              <a:rPr lang="en-US" altLang="zh-CN" sz="2400" b="1" dirty="0"/>
              <a:t>a</a:t>
            </a:r>
            <a:r>
              <a:rPr lang="en-US" altLang="zh-CN" sz="2400" b="1" baseline="30000" dirty="0"/>
              <a:t>0</a:t>
            </a:r>
            <a:r>
              <a:rPr lang="en-US" altLang="zh-CN" sz="2400" b="0" i="0" dirty="0">
                <a:solidFill>
                  <a:srgbClr val="0C0D0E"/>
                </a:solidFill>
                <a:effectLst/>
              </a:rPr>
              <a:t> and </a:t>
            </a:r>
            <a:r>
              <a:rPr lang="en-US" altLang="zh-CN" sz="2400" b="1" dirty="0"/>
              <a:t>a</a:t>
            </a:r>
            <a:r>
              <a:rPr lang="en-US" altLang="zh-CN" sz="2400" b="1" baseline="30000" dirty="0"/>
              <a:t>0</a:t>
            </a:r>
            <a:r>
              <a:rPr lang="en-US" altLang="zh-CN" sz="2400" b="1" dirty="0">
                <a:sym typeface="Symbol" panose="05050102010706020507" pitchFamily="18" charset="2"/>
              </a:rPr>
              <a:t>b</a:t>
            </a:r>
            <a:r>
              <a:rPr lang="en-US" altLang="zh-CN" sz="2400" b="1" baseline="30000" dirty="0">
                <a:sym typeface="Symbol" panose="05050102010706020507" pitchFamily="18" charset="2"/>
              </a:rPr>
              <a:t>0</a:t>
            </a:r>
            <a:r>
              <a:rPr lang="en-US" altLang="zh-CN" sz="2400" b="0" i="0" dirty="0">
                <a:solidFill>
                  <a:srgbClr val="0C0D0E"/>
                </a:solidFill>
                <a:effectLst/>
              </a:rPr>
              <a:t> equal 1. Hence, </a:t>
            </a:r>
            <a:r>
              <a:rPr lang="en-US" altLang="zh-CN" sz="2400" b="1" dirty="0"/>
              <a:t>a</a:t>
            </a:r>
            <a:r>
              <a:rPr lang="en-US" altLang="zh-CN" sz="2400" b="1" baseline="30000" dirty="0"/>
              <a:t>0</a:t>
            </a:r>
            <a:r>
              <a:rPr lang="en-US" altLang="zh-CN" sz="2400" b="1" dirty="0">
                <a:sym typeface="Symbol" panose="05050102010706020507" pitchFamily="18" charset="2"/>
              </a:rPr>
              <a:t>b</a:t>
            </a:r>
            <a:r>
              <a:rPr lang="en-US" altLang="zh-CN" sz="2400" b="1" baseline="30000" dirty="0">
                <a:sym typeface="Symbol" panose="05050102010706020507" pitchFamily="18" charset="2"/>
              </a:rPr>
              <a:t>0</a:t>
            </a:r>
            <a:r>
              <a:rPr lang="en-US" altLang="zh-CN" sz="2400" b="0" i="0" dirty="0">
                <a:solidFill>
                  <a:srgbClr val="0C0D0E"/>
                </a:solidFill>
                <a:effectLst/>
              </a:rPr>
              <a:t>holds.</a:t>
            </a:r>
          </a:p>
          <a:p>
            <a:pPr marL="0" indent="0" algn="l">
              <a:lnSpc>
                <a:spcPct val="110000"/>
              </a:lnSpc>
              <a:spcBef>
                <a:spcPts val="0"/>
              </a:spcBef>
              <a:buClr>
                <a:srgbClr val="0B61FF"/>
              </a:buClr>
              <a:buSzPct val="80000"/>
              <a:buNone/>
            </a:pPr>
            <a:r>
              <a:rPr lang="en-US" altLang="zh-CN" sz="2400" dirty="0">
                <a:solidFill>
                  <a:srgbClr val="0C0D0E"/>
                </a:solidFill>
              </a:rPr>
              <a:t>     </a:t>
            </a:r>
            <a:r>
              <a:rPr lang="en-US" altLang="zh-CN" sz="2400" b="0" i="0" dirty="0">
                <a:solidFill>
                  <a:srgbClr val="0C0D0E"/>
                </a:solidFill>
                <a:effectLst/>
              </a:rPr>
              <a:t>This method often appears in the base case of induction proofs.</a:t>
            </a:r>
          </a:p>
        </p:txBody>
      </p:sp>
      <p:pic>
        <p:nvPicPr>
          <p:cNvPr id="8" name="图片 7">
            <a:extLst>
              <a:ext uri="{FF2B5EF4-FFF2-40B4-BE49-F238E27FC236}">
                <a16:creationId xmlns:a16="http://schemas.microsoft.com/office/drawing/2014/main" id="{64500036-B867-4287-915F-AF1EA720E30F}"/>
              </a:ext>
            </a:extLst>
          </p:cNvPr>
          <p:cNvPicPr>
            <a:picLocks noChangeAspect="1"/>
          </p:cNvPicPr>
          <p:nvPr/>
        </p:nvPicPr>
        <p:blipFill>
          <a:blip r:embed="rId6"/>
          <a:stretch>
            <a:fillRect/>
          </a:stretch>
        </p:blipFill>
        <p:spPr>
          <a:xfrm>
            <a:off x="1376589" y="3417637"/>
            <a:ext cx="577850" cy="241300"/>
          </a:xfrm>
          <a:prstGeom prst="rect">
            <a:avLst/>
          </a:prstGeom>
        </p:spPr>
      </p:pic>
      <p:sp>
        <p:nvSpPr>
          <p:cNvPr id="4" name="Rectangle 2">
            <a:extLst>
              <a:ext uri="{FF2B5EF4-FFF2-40B4-BE49-F238E27FC236}">
                <a16:creationId xmlns:a16="http://schemas.microsoft.com/office/drawing/2014/main" id="{377ADDB7-4955-497C-B092-A9AF9D57F4E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4CE8517E-482A-4278-B576-36A8AA59A212}"/>
              </a:ext>
            </a:extLst>
          </p:cNvPr>
          <p:cNvGraphicFramePr>
            <a:graphicFrameLocks noChangeAspect="1"/>
          </p:cNvGraphicFramePr>
          <p:nvPr>
            <p:extLst>
              <p:ext uri="{D42A27DB-BD31-4B8C-83A1-F6EECF244321}">
                <p14:modId xmlns:p14="http://schemas.microsoft.com/office/powerpoint/2010/main" val="1038090205"/>
              </p:ext>
            </p:extLst>
          </p:nvPr>
        </p:nvGraphicFramePr>
        <p:xfrm>
          <a:off x="1480457" y="5769424"/>
          <a:ext cx="292100" cy="292100"/>
        </p:xfrm>
        <a:graphic>
          <a:graphicData uri="http://schemas.openxmlformats.org/presentationml/2006/ole">
            <mc:AlternateContent xmlns:mc="http://schemas.openxmlformats.org/markup-compatibility/2006">
              <mc:Choice xmlns:v="urn:schemas-microsoft-com:vml" Requires="v">
                <p:oleObj spid="_x0000_s3092" name="Visio" r:id="rId7" imgW="292148" imgH="292233" progId="Visio.Drawing.15">
                  <p:embed/>
                </p:oleObj>
              </mc:Choice>
              <mc:Fallback>
                <p:oleObj name="Visio" r:id="rId7" imgW="292148" imgH="292233" progId="Visio.Drawing.15">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0457" y="5769424"/>
                        <a:ext cx="2921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40802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5" end="5"/>
                                            </p:txEl>
                                          </p:spTgt>
                                        </p:tgtEl>
                                        <p:attrNameLst>
                                          <p:attrName>style.visibility</p:attrName>
                                        </p:attrNameLst>
                                      </p:cBhvr>
                                      <p:to>
                                        <p:strVal val="visible"/>
                                      </p:to>
                                    </p:set>
                                    <p:animEffect transition="in" filter="fade">
                                      <p:cBhvr>
                                        <p:cTn id="12" dur="1000"/>
                                        <p:tgtEl>
                                          <p:spTgt spid="7">
                                            <p:txEl>
                                              <p:pRg st="5" end="5"/>
                                            </p:txEl>
                                          </p:spTgt>
                                        </p:tgtEl>
                                      </p:cBhvr>
                                    </p:animEffect>
                                    <p:anim calcmode="lin" valueType="num">
                                      <p:cBhvr>
                                        <p:cTn id="1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animEffect transition="in" filter="fade">
                                      <p:cBhvr>
                                        <p:cTn id="19" dur="1000"/>
                                        <p:tgtEl>
                                          <p:spTgt spid="7">
                                            <p:txEl>
                                              <p:pRg st="6" end="6"/>
                                            </p:txEl>
                                          </p:spTgt>
                                        </p:tgtEl>
                                      </p:cBhvr>
                                    </p:animEffect>
                                    <p:anim calcmode="lin" valueType="num">
                                      <p:cBhvr>
                                        <p:cTn id="2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animEffect transition="in" filter="fade">
                                      <p:cBhvr>
                                        <p:cTn id="31" dur="1000"/>
                                        <p:tgtEl>
                                          <p:spTgt spid="7">
                                            <p:txEl>
                                              <p:pRg st="7" end="7"/>
                                            </p:txEl>
                                          </p:spTgt>
                                        </p:tgtEl>
                                      </p:cBhvr>
                                    </p:animEffect>
                                    <p:anim calcmode="lin" valueType="num">
                                      <p:cBhvr>
                                        <p:cTn id="32"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dirty="0">
                <a:solidFill>
                  <a:schemeClr val="bg1"/>
                </a:solidFill>
                <a:latin typeface="+mj-lt"/>
              </a:rPr>
              <a:t>Induction and Conjecture </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Text Box 8">
            <a:extLst>
              <a:ext uri="{FF2B5EF4-FFF2-40B4-BE49-F238E27FC236}">
                <a16:creationId xmlns:a16="http://schemas.microsoft.com/office/drawing/2014/main" id="{D2996720-D994-484A-9B57-2D9C8A7B9B3A}"/>
              </a:ext>
            </a:extLst>
          </p:cNvPr>
          <p:cNvSpPr txBox="1">
            <a:spLocks noChangeArrowheads="1"/>
          </p:cNvSpPr>
          <p:nvPr/>
        </p:nvSpPr>
        <p:spPr bwMode="auto">
          <a:xfrm>
            <a:off x="1272501" y="3526363"/>
            <a:ext cx="10113956" cy="2950002"/>
          </a:xfrm>
          <a:prstGeom prst="rect">
            <a:avLst/>
          </a:prstGeom>
          <a:noFill/>
          <a:ln w="6350">
            <a:noFill/>
            <a:miter lim="800000"/>
            <a:headEnd/>
            <a:tailEnd/>
          </a:ln>
        </p:spPr>
        <p:txBody>
          <a:bodyPr wrap="square">
            <a:noAutofit/>
          </a:bodyPr>
          <a:lstStyle/>
          <a:p>
            <a:pPr>
              <a:spcBef>
                <a:spcPct val="0"/>
              </a:spcBef>
            </a:pPr>
            <a:r>
              <a:rPr lang="en-US" altLang="zh-CN" sz="2400" dirty="0"/>
              <a:t>For example, observation</a:t>
            </a:r>
          </a:p>
          <a:p>
            <a:pPr>
              <a:spcBef>
                <a:spcPct val="0"/>
              </a:spcBef>
            </a:pPr>
            <a:r>
              <a:rPr lang="zh-CN" altLang="en-US" sz="2400" b="1" dirty="0"/>
              <a:t>1</a:t>
            </a:r>
            <a:r>
              <a:rPr lang="en-US" altLang="zh-CN" sz="2400" b="1" dirty="0"/>
              <a:t>=1</a:t>
            </a:r>
            <a:r>
              <a:rPr lang="en-US" altLang="zh-CN" sz="2400" b="1" baseline="30000" dirty="0"/>
              <a:t>2</a:t>
            </a:r>
            <a:endParaRPr lang="zh-CN" altLang="en-US" sz="2400" b="1" dirty="0"/>
          </a:p>
          <a:p>
            <a:pPr>
              <a:spcBef>
                <a:spcPct val="0"/>
              </a:spcBef>
            </a:pPr>
            <a:r>
              <a:rPr lang="zh-CN" altLang="en-US" sz="2400" b="1" dirty="0"/>
              <a:t>1+</a:t>
            </a:r>
            <a:r>
              <a:rPr lang="en-US" altLang="zh-CN" sz="2400" b="1" dirty="0"/>
              <a:t>3=2</a:t>
            </a:r>
            <a:r>
              <a:rPr lang="en-US" altLang="zh-CN" sz="2400" b="1" baseline="30000" dirty="0"/>
              <a:t>2</a:t>
            </a:r>
            <a:endParaRPr lang="zh-CN" altLang="en-US" sz="2400" b="1" dirty="0"/>
          </a:p>
          <a:p>
            <a:pPr>
              <a:spcBef>
                <a:spcPct val="0"/>
              </a:spcBef>
            </a:pPr>
            <a:r>
              <a:rPr lang="zh-CN" altLang="en-US" sz="2400" b="1" dirty="0"/>
              <a:t>1+3</a:t>
            </a:r>
            <a:r>
              <a:rPr lang="en-US" altLang="zh-CN" sz="2400" b="1" dirty="0"/>
              <a:t>+5=3</a:t>
            </a:r>
            <a:r>
              <a:rPr lang="en-US" altLang="zh-CN" sz="2400" b="1" baseline="30000" dirty="0"/>
              <a:t>2</a:t>
            </a:r>
            <a:endParaRPr lang="zh-CN" altLang="en-US" sz="2400" b="1" dirty="0"/>
          </a:p>
          <a:p>
            <a:pPr>
              <a:spcBef>
                <a:spcPct val="0"/>
              </a:spcBef>
            </a:pPr>
            <a:r>
              <a:rPr lang="zh-CN" altLang="en-US" sz="2400" b="1" dirty="0"/>
              <a:t>1+</a:t>
            </a:r>
            <a:r>
              <a:rPr lang="en-US" altLang="zh-CN" sz="2400" b="1" dirty="0"/>
              <a:t>3</a:t>
            </a:r>
            <a:r>
              <a:rPr lang="zh-CN" altLang="en-US" sz="2400" b="1" dirty="0"/>
              <a:t>+</a:t>
            </a:r>
            <a:r>
              <a:rPr lang="en-US" altLang="zh-CN" sz="2400" b="1" dirty="0"/>
              <a:t>5</a:t>
            </a:r>
            <a:r>
              <a:rPr lang="zh-CN" altLang="en-US" sz="2400" b="1" dirty="0"/>
              <a:t>+</a:t>
            </a:r>
            <a:r>
              <a:rPr lang="en-US" altLang="zh-CN" sz="2400" b="1" dirty="0"/>
              <a:t>7=</a:t>
            </a:r>
            <a:r>
              <a:rPr lang="zh-CN" altLang="en-US" sz="2400" b="1" dirty="0"/>
              <a:t>4</a:t>
            </a:r>
            <a:r>
              <a:rPr lang="en-US" altLang="zh-CN" sz="2400" b="1" baseline="30000" dirty="0"/>
              <a:t>2</a:t>
            </a:r>
          </a:p>
          <a:p>
            <a:pPr>
              <a:spcBef>
                <a:spcPct val="0"/>
              </a:spcBef>
            </a:pPr>
            <a:r>
              <a:rPr lang="en-US" altLang="zh-CN" sz="2400" b="1" baseline="30000" dirty="0"/>
              <a:t>… …</a:t>
            </a:r>
            <a:endParaRPr lang="zh-CN" altLang="en-US" sz="2400" b="1" dirty="0"/>
          </a:p>
          <a:p>
            <a:pPr>
              <a:defRPr/>
            </a:pPr>
            <a:r>
              <a:rPr lang="en-US" altLang="zh-CN" sz="2400" b="1" dirty="0">
                <a:solidFill>
                  <a:srgbClr val="0B61FF"/>
                </a:solidFill>
              </a:rPr>
              <a:t>Conjecture</a:t>
            </a:r>
            <a:r>
              <a:rPr lang="en-US" altLang="zh-CN" sz="2400" b="1" dirty="0">
                <a:solidFill>
                  <a:srgbClr val="0B61FF"/>
                </a:solidFill>
                <a:latin typeface="Times New Roman" pitchFamily="18" charset="0"/>
                <a:ea typeface="宋体" pitchFamily="2" charset="-122"/>
              </a:rPr>
              <a:t>:</a:t>
            </a:r>
            <a:r>
              <a:rPr lang="zh-CN" altLang="en-US" sz="2400" b="1" dirty="0">
                <a:solidFill>
                  <a:srgbClr val="0B61FF"/>
                </a:solidFill>
                <a:latin typeface="Times New Roman" pitchFamily="18" charset="0"/>
              </a:rPr>
              <a:t> </a:t>
            </a:r>
            <a:r>
              <a:rPr lang="en-US" altLang="zh-CN" sz="2400" dirty="0"/>
              <a:t>The sum of the first n odd numbers equals </a:t>
            </a:r>
            <a:r>
              <a:rPr lang="en-US" altLang="zh-CN" sz="2400" b="1" i="1" dirty="0">
                <a:solidFill>
                  <a:srgbClr val="000066"/>
                </a:solidFill>
                <a:latin typeface="+mn-lt"/>
                <a:ea typeface="+mn-ea"/>
              </a:rPr>
              <a:t>n</a:t>
            </a:r>
            <a:r>
              <a:rPr lang="en-US" altLang="zh-CN" sz="2400" b="1" baseline="30000" dirty="0">
                <a:solidFill>
                  <a:srgbClr val="000066"/>
                </a:solidFill>
                <a:latin typeface="+mn-lt"/>
                <a:ea typeface="+mn-ea"/>
              </a:rPr>
              <a:t>2</a:t>
            </a:r>
            <a:r>
              <a:rPr lang="en-US" altLang="zh-CN" sz="2400" b="1" dirty="0">
                <a:solidFill>
                  <a:srgbClr val="000066"/>
                </a:solidFill>
                <a:latin typeface="+mn-lt"/>
                <a:ea typeface="宋体" pitchFamily="2" charset="-122"/>
              </a:rPr>
              <a:t>, </a:t>
            </a:r>
          </a:p>
          <a:p>
            <a:pPr eaLnBrk="1" hangingPunct="1">
              <a:defRPr/>
            </a:pPr>
            <a:r>
              <a:rPr lang="en-US" altLang="zh-CN" sz="2400" b="1" dirty="0">
                <a:solidFill>
                  <a:srgbClr val="000066"/>
                </a:solidFill>
                <a:ea typeface="宋体" pitchFamily="2" charset="-122"/>
              </a:rPr>
              <a:t>                      </a:t>
            </a:r>
            <a:r>
              <a:rPr lang="zh-CN" altLang="en-US" sz="2400" b="1" dirty="0">
                <a:solidFill>
                  <a:srgbClr val="000066"/>
                </a:solidFill>
              </a:rPr>
              <a:t>1+</a:t>
            </a:r>
            <a:r>
              <a:rPr lang="en-US" altLang="zh-CN" sz="2400" b="1" dirty="0">
                <a:solidFill>
                  <a:srgbClr val="000066"/>
                </a:solidFill>
              </a:rPr>
              <a:t>3</a:t>
            </a:r>
            <a:r>
              <a:rPr lang="zh-CN" altLang="en-US" sz="2400" b="1" dirty="0">
                <a:solidFill>
                  <a:srgbClr val="000066"/>
                </a:solidFill>
              </a:rPr>
              <a:t>+</a:t>
            </a:r>
            <a:r>
              <a:rPr lang="en-US" altLang="zh-CN" sz="2400" b="1" dirty="0">
                <a:solidFill>
                  <a:srgbClr val="000066"/>
                </a:solidFill>
              </a:rPr>
              <a:t>5+</a:t>
            </a:r>
            <a:r>
              <a:rPr lang="zh-CN" altLang="en-US" sz="2400" b="1" dirty="0">
                <a:solidFill>
                  <a:srgbClr val="000066"/>
                </a:solidFill>
              </a:rPr>
              <a:t> </a:t>
            </a:r>
            <a:r>
              <a:rPr kumimoji="1" lang="en-US" altLang="zh-CN" sz="2400" b="1" dirty="0">
                <a:solidFill>
                  <a:srgbClr val="000066"/>
                </a:solidFill>
                <a:ea typeface="宋体" pitchFamily="2" charset="-122"/>
                <a:cs typeface="Times New Roman" pitchFamily="18" charset="0"/>
              </a:rPr>
              <a:t>…</a:t>
            </a:r>
            <a:r>
              <a:rPr lang="zh-CN" altLang="en-US" sz="2400" b="1" dirty="0">
                <a:solidFill>
                  <a:srgbClr val="000066"/>
                </a:solidFill>
              </a:rPr>
              <a:t> +</a:t>
            </a:r>
            <a:r>
              <a:rPr lang="en-US" altLang="zh-CN" sz="2400" b="1" dirty="0">
                <a:solidFill>
                  <a:srgbClr val="000066"/>
                </a:solidFill>
              </a:rPr>
              <a:t>(2</a:t>
            </a:r>
            <a:r>
              <a:rPr lang="en-US" altLang="zh-CN" sz="2400" b="1" i="1" dirty="0">
                <a:solidFill>
                  <a:srgbClr val="000066"/>
                </a:solidFill>
              </a:rPr>
              <a:t>n</a:t>
            </a:r>
            <a:r>
              <a:rPr lang="en-US" altLang="zh-CN" sz="2400" b="1" dirty="0">
                <a:solidFill>
                  <a:srgbClr val="000066"/>
                </a:solidFill>
              </a:rPr>
              <a:t>-1)=</a:t>
            </a:r>
            <a:r>
              <a:rPr lang="en-US" altLang="zh-CN" sz="2400" b="1" i="1" dirty="0">
                <a:solidFill>
                  <a:srgbClr val="000066"/>
                </a:solidFill>
              </a:rPr>
              <a:t>n</a:t>
            </a:r>
            <a:r>
              <a:rPr kumimoji="1" lang="en-US" altLang="zh-CN" sz="2400" b="1" baseline="30000" dirty="0">
                <a:solidFill>
                  <a:srgbClr val="000066"/>
                </a:solidFill>
                <a:ea typeface="宋体" pitchFamily="2" charset="-122"/>
                <a:sym typeface="Symbol" pitchFamily="18" charset="2"/>
              </a:rPr>
              <a:t>2</a:t>
            </a:r>
            <a:r>
              <a:rPr kumimoji="1" lang="en-US" altLang="zh-CN" sz="2400" b="1" dirty="0">
                <a:solidFill>
                  <a:srgbClr val="000066"/>
                </a:solidFill>
                <a:ea typeface="宋体" pitchFamily="2" charset="-122"/>
                <a:sym typeface="Symbol" pitchFamily="18" charset="2"/>
              </a:rPr>
              <a:t>    </a:t>
            </a:r>
            <a:endParaRPr kumimoji="1" lang="zh-CN" altLang="en-US" sz="2400" b="1" dirty="0">
              <a:solidFill>
                <a:srgbClr val="000066"/>
              </a:solidFill>
              <a:ea typeface="宋体" pitchFamily="2" charset="-122"/>
              <a:sym typeface="Symbol" pitchFamily="18" charset="2"/>
            </a:endParaRPr>
          </a:p>
        </p:txBody>
      </p:sp>
      <p:sp>
        <p:nvSpPr>
          <p:cNvPr id="11" name="文本框 10">
            <a:extLst>
              <a:ext uri="{FF2B5EF4-FFF2-40B4-BE49-F238E27FC236}">
                <a16:creationId xmlns:a16="http://schemas.microsoft.com/office/drawing/2014/main" id="{D24D26D4-1583-4099-9E19-DC3DBB952D5D}"/>
              </a:ext>
            </a:extLst>
          </p:cNvPr>
          <p:cNvSpPr txBox="1"/>
          <p:nvPr/>
        </p:nvSpPr>
        <p:spPr>
          <a:xfrm>
            <a:off x="1000125" y="865556"/>
            <a:ext cx="10829471" cy="2563443"/>
          </a:xfrm>
          <a:prstGeom prst="rect">
            <a:avLst/>
          </a:prstGeom>
          <a:noFill/>
        </p:spPr>
        <p:txBody>
          <a:bodyPr wrap="square">
            <a:noAutofit/>
          </a:bodyPr>
          <a:lstStyle/>
          <a:p>
            <a:pPr marL="342900" indent="-342900">
              <a:lnSpc>
                <a:spcPct val="110000"/>
              </a:lnSpc>
              <a:buClr>
                <a:srgbClr val="0B61FF"/>
              </a:buClr>
              <a:buSzPct val="80000"/>
              <a:buFont typeface="Wingdings" panose="05000000000000000000" pitchFamily="2" charset="2"/>
              <a:buChar char="n"/>
            </a:pPr>
            <a:r>
              <a:rPr lang="en-US" altLang="zh-CN" sz="2400" b="1" dirty="0">
                <a:solidFill>
                  <a:srgbClr val="0B61FF"/>
                </a:solidFill>
              </a:rPr>
              <a:t>Induction</a:t>
            </a:r>
            <a:r>
              <a:rPr lang="en-US" altLang="zh-CN" sz="2400" dirty="0"/>
              <a:t> is a logical reasoning method that starts from specific cases or instances and generalizes to universal laws or principles. A </a:t>
            </a:r>
            <a:r>
              <a:rPr lang="en-US" altLang="zh-CN" sz="2400" b="1" dirty="0">
                <a:solidFill>
                  <a:srgbClr val="0B61FF"/>
                </a:solidFill>
              </a:rPr>
              <a:t>conjecture</a:t>
            </a:r>
            <a:r>
              <a:rPr lang="en-US" altLang="zh-CN" sz="2400" dirty="0"/>
              <a:t> is an unproven hypothesis or theory proposed based on existing knowledge and intuition.</a:t>
            </a:r>
          </a:p>
          <a:p>
            <a:pPr marL="342900" indent="-342900">
              <a:lnSpc>
                <a:spcPct val="110000"/>
              </a:lnSpc>
              <a:buClr>
                <a:srgbClr val="0B61FF"/>
              </a:buClr>
              <a:buSzPct val="80000"/>
              <a:buFont typeface="Wingdings" panose="05000000000000000000" pitchFamily="2" charset="2"/>
              <a:buChar char="n"/>
            </a:pPr>
            <a:r>
              <a:rPr lang="en-US" altLang="zh-CN" sz="2400" b="1" dirty="0">
                <a:solidFill>
                  <a:srgbClr val="0B61FF"/>
                </a:solidFill>
              </a:rPr>
              <a:t>Induction and conjecture </a:t>
            </a:r>
            <a:r>
              <a:rPr lang="en-US" altLang="zh-CN" sz="2400" dirty="0"/>
              <a:t>often interact in the research process. Induction may lead to the formation of new conjectures, while conjectures can potentially gain support through induction from experimental or observational data.</a:t>
            </a:r>
          </a:p>
          <a:p>
            <a:endParaRPr lang="zh-CN" altLang="en-US" sz="2400" b="1" dirty="0"/>
          </a:p>
        </p:txBody>
      </p:sp>
    </p:spTree>
    <p:extLst>
      <p:ext uri="{BB962C8B-B14F-4D97-AF65-F5344CB8AC3E}">
        <p14:creationId xmlns:p14="http://schemas.microsoft.com/office/powerpoint/2010/main" val="3742924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cs typeface="Times New Roman" panose="02020603050405020304" pitchFamily="18" charset="0"/>
              </a:rPr>
              <a:t>                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Induction Proof Method </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1523998" y="917576"/>
            <a:ext cx="9525001" cy="51206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20000"/>
              </a:lnSpc>
              <a:spcBef>
                <a:spcPts val="0"/>
              </a:spcBef>
              <a:buClr>
                <a:srgbClr val="0B61FF"/>
              </a:buClr>
              <a:buSzPct val="80000"/>
              <a:buFont typeface="Wingdings" panose="05000000000000000000" pitchFamily="2" charset="2"/>
              <a:buChar char="n"/>
            </a:pPr>
            <a:r>
              <a:rPr lang="en-US" altLang="zh-CN" sz="2400" b="0" i="0" dirty="0">
                <a:solidFill>
                  <a:srgbClr val="0C0D0E"/>
                </a:solidFill>
                <a:effectLst/>
              </a:rPr>
              <a:t>Proposition </a:t>
            </a:r>
            <a:r>
              <a:rPr lang="en-US" altLang="zh-CN" sz="2400" b="1" i="0" dirty="0">
                <a:solidFill>
                  <a:srgbClr val="0C0D0E"/>
                </a:solidFill>
                <a:effectLst/>
              </a:rPr>
              <a:t>form</a:t>
            </a:r>
            <a:r>
              <a:rPr lang="en-US" altLang="zh-CN" sz="2400" b="0" i="0" dirty="0">
                <a:solidFill>
                  <a:srgbClr val="0C0D0E"/>
                </a:solidFill>
                <a:effectLst/>
              </a:rPr>
              <a:t>: ∀x(</a:t>
            </a:r>
            <a:r>
              <a:rPr lang="en-US" altLang="zh-CN" sz="2400" b="0" i="0" dirty="0" err="1">
                <a:solidFill>
                  <a:srgbClr val="0C0D0E"/>
                </a:solidFill>
                <a:effectLst/>
              </a:rPr>
              <a:t>x∈N∧x≥n</a:t>
            </a:r>
            <a:r>
              <a:rPr lang="en-US" altLang="zh-CN" sz="2400" b="0" i="0" dirty="0">
                <a:solidFill>
                  <a:srgbClr val="0C0D0E"/>
                </a:solidFill>
                <a:effectLst/>
              </a:rPr>
              <a:t>₀), P(x)</a:t>
            </a:r>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Base case</a:t>
            </a:r>
            <a:r>
              <a:rPr lang="en-US" altLang="zh-CN" sz="2400" b="0" i="0" dirty="0">
                <a:solidFill>
                  <a:srgbClr val="0C0D0E"/>
                </a:solidFill>
                <a:effectLst/>
              </a:rPr>
              <a:t>: Prove P(n₀) is true</a:t>
            </a:r>
            <a:endParaRPr lang="en-US" altLang="zh-CN" sz="2400" dirty="0">
              <a:solidFill>
                <a:srgbClr val="0C0D0E"/>
              </a:solidFill>
            </a:endParaRPr>
          </a:p>
          <a:p>
            <a:pPr algn="l">
              <a:lnSpc>
                <a:spcPct val="120000"/>
              </a:lnSpc>
              <a:spcBef>
                <a:spcPts val="0"/>
              </a:spcBef>
              <a:buClr>
                <a:srgbClr val="0B61FF"/>
              </a:buClr>
              <a:buSzPct val="80000"/>
              <a:buFont typeface="Wingdings" panose="05000000000000000000" pitchFamily="2" charset="2"/>
              <a:buChar char="n"/>
            </a:pPr>
            <a:r>
              <a:rPr lang="en-US" altLang="zh-CN" sz="2400" b="0" i="0" dirty="0">
                <a:solidFill>
                  <a:srgbClr val="0C0D0E"/>
                </a:solidFill>
                <a:effectLst/>
              </a:rPr>
              <a:t>Inductive </a:t>
            </a:r>
            <a:r>
              <a:rPr lang="en-US" altLang="zh-CN" sz="2400" b="1" i="0" dirty="0">
                <a:solidFill>
                  <a:srgbClr val="0C0D0E"/>
                </a:solidFill>
                <a:effectLst/>
              </a:rPr>
              <a:t>step</a:t>
            </a:r>
            <a:r>
              <a:rPr lang="en-US" altLang="zh-CN" sz="2400" b="0" i="0" dirty="0">
                <a:solidFill>
                  <a:srgbClr val="0C0D0E"/>
                </a:solidFill>
                <a:effectLst/>
              </a:rPr>
              <a:t>: For all x(</a:t>
            </a:r>
            <a:r>
              <a:rPr lang="en-US" altLang="zh-CN" sz="2400" b="0" i="0" dirty="0" err="1">
                <a:solidFill>
                  <a:srgbClr val="0C0D0E"/>
                </a:solidFill>
                <a:effectLst/>
              </a:rPr>
              <a:t>x≥n</a:t>
            </a:r>
            <a:r>
              <a:rPr lang="en-US" altLang="zh-CN" sz="2400" b="0" i="0" dirty="0">
                <a:solidFill>
                  <a:srgbClr val="0C0D0E"/>
                </a:solidFill>
                <a:effectLst/>
              </a:rPr>
              <a:t>₀), assume P(x) is true, prove P(x+1) is true.</a:t>
            </a:r>
            <a:br>
              <a:rPr lang="en-US" altLang="zh-CN" sz="2400" b="0" i="0" dirty="0">
                <a:solidFill>
                  <a:srgbClr val="0C0D0E"/>
                </a:solidFill>
                <a:effectLst/>
              </a:rPr>
            </a:br>
            <a:r>
              <a:rPr lang="en-US" altLang="zh-CN" sz="2400" b="0" i="0" dirty="0">
                <a:solidFill>
                  <a:srgbClr val="0C0D0E"/>
                </a:solidFill>
                <a:effectLst/>
              </a:rPr>
              <a:t>The statement "P(x) is true" is called the </a:t>
            </a:r>
            <a:r>
              <a:rPr lang="en-US" altLang="zh-CN" sz="2400" b="1" i="0" dirty="0">
                <a:effectLst/>
              </a:rPr>
              <a:t>induction hypothesis</a:t>
            </a:r>
            <a:r>
              <a:rPr lang="en-US" altLang="zh-CN" sz="2400" b="0" i="0" dirty="0">
                <a:solidFill>
                  <a:srgbClr val="0C0D0E"/>
                </a:solidFill>
                <a:effectLst/>
              </a:rPr>
              <a:t>.</a:t>
            </a:r>
          </a:p>
          <a:p>
            <a:pPr marL="0" indent="0" algn="l">
              <a:lnSpc>
                <a:spcPct val="120000"/>
              </a:lnSpc>
              <a:spcBef>
                <a:spcPts val="0"/>
              </a:spcBef>
              <a:buNone/>
            </a:pPr>
            <a:endParaRPr lang="en-US" altLang="zh-CN" sz="2400" b="0" i="0" dirty="0">
              <a:solidFill>
                <a:srgbClr val="0C0D0E"/>
              </a:solidFill>
              <a:effectLst/>
            </a:endParaRPr>
          </a:p>
          <a:p>
            <a:pPr marL="0" indent="0" algn="l">
              <a:lnSpc>
                <a:spcPct val="120000"/>
              </a:lnSpc>
              <a:spcBef>
                <a:spcPts val="0"/>
              </a:spcBef>
              <a:buNone/>
            </a:pPr>
            <a:r>
              <a:rPr lang="en-US" altLang="zh-CN" sz="2400" b="0" i="0" dirty="0">
                <a:solidFill>
                  <a:srgbClr val="0C0D0E"/>
                </a:solidFill>
                <a:effectLst/>
              </a:rPr>
              <a:t>        </a:t>
            </a:r>
            <a:r>
              <a:rPr lang="en-US" altLang="zh-CN" sz="2400" b="1" i="0" dirty="0">
                <a:solidFill>
                  <a:srgbClr val="0C0D0E"/>
                </a:solidFill>
                <a:effectLst/>
              </a:rPr>
              <a:t>Example 8: </a:t>
            </a:r>
            <a:r>
              <a:rPr lang="en-US" altLang="zh-CN" sz="2400" b="0" i="0" dirty="0">
                <a:solidFill>
                  <a:srgbClr val="0C0D0E"/>
                </a:solidFill>
                <a:effectLst/>
              </a:rPr>
              <a:t>Proof: For all n≥1, 1+3+5+…+(2n-1)=n²</a:t>
            </a:r>
            <a:br>
              <a:rPr lang="en-US" altLang="zh-CN" sz="2400" b="0" i="0" dirty="0">
                <a:solidFill>
                  <a:srgbClr val="0C0D0E"/>
                </a:solidFill>
                <a:effectLst/>
              </a:rPr>
            </a:br>
            <a:r>
              <a:rPr lang="en-US" altLang="zh-CN" sz="2400" b="1" i="0" dirty="0">
                <a:solidFill>
                  <a:srgbClr val="0C0D0E"/>
                </a:solidFill>
                <a:effectLst/>
              </a:rPr>
              <a:t>Proof: </a:t>
            </a:r>
          </a:p>
          <a:p>
            <a:pPr marL="0" indent="0" algn="l">
              <a:lnSpc>
                <a:spcPct val="120000"/>
              </a:lnSpc>
              <a:spcBef>
                <a:spcPts val="0"/>
              </a:spcBef>
              <a:buNone/>
            </a:pPr>
            <a:r>
              <a:rPr lang="en-US" altLang="zh-CN" sz="2400" b="1" i="0" dirty="0">
                <a:solidFill>
                  <a:srgbClr val="0C0D0E"/>
                </a:solidFill>
                <a:effectLst/>
              </a:rPr>
              <a:t>Base case: </a:t>
            </a:r>
            <a:r>
              <a:rPr lang="en-US" altLang="zh-CN" sz="2400" b="0" i="0" dirty="0">
                <a:solidFill>
                  <a:srgbClr val="0C0D0E"/>
                </a:solidFill>
                <a:effectLst/>
              </a:rPr>
              <a:t>When n=1, 1=1², the conclusion holds.</a:t>
            </a:r>
            <a:br>
              <a:rPr lang="en-US" altLang="zh-CN" sz="2400" b="0" i="0" dirty="0">
                <a:solidFill>
                  <a:srgbClr val="0C0D0E"/>
                </a:solidFill>
                <a:effectLst/>
              </a:rPr>
            </a:br>
            <a:r>
              <a:rPr lang="en-US" altLang="zh-CN" sz="2400" b="1" i="0" dirty="0">
                <a:solidFill>
                  <a:srgbClr val="0C0D0E"/>
                </a:solidFill>
                <a:effectLst/>
              </a:rPr>
              <a:t>Inductive step: </a:t>
            </a:r>
            <a:r>
              <a:rPr lang="en-US" altLang="zh-CN" sz="2400" b="0" i="0" dirty="0">
                <a:solidFill>
                  <a:srgbClr val="0C0D0E"/>
                </a:solidFill>
                <a:effectLst/>
              </a:rPr>
              <a:t>Assume the conclusion holds for n≥1, then</a:t>
            </a:r>
            <a:br>
              <a:rPr lang="en-US" altLang="zh-CN" sz="2400" b="0" i="0" dirty="0">
                <a:solidFill>
                  <a:srgbClr val="0C0D0E"/>
                </a:solidFill>
                <a:effectLst/>
              </a:rPr>
            </a:br>
            <a:r>
              <a:rPr lang="en-US" altLang="zh-CN" sz="2400" b="0" i="0" dirty="0">
                <a:solidFill>
                  <a:srgbClr val="0C0D0E"/>
                </a:solidFill>
                <a:effectLst/>
              </a:rPr>
              <a:t>1+3+5+…+(2n-1)+(2n+1)=n² +(2n+1) = (n+1)²</a:t>
            </a:r>
            <a:br>
              <a:rPr lang="en-US" altLang="zh-CN" sz="2400" b="0" i="0" dirty="0">
                <a:solidFill>
                  <a:srgbClr val="0C0D0E"/>
                </a:solidFill>
                <a:effectLst/>
              </a:rPr>
            </a:br>
            <a:r>
              <a:rPr lang="en-US" altLang="zh-CN" sz="2400" b="0" i="0" dirty="0">
                <a:solidFill>
                  <a:srgbClr val="0C0D0E"/>
                </a:solidFill>
                <a:effectLst/>
              </a:rPr>
              <a:t>Thus, the conclusion also holds when n+1.</a:t>
            </a:r>
          </a:p>
        </p:txBody>
      </p:sp>
      <p:pic>
        <p:nvPicPr>
          <p:cNvPr id="9" name="图片 8">
            <a:extLst>
              <a:ext uri="{FF2B5EF4-FFF2-40B4-BE49-F238E27FC236}">
                <a16:creationId xmlns:a16="http://schemas.microsoft.com/office/drawing/2014/main" id="{8450B330-8BDC-4BE8-B5F2-D2ABCB28D86D}"/>
              </a:ext>
            </a:extLst>
          </p:cNvPr>
          <p:cNvPicPr>
            <a:picLocks noChangeAspect="1"/>
          </p:cNvPicPr>
          <p:nvPr/>
        </p:nvPicPr>
        <p:blipFill>
          <a:blip r:embed="rId5"/>
          <a:stretch>
            <a:fillRect/>
          </a:stretch>
        </p:blipFill>
        <p:spPr>
          <a:xfrm>
            <a:off x="1572533" y="3374095"/>
            <a:ext cx="577850" cy="241300"/>
          </a:xfrm>
          <a:prstGeom prst="rect">
            <a:avLst/>
          </a:prstGeom>
        </p:spPr>
      </p:pic>
    </p:spTree>
    <p:extLst>
      <p:ext uri="{BB962C8B-B14F-4D97-AF65-F5344CB8AC3E}">
        <p14:creationId xmlns:p14="http://schemas.microsoft.com/office/powerpoint/2010/main" val="2148577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5" end="5"/>
                                            </p:txEl>
                                          </p:spTgt>
                                        </p:tgtEl>
                                        <p:attrNameLst>
                                          <p:attrName>style.visibility</p:attrName>
                                        </p:attrNameLst>
                                      </p:cBhvr>
                                      <p:to>
                                        <p:strVal val="visible"/>
                                      </p:to>
                                    </p:set>
                                    <p:animEffect transition="in" filter="fade">
                                      <p:cBhvr>
                                        <p:cTn id="12" dur="1000"/>
                                        <p:tgtEl>
                                          <p:spTgt spid="12">
                                            <p:txEl>
                                              <p:pRg st="5" end="5"/>
                                            </p:txEl>
                                          </p:spTgt>
                                        </p:tgtEl>
                                      </p:cBhvr>
                                    </p:animEffect>
                                    <p:anim calcmode="lin" valueType="num">
                                      <p:cBhvr>
                                        <p:cTn id="13"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animEffect transition="in" filter="fade">
                                      <p:cBhvr>
                                        <p:cTn id="19" dur="1000"/>
                                        <p:tgtEl>
                                          <p:spTgt spid="12">
                                            <p:txEl>
                                              <p:pRg st="6" end="6"/>
                                            </p:txEl>
                                          </p:spTgt>
                                        </p:tgtEl>
                                      </p:cBhvr>
                                    </p:animEffect>
                                    <p:anim calcmode="lin" valueType="num">
                                      <p:cBhvr>
                                        <p:cTn id="20"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1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Induction Proof Method (</a:t>
            </a:r>
            <a:r>
              <a:rPr lang="en-US" altLang="zh-CN" sz="2400" b="1" i="0" dirty="0" err="1">
                <a:solidFill>
                  <a:schemeClr val="bg1"/>
                </a:solidFill>
                <a:effectLst/>
                <a:latin typeface="+mj-lt"/>
              </a:rPr>
              <a:t>e.g</a:t>
            </a:r>
            <a:r>
              <a:rPr lang="en-US" altLang="zh-CN" sz="2400" b="1" i="0" dirty="0">
                <a:solidFill>
                  <a:schemeClr val="bg1"/>
                </a:solidFill>
                <a:effectLst/>
                <a:latin typeface="+mj-lt"/>
              </a:rPr>
              <a:t>)</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1523999" y="917576"/>
            <a:ext cx="9296402" cy="44055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20000"/>
              </a:lnSpc>
              <a:spcBef>
                <a:spcPts val="0"/>
              </a:spcBef>
              <a:buClr>
                <a:srgbClr val="0B61FF"/>
              </a:buClr>
              <a:buSzPct val="80000"/>
              <a:buFont typeface="Wingdings" panose="05000000000000000000" pitchFamily="2" charset="2"/>
              <a:buChar char="n"/>
            </a:pPr>
            <a:r>
              <a:rPr lang="en-US" altLang="zh-CN" sz="2400" b="0" i="0" dirty="0">
                <a:solidFill>
                  <a:srgbClr val="0C0D0E"/>
                </a:solidFill>
                <a:effectLst/>
              </a:rPr>
              <a:t>Note: Both the base case and the inductive step are essential.</a:t>
            </a:r>
          </a:p>
          <a:p>
            <a:pPr marL="0" indent="0" algn="l">
              <a:lnSpc>
                <a:spcPct val="120000"/>
              </a:lnSpc>
              <a:spcBef>
                <a:spcPts val="0"/>
              </a:spcBef>
              <a:buClr>
                <a:srgbClr val="0B61FF"/>
              </a:buClr>
              <a:buSzPct val="80000"/>
              <a:buNone/>
            </a:pPr>
            <a:endParaRPr lang="en-US" altLang="zh-CN" sz="2400" b="0" i="0" dirty="0">
              <a:solidFill>
                <a:srgbClr val="0C0D0E"/>
              </a:solidFill>
              <a:effectLst/>
            </a:endParaRPr>
          </a:p>
          <a:p>
            <a:pPr marL="0" indent="0">
              <a:lnSpc>
                <a:spcPct val="120000"/>
              </a:lnSpc>
              <a:spcBef>
                <a:spcPts val="0"/>
              </a:spcBef>
              <a:buNone/>
            </a:pPr>
            <a:r>
              <a:rPr lang="en-US" altLang="zh-CN" sz="2400" b="0" i="0" dirty="0">
                <a:solidFill>
                  <a:srgbClr val="0C0D0E"/>
                </a:solidFill>
                <a:effectLst/>
              </a:rPr>
              <a:t>       Example(1) Proposition: For all n≥1,</a:t>
            </a:r>
            <a:r>
              <a:rPr lang="zh-CN" altLang="en-US" sz="2400" b="1" dirty="0"/>
              <a:t> 2</a:t>
            </a:r>
            <a:r>
              <a:rPr lang="zh-CN" altLang="en-US" sz="2400" b="1" baseline="30000" dirty="0"/>
              <a:t>1</a:t>
            </a:r>
            <a:r>
              <a:rPr lang="zh-CN" altLang="en-US" sz="2400" b="1" dirty="0"/>
              <a:t>+2</a:t>
            </a:r>
            <a:r>
              <a:rPr lang="zh-CN" altLang="en-US" sz="2400" b="1" baseline="30000" dirty="0"/>
              <a:t>2</a:t>
            </a:r>
            <a:r>
              <a:rPr lang="zh-CN" altLang="en-US" sz="2400" b="1" dirty="0"/>
              <a:t>+ </a:t>
            </a:r>
            <a:r>
              <a:rPr lang="en-US" altLang="zh-CN" sz="2400" b="1" dirty="0">
                <a:cs typeface="Times New Roman" panose="02020603050405020304" pitchFamily="18" charset="0"/>
              </a:rPr>
              <a:t>…</a:t>
            </a:r>
            <a:r>
              <a:rPr lang="zh-CN" altLang="en-US" sz="2400" b="1" dirty="0"/>
              <a:t> + 2</a:t>
            </a:r>
            <a:r>
              <a:rPr lang="en-US" altLang="zh-CN" sz="2400" b="1" i="1" baseline="30000" dirty="0"/>
              <a:t>n</a:t>
            </a:r>
            <a:r>
              <a:rPr lang="en-US" altLang="zh-CN" sz="2400" b="1" dirty="0"/>
              <a:t>= 2</a:t>
            </a:r>
            <a:r>
              <a:rPr lang="en-US" altLang="zh-CN" sz="2400" b="1" i="1" baseline="30000" dirty="0"/>
              <a:t>n</a:t>
            </a:r>
            <a:r>
              <a:rPr lang="en-US" altLang="zh-CN" sz="2400" b="1" baseline="30000" dirty="0"/>
              <a:t>+1</a:t>
            </a:r>
            <a:r>
              <a:rPr lang="zh-CN" altLang="en-US" sz="2400" b="1" dirty="0"/>
              <a:t> </a:t>
            </a:r>
            <a:r>
              <a:rPr lang="en-US" altLang="zh-CN" sz="2400" b="1" dirty="0"/>
              <a:t>–</a:t>
            </a:r>
            <a:r>
              <a:rPr lang="zh-CN" altLang="en-US" sz="2400" b="1" dirty="0"/>
              <a:t> 2</a:t>
            </a:r>
            <a:endParaRPr lang="en-US" altLang="zh-CN" sz="2400" b="1" dirty="0"/>
          </a:p>
          <a:p>
            <a:pPr marL="0" indent="0">
              <a:lnSpc>
                <a:spcPct val="120000"/>
              </a:lnSpc>
              <a:spcBef>
                <a:spcPts val="0"/>
              </a:spcBef>
              <a:buNone/>
            </a:pPr>
            <a:r>
              <a:rPr lang="en-US" altLang="zh-CN" sz="2400" b="1" i="0" dirty="0">
                <a:solidFill>
                  <a:srgbClr val="0C0D0E"/>
                </a:solidFill>
                <a:effectLst/>
              </a:rPr>
              <a:t>Proof:</a:t>
            </a:r>
            <a:endParaRPr lang="en-US" altLang="zh-CN" sz="2400" b="0" i="0" dirty="0">
              <a:solidFill>
                <a:srgbClr val="0C0D0E"/>
              </a:solidFill>
              <a:effectLst/>
            </a:endParaRPr>
          </a:p>
          <a:p>
            <a:pPr marL="0" indent="0">
              <a:lnSpc>
                <a:spcPct val="120000"/>
              </a:lnSpc>
              <a:spcBef>
                <a:spcPts val="0"/>
              </a:spcBef>
              <a:buNone/>
            </a:pPr>
            <a:r>
              <a:rPr lang="en-US" altLang="zh-CN" sz="2400" b="1" i="0" dirty="0">
                <a:solidFill>
                  <a:srgbClr val="0C0D0E"/>
                </a:solidFill>
                <a:effectLst/>
              </a:rPr>
              <a:t>Base case</a:t>
            </a:r>
            <a:r>
              <a:rPr lang="en-US" altLang="zh-CN" sz="2400" b="0" i="0" dirty="0">
                <a:solidFill>
                  <a:srgbClr val="0C0D0E"/>
                </a:solidFill>
                <a:effectLst/>
              </a:rPr>
              <a:t>: When n=1, </a:t>
            </a:r>
            <a:r>
              <a:rPr lang="zh-CN" altLang="en-US" sz="2400" b="1" dirty="0"/>
              <a:t>2</a:t>
            </a:r>
            <a:r>
              <a:rPr lang="zh-CN" altLang="en-US" sz="2400" b="1" baseline="30000" dirty="0"/>
              <a:t>1</a:t>
            </a:r>
            <a:r>
              <a:rPr lang="zh-CN" altLang="en-US" sz="2400" b="1" dirty="0"/>
              <a:t> </a:t>
            </a:r>
            <a:r>
              <a:rPr lang="en-US" altLang="zh-CN" sz="2400" b="1" dirty="0"/>
              <a:t>= 2</a:t>
            </a:r>
            <a:r>
              <a:rPr lang="en-US" altLang="zh-CN" sz="2400" b="1" baseline="30000" dirty="0"/>
              <a:t>1+1</a:t>
            </a:r>
            <a:r>
              <a:rPr lang="zh-CN" altLang="en-US" sz="2400" b="1" dirty="0"/>
              <a:t> </a:t>
            </a:r>
            <a:r>
              <a:rPr lang="en-US" altLang="zh-CN" sz="2400" b="1" dirty="0"/>
              <a:t>–</a:t>
            </a:r>
            <a:r>
              <a:rPr lang="zh-CN" altLang="en-US" sz="2400" b="1" dirty="0"/>
              <a:t> 2</a:t>
            </a:r>
            <a:r>
              <a:rPr lang="en-US" altLang="zh-CN" sz="2400" b="1" dirty="0"/>
              <a:t>=2</a:t>
            </a:r>
            <a:r>
              <a:rPr lang="en-US" altLang="zh-CN" sz="2400" b="0" i="0" dirty="0">
                <a:solidFill>
                  <a:srgbClr val="0C0D0E"/>
                </a:solidFill>
                <a:effectLst/>
              </a:rPr>
              <a:t>.</a:t>
            </a:r>
          </a:p>
          <a:p>
            <a:pPr marL="0" indent="0">
              <a:lnSpc>
                <a:spcPct val="120000"/>
              </a:lnSpc>
              <a:spcBef>
                <a:spcPts val="0"/>
              </a:spcBef>
              <a:buNone/>
            </a:pPr>
            <a:r>
              <a:rPr lang="en-US" altLang="zh-CN" sz="2400" b="1" i="0" dirty="0">
                <a:solidFill>
                  <a:srgbClr val="0C0D0E"/>
                </a:solidFill>
                <a:effectLst/>
              </a:rPr>
              <a:t>Inductive hypothesis</a:t>
            </a:r>
            <a:r>
              <a:rPr lang="en-US" altLang="zh-CN" sz="2400" b="0" i="0" dirty="0">
                <a:solidFill>
                  <a:srgbClr val="0C0D0E"/>
                </a:solidFill>
                <a:effectLst/>
              </a:rPr>
              <a:t>: Assume the statement holds for some arbitrary n≥1. Then,</a:t>
            </a:r>
            <a:br>
              <a:rPr lang="en-US" altLang="zh-CN" sz="2400" b="0" i="0" dirty="0">
                <a:solidFill>
                  <a:srgbClr val="0C0D0E"/>
                </a:solidFill>
                <a:effectLst/>
              </a:rPr>
            </a:br>
            <a:r>
              <a:rPr lang="zh-CN" altLang="en-US" sz="2400" b="1" dirty="0"/>
              <a:t>2</a:t>
            </a:r>
            <a:r>
              <a:rPr lang="zh-CN" altLang="en-US" sz="2400" b="1" baseline="30000" dirty="0"/>
              <a:t>1</a:t>
            </a:r>
            <a:r>
              <a:rPr lang="zh-CN" altLang="en-US" sz="2400" b="1" dirty="0"/>
              <a:t>+2</a:t>
            </a:r>
            <a:r>
              <a:rPr lang="zh-CN" altLang="en-US" sz="2400" b="1" baseline="30000" dirty="0"/>
              <a:t>2</a:t>
            </a:r>
            <a:r>
              <a:rPr lang="zh-CN" altLang="en-US" sz="2400" b="1" dirty="0"/>
              <a:t>+ </a:t>
            </a:r>
            <a:r>
              <a:rPr lang="en-US" altLang="zh-CN" sz="2400" b="1" dirty="0">
                <a:cs typeface="Times New Roman" panose="02020603050405020304" pitchFamily="18" charset="0"/>
              </a:rPr>
              <a:t>…</a:t>
            </a:r>
            <a:r>
              <a:rPr lang="zh-CN" altLang="en-US" sz="2400" b="1" dirty="0"/>
              <a:t> + 2</a:t>
            </a:r>
            <a:r>
              <a:rPr lang="en-US" altLang="zh-CN" sz="2400" b="1" i="1" baseline="30000" dirty="0"/>
              <a:t>n</a:t>
            </a:r>
            <a:r>
              <a:rPr lang="en-US" altLang="zh-CN" sz="2400" b="1" dirty="0"/>
              <a:t>+2</a:t>
            </a:r>
            <a:r>
              <a:rPr lang="en-US" altLang="zh-CN" sz="2400" b="1" i="1" baseline="30000" dirty="0"/>
              <a:t>n</a:t>
            </a:r>
            <a:r>
              <a:rPr lang="en-US" altLang="zh-CN" sz="2400" b="1" baseline="30000" dirty="0"/>
              <a:t>+1</a:t>
            </a:r>
            <a:r>
              <a:rPr lang="zh-CN" altLang="en-US" sz="2400" b="1" dirty="0">
                <a:sym typeface="Symbol" panose="05050102010706020507" pitchFamily="18" charset="2"/>
              </a:rPr>
              <a:t>= </a:t>
            </a:r>
            <a:r>
              <a:rPr lang="en-US" altLang="zh-CN" sz="2400" b="1" dirty="0"/>
              <a:t>2</a:t>
            </a:r>
            <a:r>
              <a:rPr lang="en-US" altLang="zh-CN" sz="2400" b="1" i="1" baseline="30000" dirty="0"/>
              <a:t>n</a:t>
            </a:r>
            <a:r>
              <a:rPr lang="en-US" altLang="zh-CN" sz="2400" b="1" baseline="30000" dirty="0"/>
              <a:t>+1</a:t>
            </a:r>
            <a:r>
              <a:rPr lang="zh-CN" altLang="en-US" sz="2400" b="1" dirty="0">
                <a:sym typeface="Symbol" panose="05050102010706020507" pitchFamily="18" charset="2"/>
              </a:rPr>
              <a:t>+</a:t>
            </a:r>
            <a:r>
              <a:rPr lang="en-US" altLang="zh-CN" sz="2400" b="1" dirty="0"/>
              <a:t>2</a:t>
            </a:r>
            <a:r>
              <a:rPr lang="en-US" altLang="zh-CN" sz="2400" b="1" i="1" baseline="30000" dirty="0"/>
              <a:t>n</a:t>
            </a:r>
            <a:r>
              <a:rPr lang="en-US" altLang="zh-CN" sz="2400" b="1" baseline="30000" dirty="0"/>
              <a:t>+1</a:t>
            </a:r>
            <a:r>
              <a:rPr lang="zh-CN" altLang="en-US" sz="2400" b="1" dirty="0">
                <a:sym typeface="Symbol" panose="05050102010706020507" pitchFamily="18" charset="2"/>
              </a:rPr>
              <a:t> </a:t>
            </a:r>
            <a:r>
              <a:rPr lang="en-US" altLang="zh-CN" sz="2400" b="1" dirty="0">
                <a:sym typeface="Symbol" panose="05050102010706020507" pitchFamily="18" charset="2"/>
              </a:rPr>
              <a:t>-2</a:t>
            </a:r>
            <a:r>
              <a:rPr lang="zh-CN" altLang="en-US" sz="2400" b="1" dirty="0">
                <a:sym typeface="Symbol" panose="05050102010706020507" pitchFamily="18" charset="2"/>
              </a:rPr>
              <a:t>= </a:t>
            </a:r>
            <a:r>
              <a:rPr lang="en-US" altLang="zh-CN" sz="2400" b="1" dirty="0"/>
              <a:t>2</a:t>
            </a:r>
            <a:r>
              <a:rPr lang="en-US" altLang="zh-CN" sz="2400" b="1" i="1" baseline="30000" dirty="0"/>
              <a:t>n</a:t>
            </a:r>
            <a:r>
              <a:rPr lang="en-US" altLang="zh-CN" sz="2400" b="1" baseline="30000" dirty="0"/>
              <a:t>+2</a:t>
            </a:r>
            <a:r>
              <a:rPr lang="en-US" altLang="zh-CN" sz="2400" b="1" dirty="0"/>
              <a:t> -</a:t>
            </a:r>
            <a:r>
              <a:rPr lang="zh-CN" altLang="en-US" sz="2400" b="1" dirty="0"/>
              <a:t> 2</a:t>
            </a:r>
            <a:r>
              <a:rPr lang="en-US" altLang="zh-CN" sz="2400" b="0" i="0" dirty="0">
                <a:solidFill>
                  <a:srgbClr val="0C0D0E"/>
                </a:solidFill>
                <a:effectLst/>
              </a:rPr>
              <a:t>.</a:t>
            </a:r>
          </a:p>
          <a:p>
            <a:pPr marL="0" indent="0" algn="l">
              <a:lnSpc>
                <a:spcPct val="120000"/>
              </a:lnSpc>
              <a:spcBef>
                <a:spcPts val="0"/>
              </a:spcBef>
              <a:buNone/>
            </a:pPr>
            <a:r>
              <a:rPr lang="en-US" altLang="zh-CN" sz="2400" b="0" i="0" dirty="0">
                <a:solidFill>
                  <a:srgbClr val="0C0D0E"/>
                </a:solidFill>
                <a:effectLst/>
              </a:rPr>
              <a:t>Thus, the proposition holds for n+1.</a:t>
            </a:r>
          </a:p>
        </p:txBody>
      </p:sp>
      <p:pic>
        <p:nvPicPr>
          <p:cNvPr id="9" name="图片 8">
            <a:extLst>
              <a:ext uri="{FF2B5EF4-FFF2-40B4-BE49-F238E27FC236}">
                <a16:creationId xmlns:a16="http://schemas.microsoft.com/office/drawing/2014/main" id="{170E04B0-1863-4E51-80E7-F16957E5181C}"/>
              </a:ext>
            </a:extLst>
          </p:cNvPr>
          <p:cNvPicPr>
            <a:picLocks noChangeAspect="1"/>
          </p:cNvPicPr>
          <p:nvPr/>
        </p:nvPicPr>
        <p:blipFill>
          <a:blip r:embed="rId5"/>
          <a:stretch>
            <a:fillRect/>
          </a:stretch>
        </p:blipFill>
        <p:spPr>
          <a:xfrm>
            <a:off x="1561647" y="2035147"/>
            <a:ext cx="577850" cy="241300"/>
          </a:xfrm>
          <a:prstGeom prst="rect">
            <a:avLst/>
          </a:prstGeom>
        </p:spPr>
      </p:pic>
    </p:spTree>
    <p:extLst>
      <p:ext uri="{BB962C8B-B14F-4D97-AF65-F5344CB8AC3E}">
        <p14:creationId xmlns:p14="http://schemas.microsoft.com/office/powerpoint/2010/main" val="2667121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3" end="3"/>
                                            </p:txEl>
                                          </p:spTgt>
                                        </p:tgtEl>
                                        <p:attrNameLst>
                                          <p:attrName>style.visibility</p:attrName>
                                        </p:attrNameLst>
                                      </p:cBhvr>
                                      <p:to>
                                        <p:strVal val="visible"/>
                                      </p:to>
                                    </p:set>
                                    <p:animEffect transition="in" filter="fade">
                                      <p:cBhvr>
                                        <p:cTn id="12" dur="1000"/>
                                        <p:tgtEl>
                                          <p:spTgt spid="12">
                                            <p:txEl>
                                              <p:pRg st="3" end="3"/>
                                            </p:txEl>
                                          </p:spTgt>
                                        </p:tgtEl>
                                      </p:cBhvr>
                                    </p:animEffect>
                                    <p:anim calcmode="lin" valueType="num">
                                      <p:cBhvr>
                                        <p:cTn id="13"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fade">
                                      <p:cBhvr>
                                        <p:cTn id="17" dur="1000"/>
                                        <p:tgtEl>
                                          <p:spTgt spid="12">
                                            <p:txEl>
                                              <p:pRg st="4" end="4"/>
                                            </p:txEl>
                                          </p:spTgt>
                                        </p:tgtEl>
                                      </p:cBhvr>
                                    </p:animEffect>
                                    <p:anim calcmode="lin" valueType="num">
                                      <p:cBhvr>
                                        <p:cTn id="18"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2">
                                            <p:txEl>
                                              <p:pRg st="5" end="5"/>
                                            </p:txEl>
                                          </p:spTgt>
                                        </p:tgtEl>
                                        <p:attrNameLst>
                                          <p:attrName>style.visibility</p:attrName>
                                        </p:attrNameLst>
                                      </p:cBhvr>
                                      <p:to>
                                        <p:strVal val="visible"/>
                                      </p:to>
                                    </p:set>
                                    <p:animEffect transition="in" filter="fade">
                                      <p:cBhvr>
                                        <p:cTn id="24" dur="1000"/>
                                        <p:tgtEl>
                                          <p:spTgt spid="12">
                                            <p:txEl>
                                              <p:pRg st="5" end="5"/>
                                            </p:txEl>
                                          </p:spTgt>
                                        </p:tgtEl>
                                      </p:cBhvr>
                                    </p:animEffect>
                                    <p:anim calcmode="lin" valueType="num">
                                      <p:cBhvr>
                                        <p:cTn id="25"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12">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2">
                                            <p:txEl>
                                              <p:pRg st="6" end="6"/>
                                            </p:txEl>
                                          </p:spTgt>
                                        </p:tgtEl>
                                        <p:attrNameLst>
                                          <p:attrName>style.visibility</p:attrName>
                                        </p:attrNameLst>
                                      </p:cBhvr>
                                      <p:to>
                                        <p:strVal val="visible"/>
                                      </p:to>
                                    </p:set>
                                    <p:animEffect transition="in" filter="fade">
                                      <p:cBhvr>
                                        <p:cTn id="29" dur="1000"/>
                                        <p:tgtEl>
                                          <p:spTgt spid="12">
                                            <p:txEl>
                                              <p:pRg st="6" end="6"/>
                                            </p:txEl>
                                          </p:spTgt>
                                        </p:tgtEl>
                                      </p:cBhvr>
                                    </p:animEffect>
                                    <p:anim calcmode="lin" valueType="num">
                                      <p:cBhvr>
                                        <p:cTn id="30"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12">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2">
                                            <p:txEl>
                                              <p:pRg st="7" end="7"/>
                                            </p:txEl>
                                          </p:spTgt>
                                        </p:tgtEl>
                                        <p:attrNameLst>
                                          <p:attrName>style.visibility</p:attrName>
                                        </p:attrNameLst>
                                      </p:cBhvr>
                                      <p:to>
                                        <p:strVal val="visible"/>
                                      </p:to>
                                    </p:set>
                                    <p:animEffect transition="in" filter="fade">
                                      <p:cBhvr>
                                        <p:cTn id="34" dur="1000"/>
                                        <p:tgtEl>
                                          <p:spTgt spid="12">
                                            <p:txEl>
                                              <p:pRg st="7" end="7"/>
                                            </p:txEl>
                                          </p:spTgt>
                                        </p:tgtEl>
                                      </p:cBhvr>
                                    </p:animEffect>
                                    <p:anim calcmode="lin" valueType="num">
                                      <p:cBhvr>
                                        <p:cTn id="35"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1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Proof by Counterexample</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1460879" y="865556"/>
            <a:ext cx="8806544" cy="54498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10000"/>
              </a:lnSpc>
              <a:spcBef>
                <a:spcPts val="0"/>
              </a:spcBef>
              <a:buClr>
                <a:srgbClr val="0B61FF"/>
              </a:buClr>
              <a:buSzPct val="80000"/>
              <a:buFont typeface="Wingdings" panose="05000000000000000000" pitchFamily="2" charset="2"/>
              <a:buChar char="n"/>
            </a:pPr>
            <a:r>
              <a:rPr lang="en-US" altLang="zh-CN" sz="2400" b="0" i="0" dirty="0">
                <a:solidFill>
                  <a:srgbClr val="0C0D0E"/>
                </a:solidFill>
                <a:effectLst/>
              </a:rPr>
              <a:t>The method of </a:t>
            </a:r>
            <a:r>
              <a:rPr lang="en-US" altLang="zh-CN" sz="2400" b="1" i="0" dirty="0">
                <a:solidFill>
                  <a:srgbClr val="0B61FF"/>
                </a:solidFill>
                <a:effectLst/>
              </a:rPr>
              <a:t>counterexamples</a:t>
            </a:r>
            <a:r>
              <a:rPr lang="en-US" altLang="zh-CN" sz="2400" b="0" i="0" dirty="0">
                <a:solidFill>
                  <a:srgbClr val="0C0D0E"/>
                </a:solidFill>
                <a:effectLst/>
              </a:rPr>
              <a:t> involves finding one or more examples to refute a universal statement. This method is typically used to prove that a proposition is incorrect.</a:t>
            </a:r>
          </a:p>
          <a:p>
            <a:pPr marL="0" indent="0" algn="l">
              <a:lnSpc>
                <a:spcPct val="110000"/>
              </a:lnSpc>
              <a:spcBef>
                <a:spcPts val="0"/>
              </a:spcBef>
              <a:buNone/>
            </a:pPr>
            <a:r>
              <a:rPr lang="en-US" altLang="zh-CN" sz="2400" dirty="0">
                <a:solidFill>
                  <a:srgbClr val="0C0D0E"/>
                </a:solidFill>
              </a:rPr>
              <a:t>         </a:t>
            </a:r>
            <a:r>
              <a:rPr lang="en-US" altLang="zh-CN" sz="2400" b="1" i="0" dirty="0">
                <a:solidFill>
                  <a:srgbClr val="0C0D0E"/>
                </a:solidFill>
                <a:effectLst/>
              </a:rPr>
              <a:t>Example(2): </a:t>
            </a:r>
            <a:r>
              <a:rPr lang="en-US" altLang="zh-CN" sz="2400" b="0" i="0" dirty="0">
                <a:solidFill>
                  <a:srgbClr val="0C0D0E"/>
                </a:solidFill>
                <a:effectLst/>
              </a:rPr>
              <a:t>Observe whether </a:t>
            </a:r>
            <a:r>
              <a:rPr lang="zh-CN" altLang="en-US" sz="2400" b="1" dirty="0"/>
              <a:t>2</a:t>
            </a:r>
            <a:r>
              <a:rPr lang="en-US" altLang="zh-CN" sz="2400" b="1" i="1" baseline="30000" dirty="0"/>
              <a:t>n</a:t>
            </a:r>
            <a:r>
              <a:rPr lang="en-US" altLang="zh-CN" sz="2400" b="1" baseline="30000" dirty="0"/>
              <a:t>-1</a:t>
            </a:r>
            <a:r>
              <a:rPr lang="en-US" altLang="zh-CN" sz="2400" b="1" dirty="0"/>
              <a:t>-1</a:t>
            </a:r>
            <a:r>
              <a:rPr lang="zh-CN" altLang="en-US" sz="2400" b="1" dirty="0"/>
              <a:t> </a:t>
            </a:r>
            <a:r>
              <a:rPr lang="en-US" altLang="zh-CN" sz="2400" b="0" i="0" dirty="0">
                <a:solidFill>
                  <a:srgbClr val="0C0D0E"/>
                </a:solidFill>
                <a:effectLst/>
              </a:rPr>
              <a:t>is divisible by n.</a:t>
            </a:r>
          </a:p>
          <a:p>
            <a:pPr marL="0" indent="0" eaLnBrk="1" hangingPunct="1">
              <a:buFontTx/>
              <a:buNone/>
            </a:pPr>
            <a:endParaRPr lang="en-US" altLang="zh-CN" sz="2800" b="1" dirty="0"/>
          </a:p>
          <a:p>
            <a:pPr eaLnBrk="1" hangingPunct="1">
              <a:buFontTx/>
              <a:buNone/>
            </a:pPr>
            <a:endParaRPr lang="zh-CN" altLang="en-US" sz="2800" b="1" dirty="0"/>
          </a:p>
        </p:txBody>
      </p:sp>
      <p:graphicFrame>
        <p:nvGraphicFramePr>
          <p:cNvPr id="11" name="表格 10">
            <a:extLst>
              <a:ext uri="{FF2B5EF4-FFF2-40B4-BE49-F238E27FC236}">
                <a16:creationId xmlns:a16="http://schemas.microsoft.com/office/drawing/2014/main" id="{9AA185DF-5C31-41F6-93B4-733DD63FD5A2}"/>
              </a:ext>
            </a:extLst>
          </p:cNvPr>
          <p:cNvGraphicFramePr>
            <a:graphicFrameLocks noGrp="1"/>
          </p:cNvGraphicFramePr>
          <p:nvPr>
            <p:extLst>
              <p:ext uri="{D42A27DB-BD31-4B8C-83A1-F6EECF244321}">
                <p14:modId xmlns:p14="http://schemas.microsoft.com/office/powerpoint/2010/main" val="845589532"/>
              </p:ext>
            </p:extLst>
          </p:nvPr>
        </p:nvGraphicFramePr>
        <p:xfrm>
          <a:off x="1623877" y="2636400"/>
          <a:ext cx="7252063" cy="4462272"/>
        </p:xfrm>
        <a:graphic>
          <a:graphicData uri="http://schemas.openxmlformats.org/drawingml/2006/table">
            <a:tbl>
              <a:tblPr/>
              <a:tblGrid>
                <a:gridCol w="771496">
                  <a:extLst>
                    <a:ext uri="{9D8B030D-6E8A-4147-A177-3AD203B41FA5}">
                      <a16:colId xmlns:a16="http://schemas.microsoft.com/office/drawing/2014/main" val="3254556205"/>
                    </a:ext>
                  </a:extLst>
                </a:gridCol>
                <a:gridCol w="1620142">
                  <a:extLst>
                    <a:ext uri="{9D8B030D-6E8A-4147-A177-3AD203B41FA5}">
                      <a16:colId xmlns:a16="http://schemas.microsoft.com/office/drawing/2014/main" val="2213098077"/>
                    </a:ext>
                  </a:extLst>
                </a:gridCol>
                <a:gridCol w="1080094">
                  <a:extLst>
                    <a:ext uri="{9D8B030D-6E8A-4147-A177-3AD203B41FA5}">
                      <a16:colId xmlns:a16="http://schemas.microsoft.com/office/drawing/2014/main" val="3056424478"/>
                    </a:ext>
                  </a:extLst>
                </a:gridCol>
                <a:gridCol w="925796">
                  <a:extLst>
                    <a:ext uri="{9D8B030D-6E8A-4147-A177-3AD203B41FA5}">
                      <a16:colId xmlns:a16="http://schemas.microsoft.com/office/drawing/2014/main" val="513100567"/>
                    </a:ext>
                  </a:extLst>
                </a:gridCol>
                <a:gridCol w="1851590">
                  <a:extLst>
                    <a:ext uri="{9D8B030D-6E8A-4147-A177-3AD203B41FA5}">
                      <a16:colId xmlns:a16="http://schemas.microsoft.com/office/drawing/2014/main" val="3469326898"/>
                    </a:ext>
                  </a:extLst>
                </a:gridCol>
                <a:gridCol w="1002945">
                  <a:extLst>
                    <a:ext uri="{9D8B030D-6E8A-4147-A177-3AD203B41FA5}">
                      <a16:colId xmlns:a16="http://schemas.microsoft.com/office/drawing/2014/main" val="162378226"/>
                    </a:ext>
                  </a:extLst>
                </a:gridCol>
              </a:tblGrid>
              <a:tr h="993920">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en-US" altLang="zh-CN" sz="2400" b="1" i="1"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n</a:t>
                      </a:r>
                      <a:r>
                        <a:rPr kumimoji="1" lang="en-US" altLang="zh-CN" sz="24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altLang="zh-CN" sz="2400" b="0" i="0" dirty="0">
                          <a:solidFill>
                            <a:srgbClr val="0C0D0E"/>
                          </a:solidFill>
                          <a:effectLst/>
                        </a:rPr>
                        <a:t>divisible</a:t>
                      </a:r>
                      <a:endPar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endParaRPr kumimoji="1" lang="zh-CN" altLang="en-US"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r>
                        <a:rPr kumimoji="1" lang="en-US" altLang="zh-CN" sz="2400" b="1" i="1"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n</a:t>
                      </a:r>
                      <a:r>
                        <a:rPr kumimoji="1" lang="en-US" altLang="zh-CN" sz="2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endPar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lang="en-US" altLang="zh-CN" sz="2400" b="0" i="0" dirty="0">
                          <a:solidFill>
                            <a:srgbClr val="0C0D0E"/>
                          </a:solidFill>
                          <a:effectLst/>
                        </a:rPr>
                        <a:t>divisible</a:t>
                      </a:r>
                      <a:endPar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04038234"/>
                  </a:ext>
                </a:extLst>
              </a:tr>
              <a:tr h="360116">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Y</a:t>
                      </a:r>
                      <a:endPar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71662619"/>
                  </a:ext>
                </a:extLst>
              </a:tr>
              <a:tr h="360116">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48057705"/>
                  </a:ext>
                </a:extLst>
              </a:tr>
              <a:tr h="360116">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2047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134947525"/>
                  </a:ext>
                </a:extLst>
              </a:tr>
              <a:tr h="360116">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4095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46240207"/>
                  </a:ext>
                </a:extLst>
              </a:tr>
              <a:tr h="360116">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8191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34535878"/>
                  </a:ext>
                </a:extLst>
              </a:tr>
              <a:tr h="360116">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16383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21499774"/>
                  </a:ext>
                </a:extLst>
              </a:tr>
              <a:tr h="360116">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32767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317202522"/>
                  </a:ext>
                </a:extLst>
              </a:tr>
            </a:tbl>
          </a:graphicData>
        </a:graphic>
      </p:graphicFrame>
      <p:pic>
        <p:nvPicPr>
          <p:cNvPr id="10" name="图片 9">
            <a:extLst>
              <a:ext uri="{FF2B5EF4-FFF2-40B4-BE49-F238E27FC236}">
                <a16:creationId xmlns:a16="http://schemas.microsoft.com/office/drawing/2014/main" id="{47BA5803-7EF3-483D-8847-8B038ADA0DAA}"/>
              </a:ext>
            </a:extLst>
          </p:cNvPr>
          <p:cNvPicPr>
            <a:picLocks noChangeAspect="1"/>
          </p:cNvPicPr>
          <p:nvPr/>
        </p:nvPicPr>
        <p:blipFill>
          <a:blip r:embed="rId5"/>
          <a:stretch>
            <a:fillRect/>
          </a:stretch>
        </p:blipFill>
        <p:spPr>
          <a:xfrm>
            <a:off x="1561647" y="2329060"/>
            <a:ext cx="577850" cy="241300"/>
          </a:xfrm>
          <a:prstGeom prst="rect">
            <a:avLst/>
          </a:prstGeom>
        </p:spPr>
      </p:pic>
    </p:spTree>
    <p:extLst>
      <p:ext uri="{BB962C8B-B14F-4D97-AF65-F5344CB8AC3E}">
        <p14:creationId xmlns:p14="http://schemas.microsoft.com/office/powerpoint/2010/main" val="2308364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1000"/>
                                        <p:tgtEl>
                                          <p:spTgt spid="12">
                                            <p:txEl>
                                              <p:pRg st="2" end="2"/>
                                            </p:txEl>
                                          </p:spTgt>
                                        </p:tgtEl>
                                      </p:cBhvr>
                                    </p:animEffect>
                                    <p:anim calcmode="lin" valueType="num">
                                      <p:cBhvr>
                                        <p:cTn id="13"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Proof by Counterexample</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1523998" y="917576"/>
            <a:ext cx="9863139" cy="51206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buFontTx/>
              <a:buNone/>
            </a:pPr>
            <a:endParaRPr lang="en-US" altLang="zh-CN" sz="2800" b="1" dirty="0">
              <a:solidFill>
                <a:srgbClr val="800000"/>
              </a:solidFill>
            </a:endParaRPr>
          </a:p>
          <a:p>
            <a:pPr eaLnBrk="1" hangingPunct="1">
              <a:buFontTx/>
              <a:buNone/>
            </a:pPr>
            <a:endParaRPr lang="en-US" altLang="zh-CN" b="1" dirty="0">
              <a:solidFill>
                <a:srgbClr val="800000"/>
              </a:solidFill>
            </a:endParaRPr>
          </a:p>
          <a:p>
            <a:pPr eaLnBrk="1" hangingPunct="1">
              <a:buFontTx/>
              <a:buNone/>
            </a:pPr>
            <a:endParaRPr lang="en-US" altLang="zh-CN" sz="2800" b="1" dirty="0">
              <a:solidFill>
                <a:srgbClr val="800000"/>
              </a:solidFill>
            </a:endParaRPr>
          </a:p>
          <a:p>
            <a:pPr eaLnBrk="1" hangingPunct="1">
              <a:buFontTx/>
              <a:buNone/>
            </a:pPr>
            <a:endParaRPr lang="en-US" altLang="zh-CN" b="1" dirty="0">
              <a:solidFill>
                <a:srgbClr val="800000"/>
              </a:solidFill>
            </a:endParaRPr>
          </a:p>
          <a:p>
            <a:pPr eaLnBrk="1" hangingPunct="1">
              <a:buFontTx/>
              <a:buNone/>
            </a:pPr>
            <a:endParaRPr lang="en-US" altLang="zh-CN" b="1" dirty="0">
              <a:solidFill>
                <a:srgbClr val="800000"/>
              </a:solidFill>
            </a:endParaRPr>
          </a:p>
          <a:p>
            <a:pPr>
              <a:lnSpc>
                <a:spcPct val="120000"/>
              </a:lnSpc>
              <a:spcBef>
                <a:spcPts val="0"/>
              </a:spcBef>
              <a:buClr>
                <a:srgbClr val="0B61FF"/>
              </a:buClr>
              <a:buSzPct val="80000"/>
              <a:buFont typeface="Wingdings" panose="05000000000000000000" pitchFamily="2" charset="2"/>
              <a:buChar char="n"/>
            </a:pPr>
            <a:r>
              <a:rPr lang="en-US" altLang="zh-CN" sz="2400" b="0" i="0" dirty="0">
                <a:solidFill>
                  <a:srgbClr val="0C0D0E"/>
                </a:solidFill>
                <a:effectLst/>
              </a:rPr>
              <a:t>From the table, we might induce the following proposition: </a:t>
            </a:r>
          </a:p>
          <a:p>
            <a:pPr eaLnBrk="1" hangingPunct="1">
              <a:lnSpc>
                <a:spcPct val="120000"/>
              </a:lnSpc>
              <a:spcBef>
                <a:spcPts val="0"/>
              </a:spcBef>
              <a:buFontTx/>
              <a:buNone/>
            </a:pPr>
            <a:r>
              <a:rPr lang="en-US" altLang="zh-CN" sz="2400" b="0" i="0" dirty="0">
                <a:solidFill>
                  <a:srgbClr val="0C0D0E"/>
                </a:solidFill>
                <a:effectLst/>
              </a:rPr>
              <a:t>Let </a:t>
            </a:r>
            <a:r>
              <a:rPr lang="en-US" altLang="zh-CN" sz="2400" b="0" dirty="0">
                <a:solidFill>
                  <a:srgbClr val="0C0D0E"/>
                </a:solidFill>
                <a:effectLst/>
              </a:rPr>
              <a:t>n≥3</a:t>
            </a:r>
            <a:r>
              <a:rPr lang="en-US" altLang="zh-CN" sz="2400" b="0" i="0" dirty="0">
                <a:solidFill>
                  <a:srgbClr val="0C0D0E"/>
                </a:solidFill>
                <a:effectLst/>
              </a:rPr>
              <a:t>. A necessary and sufficient condition for </a:t>
            </a:r>
            <a:r>
              <a:rPr lang="en-US" altLang="zh-CN" sz="2400" b="0" dirty="0">
                <a:solidFill>
                  <a:srgbClr val="0C0D0E"/>
                </a:solidFill>
                <a:effectLst/>
              </a:rPr>
              <a:t>n</a:t>
            </a:r>
            <a:r>
              <a:rPr lang="en-US" altLang="zh-CN" sz="2400" b="0" i="0" dirty="0">
                <a:solidFill>
                  <a:srgbClr val="0C0D0E"/>
                </a:solidFill>
                <a:effectLst/>
              </a:rPr>
              <a:t> to be a prime number is that </a:t>
            </a:r>
            <a:r>
              <a:rPr lang="en-US" altLang="zh-CN" sz="2400" b="0" dirty="0">
                <a:solidFill>
                  <a:srgbClr val="0C0D0E"/>
                </a:solidFill>
                <a:effectLst/>
              </a:rPr>
              <a:t>2</a:t>
            </a:r>
            <a:r>
              <a:rPr lang="en-US" altLang="zh-CN" sz="2400" b="1" baseline="30000" dirty="0">
                <a:solidFill>
                  <a:srgbClr val="0C0D0E"/>
                </a:solidFill>
                <a:effectLst/>
              </a:rPr>
              <a:t>n−1</a:t>
            </a:r>
            <a:r>
              <a:rPr lang="en-US" altLang="zh-CN" sz="2400" b="0" dirty="0">
                <a:solidFill>
                  <a:srgbClr val="0C0D0E"/>
                </a:solidFill>
                <a:effectLst/>
              </a:rPr>
              <a:t>−1</a:t>
            </a:r>
            <a:r>
              <a:rPr lang="en-US" altLang="zh-CN" sz="2400" b="0" i="0" dirty="0">
                <a:solidFill>
                  <a:srgbClr val="0C0D0E"/>
                </a:solidFill>
                <a:effectLst/>
              </a:rPr>
              <a:t> is divisible by </a:t>
            </a:r>
            <a:r>
              <a:rPr lang="en-US" altLang="zh-CN" sz="2400" b="0" dirty="0">
                <a:solidFill>
                  <a:srgbClr val="0C0D0E"/>
                </a:solidFill>
                <a:effectLst/>
              </a:rPr>
              <a:t>n</a:t>
            </a:r>
            <a:r>
              <a:rPr lang="en-US" altLang="zh-CN" sz="2400" b="0" i="0" dirty="0">
                <a:solidFill>
                  <a:srgbClr val="0C0D0E"/>
                </a:solidFill>
                <a:effectLst/>
              </a:rPr>
              <a:t>. However, this proposition is not true. </a:t>
            </a:r>
          </a:p>
          <a:p>
            <a:pPr eaLnBrk="1" hangingPunct="1">
              <a:lnSpc>
                <a:spcPct val="120000"/>
              </a:lnSpc>
              <a:spcBef>
                <a:spcPts val="0"/>
              </a:spcBef>
              <a:buFontTx/>
              <a:buNone/>
            </a:pPr>
            <a:r>
              <a:rPr lang="en-US" altLang="zh-CN" sz="2400" b="1" i="0" dirty="0">
                <a:solidFill>
                  <a:srgbClr val="0B61FF"/>
                </a:solidFill>
                <a:effectLst/>
              </a:rPr>
              <a:t>Counterexample: </a:t>
            </a:r>
            <a:r>
              <a:rPr lang="en-US" altLang="zh-CN" sz="2400" b="0" dirty="0">
                <a:solidFill>
                  <a:srgbClr val="0C0D0E"/>
                </a:solidFill>
                <a:effectLst/>
              </a:rPr>
              <a:t>561=3×11×17</a:t>
            </a:r>
            <a:r>
              <a:rPr lang="en-US" altLang="zh-CN" sz="2400" b="0" i="0" dirty="0">
                <a:solidFill>
                  <a:srgbClr val="0C0D0E"/>
                </a:solidFill>
                <a:effectLst/>
              </a:rPr>
              <a:t> is a composite number, yet </a:t>
            </a:r>
            <a:r>
              <a:rPr lang="en-US" altLang="zh-CN" sz="2400" b="0" dirty="0">
                <a:solidFill>
                  <a:srgbClr val="0C0D0E"/>
                </a:solidFill>
                <a:effectLst/>
              </a:rPr>
              <a:t>2560−1</a:t>
            </a:r>
            <a:r>
              <a:rPr lang="en-US" altLang="zh-CN" sz="2400" b="0" i="0" dirty="0">
                <a:solidFill>
                  <a:srgbClr val="0C0D0E"/>
                </a:solidFill>
                <a:effectLst/>
              </a:rPr>
              <a:t> is divisible by 561.</a:t>
            </a:r>
            <a:endParaRPr lang="zh-CN" altLang="en-US" sz="2400" b="1" dirty="0"/>
          </a:p>
        </p:txBody>
      </p:sp>
      <p:graphicFrame>
        <p:nvGraphicFramePr>
          <p:cNvPr id="4" name="表格 3">
            <a:extLst>
              <a:ext uri="{FF2B5EF4-FFF2-40B4-BE49-F238E27FC236}">
                <a16:creationId xmlns:a16="http://schemas.microsoft.com/office/drawing/2014/main" id="{DCD1C08C-F334-4EF2-81C2-DC60398C56D6}"/>
              </a:ext>
            </a:extLst>
          </p:cNvPr>
          <p:cNvGraphicFramePr>
            <a:graphicFrameLocks noGrp="1"/>
          </p:cNvGraphicFramePr>
          <p:nvPr>
            <p:extLst>
              <p:ext uri="{D42A27DB-BD31-4B8C-83A1-F6EECF244321}">
                <p14:modId xmlns:p14="http://schemas.microsoft.com/office/powerpoint/2010/main" val="4132632784"/>
              </p:ext>
            </p:extLst>
          </p:nvPr>
        </p:nvGraphicFramePr>
        <p:xfrm>
          <a:off x="1750786" y="917575"/>
          <a:ext cx="7162800" cy="2286000"/>
        </p:xfrm>
        <a:graphic>
          <a:graphicData uri="http://schemas.openxmlformats.org/drawingml/2006/table">
            <a:tbl>
              <a:tblPr/>
              <a:tblGrid>
                <a:gridCol w="762000">
                  <a:extLst>
                    <a:ext uri="{9D8B030D-6E8A-4147-A177-3AD203B41FA5}">
                      <a16:colId xmlns:a16="http://schemas.microsoft.com/office/drawing/2014/main" val="3255874516"/>
                    </a:ext>
                  </a:extLst>
                </a:gridCol>
                <a:gridCol w="1600200">
                  <a:extLst>
                    <a:ext uri="{9D8B030D-6E8A-4147-A177-3AD203B41FA5}">
                      <a16:colId xmlns:a16="http://schemas.microsoft.com/office/drawing/2014/main" val="571145980"/>
                    </a:ext>
                  </a:extLst>
                </a:gridCol>
                <a:gridCol w="1066800">
                  <a:extLst>
                    <a:ext uri="{9D8B030D-6E8A-4147-A177-3AD203B41FA5}">
                      <a16:colId xmlns:a16="http://schemas.microsoft.com/office/drawing/2014/main" val="3958150289"/>
                    </a:ext>
                  </a:extLst>
                </a:gridCol>
                <a:gridCol w="914400">
                  <a:extLst>
                    <a:ext uri="{9D8B030D-6E8A-4147-A177-3AD203B41FA5}">
                      <a16:colId xmlns:a16="http://schemas.microsoft.com/office/drawing/2014/main" val="3330022258"/>
                    </a:ext>
                  </a:extLst>
                </a:gridCol>
                <a:gridCol w="1828800">
                  <a:extLst>
                    <a:ext uri="{9D8B030D-6E8A-4147-A177-3AD203B41FA5}">
                      <a16:colId xmlns:a16="http://schemas.microsoft.com/office/drawing/2014/main" val="53147588"/>
                    </a:ext>
                  </a:extLst>
                </a:gridCol>
                <a:gridCol w="990600">
                  <a:extLst>
                    <a:ext uri="{9D8B030D-6E8A-4147-A177-3AD203B41FA5}">
                      <a16:colId xmlns:a16="http://schemas.microsoft.com/office/drawing/2014/main" val="3093829773"/>
                    </a:ext>
                  </a:extLst>
                </a:gridCol>
              </a:tblGrid>
              <a:tr h="350838">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r>
                        <a:rPr kumimoji="1" lang="en-US" altLang="zh-CN" sz="2400" b="1" i="1"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n</a:t>
                      </a:r>
                      <a:r>
                        <a:rPr kumimoji="1" lang="en-US" altLang="zh-CN" sz="24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整除</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endParaRPr kumimoji="1" lang="zh-CN" altLang="en-US" sz="2400" b="1" i="1"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r>
                        <a:rPr kumimoji="1" lang="en-US" altLang="zh-CN" sz="2400" b="1" i="1"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n</a:t>
                      </a:r>
                      <a:r>
                        <a:rPr kumimoji="1" lang="en-US" altLang="zh-CN" sz="24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-1</a:t>
                      </a: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整除</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599475951"/>
                  </a:ext>
                </a:extLst>
              </a:tr>
              <a:tr h="352425">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65535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sym typeface="Symbol" panose="05050102010706020507" pitchFamily="18" charset="2"/>
                        </a:rPr>
                        <a:t>Y</a:t>
                      </a:r>
                      <a:endPar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1048575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627860372"/>
                  </a:ext>
                </a:extLst>
              </a:tr>
              <a:tr h="350838">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131071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2097151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25667113"/>
                  </a:ext>
                </a:extLst>
              </a:tr>
              <a:tr h="441325">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262143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4194303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504929053"/>
                  </a:ext>
                </a:extLst>
              </a:tr>
              <a:tr h="350838">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524287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8388607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gn="l"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algn="l"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algn="l"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algn="l"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16765594"/>
                  </a:ext>
                </a:extLst>
              </a:tr>
            </a:tbl>
          </a:graphicData>
        </a:graphic>
      </p:graphicFrame>
    </p:spTree>
    <p:extLst>
      <p:ext uri="{BB962C8B-B14F-4D97-AF65-F5344CB8AC3E}">
        <p14:creationId xmlns:p14="http://schemas.microsoft.com/office/powerpoint/2010/main" val="24100784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6" end="6"/>
                                            </p:txEl>
                                          </p:spTgt>
                                        </p:tgtEl>
                                        <p:attrNameLst>
                                          <p:attrName>style.visibility</p:attrName>
                                        </p:attrNameLst>
                                      </p:cBhvr>
                                      <p:to>
                                        <p:strVal val="visible"/>
                                      </p:to>
                                    </p:set>
                                    <p:animEffect transition="in" filter="fade">
                                      <p:cBhvr>
                                        <p:cTn id="7" dur="1000"/>
                                        <p:tgtEl>
                                          <p:spTgt spid="12">
                                            <p:txEl>
                                              <p:pRg st="6" end="6"/>
                                            </p:txEl>
                                          </p:spTgt>
                                        </p:tgtEl>
                                      </p:cBhvr>
                                    </p:animEffect>
                                    <p:anim calcmode="lin" valueType="num">
                                      <p:cBhvr>
                                        <p:cTn id="8"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6" end="6"/>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7" end="7"/>
                                            </p:txEl>
                                          </p:spTgt>
                                        </p:tgtEl>
                                        <p:attrNameLst>
                                          <p:attrName>style.visibility</p:attrName>
                                        </p:attrNameLst>
                                      </p:cBhvr>
                                      <p:to>
                                        <p:strVal val="visible"/>
                                      </p:to>
                                    </p:set>
                                    <p:animEffect transition="in" filter="fade">
                                      <p:cBhvr>
                                        <p:cTn id="12" dur="1000"/>
                                        <p:tgtEl>
                                          <p:spTgt spid="12">
                                            <p:txEl>
                                              <p:pRg st="7" end="7"/>
                                            </p:txEl>
                                          </p:spTgt>
                                        </p:tgtEl>
                                      </p:cBhvr>
                                    </p:animEffect>
                                    <p:anim calcmode="lin" valueType="num">
                                      <p:cBhvr>
                                        <p:cTn id="13"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7" end="7"/>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xEl>
                                              <p:pRg st="8" end="8"/>
                                            </p:txEl>
                                          </p:spTgt>
                                        </p:tgtEl>
                                        <p:attrNameLst>
                                          <p:attrName>style.visibility</p:attrName>
                                        </p:attrNameLst>
                                      </p:cBhvr>
                                      <p:to>
                                        <p:strVal val="visible"/>
                                      </p:to>
                                    </p:set>
                                    <p:animEffect transition="in" filter="fade">
                                      <p:cBhvr>
                                        <p:cTn id="17" dur="1000"/>
                                        <p:tgtEl>
                                          <p:spTgt spid="12">
                                            <p:txEl>
                                              <p:pRg st="8" end="8"/>
                                            </p:txEl>
                                          </p:spTgt>
                                        </p:tgtEl>
                                      </p:cBhvr>
                                    </p:animEffect>
                                    <p:anim calcmode="lin" valueType="num">
                                      <p:cBhvr>
                                        <p:cTn id="18" dur="1000" fill="hold"/>
                                        <p:tgtEl>
                                          <p:spTgt spid="12">
                                            <p:txEl>
                                              <p:pRg st="8" end="8"/>
                                            </p:txEl>
                                          </p:spTgt>
                                        </p:tgtEl>
                                        <p:attrNameLst>
                                          <p:attrName>ppt_x</p:attrName>
                                        </p:attrNameLst>
                                      </p:cBhvr>
                                      <p:tavLst>
                                        <p:tav tm="0">
                                          <p:val>
                                            <p:strVal val="#ppt_x"/>
                                          </p:val>
                                        </p:tav>
                                        <p:tav tm="100000">
                                          <p:val>
                                            <p:strVal val="#ppt_x"/>
                                          </p:val>
                                        </p:tav>
                                      </p:tavLst>
                                    </p:anim>
                                    <p:anim calcmode="lin" valueType="num">
                                      <p:cBhvr>
                                        <p:cTn id="19" dur="1000" fill="hold"/>
                                        <p:tgtEl>
                                          <p:spTgt spid="1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cs typeface="Times New Roman" panose="02020603050405020304" pitchFamily="18" charset="0"/>
              </a:rPr>
              <a:t>                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Complete Induction</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1523999" y="917576"/>
            <a:ext cx="9644744" cy="50107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20000"/>
              </a:lnSpc>
              <a:spcBef>
                <a:spcPts val="0"/>
              </a:spcBef>
              <a:buClr>
                <a:srgbClr val="0B61FF"/>
              </a:buClr>
              <a:buSzPct val="80000"/>
              <a:buFont typeface="Wingdings" panose="05000000000000000000" pitchFamily="2" charset="2"/>
              <a:buChar char="n"/>
            </a:pPr>
            <a:r>
              <a:rPr lang="en-US" altLang="zh-CN" sz="2400" b="1" dirty="0">
                <a:solidFill>
                  <a:srgbClr val="0B61FF"/>
                </a:solidFill>
              </a:rPr>
              <a:t>Complete Induction</a:t>
            </a:r>
            <a:r>
              <a:rPr lang="en-US" altLang="zh-CN" sz="2400" dirty="0">
                <a:solidFill>
                  <a:srgbClr val="0B61FF"/>
                </a:solidFill>
              </a:rPr>
              <a:t> </a:t>
            </a:r>
            <a:r>
              <a:rPr lang="en-US" altLang="zh-CN" sz="2400" dirty="0"/>
              <a:t>(also known as </a:t>
            </a:r>
            <a:r>
              <a:rPr lang="en-US" altLang="zh-CN" sz="2400" b="1" dirty="0"/>
              <a:t>Strong Induction</a:t>
            </a:r>
            <a:r>
              <a:rPr lang="en-US" altLang="zh-CN" sz="2400" dirty="0"/>
              <a:t>) is a proof technique used to establish the truth of a statement for all integers greater than or equal to a certain number. It is an extension of the principle of mathematical induction, where, instead of assuming the truth of the statement only for the immediate predecessor (i.e., P(k)), it assumes the truth of the statement for all values from the base case up to k.</a:t>
            </a:r>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Base Case:</a:t>
            </a:r>
            <a:r>
              <a:rPr lang="en-US" altLang="zh-CN" sz="2400" b="0" i="0" dirty="0">
                <a:solidFill>
                  <a:srgbClr val="0C0D0E"/>
                </a:solidFill>
                <a:effectLst/>
              </a:rPr>
              <a:t> Prove that P(n</a:t>
            </a:r>
            <a:r>
              <a:rPr lang="en-US" altLang="zh-CN" sz="2400" b="1" i="0" baseline="-25000" dirty="0">
                <a:solidFill>
                  <a:srgbClr val="0C0D0E"/>
                </a:solidFill>
                <a:effectLst/>
              </a:rPr>
              <a:t>0</a:t>
            </a:r>
            <a:r>
              <a:rPr lang="en-US" altLang="zh-CN" sz="2400" b="0" i="0" dirty="0">
                <a:solidFill>
                  <a:srgbClr val="0C0D0E"/>
                </a:solidFill>
                <a:effectLst/>
              </a:rPr>
              <a:t>) is true.</a:t>
            </a:r>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Inductive Step:</a:t>
            </a:r>
            <a:r>
              <a:rPr lang="en-US" altLang="zh-CN" sz="2400" b="0" i="0" dirty="0">
                <a:solidFill>
                  <a:srgbClr val="0C0D0E"/>
                </a:solidFill>
                <a:effectLst/>
              </a:rPr>
              <a:t> For all x (where x≥ n</a:t>
            </a:r>
            <a:r>
              <a:rPr lang="en-US" altLang="zh-CN" sz="2400" b="1" i="0" baseline="-25000" dirty="0">
                <a:solidFill>
                  <a:srgbClr val="0C0D0E"/>
                </a:solidFill>
                <a:effectLst/>
              </a:rPr>
              <a:t>0</a:t>
            </a:r>
            <a:r>
              <a:rPr lang="en-US" altLang="zh-CN" sz="2400" b="0" i="0" dirty="0">
                <a:solidFill>
                  <a:srgbClr val="0C0D0E"/>
                </a:solidFill>
                <a:effectLst/>
              </a:rPr>
              <a:t>), </a:t>
            </a:r>
            <a:r>
              <a:rPr lang="en-US" altLang="zh-CN" sz="2400" b="1" i="0" dirty="0">
                <a:solidFill>
                  <a:srgbClr val="0B61FF"/>
                </a:solidFill>
                <a:effectLst/>
              </a:rPr>
              <a:t>assume</a:t>
            </a:r>
            <a:r>
              <a:rPr lang="en-US" altLang="zh-CN" sz="2400" b="0" i="0" dirty="0">
                <a:solidFill>
                  <a:srgbClr val="0C0D0E"/>
                </a:solidFill>
                <a:effectLst/>
              </a:rPr>
              <a:t> P(n</a:t>
            </a:r>
            <a:r>
              <a:rPr lang="en-US" altLang="zh-CN" sz="2400" b="1" i="0" baseline="-25000" dirty="0">
                <a:solidFill>
                  <a:srgbClr val="0C0D0E"/>
                </a:solidFill>
                <a:effectLst/>
              </a:rPr>
              <a:t>0</a:t>
            </a:r>
            <a:r>
              <a:rPr lang="en-US" altLang="zh-CN" sz="2400" b="0" i="0" dirty="0">
                <a:solidFill>
                  <a:srgbClr val="0C0D0E"/>
                </a:solidFill>
                <a:effectLst/>
              </a:rPr>
              <a:t>),P(n</a:t>
            </a:r>
            <a:r>
              <a:rPr lang="en-US" altLang="zh-CN" sz="2400" b="1" i="0" baseline="-25000" dirty="0">
                <a:solidFill>
                  <a:srgbClr val="0C0D0E"/>
                </a:solidFill>
                <a:effectLst/>
              </a:rPr>
              <a:t>0 </a:t>
            </a:r>
            <a:r>
              <a:rPr lang="en-US" altLang="zh-CN" sz="2400" b="0" i="0" dirty="0">
                <a:solidFill>
                  <a:srgbClr val="0C0D0E"/>
                </a:solidFill>
                <a:effectLst/>
              </a:rPr>
              <a:t>+1),…,P(x) are true, and prove that P(x+1) is true.</a:t>
            </a:r>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Inductive Hypothesis:</a:t>
            </a:r>
            <a:r>
              <a:rPr lang="en-US" altLang="zh-CN" sz="2400" b="0" i="0" dirty="0">
                <a:solidFill>
                  <a:srgbClr val="0C0D0E"/>
                </a:solidFill>
                <a:effectLst/>
              </a:rPr>
              <a:t> For all y (where  n</a:t>
            </a:r>
            <a:r>
              <a:rPr lang="en-US" altLang="zh-CN" sz="2400" b="1" i="0" baseline="-25000" dirty="0">
                <a:solidFill>
                  <a:srgbClr val="0C0D0E"/>
                </a:solidFill>
                <a:effectLst/>
              </a:rPr>
              <a:t>0 </a:t>
            </a:r>
            <a:r>
              <a:rPr lang="en-US" altLang="zh-CN" sz="2400" b="0" i="0" dirty="0">
                <a:solidFill>
                  <a:srgbClr val="0C0D0E"/>
                </a:solidFill>
                <a:effectLst/>
              </a:rPr>
              <a:t>≤y≤x), P(y) is true.</a:t>
            </a:r>
          </a:p>
          <a:p>
            <a:pPr algn="l">
              <a:lnSpc>
                <a:spcPct val="100000"/>
              </a:lnSpc>
            </a:pPr>
            <a:endParaRPr lang="en-US" altLang="zh-CN" sz="2400" b="0" i="0" dirty="0">
              <a:solidFill>
                <a:srgbClr val="0C0D0E"/>
              </a:solidFill>
              <a:effectLst/>
            </a:endParaRPr>
          </a:p>
        </p:txBody>
      </p:sp>
    </p:spTree>
    <p:extLst>
      <p:ext uri="{BB962C8B-B14F-4D97-AF65-F5344CB8AC3E}">
        <p14:creationId xmlns:p14="http://schemas.microsoft.com/office/powerpoint/2010/main" val="5875315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3" end="3"/>
                                            </p:txEl>
                                          </p:spTgt>
                                        </p:tgtEl>
                                        <p:attrNameLst>
                                          <p:attrName>style.visibility</p:attrName>
                                        </p:attrNameLst>
                                      </p:cBhvr>
                                      <p:to>
                                        <p:strVal val="visible"/>
                                      </p:to>
                                    </p:set>
                                    <p:animEffect transition="in" filter="fade">
                                      <p:cBhvr>
                                        <p:cTn id="14" dur="1000"/>
                                        <p:tgtEl>
                                          <p:spTgt spid="12">
                                            <p:txEl>
                                              <p:pRg st="3" end="3"/>
                                            </p:txEl>
                                          </p:spTgt>
                                        </p:tgtEl>
                                      </p:cBhvr>
                                    </p:animEffect>
                                    <p:anim calcmode="lin" valueType="num">
                                      <p:cBhvr>
                                        <p:cTn id="1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fade">
                                      <p:cBhvr>
                                        <p:cTn id="21" dur="1000"/>
                                        <p:tgtEl>
                                          <p:spTgt spid="12">
                                            <p:txEl>
                                              <p:pRg st="4" end="4"/>
                                            </p:txEl>
                                          </p:spTgt>
                                        </p:tgtEl>
                                      </p:cBhvr>
                                    </p:animEffect>
                                    <p:anim calcmode="lin" valueType="num">
                                      <p:cBhvr>
                                        <p:cTn id="22"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cs typeface="Times New Roman" panose="02020603050405020304" pitchFamily="18" charset="0"/>
              </a:rPr>
              <a:t>                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Complete Induction(</a:t>
            </a:r>
            <a:r>
              <a:rPr lang="en-US" altLang="zh-CN" sz="2400" b="1" i="0" dirty="0" err="1">
                <a:solidFill>
                  <a:schemeClr val="bg1"/>
                </a:solidFill>
                <a:effectLst/>
                <a:latin typeface="+mj-lt"/>
              </a:rPr>
              <a:t>e.g</a:t>
            </a:r>
            <a:r>
              <a:rPr lang="en-US" altLang="zh-CN" sz="2400" b="1" i="0" dirty="0">
                <a:solidFill>
                  <a:schemeClr val="bg1"/>
                </a:solidFill>
                <a:effectLst/>
                <a:latin typeface="+mj-lt"/>
              </a:rPr>
              <a:t>)</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824682" y="688976"/>
            <a:ext cx="9995719" cy="586422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marL="0" indent="0" algn="l">
              <a:lnSpc>
                <a:spcPct val="100000"/>
              </a:lnSpc>
              <a:spcBef>
                <a:spcPts val="0"/>
              </a:spcBef>
              <a:buNone/>
            </a:pPr>
            <a:r>
              <a:rPr lang="en-US" altLang="zh-CN" sz="2400" b="1" i="0" dirty="0">
                <a:solidFill>
                  <a:srgbClr val="0C0D0E"/>
                </a:solidFill>
                <a:effectLst/>
              </a:rPr>
              <a:t>        Example 9:</a:t>
            </a:r>
            <a:r>
              <a:rPr lang="en-US" altLang="zh-CN" sz="2400" b="0" i="0" dirty="0">
                <a:solidFill>
                  <a:srgbClr val="0C0D0E"/>
                </a:solidFill>
                <a:effectLst/>
              </a:rPr>
              <a:t> Every integer greater than or equal to 2 can be expressed as a product of prime numbers.</a:t>
            </a:r>
            <a:br>
              <a:rPr lang="en-US" altLang="zh-CN" sz="2400" b="0" i="0" dirty="0">
                <a:solidFill>
                  <a:srgbClr val="0C0D0E"/>
                </a:solidFill>
                <a:effectLst/>
              </a:rPr>
            </a:br>
            <a:r>
              <a:rPr lang="en-US" altLang="zh-CN" sz="2400" b="1" i="0" dirty="0">
                <a:solidFill>
                  <a:srgbClr val="0C0D0E"/>
                </a:solidFill>
                <a:effectLst/>
              </a:rPr>
              <a:t>Proof:</a:t>
            </a:r>
            <a:endParaRPr lang="en-US" altLang="zh-CN" sz="2400" b="0" i="0" dirty="0">
              <a:solidFill>
                <a:srgbClr val="0C0D0E"/>
              </a:solidFill>
              <a:effectLst/>
            </a:endParaRPr>
          </a:p>
          <a:p>
            <a:pPr marL="0" indent="0" algn="l">
              <a:lnSpc>
                <a:spcPct val="100000"/>
              </a:lnSpc>
              <a:spcBef>
                <a:spcPts val="0"/>
              </a:spcBef>
              <a:buNone/>
            </a:pPr>
            <a:r>
              <a:rPr lang="en-US" altLang="zh-CN" sz="2400" b="1" i="0" dirty="0">
                <a:solidFill>
                  <a:srgbClr val="0C0D0E"/>
                </a:solidFill>
                <a:effectLst/>
              </a:rPr>
              <a:t>Base Case:</a:t>
            </a:r>
            <a:r>
              <a:rPr lang="en-US" altLang="zh-CN" sz="2400" b="0" i="0" dirty="0">
                <a:solidFill>
                  <a:srgbClr val="0C0D0E"/>
                </a:solidFill>
                <a:effectLst/>
              </a:rPr>
              <a:t> For n=2, the statement is obviously true.</a:t>
            </a:r>
          </a:p>
          <a:p>
            <a:pPr marL="0" indent="0" algn="l">
              <a:lnSpc>
                <a:spcPct val="100000"/>
              </a:lnSpc>
              <a:spcBef>
                <a:spcPts val="0"/>
              </a:spcBef>
              <a:buNone/>
            </a:pPr>
            <a:r>
              <a:rPr lang="en-US" altLang="zh-CN" sz="2400" b="1" i="0" dirty="0">
                <a:solidFill>
                  <a:srgbClr val="0C0D0E"/>
                </a:solidFill>
                <a:effectLst/>
              </a:rPr>
              <a:t>Inductive Step:</a:t>
            </a:r>
            <a:r>
              <a:rPr lang="en-US" altLang="zh-CN" sz="2400" b="0" i="0" dirty="0">
                <a:solidFill>
                  <a:srgbClr val="0C0D0E"/>
                </a:solidFill>
                <a:effectLst/>
              </a:rPr>
              <a:t> Assume that for all integers k such that 2≤k≤n, the statement holds true. We need to show that the statement also holds for n+1.</a:t>
            </a:r>
          </a:p>
          <a:p>
            <a:pPr lvl="1" algn="l">
              <a:lnSpc>
                <a:spcPct val="100000"/>
              </a:lnSpc>
              <a:spcBef>
                <a:spcPts val="0"/>
              </a:spcBef>
              <a:buClr>
                <a:srgbClr val="0B61FF"/>
              </a:buClr>
              <a:buSzPct val="120000"/>
            </a:pPr>
            <a:r>
              <a:rPr lang="en-US" altLang="zh-CN" b="0" i="0" dirty="0">
                <a:solidFill>
                  <a:srgbClr val="0C0D0E"/>
                </a:solidFill>
                <a:effectLst/>
              </a:rPr>
              <a:t>If n+1 is a prime number, then the statement is true.</a:t>
            </a:r>
          </a:p>
          <a:p>
            <a:pPr lvl="1" algn="l">
              <a:lnSpc>
                <a:spcPct val="100000"/>
              </a:lnSpc>
              <a:spcBef>
                <a:spcPts val="0"/>
              </a:spcBef>
              <a:buClr>
                <a:srgbClr val="0B61FF"/>
              </a:buClr>
              <a:buSzPct val="120000"/>
            </a:pPr>
            <a:r>
              <a:rPr lang="en-US" altLang="zh-CN" b="0" i="0" dirty="0">
                <a:solidFill>
                  <a:srgbClr val="0C0D0E"/>
                </a:solidFill>
                <a:effectLst/>
              </a:rPr>
              <a:t>If n+1 is not a prime number, then it can be expressed as n+1=</a:t>
            </a:r>
            <a:r>
              <a:rPr lang="en-US" altLang="zh-CN" b="0" i="0" dirty="0" err="1">
                <a:solidFill>
                  <a:srgbClr val="0C0D0E"/>
                </a:solidFill>
                <a:effectLst/>
              </a:rPr>
              <a:t>a×b</a:t>
            </a:r>
            <a:r>
              <a:rPr lang="en-US" altLang="zh-CN" b="0" i="0" dirty="0">
                <a:solidFill>
                  <a:srgbClr val="0C0D0E"/>
                </a:solidFill>
                <a:effectLst/>
              </a:rPr>
              <a:t>, where 2≤a,b&lt;n.</a:t>
            </a:r>
          </a:p>
          <a:p>
            <a:pPr lvl="1" algn="l">
              <a:lnSpc>
                <a:spcPct val="100000"/>
              </a:lnSpc>
              <a:spcBef>
                <a:spcPts val="0"/>
              </a:spcBef>
              <a:buClr>
                <a:srgbClr val="0B61FF"/>
              </a:buClr>
              <a:buSzPct val="120000"/>
            </a:pPr>
            <a:r>
              <a:rPr lang="en-US" altLang="zh-CN" b="0" i="0" dirty="0">
                <a:solidFill>
                  <a:srgbClr val="0C0D0E"/>
                </a:solidFill>
                <a:effectLst/>
              </a:rPr>
              <a:t>By the inductive hypothesis, both a and b can be expressed as products of prime numbers. Therefore, n+1 can also be expressed as a product of prime numbers.    </a:t>
            </a:r>
            <a:r>
              <a:rPr lang="en-US" altLang="zh-CN" sz="2400" b="1" i="0" dirty="0">
                <a:solidFill>
                  <a:srgbClr val="0C0D0E"/>
                </a:solidFill>
                <a:effectLst/>
              </a:rPr>
              <a:t>Thus</a:t>
            </a:r>
            <a:r>
              <a:rPr lang="en-US" altLang="zh-CN" sz="2400" b="0" i="0" dirty="0">
                <a:solidFill>
                  <a:srgbClr val="0C0D0E"/>
                </a:solidFill>
                <a:effectLst/>
              </a:rPr>
              <a:t>, the statement holds for n+1.</a:t>
            </a:r>
          </a:p>
          <a:p>
            <a:pPr marL="0" indent="0">
              <a:lnSpc>
                <a:spcPct val="110000"/>
              </a:lnSpc>
              <a:spcBef>
                <a:spcPts val="500"/>
              </a:spcBef>
              <a:buNone/>
            </a:pPr>
            <a:r>
              <a:rPr lang="en-US" altLang="zh-CN" sz="2000" dirty="0">
                <a:solidFill>
                  <a:srgbClr val="0C0D0E"/>
                </a:solidFill>
              </a:rPr>
              <a:t>The base case of strong induction does not merely assume that the proposition holds for a specific natural number  n; instead, it assumes that the proposition holds for all natural numbers less than or equal to n. Based on this stronger assumption, we then prove that the proposition holds for n + 1.</a:t>
            </a:r>
          </a:p>
          <a:p>
            <a:pPr marL="0" indent="0" algn="l">
              <a:lnSpc>
                <a:spcPct val="110000"/>
              </a:lnSpc>
              <a:spcBef>
                <a:spcPts val="500"/>
              </a:spcBef>
              <a:buNone/>
            </a:pPr>
            <a:endParaRPr lang="en-US" altLang="zh-CN" sz="2400" b="0" i="0" dirty="0">
              <a:solidFill>
                <a:srgbClr val="0C0D0E"/>
              </a:solidFill>
              <a:effectLst/>
            </a:endParaRPr>
          </a:p>
          <a:p>
            <a:pPr algn="l">
              <a:lnSpc>
                <a:spcPct val="100000"/>
              </a:lnSpc>
            </a:pPr>
            <a:endParaRPr lang="en-US" altLang="zh-CN" sz="2400" b="0" i="0" dirty="0">
              <a:solidFill>
                <a:srgbClr val="0C0D0E"/>
              </a:solidFill>
              <a:effectLst/>
            </a:endParaRPr>
          </a:p>
        </p:txBody>
      </p:sp>
      <p:pic>
        <p:nvPicPr>
          <p:cNvPr id="9" name="图片 8">
            <a:extLst>
              <a:ext uri="{FF2B5EF4-FFF2-40B4-BE49-F238E27FC236}">
                <a16:creationId xmlns:a16="http://schemas.microsoft.com/office/drawing/2014/main" id="{937B16CB-54E3-4E0B-A245-3545311EFDC0}"/>
              </a:ext>
            </a:extLst>
          </p:cNvPr>
          <p:cNvPicPr>
            <a:picLocks noChangeAspect="1"/>
          </p:cNvPicPr>
          <p:nvPr/>
        </p:nvPicPr>
        <p:blipFill>
          <a:blip r:embed="rId5"/>
          <a:stretch>
            <a:fillRect/>
          </a:stretch>
        </p:blipFill>
        <p:spPr>
          <a:xfrm>
            <a:off x="897617" y="892146"/>
            <a:ext cx="577850" cy="241300"/>
          </a:xfrm>
          <a:prstGeom prst="rect">
            <a:avLst/>
          </a:prstGeom>
        </p:spPr>
      </p:pic>
    </p:spTree>
    <p:extLst>
      <p:ext uri="{BB962C8B-B14F-4D97-AF65-F5344CB8AC3E}">
        <p14:creationId xmlns:p14="http://schemas.microsoft.com/office/powerpoint/2010/main" val="20696135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3" end="3"/>
                                            </p:txEl>
                                          </p:spTgt>
                                        </p:tgtEl>
                                        <p:attrNameLst>
                                          <p:attrName>style.visibility</p:attrName>
                                        </p:attrNameLst>
                                      </p:cBhvr>
                                      <p:to>
                                        <p:strVal val="visible"/>
                                      </p:to>
                                    </p:set>
                                    <p:animEffect transition="in" filter="fade">
                                      <p:cBhvr>
                                        <p:cTn id="14" dur="1000"/>
                                        <p:tgtEl>
                                          <p:spTgt spid="12">
                                            <p:txEl>
                                              <p:pRg st="3" end="3"/>
                                            </p:txEl>
                                          </p:spTgt>
                                        </p:tgtEl>
                                      </p:cBhvr>
                                    </p:animEffect>
                                    <p:anim calcmode="lin" valueType="num">
                                      <p:cBhvr>
                                        <p:cTn id="1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fade">
                                      <p:cBhvr>
                                        <p:cTn id="21" dur="1000"/>
                                        <p:tgtEl>
                                          <p:spTgt spid="12">
                                            <p:txEl>
                                              <p:pRg st="4" end="4"/>
                                            </p:txEl>
                                          </p:spTgt>
                                        </p:tgtEl>
                                      </p:cBhvr>
                                    </p:animEffect>
                                    <p:anim calcmode="lin" valueType="num">
                                      <p:cBhvr>
                                        <p:cTn id="22"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xEl>
                                              <p:pRg st="5" end="5"/>
                                            </p:txEl>
                                          </p:spTgt>
                                        </p:tgtEl>
                                        <p:attrNameLst>
                                          <p:attrName>style.visibility</p:attrName>
                                        </p:attrNameLst>
                                      </p:cBhvr>
                                      <p:to>
                                        <p:strVal val="visible"/>
                                      </p:to>
                                    </p:set>
                                    <p:animEffect transition="in" filter="fade">
                                      <p:cBhvr>
                                        <p:cTn id="28" dur="1000"/>
                                        <p:tgtEl>
                                          <p:spTgt spid="12">
                                            <p:txEl>
                                              <p:pRg st="5" end="5"/>
                                            </p:txEl>
                                          </p:spTgt>
                                        </p:tgtEl>
                                      </p:cBhvr>
                                    </p:animEffect>
                                    <p:anim calcmode="lin" valueType="num">
                                      <p:cBhvr>
                                        <p:cTn id="29"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animEffect transition="in" filter="fade">
                                      <p:cBhvr>
                                        <p:cTn id="35" dur="1000"/>
                                        <p:tgtEl>
                                          <p:spTgt spid="12">
                                            <p:txEl>
                                              <p:pRg st="6" end="6"/>
                                            </p:txEl>
                                          </p:spTgt>
                                        </p:tgtEl>
                                      </p:cBhvr>
                                    </p:animEffect>
                                    <p:anim calcmode="lin" valueType="num">
                                      <p:cBhvr>
                                        <p:cTn id="36"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2">
                                            <p:txEl>
                                              <p:pRg st="7" end="7"/>
                                            </p:txEl>
                                          </p:spTgt>
                                        </p:tgtEl>
                                        <p:attrNameLst>
                                          <p:attrName>style.visibility</p:attrName>
                                        </p:attrNameLst>
                                      </p:cBhvr>
                                      <p:to>
                                        <p:strVal val="visible"/>
                                      </p:to>
                                    </p:set>
                                    <p:animEffect transition="in" filter="fade">
                                      <p:cBhvr>
                                        <p:cTn id="42" dur="1000"/>
                                        <p:tgtEl>
                                          <p:spTgt spid="12">
                                            <p:txEl>
                                              <p:pRg st="7" end="7"/>
                                            </p:txEl>
                                          </p:spTgt>
                                        </p:tgtEl>
                                      </p:cBhvr>
                                    </p:animEffect>
                                    <p:anim calcmode="lin" valueType="num">
                                      <p:cBhvr>
                                        <p:cTn id="43"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1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altLang="zh-CN" sz="2000" b="1" dirty="0">
                <a:cs typeface="Times New Roman" panose="02020603050405020304" pitchFamily="18" charset="0"/>
              </a:rPr>
              <a:t>                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Complete Induction(</a:t>
            </a:r>
            <a:r>
              <a:rPr lang="en-US" altLang="zh-CN" sz="2400" b="1" i="0" dirty="0" err="1">
                <a:solidFill>
                  <a:schemeClr val="bg1"/>
                </a:solidFill>
                <a:effectLst/>
                <a:latin typeface="+mj-lt"/>
              </a:rPr>
              <a:t>e.g</a:t>
            </a:r>
            <a:r>
              <a:rPr lang="en-US" altLang="zh-CN" sz="2400" b="1" i="0" dirty="0">
                <a:solidFill>
                  <a:schemeClr val="bg1"/>
                </a:solidFill>
                <a:effectLst/>
                <a:latin typeface="+mj-lt"/>
              </a:rPr>
              <a:t>)</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5"/>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5704114"/>
            <a:ext cx="8806544" cy="8490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824682" y="688975"/>
            <a:ext cx="10616204" cy="60033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marL="0" indent="0">
              <a:lnSpc>
                <a:spcPct val="100000"/>
              </a:lnSpc>
              <a:spcBef>
                <a:spcPts val="0"/>
              </a:spcBef>
              <a:buNone/>
            </a:pPr>
            <a:r>
              <a:rPr lang="en-US" altLang="zh-CN" sz="2400" b="1" i="0" dirty="0">
                <a:solidFill>
                  <a:srgbClr val="0C0D0E"/>
                </a:solidFill>
                <a:effectLst/>
              </a:rPr>
              <a:t>        Example 10:</a:t>
            </a:r>
            <a:r>
              <a:rPr lang="en-US" altLang="zh-CN" sz="2400" b="0" i="0" dirty="0">
                <a:solidFill>
                  <a:srgbClr val="0C0D0E"/>
                </a:solidFill>
                <a:effectLst/>
              </a:rPr>
              <a:t> </a:t>
            </a:r>
            <a:r>
              <a:rPr lang="en-US" altLang="zh-CN" sz="2400" dirty="0">
                <a:solidFill>
                  <a:srgbClr val="0C0D0E"/>
                </a:solidFill>
                <a:latin typeface="-apple-system"/>
              </a:rPr>
              <a:t>Any postal fee of </a:t>
            </a:r>
            <a:r>
              <a:rPr lang="en-US" altLang="zh-CN" sz="2400" dirty="0">
                <a:solidFill>
                  <a:srgbClr val="0C0D0E"/>
                </a:solidFill>
                <a:latin typeface="KaTeX_Main"/>
              </a:rPr>
              <a:t>n</a:t>
            </a:r>
            <a:r>
              <a:rPr lang="en-US" altLang="zh-CN" sz="2400" dirty="0">
                <a:solidFill>
                  <a:srgbClr val="0C0D0E"/>
                </a:solidFill>
                <a:latin typeface="-apple-system"/>
              </a:rPr>
              <a:t> cents (where </a:t>
            </a:r>
            <a:r>
              <a:rPr lang="en-US" altLang="zh-CN" sz="2400" dirty="0">
                <a:solidFill>
                  <a:srgbClr val="0C0D0E"/>
                </a:solidFill>
                <a:latin typeface="KaTeX_Main"/>
              </a:rPr>
              <a:t>n≥12</a:t>
            </a:r>
            <a:r>
              <a:rPr lang="en-US" altLang="zh-CN" sz="2400" dirty="0">
                <a:solidFill>
                  <a:srgbClr val="0C0D0E"/>
                </a:solidFill>
                <a:latin typeface="-apple-system"/>
              </a:rPr>
              <a:t>) can be composed using 4-cent and 5-cent stamps.</a:t>
            </a:r>
            <a:br>
              <a:rPr lang="en-US" altLang="zh-CN" sz="2400" dirty="0">
                <a:solidFill>
                  <a:srgbClr val="0C0D0E"/>
                </a:solidFill>
                <a:latin typeface="-apple-system"/>
              </a:rPr>
            </a:br>
            <a:r>
              <a:rPr lang="en-US" altLang="zh-CN" sz="2400" b="1" i="0" dirty="0">
                <a:solidFill>
                  <a:srgbClr val="0C0D0E"/>
                </a:solidFill>
                <a:effectLst/>
              </a:rPr>
              <a:t>Proof:</a:t>
            </a:r>
            <a:endParaRPr lang="en-US" altLang="zh-CN" sz="2400" b="0" i="0" dirty="0">
              <a:solidFill>
                <a:srgbClr val="0C0D0E"/>
              </a:solidFill>
              <a:effectLst/>
            </a:endParaRPr>
          </a:p>
          <a:p>
            <a:pPr marL="0" indent="0" algn="l">
              <a:lnSpc>
                <a:spcPct val="100000"/>
              </a:lnSpc>
              <a:spcBef>
                <a:spcPts val="0"/>
              </a:spcBef>
              <a:buNone/>
            </a:pPr>
            <a:r>
              <a:rPr lang="en-US" altLang="zh-CN" sz="2400" b="1" i="0" dirty="0">
                <a:solidFill>
                  <a:srgbClr val="0C0D0E"/>
                </a:solidFill>
                <a:effectLst/>
              </a:rPr>
              <a:t>Base Case:</a:t>
            </a:r>
            <a:r>
              <a:rPr lang="en-US" altLang="zh-CN" sz="2400" b="0" i="0" dirty="0">
                <a:solidFill>
                  <a:srgbClr val="0C0D0E"/>
                </a:solidFill>
                <a:effectLst/>
              </a:rPr>
              <a:t> </a:t>
            </a:r>
            <a:r>
              <a:rPr lang="en-US" altLang="zh-CN" sz="2400" dirty="0">
                <a:solidFill>
                  <a:srgbClr val="0C0D0E"/>
                </a:solidFill>
              </a:rPr>
              <a:t>For n=12,13,14,15, the following combinations are possible:</a:t>
            </a:r>
          </a:p>
          <a:p>
            <a:pPr marL="457200" lvl="1" indent="-185738">
              <a:lnSpc>
                <a:spcPct val="100000"/>
              </a:lnSpc>
              <a:spcBef>
                <a:spcPts val="0"/>
              </a:spcBef>
              <a:buNone/>
            </a:pPr>
            <a:r>
              <a:rPr lang="en-US" altLang="zh-CN" dirty="0">
                <a:solidFill>
                  <a:srgbClr val="0C0D0E"/>
                </a:solidFill>
              </a:rPr>
              <a:t>12=3×4, </a:t>
            </a:r>
          </a:p>
          <a:p>
            <a:pPr marL="457200" lvl="1" indent="-185738">
              <a:lnSpc>
                <a:spcPct val="100000"/>
              </a:lnSpc>
              <a:spcBef>
                <a:spcPts val="0"/>
              </a:spcBef>
              <a:buNone/>
            </a:pPr>
            <a:r>
              <a:rPr lang="en-US" altLang="zh-CN" dirty="0">
                <a:solidFill>
                  <a:srgbClr val="0C0D0E"/>
                </a:solidFill>
              </a:rPr>
              <a:t>13=2×4+5,</a:t>
            </a:r>
          </a:p>
          <a:p>
            <a:pPr marL="457200" lvl="1" indent="-185738">
              <a:lnSpc>
                <a:spcPct val="100000"/>
              </a:lnSpc>
              <a:spcBef>
                <a:spcPts val="0"/>
              </a:spcBef>
              <a:buNone/>
            </a:pPr>
            <a:r>
              <a:rPr lang="en-US" altLang="zh-CN" dirty="0">
                <a:solidFill>
                  <a:srgbClr val="0C0D0E"/>
                </a:solidFill>
              </a:rPr>
              <a:t>14=2×5+4, </a:t>
            </a:r>
          </a:p>
          <a:p>
            <a:pPr marL="271463" lvl="1" indent="-96838">
              <a:lnSpc>
                <a:spcPct val="100000"/>
              </a:lnSpc>
              <a:spcBef>
                <a:spcPts val="0"/>
              </a:spcBef>
              <a:buNone/>
            </a:pPr>
            <a:r>
              <a:rPr lang="en-US" altLang="zh-CN" dirty="0">
                <a:solidFill>
                  <a:srgbClr val="0C0D0E"/>
                </a:solidFill>
              </a:rPr>
              <a:t> 15=3×5.</a:t>
            </a:r>
            <a:br>
              <a:rPr lang="en-US" altLang="zh-CN" dirty="0">
                <a:solidFill>
                  <a:srgbClr val="0C0D0E"/>
                </a:solidFill>
                <a:latin typeface="-apple-system"/>
              </a:rPr>
            </a:br>
            <a:r>
              <a:rPr lang="en-US" altLang="zh-CN" dirty="0">
                <a:solidFill>
                  <a:srgbClr val="0C0D0E"/>
                </a:solidFill>
              </a:rPr>
              <a:t>Thus, the conclusion holds for n=12,13,14,15.</a:t>
            </a:r>
          </a:p>
          <a:p>
            <a:pPr marL="0" indent="0">
              <a:lnSpc>
                <a:spcPct val="100000"/>
              </a:lnSpc>
              <a:spcBef>
                <a:spcPts val="0"/>
              </a:spcBef>
              <a:buNone/>
            </a:pPr>
            <a:r>
              <a:rPr lang="en-US" altLang="zh-CN" sz="2400" b="1" i="0" dirty="0">
                <a:solidFill>
                  <a:srgbClr val="0C0D0E"/>
                </a:solidFill>
                <a:effectLst/>
              </a:rPr>
              <a:t>Inductive Step:</a:t>
            </a:r>
            <a:r>
              <a:rPr lang="en-US" altLang="zh-CN" sz="2400" b="0" i="0" dirty="0">
                <a:solidFill>
                  <a:srgbClr val="0C0D0E"/>
                </a:solidFill>
                <a:effectLst/>
              </a:rPr>
              <a:t> </a:t>
            </a:r>
            <a:r>
              <a:rPr lang="en-US" altLang="zh-CN" sz="2400" dirty="0">
                <a:solidFill>
                  <a:srgbClr val="0C0D0E"/>
                </a:solidFill>
              </a:rPr>
              <a:t>Let n≥15, and assume that the conclusion holds for all integers from 12 to n.</a:t>
            </a:r>
          </a:p>
          <a:p>
            <a:pPr lvl="1">
              <a:lnSpc>
                <a:spcPct val="100000"/>
              </a:lnSpc>
              <a:spcBef>
                <a:spcPts val="0"/>
              </a:spcBef>
              <a:buClr>
                <a:srgbClr val="0B61FF"/>
              </a:buClr>
              <a:buSzPct val="120000"/>
            </a:pPr>
            <a:r>
              <a:rPr lang="en-US" altLang="zh-CN" dirty="0">
                <a:solidFill>
                  <a:srgbClr val="0C0D0E"/>
                </a:solidFill>
              </a:rPr>
              <a:t>Consider n+1. Since n−3≥12 and by the inductive hypothesis, n−3 cents can be composed using 4-cent and 5-cent stamps.</a:t>
            </a:r>
          </a:p>
          <a:p>
            <a:pPr lvl="1">
              <a:lnSpc>
                <a:spcPct val="100000"/>
              </a:lnSpc>
              <a:spcBef>
                <a:spcPts val="0"/>
              </a:spcBef>
              <a:buClr>
                <a:srgbClr val="0B61FF"/>
              </a:buClr>
              <a:buSzPct val="120000"/>
            </a:pPr>
            <a:r>
              <a:rPr lang="en-US" altLang="zh-CN" dirty="0">
                <a:solidFill>
                  <a:srgbClr val="0C0D0E"/>
                </a:solidFill>
              </a:rPr>
              <a:t>By adding one 4-cent stamp to the composition of n−3 cents, we obtain n+1 cents.</a:t>
            </a:r>
          </a:p>
          <a:p>
            <a:pPr marL="457200" lvl="1" indent="-369888">
              <a:lnSpc>
                <a:spcPct val="100000"/>
              </a:lnSpc>
              <a:spcBef>
                <a:spcPts val="0"/>
              </a:spcBef>
              <a:buClr>
                <a:srgbClr val="0B61FF"/>
              </a:buClr>
              <a:buSzPct val="120000"/>
              <a:buNone/>
            </a:pPr>
            <a:r>
              <a:rPr lang="en-US" altLang="zh-CN" b="1" dirty="0">
                <a:solidFill>
                  <a:srgbClr val="0C0D0E"/>
                </a:solidFill>
              </a:rPr>
              <a:t>Therefore</a:t>
            </a:r>
            <a:r>
              <a:rPr lang="en-US" altLang="zh-CN" dirty="0">
                <a:solidFill>
                  <a:srgbClr val="0C0D0E"/>
                </a:solidFill>
              </a:rPr>
              <a:t>, the conclusion holds for n+1.</a:t>
            </a:r>
          </a:p>
          <a:p>
            <a:pPr marL="457200" lvl="1" indent="-369888">
              <a:lnSpc>
                <a:spcPct val="100000"/>
              </a:lnSpc>
              <a:spcBef>
                <a:spcPts val="0"/>
              </a:spcBef>
              <a:buClr>
                <a:srgbClr val="0B61FF"/>
              </a:buClr>
              <a:buSzPct val="120000"/>
              <a:buNone/>
            </a:pPr>
            <a:endParaRPr lang="en-US" altLang="zh-CN" dirty="0">
              <a:solidFill>
                <a:srgbClr val="0C0D0E"/>
              </a:solidFill>
            </a:endParaRPr>
          </a:p>
          <a:p>
            <a:pPr algn="l">
              <a:lnSpc>
                <a:spcPct val="100000"/>
              </a:lnSpc>
            </a:pPr>
            <a:endParaRPr lang="en-US" altLang="zh-CN" sz="2400" b="0" i="0" dirty="0">
              <a:solidFill>
                <a:srgbClr val="0C0D0E"/>
              </a:solidFill>
              <a:effectLst/>
            </a:endParaRPr>
          </a:p>
        </p:txBody>
      </p:sp>
      <p:pic>
        <p:nvPicPr>
          <p:cNvPr id="9" name="图片 8">
            <a:extLst>
              <a:ext uri="{FF2B5EF4-FFF2-40B4-BE49-F238E27FC236}">
                <a16:creationId xmlns:a16="http://schemas.microsoft.com/office/drawing/2014/main" id="{937B16CB-54E3-4E0B-A245-3545311EFDC0}"/>
              </a:ext>
            </a:extLst>
          </p:cNvPr>
          <p:cNvPicPr>
            <a:picLocks noChangeAspect="1"/>
          </p:cNvPicPr>
          <p:nvPr/>
        </p:nvPicPr>
        <p:blipFill>
          <a:blip r:embed="rId6"/>
          <a:stretch>
            <a:fillRect/>
          </a:stretch>
        </p:blipFill>
        <p:spPr>
          <a:xfrm>
            <a:off x="908501" y="892146"/>
            <a:ext cx="577850" cy="241300"/>
          </a:xfrm>
          <a:prstGeom prst="rect">
            <a:avLst/>
          </a:prstGeom>
        </p:spPr>
      </p:pic>
      <p:sp>
        <p:nvSpPr>
          <p:cNvPr id="3" name="文本框 2">
            <a:extLst>
              <a:ext uri="{FF2B5EF4-FFF2-40B4-BE49-F238E27FC236}">
                <a16:creationId xmlns:a16="http://schemas.microsoft.com/office/drawing/2014/main" id="{236FF0E4-A6F0-4823-AB3B-190BC039B094}"/>
              </a:ext>
            </a:extLst>
          </p:cNvPr>
          <p:cNvSpPr txBox="1"/>
          <p:nvPr/>
        </p:nvSpPr>
        <p:spPr>
          <a:xfrm>
            <a:off x="3156857" y="2360541"/>
            <a:ext cx="8610600" cy="1323439"/>
          </a:xfrm>
          <a:prstGeom prst="rect">
            <a:avLst/>
          </a:prstGeom>
          <a:noFill/>
          <a:ln>
            <a:solidFill>
              <a:srgbClr val="7030A0"/>
            </a:solidFill>
          </a:ln>
        </p:spPr>
        <p:txBody>
          <a:bodyPr wrap="square" rtlCol="0">
            <a:noAutofit/>
          </a:bodyPr>
          <a:lstStyle/>
          <a:p>
            <a:r>
              <a:rPr lang="en-US" altLang="zh-CN" sz="2000" dirty="0">
                <a:solidFill>
                  <a:srgbClr val="0B61FF"/>
                </a:solidFill>
              </a:rPr>
              <a:t>        </a:t>
            </a:r>
            <a:r>
              <a:rPr lang="en-US" altLang="zh-CN" sz="2000" dirty="0">
                <a:solidFill>
                  <a:schemeClr val="tx2">
                    <a:lumMod val="75000"/>
                  </a:schemeClr>
                </a:solidFill>
              </a:rPr>
              <a:t>The base case of strong induction does not merely assume that the proposition holds for a specific natural number  n; instead, it assumes that the proposition holds for all natural numbers less than or equal to n. Based on this stronger assumption, we then prove that the proposition holds for n + 1.</a:t>
            </a:r>
            <a:endParaRPr lang="zh-CN" altLang="en-US" dirty="0"/>
          </a:p>
        </p:txBody>
      </p:sp>
      <p:sp>
        <p:nvSpPr>
          <p:cNvPr id="5" name="Rectangle 2">
            <a:extLst>
              <a:ext uri="{FF2B5EF4-FFF2-40B4-BE49-F238E27FC236}">
                <a16:creationId xmlns:a16="http://schemas.microsoft.com/office/drawing/2014/main" id="{D953F9CD-7BAB-4F70-9430-A4EBAC51886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a:extLst>
              <a:ext uri="{FF2B5EF4-FFF2-40B4-BE49-F238E27FC236}">
                <a16:creationId xmlns:a16="http://schemas.microsoft.com/office/drawing/2014/main" id="{9F627EA1-21E5-4711-8A5B-11BC73338B53}"/>
              </a:ext>
            </a:extLst>
          </p:cNvPr>
          <p:cNvGraphicFramePr>
            <a:graphicFrameLocks noChangeAspect="1"/>
          </p:cNvGraphicFramePr>
          <p:nvPr>
            <p:extLst>
              <p:ext uri="{D42A27DB-BD31-4B8C-83A1-F6EECF244321}">
                <p14:modId xmlns:p14="http://schemas.microsoft.com/office/powerpoint/2010/main" val="2557479717"/>
              </p:ext>
            </p:extLst>
          </p:nvPr>
        </p:nvGraphicFramePr>
        <p:xfrm>
          <a:off x="3374571" y="2412451"/>
          <a:ext cx="292100" cy="292100"/>
        </p:xfrm>
        <a:graphic>
          <a:graphicData uri="http://schemas.openxmlformats.org/presentationml/2006/ole">
            <mc:AlternateContent xmlns:mc="http://schemas.openxmlformats.org/markup-compatibility/2006">
              <mc:Choice xmlns:v="urn:schemas-microsoft-com:vml" Requires="v">
                <p:oleObj spid="_x0000_s4116" name="Visio" r:id="rId7" imgW="292148" imgH="292233" progId="Visio.Drawing.15">
                  <p:embed/>
                </p:oleObj>
              </mc:Choice>
              <mc:Fallback>
                <p:oleObj name="Visio" r:id="rId7" imgW="292148" imgH="292233" progId="Visio.Drawing.15">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74571" y="2412451"/>
                        <a:ext cx="2921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8855792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3" end="3"/>
                                            </p:txEl>
                                          </p:spTgt>
                                        </p:tgtEl>
                                        <p:attrNameLst>
                                          <p:attrName>style.visibility</p:attrName>
                                        </p:attrNameLst>
                                      </p:cBhvr>
                                      <p:to>
                                        <p:strVal val="visible"/>
                                      </p:to>
                                    </p:set>
                                    <p:animEffect transition="in" filter="fade">
                                      <p:cBhvr>
                                        <p:cTn id="14" dur="1000"/>
                                        <p:tgtEl>
                                          <p:spTgt spid="12">
                                            <p:txEl>
                                              <p:pRg st="3" end="3"/>
                                            </p:txEl>
                                          </p:spTgt>
                                        </p:tgtEl>
                                      </p:cBhvr>
                                    </p:animEffect>
                                    <p:anim calcmode="lin" valueType="num">
                                      <p:cBhvr>
                                        <p:cTn id="1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fade">
                                      <p:cBhvr>
                                        <p:cTn id="21" dur="1000"/>
                                        <p:tgtEl>
                                          <p:spTgt spid="12">
                                            <p:txEl>
                                              <p:pRg st="4" end="4"/>
                                            </p:txEl>
                                          </p:spTgt>
                                        </p:tgtEl>
                                      </p:cBhvr>
                                    </p:animEffect>
                                    <p:anim calcmode="lin" valueType="num">
                                      <p:cBhvr>
                                        <p:cTn id="22"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xEl>
                                              <p:pRg st="5" end="5"/>
                                            </p:txEl>
                                          </p:spTgt>
                                        </p:tgtEl>
                                        <p:attrNameLst>
                                          <p:attrName>style.visibility</p:attrName>
                                        </p:attrNameLst>
                                      </p:cBhvr>
                                      <p:to>
                                        <p:strVal val="visible"/>
                                      </p:to>
                                    </p:set>
                                    <p:animEffect transition="in" filter="fade">
                                      <p:cBhvr>
                                        <p:cTn id="28" dur="1000"/>
                                        <p:tgtEl>
                                          <p:spTgt spid="12">
                                            <p:txEl>
                                              <p:pRg st="5" end="5"/>
                                            </p:txEl>
                                          </p:spTgt>
                                        </p:tgtEl>
                                      </p:cBhvr>
                                    </p:animEffect>
                                    <p:anim calcmode="lin" valueType="num">
                                      <p:cBhvr>
                                        <p:cTn id="29"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animEffect transition="in" filter="fade">
                                      <p:cBhvr>
                                        <p:cTn id="35" dur="1000"/>
                                        <p:tgtEl>
                                          <p:spTgt spid="12">
                                            <p:txEl>
                                              <p:pRg st="6" end="6"/>
                                            </p:txEl>
                                          </p:spTgt>
                                        </p:tgtEl>
                                      </p:cBhvr>
                                    </p:animEffect>
                                    <p:anim calcmode="lin" valueType="num">
                                      <p:cBhvr>
                                        <p:cTn id="36"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2">
                                            <p:txEl>
                                              <p:pRg st="7" end="7"/>
                                            </p:txEl>
                                          </p:spTgt>
                                        </p:tgtEl>
                                        <p:attrNameLst>
                                          <p:attrName>style.visibility</p:attrName>
                                        </p:attrNameLst>
                                      </p:cBhvr>
                                      <p:to>
                                        <p:strVal val="visible"/>
                                      </p:to>
                                    </p:set>
                                    <p:animEffect transition="in" filter="fade">
                                      <p:cBhvr>
                                        <p:cTn id="48" dur="1000"/>
                                        <p:tgtEl>
                                          <p:spTgt spid="12">
                                            <p:txEl>
                                              <p:pRg st="7" end="7"/>
                                            </p:txEl>
                                          </p:spTgt>
                                        </p:tgtEl>
                                      </p:cBhvr>
                                    </p:animEffect>
                                    <p:anim calcmode="lin" valueType="num">
                                      <p:cBhvr>
                                        <p:cTn id="49"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1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2">
                                            <p:txEl>
                                              <p:pRg st="8" end="8"/>
                                            </p:txEl>
                                          </p:spTgt>
                                        </p:tgtEl>
                                        <p:attrNameLst>
                                          <p:attrName>style.visibility</p:attrName>
                                        </p:attrNameLst>
                                      </p:cBhvr>
                                      <p:to>
                                        <p:strVal val="visible"/>
                                      </p:to>
                                    </p:set>
                                    <p:animEffect transition="in" filter="fade">
                                      <p:cBhvr>
                                        <p:cTn id="55" dur="1000"/>
                                        <p:tgtEl>
                                          <p:spTgt spid="12">
                                            <p:txEl>
                                              <p:pRg st="8" end="8"/>
                                            </p:txEl>
                                          </p:spTgt>
                                        </p:tgtEl>
                                      </p:cBhvr>
                                    </p:animEffect>
                                    <p:anim calcmode="lin" valueType="num">
                                      <p:cBhvr>
                                        <p:cTn id="56" dur="1000" fill="hold"/>
                                        <p:tgtEl>
                                          <p:spTgt spid="12">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1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12">
                                            <p:txEl>
                                              <p:pRg st="9" end="9"/>
                                            </p:txEl>
                                          </p:spTgt>
                                        </p:tgtEl>
                                        <p:attrNameLst>
                                          <p:attrName>style.visibility</p:attrName>
                                        </p:attrNameLst>
                                      </p:cBhvr>
                                      <p:to>
                                        <p:strVal val="visible"/>
                                      </p:to>
                                    </p:set>
                                    <p:animEffect transition="in" filter="fade">
                                      <p:cBhvr>
                                        <p:cTn id="62" dur="1000"/>
                                        <p:tgtEl>
                                          <p:spTgt spid="12">
                                            <p:txEl>
                                              <p:pRg st="9" end="9"/>
                                            </p:txEl>
                                          </p:spTgt>
                                        </p:tgtEl>
                                      </p:cBhvr>
                                    </p:animEffect>
                                    <p:anim calcmode="lin" valueType="num">
                                      <p:cBhvr>
                                        <p:cTn id="63" dur="1000" fill="hold"/>
                                        <p:tgtEl>
                                          <p:spTgt spid="12">
                                            <p:txEl>
                                              <p:pRg st="9" end="9"/>
                                            </p:txEl>
                                          </p:spTgt>
                                        </p:tgtEl>
                                        <p:attrNameLst>
                                          <p:attrName>ppt_x</p:attrName>
                                        </p:attrNameLst>
                                      </p:cBhvr>
                                      <p:tavLst>
                                        <p:tav tm="0">
                                          <p:val>
                                            <p:strVal val="#ppt_x"/>
                                          </p:val>
                                        </p:tav>
                                        <p:tav tm="100000">
                                          <p:val>
                                            <p:strVal val="#ppt_x"/>
                                          </p:val>
                                        </p:tav>
                                      </p:tavLst>
                                    </p:anim>
                                    <p:anim calcmode="lin" valueType="num">
                                      <p:cBhvr>
                                        <p:cTn id="64" dur="1000" fill="hold"/>
                                        <p:tgtEl>
                                          <p:spTgt spid="1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12">
                                            <p:txEl>
                                              <p:pRg st="10" end="10"/>
                                            </p:txEl>
                                          </p:spTgt>
                                        </p:tgtEl>
                                        <p:attrNameLst>
                                          <p:attrName>style.visibility</p:attrName>
                                        </p:attrNameLst>
                                      </p:cBhvr>
                                      <p:to>
                                        <p:strVal val="visible"/>
                                      </p:to>
                                    </p:set>
                                    <p:animEffect transition="in" filter="fade">
                                      <p:cBhvr>
                                        <p:cTn id="69" dur="1000"/>
                                        <p:tgtEl>
                                          <p:spTgt spid="12">
                                            <p:txEl>
                                              <p:pRg st="10" end="10"/>
                                            </p:txEl>
                                          </p:spTgt>
                                        </p:tgtEl>
                                      </p:cBhvr>
                                    </p:animEffect>
                                    <p:anim calcmode="lin" valueType="num">
                                      <p:cBhvr>
                                        <p:cTn id="70" dur="1000" fill="hold"/>
                                        <p:tgtEl>
                                          <p:spTgt spid="12">
                                            <p:txEl>
                                              <p:pRg st="10" end="10"/>
                                            </p:txEl>
                                          </p:spTgt>
                                        </p:tgtEl>
                                        <p:attrNameLst>
                                          <p:attrName>ppt_x</p:attrName>
                                        </p:attrNameLst>
                                      </p:cBhvr>
                                      <p:tavLst>
                                        <p:tav tm="0">
                                          <p:val>
                                            <p:strVal val="#ppt_x"/>
                                          </p:val>
                                        </p:tav>
                                        <p:tav tm="100000">
                                          <p:val>
                                            <p:strVal val="#ppt_x"/>
                                          </p:val>
                                        </p:tav>
                                      </p:tavLst>
                                    </p:anim>
                                    <p:anim calcmode="lin" valueType="num">
                                      <p:cBhvr>
                                        <p:cTn id="71" dur="1000" fill="hold"/>
                                        <p:tgtEl>
                                          <p:spTgt spid="1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1.3 </a:t>
            </a:r>
            <a:r>
              <a:rPr lang="en-US" altLang="zh-CN" sz="2000" b="1" i="0" dirty="0">
                <a:solidFill>
                  <a:schemeClr val="bg1"/>
                </a:solidFill>
                <a:effectLst/>
                <a:latin typeface="+mj-lt"/>
              </a:rPr>
              <a:t>Proof Methods</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Proof by Counterexample </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1523999" y="917575"/>
            <a:ext cx="8806544" cy="51974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20000"/>
              </a:lnSpc>
              <a:spcBef>
                <a:spcPts val="0"/>
              </a:spcBef>
              <a:buClr>
                <a:srgbClr val="0B61FF"/>
              </a:buClr>
              <a:buSzPct val="80000"/>
              <a:buFont typeface="Wingdings" panose="05000000000000000000" pitchFamily="2" charset="2"/>
              <a:buChar char="n"/>
            </a:pPr>
            <a:r>
              <a:rPr lang="en-US" altLang="zh-CN" sz="2400" b="0" i="0" dirty="0">
                <a:solidFill>
                  <a:srgbClr val="0C0D0E"/>
                </a:solidFill>
                <a:effectLst/>
              </a:rPr>
              <a:t>The </a:t>
            </a:r>
            <a:r>
              <a:rPr lang="en-US" altLang="zh-CN" sz="2400" b="1" i="0" dirty="0">
                <a:solidFill>
                  <a:srgbClr val="0B61FF"/>
                </a:solidFill>
                <a:effectLst/>
              </a:rPr>
              <a:t>Proof by Counterexample  </a:t>
            </a:r>
            <a:r>
              <a:rPr lang="en-US" altLang="zh-CN" sz="2400" b="0" i="0" dirty="0">
                <a:solidFill>
                  <a:srgbClr val="0C0D0E"/>
                </a:solidFill>
                <a:effectLst/>
              </a:rPr>
              <a:t>is a logical proof technique used to demonstrate that a general statement or conjecture is false by providing a specific example that contradicts the statement</a:t>
            </a:r>
          </a:p>
          <a:p>
            <a:pPr marL="0" indent="0" algn="l">
              <a:lnSpc>
                <a:spcPct val="120000"/>
              </a:lnSpc>
              <a:spcBef>
                <a:spcPts val="0"/>
              </a:spcBef>
              <a:buClr>
                <a:srgbClr val="0B61FF"/>
              </a:buClr>
              <a:buSzPct val="80000"/>
              <a:buNone/>
            </a:pPr>
            <a:endParaRPr lang="en-US" altLang="zh-CN" sz="2400" b="0" i="0" dirty="0">
              <a:solidFill>
                <a:srgbClr val="0C0D0E"/>
              </a:solidFill>
              <a:effectLst/>
            </a:endParaRPr>
          </a:p>
          <a:p>
            <a:pPr marL="0" indent="0" algn="l">
              <a:lnSpc>
                <a:spcPct val="120000"/>
              </a:lnSpc>
              <a:spcBef>
                <a:spcPts val="0"/>
              </a:spcBef>
              <a:buNone/>
            </a:pPr>
            <a:r>
              <a:rPr lang="en-US" altLang="zh-CN" sz="2400" b="1" i="0" dirty="0">
                <a:solidFill>
                  <a:srgbClr val="0C0D0E"/>
                </a:solidFill>
                <a:effectLst/>
              </a:rPr>
              <a:t>         Example 11:  </a:t>
            </a:r>
            <a:r>
              <a:rPr lang="en-US" altLang="zh-CN" sz="2400" b="0" i="0" dirty="0">
                <a:solidFill>
                  <a:srgbClr val="0C0D0E"/>
                </a:solidFill>
                <a:effectLst/>
              </a:rPr>
              <a:t>Prove that the following statement does not hold: </a:t>
            </a:r>
          </a:p>
          <a:p>
            <a:pPr marL="0" indent="0" algn="l">
              <a:lnSpc>
                <a:spcPct val="120000"/>
              </a:lnSpc>
              <a:spcBef>
                <a:spcPts val="0"/>
              </a:spcBef>
              <a:buNone/>
            </a:pPr>
            <a:r>
              <a:rPr lang="en-US" altLang="zh-CN" sz="2400" b="0" i="0" dirty="0">
                <a:solidFill>
                  <a:srgbClr val="0C0D0E"/>
                </a:solidFill>
                <a:effectLst/>
              </a:rPr>
              <a:t>If A</a:t>
            </a:r>
            <a:r>
              <a:rPr lang="en-US" altLang="zh-CN" sz="2400" b="0" i="0" dirty="0">
                <a:solidFill>
                  <a:srgbClr val="0C0D0E"/>
                </a:solidFill>
                <a:effectLst/>
                <a:latin typeface="Cambria Math" panose="02040503050406030204" pitchFamily="18" charset="0"/>
                <a:ea typeface="Cambria Math" panose="02040503050406030204" pitchFamily="18" charset="0"/>
              </a:rPr>
              <a:t>∩</a:t>
            </a:r>
            <a:r>
              <a:rPr lang="en-US" altLang="zh-CN" sz="2400" b="0" i="0" dirty="0">
                <a:solidFill>
                  <a:srgbClr val="0C0D0E"/>
                </a:solidFill>
                <a:effectLst/>
              </a:rPr>
              <a:t>B </a:t>
            </a:r>
            <a:r>
              <a:rPr lang="en-US" altLang="zh-CN" sz="2400" b="0" i="0" dirty="0">
                <a:solidFill>
                  <a:srgbClr val="0C0D0E"/>
                </a:solidFill>
                <a:effectLst/>
                <a:latin typeface="Cambria Math" panose="02040503050406030204" pitchFamily="18" charset="0"/>
                <a:ea typeface="Cambria Math" panose="02040503050406030204" pitchFamily="18" charset="0"/>
              </a:rPr>
              <a:t>=</a:t>
            </a:r>
            <a:r>
              <a:rPr lang="en-US" altLang="zh-CN" sz="2400" b="0" i="0" dirty="0">
                <a:solidFill>
                  <a:srgbClr val="0C0D0E"/>
                </a:solidFill>
                <a:effectLst/>
              </a:rPr>
              <a:t> A</a:t>
            </a:r>
            <a:r>
              <a:rPr lang="en-US" altLang="zh-CN" sz="2400" b="0" i="0" dirty="0">
                <a:solidFill>
                  <a:srgbClr val="0C0D0E"/>
                </a:solidFill>
                <a:effectLst/>
                <a:latin typeface="Cambria Math" panose="02040503050406030204" pitchFamily="18" charset="0"/>
                <a:ea typeface="Cambria Math" panose="02040503050406030204" pitchFamily="18" charset="0"/>
              </a:rPr>
              <a:t>∩</a:t>
            </a:r>
            <a:r>
              <a:rPr lang="en-US" altLang="zh-CN" sz="2400" b="0" i="0" dirty="0">
                <a:solidFill>
                  <a:srgbClr val="0C0D0E"/>
                </a:solidFill>
                <a:effectLst/>
              </a:rPr>
              <a:t>C , then B = C.</a:t>
            </a:r>
          </a:p>
          <a:p>
            <a:pPr marL="0" indent="0" algn="l">
              <a:lnSpc>
                <a:spcPct val="120000"/>
              </a:lnSpc>
              <a:spcBef>
                <a:spcPts val="0"/>
              </a:spcBef>
              <a:buNone/>
            </a:pPr>
            <a:r>
              <a:rPr lang="en-US" altLang="zh-CN" sz="2400" b="1" i="0" dirty="0">
                <a:solidFill>
                  <a:srgbClr val="0C0D0E"/>
                </a:solidFill>
                <a:effectLst/>
              </a:rPr>
              <a:t>Proof:</a:t>
            </a:r>
            <a:endParaRPr lang="en-US" altLang="zh-CN" sz="2400" b="0" i="0" dirty="0">
              <a:solidFill>
                <a:srgbClr val="0C0D0E"/>
              </a:solidFill>
              <a:effectLst/>
            </a:endParaRPr>
          </a:p>
          <a:p>
            <a:pPr algn="l">
              <a:lnSpc>
                <a:spcPct val="120000"/>
              </a:lnSpc>
              <a:spcBef>
                <a:spcPts val="0"/>
              </a:spcBef>
              <a:buClr>
                <a:srgbClr val="0B61FF"/>
              </a:buClr>
              <a:buSzPct val="120000"/>
              <a:buFont typeface="Arial" panose="020B0604020202020204" pitchFamily="34" charset="0"/>
              <a:buChar char="•"/>
            </a:pPr>
            <a:r>
              <a:rPr lang="en-US" altLang="zh-CN" sz="2400" b="1" i="1" dirty="0">
                <a:solidFill>
                  <a:srgbClr val="0B61FF"/>
                </a:solidFill>
                <a:effectLst/>
              </a:rPr>
              <a:t>Counterexample</a:t>
            </a:r>
            <a:r>
              <a:rPr lang="en-US" altLang="zh-CN" sz="2400" b="0" i="1" dirty="0">
                <a:solidFill>
                  <a:srgbClr val="0C0D0E"/>
                </a:solidFill>
                <a:effectLst/>
              </a:rPr>
              <a:t>:</a:t>
            </a:r>
            <a:r>
              <a:rPr lang="en-US" altLang="zh-CN" sz="2400" b="0" i="0" dirty="0">
                <a:solidFill>
                  <a:srgbClr val="0C0D0E"/>
                </a:solidFill>
                <a:effectLst/>
              </a:rPr>
              <a:t> Let A={</a:t>
            </a:r>
            <a:r>
              <a:rPr lang="en-US" altLang="zh-CN" sz="2400" b="0" i="0" dirty="0" err="1">
                <a:solidFill>
                  <a:srgbClr val="0C0D0E"/>
                </a:solidFill>
                <a:effectLst/>
              </a:rPr>
              <a:t>a,b</a:t>
            </a:r>
            <a:r>
              <a:rPr lang="en-US" altLang="zh-CN" sz="2400" b="0" i="0" dirty="0">
                <a:solidFill>
                  <a:srgbClr val="0C0D0E"/>
                </a:solidFill>
                <a:effectLst/>
              </a:rPr>
              <a:t>}, B={</a:t>
            </a:r>
            <a:r>
              <a:rPr lang="en-US" altLang="zh-CN" sz="2400" b="0" i="0" dirty="0" err="1">
                <a:solidFill>
                  <a:srgbClr val="0C0D0E"/>
                </a:solidFill>
                <a:effectLst/>
              </a:rPr>
              <a:t>a,b,c</a:t>
            </a:r>
            <a:r>
              <a:rPr lang="en-US" altLang="zh-CN" sz="2400" b="0" i="0" dirty="0">
                <a:solidFill>
                  <a:srgbClr val="0C0D0E"/>
                </a:solidFill>
                <a:effectLst/>
              </a:rPr>
              <a:t>}, and C={</a:t>
            </a:r>
            <a:r>
              <a:rPr lang="en-US" altLang="zh-CN" sz="2400" b="0" i="0" dirty="0" err="1">
                <a:solidFill>
                  <a:srgbClr val="0C0D0E"/>
                </a:solidFill>
                <a:effectLst/>
              </a:rPr>
              <a:t>a,b,d</a:t>
            </a:r>
            <a:r>
              <a:rPr lang="en-US" altLang="zh-CN" sz="2400" b="0" i="0" dirty="0">
                <a:solidFill>
                  <a:srgbClr val="0C0D0E"/>
                </a:solidFill>
                <a:effectLst/>
              </a:rPr>
              <a:t>}.</a:t>
            </a:r>
          </a:p>
          <a:p>
            <a:pPr algn="l">
              <a:lnSpc>
                <a:spcPct val="120000"/>
              </a:lnSpc>
              <a:spcBef>
                <a:spcPts val="0"/>
              </a:spcBef>
              <a:buClr>
                <a:srgbClr val="0B61FF"/>
              </a:buClr>
              <a:buSzPct val="120000"/>
              <a:buFont typeface="Arial" panose="020B0604020202020204" pitchFamily="34" charset="0"/>
              <a:buChar char="•"/>
            </a:pPr>
            <a:r>
              <a:rPr lang="en-US" altLang="zh-CN" sz="2400" b="0" i="0" dirty="0">
                <a:solidFill>
                  <a:srgbClr val="0C0D0E"/>
                </a:solidFill>
                <a:effectLst/>
              </a:rPr>
              <a:t>Then, A</a:t>
            </a:r>
            <a:r>
              <a:rPr lang="en-US" altLang="zh-CN" sz="2400" b="0" i="0" dirty="0">
                <a:solidFill>
                  <a:srgbClr val="0C0D0E"/>
                </a:solidFill>
                <a:effectLst/>
                <a:latin typeface="Cambria Math" panose="02040503050406030204" pitchFamily="18" charset="0"/>
                <a:ea typeface="Cambria Math" panose="02040503050406030204" pitchFamily="18" charset="0"/>
              </a:rPr>
              <a:t>∩</a:t>
            </a:r>
            <a:r>
              <a:rPr lang="en-US" altLang="zh-CN" sz="2400" b="0" i="0" dirty="0">
                <a:solidFill>
                  <a:srgbClr val="0C0D0E"/>
                </a:solidFill>
                <a:effectLst/>
              </a:rPr>
              <a:t>B={</a:t>
            </a:r>
            <a:r>
              <a:rPr lang="en-US" altLang="zh-CN" sz="2400" b="0" i="0" dirty="0" err="1">
                <a:solidFill>
                  <a:srgbClr val="0C0D0E"/>
                </a:solidFill>
                <a:effectLst/>
              </a:rPr>
              <a:t>a,b</a:t>
            </a:r>
            <a:r>
              <a:rPr lang="en-US" altLang="zh-CN" sz="2400" b="0" i="0" dirty="0">
                <a:solidFill>
                  <a:srgbClr val="0C0D0E"/>
                </a:solidFill>
                <a:effectLst/>
              </a:rPr>
              <a:t>}, A</a:t>
            </a:r>
            <a:r>
              <a:rPr lang="en-US" altLang="zh-CN" sz="2400" b="0" i="0" dirty="0">
                <a:solidFill>
                  <a:srgbClr val="0C0D0E"/>
                </a:solidFill>
                <a:effectLst/>
                <a:latin typeface="Cambria Math" panose="02040503050406030204" pitchFamily="18" charset="0"/>
                <a:ea typeface="Cambria Math" panose="02040503050406030204" pitchFamily="18" charset="0"/>
              </a:rPr>
              <a:t>∩</a:t>
            </a:r>
            <a:r>
              <a:rPr lang="en-US" altLang="zh-CN" sz="2400" b="0" i="0" dirty="0">
                <a:solidFill>
                  <a:srgbClr val="0C0D0E"/>
                </a:solidFill>
                <a:effectLst/>
              </a:rPr>
              <a:t>C={</a:t>
            </a:r>
            <a:r>
              <a:rPr lang="en-US" altLang="zh-CN" sz="2400" b="0" i="0" dirty="0" err="1">
                <a:solidFill>
                  <a:srgbClr val="0C0D0E"/>
                </a:solidFill>
                <a:effectLst/>
              </a:rPr>
              <a:t>a,b</a:t>
            </a:r>
            <a:r>
              <a:rPr lang="en-US" altLang="zh-CN" sz="2400" b="0" i="0" dirty="0">
                <a:solidFill>
                  <a:srgbClr val="0C0D0E"/>
                </a:solidFill>
                <a:effectLst/>
              </a:rPr>
              <a:t>}. Thus, A</a:t>
            </a:r>
            <a:r>
              <a:rPr lang="en-US" altLang="zh-CN" sz="2400" dirty="0">
                <a:solidFill>
                  <a:srgbClr val="0C0D0E"/>
                </a:solidFill>
                <a:latin typeface="Cambria Math" panose="02040503050406030204" pitchFamily="18" charset="0"/>
                <a:ea typeface="Cambria Math" panose="02040503050406030204" pitchFamily="18" charset="0"/>
              </a:rPr>
              <a:t>∩</a:t>
            </a:r>
            <a:r>
              <a:rPr lang="en-US" altLang="zh-CN" sz="2400" b="0" i="0" dirty="0">
                <a:solidFill>
                  <a:srgbClr val="0C0D0E"/>
                </a:solidFill>
                <a:effectLst/>
              </a:rPr>
              <a:t>B=A</a:t>
            </a:r>
            <a:r>
              <a:rPr lang="en-US" altLang="zh-CN" sz="2400" dirty="0">
                <a:solidFill>
                  <a:srgbClr val="0C0D0E"/>
                </a:solidFill>
                <a:latin typeface="Cambria Math" panose="02040503050406030204" pitchFamily="18" charset="0"/>
                <a:ea typeface="Cambria Math" panose="02040503050406030204" pitchFamily="18" charset="0"/>
              </a:rPr>
              <a:t>∩</a:t>
            </a:r>
            <a:r>
              <a:rPr lang="en-US" altLang="zh-CN" sz="2400" b="0" i="0" dirty="0">
                <a:solidFill>
                  <a:srgbClr val="0C0D0E"/>
                </a:solidFill>
                <a:effectLst/>
              </a:rPr>
              <a:t>C.</a:t>
            </a:r>
          </a:p>
          <a:p>
            <a:pPr algn="l">
              <a:lnSpc>
                <a:spcPct val="120000"/>
              </a:lnSpc>
              <a:spcBef>
                <a:spcPts val="0"/>
              </a:spcBef>
              <a:buClr>
                <a:srgbClr val="0B61FF"/>
              </a:buClr>
              <a:buSzPct val="120000"/>
              <a:buFont typeface="Arial" panose="020B0604020202020204" pitchFamily="34" charset="0"/>
              <a:buChar char="•"/>
            </a:pPr>
            <a:r>
              <a:rPr lang="en-US" altLang="zh-CN" sz="2400" b="0" i="0" dirty="0">
                <a:solidFill>
                  <a:srgbClr val="0C0D0E"/>
                </a:solidFill>
                <a:effectLst/>
              </a:rPr>
              <a:t>However, B≠C because </a:t>
            </a:r>
            <a:r>
              <a:rPr lang="en-US" altLang="zh-CN" sz="2400" b="0" i="0" dirty="0" err="1">
                <a:solidFill>
                  <a:srgbClr val="0C0D0E"/>
                </a:solidFill>
                <a:effectLst/>
              </a:rPr>
              <a:t>c∉C</a:t>
            </a:r>
            <a:r>
              <a:rPr lang="en-US" altLang="zh-CN" sz="2400" b="0" i="0" dirty="0">
                <a:solidFill>
                  <a:srgbClr val="0C0D0E"/>
                </a:solidFill>
                <a:effectLst/>
              </a:rPr>
              <a:t> and </a:t>
            </a:r>
            <a:r>
              <a:rPr lang="en-US" altLang="zh-CN" sz="2400" b="0" i="0" dirty="0" err="1">
                <a:solidFill>
                  <a:srgbClr val="0C0D0E"/>
                </a:solidFill>
                <a:effectLst/>
              </a:rPr>
              <a:t>d∉B</a:t>
            </a:r>
            <a:r>
              <a:rPr lang="en-US" altLang="zh-CN" sz="2400" b="0" i="0" dirty="0">
                <a:solidFill>
                  <a:srgbClr val="0C0D0E"/>
                </a:solidFill>
                <a:effectLst/>
              </a:rPr>
              <a:t>.</a:t>
            </a:r>
          </a:p>
          <a:p>
            <a:pPr algn="l">
              <a:lnSpc>
                <a:spcPct val="120000"/>
              </a:lnSpc>
              <a:spcBef>
                <a:spcPts val="0"/>
              </a:spcBef>
              <a:buClr>
                <a:srgbClr val="0B61FF"/>
              </a:buClr>
              <a:buSzPct val="120000"/>
              <a:buFont typeface="Arial" panose="020B0604020202020204" pitchFamily="34" charset="0"/>
              <a:buChar char="•"/>
            </a:pPr>
            <a:r>
              <a:rPr lang="en-US" altLang="zh-CN" sz="2400" b="1" i="0" dirty="0">
                <a:solidFill>
                  <a:srgbClr val="0C0D0E"/>
                </a:solidFill>
                <a:effectLst/>
              </a:rPr>
              <a:t>Therefore</a:t>
            </a:r>
            <a:r>
              <a:rPr lang="en-US" altLang="zh-CN" sz="2400" b="0" i="0" dirty="0">
                <a:solidFill>
                  <a:srgbClr val="0C0D0E"/>
                </a:solidFill>
                <a:effectLst/>
              </a:rPr>
              <a:t>, the statement does not hold</a:t>
            </a:r>
            <a:endParaRPr lang="zh-CN" altLang="en-US" sz="2800" b="1" dirty="0"/>
          </a:p>
        </p:txBody>
      </p:sp>
      <p:pic>
        <p:nvPicPr>
          <p:cNvPr id="9" name="图片 8">
            <a:extLst>
              <a:ext uri="{FF2B5EF4-FFF2-40B4-BE49-F238E27FC236}">
                <a16:creationId xmlns:a16="http://schemas.microsoft.com/office/drawing/2014/main" id="{44BD3F0F-5066-48E8-BB82-8A8C9BE345D6}"/>
              </a:ext>
            </a:extLst>
          </p:cNvPr>
          <p:cNvPicPr>
            <a:picLocks noChangeAspect="1"/>
          </p:cNvPicPr>
          <p:nvPr/>
        </p:nvPicPr>
        <p:blipFill>
          <a:blip r:embed="rId5"/>
          <a:stretch>
            <a:fillRect/>
          </a:stretch>
        </p:blipFill>
        <p:spPr>
          <a:xfrm>
            <a:off x="1668664" y="2919255"/>
            <a:ext cx="577850" cy="241300"/>
          </a:xfrm>
          <a:prstGeom prst="rect">
            <a:avLst/>
          </a:prstGeom>
        </p:spPr>
      </p:pic>
    </p:spTree>
    <p:extLst>
      <p:ext uri="{BB962C8B-B14F-4D97-AF65-F5344CB8AC3E}">
        <p14:creationId xmlns:p14="http://schemas.microsoft.com/office/powerpoint/2010/main" val="8163158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3" end="3"/>
                                            </p:txEl>
                                          </p:spTgt>
                                        </p:tgtEl>
                                        <p:attrNameLst>
                                          <p:attrName>style.visibility</p:attrName>
                                        </p:attrNameLst>
                                      </p:cBhvr>
                                      <p:to>
                                        <p:strVal val="visible"/>
                                      </p:to>
                                    </p:set>
                                    <p:animEffect transition="in" filter="fade">
                                      <p:cBhvr>
                                        <p:cTn id="12" dur="1000"/>
                                        <p:tgtEl>
                                          <p:spTgt spid="12">
                                            <p:txEl>
                                              <p:pRg st="3" end="3"/>
                                            </p:txEl>
                                          </p:spTgt>
                                        </p:tgtEl>
                                      </p:cBhvr>
                                    </p:animEffect>
                                    <p:anim calcmode="lin" valueType="num">
                                      <p:cBhvr>
                                        <p:cTn id="13"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fade">
                                      <p:cBhvr>
                                        <p:cTn id="17" dur="1000"/>
                                        <p:tgtEl>
                                          <p:spTgt spid="12">
                                            <p:txEl>
                                              <p:pRg st="4" end="4"/>
                                            </p:txEl>
                                          </p:spTgt>
                                        </p:tgtEl>
                                      </p:cBhvr>
                                    </p:animEffect>
                                    <p:anim calcmode="lin" valueType="num">
                                      <p:cBhvr>
                                        <p:cTn id="18"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2">
                                            <p:txEl>
                                              <p:pRg st="5" end="5"/>
                                            </p:txEl>
                                          </p:spTgt>
                                        </p:tgtEl>
                                        <p:attrNameLst>
                                          <p:attrName>style.visibility</p:attrName>
                                        </p:attrNameLst>
                                      </p:cBhvr>
                                      <p:to>
                                        <p:strVal val="visible"/>
                                      </p:to>
                                    </p:set>
                                    <p:animEffect transition="in" filter="fade">
                                      <p:cBhvr>
                                        <p:cTn id="24" dur="1000"/>
                                        <p:tgtEl>
                                          <p:spTgt spid="12">
                                            <p:txEl>
                                              <p:pRg st="5" end="5"/>
                                            </p:txEl>
                                          </p:spTgt>
                                        </p:tgtEl>
                                      </p:cBhvr>
                                    </p:animEffect>
                                    <p:anim calcmode="lin" valueType="num">
                                      <p:cBhvr>
                                        <p:cTn id="25"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12">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2">
                                            <p:txEl>
                                              <p:pRg st="6" end="6"/>
                                            </p:txEl>
                                          </p:spTgt>
                                        </p:tgtEl>
                                        <p:attrNameLst>
                                          <p:attrName>style.visibility</p:attrName>
                                        </p:attrNameLst>
                                      </p:cBhvr>
                                      <p:to>
                                        <p:strVal val="visible"/>
                                      </p:to>
                                    </p:set>
                                    <p:animEffect transition="in" filter="fade">
                                      <p:cBhvr>
                                        <p:cTn id="29" dur="1000"/>
                                        <p:tgtEl>
                                          <p:spTgt spid="12">
                                            <p:txEl>
                                              <p:pRg st="6" end="6"/>
                                            </p:txEl>
                                          </p:spTgt>
                                        </p:tgtEl>
                                      </p:cBhvr>
                                    </p:animEffect>
                                    <p:anim calcmode="lin" valueType="num">
                                      <p:cBhvr>
                                        <p:cTn id="30"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12">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2">
                                            <p:txEl>
                                              <p:pRg st="7" end="7"/>
                                            </p:txEl>
                                          </p:spTgt>
                                        </p:tgtEl>
                                        <p:attrNameLst>
                                          <p:attrName>style.visibility</p:attrName>
                                        </p:attrNameLst>
                                      </p:cBhvr>
                                      <p:to>
                                        <p:strVal val="visible"/>
                                      </p:to>
                                    </p:set>
                                    <p:animEffect transition="in" filter="fade">
                                      <p:cBhvr>
                                        <p:cTn id="34" dur="1000"/>
                                        <p:tgtEl>
                                          <p:spTgt spid="12">
                                            <p:txEl>
                                              <p:pRg st="7" end="7"/>
                                            </p:txEl>
                                          </p:spTgt>
                                        </p:tgtEl>
                                      </p:cBhvr>
                                    </p:animEffect>
                                    <p:anim calcmode="lin" valueType="num">
                                      <p:cBhvr>
                                        <p:cTn id="35"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12">
                                            <p:txEl>
                                              <p:pRg st="7" end="7"/>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
                                            <p:txEl>
                                              <p:pRg st="8" end="8"/>
                                            </p:txEl>
                                          </p:spTgt>
                                        </p:tgtEl>
                                        <p:attrNameLst>
                                          <p:attrName>style.visibility</p:attrName>
                                        </p:attrNameLst>
                                      </p:cBhvr>
                                      <p:to>
                                        <p:strVal val="visible"/>
                                      </p:to>
                                    </p:set>
                                    <p:animEffect transition="in" filter="fade">
                                      <p:cBhvr>
                                        <p:cTn id="39" dur="1000"/>
                                        <p:tgtEl>
                                          <p:spTgt spid="12">
                                            <p:txEl>
                                              <p:pRg st="8" end="8"/>
                                            </p:txEl>
                                          </p:spTgt>
                                        </p:tgtEl>
                                      </p:cBhvr>
                                    </p:animEffect>
                                    <p:anim calcmode="lin" valueType="num">
                                      <p:cBhvr>
                                        <p:cTn id="40" dur="1000" fill="hold"/>
                                        <p:tgtEl>
                                          <p:spTgt spid="12">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12">
                                            <p:txEl>
                                              <p:pRg st="8" end="8"/>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2">
                                            <p:txEl>
                                              <p:pRg st="9" end="9"/>
                                            </p:txEl>
                                          </p:spTgt>
                                        </p:tgtEl>
                                        <p:attrNameLst>
                                          <p:attrName>style.visibility</p:attrName>
                                        </p:attrNameLst>
                                      </p:cBhvr>
                                      <p:to>
                                        <p:strVal val="visible"/>
                                      </p:to>
                                    </p:set>
                                    <p:animEffect transition="in" filter="fade">
                                      <p:cBhvr>
                                        <p:cTn id="44" dur="1000"/>
                                        <p:tgtEl>
                                          <p:spTgt spid="12">
                                            <p:txEl>
                                              <p:pRg st="9" end="9"/>
                                            </p:txEl>
                                          </p:spTgt>
                                        </p:tgtEl>
                                      </p:cBhvr>
                                    </p:animEffect>
                                    <p:anim calcmode="lin" valueType="num">
                                      <p:cBhvr>
                                        <p:cTn id="45" dur="1000" fill="hold"/>
                                        <p:tgtEl>
                                          <p:spTgt spid="12">
                                            <p:txEl>
                                              <p:pRg st="9" end="9"/>
                                            </p:txEl>
                                          </p:spTgt>
                                        </p:tgtEl>
                                        <p:attrNameLst>
                                          <p:attrName>ppt_x</p:attrName>
                                        </p:attrNameLst>
                                      </p:cBhvr>
                                      <p:tavLst>
                                        <p:tav tm="0">
                                          <p:val>
                                            <p:strVal val="#ppt_x"/>
                                          </p:val>
                                        </p:tav>
                                        <p:tav tm="100000">
                                          <p:val>
                                            <p:strVal val="#ppt_x"/>
                                          </p:val>
                                        </p:tav>
                                      </p:tavLst>
                                    </p:anim>
                                    <p:anim calcmode="lin" valueType="num">
                                      <p:cBhvr>
                                        <p:cTn id="46" dur="1000" fill="hold"/>
                                        <p:tgtEl>
                                          <p:spTgt spid="1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400" b="1" dirty="0">
                <a:cs typeface="Times New Roman" panose="02020603050405020304" pitchFamily="18" charset="0"/>
              </a:rPr>
              <a:t>1.4 </a:t>
            </a:r>
            <a:r>
              <a:rPr lang="en-US" altLang="zh-CN" sz="2400" b="1" i="0" dirty="0">
                <a:solidFill>
                  <a:schemeClr val="bg1"/>
                </a:solidFill>
                <a:effectLst/>
                <a:latin typeface="+mj-lt"/>
              </a:rPr>
              <a:t>Recursive Definition (Inductive Definition) </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1523999" y="917576"/>
            <a:ext cx="8806544" cy="43705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algn="l">
              <a:lnSpc>
                <a:spcPct val="120000"/>
              </a:lnSpc>
              <a:spcBef>
                <a:spcPts val="0"/>
              </a:spcBef>
              <a:buClr>
                <a:srgbClr val="0B61FF"/>
              </a:buClr>
              <a:buSzPct val="80000"/>
              <a:buFont typeface="Wingdings" panose="05000000000000000000" pitchFamily="2" charset="2"/>
              <a:buChar char="n"/>
            </a:pPr>
            <a:r>
              <a:rPr lang="en-US" altLang="zh-CN" sz="2400" b="1" dirty="0"/>
              <a:t>Recursive Definition</a:t>
            </a:r>
            <a:r>
              <a:rPr lang="en-US" altLang="zh-CN" sz="2400" dirty="0"/>
              <a:t> is a </a:t>
            </a:r>
            <a:r>
              <a:rPr lang="en-US" altLang="zh-CN" sz="2400" b="0" i="0" dirty="0">
                <a:solidFill>
                  <a:srgbClr val="0C0D0E"/>
                </a:solidFill>
                <a:effectLst/>
              </a:rPr>
              <a:t>process where a concept is defined in terms of itself.</a:t>
            </a:r>
          </a:p>
          <a:p>
            <a:pPr algn="l">
              <a:lnSpc>
                <a:spcPct val="120000"/>
              </a:lnSpc>
              <a:spcBef>
                <a:spcPts val="0"/>
              </a:spcBef>
              <a:buClr>
                <a:srgbClr val="0B61FF"/>
              </a:buClr>
              <a:buSzPct val="80000"/>
              <a:buFont typeface="Wingdings" panose="05000000000000000000" pitchFamily="2" charset="2"/>
              <a:buChar char="n"/>
            </a:pPr>
            <a:r>
              <a:rPr lang="en-US" altLang="zh-CN" sz="2400" b="1" i="0" dirty="0">
                <a:solidFill>
                  <a:srgbClr val="0C0D0E"/>
                </a:solidFill>
                <a:effectLst/>
              </a:rPr>
              <a:t>Example:</a:t>
            </a:r>
            <a:r>
              <a:rPr lang="en-US" altLang="zh-CN" sz="2400" b="0" i="0" dirty="0">
                <a:solidFill>
                  <a:srgbClr val="0C0D0E"/>
                </a:solidFill>
                <a:effectLst/>
              </a:rPr>
              <a:t> The sequence an can be recursively defined as follows:</a:t>
            </a:r>
          </a:p>
          <a:p>
            <a:pPr marL="0" indent="0" algn="l">
              <a:lnSpc>
                <a:spcPct val="120000"/>
              </a:lnSpc>
              <a:spcBef>
                <a:spcPts val="0"/>
              </a:spcBef>
              <a:buNone/>
            </a:pPr>
            <a:r>
              <a:rPr lang="en-US" altLang="zh-CN" sz="2400" b="1" i="1" dirty="0"/>
              <a:t>a</a:t>
            </a:r>
            <a:r>
              <a:rPr lang="en-US" altLang="zh-CN" sz="2400" b="1" baseline="30000" dirty="0"/>
              <a:t>0</a:t>
            </a:r>
            <a:r>
              <a:rPr lang="en-US" altLang="zh-CN" sz="2400" b="0" dirty="0">
                <a:solidFill>
                  <a:srgbClr val="0C0D0E"/>
                </a:solidFill>
                <a:effectLst/>
              </a:rPr>
              <a:t>=1,</a:t>
            </a:r>
            <a:r>
              <a:rPr lang="en-US" altLang="zh-CN" sz="2400" b="1" dirty="0"/>
              <a:t>  </a:t>
            </a:r>
            <a:r>
              <a:rPr lang="en-US" altLang="zh-CN" sz="2400" b="1" i="1" dirty="0"/>
              <a:t>a</a:t>
            </a:r>
            <a:r>
              <a:rPr lang="en-US" altLang="zh-CN" sz="2400" b="1" i="1" baseline="30000" dirty="0"/>
              <a:t>n</a:t>
            </a:r>
            <a:r>
              <a:rPr lang="en-US" altLang="zh-CN" sz="2400" b="0" dirty="0">
                <a:solidFill>
                  <a:srgbClr val="0C0D0E"/>
                </a:solidFill>
                <a:effectLst/>
              </a:rPr>
              <a:t>=</a:t>
            </a:r>
            <a:r>
              <a:rPr lang="en-US" altLang="zh-CN" sz="2400" b="1" dirty="0"/>
              <a:t> </a:t>
            </a:r>
            <a:r>
              <a:rPr lang="en-US" altLang="zh-CN" sz="2400" b="1" i="1" dirty="0"/>
              <a:t>a</a:t>
            </a:r>
            <a:r>
              <a:rPr lang="en-US" altLang="zh-CN" sz="2400" b="1" i="1" baseline="30000" dirty="0"/>
              <a:t>n</a:t>
            </a:r>
            <a:r>
              <a:rPr lang="en-US" altLang="zh-CN" sz="2400" b="1" baseline="30000" dirty="0">
                <a:solidFill>
                  <a:srgbClr val="0C0D0E"/>
                </a:solidFill>
                <a:effectLst/>
              </a:rPr>
              <a:t>−1</a:t>
            </a:r>
            <a:r>
              <a:rPr lang="en-US" altLang="zh-CN" sz="2400" b="1" dirty="0">
                <a:solidFill>
                  <a:srgbClr val="0C0D0E"/>
                </a:solidFill>
                <a:effectLst/>
              </a:rPr>
              <a:t>⋅a</a:t>
            </a:r>
            <a:r>
              <a:rPr lang="en-US" altLang="zh-CN" sz="2400" b="0" dirty="0">
                <a:solidFill>
                  <a:srgbClr val="0C0D0E"/>
                </a:solidFill>
                <a:effectLst/>
              </a:rPr>
              <a:t>, for n=1,2,…</a:t>
            </a:r>
          </a:p>
          <a:p>
            <a:pPr marL="0" indent="0" algn="l">
              <a:lnSpc>
                <a:spcPct val="120000"/>
              </a:lnSpc>
              <a:spcBef>
                <a:spcPts val="0"/>
              </a:spcBef>
              <a:buNone/>
            </a:pPr>
            <a:endParaRPr lang="en-US" altLang="zh-CN" sz="2400" b="0" dirty="0">
              <a:solidFill>
                <a:srgbClr val="0C0D0E"/>
              </a:solidFill>
              <a:effectLst/>
            </a:endParaRPr>
          </a:p>
          <a:p>
            <a:pPr marL="0" indent="0" algn="l">
              <a:lnSpc>
                <a:spcPct val="120000"/>
              </a:lnSpc>
              <a:spcBef>
                <a:spcPts val="0"/>
              </a:spcBef>
              <a:buNone/>
            </a:pPr>
            <a:r>
              <a:rPr lang="en-US" altLang="zh-CN" sz="2400" b="1" i="0" dirty="0">
                <a:solidFill>
                  <a:srgbClr val="0C0D0E"/>
                </a:solidFill>
                <a:effectLst/>
              </a:rPr>
              <a:t>         Example 12:</a:t>
            </a:r>
            <a:r>
              <a:rPr lang="en-US" altLang="zh-CN" sz="2400" b="0" i="0" dirty="0">
                <a:solidFill>
                  <a:srgbClr val="0C0D0E"/>
                </a:solidFill>
                <a:effectLst/>
              </a:rPr>
              <a:t> The Fibonacci sequence {</a:t>
            </a:r>
            <a:r>
              <a:rPr lang="en-US" altLang="zh-CN" sz="2400" b="1" i="1" dirty="0" err="1"/>
              <a:t>f</a:t>
            </a:r>
            <a:r>
              <a:rPr lang="en-US" altLang="zh-CN" sz="2400" b="1" i="1" baseline="-25000" dirty="0" err="1"/>
              <a:t>n</a:t>
            </a:r>
            <a:r>
              <a:rPr lang="en-US" altLang="zh-CN" sz="2400" b="0" i="0" dirty="0">
                <a:solidFill>
                  <a:srgbClr val="0C0D0E"/>
                </a:solidFill>
                <a:effectLst/>
              </a:rPr>
              <a:t>} is recursively defined as follows:</a:t>
            </a:r>
          </a:p>
          <a:p>
            <a:pPr algn="l">
              <a:lnSpc>
                <a:spcPct val="120000"/>
              </a:lnSpc>
              <a:spcBef>
                <a:spcPts val="0"/>
              </a:spcBef>
              <a:buClr>
                <a:srgbClr val="0B61FF"/>
              </a:buClr>
              <a:buSzPct val="120000"/>
            </a:pPr>
            <a:r>
              <a:rPr lang="en-US" altLang="zh-CN" sz="2400" b="1" i="1" dirty="0"/>
              <a:t>f</a:t>
            </a:r>
            <a:r>
              <a:rPr lang="en-US" altLang="zh-CN" sz="2400" b="1" baseline="-25000" dirty="0"/>
              <a:t>0</a:t>
            </a:r>
            <a:r>
              <a:rPr lang="en-US" altLang="zh-CN" sz="2400" b="0" dirty="0">
                <a:solidFill>
                  <a:srgbClr val="0C0D0E"/>
                </a:solidFill>
                <a:effectLst/>
              </a:rPr>
              <a:t>=1,</a:t>
            </a:r>
            <a:r>
              <a:rPr lang="en-US" altLang="zh-CN" sz="2400" b="1" i="1" dirty="0"/>
              <a:t> f</a:t>
            </a:r>
            <a:r>
              <a:rPr lang="en-US" altLang="zh-CN" sz="2400" b="1" baseline="-25000" dirty="0"/>
              <a:t>1</a:t>
            </a:r>
            <a:r>
              <a:rPr lang="en-US" altLang="zh-CN" sz="2400" b="0" dirty="0">
                <a:solidFill>
                  <a:srgbClr val="0C0D0E"/>
                </a:solidFill>
                <a:effectLst/>
              </a:rPr>
              <a:t>=1,</a:t>
            </a:r>
            <a:r>
              <a:rPr lang="en-US" altLang="zh-CN" sz="2400" b="1" i="1" dirty="0"/>
              <a:t> </a:t>
            </a:r>
            <a:r>
              <a:rPr lang="en-US" altLang="zh-CN" sz="2400" b="1" i="1" dirty="0" err="1"/>
              <a:t>f</a:t>
            </a:r>
            <a:r>
              <a:rPr lang="en-US" altLang="zh-CN" sz="2400" b="1" i="1" baseline="-25000" dirty="0" err="1"/>
              <a:t>n</a:t>
            </a:r>
            <a:r>
              <a:rPr lang="en-US" altLang="zh-CN" sz="2400" b="0" dirty="0">
                <a:solidFill>
                  <a:srgbClr val="0C0D0E"/>
                </a:solidFill>
                <a:effectLst/>
              </a:rPr>
              <a:t>=</a:t>
            </a:r>
            <a:r>
              <a:rPr lang="en-US" altLang="zh-CN" sz="2400" b="1" i="1" dirty="0"/>
              <a:t>f</a:t>
            </a:r>
            <a:r>
              <a:rPr lang="en-US" altLang="zh-CN" sz="2400" b="1" i="1" baseline="-25000" dirty="0"/>
              <a:t>n</a:t>
            </a:r>
            <a:r>
              <a:rPr lang="en-US" altLang="zh-CN" sz="2400" b="1" baseline="-25000" dirty="0"/>
              <a:t>-1</a:t>
            </a:r>
            <a:r>
              <a:rPr lang="en-US" altLang="zh-CN" sz="2400" b="1" dirty="0"/>
              <a:t>+</a:t>
            </a:r>
            <a:r>
              <a:rPr lang="en-US" altLang="zh-CN" sz="2400" b="1" i="1" dirty="0"/>
              <a:t> f</a:t>
            </a:r>
            <a:r>
              <a:rPr lang="en-US" altLang="zh-CN" sz="2400" b="1" i="1" baseline="-25000" dirty="0"/>
              <a:t>n</a:t>
            </a:r>
            <a:r>
              <a:rPr lang="en-US" altLang="zh-CN" sz="2400" b="1" baseline="-25000" dirty="0"/>
              <a:t>-2</a:t>
            </a:r>
            <a:r>
              <a:rPr lang="en-US" altLang="zh-CN" sz="2400" b="0" dirty="0">
                <a:solidFill>
                  <a:srgbClr val="0C0D0E"/>
                </a:solidFill>
                <a:effectLst/>
              </a:rPr>
              <a:t>, for n=2,3,…</a:t>
            </a:r>
            <a:r>
              <a:rPr lang="en-US" altLang="zh-CN" sz="2400" b="0" i="0" dirty="0">
                <a:solidFill>
                  <a:srgbClr val="0C0D0E"/>
                </a:solidFill>
                <a:effectLst/>
              </a:rPr>
              <a:t>Calculating the first few terms:</a:t>
            </a:r>
          </a:p>
          <a:p>
            <a:pPr marL="0" indent="0">
              <a:lnSpc>
                <a:spcPct val="120000"/>
              </a:lnSpc>
              <a:spcBef>
                <a:spcPts val="0"/>
              </a:spcBef>
              <a:buNone/>
            </a:pPr>
            <a:r>
              <a:rPr lang="en-US" altLang="zh-CN" sz="2400" b="1" i="1" dirty="0"/>
              <a:t>   f</a:t>
            </a:r>
            <a:r>
              <a:rPr lang="en-US" altLang="zh-CN" sz="2400" b="1" baseline="-25000" dirty="0"/>
              <a:t>0</a:t>
            </a:r>
            <a:r>
              <a:rPr lang="en-US" altLang="zh-CN" sz="2400" b="1" dirty="0"/>
              <a:t>=1, </a:t>
            </a:r>
            <a:r>
              <a:rPr lang="en-US" altLang="zh-CN" sz="2400" b="1" i="1" dirty="0"/>
              <a:t>f</a:t>
            </a:r>
            <a:r>
              <a:rPr lang="en-US" altLang="zh-CN" sz="2400" b="1" baseline="-25000" dirty="0"/>
              <a:t>1</a:t>
            </a:r>
            <a:r>
              <a:rPr lang="en-US" altLang="zh-CN" sz="2400" b="1" dirty="0"/>
              <a:t>=1,</a:t>
            </a:r>
            <a:r>
              <a:rPr lang="en-US" altLang="zh-CN" sz="2400" b="1" i="1" dirty="0"/>
              <a:t> f</a:t>
            </a:r>
            <a:r>
              <a:rPr lang="en-US" altLang="zh-CN" sz="2400" b="1" baseline="-25000" dirty="0"/>
              <a:t>2</a:t>
            </a:r>
            <a:r>
              <a:rPr lang="en-US" altLang="zh-CN" sz="2400" b="1" dirty="0"/>
              <a:t>=2,</a:t>
            </a:r>
            <a:r>
              <a:rPr lang="en-US" altLang="zh-CN" sz="2400" b="1" i="1" dirty="0"/>
              <a:t> f</a:t>
            </a:r>
            <a:r>
              <a:rPr lang="en-US" altLang="zh-CN" sz="2400" b="1" baseline="-25000" dirty="0"/>
              <a:t>3</a:t>
            </a:r>
            <a:r>
              <a:rPr lang="en-US" altLang="zh-CN" sz="2400" b="1" dirty="0"/>
              <a:t>=3,</a:t>
            </a:r>
            <a:r>
              <a:rPr lang="en-US" altLang="zh-CN" sz="2400" b="1" i="1" dirty="0"/>
              <a:t> f</a:t>
            </a:r>
            <a:r>
              <a:rPr lang="en-US" altLang="zh-CN" sz="2400" b="1" baseline="-25000" dirty="0"/>
              <a:t>4</a:t>
            </a:r>
            <a:r>
              <a:rPr lang="en-US" altLang="zh-CN" sz="2400" b="1" dirty="0"/>
              <a:t>=5,</a:t>
            </a:r>
            <a:r>
              <a:rPr lang="en-US" altLang="zh-CN" sz="2400" b="1" i="1" dirty="0"/>
              <a:t> f</a:t>
            </a:r>
            <a:r>
              <a:rPr lang="en-US" altLang="zh-CN" sz="2400" b="1" baseline="-25000" dirty="0"/>
              <a:t>5</a:t>
            </a:r>
            <a:r>
              <a:rPr lang="en-US" altLang="zh-CN" sz="2400" b="1" dirty="0"/>
              <a:t>=8,</a:t>
            </a:r>
            <a:r>
              <a:rPr lang="en-US" altLang="zh-CN" sz="2400" b="1" i="1" dirty="0"/>
              <a:t> f</a:t>
            </a:r>
            <a:r>
              <a:rPr lang="en-US" altLang="zh-CN" sz="2400" b="1" baseline="-25000" dirty="0"/>
              <a:t>6</a:t>
            </a:r>
            <a:r>
              <a:rPr lang="en-US" altLang="zh-CN" sz="2400" b="1" dirty="0"/>
              <a:t>=13</a:t>
            </a:r>
            <a:endParaRPr lang="zh-CN" altLang="en-US" sz="2400" b="1" dirty="0"/>
          </a:p>
        </p:txBody>
      </p:sp>
      <p:pic>
        <p:nvPicPr>
          <p:cNvPr id="9" name="图片 8">
            <a:extLst>
              <a:ext uri="{FF2B5EF4-FFF2-40B4-BE49-F238E27FC236}">
                <a16:creationId xmlns:a16="http://schemas.microsoft.com/office/drawing/2014/main" id="{308B97E4-0860-4751-B21D-8F7B51AD94DF}"/>
              </a:ext>
            </a:extLst>
          </p:cNvPr>
          <p:cNvPicPr>
            <a:picLocks noChangeAspect="1"/>
          </p:cNvPicPr>
          <p:nvPr/>
        </p:nvPicPr>
        <p:blipFill>
          <a:blip r:embed="rId5"/>
          <a:stretch>
            <a:fillRect/>
          </a:stretch>
        </p:blipFill>
        <p:spPr>
          <a:xfrm>
            <a:off x="1668664" y="3381968"/>
            <a:ext cx="577850" cy="241300"/>
          </a:xfrm>
          <a:prstGeom prst="rect">
            <a:avLst/>
          </a:prstGeom>
        </p:spPr>
      </p:pic>
    </p:spTree>
    <p:extLst>
      <p:ext uri="{BB962C8B-B14F-4D97-AF65-F5344CB8AC3E}">
        <p14:creationId xmlns:p14="http://schemas.microsoft.com/office/powerpoint/2010/main" val="41245032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5" end="5"/>
                                            </p:txEl>
                                          </p:spTgt>
                                        </p:tgtEl>
                                        <p:attrNameLst>
                                          <p:attrName>style.visibility</p:attrName>
                                        </p:attrNameLst>
                                      </p:cBhvr>
                                      <p:to>
                                        <p:strVal val="visible"/>
                                      </p:to>
                                    </p:set>
                                    <p:animEffect transition="in" filter="fade">
                                      <p:cBhvr>
                                        <p:cTn id="12" dur="1000"/>
                                        <p:tgtEl>
                                          <p:spTgt spid="12">
                                            <p:txEl>
                                              <p:pRg st="5" end="5"/>
                                            </p:txEl>
                                          </p:spTgt>
                                        </p:tgtEl>
                                      </p:cBhvr>
                                    </p:animEffect>
                                    <p:anim calcmode="lin" valueType="num">
                                      <p:cBhvr>
                                        <p:cTn id="13"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animEffect transition="in" filter="fade">
                                      <p:cBhvr>
                                        <p:cTn id="19" dur="1000"/>
                                        <p:tgtEl>
                                          <p:spTgt spid="12">
                                            <p:txEl>
                                              <p:pRg st="6" end="6"/>
                                            </p:txEl>
                                          </p:spTgt>
                                        </p:tgtEl>
                                      </p:cBhvr>
                                    </p:animEffect>
                                    <p:anim calcmode="lin" valueType="num">
                                      <p:cBhvr>
                                        <p:cTn id="20"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21" dur="1000" fill="hold"/>
                                        <p:tgtEl>
                                          <p:spTgt spid="12">
                                            <p:txEl>
                                              <p:pRg st="6" end="6"/>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2">
                                            <p:txEl>
                                              <p:pRg st="7" end="7"/>
                                            </p:txEl>
                                          </p:spTgt>
                                        </p:tgtEl>
                                        <p:attrNameLst>
                                          <p:attrName>style.visibility</p:attrName>
                                        </p:attrNameLst>
                                      </p:cBhvr>
                                      <p:to>
                                        <p:strVal val="visible"/>
                                      </p:to>
                                    </p:set>
                                    <p:animEffect transition="in" filter="fade">
                                      <p:cBhvr>
                                        <p:cTn id="24" dur="1000"/>
                                        <p:tgtEl>
                                          <p:spTgt spid="12">
                                            <p:txEl>
                                              <p:pRg st="7" end="7"/>
                                            </p:txEl>
                                          </p:spTgt>
                                        </p:tgtEl>
                                      </p:cBhvr>
                                    </p:animEffect>
                                    <p:anim calcmode="lin" valueType="num">
                                      <p:cBhvr>
                                        <p:cTn id="25"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26" dur="1000" fill="hold"/>
                                        <p:tgtEl>
                                          <p:spTgt spid="1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620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1.4 </a:t>
            </a:r>
            <a:r>
              <a:rPr lang="en-US" altLang="zh-CN" sz="2000" b="1" i="0" dirty="0">
                <a:solidFill>
                  <a:schemeClr val="bg1"/>
                </a:solidFill>
                <a:effectLst/>
                <a:latin typeface="+mj-lt"/>
              </a:rPr>
              <a:t>Recursive Definition </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A recursive definition of a set </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1523999" y="917575"/>
            <a:ext cx="8806544" cy="57880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marL="0" indent="0" algn="l">
              <a:lnSpc>
                <a:spcPct val="120000"/>
              </a:lnSpc>
              <a:spcBef>
                <a:spcPts val="0"/>
              </a:spcBef>
              <a:buNone/>
            </a:pPr>
            <a:r>
              <a:rPr lang="en-US" altLang="zh-CN" sz="2400" b="1" i="0" dirty="0">
                <a:solidFill>
                  <a:srgbClr val="0C0D0E"/>
                </a:solidFill>
                <a:effectLst/>
              </a:rPr>
              <a:t>         Example 13: </a:t>
            </a:r>
            <a:r>
              <a:rPr lang="en-US" altLang="zh-CN" sz="2400" b="0" i="0" dirty="0">
                <a:solidFill>
                  <a:srgbClr val="0C0D0E"/>
                </a:solidFill>
                <a:effectLst/>
              </a:rPr>
              <a:t>The set A is recursively defined as follows:</a:t>
            </a:r>
          </a:p>
          <a:p>
            <a:pPr>
              <a:lnSpc>
                <a:spcPct val="120000"/>
              </a:lnSpc>
              <a:spcBef>
                <a:spcPts val="0"/>
              </a:spcBef>
              <a:buClr>
                <a:srgbClr val="0B61FF"/>
              </a:buClr>
              <a:buSzPct val="120000"/>
            </a:pPr>
            <a:r>
              <a:rPr lang="en-US" altLang="zh-CN" sz="2400" b="1" i="0" dirty="0">
                <a:solidFill>
                  <a:srgbClr val="0C0D0E"/>
                </a:solidFill>
                <a:effectLst/>
              </a:rPr>
              <a:t>Base Step: </a:t>
            </a:r>
            <a:r>
              <a:rPr lang="en-US" altLang="zh-CN" sz="2400" dirty="0">
                <a:solidFill>
                  <a:srgbClr val="0C0D0E"/>
                </a:solidFill>
              </a:rPr>
              <a:t>3 </a:t>
            </a:r>
            <a:r>
              <a:rPr lang="en-US" altLang="zh-CN" sz="2400" b="1" dirty="0">
                <a:latin typeface="Cambria Math" panose="02040503050406030204" pitchFamily="18" charset="0"/>
                <a:ea typeface="Cambria Math" panose="02040503050406030204" pitchFamily="18" charset="0"/>
                <a:sym typeface="Symbol"/>
              </a:rPr>
              <a:t></a:t>
            </a:r>
            <a:r>
              <a:rPr lang="en-US" altLang="zh-CN" sz="2400" b="0" i="0" dirty="0">
                <a:solidFill>
                  <a:srgbClr val="0C0D0E"/>
                </a:solidFill>
                <a:effectLst/>
              </a:rPr>
              <a:t>A</a:t>
            </a:r>
          </a:p>
          <a:p>
            <a:pPr algn="l">
              <a:lnSpc>
                <a:spcPct val="120000"/>
              </a:lnSpc>
              <a:spcBef>
                <a:spcPts val="0"/>
              </a:spcBef>
              <a:buClr>
                <a:srgbClr val="0B61FF"/>
              </a:buClr>
              <a:buSzPct val="120000"/>
            </a:pPr>
            <a:r>
              <a:rPr lang="en-US" altLang="zh-CN" sz="2400" b="1" i="0" dirty="0">
                <a:solidFill>
                  <a:srgbClr val="0C0D0E"/>
                </a:solidFill>
                <a:effectLst/>
              </a:rPr>
              <a:t>Recursive Step(</a:t>
            </a:r>
            <a:r>
              <a:rPr lang="en-US" altLang="zh-CN" sz="2400" b="1" dirty="0"/>
              <a:t>Rule )</a:t>
            </a:r>
            <a:r>
              <a:rPr lang="en-US" altLang="zh-CN" sz="2400" b="1" i="0" dirty="0">
                <a:solidFill>
                  <a:srgbClr val="0C0D0E"/>
                </a:solidFill>
                <a:effectLst/>
              </a:rPr>
              <a:t>:</a:t>
            </a:r>
          </a:p>
          <a:p>
            <a:pPr marL="0" indent="0" algn="l">
              <a:lnSpc>
                <a:spcPct val="120000"/>
              </a:lnSpc>
              <a:spcBef>
                <a:spcPts val="0"/>
              </a:spcBef>
              <a:buNone/>
            </a:pPr>
            <a:r>
              <a:rPr lang="en-US" altLang="zh-CN" sz="2400" b="0" i="0" dirty="0">
                <a:solidFill>
                  <a:srgbClr val="0C0D0E"/>
                </a:solidFill>
                <a:effectLst/>
              </a:rPr>
              <a:t>   (1) If x, y </a:t>
            </a:r>
            <a:r>
              <a:rPr lang="en-US" altLang="zh-CN" sz="2400" b="1" dirty="0">
                <a:latin typeface="Cambria Math" panose="02040503050406030204" pitchFamily="18" charset="0"/>
                <a:ea typeface="Cambria Math" panose="02040503050406030204" pitchFamily="18" charset="0"/>
                <a:sym typeface="Symbol"/>
              </a:rPr>
              <a:t></a:t>
            </a:r>
            <a:r>
              <a:rPr lang="en-US" altLang="zh-CN" sz="2400" b="0" i="0" dirty="0">
                <a:solidFill>
                  <a:srgbClr val="0C0D0E"/>
                </a:solidFill>
                <a:effectLst/>
              </a:rPr>
              <a:t>A , then x + y </a:t>
            </a:r>
            <a:r>
              <a:rPr lang="en-US" altLang="zh-CN" sz="2400" b="1" dirty="0">
                <a:latin typeface="Cambria Math" panose="02040503050406030204" pitchFamily="18" charset="0"/>
                <a:ea typeface="Cambria Math" panose="02040503050406030204" pitchFamily="18" charset="0"/>
                <a:sym typeface="Symbol"/>
              </a:rPr>
              <a:t></a:t>
            </a:r>
            <a:r>
              <a:rPr lang="en-US" altLang="zh-CN" sz="2400" b="0" i="0" dirty="0">
                <a:solidFill>
                  <a:srgbClr val="0C0D0E"/>
                </a:solidFill>
                <a:effectLst/>
              </a:rPr>
              <a:t>A .</a:t>
            </a:r>
          </a:p>
          <a:p>
            <a:pPr marL="0" indent="0" algn="l">
              <a:lnSpc>
                <a:spcPct val="120000"/>
              </a:lnSpc>
              <a:spcBef>
                <a:spcPts val="0"/>
              </a:spcBef>
              <a:buNone/>
            </a:pPr>
            <a:r>
              <a:rPr lang="zh-CN" altLang="en-US" sz="2400" dirty="0">
                <a:solidFill>
                  <a:srgbClr val="0C0D0E"/>
                </a:solidFill>
              </a:rPr>
              <a:t>   </a:t>
            </a:r>
            <a:r>
              <a:rPr lang="en-US" altLang="zh-CN" sz="2400" dirty="0">
                <a:solidFill>
                  <a:srgbClr val="0C0D0E"/>
                </a:solidFill>
              </a:rPr>
              <a:t>(2)</a:t>
            </a:r>
            <a:r>
              <a:rPr lang="zh-CN" altLang="en-US" sz="2400" dirty="0">
                <a:solidFill>
                  <a:srgbClr val="0C0D0E"/>
                </a:solidFill>
              </a:rPr>
              <a:t> </a:t>
            </a:r>
            <a:r>
              <a:rPr lang="en-US" altLang="zh-CN" sz="2400" b="0" i="0" dirty="0">
                <a:solidFill>
                  <a:srgbClr val="0C0D0E"/>
                </a:solidFill>
                <a:effectLst/>
              </a:rPr>
              <a:t>All numbers obtained by applying the recursive step a finite number of times belong to the set A.</a:t>
            </a:r>
          </a:p>
          <a:p>
            <a:pPr>
              <a:buFontTx/>
              <a:buNone/>
            </a:pPr>
            <a:endParaRPr lang="en-US" altLang="zh-CN" b="1" dirty="0"/>
          </a:p>
          <a:p>
            <a:pPr>
              <a:buFontTx/>
              <a:buNone/>
            </a:pPr>
            <a:endParaRPr lang="zh-CN" altLang="en-US" sz="2800" b="1" dirty="0"/>
          </a:p>
        </p:txBody>
      </p:sp>
      <p:sp>
        <p:nvSpPr>
          <p:cNvPr id="9" name="TextBox 4">
            <a:extLst>
              <a:ext uri="{FF2B5EF4-FFF2-40B4-BE49-F238E27FC236}">
                <a16:creationId xmlns:a16="http://schemas.microsoft.com/office/drawing/2014/main" id="{AAB2EC9E-FFBC-48E0-9451-69E3057A74F4}"/>
              </a:ext>
            </a:extLst>
          </p:cNvPr>
          <p:cNvSpPr txBox="1"/>
          <p:nvPr/>
        </p:nvSpPr>
        <p:spPr>
          <a:xfrm>
            <a:off x="1957589" y="3811587"/>
            <a:ext cx="5212216" cy="461665"/>
          </a:xfrm>
          <a:prstGeom prst="rect">
            <a:avLst/>
          </a:prstGeom>
          <a:noFill/>
        </p:spPr>
        <p:txBody>
          <a:bodyPr wrap="square">
            <a:spAutoFit/>
          </a:bodyPr>
          <a:lstStyle/>
          <a:p>
            <a:pPr eaLnBrk="1" hangingPunct="1">
              <a:defRPr/>
            </a:pPr>
            <a:r>
              <a:rPr lang="en-US" sz="2400" b="1" i="1" dirty="0">
                <a:solidFill>
                  <a:srgbClr val="0B61FF"/>
                </a:solidFill>
                <a:latin typeface="+mn-lt"/>
              </a:rPr>
              <a:t>A</a:t>
            </a:r>
            <a:r>
              <a:rPr lang="en-US" sz="2400" b="1" dirty="0">
                <a:solidFill>
                  <a:srgbClr val="0B61FF"/>
                </a:solidFill>
                <a:latin typeface="+mn-lt"/>
              </a:rPr>
              <a:t>={3</a:t>
            </a:r>
            <a:r>
              <a:rPr lang="en-US" sz="2400" b="1" i="1" dirty="0">
                <a:solidFill>
                  <a:srgbClr val="0B61FF"/>
                </a:solidFill>
                <a:latin typeface="+mn-lt"/>
              </a:rPr>
              <a:t>n</a:t>
            </a:r>
            <a:r>
              <a:rPr lang="en-US" sz="2400" b="1" dirty="0">
                <a:solidFill>
                  <a:srgbClr val="0B61FF"/>
                </a:solidFill>
                <a:latin typeface="+mn-lt"/>
              </a:rPr>
              <a:t> | </a:t>
            </a:r>
            <a:r>
              <a:rPr lang="en-US" sz="2400" b="1" i="1" dirty="0" err="1">
                <a:solidFill>
                  <a:srgbClr val="0B61FF"/>
                </a:solidFill>
                <a:latin typeface="+mn-lt"/>
              </a:rPr>
              <a:t>n</a:t>
            </a:r>
            <a:r>
              <a:rPr lang="en-US" sz="2400" b="1" dirty="0" err="1">
                <a:solidFill>
                  <a:srgbClr val="0B61FF"/>
                </a:solidFill>
                <a:latin typeface="+mn-lt"/>
                <a:sym typeface="Symbol"/>
              </a:rPr>
              <a:t></a:t>
            </a:r>
            <a:r>
              <a:rPr lang="en-US" sz="2400" b="1" dirty="0" err="1">
                <a:solidFill>
                  <a:srgbClr val="0B61FF"/>
                </a:solidFill>
                <a:latin typeface="+mn-lt"/>
              </a:rPr>
              <a:t>Z</a:t>
            </a:r>
            <a:r>
              <a:rPr lang="en-US" sz="2400" b="1" baseline="30000" dirty="0">
                <a:solidFill>
                  <a:srgbClr val="0B61FF"/>
                </a:solidFill>
                <a:latin typeface="+mn-lt"/>
              </a:rPr>
              <a:t>+</a:t>
            </a:r>
            <a:r>
              <a:rPr lang="en-US" sz="2400" b="1" dirty="0">
                <a:solidFill>
                  <a:srgbClr val="0B61FF"/>
                </a:solidFill>
                <a:latin typeface="+mn-lt"/>
              </a:rPr>
              <a:t>}</a:t>
            </a:r>
            <a:endParaRPr lang="zh-CN" altLang="en-US" sz="2400" b="1" dirty="0">
              <a:solidFill>
                <a:srgbClr val="0B61FF"/>
              </a:solidFill>
              <a:latin typeface="+mn-lt"/>
            </a:endParaRPr>
          </a:p>
        </p:txBody>
      </p:sp>
      <p:pic>
        <p:nvPicPr>
          <p:cNvPr id="10" name="图片 9">
            <a:extLst>
              <a:ext uri="{FF2B5EF4-FFF2-40B4-BE49-F238E27FC236}">
                <a16:creationId xmlns:a16="http://schemas.microsoft.com/office/drawing/2014/main" id="{4A34FCDB-BC1A-4200-A3D4-90B5188DEBDF}"/>
              </a:ext>
            </a:extLst>
          </p:cNvPr>
          <p:cNvPicPr>
            <a:picLocks noChangeAspect="1"/>
          </p:cNvPicPr>
          <p:nvPr/>
        </p:nvPicPr>
        <p:blipFill>
          <a:blip r:embed="rId5"/>
          <a:stretch>
            <a:fillRect/>
          </a:stretch>
        </p:blipFill>
        <p:spPr>
          <a:xfrm>
            <a:off x="1668664" y="1164292"/>
            <a:ext cx="577850" cy="241300"/>
          </a:xfrm>
          <a:prstGeom prst="rect">
            <a:avLst/>
          </a:prstGeom>
        </p:spPr>
      </p:pic>
    </p:spTree>
    <p:extLst>
      <p:ext uri="{BB962C8B-B14F-4D97-AF65-F5344CB8AC3E}">
        <p14:creationId xmlns:p14="http://schemas.microsoft.com/office/powerpoint/2010/main" val="8663920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3" end="3"/>
                                            </p:txEl>
                                          </p:spTgt>
                                        </p:tgtEl>
                                        <p:attrNameLst>
                                          <p:attrName>style.visibility</p:attrName>
                                        </p:attrNameLst>
                                      </p:cBhvr>
                                      <p:to>
                                        <p:strVal val="visible"/>
                                      </p:to>
                                    </p:set>
                                    <p:animEffect transition="in" filter="fade">
                                      <p:cBhvr>
                                        <p:cTn id="14" dur="1000"/>
                                        <p:tgtEl>
                                          <p:spTgt spid="12">
                                            <p:txEl>
                                              <p:pRg st="3" end="3"/>
                                            </p:txEl>
                                          </p:spTgt>
                                        </p:tgtEl>
                                      </p:cBhvr>
                                    </p:animEffect>
                                    <p:anim calcmode="lin" valueType="num">
                                      <p:cBhvr>
                                        <p:cTn id="1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Effect transition="in" filter="fade">
                                      <p:cBhvr>
                                        <p:cTn id="19" dur="1000"/>
                                        <p:tgtEl>
                                          <p:spTgt spid="12">
                                            <p:txEl>
                                              <p:pRg st="4" end="4"/>
                                            </p:txEl>
                                          </p:spTgt>
                                        </p:tgtEl>
                                      </p:cBhvr>
                                    </p:animEffect>
                                    <p:anim calcmode="lin" valueType="num">
                                      <p:cBhvr>
                                        <p:cTn id="20"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2">
                                            <p:txEl>
                                              <p:pRg st="5" end="5"/>
                                            </p:txEl>
                                          </p:spTgt>
                                        </p:tgtEl>
                                        <p:attrNameLst>
                                          <p:attrName>style.visibility</p:attrName>
                                        </p:attrNameLst>
                                      </p:cBhvr>
                                      <p:to>
                                        <p:strVal val="visible"/>
                                      </p:to>
                                    </p:set>
                                    <p:animEffect transition="in" filter="fade">
                                      <p:cBhvr>
                                        <p:cTn id="26" dur="1000"/>
                                        <p:tgtEl>
                                          <p:spTgt spid="12">
                                            <p:txEl>
                                              <p:pRg st="5" end="5"/>
                                            </p:txEl>
                                          </p:spTgt>
                                        </p:tgtEl>
                                      </p:cBhvr>
                                    </p:animEffect>
                                    <p:anim calcmode="lin" valueType="num">
                                      <p:cBhvr>
                                        <p:cTn id="27"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7880" y="-39992"/>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cs typeface="Times New Roman" panose="02020603050405020304" pitchFamily="18" charset="0"/>
              </a:rPr>
              <a:t>               </a:t>
            </a:r>
            <a:r>
              <a:rPr lang="en-US" altLang="zh-CN" sz="2000" b="1" dirty="0">
                <a:cs typeface="Times New Roman" panose="02020603050405020304" pitchFamily="18" charset="0"/>
              </a:rPr>
              <a:t>1.4 </a:t>
            </a:r>
            <a:r>
              <a:rPr lang="en-US" altLang="zh-CN" sz="2000" b="1" i="0" dirty="0">
                <a:solidFill>
                  <a:schemeClr val="bg1"/>
                </a:solidFill>
                <a:effectLst/>
                <a:latin typeface="+mj-lt"/>
              </a:rPr>
              <a:t>Recursive Definition </a:t>
            </a:r>
            <a:endParaRPr lang="en-US" altLang="zh-CN" sz="2000" b="1" dirty="0">
              <a:cs typeface="Times New Roman" panose="02020603050405020304" pitchFamily="18" charset="0"/>
            </a:endParaRPr>
          </a:p>
          <a:p>
            <a:r>
              <a:rPr lang="zh-CN" altLang="en-US" sz="2000" b="1" dirty="0">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000" b="1" dirty="0">
                <a:solidFill>
                  <a:srgbClr val="CFA57C"/>
                </a:solidFill>
                <a:latin typeface="+mj-lt"/>
                <a:ea typeface="宋体" panose="02010600030101010101" pitchFamily="2" charset="-122"/>
                <a:cs typeface="Times New Roman" panose="02020603050405020304" pitchFamily="18" charset="0"/>
              </a:rPr>
              <a:t>⤷</a:t>
            </a:r>
            <a:r>
              <a:rPr lang="en-US" altLang="zh-CN" sz="2400" b="1" i="0" dirty="0">
                <a:solidFill>
                  <a:srgbClr val="0C0D0E"/>
                </a:solidFill>
                <a:effectLst/>
                <a:latin typeface="-apple-system"/>
              </a:rPr>
              <a:t> </a:t>
            </a:r>
            <a:r>
              <a:rPr lang="en-US" altLang="zh-CN" sz="2400" b="1" i="0" dirty="0">
                <a:solidFill>
                  <a:schemeClr val="bg1"/>
                </a:solidFill>
                <a:effectLst/>
                <a:latin typeface="+mj-lt"/>
              </a:rPr>
              <a:t>Recursive definition of arithmetic expression </a:t>
            </a:r>
            <a:endParaRPr lang="zh-CN" altLang="en-US" sz="2400" b="1" dirty="0">
              <a:solidFill>
                <a:schemeClr val="bg1"/>
              </a:solidFill>
              <a:highlight>
                <a:srgbClr val="FF0000"/>
              </a:highlight>
              <a:latin typeface="+mj-lt"/>
              <a:ea typeface="宋体" panose="02010600030101010101" pitchFamily="2" charset="-122"/>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3">
            <a:extLst>
              <a:ext uri="{FF2B5EF4-FFF2-40B4-BE49-F238E27FC236}">
                <a16:creationId xmlns:a16="http://schemas.microsoft.com/office/drawing/2014/main" id="{0C4AA291-0DD5-4B8E-8AC2-D1DBF361E49D}"/>
              </a:ext>
            </a:extLst>
          </p:cNvPr>
          <p:cNvSpPr txBox="1">
            <a:spLocks noChangeArrowheads="1"/>
          </p:cNvSpPr>
          <p:nvPr/>
        </p:nvSpPr>
        <p:spPr>
          <a:xfrm>
            <a:off x="1371599" y="765175"/>
            <a:ext cx="8806544" cy="5788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eaLnBrk="1" hangingPunct="1">
              <a:spcBef>
                <a:spcPct val="0"/>
              </a:spcBef>
              <a:buFontTx/>
              <a:buNone/>
            </a:pPr>
            <a:endParaRPr lang="zh-CN" altLang="en-US" sz="2800" b="1" dirty="0"/>
          </a:p>
        </p:txBody>
      </p:sp>
      <p:sp>
        <p:nvSpPr>
          <p:cNvPr id="12" name="Rectangle 3">
            <a:extLst>
              <a:ext uri="{FF2B5EF4-FFF2-40B4-BE49-F238E27FC236}">
                <a16:creationId xmlns:a16="http://schemas.microsoft.com/office/drawing/2014/main" id="{BDEC3C82-CF9F-4376-8B6E-FD4308B06937}"/>
              </a:ext>
            </a:extLst>
          </p:cNvPr>
          <p:cNvSpPr txBox="1">
            <a:spLocks noChangeArrowheads="1"/>
          </p:cNvSpPr>
          <p:nvPr/>
        </p:nvSpPr>
        <p:spPr>
          <a:xfrm>
            <a:off x="1523999" y="917575"/>
            <a:ext cx="8303173" cy="539913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600"/>
              </a:spcBef>
              <a:buFont typeface="Wingdings" panose="05000000000000000000" pitchFamily="2" charset="2"/>
              <a:buNone/>
            </a:pPr>
            <a:endParaRPr lang="zh-CN" altLang="en-US" sz="400" b="1" dirty="0"/>
          </a:p>
          <a:p>
            <a:pPr marL="0" indent="0" algn="l">
              <a:lnSpc>
                <a:spcPct val="120000"/>
              </a:lnSpc>
              <a:spcBef>
                <a:spcPts val="0"/>
              </a:spcBef>
              <a:buNone/>
            </a:pPr>
            <a:r>
              <a:rPr lang="en-US" altLang="zh-CN" sz="2400" b="1" i="0" dirty="0">
                <a:solidFill>
                  <a:srgbClr val="0C0D0E"/>
                </a:solidFill>
                <a:effectLst/>
              </a:rPr>
              <a:t>         Example 14: </a:t>
            </a:r>
            <a:r>
              <a:rPr lang="en-US" altLang="zh-CN" sz="2400" b="0" i="0" dirty="0">
                <a:solidFill>
                  <a:srgbClr val="0C0D0E"/>
                </a:solidFill>
                <a:effectLst/>
              </a:rPr>
              <a:t> </a:t>
            </a:r>
            <a:r>
              <a:rPr lang="en-US" altLang="zh-CN" sz="2400" b="1" i="0" dirty="0">
                <a:solidFill>
                  <a:srgbClr val="0B61FF"/>
                </a:solidFill>
                <a:effectLst/>
              </a:rPr>
              <a:t>Arithmetic expressions </a:t>
            </a:r>
            <a:r>
              <a:rPr lang="en-US" altLang="zh-CN" sz="2400" b="0" i="0" dirty="0">
                <a:solidFill>
                  <a:srgbClr val="0C0D0E"/>
                </a:solidFill>
                <a:effectLst/>
              </a:rPr>
              <a:t>are defined inductively as follows:</a:t>
            </a:r>
          </a:p>
          <a:p>
            <a:pPr marL="0" indent="0" algn="l">
              <a:lnSpc>
                <a:spcPct val="120000"/>
              </a:lnSpc>
              <a:spcBef>
                <a:spcPts val="0"/>
              </a:spcBef>
              <a:buClr>
                <a:srgbClr val="0B61FF"/>
              </a:buClr>
              <a:buSzPct val="80000"/>
              <a:buNone/>
            </a:pPr>
            <a:r>
              <a:rPr lang="en-US" altLang="zh-CN" sz="2400" b="0" i="0" dirty="0">
                <a:solidFill>
                  <a:srgbClr val="0B61FF"/>
                </a:solidFill>
                <a:effectLst/>
              </a:rPr>
              <a:t>(1) </a:t>
            </a:r>
            <a:r>
              <a:rPr lang="en-US" altLang="zh-CN" sz="2400" b="0" i="0" dirty="0">
                <a:solidFill>
                  <a:srgbClr val="0C0D0E"/>
                </a:solidFill>
                <a:effectLst/>
              </a:rPr>
              <a:t>Any real </a:t>
            </a:r>
            <a:r>
              <a:rPr lang="en-US" altLang="zh-CN" sz="2400" b="1" i="0" dirty="0">
                <a:solidFill>
                  <a:srgbClr val="0C0D0E"/>
                </a:solidFill>
                <a:effectLst/>
              </a:rPr>
              <a:t>number and variable </a:t>
            </a:r>
            <a:r>
              <a:rPr lang="en-US" altLang="zh-CN" sz="2400" b="0" i="0" dirty="0">
                <a:solidFill>
                  <a:srgbClr val="0C0D0E"/>
                </a:solidFill>
                <a:effectLst/>
              </a:rPr>
              <a:t>is an </a:t>
            </a:r>
            <a:r>
              <a:rPr lang="en-US" altLang="zh-CN" sz="2400" i="0" dirty="0">
                <a:solidFill>
                  <a:srgbClr val="0C0D0E"/>
                </a:solidFill>
                <a:effectLst/>
              </a:rPr>
              <a:t>arithmetic expression</a:t>
            </a:r>
            <a:r>
              <a:rPr lang="en-US" altLang="zh-CN" sz="2400" b="0" i="0" dirty="0">
                <a:solidFill>
                  <a:srgbClr val="0C0D0E"/>
                </a:solidFill>
                <a:effectLst/>
              </a:rPr>
              <a:t>.</a:t>
            </a:r>
          </a:p>
          <a:p>
            <a:pPr marL="0" indent="0" algn="l">
              <a:lnSpc>
                <a:spcPct val="120000"/>
              </a:lnSpc>
              <a:spcBef>
                <a:spcPts val="0"/>
              </a:spcBef>
              <a:buClr>
                <a:srgbClr val="0B61FF"/>
              </a:buClr>
              <a:buSzPct val="80000"/>
              <a:buNone/>
            </a:pPr>
            <a:r>
              <a:rPr lang="en-US" altLang="zh-CN" sz="2400" b="0" i="0" dirty="0">
                <a:solidFill>
                  <a:srgbClr val="0B61FF"/>
                </a:solidFill>
                <a:effectLst/>
              </a:rPr>
              <a:t>(2) </a:t>
            </a:r>
            <a:r>
              <a:rPr lang="en-US" altLang="zh-CN" sz="2400" b="0" i="0" dirty="0">
                <a:solidFill>
                  <a:srgbClr val="0C0D0E"/>
                </a:solidFill>
                <a:effectLst/>
              </a:rPr>
              <a:t>If </a:t>
            </a:r>
            <a:r>
              <a:rPr lang="en-US" altLang="zh-CN" sz="2400" b="1" i="1" dirty="0">
                <a:solidFill>
                  <a:srgbClr val="0C0D0E"/>
                </a:solidFill>
                <a:effectLst/>
              </a:rPr>
              <a:t>f</a:t>
            </a:r>
            <a:r>
              <a:rPr lang="en-US" altLang="zh-CN" sz="2400" b="0" i="0" dirty="0">
                <a:solidFill>
                  <a:srgbClr val="0C0D0E"/>
                </a:solidFill>
                <a:effectLst/>
              </a:rPr>
              <a:t> and </a:t>
            </a:r>
            <a:r>
              <a:rPr lang="en-US" altLang="zh-CN" sz="2400" b="1" i="1" dirty="0">
                <a:solidFill>
                  <a:srgbClr val="0C0D0E"/>
                </a:solidFill>
                <a:effectLst/>
              </a:rPr>
              <a:t>g</a:t>
            </a:r>
            <a:r>
              <a:rPr lang="en-US" altLang="zh-CN" sz="2400" b="0" i="0" dirty="0">
                <a:solidFill>
                  <a:srgbClr val="0C0D0E"/>
                </a:solidFill>
                <a:effectLst/>
              </a:rPr>
              <a:t> are </a:t>
            </a:r>
            <a:r>
              <a:rPr lang="en-US" altLang="zh-CN" sz="2400" i="0" dirty="0">
                <a:solidFill>
                  <a:srgbClr val="0C0D0E"/>
                </a:solidFill>
                <a:effectLst/>
              </a:rPr>
              <a:t>arithmetic expressions</a:t>
            </a:r>
            <a:r>
              <a:rPr lang="en-US" altLang="zh-CN" sz="2400" b="0" i="0" dirty="0">
                <a:solidFill>
                  <a:srgbClr val="0C0D0E"/>
                </a:solidFill>
                <a:effectLst/>
              </a:rPr>
              <a:t>, then</a:t>
            </a:r>
            <a:r>
              <a:rPr lang="en-US" altLang="zh-CN" sz="2400" b="1" i="0" dirty="0">
                <a:solidFill>
                  <a:srgbClr val="0C0D0E"/>
                </a:solidFill>
                <a:effectLst/>
              </a:rPr>
              <a:t> (</a:t>
            </a:r>
            <a:r>
              <a:rPr lang="en-US" altLang="zh-CN" sz="2400" b="1" i="1" dirty="0">
                <a:solidFill>
                  <a:srgbClr val="0C0D0E"/>
                </a:solidFill>
                <a:effectLst/>
              </a:rPr>
              <a:t>f </a:t>
            </a:r>
            <a:r>
              <a:rPr lang="en-US" altLang="zh-CN" sz="2400" b="1" i="0" dirty="0">
                <a:solidFill>
                  <a:srgbClr val="0C0D0E"/>
                </a:solidFill>
                <a:effectLst/>
              </a:rPr>
              <a:t>+ </a:t>
            </a:r>
            <a:r>
              <a:rPr lang="en-US" altLang="zh-CN" sz="2400" b="1" i="1" dirty="0">
                <a:solidFill>
                  <a:srgbClr val="0C0D0E"/>
                </a:solidFill>
                <a:effectLst/>
              </a:rPr>
              <a:t>g</a:t>
            </a:r>
            <a:r>
              <a:rPr lang="en-US" altLang="zh-CN" sz="2400" b="1" i="0" dirty="0">
                <a:solidFill>
                  <a:srgbClr val="0C0D0E"/>
                </a:solidFill>
                <a:effectLst/>
              </a:rPr>
              <a:t>), (</a:t>
            </a:r>
            <a:r>
              <a:rPr lang="en-US" altLang="zh-CN" sz="2400" b="1" i="1" dirty="0">
                <a:solidFill>
                  <a:srgbClr val="0C0D0E"/>
                </a:solidFill>
                <a:effectLst/>
              </a:rPr>
              <a:t>f</a:t>
            </a:r>
            <a:r>
              <a:rPr lang="en-US" altLang="zh-CN" sz="2400" b="1" i="0" dirty="0">
                <a:solidFill>
                  <a:srgbClr val="0C0D0E"/>
                </a:solidFill>
                <a:effectLst/>
              </a:rPr>
              <a:t>−</a:t>
            </a:r>
            <a:r>
              <a:rPr lang="en-US" altLang="zh-CN" sz="2400" b="1" i="1" dirty="0">
                <a:solidFill>
                  <a:srgbClr val="0C0D0E"/>
                </a:solidFill>
                <a:effectLst/>
              </a:rPr>
              <a:t>g</a:t>
            </a:r>
            <a:r>
              <a:rPr lang="en-US" altLang="zh-CN" sz="2400" b="1" i="0" dirty="0">
                <a:solidFill>
                  <a:srgbClr val="0C0D0E"/>
                </a:solidFill>
                <a:effectLst/>
              </a:rPr>
              <a:t>), </a:t>
            </a:r>
            <a:r>
              <a:rPr lang="en-US" altLang="zh-CN" sz="2400" b="0" i="0" dirty="0">
                <a:solidFill>
                  <a:srgbClr val="0C0D0E"/>
                </a:solidFill>
                <a:effectLst/>
              </a:rPr>
              <a:t>and (</a:t>
            </a:r>
            <a:r>
              <a:rPr lang="en-US" altLang="zh-CN" sz="2400" b="1" i="1" dirty="0" err="1">
                <a:solidFill>
                  <a:srgbClr val="0C0D0E"/>
                </a:solidFill>
                <a:effectLst/>
              </a:rPr>
              <a:t>f</a:t>
            </a:r>
            <a:r>
              <a:rPr lang="en-US" altLang="zh-CN" sz="2400" b="1" i="0" dirty="0" err="1">
                <a:solidFill>
                  <a:srgbClr val="0C0D0E"/>
                </a:solidFill>
                <a:effectLst/>
              </a:rPr>
              <a:t>×</a:t>
            </a:r>
            <a:r>
              <a:rPr lang="en-US" altLang="zh-CN" sz="2400" b="1" i="1" dirty="0" err="1">
                <a:solidFill>
                  <a:srgbClr val="0C0D0E"/>
                </a:solidFill>
                <a:effectLst/>
              </a:rPr>
              <a:t>g</a:t>
            </a:r>
            <a:r>
              <a:rPr lang="en-US" altLang="zh-CN" sz="2400" b="0" i="0" dirty="0">
                <a:solidFill>
                  <a:srgbClr val="0C0D0E"/>
                </a:solidFill>
                <a:effectLst/>
              </a:rPr>
              <a:t>) are also </a:t>
            </a:r>
            <a:r>
              <a:rPr lang="en-US" altLang="zh-CN" sz="2400" i="0" dirty="0">
                <a:solidFill>
                  <a:srgbClr val="0C0D0E"/>
                </a:solidFill>
                <a:effectLst/>
              </a:rPr>
              <a:t>arithmetic expressions</a:t>
            </a:r>
            <a:r>
              <a:rPr lang="en-US" altLang="zh-CN" sz="2400" b="0" i="0" dirty="0">
                <a:solidFill>
                  <a:srgbClr val="0C0D0E"/>
                </a:solidFill>
                <a:effectLst/>
              </a:rPr>
              <a:t>.</a:t>
            </a:r>
          </a:p>
          <a:p>
            <a:pPr marL="0" indent="0" algn="l">
              <a:lnSpc>
                <a:spcPct val="120000"/>
              </a:lnSpc>
              <a:spcBef>
                <a:spcPts val="0"/>
              </a:spcBef>
              <a:buClr>
                <a:srgbClr val="0B61FF"/>
              </a:buClr>
              <a:buSzPct val="80000"/>
              <a:buNone/>
            </a:pPr>
            <a:r>
              <a:rPr lang="en-US" altLang="zh-CN" sz="2400" b="0" i="0" dirty="0">
                <a:solidFill>
                  <a:srgbClr val="0B61FF"/>
                </a:solidFill>
                <a:effectLst/>
              </a:rPr>
              <a:t>(3) </a:t>
            </a:r>
            <a:r>
              <a:rPr lang="en-US" altLang="zh-CN" sz="2400" b="0" i="0" dirty="0">
                <a:solidFill>
                  <a:srgbClr val="0C0D0E"/>
                </a:solidFill>
                <a:effectLst/>
              </a:rPr>
              <a:t>If </a:t>
            </a:r>
            <a:r>
              <a:rPr lang="en-US" altLang="zh-CN" sz="2400" b="1" i="1" dirty="0">
                <a:solidFill>
                  <a:srgbClr val="0C0D0E"/>
                </a:solidFill>
                <a:effectLst/>
              </a:rPr>
              <a:t>f</a:t>
            </a:r>
            <a:r>
              <a:rPr lang="en-US" altLang="zh-CN" sz="2400" b="0" i="0" dirty="0">
                <a:solidFill>
                  <a:srgbClr val="0C0D0E"/>
                </a:solidFill>
                <a:effectLst/>
              </a:rPr>
              <a:t> and </a:t>
            </a:r>
            <a:r>
              <a:rPr lang="en-US" altLang="zh-CN" sz="2400" b="1" i="1" dirty="0">
                <a:solidFill>
                  <a:srgbClr val="0C0D0E"/>
                </a:solidFill>
                <a:effectLst/>
              </a:rPr>
              <a:t>g</a:t>
            </a:r>
            <a:r>
              <a:rPr lang="en-US" altLang="zh-CN" sz="2400" b="0" i="0" dirty="0">
                <a:solidFill>
                  <a:srgbClr val="0C0D0E"/>
                </a:solidFill>
                <a:effectLst/>
              </a:rPr>
              <a:t> are arithmetic expressions and </a:t>
            </a:r>
            <a:r>
              <a:rPr lang="en-US" altLang="zh-CN" sz="2400" b="1" i="1" dirty="0">
                <a:solidFill>
                  <a:srgbClr val="0C0D0E"/>
                </a:solidFill>
                <a:effectLst/>
              </a:rPr>
              <a:t>g</a:t>
            </a:r>
            <a:r>
              <a:rPr lang="en-US" altLang="zh-CN" sz="2400" b="0" i="0" dirty="0">
                <a:solidFill>
                  <a:srgbClr val="0C0D0E"/>
                </a:solidFill>
                <a:effectLst/>
              </a:rPr>
              <a:t>≠0, then (</a:t>
            </a:r>
            <a:r>
              <a:rPr lang="en-US" altLang="zh-CN" sz="2400" b="1" i="1" dirty="0">
                <a:solidFill>
                  <a:srgbClr val="0C0D0E"/>
                </a:solidFill>
                <a:effectLst/>
              </a:rPr>
              <a:t>f/g</a:t>
            </a:r>
            <a:r>
              <a:rPr lang="en-US" altLang="zh-CN" sz="2400" b="0" i="0" dirty="0">
                <a:solidFill>
                  <a:srgbClr val="0C0D0E"/>
                </a:solidFill>
                <a:effectLst/>
              </a:rPr>
              <a:t>) is an </a:t>
            </a:r>
            <a:r>
              <a:rPr lang="en-US" altLang="zh-CN" sz="2400" i="0" dirty="0">
                <a:solidFill>
                  <a:srgbClr val="0C0D0E"/>
                </a:solidFill>
                <a:effectLst/>
              </a:rPr>
              <a:t>arithmetic expression.</a:t>
            </a:r>
          </a:p>
          <a:p>
            <a:pPr marL="0" indent="0" algn="l">
              <a:lnSpc>
                <a:spcPct val="120000"/>
              </a:lnSpc>
              <a:spcBef>
                <a:spcPts val="0"/>
              </a:spcBef>
              <a:buClr>
                <a:srgbClr val="0B61FF"/>
              </a:buClr>
              <a:buSzPct val="80000"/>
              <a:buNone/>
            </a:pPr>
            <a:r>
              <a:rPr lang="en-US" altLang="zh-CN" sz="2400" b="0" i="0" dirty="0">
                <a:solidFill>
                  <a:srgbClr val="0B61FF"/>
                </a:solidFill>
                <a:effectLst/>
              </a:rPr>
              <a:t>(4) </a:t>
            </a:r>
            <a:r>
              <a:rPr lang="en-US" altLang="zh-CN" sz="2400" b="0" i="0" dirty="0">
                <a:solidFill>
                  <a:srgbClr val="0C0D0E"/>
                </a:solidFill>
                <a:effectLst/>
              </a:rPr>
              <a:t>If </a:t>
            </a:r>
            <a:r>
              <a:rPr lang="en-US" altLang="zh-CN" sz="2400" b="1" i="1" dirty="0">
                <a:solidFill>
                  <a:srgbClr val="0C0D0E"/>
                </a:solidFill>
                <a:effectLst/>
              </a:rPr>
              <a:t>f</a:t>
            </a:r>
            <a:r>
              <a:rPr lang="en-US" altLang="zh-CN" sz="2400" b="0" i="0" dirty="0">
                <a:solidFill>
                  <a:srgbClr val="0C0D0E"/>
                </a:solidFill>
                <a:effectLst/>
              </a:rPr>
              <a:t> is an arithmetic expression, then for all </a:t>
            </a:r>
            <a:r>
              <a:rPr lang="en-US" altLang="zh-CN" sz="2400" b="1" i="1" dirty="0" err="1">
                <a:solidFill>
                  <a:srgbClr val="0C0D0E"/>
                </a:solidFill>
                <a:effectLst/>
              </a:rPr>
              <a:t>n</a:t>
            </a:r>
            <a:r>
              <a:rPr lang="en-US" altLang="zh-CN" sz="2400" b="0" i="0" dirty="0" err="1">
                <a:solidFill>
                  <a:srgbClr val="0C0D0E"/>
                </a:solidFill>
                <a:effectLst/>
              </a:rPr>
              <a:t>∈</a:t>
            </a:r>
            <a:r>
              <a:rPr lang="en-US" altLang="zh-CN" sz="2400" b="1" i="0" dirty="0" err="1">
                <a:solidFill>
                  <a:srgbClr val="0C0D0E"/>
                </a:solidFill>
                <a:effectLst/>
              </a:rPr>
              <a:t>Z</a:t>
            </a:r>
            <a:r>
              <a:rPr lang="en-US" altLang="zh-CN" sz="2400" b="1" i="0" baseline="30000" dirty="0">
                <a:solidFill>
                  <a:srgbClr val="0C0D0E"/>
                </a:solidFill>
                <a:effectLst/>
              </a:rPr>
              <a:t>+</a:t>
            </a:r>
            <a:r>
              <a:rPr lang="en-US" altLang="zh-CN" sz="2400" b="0" i="0" dirty="0">
                <a:solidFill>
                  <a:srgbClr val="0C0D0E"/>
                </a:solidFill>
                <a:effectLst/>
              </a:rPr>
              <a:t>, </a:t>
            </a:r>
            <a:r>
              <a:rPr lang="en-US" altLang="zh-CN" sz="2400" b="0" i="1" dirty="0">
                <a:solidFill>
                  <a:srgbClr val="0C0D0E"/>
                </a:solidFill>
                <a:effectLst/>
              </a:rPr>
              <a:t>f </a:t>
            </a:r>
            <a:r>
              <a:rPr lang="en-US" altLang="zh-CN" sz="2400" b="1" i="1" baseline="30000" dirty="0">
                <a:solidFill>
                  <a:srgbClr val="0C0D0E"/>
                </a:solidFill>
                <a:effectLst/>
              </a:rPr>
              <a:t>n</a:t>
            </a:r>
            <a:r>
              <a:rPr lang="en-US" altLang="zh-CN" sz="2400" b="0" i="0" dirty="0">
                <a:solidFill>
                  <a:srgbClr val="0C0D0E"/>
                </a:solidFill>
                <a:effectLst/>
              </a:rPr>
              <a:t> (or </a:t>
            </a:r>
            <a:r>
              <a:rPr lang="en-US" altLang="zh-CN" sz="2400" b="1" i="1" dirty="0" err="1">
                <a:solidFill>
                  <a:srgbClr val="0C0D0E"/>
                </a:solidFill>
                <a:effectLst/>
              </a:rPr>
              <a:t>f</a:t>
            </a:r>
            <a:r>
              <a:rPr lang="en-US" altLang="zh-CN" sz="2400" b="0" i="0" dirty="0" err="1">
                <a:solidFill>
                  <a:srgbClr val="0C0D0E"/>
                </a:solidFill>
                <a:effectLst/>
              </a:rPr>
              <a:t>↑</a:t>
            </a:r>
            <a:r>
              <a:rPr lang="en-US" altLang="zh-CN" sz="2400" b="1" i="1" dirty="0" err="1">
                <a:solidFill>
                  <a:srgbClr val="0C0D0E"/>
                </a:solidFill>
                <a:effectLst/>
              </a:rPr>
              <a:t>n</a:t>
            </a:r>
            <a:r>
              <a:rPr lang="en-US" altLang="zh-CN" sz="2400" b="0" i="0" dirty="0">
                <a:solidFill>
                  <a:srgbClr val="0C0D0E"/>
                </a:solidFill>
                <a:effectLst/>
              </a:rPr>
              <a:t>) is an arithmetic expression.</a:t>
            </a:r>
          </a:p>
          <a:p>
            <a:pPr marL="0" indent="0" algn="l">
              <a:lnSpc>
                <a:spcPct val="120000"/>
              </a:lnSpc>
              <a:spcBef>
                <a:spcPts val="0"/>
              </a:spcBef>
              <a:buClr>
                <a:srgbClr val="0B61FF"/>
              </a:buClr>
              <a:buSzPct val="80000"/>
              <a:buNone/>
            </a:pPr>
            <a:r>
              <a:rPr lang="en-US" altLang="zh-CN" sz="2400" b="0" i="0" dirty="0">
                <a:solidFill>
                  <a:srgbClr val="0B61FF"/>
                </a:solidFill>
                <a:effectLst/>
              </a:rPr>
              <a:t>(5) </a:t>
            </a:r>
            <a:r>
              <a:rPr lang="en-US" altLang="zh-CN" sz="2400" b="0" i="0" dirty="0">
                <a:solidFill>
                  <a:srgbClr val="0C0D0E"/>
                </a:solidFill>
                <a:effectLst/>
              </a:rPr>
              <a:t>Only those expressions obtained by a finite number of applications of rules </a:t>
            </a:r>
            <a:r>
              <a:rPr lang="en-US" altLang="zh-CN" sz="2400" b="0" i="0" dirty="0">
                <a:solidFill>
                  <a:srgbClr val="0B61FF"/>
                </a:solidFill>
                <a:effectLst/>
              </a:rPr>
              <a:t>(1</a:t>
            </a:r>
            <a:r>
              <a:rPr lang="en-US" altLang="zh-CN" sz="2400" b="0" i="0" dirty="0">
                <a:solidFill>
                  <a:srgbClr val="0C0D0E"/>
                </a:solidFill>
                <a:effectLst/>
              </a:rPr>
              <a:t>) through </a:t>
            </a:r>
            <a:r>
              <a:rPr lang="en-US" altLang="zh-CN" sz="2400" b="0" i="0" dirty="0">
                <a:solidFill>
                  <a:srgbClr val="0B61FF"/>
                </a:solidFill>
                <a:effectLst/>
              </a:rPr>
              <a:t>(4) </a:t>
            </a:r>
            <a:r>
              <a:rPr lang="en-US" altLang="zh-CN" sz="2400" b="0" i="0" dirty="0">
                <a:solidFill>
                  <a:srgbClr val="0C0D0E"/>
                </a:solidFill>
                <a:effectLst/>
              </a:rPr>
              <a:t>are considered arithmetic expressions.</a:t>
            </a:r>
          </a:p>
          <a:p>
            <a:pPr>
              <a:buFontTx/>
              <a:buNone/>
            </a:pPr>
            <a:endParaRPr lang="zh-CN" altLang="en-US" sz="2800" b="1" dirty="0"/>
          </a:p>
        </p:txBody>
      </p:sp>
      <p:pic>
        <p:nvPicPr>
          <p:cNvPr id="9" name="图片 8">
            <a:extLst>
              <a:ext uri="{FF2B5EF4-FFF2-40B4-BE49-F238E27FC236}">
                <a16:creationId xmlns:a16="http://schemas.microsoft.com/office/drawing/2014/main" id="{4E43CB27-AF07-4CE6-B76F-FCA1A1E11893}"/>
              </a:ext>
            </a:extLst>
          </p:cNvPr>
          <p:cNvPicPr>
            <a:picLocks noChangeAspect="1"/>
          </p:cNvPicPr>
          <p:nvPr/>
        </p:nvPicPr>
        <p:blipFill>
          <a:blip r:embed="rId5"/>
          <a:stretch>
            <a:fillRect/>
          </a:stretch>
        </p:blipFill>
        <p:spPr>
          <a:xfrm>
            <a:off x="1668664" y="1164292"/>
            <a:ext cx="577850" cy="241300"/>
          </a:xfrm>
          <a:prstGeom prst="rect">
            <a:avLst/>
          </a:prstGeom>
        </p:spPr>
      </p:pic>
      <p:sp>
        <p:nvSpPr>
          <p:cNvPr id="3" name="Rectangle 1">
            <a:extLst>
              <a:ext uri="{FF2B5EF4-FFF2-40B4-BE49-F238E27FC236}">
                <a16:creationId xmlns:a16="http://schemas.microsoft.com/office/drawing/2014/main" id="{A098512F-8A21-45C8-A5A8-0284B594CBF5}"/>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In 2024, Meituan Delivery was the most popular online food delivery app in China, boasting approximately 83 million monthly active users and a 22.4% increase in revenue compared to the previous year. The growing popularity of food delivery has been driven by several factors, including the widespread adoption of smartphones, the increasing use of mobile apps, and advancements in online platform algorithms.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53762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fade">
                                      <p:cBhvr>
                                        <p:cTn id="7" dur="1000"/>
                                        <p:tgtEl>
                                          <p:spTgt spid="12">
                                            <p:txEl>
                                              <p:pRg st="2" end="2"/>
                                            </p:txEl>
                                          </p:spTgt>
                                        </p:tgtEl>
                                      </p:cBhvr>
                                    </p:animEffect>
                                    <p:anim calcmode="lin" valueType="num">
                                      <p:cBhvr>
                                        <p:cTn id="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xEl>
                                              <p:pRg st="3" end="3"/>
                                            </p:txEl>
                                          </p:spTgt>
                                        </p:tgtEl>
                                        <p:attrNameLst>
                                          <p:attrName>style.visibility</p:attrName>
                                        </p:attrNameLst>
                                      </p:cBhvr>
                                      <p:to>
                                        <p:strVal val="visible"/>
                                      </p:to>
                                    </p:set>
                                    <p:animEffect transition="in" filter="fade">
                                      <p:cBhvr>
                                        <p:cTn id="14" dur="1000"/>
                                        <p:tgtEl>
                                          <p:spTgt spid="12">
                                            <p:txEl>
                                              <p:pRg st="3" end="3"/>
                                            </p:txEl>
                                          </p:spTgt>
                                        </p:tgtEl>
                                      </p:cBhvr>
                                    </p:animEffect>
                                    <p:anim calcmode="lin" valueType="num">
                                      <p:cBhvr>
                                        <p:cTn id="15"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fade">
                                      <p:cBhvr>
                                        <p:cTn id="21" dur="1000"/>
                                        <p:tgtEl>
                                          <p:spTgt spid="12">
                                            <p:txEl>
                                              <p:pRg st="4" end="4"/>
                                            </p:txEl>
                                          </p:spTgt>
                                        </p:tgtEl>
                                      </p:cBhvr>
                                    </p:animEffect>
                                    <p:anim calcmode="lin" valueType="num">
                                      <p:cBhvr>
                                        <p:cTn id="22"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
                                            <p:txEl>
                                              <p:pRg st="5" end="5"/>
                                            </p:txEl>
                                          </p:spTgt>
                                        </p:tgtEl>
                                        <p:attrNameLst>
                                          <p:attrName>style.visibility</p:attrName>
                                        </p:attrNameLst>
                                      </p:cBhvr>
                                      <p:to>
                                        <p:strVal val="visible"/>
                                      </p:to>
                                    </p:set>
                                    <p:animEffect transition="in" filter="fade">
                                      <p:cBhvr>
                                        <p:cTn id="28" dur="1000"/>
                                        <p:tgtEl>
                                          <p:spTgt spid="12">
                                            <p:txEl>
                                              <p:pRg st="5" end="5"/>
                                            </p:txEl>
                                          </p:spTgt>
                                        </p:tgtEl>
                                      </p:cBhvr>
                                    </p:animEffect>
                                    <p:anim calcmode="lin" valueType="num">
                                      <p:cBhvr>
                                        <p:cTn id="29" dur="1000" fill="hold"/>
                                        <p:tgtEl>
                                          <p:spTgt spid="12">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1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
                                            <p:txEl>
                                              <p:pRg st="6" end="6"/>
                                            </p:txEl>
                                          </p:spTgt>
                                        </p:tgtEl>
                                        <p:attrNameLst>
                                          <p:attrName>style.visibility</p:attrName>
                                        </p:attrNameLst>
                                      </p:cBhvr>
                                      <p:to>
                                        <p:strVal val="visible"/>
                                      </p:to>
                                    </p:set>
                                    <p:animEffect transition="in" filter="fade">
                                      <p:cBhvr>
                                        <p:cTn id="35" dur="1000"/>
                                        <p:tgtEl>
                                          <p:spTgt spid="12">
                                            <p:txEl>
                                              <p:pRg st="6" end="6"/>
                                            </p:txEl>
                                          </p:spTgt>
                                        </p:tgtEl>
                                      </p:cBhvr>
                                    </p:animEffect>
                                    <p:anim calcmode="lin" valueType="num">
                                      <p:cBhvr>
                                        <p:cTn id="36"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1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12192000" cy="762000"/>
          </a:xfrm>
          <a:prstGeom prst="rect">
            <a:avLst/>
          </a:prstGeom>
          <a:solidFill>
            <a:srgbClr val="002F7C"/>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zh-CN" altLang="en-US" sz="2000" b="1"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latin typeface="+mj-lt"/>
                <a:cs typeface="Times New Roman" panose="02020603050405020304" pitchFamily="18" charset="0"/>
              </a:rPr>
              <a:t>Chapter 1: Set Theory and Proof Methods </a:t>
            </a:r>
            <a:r>
              <a:rPr lang="en-US" altLang="zh-CN" sz="2400" b="1" dirty="0">
                <a:latin typeface="+mj-lt"/>
                <a:ea typeface="Cambria Math" panose="02040503050406030204" pitchFamily="18" charset="0"/>
                <a:cs typeface="Times New Roman" panose="02020603050405020304" pitchFamily="18" charset="0"/>
              </a:rPr>
              <a:t>• </a:t>
            </a:r>
            <a:r>
              <a:rPr lang="en-US" altLang="zh-CN" sz="2400" b="1" dirty="0">
                <a:latin typeface="+mj-lt"/>
                <a:cs typeface="Times New Roman" panose="02020603050405020304" pitchFamily="18" charset="0"/>
              </a:rPr>
              <a:t>Brief summary</a:t>
            </a:r>
            <a:endParaRPr lang="zh-CN" altLang="en-US" sz="2400" b="1" dirty="0">
              <a:latin typeface="+mj-lt"/>
              <a:cs typeface="Times New Roman" panose="02020603050405020304" pitchFamily="18" charset="0"/>
            </a:endParaRPr>
          </a:p>
        </p:txBody>
      </p:sp>
      <p:sp>
        <p:nvSpPr>
          <p:cNvPr id="13" name="矩形 12"/>
          <p:cNvSpPr/>
          <p:nvPr/>
        </p:nvSpPr>
        <p:spPr>
          <a:xfrm>
            <a:off x="824682" y="0"/>
            <a:ext cx="175443" cy="628650"/>
          </a:xfrm>
          <a:prstGeom prst="rect">
            <a:avLst/>
          </a:prstGeom>
          <a:solidFill>
            <a:srgbClr val="CFA5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6" descr="D:\MBA工作\LOGO\同济经管LOGO反白.pn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267423" y="165688"/>
            <a:ext cx="1386605" cy="462962"/>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descr="微信图片_20220318113523"/>
          <p:cNvPicPr>
            <a:picLocks noChangeAspect="1"/>
          </p:cNvPicPr>
          <p:nvPr userDrawn="1"/>
        </p:nvPicPr>
        <p:blipFill>
          <a:blip r:embed="rId4"/>
          <a:stretch>
            <a:fillRect/>
          </a:stretch>
        </p:blipFill>
        <p:spPr>
          <a:xfrm>
            <a:off x="9291877" y="6115050"/>
            <a:ext cx="2244725" cy="361315"/>
          </a:xfrm>
          <a:prstGeom prst="rect">
            <a:avLst/>
          </a:prstGeom>
        </p:spPr>
      </p:pic>
      <p:sp>
        <p:nvSpPr>
          <p:cNvPr id="18" name="Rectangle 2">
            <a:extLst>
              <a:ext uri="{FF2B5EF4-FFF2-40B4-BE49-F238E27FC236}">
                <a16:creationId xmlns:a16="http://schemas.microsoft.com/office/drawing/2014/main" id="{E217C615-1D49-4D07-B850-D36106D7AA9A}"/>
              </a:ext>
            </a:extLst>
          </p:cNvPr>
          <p:cNvSpPr>
            <a:spLocks noChangeArrowheads="1"/>
          </p:cNvSpPr>
          <p:nvPr/>
        </p:nvSpPr>
        <p:spPr bwMode="auto">
          <a:xfrm>
            <a:off x="1000125" y="81536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3">
            <a:extLst>
              <a:ext uri="{FF2B5EF4-FFF2-40B4-BE49-F238E27FC236}">
                <a16:creationId xmlns:a16="http://schemas.microsoft.com/office/drawing/2014/main" id="{8BF31B8E-C90A-43F8-8C26-F34466C89F87}"/>
              </a:ext>
            </a:extLst>
          </p:cNvPr>
          <p:cNvSpPr txBox="1">
            <a:spLocks noChangeArrowheads="1"/>
          </p:cNvSpPr>
          <p:nvPr/>
        </p:nvSpPr>
        <p:spPr>
          <a:xfrm>
            <a:off x="1403350" y="692149"/>
            <a:ext cx="8583131" cy="5582527"/>
          </a:xfrm>
          <a:prstGeom prst="rect">
            <a:avLst/>
          </a:prstGeom>
          <a:extLst>
            <a:ext uri="{91240B29-F687-4F45-9708-019B960494DF}">
              <a14:hiddenLine xmlns:a14="http://schemas.microsoft.com/office/drawing/2010/main" w="3175">
                <a:solidFill>
                  <a:srgbClr val="000000"/>
                </a:solidFill>
                <a:miter lim="800000"/>
                <a:headEnd/>
                <a:tailEnd/>
              </a14:hiddenLine>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pitchFamily="2" charset="2"/>
              <a:buNone/>
            </a:pPr>
            <a:r>
              <a:rPr lang="en-US" altLang="zh-CN" sz="2400" b="1" dirty="0"/>
              <a:t>Objective :</a:t>
            </a:r>
          </a:p>
          <a:p>
            <a:pPr>
              <a:lnSpc>
                <a:spcPct val="150000"/>
              </a:lnSpc>
              <a:buFont typeface="Wingdings" panose="05000000000000000000" pitchFamily="2" charset="2"/>
              <a:buNone/>
            </a:pPr>
            <a:endParaRPr lang="en-US" altLang="zh-CN" sz="2400" b="1" dirty="0"/>
          </a:p>
          <a:p>
            <a:pPr>
              <a:lnSpc>
                <a:spcPct val="150000"/>
              </a:lnSpc>
              <a:buNone/>
            </a:pPr>
            <a:r>
              <a:rPr lang="en-US" altLang="zh-CN" sz="2400" b="1" dirty="0"/>
              <a:t>Key Concepts </a:t>
            </a:r>
            <a:r>
              <a:rPr lang="zh-CN" altLang="en-US" sz="2400" b="1" dirty="0"/>
              <a:t>： </a:t>
            </a:r>
            <a:endParaRPr lang="en-US" altLang="zh-CN" sz="2400" b="1" dirty="0"/>
          </a:p>
          <a:p>
            <a:pPr>
              <a:lnSpc>
                <a:spcPct val="150000"/>
              </a:lnSpc>
              <a:buFont typeface="Wingdings" panose="05000000000000000000" pitchFamily="2" charset="2"/>
              <a:buNone/>
            </a:pPr>
            <a:endParaRPr lang="zh-CN" altLang="en-US" sz="2400" b="1" dirty="0"/>
          </a:p>
        </p:txBody>
      </p:sp>
    </p:spTree>
    <p:extLst>
      <p:ext uri="{BB962C8B-B14F-4D97-AF65-F5344CB8AC3E}">
        <p14:creationId xmlns:p14="http://schemas.microsoft.com/office/powerpoint/2010/main" val="2719697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10575</TotalTime>
  <Words>12497</Words>
  <Application>Microsoft Office PowerPoint</Application>
  <PresentationFormat>宽屏</PresentationFormat>
  <Paragraphs>1019</Paragraphs>
  <Slides>51</Slides>
  <Notes>51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2</vt:i4>
      </vt:variant>
      <vt:variant>
        <vt:lpstr>幻灯片标题</vt:lpstr>
      </vt:variant>
      <vt:variant>
        <vt:i4>51</vt:i4>
      </vt:variant>
    </vt:vector>
  </HeadingPairs>
  <TitlesOfParts>
    <vt:vector size="72" baseType="lpstr">
      <vt:lpstr>-apple-system</vt:lpstr>
      <vt:lpstr>等线</vt:lpstr>
      <vt:lpstr>KaTeX_Main</vt:lpstr>
      <vt:lpstr>KaTeX_Math</vt:lpstr>
      <vt:lpstr>math</vt:lpstr>
      <vt:lpstr>微软雅黑</vt:lpstr>
      <vt:lpstr>PingFang SC</vt:lpstr>
      <vt:lpstr>宋体</vt:lpstr>
      <vt:lpstr>Söhne</vt:lpstr>
      <vt:lpstr>Arial</vt:lpstr>
      <vt:lpstr>Calibri</vt:lpstr>
      <vt:lpstr>Calibri Light</vt:lpstr>
      <vt:lpstr>Cambria Math</vt:lpstr>
      <vt:lpstr>Roboto</vt:lpstr>
      <vt:lpstr>Segoe UI</vt:lpstr>
      <vt:lpstr>Symbol</vt:lpstr>
      <vt:lpstr>Times New Roman</vt:lpstr>
      <vt:lpstr>Wingdings</vt:lpstr>
      <vt:lpstr>Office 主题</vt:lpstr>
      <vt:lpstr>Equation</vt:lpstr>
      <vt:lpstr>Visio</vt:lpstr>
      <vt:lpstr> Discrete Mathematics（011122）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dc:title>
  <dc:creator>..</dc:creator>
  <cp:lastModifiedBy>keji</cp:lastModifiedBy>
  <cp:revision>683</cp:revision>
  <dcterms:created xsi:type="dcterms:W3CDTF">2017-07-24T02:14:00Z</dcterms:created>
  <dcterms:modified xsi:type="dcterms:W3CDTF">2025-03-06T05:02:59Z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73C6946277D1426C8BB6322F8B832BA4</vt:lpwstr>
  </property>
</Properties>
</file>