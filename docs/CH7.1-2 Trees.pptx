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615" r:id="rId2"/>
    <p:sldId id="265" r:id="rId3"/>
    <p:sldId id="578" r:id="rId4"/>
    <p:sldId id="823" r:id="rId5"/>
    <p:sldId id="782" r:id="rId6"/>
    <p:sldId id="783" r:id="rId7"/>
    <p:sldId id="825" r:id="rId8"/>
    <p:sldId id="826" r:id="rId9"/>
    <p:sldId id="828" r:id="rId10"/>
    <p:sldId id="829" r:id="rId11"/>
    <p:sldId id="830" r:id="rId12"/>
    <p:sldId id="787" r:id="rId13"/>
    <p:sldId id="788" r:id="rId14"/>
    <p:sldId id="831" r:id="rId15"/>
    <p:sldId id="789" r:id="rId16"/>
    <p:sldId id="790" r:id="rId17"/>
    <p:sldId id="791" r:id="rId18"/>
    <p:sldId id="833" r:id="rId19"/>
    <p:sldId id="834" r:id="rId20"/>
    <p:sldId id="835" r:id="rId21"/>
    <p:sldId id="851" r:id="rId22"/>
    <p:sldId id="837" r:id="rId23"/>
    <p:sldId id="836" r:id="rId24"/>
    <p:sldId id="794" r:id="rId25"/>
    <p:sldId id="795" r:id="rId26"/>
    <p:sldId id="796" r:id="rId27"/>
    <p:sldId id="797" r:id="rId28"/>
    <p:sldId id="798" r:id="rId29"/>
    <p:sldId id="838" r:id="rId30"/>
    <p:sldId id="799" r:id="rId31"/>
    <p:sldId id="800" r:id="rId32"/>
    <p:sldId id="801" r:id="rId33"/>
    <p:sldId id="839" r:id="rId34"/>
    <p:sldId id="803" r:id="rId35"/>
    <p:sldId id="804" r:id="rId36"/>
    <p:sldId id="841" r:id="rId37"/>
    <p:sldId id="806" r:id="rId38"/>
    <p:sldId id="842" r:id="rId39"/>
    <p:sldId id="843" r:id="rId40"/>
    <p:sldId id="844" r:id="rId41"/>
    <p:sldId id="808" r:id="rId42"/>
    <p:sldId id="846" r:id="rId43"/>
    <p:sldId id="848" r:id="rId44"/>
    <p:sldId id="810" r:id="rId45"/>
    <p:sldId id="811" r:id="rId46"/>
    <p:sldId id="850" r:id="rId47"/>
    <p:sldId id="852" r:id="rId48"/>
    <p:sldId id="853" r:id="rId4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2">
          <p15:clr>
            <a:srgbClr val="A4A3A4"/>
          </p15:clr>
        </p15:guide>
        <p15:guide id="2" pos="37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1FF"/>
    <a:srgbClr val="B9B93A"/>
    <a:srgbClr val="FFF2CC"/>
    <a:srgbClr val="CFA57C"/>
    <a:srgbClr val="002F7C"/>
    <a:srgbClr val="104AA8"/>
    <a:srgbClr val="0C3EAC"/>
    <a:srgbClr val="3D557A"/>
    <a:srgbClr val="45566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01" autoAdjust="0"/>
    <p:restoredTop sz="78762" autoAdjust="0"/>
  </p:normalViewPr>
  <p:slideViewPr>
    <p:cSldViewPr snapToGrid="0" showGuides="1">
      <p:cViewPr varScale="1">
        <p:scale>
          <a:sx n="87" d="100"/>
          <a:sy n="87" d="100"/>
        </p:scale>
        <p:origin x="1284" y="78"/>
      </p:cViewPr>
      <p:guideLst>
        <p:guide orient="horz" pos="2032"/>
        <p:guide pos="3798"/>
      </p:guideLst>
    </p:cSldViewPr>
  </p:slideViewPr>
  <p:notesTextViewPr>
    <p:cViewPr>
      <p:scale>
        <a:sx n="1" d="1"/>
        <a:sy n="1" d="1"/>
      </p:scale>
      <p:origin x="0" y="-318"/>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873E485D-0A46-47F7-A37C-0200B173D2B8}" type="datetimeFigureOut">
              <a:rPr lang="zh-CN" altLang="en-US" smtClean="0"/>
              <a:t>2025/8/16</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AFE74B6-F93C-4D90-BE1A-7EFEDB35C0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719138" eaLnBrk="1" hangingPunct="1">
              <a:spcBef>
                <a:spcPct val="60000"/>
              </a:spcBef>
              <a:buNone/>
            </a:pPr>
            <a:r>
              <a:rPr lang="zh-CN" altLang="en-US" b="1" dirty="0"/>
              <a:t>7.1.1 无向树的定义及其性质</a:t>
            </a:r>
            <a:endParaRPr lang="en-US" altLang="zh-CN" b="1" dirty="0"/>
          </a:p>
          <a:p>
            <a:pPr marL="0" indent="719138" eaLnBrk="1" hangingPunct="1">
              <a:spcBef>
                <a:spcPct val="60000"/>
              </a:spcBef>
              <a:buNone/>
            </a:pPr>
            <a:endParaRPr lang="zh-CN" altLang="en-US" b="1" dirty="0"/>
          </a:p>
          <a:p>
            <a:pPr marL="0" indent="719138" eaLnBrk="1" hangingPunct="1">
              <a:spcBef>
                <a:spcPct val="60000"/>
              </a:spcBef>
              <a:buNone/>
            </a:pPr>
            <a:r>
              <a:rPr lang="zh-CN" altLang="en-US" b="1" dirty="0"/>
              <a:t>7.1.2 生成树</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a:t>
            </a:fld>
            <a:endParaRPr lang="zh-CN" altLang="en-US"/>
          </a:p>
        </p:txBody>
      </p:sp>
    </p:spTree>
    <p:extLst>
      <p:ext uri="{BB962C8B-B14F-4D97-AF65-F5344CB8AC3E}">
        <p14:creationId xmlns:p14="http://schemas.microsoft.com/office/powerpoint/2010/main" val="2251603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Tx/>
              <a:buNone/>
            </a:pPr>
            <a:r>
              <a:rPr lang="zh-CN" altLang="en-US" sz="1200" b="1" dirty="0">
                <a:solidFill>
                  <a:srgbClr val="FF3300"/>
                </a:solidFill>
              </a:rPr>
              <a:t>无向树</a:t>
            </a:r>
            <a:r>
              <a:rPr lang="zh-CN" altLang="en-US" sz="1200" b="1" dirty="0"/>
              <a:t>: 连通无回路的无向图</a:t>
            </a:r>
          </a:p>
          <a:p>
            <a:pPr algn="just">
              <a:buFontTx/>
              <a:buNone/>
            </a:pPr>
            <a:r>
              <a:rPr lang="zh-CN" altLang="en-US" sz="1200" b="1" dirty="0">
                <a:solidFill>
                  <a:srgbClr val="FF3300"/>
                </a:solidFill>
              </a:rPr>
              <a:t>平凡树</a:t>
            </a:r>
            <a:r>
              <a:rPr lang="zh-CN" altLang="en-US" sz="1200" b="1" dirty="0"/>
              <a:t>: 平凡图</a:t>
            </a:r>
          </a:p>
          <a:p>
            <a:pPr algn="just">
              <a:buFontTx/>
              <a:buNone/>
            </a:pPr>
            <a:r>
              <a:rPr lang="zh-CN" altLang="en-US" sz="1200" b="1" dirty="0">
                <a:solidFill>
                  <a:srgbClr val="FF3300"/>
                </a:solidFill>
              </a:rPr>
              <a:t>森林</a:t>
            </a:r>
            <a:r>
              <a:rPr lang="zh-CN" altLang="en-US" sz="1200" b="1" dirty="0"/>
              <a:t>: 每个连通分支都是树的非连通的无向图</a:t>
            </a:r>
          </a:p>
          <a:p>
            <a:pPr algn="just">
              <a:buFontTx/>
              <a:buNone/>
            </a:pPr>
            <a:r>
              <a:rPr lang="zh-CN" altLang="en-US" sz="1200" b="1" dirty="0">
                <a:solidFill>
                  <a:srgbClr val="FF3300"/>
                </a:solidFill>
              </a:rPr>
              <a:t>树叶</a:t>
            </a:r>
            <a:r>
              <a:rPr lang="zh-CN" altLang="en-US" sz="1200" b="1" dirty="0"/>
              <a:t>: 树中度数为1的顶点</a:t>
            </a:r>
          </a:p>
          <a:p>
            <a:pPr>
              <a:buFontTx/>
              <a:buNone/>
            </a:pPr>
            <a:r>
              <a:rPr lang="zh-CN" altLang="en-US" sz="1200" b="1" dirty="0">
                <a:solidFill>
                  <a:srgbClr val="FF3300"/>
                </a:solidFill>
              </a:rPr>
              <a:t>分支点</a:t>
            </a:r>
            <a:r>
              <a:rPr lang="zh-CN" altLang="en-US" sz="1200" b="1" dirty="0"/>
              <a:t>: 树中度数</a:t>
            </a:r>
            <a:r>
              <a:rPr lang="zh-CN" altLang="en-US" sz="1200" b="1" dirty="0">
                <a:sym typeface="Symbol" panose="05050102010706020507" pitchFamily="18" charset="2"/>
              </a:rPr>
              <a:t></a:t>
            </a:r>
            <a:r>
              <a:rPr lang="zh-CN" altLang="en-US" sz="1200" b="1" dirty="0"/>
              <a:t>2的顶点</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a:t>
            </a:fld>
            <a:endParaRPr lang="zh-CN" altLang="en-US"/>
          </a:p>
        </p:txBody>
      </p:sp>
    </p:spTree>
    <p:extLst>
      <p:ext uri="{BB962C8B-B14F-4D97-AF65-F5344CB8AC3E}">
        <p14:creationId xmlns:p14="http://schemas.microsoft.com/office/powerpoint/2010/main" val="96082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命题</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(1)“G</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连通且不含回路</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直接描述了</a:t>
            </a:r>
            <a:r>
              <a:rPr lang="zh-CN" altLang="zh-CN" sz="1800" kern="100" dirty="0">
                <a:solidFill>
                  <a:srgbClr val="0D0D0D"/>
                </a:solidFill>
                <a:effectLst/>
                <a:highlight>
                  <a:srgbClr val="FFFF00"/>
                </a:highlight>
                <a:latin typeface="Segoe UI" panose="020B0502040204020203" pitchFamily="34" charset="0"/>
                <a:ea typeface="宋体" panose="02010600030101010101" pitchFamily="2" charset="-122"/>
                <a:cs typeface="Segoe UI" panose="020B0502040204020203" pitchFamily="34" charset="0"/>
              </a:rPr>
              <a:t>树的两个基本特性</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（连通的、无环的图）；</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命题</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(2)</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想要说明的是树的</a:t>
            </a:r>
            <a:r>
              <a:rPr lang="zh-CN" altLang="zh-CN" sz="1800" kern="100" dirty="0">
                <a:solidFill>
                  <a:srgbClr val="0D0D0D"/>
                </a:solidFill>
                <a:effectLst/>
                <a:highlight>
                  <a:srgbClr val="FFFF00"/>
                </a:highlight>
                <a:latin typeface="Segoe UI" panose="020B0502040204020203" pitchFamily="34" charset="0"/>
                <a:ea typeface="宋体" panose="02010600030101010101" pitchFamily="2" charset="-122"/>
                <a:cs typeface="Segoe UI" panose="020B0502040204020203" pitchFamily="34" charset="0"/>
              </a:rPr>
              <a:t>路径唯一性特性</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，意味着在树中，没有任何环存在，且图是完全连通的。因此，树中任意两个顶点之间都有一条且仅有一条路径相连。</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命题</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(3)</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和</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(4)</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通过边和顶点的数量关系间接地描述了</a:t>
            </a:r>
            <a:r>
              <a:rPr lang="zh-CN" altLang="zh-CN" sz="1800" kern="100" dirty="0">
                <a:solidFill>
                  <a:srgbClr val="0D0D0D"/>
                </a:solidFill>
                <a:effectLst/>
                <a:highlight>
                  <a:srgbClr val="FFFF00"/>
                </a:highlight>
                <a:latin typeface="Segoe UI" panose="020B0502040204020203" pitchFamily="34" charset="0"/>
                <a:ea typeface="宋体" panose="02010600030101010101" pitchFamily="2" charset="-122"/>
                <a:cs typeface="Segoe UI" panose="020B0502040204020203" pitchFamily="34" charset="0"/>
              </a:rPr>
              <a:t>树的结构</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，是在不同的角度强调了与命题（</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1</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）相同的树的性质：树是一种连通的、无环的图，其中的边数恰好是顶点数减一。这种表述方式说明了它们实际上描述的是树的结构和组成的一个核心特征</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树的最小连通性。</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命题（</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5</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）也反映了</a:t>
            </a:r>
            <a:r>
              <a:rPr lang="zh-CN" altLang="zh-CN" sz="1800" kern="100" dirty="0">
                <a:solidFill>
                  <a:srgbClr val="0D0D0D"/>
                </a:solidFill>
                <a:effectLst/>
                <a:highlight>
                  <a:srgbClr val="FFFF00"/>
                </a:highlight>
                <a:latin typeface="Segoe UI" panose="020B0502040204020203" pitchFamily="34" charset="0"/>
                <a:ea typeface="宋体" panose="02010600030101010101" pitchFamily="2" charset="-122"/>
                <a:cs typeface="Segoe UI" panose="020B0502040204020203" pitchFamily="34" charset="0"/>
              </a:rPr>
              <a:t>树结构的敏感性</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，即树对于边的添加非常敏感。在树中添加任何一条边都会立即形成一个回路，这说明树的结构是在保持最小连通性的边界上。</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而命题</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(6)</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揭示了树中边的特殊性质</a:t>
            </a:r>
            <a:r>
              <a:rPr lang="en-US" altLang="zh-CN" sz="1800" kern="100" dirty="0">
                <a:solidFill>
                  <a:srgbClr val="0D0D0D"/>
                </a:solidFill>
                <a:effectLst/>
                <a:latin typeface="Segoe UI" panose="020B0502040204020203" pitchFamily="34" charset="0"/>
                <a:ea typeface="宋体" panose="02010600030101010101" pitchFamily="2" charset="-122"/>
                <a:cs typeface="Times New Roman" panose="02020603050405020304" pitchFamily="18" charset="0"/>
              </a:rPr>
              <a:t>——</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移除任意一条边都会使树不再连通，即</a:t>
            </a:r>
            <a:r>
              <a:rPr lang="zh-CN" altLang="zh-CN" sz="1800" kern="100" dirty="0">
                <a:solidFill>
                  <a:srgbClr val="0D0D0D"/>
                </a:solidFill>
                <a:effectLst/>
                <a:highlight>
                  <a:srgbClr val="FFFF00"/>
                </a:highlight>
                <a:latin typeface="Segoe UI" panose="020B0502040204020203" pitchFamily="34" charset="0"/>
                <a:ea typeface="宋体" panose="02010600030101010101" pitchFamily="2" charset="-122"/>
                <a:cs typeface="Segoe UI" panose="020B0502040204020203" pitchFamily="34" charset="0"/>
              </a:rPr>
              <a:t>每条边都是不可替代</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的连接两个部分的桥梁。</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a:t>
            </a:fld>
            <a:endParaRPr lang="zh-CN" altLang="en-US"/>
          </a:p>
        </p:txBody>
      </p:sp>
    </p:spTree>
    <p:extLst>
      <p:ext uri="{BB962C8B-B14F-4D97-AF65-F5344CB8AC3E}">
        <p14:creationId xmlns:p14="http://schemas.microsoft.com/office/powerpoint/2010/main" val="2824172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a:t>
            </a:fld>
            <a:endParaRPr lang="zh-CN" altLang="en-US"/>
          </a:p>
        </p:txBody>
      </p:sp>
    </p:spTree>
    <p:extLst>
      <p:ext uri="{BB962C8B-B14F-4D97-AF65-F5344CB8AC3E}">
        <p14:creationId xmlns:p14="http://schemas.microsoft.com/office/powerpoint/2010/main" val="1158930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a:t>
            </a:fld>
            <a:endParaRPr lang="zh-CN" altLang="en-US"/>
          </a:p>
        </p:txBody>
      </p:sp>
    </p:spTree>
    <p:extLst>
      <p:ext uri="{BB962C8B-B14F-4D97-AF65-F5344CB8AC3E}">
        <p14:creationId xmlns:p14="http://schemas.microsoft.com/office/powerpoint/2010/main" val="589339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a:t>
            </a:fld>
            <a:endParaRPr lang="zh-CN" altLang="en-US"/>
          </a:p>
        </p:txBody>
      </p:sp>
    </p:spTree>
    <p:extLst>
      <p:ext uri="{BB962C8B-B14F-4D97-AF65-F5344CB8AC3E}">
        <p14:creationId xmlns:p14="http://schemas.microsoft.com/office/powerpoint/2010/main" val="3734589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a:t>
            </a:fld>
            <a:endParaRPr lang="zh-CN" altLang="en-US"/>
          </a:p>
        </p:txBody>
      </p:sp>
    </p:spTree>
    <p:extLst>
      <p:ext uri="{BB962C8B-B14F-4D97-AF65-F5344CB8AC3E}">
        <p14:creationId xmlns:p14="http://schemas.microsoft.com/office/powerpoint/2010/main" val="3084494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a:t>
            </a:fld>
            <a:endParaRPr lang="zh-CN" altLang="en-US"/>
          </a:p>
        </p:txBody>
      </p:sp>
    </p:spTree>
    <p:extLst>
      <p:ext uri="{BB962C8B-B14F-4D97-AF65-F5344CB8AC3E}">
        <p14:creationId xmlns:p14="http://schemas.microsoft.com/office/powerpoint/2010/main" val="742580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D0D0D"/>
                </a:solidFill>
                <a:effectLst/>
                <a:latin typeface="Söhne"/>
              </a:rPr>
              <a:t>握手定理指出，在任何图中，所有顶点的度之和等于边的数量乘以</a:t>
            </a:r>
            <a:r>
              <a:rPr lang="en-US" altLang="zh-CN" b="0" i="0" dirty="0">
                <a:solidFill>
                  <a:srgbClr val="0D0D0D"/>
                </a:solidFill>
                <a:effectLst/>
                <a:latin typeface="Söhne"/>
              </a:rPr>
              <a:t>2</a:t>
            </a:r>
            <a:r>
              <a:rPr lang="zh-CN" altLang="en-US" b="0" i="0" dirty="0">
                <a:solidFill>
                  <a:srgbClr val="0D0D0D"/>
                </a:solidFill>
                <a:effectLst/>
                <a:latin typeface="Söhne"/>
              </a:rPr>
              <a:t>。</a:t>
            </a:r>
            <a:endParaRPr lang="en-US" altLang="zh-CN" b="0" i="0" dirty="0">
              <a:solidFill>
                <a:srgbClr val="0D0D0D"/>
              </a:solidFill>
              <a:effectLst/>
              <a:latin typeface="Söhne"/>
            </a:endParaRPr>
          </a:p>
          <a:p>
            <a:endParaRPr lang="en-US" altLang="zh-CN" b="0" i="0" dirty="0">
              <a:solidFill>
                <a:srgbClr val="0D0D0D"/>
              </a:solidFill>
              <a:effectLst/>
              <a:latin typeface="Söhne"/>
            </a:endParaRPr>
          </a:p>
          <a:p>
            <a:pPr algn="just" eaLnBrk="1" hangingPunct="1">
              <a:spcBef>
                <a:spcPct val="40000"/>
              </a:spcBef>
              <a:buClr>
                <a:schemeClr val="bg2"/>
              </a:buClr>
              <a:buSzPct val="75000"/>
              <a:buFont typeface="Wingdings" panose="05000000000000000000" pitchFamily="2" charset="2"/>
              <a:buNone/>
            </a:pPr>
            <a:r>
              <a:rPr kumimoji="0" lang="zh-CN" altLang="en-US" sz="1200" b="1" dirty="0">
                <a:solidFill>
                  <a:srgbClr val="FF3300"/>
                </a:solidFill>
                <a:latin typeface="Times New Roman" panose="02020603050405020304" pitchFamily="18" charset="0"/>
                <a:cs typeface="Times New Roman" panose="02020603050405020304" pitchFamily="18" charset="0"/>
              </a:rPr>
              <a:t>定理7.2 </a:t>
            </a:r>
            <a:r>
              <a:rPr kumimoji="0" lang="zh-CN" altLang="en-US" sz="1200" b="1" dirty="0">
                <a:solidFill>
                  <a:srgbClr val="FF0066"/>
                </a:solidFill>
                <a:latin typeface="Times New Roman" panose="02020603050405020304" pitchFamily="18" charset="0"/>
                <a:cs typeface="Times New Roman" panose="02020603050405020304" pitchFamily="18" charset="0"/>
              </a:rPr>
              <a:t> </a:t>
            </a:r>
            <a:r>
              <a:rPr kumimoji="0" lang="en-US" altLang="zh-CN" sz="1200"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阶</a:t>
            </a:r>
            <a:r>
              <a:rPr kumimoji="0" lang="zh-CN" altLang="en-US" sz="1200" b="1" dirty="0">
                <a:latin typeface="Times New Roman" panose="02020603050405020304" pitchFamily="18" charset="0"/>
                <a:cs typeface="Times New Roman" panose="02020603050405020304" pitchFamily="18" charset="0"/>
              </a:rPr>
              <a:t>非平凡的无向树至少有两片树叶 。</a:t>
            </a:r>
          </a:p>
          <a:p>
            <a:pPr algn="just" eaLnBrk="1" hangingPunct="1">
              <a:spcBef>
                <a:spcPct val="40000"/>
              </a:spcBef>
              <a:buClr>
                <a:schemeClr val="bg2"/>
              </a:buClr>
              <a:buSzPct val="75000"/>
              <a:buFont typeface="Wingdings" panose="05000000000000000000" pitchFamily="2" charset="2"/>
              <a:buNone/>
            </a:pPr>
            <a:r>
              <a:rPr kumimoji="0" lang="zh-CN" altLang="en-US" sz="1200" b="1" dirty="0">
                <a:latin typeface="Times New Roman" panose="02020603050405020304" pitchFamily="18" charset="0"/>
                <a:cs typeface="Times New Roman" panose="02020603050405020304" pitchFamily="18" charset="0"/>
              </a:rPr>
              <a:t>证：  设有</a:t>
            </a:r>
            <a:r>
              <a:rPr kumimoji="0" lang="en-US" altLang="zh-CN" sz="1200" b="1" i="1" dirty="0">
                <a:latin typeface="Times New Roman" panose="02020603050405020304" pitchFamily="18" charset="0"/>
                <a:cs typeface="Times New Roman" panose="02020603050405020304" pitchFamily="18" charset="0"/>
              </a:rPr>
              <a:t>n</a:t>
            </a:r>
            <a:r>
              <a:rPr kumimoji="0" lang="en-US" altLang="zh-CN" sz="1200" b="1" dirty="0">
                <a:latin typeface="Times New Roman" panose="02020603050405020304" pitchFamily="18" charset="0"/>
                <a:cs typeface="Times New Roman" panose="02020603050405020304" pitchFamily="18" charset="0"/>
              </a:rPr>
              <a:t>(</a:t>
            </a:r>
            <a:r>
              <a:rPr kumimoji="0" lang="en-US" altLang="zh-CN" sz="1200" b="1" i="1" dirty="0">
                <a:latin typeface="Times New Roman" panose="02020603050405020304" pitchFamily="18" charset="0"/>
                <a:cs typeface="Times New Roman" panose="02020603050405020304" pitchFamily="18" charset="0"/>
              </a:rPr>
              <a:t>n</a:t>
            </a:r>
            <a:r>
              <a:rPr kumimoji="0" lang="en-US" altLang="zh-CN" sz="1200" b="1" dirty="0">
                <a:latin typeface="Times New Roman" panose="02020603050405020304" pitchFamily="18" charset="0"/>
                <a:cs typeface="Times New Roman" panose="02020603050405020304" pitchFamily="18" charset="0"/>
              </a:rPr>
              <a:t>&gt;1)</a:t>
            </a:r>
            <a:r>
              <a:rPr kumimoji="0" lang="zh-CN" altLang="en-US" sz="1200" b="1" dirty="0">
                <a:latin typeface="Times New Roman" panose="02020603050405020304" pitchFamily="18" charset="0"/>
                <a:cs typeface="Times New Roman" panose="02020603050405020304" pitchFamily="18" charset="0"/>
              </a:rPr>
              <a:t>个顶点, </a:t>
            </a:r>
            <a:r>
              <a:rPr kumimoji="0" lang="en-US" altLang="zh-CN" sz="1200" b="1" i="1" dirty="0">
                <a:latin typeface="Times New Roman" panose="02020603050405020304" pitchFamily="18" charset="0"/>
                <a:cs typeface="Times New Roman" panose="02020603050405020304" pitchFamily="18" charset="0"/>
              </a:rPr>
              <a:t>k</a:t>
            </a:r>
            <a:r>
              <a:rPr kumimoji="0" lang="zh-CN" altLang="en-US" sz="1200" b="1" dirty="0">
                <a:latin typeface="Times New Roman" panose="02020603050405020304" pitchFamily="18" charset="0"/>
                <a:cs typeface="Times New Roman" panose="02020603050405020304" pitchFamily="18" charset="0"/>
              </a:rPr>
              <a:t>片树叶, </a:t>
            </a:r>
            <a:r>
              <a:rPr lang="en-US" altLang="zh-CN" b="1" i="1" dirty="0">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条边，</a:t>
            </a:r>
            <a:r>
              <a:rPr kumimoji="0" lang="zh-CN" altLang="en-US" sz="1200" b="1" dirty="0">
                <a:latin typeface="Times New Roman" panose="02020603050405020304" pitchFamily="18" charset="0"/>
                <a:cs typeface="Times New Roman" panose="02020603050405020304" pitchFamily="18" charset="0"/>
              </a:rPr>
              <a:t>由握手定理得到：</a:t>
            </a:r>
            <a:endParaRPr kumimoji="0" lang="en-US" altLang="zh-CN" sz="1200" b="1" dirty="0">
              <a:latin typeface="Times New Roman" panose="02020603050405020304" pitchFamily="18" charset="0"/>
              <a:cs typeface="Times New Roman" panose="02020603050405020304" pitchFamily="18" charset="0"/>
            </a:endParaRPr>
          </a:p>
          <a:p>
            <a:pPr algn="just" eaLnBrk="1" hangingPunct="1">
              <a:spcBef>
                <a:spcPct val="40000"/>
              </a:spcBef>
              <a:buClr>
                <a:schemeClr val="bg2"/>
              </a:buClr>
              <a:buSzPct val="75000"/>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       </a:t>
            </a:r>
            <a:r>
              <a:rPr kumimoji="0" lang="en-US" altLang="zh-CN" sz="1200" b="1" dirty="0">
                <a:latin typeface="Times New Roman" panose="02020603050405020304" pitchFamily="18" charset="0"/>
                <a:cs typeface="Times New Roman" panose="02020603050405020304" pitchFamily="18" charset="0"/>
              </a:rPr>
              <a:t>2</a:t>
            </a:r>
            <a:r>
              <a:rPr lang="en-US" altLang="zh-CN" b="1" i="1" dirty="0">
                <a:latin typeface="Times New Roman" panose="02020603050405020304" pitchFamily="18" charset="0"/>
                <a:cs typeface="Times New Roman" panose="02020603050405020304" pitchFamily="18" charset="0"/>
              </a:rPr>
              <a:t> 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1200" b="1" i="1" dirty="0">
                <a:latin typeface="Times New Roman" panose="02020603050405020304" pitchFamily="18" charset="0"/>
                <a:cs typeface="Times New Roman" panose="02020603050405020304" pitchFamily="18" charset="0"/>
              </a:rPr>
              <a:t> k + 2(n-k)</a:t>
            </a:r>
          </a:p>
          <a:p>
            <a:pPr algn="just" eaLnBrk="1" hangingPunct="1">
              <a:spcBef>
                <a:spcPct val="40000"/>
              </a:spcBef>
              <a:buClr>
                <a:schemeClr val="bg2"/>
              </a:buClr>
              <a:buSzPct val="75000"/>
              <a:buFont typeface="Wingdings" panose="05000000000000000000" pitchFamily="2" charset="2"/>
              <a:buNone/>
            </a:pPr>
            <a:r>
              <a:rPr kumimoji="0" lang="en-US" altLang="zh-CN" sz="1200" b="1" i="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根据定理</a:t>
            </a:r>
            <a:r>
              <a:rPr kumimoji="0" lang="zh-CN" altLang="en-US" sz="1200" b="1" dirty="0">
                <a:latin typeface="Times New Roman" panose="02020603050405020304" pitchFamily="18" charset="0"/>
                <a:cs typeface="Times New Roman" panose="02020603050405020304" pitchFamily="18" charset="0"/>
              </a:rPr>
              <a:t>7.1（边的数量总是等于节点数量减</a:t>
            </a:r>
            <a:r>
              <a:rPr kumimoji="0" lang="en-US" altLang="zh-CN" sz="1200" b="1" dirty="0">
                <a:latin typeface="Times New Roman" panose="02020603050405020304" pitchFamily="18" charset="0"/>
                <a:cs typeface="Times New Roman" panose="02020603050405020304" pitchFamily="18" charset="0"/>
              </a:rPr>
              <a:t>1</a:t>
            </a:r>
            <a:r>
              <a:rPr kumimoji="0" lang="zh-CN" altLang="en-US" sz="1200" b="1" dirty="0">
                <a:latin typeface="Times New Roman" panose="02020603050405020304" pitchFamily="18" charset="0"/>
                <a:cs typeface="Times New Roman" panose="02020603050405020304" pitchFamily="18" charset="0"/>
              </a:rPr>
              <a:t>）, 有</a:t>
            </a:r>
            <a:r>
              <a:rPr lang="en-US" altLang="zh-CN" b="1" i="1" dirty="0">
                <a:latin typeface="Times New Roman" panose="02020603050405020304" pitchFamily="18" charset="0"/>
                <a:cs typeface="Times New Roman" panose="02020603050405020304" pitchFamily="18" charset="0"/>
              </a:rPr>
              <a:t>m=n-1</a:t>
            </a:r>
          </a:p>
          <a:p>
            <a:pPr algn="just">
              <a:spcBef>
                <a:spcPct val="40000"/>
              </a:spcBef>
              <a:buClr>
                <a:schemeClr val="bg2"/>
              </a:buClr>
              <a:buSzPct val="75000"/>
              <a:buNone/>
            </a:pPr>
            <a:r>
              <a:rPr kumimoji="0" lang="en-US" altLang="zh-CN" sz="1200" b="1" i="1" dirty="0">
                <a:latin typeface="Times New Roman" panose="02020603050405020304" pitchFamily="18" charset="0"/>
                <a:cs typeface="Times New Roman" panose="02020603050405020304" pitchFamily="18" charset="0"/>
              </a:rPr>
              <a:t>       </a:t>
            </a:r>
            <a:r>
              <a:rPr kumimoji="0" lang="en-US" altLang="zh-CN" sz="1200" b="1" dirty="0">
                <a:latin typeface="Times New Roman" panose="02020603050405020304" pitchFamily="18" charset="0"/>
                <a:cs typeface="Times New Roman" panose="02020603050405020304" pitchFamily="18" charset="0"/>
              </a:rPr>
              <a:t>2</a:t>
            </a:r>
            <a:r>
              <a:rPr lang="en-US" altLang="zh-CN"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n-1</a:t>
            </a:r>
            <a:r>
              <a:rPr lang="en-US" altLang="zh-CN"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1200" b="1" i="1" dirty="0">
                <a:latin typeface="Times New Roman" panose="02020603050405020304" pitchFamily="18" charset="0"/>
                <a:cs typeface="Times New Roman" panose="02020603050405020304" pitchFamily="18" charset="0"/>
              </a:rPr>
              <a:t> k + 2</a:t>
            </a:r>
            <a:r>
              <a:rPr kumimoji="0" lang="en-US" altLang="zh-CN" sz="1200" b="1" dirty="0">
                <a:latin typeface="Times New Roman" panose="02020603050405020304" pitchFamily="18" charset="0"/>
                <a:cs typeface="Times New Roman" panose="02020603050405020304" pitchFamily="18" charset="0"/>
              </a:rPr>
              <a:t>(</a:t>
            </a:r>
            <a:r>
              <a:rPr kumimoji="0" lang="en-US" altLang="zh-CN" sz="1200" b="1" i="1" dirty="0">
                <a:latin typeface="Times New Roman" panose="02020603050405020304" pitchFamily="18" charset="0"/>
                <a:cs typeface="Times New Roman" panose="02020603050405020304" pitchFamily="18" charset="0"/>
              </a:rPr>
              <a:t>n-k</a:t>
            </a:r>
            <a:r>
              <a:rPr kumimoji="0" lang="en-US" altLang="zh-CN" sz="1200"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t>
            </a:r>
            <a:endParaRPr kumimoji="0" lang="zh-CN" altLang="en-US" sz="1200" b="1" dirty="0">
              <a:latin typeface="Times New Roman" panose="02020603050405020304" pitchFamily="18" charset="0"/>
              <a:cs typeface="Times New Roman" panose="02020603050405020304" pitchFamily="18" charset="0"/>
            </a:endParaRPr>
          </a:p>
          <a:p>
            <a:pPr algn="just" eaLnBrk="1" hangingPunct="1">
              <a:spcBef>
                <a:spcPct val="40000"/>
              </a:spcBef>
              <a:buClr>
                <a:schemeClr val="bg2"/>
              </a:buClr>
              <a:buSzPct val="75000"/>
              <a:buFont typeface="Wingdings" panose="05000000000000000000" pitchFamily="2" charset="2"/>
              <a:buNone/>
            </a:pPr>
            <a:r>
              <a:rPr kumimoji="0" lang="zh-CN" altLang="en-US" sz="1200" b="1" dirty="0">
                <a:latin typeface="Times New Roman" panose="02020603050405020304" pitchFamily="18" charset="0"/>
                <a:cs typeface="Times New Roman" panose="02020603050405020304" pitchFamily="18" charset="0"/>
              </a:rPr>
              <a:t>       解得 </a:t>
            </a:r>
            <a:r>
              <a:rPr kumimoji="0" lang="en-US" altLang="zh-CN" sz="1200" b="1" i="1" dirty="0">
                <a:latin typeface="Times New Roman" panose="02020603050405020304" pitchFamily="18" charset="0"/>
                <a:cs typeface="Times New Roman" panose="02020603050405020304" pitchFamily="18" charset="0"/>
              </a:rPr>
              <a:t>k</a:t>
            </a:r>
            <a:r>
              <a:rPr kumimoji="0"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1200" b="1" dirty="0">
                <a:latin typeface="Times New Roman" panose="02020603050405020304" pitchFamily="18" charset="0"/>
                <a:cs typeface="Times New Roman" panose="02020603050405020304" pitchFamily="18" charset="0"/>
              </a:rPr>
              <a:t>2.</a:t>
            </a:r>
            <a:endParaRPr lang="en-US" altLang="zh-CN" sz="1200" b="1" dirty="0">
              <a:latin typeface="Times New Roman" panose="02020603050405020304" pitchFamily="18" charset="0"/>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a:t>
            </a:fld>
            <a:endParaRPr lang="zh-CN" altLang="en-US"/>
          </a:p>
        </p:txBody>
      </p:sp>
    </p:spTree>
    <p:extLst>
      <p:ext uri="{BB962C8B-B14F-4D97-AF65-F5344CB8AC3E}">
        <p14:creationId xmlns:p14="http://schemas.microsoft.com/office/powerpoint/2010/main" val="1859095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B0F0"/>
                </a:solidFill>
              </a:rPr>
              <a:t>例</a:t>
            </a:r>
            <a:r>
              <a:rPr lang="en-US" altLang="zh-CN" sz="1800" b="1" dirty="0">
                <a:solidFill>
                  <a:srgbClr val="00B0F0"/>
                </a:solidFill>
              </a:rPr>
              <a:t>: </a:t>
            </a:r>
            <a:r>
              <a:rPr lang="zh-CN" altLang="en-US" sz="1800" b="1" dirty="0">
                <a:latin typeface="Times New Roman" panose="02020603050405020304" pitchFamily="18" charset="0"/>
                <a:cs typeface="Times New Roman" panose="02020603050405020304" pitchFamily="18" charset="0"/>
              </a:rPr>
              <a:t>已知无向树</a:t>
            </a:r>
            <a:r>
              <a:rPr lang="en-US" altLang="zh-CN" sz="1800" b="1" i="1" dirty="0">
                <a:latin typeface="Times New Roman" panose="02020603050405020304" pitchFamily="18" charset="0"/>
                <a:cs typeface="Times New Roman" panose="02020603050405020304" pitchFamily="18" charset="0"/>
              </a:rPr>
              <a:t>T</a:t>
            </a:r>
            <a:r>
              <a:rPr lang="zh-CN" altLang="en-US" sz="1800" b="1" dirty="0">
                <a:latin typeface="Times New Roman" panose="02020603050405020304" pitchFamily="18" charset="0"/>
                <a:cs typeface="Times New Roman" panose="02020603050405020304" pitchFamily="18" charset="0"/>
              </a:rPr>
              <a:t>中, 有1个3度顶点, 2个2度顶点, 其余顶点全是树叶. 试求树叶数, 并画出满足要求的非同构的无向树. </a:t>
            </a:r>
            <a:endParaRPr lang="en-US" altLang="zh-CN" sz="18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B0F0"/>
                </a:solidFill>
              </a:rPr>
              <a:t>解</a:t>
            </a:r>
            <a:r>
              <a:rPr lang="en-US" altLang="zh-CN" sz="1800" b="1" dirty="0">
                <a:solidFill>
                  <a:srgbClr val="00B0F0"/>
                </a:solidFill>
              </a:rPr>
              <a:t>:</a:t>
            </a:r>
            <a:r>
              <a:rPr lang="zh-CN" altLang="en-US" sz="1800" b="1" dirty="0"/>
              <a:t>设有</a:t>
            </a:r>
            <a:r>
              <a:rPr lang="en-US" altLang="zh-CN" sz="1800" b="1" i="1" dirty="0"/>
              <a:t>x</a:t>
            </a:r>
            <a:r>
              <a:rPr lang="zh-CN" altLang="en-US" sz="1800" b="1" dirty="0"/>
              <a:t>片树叶、</a:t>
            </a:r>
            <a:r>
              <a:rPr lang="en-US" altLang="zh-CN" sz="1800" b="1" i="1" dirty="0"/>
              <a:t>m</a:t>
            </a:r>
            <a:r>
              <a:rPr lang="zh-CN" altLang="en-US" sz="1800" b="1" dirty="0"/>
              <a:t>条边和</a:t>
            </a:r>
            <a:r>
              <a:rPr lang="en-US" altLang="zh-CN" sz="1800" b="1" i="1" dirty="0"/>
              <a:t> n</a:t>
            </a:r>
            <a:r>
              <a:rPr lang="zh-CN" altLang="en-US" sz="1800" b="1" dirty="0"/>
              <a:t> </a:t>
            </a:r>
            <a:r>
              <a:rPr lang="en-US" altLang="zh-CN" sz="1800" b="1" dirty="0"/>
              <a:t>(=</a:t>
            </a:r>
            <a:r>
              <a:rPr lang="en-US" altLang="zh-CN" sz="1800" b="1" i="1" dirty="0"/>
              <a:t> </a:t>
            </a:r>
            <a:r>
              <a:rPr lang="en-US" altLang="zh-CN" sz="1800" b="1" dirty="0"/>
              <a:t>1+2+</a:t>
            </a:r>
            <a:r>
              <a:rPr lang="en-US" altLang="zh-CN" sz="1800" b="1" i="1" dirty="0"/>
              <a:t> x </a:t>
            </a:r>
            <a:r>
              <a:rPr lang="en-US" altLang="zh-CN" sz="1800" b="1" dirty="0"/>
              <a:t>)</a:t>
            </a:r>
            <a:r>
              <a:rPr lang="zh-CN" altLang="en-US" sz="1800" b="1" dirty="0"/>
              <a:t>个顶点，总度数</a:t>
            </a:r>
            <a:r>
              <a:rPr lang="en-US" altLang="zh-CN" sz="1800" b="1" dirty="0"/>
              <a:t>=</a:t>
            </a:r>
            <a:r>
              <a:rPr lang="zh-CN" altLang="en-US" sz="1800" b="1" dirty="0"/>
              <a:t> </a:t>
            </a:r>
            <a:r>
              <a:rPr lang="en-US" altLang="zh-CN" sz="1800" b="1" dirty="0"/>
              <a:t>3</a:t>
            </a:r>
            <a:r>
              <a:rPr lang="zh-CN" altLang="zh-CN" sz="1800" b="1" dirty="0"/>
              <a:t>∗1</a:t>
            </a:r>
            <a:r>
              <a:rPr lang="en-US" altLang="zh-CN" sz="1800" b="1" dirty="0"/>
              <a:t>+</a:t>
            </a:r>
            <a:r>
              <a:rPr lang="zh-CN" altLang="zh-CN" sz="1800" b="1" dirty="0"/>
              <a:t>2∗2</a:t>
            </a:r>
            <a:r>
              <a:rPr lang="en-US" altLang="zh-CN" sz="1800" b="1" dirty="0"/>
              <a:t>+</a:t>
            </a:r>
            <a:r>
              <a:rPr lang="zh-CN" altLang="zh-CN" sz="1800" b="1" dirty="0"/>
              <a:t>1∗</a:t>
            </a:r>
            <a:r>
              <a:rPr lang="en-US" altLang="zh-CN" sz="1800" b="1" i="1" dirty="0"/>
              <a:t> x</a:t>
            </a:r>
            <a:r>
              <a:rPr lang="zh-CN" altLang="zh-CN" sz="1800" i="1" dirty="0"/>
              <a:t> </a:t>
            </a:r>
            <a:r>
              <a:rPr lang="en-US" altLang="zh-CN" sz="1800" i="1" dirty="0"/>
              <a:t>.</a:t>
            </a:r>
            <a:r>
              <a:rPr lang="zh-CN" altLang="en-US" sz="1800" b="1" dirty="0"/>
              <a:t>由用树的性质</a:t>
            </a:r>
            <a:r>
              <a:rPr lang="en-US" altLang="zh-CN" sz="1800" b="1" i="1" dirty="0"/>
              <a:t>m</a:t>
            </a:r>
            <a:r>
              <a:rPr lang="en-US" altLang="zh-CN" sz="1800" b="1" dirty="0"/>
              <a:t>=</a:t>
            </a:r>
            <a:r>
              <a:rPr lang="en-US" altLang="zh-CN" sz="1800" b="1" i="1" dirty="0"/>
              <a:t>n</a:t>
            </a:r>
            <a:r>
              <a:rPr lang="en-US" altLang="zh-CN" sz="1800" b="1" dirty="0">
                <a:sym typeface="Symbol" panose="05050102010706020507" pitchFamily="18" charset="2"/>
              </a:rPr>
              <a:t></a:t>
            </a:r>
            <a:r>
              <a:rPr lang="en-US" altLang="zh-CN" sz="1800" b="1" dirty="0"/>
              <a:t>1</a:t>
            </a:r>
            <a:r>
              <a:rPr lang="zh-CN" altLang="en-US" sz="1800" b="1" dirty="0"/>
              <a:t>和握手定理,有：</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t>解得</a:t>
            </a:r>
            <a:r>
              <a:rPr lang="en-US" altLang="zh-CN" sz="1800" b="1" i="1" dirty="0"/>
              <a:t>x</a:t>
            </a:r>
            <a:r>
              <a:rPr lang="en-US" altLang="zh-CN" sz="1800" b="1" dirty="0"/>
              <a:t>=3，</a:t>
            </a:r>
            <a:r>
              <a:rPr lang="zh-CN" altLang="en-US" sz="1800" b="1" dirty="0"/>
              <a:t>故</a:t>
            </a:r>
            <a:r>
              <a:rPr lang="en-US" altLang="zh-CN" sz="1800" b="1" i="1" dirty="0"/>
              <a:t>T</a:t>
            </a:r>
            <a:r>
              <a:rPr lang="zh-CN" altLang="en-US" sz="1800" b="1" dirty="0"/>
              <a:t>有3片</a:t>
            </a:r>
            <a:r>
              <a:rPr lang="zh-CN" altLang="en-US" sz="1800" b="1"/>
              <a:t>树叶.</a:t>
            </a:r>
            <a:r>
              <a:rPr lang="zh-CN" altLang="en-US" sz="2800"/>
              <a:t>两棵无向树如果不能通过顶点重命名变换为同一棵树，就被称为</a:t>
            </a:r>
            <a:r>
              <a:rPr lang="zh-CN" altLang="en-US" sz="2800" b="1"/>
              <a:t>非同构的树</a:t>
            </a:r>
            <a:r>
              <a:rPr lang="zh-CN" altLang="en-US" sz="280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i="1" dirty="0"/>
              <a:t>T</a:t>
            </a:r>
            <a:r>
              <a:rPr lang="zh-CN" altLang="en-US" sz="1800" b="1" dirty="0"/>
              <a:t>的度数列为1, 1, 1, 2, 2, 3</a:t>
            </a: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握手定理指出，在任何图中，所有顶点的度之和等于边的数量乘以</a:t>
            </a:r>
            <a:r>
              <a:rPr lang="en-US" altLang="zh-CN" sz="1800" dirty="0">
                <a:effectLst/>
                <a:latin typeface="Times New Roman" panose="02020603050405020304" pitchFamily="18" charset="0"/>
                <a:ea typeface="宋体" panose="02010600030101010101" pitchFamily="2" charset="-122"/>
              </a:rPr>
              <a:t>2</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a:t>
            </a:fld>
            <a:endParaRPr lang="zh-CN" altLang="en-US"/>
          </a:p>
        </p:txBody>
      </p:sp>
    </p:spTree>
    <p:extLst>
      <p:ext uri="{BB962C8B-B14F-4D97-AF65-F5344CB8AC3E}">
        <p14:creationId xmlns:p14="http://schemas.microsoft.com/office/powerpoint/2010/main" val="3063436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rPr>
              <a:t>例： </a:t>
            </a:r>
            <a:r>
              <a:rPr lang="zh-CN" altLang="en-US" sz="1200" b="1" dirty="0"/>
              <a:t>画出所有6阶非同构的无向树</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solidFill>
                  <a:srgbClr val="00B0F0"/>
                </a:solidFill>
              </a:rPr>
              <a:t>解： </a:t>
            </a:r>
            <a:r>
              <a:rPr kumimoji="0" lang="zh-CN" altLang="en-US" sz="1200" b="1" dirty="0"/>
              <a:t>5条边, 总度数等于10</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a:t>
            </a:fld>
            <a:endParaRPr lang="zh-CN" altLang="en-US"/>
          </a:p>
        </p:txBody>
      </p:sp>
    </p:spTree>
    <p:extLst>
      <p:ext uri="{BB962C8B-B14F-4D97-AF65-F5344CB8AC3E}">
        <p14:creationId xmlns:p14="http://schemas.microsoft.com/office/powerpoint/2010/main" val="314775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719138" eaLnBrk="1" hangingPunct="1">
              <a:spcBef>
                <a:spcPct val="60000"/>
              </a:spcBef>
              <a:buNone/>
            </a:pPr>
            <a:r>
              <a:rPr lang="zh-CN" altLang="en-US" b="1" dirty="0"/>
              <a:t>7.1.1 无向树的定义及其性质</a:t>
            </a:r>
            <a:endParaRPr lang="en-US" altLang="zh-CN" b="1" dirty="0"/>
          </a:p>
          <a:p>
            <a:pPr marL="0" indent="719138" eaLnBrk="1" hangingPunct="1">
              <a:spcBef>
                <a:spcPct val="60000"/>
              </a:spcBef>
              <a:buNone/>
            </a:pPr>
            <a:endParaRPr lang="zh-CN" altLang="en-US" b="1" dirty="0"/>
          </a:p>
          <a:p>
            <a:pPr marL="0" indent="719138" eaLnBrk="1" hangingPunct="1">
              <a:spcBef>
                <a:spcPct val="60000"/>
              </a:spcBef>
              <a:buNone/>
            </a:pPr>
            <a:r>
              <a:rPr lang="zh-CN" altLang="en-US" b="1" dirty="0"/>
              <a:t>7.1.2 生成树</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a:t>
            </a:fld>
            <a:endParaRPr lang="zh-CN" altLang="en-US"/>
          </a:p>
        </p:txBody>
      </p:sp>
    </p:spTree>
    <p:extLst>
      <p:ext uri="{BB962C8B-B14F-4D97-AF65-F5344CB8AC3E}">
        <p14:creationId xmlns:p14="http://schemas.microsoft.com/office/powerpoint/2010/main" val="1632058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生成树是生成子图的一种特殊情况</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，它确保了子图是连通的并且是无环的。每个连通图都有至少一个生成树，但生成子图的数量可能更多，因为它们不受边数和无环性的限制。</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设</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为无向连通图</a:t>
                </a:r>
              </a:p>
              <a:p>
                <a:pPr algn="just" eaLnBrk="1" hangingPunct="1">
                  <a:spcBef>
                    <a:spcPct val="20000"/>
                  </a:spcBef>
                  <a:buClr>
                    <a:schemeClr val="bg2"/>
                  </a:buClr>
                  <a:buSzPct val="75000"/>
                  <a:buFont typeface="Wingdings" panose="05000000000000000000" pitchFamily="2" charset="2"/>
                  <a:buNone/>
                </a:pP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生成树</a:t>
                </a:r>
                <a:r>
                  <a:rPr lang="en-US" altLang="zh-CN" sz="1200" b="1" i="1" dirty="0">
                    <a:latin typeface="Times New Roman" panose="02020603050405020304" pitchFamily="18" charset="0"/>
                  </a:rPr>
                  <a:t>T </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的生成子图并且是树</a:t>
                </a: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树枝</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在</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中的边</a:t>
                </a: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弦</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不在</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中的边</a:t>
                </a:r>
              </a:p>
              <a:p>
                <a:pPr algn="just">
                  <a:spcBef>
                    <a:spcPct val="20000"/>
                  </a:spcBef>
                  <a:buClr>
                    <a:schemeClr val="bg2"/>
                  </a:buClr>
                  <a:buSzPct val="75000"/>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余树 </a:t>
                </a:r>
                <a14:m>
                  <m:oMath xmlns:m="http://schemas.openxmlformats.org/officeDocument/2006/math">
                    <m:acc>
                      <m:accPr>
                        <m:chr m:val="̅"/>
                        <m:ctrlPr>
                          <a:rPr lang="zh-CN" altLang="en-US" sz="1200" b="1" i="1" smtClean="0">
                            <a:solidFill>
                              <a:srgbClr val="FF0000"/>
                            </a:solidFill>
                            <a:latin typeface="Cambria Math" panose="02040503050406030204" pitchFamily="18" charset="0"/>
                          </a:rPr>
                        </m:ctrlPr>
                      </m:accPr>
                      <m:e>
                        <m:r>
                          <m:rPr>
                            <m:nor/>
                          </m:rPr>
                          <a:rPr lang="en-US" altLang="zh-CN" b="1" i="1" dirty="0">
                            <a:solidFill>
                              <a:srgbClr val="FF0000"/>
                            </a:solidFill>
                            <a:latin typeface="Times New Roman" panose="02020603050405020304" pitchFamily="18" charset="0"/>
                          </a:rPr>
                          <m:t>T</m:t>
                        </m:r>
                      </m:e>
                    </m:acc>
                  </m:oMath>
                </a14:m>
                <a:r>
                  <a:rPr lang="zh-CN" altLang="en-US" sz="1200" b="1" dirty="0">
                    <a:solidFill>
                      <a:srgbClr val="FF3300"/>
                    </a:solidFill>
                    <a:latin typeface="Times New Roman" panose="02020603050405020304" pitchFamily="18" charset="0"/>
                  </a:rPr>
                  <a:t>    </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所有弦的集合的导出子图</a:t>
                </a:r>
              </a:p>
              <a:p>
                <a:pPr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注意：</a:t>
                </a:r>
                <a:r>
                  <a:rPr lang="zh-CN" altLang="en-US" sz="1200" b="1" dirty="0">
                    <a:solidFill>
                      <a:srgbClr val="FF3300"/>
                    </a:solidFill>
                    <a:latin typeface="Times New Roman" panose="02020603050405020304" pitchFamily="18" charset="0"/>
                  </a:rPr>
                  <a:t>余树 </a:t>
                </a:r>
                <a14:m>
                  <m:oMath xmlns:m="http://schemas.openxmlformats.org/officeDocument/2006/math">
                    <m:acc>
                      <m:accPr>
                        <m:chr m:val="̅"/>
                        <m:ctrlPr>
                          <a:rPr lang="zh-CN" altLang="en-US" sz="1200" b="1" i="1" smtClean="0">
                            <a:solidFill>
                              <a:srgbClr val="FF0000"/>
                            </a:solidFill>
                            <a:latin typeface="Cambria Math" panose="02040503050406030204" pitchFamily="18" charset="0"/>
                          </a:rPr>
                        </m:ctrlPr>
                      </m:accPr>
                      <m:e>
                        <m:r>
                          <m:rPr>
                            <m:nor/>
                          </m:rPr>
                          <a:rPr lang="en-US" altLang="zh-CN" b="1" i="1" dirty="0">
                            <a:solidFill>
                              <a:srgbClr val="FF0000"/>
                            </a:solidFill>
                            <a:latin typeface="Times New Roman" panose="02020603050405020304" pitchFamily="18" charset="0"/>
                          </a:rPr>
                          <m:t>T</m:t>
                        </m:r>
                      </m:e>
                    </m:acc>
                  </m:oMath>
                </a14:m>
                <a:r>
                  <a:rPr lang="zh-CN" altLang="en-US" sz="1200" b="1" dirty="0">
                    <a:latin typeface="Times New Roman" panose="02020603050405020304" pitchFamily="18" charset="0"/>
                  </a:rPr>
                  <a:t> 不一定连通</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也不一定不含回路</a:t>
                </a:r>
                <a:endParaRPr lang="en-US" altLang="zh-CN" sz="1200" b="1" dirty="0">
                  <a:latin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
                    <a:schemeClr val="bg2"/>
                  </a:buClr>
                  <a:buSzPct val="75000"/>
                  <a:buFont typeface="Wingdings" panose="05000000000000000000" pitchFamily="2" charset="2"/>
                  <a:buNone/>
                  <a:tabLst/>
                  <a:defRPr/>
                </a:pPr>
                <a:r>
                  <a:rPr kumimoji="0" lang="zh-CN" altLang="en-US" sz="1200" b="1" dirty="0">
                    <a:solidFill>
                      <a:srgbClr val="00B0F0"/>
                    </a:solidFill>
                  </a:rPr>
                  <a:t>例：</a:t>
                </a:r>
                <a:r>
                  <a:rPr kumimoji="0" lang="zh-CN" altLang="en-US" sz="1200" b="1" dirty="0"/>
                  <a:t>图中黑边构成生成树，红边构成余树</a:t>
                </a:r>
              </a:p>
              <a:p>
                <a:pPr eaLnBrk="1" hangingPunct="1">
                  <a:spcBef>
                    <a:spcPct val="20000"/>
                  </a:spcBef>
                  <a:buClr>
                    <a:schemeClr val="bg2"/>
                  </a:buClr>
                  <a:buSzPct val="75000"/>
                  <a:buFont typeface="Wingdings" panose="05000000000000000000" pitchFamily="2" charset="2"/>
                  <a:buNone/>
                </a:pPr>
                <a:endParaRPr lang="zh-CN" altLang="en-US" dirty="0"/>
              </a:p>
            </p:txBody>
          </p:sp>
        </mc:Choice>
        <mc:Fallback xmlns="">
          <p:sp>
            <p:nvSpPr>
              <p:cNvPr id="3" name="备注占位符 2"/>
              <p:cNvSpPr>
                <a:spLocks noGrp="1"/>
              </p:cNvSpPr>
              <p:nvPr>
                <p:ph type="body" idx="1"/>
              </p:nvPr>
            </p:nvSpPr>
            <p:spPr/>
            <p:txBody>
              <a:bodyPr/>
              <a:lstStyle/>
              <a:p>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生成树是生成子图的一种特殊情况</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，它确保了子图是连通的并且是无环的。每个连通图都有至少一个生成树，但生成子图的数量可能更多，因为它们不受边数和无环性的限制。</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设</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为无向连通图</a:t>
                </a:r>
              </a:p>
              <a:p>
                <a:pPr algn="just" eaLnBrk="1" hangingPunct="1">
                  <a:spcBef>
                    <a:spcPct val="20000"/>
                  </a:spcBef>
                  <a:buClr>
                    <a:schemeClr val="bg2"/>
                  </a:buClr>
                  <a:buSzPct val="75000"/>
                  <a:buFont typeface="Wingdings" panose="05000000000000000000" pitchFamily="2" charset="2"/>
                  <a:buNone/>
                </a:pP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生成树</a:t>
                </a:r>
                <a:r>
                  <a:rPr lang="en-US" altLang="zh-CN" sz="1200" b="1" i="1" dirty="0">
                    <a:latin typeface="Times New Roman" panose="02020603050405020304" pitchFamily="18" charset="0"/>
                  </a:rPr>
                  <a:t>T </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的生成子图并且是树</a:t>
                </a: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树枝</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在</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中的边</a:t>
                </a: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弦</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不在</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中的边</a:t>
                </a:r>
              </a:p>
              <a:p>
                <a:pPr algn="just">
                  <a:spcBef>
                    <a:spcPct val="20000"/>
                  </a:spcBef>
                  <a:buClr>
                    <a:schemeClr val="bg2"/>
                  </a:buClr>
                  <a:buSzPct val="75000"/>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余树 </a:t>
                </a:r>
                <a:r>
                  <a:rPr lang="en-US" altLang="zh-CN" b="1" i="0" dirty="0">
                    <a:solidFill>
                      <a:srgbClr val="FF0000"/>
                    </a:solidFill>
                    <a:latin typeface="Times New Roman" panose="02020603050405020304" pitchFamily="18" charset="0"/>
                  </a:rPr>
                  <a:t>"T</a:t>
                </a:r>
                <a:r>
                  <a:rPr lang="en-US" altLang="zh-CN" b="1" i="0" dirty="0">
                    <a:solidFill>
                      <a:srgbClr val="FF0000"/>
                    </a:solidFill>
                    <a:latin typeface="Cambria Math" panose="02040503050406030204" pitchFamily="18" charset="0"/>
                  </a:rPr>
                  <a:t>" </a:t>
                </a:r>
                <a:r>
                  <a:rPr lang="zh-CN" altLang="en-US" sz="1200" b="1" i="0">
                    <a:solidFill>
                      <a:srgbClr val="FF0000"/>
                    </a:solidFill>
                    <a:latin typeface="Cambria Math" panose="02040503050406030204" pitchFamily="18" charset="0"/>
                  </a:rPr>
                  <a:t> ̅</a:t>
                </a:r>
                <a:r>
                  <a:rPr lang="zh-CN" altLang="en-US" sz="1200" b="1" dirty="0">
                    <a:solidFill>
                      <a:srgbClr val="FF3300"/>
                    </a:solidFill>
                    <a:latin typeface="Times New Roman" panose="02020603050405020304" pitchFamily="18" charset="0"/>
                  </a:rPr>
                  <a:t>    </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所有弦的集合的导出子图</a:t>
                </a:r>
              </a:p>
              <a:p>
                <a:pPr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注意：</a:t>
                </a:r>
                <a:r>
                  <a:rPr lang="zh-CN" altLang="en-US" sz="1200" b="1" dirty="0">
                    <a:solidFill>
                      <a:srgbClr val="FF3300"/>
                    </a:solidFill>
                    <a:latin typeface="Times New Roman" panose="02020603050405020304" pitchFamily="18" charset="0"/>
                  </a:rPr>
                  <a:t>余树 </a:t>
                </a:r>
                <a:r>
                  <a:rPr lang="en-US" altLang="zh-CN" b="1" i="0" dirty="0">
                    <a:solidFill>
                      <a:srgbClr val="FF0000"/>
                    </a:solidFill>
                    <a:latin typeface="Times New Roman" panose="02020603050405020304" pitchFamily="18" charset="0"/>
                  </a:rPr>
                  <a:t>"T</a:t>
                </a:r>
                <a:r>
                  <a:rPr lang="en-US" altLang="zh-CN" b="1" i="0" dirty="0">
                    <a:solidFill>
                      <a:srgbClr val="FF0000"/>
                    </a:solidFill>
                    <a:latin typeface="Cambria Math" panose="02040503050406030204" pitchFamily="18" charset="0"/>
                  </a:rPr>
                  <a:t>" </a:t>
                </a:r>
                <a:r>
                  <a:rPr lang="zh-CN" altLang="en-US" sz="1200" b="1" i="0">
                    <a:solidFill>
                      <a:srgbClr val="FF0000"/>
                    </a:solidFill>
                    <a:latin typeface="Cambria Math" panose="02040503050406030204" pitchFamily="18" charset="0"/>
                  </a:rPr>
                  <a:t> ̅</a:t>
                </a:r>
                <a:r>
                  <a:rPr lang="zh-CN" altLang="en-US" sz="1200" b="1" dirty="0">
                    <a:latin typeface="Times New Roman" panose="02020603050405020304" pitchFamily="18" charset="0"/>
                  </a:rPr>
                  <a:t> 不一定连通</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也不一定不含回路</a:t>
                </a:r>
                <a:endParaRPr lang="en-US" altLang="zh-CN" sz="1200" b="1" dirty="0">
                  <a:latin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
                    <a:schemeClr val="bg2"/>
                  </a:buClr>
                  <a:buSzPct val="75000"/>
                  <a:buFont typeface="Wingdings" panose="05000000000000000000" pitchFamily="2" charset="2"/>
                  <a:buNone/>
                  <a:tabLst/>
                  <a:defRPr/>
                </a:pPr>
                <a:r>
                  <a:rPr kumimoji="0" lang="zh-CN" altLang="en-US" sz="1200" b="1" dirty="0">
                    <a:solidFill>
                      <a:srgbClr val="00B0F0"/>
                    </a:solidFill>
                  </a:rPr>
                  <a:t>例：</a:t>
                </a:r>
                <a:r>
                  <a:rPr kumimoji="0" lang="zh-CN" altLang="en-US" sz="1200" b="1" dirty="0"/>
                  <a:t>图中黑边构成生成树，红边构成余树</a:t>
                </a:r>
              </a:p>
              <a:p>
                <a:pPr eaLnBrk="1" hangingPunct="1">
                  <a:spcBef>
                    <a:spcPct val="20000"/>
                  </a:spcBef>
                  <a:buClr>
                    <a:schemeClr val="bg2"/>
                  </a:buClr>
                  <a:buSzPct val="75000"/>
                  <a:buFont typeface="Wingdings" panose="05000000000000000000" pitchFamily="2" charset="2"/>
                  <a:buNone/>
                </a:pPr>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15</a:t>
            </a:fld>
            <a:endParaRPr lang="zh-CN" altLang="en-US"/>
          </a:p>
        </p:txBody>
      </p:sp>
    </p:spTree>
    <p:extLst>
      <p:ext uri="{BB962C8B-B14F-4D97-AF65-F5344CB8AC3E}">
        <p14:creationId xmlns:p14="http://schemas.microsoft.com/office/powerpoint/2010/main" val="3340958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30000"/>
              </a:spcBef>
              <a:buFontTx/>
              <a:buNone/>
            </a:pPr>
            <a:r>
              <a:rPr lang="zh-CN" altLang="en-US" sz="1200" b="1" dirty="0">
                <a:solidFill>
                  <a:srgbClr val="FF3300"/>
                </a:solidFill>
              </a:rPr>
              <a:t>定理7.3</a:t>
            </a:r>
            <a:r>
              <a:rPr lang="zh-CN" altLang="en-US" sz="1200" b="1" dirty="0">
                <a:solidFill>
                  <a:srgbClr val="FF0066"/>
                </a:solidFill>
              </a:rPr>
              <a:t>  </a:t>
            </a:r>
            <a:r>
              <a:rPr lang="zh-CN" altLang="en-US" sz="1200" b="1" dirty="0"/>
              <a:t>任何无向连通图都有生成树.</a:t>
            </a:r>
          </a:p>
          <a:p>
            <a:pPr algn="just" eaLnBrk="1" hangingPunct="1">
              <a:spcBef>
                <a:spcPct val="30000"/>
              </a:spcBef>
              <a:buFontTx/>
              <a:buNone/>
            </a:pPr>
            <a:r>
              <a:rPr lang="zh-CN" altLang="en-US" sz="1200" b="1" dirty="0">
                <a:solidFill>
                  <a:srgbClr val="00B0F0"/>
                </a:solidFill>
                <a:latin typeface="Times New Roman" panose="02020603050405020304" pitchFamily="18" charset="0"/>
                <a:cs typeface="Times New Roman" panose="02020603050405020304" pitchFamily="18" charset="0"/>
              </a:rPr>
              <a:t>证：</a:t>
            </a:r>
            <a:r>
              <a:rPr lang="zh-CN" altLang="en-US" sz="1200" b="1" dirty="0">
                <a:latin typeface="Times New Roman" panose="02020603050405020304" pitchFamily="18" charset="0"/>
                <a:cs typeface="Times New Roman" panose="02020603050405020304" pitchFamily="18" charset="0"/>
              </a:rPr>
              <a:t>用破圈法. 若图中无圈, 则图本身就是自己的生成树. </a:t>
            </a:r>
          </a:p>
          <a:p>
            <a:pPr algn="just" eaLnBrk="1" hangingPunct="1">
              <a:spcBef>
                <a:spcPct val="30000"/>
              </a:spcBef>
              <a:buFontTx/>
              <a:buNone/>
            </a:pPr>
            <a:r>
              <a:rPr lang="zh-CN" altLang="en-US" sz="1200" b="1" dirty="0">
                <a:latin typeface="Times New Roman" panose="02020603050405020304" pitchFamily="18" charset="0"/>
                <a:cs typeface="Times New Roman" panose="02020603050405020304" pitchFamily="18" charset="0"/>
              </a:rPr>
              <a:t>否则删去圈上的任一条边, 不破坏连通性, 重复进行直到</a:t>
            </a:r>
          </a:p>
          <a:p>
            <a:pPr algn="just" eaLnBrk="1" hangingPunct="1">
              <a:spcBef>
                <a:spcPct val="30000"/>
              </a:spcBef>
              <a:buFontTx/>
              <a:buNone/>
            </a:pPr>
            <a:r>
              <a:rPr lang="zh-CN" altLang="en-US" sz="1200" b="1" dirty="0">
                <a:latin typeface="Times New Roman" panose="02020603050405020304" pitchFamily="18" charset="0"/>
                <a:cs typeface="Times New Roman" panose="02020603050405020304" pitchFamily="18" charset="0"/>
              </a:rPr>
              <a:t>无圈为止, 得到图的一棵生成树.</a:t>
            </a:r>
          </a:p>
          <a:p>
            <a:pPr algn="just" eaLnBrk="1" hangingPunct="1">
              <a:spcBef>
                <a:spcPct val="30000"/>
              </a:spcBef>
              <a:buFontTx/>
              <a:buNone/>
            </a:pPr>
            <a:endParaRPr lang="zh-CN" altLang="en-US" sz="1200" b="1" dirty="0">
              <a:latin typeface="Times New Roman" panose="02020603050405020304" pitchFamily="18" charset="0"/>
              <a:cs typeface="Times New Roman" panose="02020603050405020304" pitchFamily="18" charset="0"/>
            </a:endParaRPr>
          </a:p>
          <a:p>
            <a:pPr algn="just" eaLnBrk="1" hangingPunct="1">
              <a:spcBef>
                <a:spcPct val="30000"/>
              </a:spcBef>
              <a:buFontTx/>
              <a:buNone/>
            </a:pPr>
            <a:r>
              <a:rPr lang="zh-CN" altLang="en-US" sz="1200" b="1" dirty="0">
                <a:solidFill>
                  <a:srgbClr val="FF3300"/>
                </a:solidFill>
                <a:latin typeface="Times New Roman" panose="02020603050405020304" pitchFamily="18" charset="0"/>
                <a:cs typeface="Times New Roman" panose="02020603050405020304" pitchFamily="18" charset="0"/>
              </a:rPr>
              <a:t>推论1</a:t>
            </a:r>
            <a:r>
              <a:rPr lang="zh-CN" altLang="en-US" sz="1200" b="1" dirty="0">
                <a:solidFill>
                  <a:srgbClr val="FF0066"/>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阶无向连通图有</a:t>
            </a:r>
            <a:r>
              <a:rPr lang="en-US" altLang="zh-CN" sz="1200" b="1" i="1" dirty="0">
                <a:latin typeface="Times New Roman" panose="02020603050405020304" pitchFamily="18" charset="0"/>
                <a:cs typeface="Times New Roman" panose="02020603050405020304" pitchFamily="18" charset="0"/>
              </a:rPr>
              <a:t>m</a:t>
            </a:r>
            <a:r>
              <a:rPr lang="zh-CN" altLang="en-US" sz="1200" b="1" dirty="0">
                <a:latin typeface="Times New Roman" panose="02020603050405020304" pitchFamily="18" charset="0"/>
                <a:cs typeface="Times New Roman" panose="02020603050405020304" pitchFamily="18" charset="0"/>
              </a:rPr>
              <a:t>条边, 则</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p>
          <a:p>
            <a:pPr algn="just" eaLnBrk="1" hangingPunct="1">
              <a:spcBef>
                <a:spcPct val="30000"/>
              </a:spcBef>
              <a:buFontTx/>
              <a:buNone/>
            </a:pPr>
            <a:r>
              <a:rPr lang="zh-CN" altLang="en-US" sz="1200" b="1" dirty="0">
                <a:solidFill>
                  <a:srgbClr val="FF3300"/>
                </a:solidFill>
                <a:latin typeface="Times New Roman" panose="02020603050405020304" pitchFamily="18" charset="0"/>
                <a:cs typeface="Times New Roman" panose="02020603050405020304" pitchFamily="18" charset="0"/>
              </a:rPr>
              <a:t>推论2</a:t>
            </a:r>
            <a:r>
              <a:rPr lang="zh-CN" altLang="en-US" sz="1200" b="1" dirty="0">
                <a:solidFill>
                  <a:srgbClr val="FF0066"/>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阶无向连通图有</a:t>
            </a:r>
            <a:r>
              <a:rPr lang="en-US" altLang="zh-CN" sz="1200" b="1" i="1" dirty="0">
                <a:latin typeface="Times New Roman" panose="02020603050405020304" pitchFamily="18" charset="0"/>
                <a:cs typeface="Times New Roman" panose="02020603050405020304" pitchFamily="18" charset="0"/>
              </a:rPr>
              <a:t>m</a:t>
            </a:r>
            <a:r>
              <a:rPr lang="zh-CN" altLang="en-US" sz="1200" b="1" dirty="0">
                <a:latin typeface="Times New Roman" panose="02020603050405020304" pitchFamily="18" charset="0"/>
                <a:cs typeface="Times New Roman" panose="02020603050405020304" pitchFamily="18" charset="0"/>
              </a:rPr>
              <a:t>条边, 则它的生成树的余树</a:t>
            </a:r>
          </a:p>
          <a:p>
            <a:pPr algn="just" eaLnBrk="1" hangingPunct="1">
              <a:spcBef>
                <a:spcPct val="30000"/>
              </a:spcBef>
              <a:buFontTx/>
              <a:buNone/>
            </a:pPr>
            <a:r>
              <a:rPr lang="zh-CN" altLang="en-US" sz="1200" b="1" dirty="0">
                <a:latin typeface="Times New Roman" panose="02020603050405020304" pitchFamily="18" charset="0"/>
                <a:cs typeface="Times New Roman" panose="02020603050405020304" pitchFamily="18" charset="0"/>
              </a:rPr>
              <a:t>有</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条边.</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16</a:t>
            </a:fld>
            <a:endParaRPr lang="zh-CN" altLang="en-US"/>
          </a:p>
        </p:txBody>
      </p:sp>
    </p:spTree>
    <p:extLst>
      <p:ext uri="{BB962C8B-B14F-4D97-AF65-F5344CB8AC3E}">
        <p14:creationId xmlns:p14="http://schemas.microsoft.com/office/powerpoint/2010/main" val="3769493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生成树主要用于确保连通性和简化复杂性，而最小生成树主要用于在保持连通性的前提下，寻求成本最低的解决方案。</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综上所述，最小生成树在生成树的基础上增加了对总边权重最小化的考虑，它在网络设计和优化问题中具有重要的应用价值。</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的每一条边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附加一个实数</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称作边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3300"/>
                </a:solidFill>
                <a:latin typeface="Times New Roman" panose="02020603050405020304" pitchFamily="18" charset="0"/>
                <a:cs typeface="Times New Roman" panose="02020603050405020304" pitchFamily="18" charset="0"/>
              </a:rPr>
              <a:t>权</a:t>
            </a:r>
            <a:r>
              <a:rPr lang="zh-CN" altLang="en-US" sz="1200" b="1" dirty="0">
                <a:latin typeface="Times New Roman" panose="02020603050405020304" pitchFamily="18" charset="0"/>
                <a:cs typeface="Times New Roman" panose="02020603050405020304" pitchFamily="18" charset="0"/>
              </a:rPr>
              <a:t>. 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连</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同附加在边上的权称作</a:t>
            </a:r>
            <a:r>
              <a:rPr lang="zh-CN" altLang="en-US" sz="1200" b="1" dirty="0">
                <a:solidFill>
                  <a:srgbClr val="FF3300"/>
                </a:solidFill>
                <a:latin typeface="Times New Roman" panose="02020603050405020304" pitchFamily="18" charset="0"/>
                <a:cs typeface="Times New Roman" panose="02020603050405020304" pitchFamily="18" charset="0"/>
              </a:rPr>
              <a:t>带权图</a:t>
            </a:r>
            <a:r>
              <a:rPr lang="zh-CN" altLang="en-US" sz="1200" b="1" dirty="0">
                <a:latin typeface="Times New Roman" panose="02020603050405020304" pitchFamily="18" charset="0"/>
                <a:cs typeface="Times New Roman" panose="02020603050405020304" pitchFamily="18" charset="0"/>
              </a:rPr>
              <a:t>, 记作</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&gt;.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的子图,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所有边的权的和称作</a:t>
            </a:r>
            <a:r>
              <a:rPr lang="en-US" altLang="zh-CN" sz="12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的权</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记作</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W</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algn="just" eaLnBrk="1" hangingPunct="1">
              <a:lnSpc>
                <a:spcPct val="9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最小生成树</a:t>
            </a:r>
            <a:r>
              <a:rPr lang="zh-CN" altLang="en-US" sz="1200" b="1" dirty="0">
                <a:latin typeface="Times New Roman" panose="02020603050405020304" pitchFamily="18" charset="0"/>
                <a:cs typeface="Times New Roman" panose="02020603050405020304" pitchFamily="18" charset="0"/>
              </a:rPr>
              <a:t>: 带权图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的所有生成树中权最小的生成树</a:t>
            </a:r>
            <a:endParaRPr lang="en-US" altLang="zh-CN" sz="1200" b="1" dirty="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defRPr/>
            </a:pPr>
            <a:r>
              <a:rPr lang="zh-CN" altLang="en-US" sz="1200" b="1" dirty="0">
                <a:solidFill>
                  <a:srgbClr val="FF0000"/>
                </a:solidFill>
                <a:latin typeface="Times New Roman" pitchFamily="18" charset="0"/>
                <a:cs typeface="Times New Roman" pitchFamily="18" charset="0"/>
              </a:rPr>
              <a:t>避圈法 </a:t>
            </a:r>
            <a:r>
              <a:rPr lang="en-US" altLang="zh-CN" sz="1200" b="1" dirty="0">
                <a:solidFill>
                  <a:srgbClr val="FF0000"/>
                </a:solidFill>
                <a:latin typeface="Times New Roman" pitchFamily="18" charset="0"/>
                <a:cs typeface="Times New Roman" pitchFamily="18" charset="0"/>
              </a:rPr>
              <a:t>(Kruskal)</a:t>
            </a:r>
            <a:r>
              <a:rPr lang="en-US" altLang="zh-CN" sz="1200" b="1" dirty="0">
                <a:latin typeface="Times New Roman" pitchFamily="18" charset="0"/>
                <a:cs typeface="Times New Roman" pitchFamily="18" charset="0"/>
              </a:rPr>
              <a:t> ——</a:t>
            </a:r>
            <a:r>
              <a:rPr lang="zh-CN" altLang="en-US" sz="1200" b="1" dirty="0">
                <a:latin typeface="Times New Roman" pitchFamily="18" charset="0"/>
                <a:cs typeface="Times New Roman" pitchFamily="18" charset="0"/>
              </a:rPr>
              <a:t>求最小生成树的算法</a:t>
            </a:r>
            <a:endParaRPr lang="en-US" altLang="zh-CN" sz="1200" b="1" dirty="0">
              <a:solidFill>
                <a:srgbClr val="FF0000"/>
              </a:solidFill>
              <a:latin typeface="Times New Roman" pitchFamily="18" charset="0"/>
              <a:cs typeface="Times New Roman" pitchFamily="18" charset="0"/>
            </a:endParaRPr>
          </a:p>
          <a:p>
            <a:pPr>
              <a:buFont typeface="Wingdings" panose="05000000000000000000" pitchFamily="2" charset="2"/>
              <a:buNone/>
              <a:defRPr/>
            </a:pPr>
            <a:r>
              <a:rPr lang="zh-CN" altLang="en-US"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G</a:t>
            </a:r>
            <a:r>
              <a:rPr lang="zh-CN" altLang="en-US" sz="1200" b="1" dirty="0">
                <a:latin typeface="Times New Roman" pitchFamily="18" charset="0"/>
                <a:cs typeface="Times New Roman" pitchFamily="18" charset="0"/>
              </a:rPr>
              <a:t>是</a:t>
            </a:r>
            <a:r>
              <a:rPr lang="en-US" altLang="zh-CN" sz="1200" b="1" i="1" dirty="0">
                <a:latin typeface="Times New Roman" pitchFamily="18" charset="0"/>
                <a:cs typeface="Times New Roman" pitchFamily="18" charset="0"/>
              </a:rPr>
              <a:t>n</a:t>
            </a:r>
            <a:r>
              <a:rPr lang="zh-CN" altLang="zh-CN" sz="1200" b="1" dirty="0">
                <a:latin typeface="Times New Roman" pitchFamily="18" charset="0"/>
                <a:cs typeface="Times New Roman" pitchFamily="18" charset="0"/>
              </a:rPr>
              <a:t>阶无向连通带权图</a:t>
            </a:r>
            <a:r>
              <a:rPr lang="en-US" altLang="zh-CN" sz="1200" b="1" i="1" dirty="0">
                <a:latin typeface="Times New Roman" pitchFamily="18" charset="0"/>
                <a:cs typeface="Times New Roman" pitchFamily="18" charset="0"/>
              </a:rPr>
              <a:t>G</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按权从小到大排列边</a:t>
            </a:r>
            <a:r>
              <a:rPr lang="en-US" altLang="zh-CN" sz="1200" b="1" dirty="0">
                <a:latin typeface="Times New Roman" pitchFamily="18" charset="0"/>
                <a:cs typeface="Times New Roman" pitchFamily="18" charset="0"/>
              </a:rPr>
              <a:t>(</a:t>
            </a:r>
            <a:r>
              <a:rPr lang="zh-CN" altLang="en-US" sz="1200" b="1" dirty="0">
                <a:latin typeface="Times New Roman" pitchFamily="18" charset="0"/>
                <a:cs typeface="Times New Roman" pitchFamily="18" charset="0"/>
              </a:rPr>
              <a:t>环除外</a:t>
            </a:r>
            <a:r>
              <a:rPr lang="en-US" altLang="zh-CN" sz="1200" b="1" dirty="0">
                <a:latin typeface="Times New Roman" pitchFamily="18" charset="0"/>
                <a:cs typeface="Times New Roman" pitchFamily="18" charset="0"/>
              </a:rPr>
              <a:t>), </a:t>
            </a:r>
            <a:r>
              <a:rPr lang="zh-CN" altLang="zh-CN"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1</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2</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m</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(2) </a:t>
            </a:r>
            <a:r>
              <a:rPr lang="zh-CN" altLang="zh-CN" sz="1200" b="1" dirty="0">
                <a:latin typeface="Times New Roman" pitchFamily="18" charset="0"/>
                <a:cs typeface="Times New Roman" pitchFamily="18" charset="0"/>
              </a:rPr>
              <a:t>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1,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0.</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(3) </a:t>
            </a:r>
            <a:r>
              <a:rPr lang="zh-CN" altLang="zh-CN" sz="1200" b="1" dirty="0">
                <a:latin typeface="Times New Roman" pitchFamily="18" charset="0"/>
                <a:cs typeface="Times New Roman" pitchFamily="18" charset="0"/>
              </a:rPr>
              <a:t>若</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zh-CN" altLang="zh-CN" sz="1200" b="1" dirty="0">
                <a:latin typeface="Times New Roman" pitchFamily="18" charset="0"/>
                <a:cs typeface="Times New Roman" pitchFamily="18" charset="0"/>
              </a:rPr>
              <a:t>与</a:t>
            </a:r>
            <a:r>
              <a:rPr lang="en-US" altLang="zh-CN" sz="1200" b="1" i="1" dirty="0">
                <a:latin typeface="Times New Roman" pitchFamily="18" charset="0"/>
                <a:cs typeface="Times New Roman" pitchFamily="18" charset="0"/>
              </a:rPr>
              <a:t>T</a:t>
            </a:r>
            <a:r>
              <a:rPr lang="zh-CN" altLang="zh-CN" sz="1200" b="1" dirty="0">
                <a:latin typeface="Times New Roman" pitchFamily="18" charset="0"/>
                <a:cs typeface="Times New Roman" pitchFamily="18" charset="0"/>
              </a:rPr>
              <a:t>中的边不构成回路，则令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+1.  </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(4) </a:t>
            </a:r>
            <a:r>
              <a:rPr lang="zh-CN" altLang="zh-CN" sz="1200" b="1" dirty="0">
                <a:latin typeface="Times New Roman" pitchFamily="18" charset="0"/>
                <a:cs typeface="Times New Roman" pitchFamily="18" charset="0"/>
              </a:rPr>
              <a:t>若</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&lt;</a:t>
            </a:r>
            <a:r>
              <a:rPr lang="en-US" altLang="zh-CN" sz="1200" b="1" i="1" dirty="0">
                <a:latin typeface="Times New Roman" pitchFamily="18" charset="0"/>
                <a:cs typeface="Times New Roman" pitchFamily="18" charset="0"/>
              </a:rPr>
              <a:t>n</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则令</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转</a:t>
            </a:r>
            <a:r>
              <a:rPr lang="en-US" altLang="zh-CN" sz="1200" b="1" dirty="0">
                <a:latin typeface="Times New Roman" pitchFamily="18" charset="0"/>
                <a:cs typeface="Times New Roman" pitchFamily="18" charset="0"/>
              </a:rPr>
              <a:t>(3).</a:t>
            </a:r>
            <a:endParaRPr lang="en-US" altLang="zh-CN" sz="1200" b="1" dirty="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17</a:t>
            </a:fld>
            <a:endParaRPr lang="zh-CN" altLang="en-US"/>
          </a:p>
        </p:txBody>
      </p:sp>
    </p:spTree>
    <p:extLst>
      <p:ext uri="{BB962C8B-B14F-4D97-AF65-F5344CB8AC3E}">
        <p14:creationId xmlns:p14="http://schemas.microsoft.com/office/powerpoint/2010/main" val="9569231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生成树主要用于确保连通性和简化复杂性，而最小生成树主要用于在保持连通性的前提下，寻求成本最低的解决方案。</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综上所述，最小生成树在生成树的基础上增加了对总边权重最小化的考虑，它在网络设计和优化问题中具有重要的应用价值。</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l"/>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0"/>
              </a:spcBef>
              <a:spcAft>
                <a:spcPts val="0"/>
              </a:spcAft>
              <a:buClrTx/>
              <a:buSzTx/>
              <a:buFontTx/>
              <a:buNone/>
              <a:tabLst/>
              <a:defRPr/>
            </a:pPr>
            <a:r>
              <a:rPr lang="zh-CN" altLang="en-US" sz="2800" b="1" dirty="0"/>
              <a:t>🔹 </a:t>
            </a:r>
            <a:r>
              <a:rPr lang="en-US" altLang="zh-CN" sz="2800" b="1" dirty="0"/>
              <a:t>Space complexity p</a:t>
            </a:r>
            <a:r>
              <a:rPr lang="zh-CN" altLang="en-US" sz="2800" b="1" dirty="0"/>
              <a:t>？</a:t>
            </a:r>
            <a:endParaRPr lang="en-US" altLang="zh-CN" sz="2800" b="1" dirty="0"/>
          </a:p>
          <a:p>
            <a:pPr indent="266700" algn="l"/>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的每一条边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附加一个实数</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i="1" dirty="0">
                <a:latin typeface="Times New Roman" panose="02020603050405020304" pitchFamily="18" charset="0"/>
                <a:cs typeface="Times New Roman" panose="02020603050405020304" pitchFamily="18" charset="0"/>
              </a:rPr>
              <a:t>称</a:t>
            </a:r>
            <a:r>
              <a:rPr lang="zh-CN" altLang="en-US" sz="1200" b="1" dirty="0">
                <a:latin typeface="Times New Roman" panose="02020603050405020304" pitchFamily="18" charset="0"/>
                <a:cs typeface="Times New Roman" panose="02020603050405020304" pitchFamily="18" charset="0"/>
              </a:rPr>
              <a:t>作边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3300"/>
                </a:solidFill>
                <a:latin typeface="Times New Roman" panose="02020603050405020304" pitchFamily="18" charset="0"/>
                <a:cs typeface="Times New Roman" panose="02020603050405020304" pitchFamily="18" charset="0"/>
              </a:rPr>
              <a:t>权</a:t>
            </a:r>
            <a:r>
              <a:rPr lang="zh-CN" altLang="en-US" sz="1200" b="1" dirty="0">
                <a:latin typeface="Times New Roman" panose="02020603050405020304" pitchFamily="18" charset="0"/>
                <a:cs typeface="Times New Roman" panose="02020603050405020304" pitchFamily="18" charset="0"/>
              </a:rPr>
              <a:t>. 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连</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同附加在边上的权称作</a:t>
            </a:r>
            <a:r>
              <a:rPr lang="zh-CN" altLang="en-US" sz="1200" b="1" dirty="0">
                <a:solidFill>
                  <a:srgbClr val="FF3300"/>
                </a:solidFill>
                <a:latin typeface="Times New Roman" panose="02020603050405020304" pitchFamily="18" charset="0"/>
                <a:cs typeface="Times New Roman" panose="02020603050405020304" pitchFamily="18" charset="0"/>
              </a:rPr>
              <a:t>带权图</a:t>
            </a:r>
            <a:r>
              <a:rPr lang="zh-CN" altLang="en-US" sz="1200" b="1" dirty="0">
                <a:latin typeface="Times New Roman" panose="02020603050405020304" pitchFamily="18" charset="0"/>
                <a:cs typeface="Times New Roman" panose="02020603050405020304" pitchFamily="18" charset="0"/>
              </a:rPr>
              <a:t>, 记作</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&gt;.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的子图,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所有边的权的和称作</a:t>
            </a:r>
            <a:r>
              <a:rPr lang="en-US" altLang="zh-CN" sz="12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的权</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记作</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W</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algn="just" eaLnBrk="1" hangingPunct="1">
              <a:lnSpc>
                <a:spcPct val="9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最小生成树</a:t>
            </a:r>
            <a:r>
              <a:rPr lang="zh-CN" altLang="en-US" sz="1200" b="1" dirty="0">
                <a:latin typeface="Times New Roman" panose="02020603050405020304" pitchFamily="18" charset="0"/>
                <a:cs typeface="Times New Roman" panose="02020603050405020304" pitchFamily="18" charset="0"/>
              </a:rPr>
              <a:t>: 带权图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的所有生成树中权最小的生成树</a:t>
            </a:r>
            <a:endParaRPr lang="en-US" altLang="zh-CN" sz="1200" b="1" dirty="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defRPr/>
            </a:pPr>
            <a:r>
              <a:rPr lang="zh-CN" altLang="en-US" sz="1200" b="1" dirty="0">
                <a:solidFill>
                  <a:srgbClr val="FF0000"/>
                </a:solidFill>
                <a:latin typeface="Times New Roman" pitchFamily="18" charset="0"/>
                <a:cs typeface="Times New Roman" pitchFamily="18" charset="0"/>
              </a:rPr>
              <a:t>避圈法 </a:t>
            </a:r>
            <a:r>
              <a:rPr lang="en-US" altLang="zh-CN" sz="1200" b="1" dirty="0">
                <a:solidFill>
                  <a:srgbClr val="FF0000"/>
                </a:solidFill>
                <a:latin typeface="Times New Roman" pitchFamily="18" charset="0"/>
                <a:cs typeface="Times New Roman" pitchFamily="18" charset="0"/>
              </a:rPr>
              <a:t>(Kruskal)</a:t>
            </a:r>
            <a:r>
              <a:rPr lang="en-US" altLang="zh-CN" sz="1200" b="1" dirty="0">
                <a:latin typeface="Times New Roman" pitchFamily="18" charset="0"/>
                <a:cs typeface="Times New Roman" pitchFamily="18" charset="0"/>
              </a:rPr>
              <a:t> ——</a:t>
            </a:r>
            <a:r>
              <a:rPr lang="zh-CN" altLang="en-US" sz="1200" b="1" dirty="0">
                <a:latin typeface="Times New Roman" pitchFamily="18" charset="0"/>
                <a:cs typeface="Times New Roman" pitchFamily="18" charset="0"/>
              </a:rPr>
              <a:t>求最小生成树的算法</a:t>
            </a:r>
            <a:endParaRPr lang="en-US" altLang="zh-CN" sz="1200" b="1" dirty="0">
              <a:solidFill>
                <a:srgbClr val="FF0000"/>
              </a:solidFill>
              <a:latin typeface="Times New Roman" pitchFamily="18" charset="0"/>
              <a:cs typeface="Times New Roman" pitchFamily="18" charset="0"/>
            </a:endParaRPr>
          </a:p>
          <a:p>
            <a:pPr>
              <a:buFont typeface="Wingdings" panose="05000000000000000000" pitchFamily="2" charset="2"/>
              <a:buNone/>
              <a:defRPr/>
            </a:pPr>
            <a:r>
              <a:rPr lang="zh-CN" altLang="en-US"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G</a:t>
            </a:r>
            <a:r>
              <a:rPr lang="zh-CN" altLang="en-US" sz="1200" b="1" dirty="0">
                <a:latin typeface="Times New Roman" pitchFamily="18" charset="0"/>
                <a:cs typeface="Times New Roman" pitchFamily="18" charset="0"/>
              </a:rPr>
              <a:t>是</a:t>
            </a:r>
            <a:r>
              <a:rPr lang="en-US" altLang="zh-CN" sz="1200" b="1" i="1" dirty="0">
                <a:latin typeface="Times New Roman" pitchFamily="18" charset="0"/>
                <a:cs typeface="Times New Roman" pitchFamily="18" charset="0"/>
              </a:rPr>
              <a:t>n</a:t>
            </a:r>
            <a:r>
              <a:rPr lang="zh-CN" altLang="zh-CN" sz="1200" b="1" dirty="0">
                <a:latin typeface="Times New Roman" pitchFamily="18" charset="0"/>
                <a:cs typeface="Times New Roman" pitchFamily="18" charset="0"/>
              </a:rPr>
              <a:t>阶无向连通带权图</a:t>
            </a:r>
            <a:r>
              <a:rPr lang="en-US" altLang="zh-CN" sz="1200" b="1" i="1" dirty="0">
                <a:latin typeface="Times New Roman" pitchFamily="18" charset="0"/>
                <a:cs typeface="Times New Roman" pitchFamily="18" charset="0"/>
              </a:rPr>
              <a:t>G</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按权从小到大排列边</a:t>
            </a:r>
            <a:r>
              <a:rPr lang="en-US" altLang="zh-CN" sz="1200" b="1" dirty="0">
                <a:latin typeface="Times New Roman" pitchFamily="18" charset="0"/>
                <a:cs typeface="Times New Roman" pitchFamily="18" charset="0"/>
              </a:rPr>
              <a:t>(</a:t>
            </a:r>
            <a:r>
              <a:rPr lang="zh-CN" altLang="en-US" sz="1200" b="1" dirty="0">
                <a:latin typeface="Times New Roman" pitchFamily="18" charset="0"/>
                <a:cs typeface="Times New Roman" pitchFamily="18" charset="0"/>
              </a:rPr>
              <a:t>环除外</a:t>
            </a:r>
            <a:r>
              <a:rPr lang="en-US" altLang="zh-CN" sz="1200" b="1" dirty="0">
                <a:latin typeface="Times New Roman" pitchFamily="18" charset="0"/>
                <a:cs typeface="Times New Roman" pitchFamily="18" charset="0"/>
              </a:rPr>
              <a:t>), </a:t>
            </a:r>
            <a:r>
              <a:rPr lang="zh-CN" altLang="zh-CN"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1</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2</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m</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(2) </a:t>
            </a:r>
            <a:r>
              <a:rPr lang="zh-CN" altLang="zh-CN" sz="1200" b="1" dirty="0">
                <a:latin typeface="Times New Roman" pitchFamily="18" charset="0"/>
                <a:cs typeface="Times New Roman" pitchFamily="18" charset="0"/>
              </a:rPr>
              <a:t>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1,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0.</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(3) </a:t>
            </a:r>
            <a:r>
              <a:rPr lang="zh-CN" altLang="zh-CN" sz="1200" b="1" dirty="0">
                <a:latin typeface="Times New Roman" pitchFamily="18" charset="0"/>
                <a:cs typeface="Times New Roman" pitchFamily="18" charset="0"/>
              </a:rPr>
              <a:t>若</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zh-CN" altLang="zh-CN" sz="1200" b="1" dirty="0">
                <a:latin typeface="Times New Roman" pitchFamily="18" charset="0"/>
                <a:cs typeface="Times New Roman" pitchFamily="18" charset="0"/>
              </a:rPr>
              <a:t>与</a:t>
            </a:r>
            <a:r>
              <a:rPr lang="en-US" altLang="zh-CN" sz="1200" b="1" i="1" dirty="0">
                <a:latin typeface="Times New Roman" pitchFamily="18" charset="0"/>
                <a:cs typeface="Times New Roman" pitchFamily="18" charset="0"/>
              </a:rPr>
              <a:t>T</a:t>
            </a:r>
            <a:r>
              <a:rPr lang="zh-CN" altLang="zh-CN" sz="1200" b="1" dirty="0">
                <a:latin typeface="Times New Roman" pitchFamily="18" charset="0"/>
                <a:cs typeface="Times New Roman" pitchFamily="18" charset="0"/>
              </a:rPr>
              <a:t>中的边不构成回路，则令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+1.  </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(4) </a:t>
            </a:r>
            <a:r>
              <a:rPr lang="zh-CN" altLang="zh-CN" sz="1200" b="1" dirty="0">
                <a:latin typeface="Times New Roman" pitchFamily="18" charset="0"/>
                <a:cs typeface="Times New Roman" pitchFamily="18" charset="0"/>
              </a:rPr>
              <a:t>若</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&lt;</a:t>
            </a:r>
            <a:r>
              <a:rPr lang="en-US" altLang="zh-CN" sz="1200" b="1" i="1" dirty="0">
                <a:latin typeface="Times New Roman" pitchFamily="18" charset="0"/>
                <a:cs typeface="Times New Roman" pitchFamily="18" charset="0"/>
              </a:rPr>
              <a:t>n</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则令</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转</a:t>
            </a:r>
            <a:r>
              <a:rPr lang="en-US" altLang="zh-CN" sz="1200" b="1" dirty="0">
                <a:latin typeface="Times New Roman" pitchFamily="18" charset="0"/>
                <a:cs typeface="Times New Roman" pitchFamily="18" charset="0"/>
              </a:rPr>
              <a:t>(3).</a:t>
            </a:r>
            <a:endParaRPr lang="en-US" altLang="zh-CN" sz="1200" b="1" dirty="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18</a:t>
            </a:fld>
            <a:endParaRPr lang="zh-CN" altLang="en-US"/>
          </a:p>
        </p:txBody>
      </p:sp>
    </p:spTree>
    <p:extLst>
      <p:ext uri="{BB962C8B-B14F-4D97-AF65-F5344CB8AC3E}">
        <p14:creationId xmlns:p14="http://schemas.microsoft.com/office/powerpoint/2010/main" val="2420889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生成树主要用于确保连通性和简化复杂性，而最小生成树主要用于在保持连通性的前提下，寻求成本最低的解决方案。</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综上所述，最小生成树在生成树的基础上增加了对总边权重最小化的考虑，它在网络设计和优化问题中具有重要的应用价值。</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的每一条边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附加一个实数</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称作边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3300"/>
                </a:solidFill>
                <a:latin typeface="Times New Roman" panose="02020603050405020304" pitchFamily="18" charset="0"/>
                <a:cs typeface="Times New Roman" panose="02020603050405020304" pitchFamily="18" charset="0"/>
              </a:rPr>
              <a:t>权</a:t>
            </a:r>
            <a:r>
              <a:rPr lang="zh-CN" altLang="en-US" sz="1200" b="1" dirty="0">
                <a:latin typeface="Times New Roman" panose="02020603050405020304" pitchFamily="18" charset="0"/>
                <a:cs typeface="Times New Roman" panose="02020603050405020304" pitchFamily="18" charset="0"/>
              </a:rPr>
              <a:t>. 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连</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同附加在边上的权称作</a:t>
            </a:r>
            <a:r>
              <a:rPr lang="zh-CN" altLang="en-US" sz="1200" b="1" dirty="0">
                <a:solidFill>
                  <a:srgbClr val="FF3300"/>
                </a:solidFill>
                <a:latin typeface="Times New Roman" panose="02020603050405020304" pitchFamily="18" charset="0"/>
                <a:cs typeface="Times New Roman" panose="02020603050405020304" pitchFamily="18" charset="0"/>
              </a:rPr>
              <a:t>带权图</a:t>
            </a:r>
            <a:r>
              <a:rPr lang="zh-CN" altLang="en-US" sz="1200" b="1" dirty="0">
                <a:latin typeface="Times New Roman" panose="02020603050405020304" pitchFamily="18" charset="0"/>
                <a:cs typeface="Times New Roman" panose="02020603050405020304" pitchFamily="18" charset="0"/>
              </a:rPr>
              <a:t>, 记作</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&gt;.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的子图,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所有边的权的和称作</a:t>
            </a:r>
            <a:r>
              <a:rPr lang="en-US" altLang="zh-CN" sz="12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的权</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记作</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W</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algn="just" eaLnBrk="1" hangingPunct="1">
              <a:lnSpc>
                <a:spcPct val="9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最小生成树</a:t>
            </a:r>
            <a:r>
              <a:rPr lang="zh-CN" altLang="en-US" sz="1200" b="1" dirty="0">
                <a:latin typeface="Times New Roman" panose="02020603050405020304" pitchFamily="18" charset="0"/>
                <a:cs typeface="Times New Roman" panose="02020603050405020304" pitchFamily="18" charset="0"/>
              </a:rPr>
              <a:t>: 带权图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的所有生成树中权最小的生成树</a:t>
            </a:r>
            <a:endParaRPr lang="en-US" altLang="zh-CN" sz="1200" b="1" dirty="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defRPr/>
            </a:pPr>
            <a:r>
              <a:rPr lang="zh-CN" altLang="en-US" sz="1200" b="1" dirty="0">
                <a:solidFill>
                  <a:srgbClr val="FF0000"/>
                </a:solidFill>
                <a:latin typeface="Times New Roman" pitchFamily="18" charset="0"/>
                <a:cs typeface="Times New Roman" pitchFamily="18" charset="0"/>
              </a:rPr>
              <a:t>避圈法 </a:t>
            </a:r>
            <a:r>
              <a:rPr lang="en-US" altLang="zh-CN" sz="1200" b="1" dirty="0">
                <a:solidFill>
                  <a:srgbClr val="FF0000"/>
                </a:solidFill>
                <a:latin typeface="Times New Roman" pitchFamily="18" charset="0"/>
                <a:cs typeface="Times New Roman" pitchFamily="18" charset="0"/>
              </a:rPr>
              <a:t>(Kruskal)</a:t>
            </a:r>
            <a:r>
              <a:rPr lang="en-US" altLang="zh-CN" sz="1200" b="1" dirty="0">
                <a:latin typeface="Times New Roman" pitchFamily="18" charset="0"/>
                <a:cs typeface="Times New Roman" pitchFamily="18" charset="0"/>
              </a:rPr>
              <a:t> ——</a:t>
            </a:r>
            <a:r>
              <a:rPr lang="zh-CN" altLang="en-US" sz="1200" b="1" dirty="0">
                <a:latin typeface="Times New Roman" pitchFamily="18" charset="0"/>
                <a:cs typeface="Times New Roman" pitchFamily="18" charset="0"/>
              </a:rPr>
              <a:t>求最小生成树的算法</a:t>
            </a:r>
            <a:endParaRPr lang="en-US" altLang="zh-CN" sz="1200" b="1" dirty="0">
              <a:solidFill>
                <a:srgbClr val="FF0000"/>
              </a:solidFill>
              <a:latin typeface="Times New Roman" pitchFamily="18" charset="0"/>
              <a:cs typeface="Times New Roman" pitchFamily="18" charset="0"/>
            </a:endParaRPr>
          </a:p>
          <a:p>
            <a:pPr>
              <a:buFont typeface="Wingdings" panose="05000000000000000000" pitchFamily="2" charset="2"/>
              <a:buNone/>
              <a:defRPr/>
            </a:pPr>
            <a:r>
              <a:rPr lang="zh-CN" altLang="en-US"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G</a:t>
            </a:r>
            <a:r>
              <a:rPr lang="zh-CN" altLang="en-US" sz="1200" b="1" dirty="0">
                <a:latin typeface="Times New Roman" pitchFamily="18" charset="0"/>
                <a:cs typeface="Times New Roman" pitchFamily="18" charset="0"/>
              </a:rPr>
              <a:t>是</a:t>
            </a:r>
            <a:r>
              <a:rPr lang="en-US" altLang="zh-CN" sz="1200" b="1" i="1" dirty="0">
                <a:latin typeface="Times New Roman" pitchFamily="18" charset="0"/>
                <a:cs typeface="Times New Roman" pitchFamily="18" charset="0"/>
              </a:rPr>
              <a:t>n</a:t>
            </a:r>
            <a:r>
              <a:rPr lang="zh-CN" altLang="zh-CN" sz="1200" b="1" dirty="0">
                <a:latin typeface="Times New Roman" pitchFamily="18" charset="0"/>
                <a:cs typeface="Times New Roman" pitchFamily="18" charset="0"/>
              </a:rPr>
              <a:t>阶无向连通带权图</a:t>
            </a:r>
            <a:r>
              <a:rPr lang="en-US" altLang="zh-CN" sz="1200" b="1" i="1" dirty="0">
                <a:latin typeface="Times New Roman" pitchFamily="18" charset="0"/>
                <a:cs typeface="Times New Roman" pitchFamily="18" charset="0"/>
              </a:rPr>
              <a:t>G</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按权从小到大排列边</a:t>
            </a:r>
            <a:r>
              <a:rPr lang="en-US" altLang="zh-CN" sz="1200" b="1" dirty="0">
                <a:latin typeface="Times New Roman" pitchFamily="18" charset="0"/>
                <a:cs typeface="Times New Roman" pitchFamily="18" charset="0"/>
              </a:rPr>
              <a:t>(</a:t>
            </a:r>
            <a:r>
              <a:rPr lang="zh-CN" altLang="en-US" sz="1200" b="1" dirty="0">
                <a:latin typeface="Times New Roman" pitchFamily="18" charset="0"/>
                <a:cs typeface="Times New Roman" pitchFamily="18" charset="0"/>
              </a:rPr>
              <a:t>环除外</a:t>
            </a:r>
            <a:r>
              <a:rPr lang="en-US" altLang="zh-CN" sz="1200" b="1" dirty="0">
                <a:latin typeface="Times New Roman" pitchFamily="18" charset="0"/>
                <a:cs typeface="Times New Roman" pitchFamily="18" charset="0"/>
              </a:rPr>
              <a:t>), </a:t>
            </a:r>
            <a:r>
              <a:rPr lang="zh-CN" altLang="zh-CN"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1</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2</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m</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(2) </a:t>
            </a:r>
            <a:r>
              <a:rPr lang="zh-CN" altLang="zh-CN" sz="1200" b="1" dirty="0">
                <a:latin typeface="Times New Roman" pitchFamily="18" charset="0"/>
                <a:cs typeface="Times New Roman" pitchFamily="18" charset="0"/>
              </a:rPr>
              <a:t>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1,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0.</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(3) </a:t>
            </a:r>
            <a:r>
              <a:rPr lang="zh-CN" altLang="zh-CN" sz="1200" b="1" dirty="0">
                <a:latin typeface="Times New Roman" pitchFamily="18" charset="0"/>
                <a:cs typeface="Times New Roman" pitchFamily="18" charset="0"/>
              </a:rPr>
              <a:t>若</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zh-CN" altLang="zh-CN" sz="1200" b="1" dirty="0">
                <a:latin typeface="Times New Roman" pitchFamily="18" charset="0"/>
                <a:cs typeface="Times New Roman" pitchFamily="18" charset="0"/>
              </a:rPr>
              <a:t>与</a:t>
            </a:r>
            <a:r>
              <a:rPr lang="en-US" altLang="zh-CN" sz="1200" b="1" i="1" dirty="0">
                <a:latin typeface="Times New Roman" pitchFamily="18" charset="0"/>
                <a:cs typeface="Times New Roman" pitchFamily="18" charset="0"/>
              </a:rPr>
              <a:t>T</a:t>
            </a:r>
            <a:r>
              <a:rPr lang="zh-CN" altLang="zh-CN" sz="1200" b="1" dirty="0">
                <a:latin typeface="Times New Roman" pitchFamily="18" charset="0"/>
                <a:cs typeface="Times New Roman" pitchFamily="18" charset="0"/>
              </a:rPr>
              <a:t>中的边不构成回路，则令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+1.  </a:t>
            </a:r>
            <a:endParaRPr lang="zh-CN" altLang="zh-CN" sz="1200" b="1" dirty="0">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200" b="1" dirty="0">
                <a:latin typeface="Times New Roman" pitchFamily="18" charset="0"/>
                <a:cs typeface="Times New Roman" pitchFamily="18" charset="0"/>
              </a:rPr>
              <a:t>(4) </a:t>
            </a:r>
            <a:r>
              <a:rPr lang="zh-CN" altLang="zh-CN" sz="1200" b="1" dirty="0">
                <a:latin typeface="Times New Roman" pitchFamily="18" charset="0"/>
                <a:cs typeface="Times New Roman" pitchFamily="18" charset="0"/>
              </a:rPr>
              <a:t>若</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&lt;</a:t>
            </a:r>
            <a:r>
              <a:rPr lang="en-US" altLang="zh-CN" sz="1200" b="1" i="1" dirty="0">
                <a:latin typeface="Times New Roman" pitchFamily="18" charset="0"/>
                <a:cs typeface="Times New Roman" pitchFamily="18" charset="0"/>
              </a:rPr>
              <a:t>n</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则令</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转</a:t>
            </a:r>
            <a:r>
              <a:rPr lang="en-US" altLang="zh-CN" sz="1200" b="1" dirty="0">
                <a:latin typeface="Times New Roman" pitchFamily="18" charset="0"/>
                <a:cs typeface="Times New Roman" pitchFamily="18" charset="0"/>
              </a:rPr>
              <a:t>(3). </a:t>
            </a:r>
            <a:r>
              <a:rPr lang="en-US" altLang="zh-CN" sz="1200" b="1" dirty="0"/>
              <a:t>Space complexity p</a:t>
            </a:r>
            <a:r>
              <a:rPr lang="zh-CN" altLang="en-US" sz="1200" b="1" dirty="0"/>
              <a:t>？</a:t>
            </a:r>
            <a:endParaRPr lang="en-US" altLang="zh-CN" sz="1200" b="1" dirty="0"/>
          </a:p>
          <a:p>
            <a:pPr>
              <a:buFont typeface="Wingdings" panose="05000000000000000000" pitchFamily="2" charset="2"/>
              <a:buNone/>
              <a:defRPr/>
            </a:pPr>
            <a:endParaRPr lang="en-US" altLang="zh-CN" sz="1200" b="1" dirty="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19</a:t>
            </a:fld>
            <a:endParaRPr lang="zh-CN" altLang="en-US"/>
          </a:p>
        </p:txBody>
      </p:sp>
    </p:spTree>
    <p:extLst>
      <p:ext uri="{BB962C8B-B14F-4D97-AF65-F5344CB8AC3E}">
        <p14:creationId xmlns:p14="http://schemas.microsoft.com/office/powerpoint/2010/main" val="1415546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例：通信企业有如下图所示的光纤网络覆盖需求，建筑物之间可以铺设光缆的线路及长度</a:t>
            </a:r>
            <a:r>
              <a:rPr lang="en-US" altLang="zh-CN" dirty="0"/>
              <a:t>(</a:t>
            </a:r>
            <a:r>
              <a:rPr lang="zh-CN" altLang="en-US" dirty="0"/>
              <a:t>单位</a:t>
            </a:r>
            <a:r>
              <a:rPr lang="en-US" altLang="zh-CN" dirty="0"/>
              <a:t>:</a:t>
            </a:r>
            <a:r>
              <a:rPr lang="zh-CN" altLang="en-US" dirty="0"/>
              <a:t>米</a:t>
            </a:r>
            <a:r>
              <a:rPr lang="en-US" altLang="zh-CN" dirty="0"/>
              <a:t>)</a:t>
            </a:r>
            <a:r>
              <a:rPr lang="zh-CN" altLang="en-US" dirty="0"/>
              <a:t>如图所示</a:t>
            </a:r>
            <a:r>
              <a:rPr lang="en-US" altLang="zh-CN" dirty="0"/>
              <a:t>. </a:t>
            </a:r>
            <a:r>
              <a:rPr lang="zh-CN" altLang="en-US" dirty="0"/>
              <a:t>问</a:t>
            </a:r>
            <a:r>
              <a:rPr lang="en-US" altLang="zh-CN" dirty="0"/>
              <a:t>:</a:t>
            </a:r>
            <a:r>
              <a:rPr lang="zh-CN" altLang="en-US" dirty="0"/>
              <a:t>在确保网络全覆盖的条件下， 如何确定光缆铺设路线才能使光缆的总长度最短</a:t>
            </a:r>
            <a:r>
              <a:rPr lang="en-US" altLang="zh-CN" dirty="0"/>
              <a:t>?</a:t>
            </a:r>
          </a:p>
          <a:p>
            <a:endParaRPr lang="en-US" altLang="zh-CN" dirty="0"/>
          </a:p>
          <a:p>
            <a:r>
              <a:rPr lang="en-US" altLang="zh-CN" dirty="0"/>
              <a:t>The </a:t>
            </a:r>
            <a:r>
              <a:rPr lang="en-US" altLang="zh-CN" b="1" dirty="0"/>
              <a:t>time complexity of Kruskal’s algorithm</a:t>
            </a:r>
            <a:r>
              <a:rPr lang="en-US" altLang="zh-CN" dirty="0"/>
              <a:t> depends on two main steps:</a:t>
            </a:r>
          </a:p>
          <a:p>
            <a:r>
              <a:rPr lang="zh-CN" altLang="en-US" b="1" dirty="0"/>
              <a:t>🔹 </a:t>
            </a:r>
            <a:r>
              <a:rPr lang="en-US" altLang="zh-CN" b="1" dirty="0"/>
              <a:t>Step 1: Sorting the edges</a:t>
            </a:r>
          </a:p>
          <a:p>
            <a:pPr>
              <a:buFont typeface="Arial" panose="020B0604020202020204" pitchFamily="34" charset="0"/>
              <a:buChar char="•"/>
            </a:pPr>
            <a:r>
              <a:rPr lang="en-US" altLang="zh-CN" dirty="0"/>
              <a:t>If the graph has EEE edges and VVV vertices, the algorithm sorts all edges by weight.</a:t>
            </a:r>
          </a:p>
          <a:p>
            <a:pPr>
              <a:buFont typeface="Arial" panose="020B0604020202020204" pitchFamily="34" charset="0"/>
              <a:buChar char="•"/>
            </a:pPr>
            <a:r>
              <a:rPr lang="en-US" altLang="zh-CN" dirty="0"/>
              <a:t>Sorting cost = O(</a:t>
            </a:r>
            <a:r>
              <a:rPr lang="en-US" altLang="zh-CN" dirty="0" err="1"/>
              <a:t>Elog⁡E</a:t>
            </a:r>
            <a:r>
              <a:rPr lang="en-US" altLang="zh-CN" dirty="0"/>
              <a:t>)O(E \log E)O(</a:t>
            </a:r>
            <a:r>
              <a:rPr lang="en-US" altLang="zh-CN" dirty="0" err="1"/>
              <a:t>ElogE</a:t>
            </a:r>
            <a:r>
              <a:rPr lang="en-US" altLang="zh-CN" dirty="0"/>
              <a:t>).</a:t>
            </a:r>
          </a:p>
          <a:p>
            <a:pPr>
              <a:buFont typeface="Arial" panose="020B0604020202020204" pitchFamily="34" charset="0"/>
              <a:buChar char="•"/>
            </a:pPr>
            <a:r>
              <a:rPr lang="en-US" altLang="zh-CN" dirty="0"/>
              <a:t>Since E≤V2E \</a:t>
            </a:r>
            <a:r>
              <a:rPr lang="en-US" altLang="zh-CN" dirty="0" err="1"/>
              <a:t>leq</a:t>
            </a:r>
            <a:r>
              <a:rPr lang="en-US" altLang="zh-CN" dirty="0"/>
              <a:t> V^2E≤V2, </a:t>
            </a:r>
            <a:r>
              <a:rPr lang="en-US" altLang="zh-CN" dirty="0" err="1"/>
              <a:t>log⁡E</a:t>
            </a:r>
            <a:r>
              <a:rPr lang="en-US" altLang="zh-CN" dirty="0"/>
              <a:t>=O(log⁡V2)=O(</a:t>
            </a:r>
            <a:r>
              <a:rPr lang="en-US" altLang="zh-CN" dirty="0" err="1"/>
              <a:t>log⁡V</a:t>
            </a:r>
            <a:r>
              <a:rPr lang="en-US" altLang="zh-CN" dirty="0"/>
              <a:t>)\log E = O(\log V^2) = O(\log V)</a:t>
            </a:r>
            <a:r>
              <a:rPr lang="en-US" altLang="zh-CN" dirty="0" err="1"/>
              <a:t>logE</a:t>
            </a:r>
            <a:r>
              <a:rPr lang="en-US" altLang="zh-CN" dirty="0"/>
              <a:t>=O(logV2)=O(</a:t>
            </a:r>
            <a:r>
              <a:rPr lang="en-US" altLang="zh-CN" dirty="0" err="1"/>
              <a:t>logV</a:t>
            </a:r>
            <a:r>
              <a:rPr lang="en-US" altLang="zh-CN" dirty="0"/>
              <a:t>).</a:t>
            </a:r>
          </a:p>
          <a:p>
            <a:pPr>
              <a:buFont typeface="Arial" panose="020B0604020202020204" pitchFamily="34" charset="0"/>
              <a:buChar char="•"/>
            </a:pPr>
            <a:r>
              <a:rPr lang="en-US" altLang="zh-CN" dirty="0"/>
              <a:t>So this step is O(</a:t>
            </a:r>
            <a:r>
              <a:rPr lang="en-US" altLang="zh-CN" dirty="0" err="1"/>
              <a:t>Elog⁡V</a:t>
            </a:r>
            <a:r>
              <a:rPr lang="en-US" altLang="zh-CN" dirty="0"/>
              <a:t>)O(E \log V)O(</a:t>
            </a:r>
            <a:r>
              <a:rPr lang="en-US" altLang="zh-CN" dirty="0" err="1"/>
              <a:t>ElogV</a:t>
            </a:r>
            <a:r>
              <a:rPr lang="en-US" altLang="zh-CN" dirty="0"/>
              <a:t>).</a:t>
            </a:r>
          </a:p>
          <a:p>
            <a:r>
              <a:rPr lang="zh-CN" altLang="en-US" b="1" dirty="0"/>
              <a:t>🔹 </a:t>
            </a:r>
            <a:r>
              <a:rPr lang="en-US" altLang="zh-CN" b="1" dirty="0"/>
              <a:t>Step 2: Union-Find (Disjoint Set operations)</a:t>
            </a:r>
          </a:p>
          <a:p>
            <a:pPr>
              <a:buFont typeface="Arial" panose="020B0604020202020204" pitchFamily="34" charset="0"/>
              <a:buChar char="•"/>
            </a:pPr>
            <a:r>
              <a:rPr lang="en-US" altLang="zh-CN" dirty="0"/>
              <a:t>Kruskal uses Union-Find (DSU) to check whether adding an edge creates a cycle.</a:t>
            </a:r>
          </a:p>
          <a:p>
            <a:pPr>
              <a:buFont typeface="Arial" panose="020B0604020202020204" pitchFamily="34" charset="0"/>
              <a:buChar char="•"/>
            </a:pPr>
            <a:r>
              <a:rPr lang="en-US" altLang="zh-CN" dirty="0"/>
              <a:t>Each find or union operation takes almost constant time using </a:t>
            </a:r>
            <a:r>
              <a:rPr lang="en-US" altLang="zh-CN" b="1" dirty="0"/>
              <a:t>union by rank + path compression</a:t>
            </a:r>
            <a:r>
              <a:rPr lang="en-US" altLang="zh-CN" dirty="0"/>
              <a:t>: O(</a:t>
            </a:r>
            <a:r>
              <a:rPr lang="el-GR" altLang="zh-CN" dirty="0"/>
              <a:t>α(</a:t>
            </a:r>
            <a:r>
              <a:rPr lang="en-US" altLang="zh-CN" dirty="0"/>
              <a:t>V))O(\alpha(V))O(</a:t>
            </a:r>
            <a:r>
              <a:rPr lang="el-GR" altLang="zh-CN" dirty="0"/>
              <a:t>α(</a:t>
            </a:r>
            <a:r>
              <a:rPr lang="en-US" altLang="zh-CN" dirty="0"/>
              <a:t>V)), where </a:t>
            </a:r>
            <a:r>
              <a:rPr lang="el-GR" altLang="zh-CN" dirty="0"/>
              <a:t>α\</a:t>
            </a:r>
            <a:r>
              <a:rPr lang="en-US" altLang="zh-CN" dirty="0"/>
              <a:t>alpha</a:t>
            </a:r>
            <a:r>
              <a:rPr lang="el-GR" altLang="zh-CN" dirty="0"/>
              <a:t>α </a:t>
            </a:r>
            <a:r>
              <a:rPr lang="en-US" altLang="zh-CN" dirty="0"/>
              <a:t>is the inverse Ackermann function (so small it’s practically ≤ 4 in all real cases).</a:t>
            </a:r>
          </a:p>
          <a:p>
            <a:pPr>
              <a:buFont typeface="Arial" panose="020B0604020202020204" pitchFamily="34" charset="0"/>
              <a:buChar char="•"/>
            </a:pPr>
            <a:r>
              <a:rPr lang="en-US" altLang="zh-CN" dirty="0"/>
              <a:t>Over all EEE edges, this is O(E </a:t>
            </a:r>
            <a:r>
              <a:rPr lang="el-GR" altLang="zh-CN" dirty="0"/>
              <a:t>α(</a:t>
            </a:r>
            <a:r>
              <a:rPr lang="en-US" altLang="zh-CN" dirty="0"/>
              <a:t>V))≈O(E)O(E \, \alpha(V)) \</a:t>
            </a:r>
            <a:r>
              <a:rPr lang="en-US" altLang="zh-CN" dirty="0" err="1"/>
              <a:t>approx</a:t>
            </a:r>
            <a:r>
              <a:rPr lang="en-US" altLang="zh-CN" dirty="0"/>
              <a:t> O(E)O(E</a:t>
            </a:r>
            <a:r>
              <a:rPr lang="el-GR" altLang="zh-CN" dirty="0"/>
              <a:t>α(</a:t>
            </a:r>
            <a:r>
              <a:rPr lang="en-US" altLang="zh-CN" dirty="0"/>
              <a:t>V))≈O(E).</a:t>
            </a:r>
          </a:p>
          <a:p>
            <a:r>
              <a:rPr lang="zh-CN" altLang="en-US" b="1" dirty="0"/>
              <a:t>✅ </a:t>
            </a:r>
            <a:r>
              <a:rPr lang="en-US" altLang="zh-CN" b="1" dirty="0"/>
              <a:t>Total complexity</a:t>
            </a:r>
          </a:p>
          <a:p>
            <a:r>
              <a:rPr lang="en-US" altLang="zh-CN" dirty="0"/>
              <a:t>O(</a:t>
            </a:r>
            <a:r>
              <a:rPr lang="en-US" altLang="zh-CN" dirty="0" err="1"/>
              <a:t>Elog⁡V</a:t>
            </a:r>
            <a:r>
              <a:rPr lang="en-US" altLang="zh-CN" dirty="0"/>
              <a:t>)+O(E </a:t>
            </a:r>
            <a:r>
              <a:rPr lang="el-GR" altLang="zh-CN" dirty="0"/>
              <a:t>α(</a:t>
            </a:r>
            <a:r>
              <a:rPr lang="en-US" altLang="zh-CN" dirty="0"/>
              <a:t>V))≈O(</a:t>
            </a:r>
            <a:r>
              <a:rPr lang="en-US" altLang="zh-CN" dirty="0" err="1"/>
              <a:t>Elog⁡V</a:t>
            </a:r>
            <a:r>
              <a:rPr lang="en-US" altLang="zh-CN" dirty="0"/>
              <a:t>)O(E \log V) + O(E \, \alpha(V)) \</a:t>
            </a:r>
            <a:r>
              <a:rPr lang="en-US" altLang="zh-CN" dirty="0" err="1"/>
              <a:t>approx</a:t>
            </a:r>
            <a:r>
              <a:rPr lang="en-US" altLang="zh-CN" dirty="0"/>
              <a:t> O(E \log V)O(</a:t>
            </a:r>
            <a:r>
              <a:rPr lang="en-US" altLang="zh-CN" dirty="0" err="1"/>
              <a:t>ElogV</a:t>
            </a:r>
            <a:r>
              <a:rPr lang="en-US" altLang="zh-CN" dirty="0"/>
              <a:t>)+O(E</a:t>
            </a:r>
            <a:r>
              <a:rPr lang="el-GR" altLang="zh-CN" dirty="0"/>
              <a:t>α(</a:t>
            </a:r>
            <a:r>
              <a:rPr lang="en-US" altLang="zh-CN" dirty="0"/>
              <a:t>V))≈O(</a:t>
            </a:r>
            <a:r>
              <a:rPr lang="en-US" altLang="zh-CN" dirty="0" err="1"/>
              <a:t>ElogV</a:t>
            </a:r>
            <a:r>
              <a:rPr lang="en-US" altLang="zh-CN" dirty="0"/>
              <a:t>) </a:t>
            </a:r>
            <a:r>
              <a:rPr lang="zh-CN" altLang="en-US" b="1" dirty="0"/>
              <a:t>🔹 </a:t>
            </a:r>
            <a:r>
              <a:rPr lang="en-US" altLang="zh-CN" b="1" dirty="0"/>
              <a:t>Space complexity</a:t>
            </a:r>
          </a:p>
          <a:p>
            <a:pPr>
              <a:buFont typeface="Arial" panose="020B0604020202020204" pitchFamily="34" charset="0"/>
              <a:buChar char="•"/>
            </a:pPr>
            <a:r>
              <a:rPr lang="en-US" altLang="zh-CN" dirty="0"/>
              <a:t>Storing all edges: O(E)O(E)O(E)</a:t>
            </a:r>
          </a:p>
          <a:p>
            <a:pPr>
              <a:buFont typeface="Arial" panose="020B0604020202020204" pitchFamily="34" charset="0"/>
              <a:buChar char="•"/>
            </a:pPr>
            <a:r>
              <a:rPr lang="en-US" altLang="zh-CN" dirty="0"/>
              <a:t>Union-Find parent and rank arrays: O(V)O(V)O(V)</a:t>
            </a:r>
          </a:p>
          <a:p>
            <a:pPr>
              <a:buFont typeface="Arial" panose="020B0604020202020204" pitchFamily="34" charset="0"/>
              <a:buChar char="•"/>
            </a:pPr>
            <a:r>
              <a:rPr lang="en-US" altLang="zh-CN" dirty="0"/>
              <a:t>Total: O(V+E)O(V + E)O(V+E).</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20</a:t>
            </a:fld>
            <a:endParaRPr lang="zh-CN" altLang="en-US"/>
          </a:p>
        </p:txBody>
      </p:sp>
    </p:spTree>
    <p:extLst>
      <p:ext uri="{BB962C8B-B14F-4D97-AF65-F5344CB8AC3E}">
        <p14:creationId xmlns:p14="http://schemas.microsoft.com/office/powerpoint/2010/main" val="1816513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21</a:t>
            </a:fld>
            <a:endParaRPr lang="zh-CN" altLang="en-US"/>
          </a:p>
        </p:txBody>
      </p:sp>
    </p:spTree>
    <p:extLst>
      <p:ext uri="{BB962C8B-B14F-4D97-AF65-F5344CB8AC3E}">
        <p14:creationId xmlns:p14="http://schemas.microsoft.com/office/powerpoint/2010/main" val="5763761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22</a:t>
            </a:fld>
            <a:endParaRPr lang="zh-CN" altLang="en-US"/>
          </a:p>
        </p:txBody>
      </p:sp>
    </p:spTree>
    <p:extLst>
      <p:ext uri="{BB962C8B-B14F-4D97-AF65-F5344CB8AC3E}">
        <p14:creationId xmlns:p14="http://schemas.microsoft.com/office/powerpoint/2010/main" val="2629397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23</a:t>
            </a:fld>
            <a:endParaRPr lang="zh-CN" altLang="en-US"/>
          </a:p>
        </p:txBody>
      </p:sp>
    </p:spTree>
    <p:extLst>
      <p:ext uri="{BB962C8B-B14F-4D97-AF65-F5344CB8AC3E}">
        <p14:creationId xmlns:p14="http://schemas.microsoft.com/office/powerpoint/2010/main" val="13179213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7.2.1 </a:t>
            </a:r>
            <a:r>
              <a:rPr lang="zh-CN" altLang="en-US" dirty="0"/>
              <a:t>根树及其分类</a:t>
            </a:r>
          </a:p>
          <a:p>
            <a:r>
              <a:rPr lang="en-US" altLang="zh-CN" dirty="0"/>
              <a:t>7.2.2 </a:t>
            </a:r>
            <a:r>
              <a:rPr lang="zh-CN" altLang="en-US" dirty="0"/>
              <a:t>最优树与哈夫曼算法</a:t>
            </a:r>
          </a:p>
          <a:p>
            <a:r>
              <a:rPr lang="en-US" altLang="zh-CN" dirty="0"/>
              <a:t>7.2.3 </a:t>
            </a:r>
            <a:r>
              <a:rPr lang="zh-CN" altLang="en-US" dirty="0"/>
              <a:t>最佳前缀码</a:t>
            </a:r>
          </a:p>
          <a:p>
            <a:r>
              <a:rPr lang="en-US" altLang="zh-CN" dirty="0"/>
              <a:t>7.2.4 </a:t>
            </a:r>
            <a:r>
              <a:rPr lang="zh-CN" altLang="en-US" dirty="0"/>
              <a:t>根树的行遍及其应用</a:t>
            </a:r>
          </a:p>
          <a:p>
            <a:pPr marL="1884363" lvl="1" indent="277813" eaLnBrk="1" hangingPunct="1"/>
            <a:r>
              <a:rPr lang="zh-CN" altLang="en-US" b="1" dirty="0"/>
              <a:t>中序行遍法、前序行遍法和后序行遍法</a:t>
            </a:r>
          </a:p>
          <a:p>
            <a:pPr marL="1884363" lvl="1" indent="277813" eaLnBrk="1" hangingPunct="1"/>
            <a:r>
              <a:rPr lang="zh-CN" altLang="en-US" b="1" dirty="0"/>
              <a:t>波兰符号法与逆波兰符号法</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24</a:t>
            </a:fld>
            <a:endParaRPr lang="zh-CN" altLang="en-US"/>
          </a:p>
        </p:txBody>
      </p:sp>
    </p:spTree>
    <p:extLst>
      <p:ext uri="{BB962C8B-B14F-4D97-AF65-F5344CB8AC3E}">
        <p14:creationId xmlns:p14="http://schemas.microsoft.com/office/powerpoint/2010/main" val="947957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30000"/>
              </a:lnSpc>
              <a:spcBef>
                <a:spcPct val="25000"/>
              </a:spcBef>
              <a:buFontTx/>
              <a:buNone/>
            </a:pPr>
            <a:r>
              <a:rPr lang="zh-CN" altLang="en-US" sz="1200" b="1" dirty="0">
                <a:solidFill>
                  <a:srgbClr val="FF0000"/>
                </a:solidFill>
              </a:rPr>
              <a:t>有向树</a:t>
            </a:r>
            <a:r>
              <a:rPr lang="zh-CN" altLang="en-US" sz="1200" b="1" dirty="0"/>
              <a:t>: 略去方向后为无向树的有向图</a:t>
            </a:r>
          </a:p>
          <a:p>
            <a:pPr algn="just" eaLnBrk="1" hangingPunct="1">
              <a:lnSpc>
                <a:spcPct val="130000"/>
              </a:lnSpc>
              <a:spcBef>
                <a:spcPct val="25000"/>
              </a:spcBef>
              <a:buFontTx/>
              <a:buNone/>
            </a:pPr>
            <a:r>
              <a:rPr lang="zh-CN" altLang="en-US" sz="1200" b="1" dirty="0">
                <a:solidFill>
                  <a:srgbClr val="FF0000"/>
                </a:solidFill>
              </a:rPr>
              <a:t>根树</a:t>
            </a:r>
            <a:r>
              <a:rPr lang="zh-CN" altLang="en-US" sz="1200" b="1" dirty="0"/>
              <a:t>: 有一个顶点入度为0, 其余的入度均为1的非平凡的有向树</a:t>
            </a:r>
          </a:p>
          <a:p>
            <a:pPr algn="just" eaLnBrk="1" hangingPunct="1">
              <a:lnSpc>
                <a:spcPct val="130000"/>
              </a:lnSpc>
              <a:spcBef>
                <a:spcPct val="25000"/>
              </a:spcBef>
              <a:buFontTx/>
              <a:buNone/>
            </a:pPr>
            <a:r>
              <a:rPr lang="zh-CN" altLang="en-US" sz="1200" b="1" dirty="0">
                <a:solidFill>
                  <a:srgbClr val="FF0000"/>
                </a:solidFill>
              </a:rPr>
              <a:t>树根</a:t>
            </a:r>
            <a:r>
              <a:rPr lang="zh-CN" altLang="en-US" sz="1200" b="1" dirty="0"/>
              <a:t>: 有向树中入度为0的顶点</a:t>
            </a:r>
          </a:p>
          <a:p>
            <a:pPr algn="just" eaLnBrk="1" hangingPunct="1">
              <a:lnSpc>
                <a:spcPct val="130000"/>
              </a:lnSpc>
              <a:spcBef>
                <a:spcPct val="25000"/>
              </a:spcBef>
              <a:buFontTx/>
              <a:buNone/>
            </a:pPr>
            <a:r>
              <a:rPr lang="zh-CN" altLang="en-US" sz="1200" b="1" dirty="0">
                <a:solidFill>
                  <a:srgbClr val="FF0000"/>
                </a:solidFill>
              </a:rPr>
              <a:t>树叶</a:t>
            </a:r>
            <a:r>
              <a:rPr lang="zh-CN" altLang="en-US" sz="1200" b="1" dirty="0"/>
              <a:t>: 有向树中入度为1, 出度为0的顶点</a:t>
            </a:r>
          </a:p>
          <a:p>
            <a:pPr algn="just" eaLnBrk="1" hangingPunct="1">
              <a:lnSpc>
                <a:spcPct val="130000"/>
              </a:lnSpc>
              <a:spcBef>
                <a:spcPct val="25000"/>
              </a:spcBef>
              <a:buFontTx/>
              <a:buNone/>
            </a:pPr>
            <a:r>
              <a:rPr lang="zh-CN" altLang="en-US" sz="1200" b="1" dirty="0">
                <a:solidFill>
                  <a:srgbClr val="FF0000"/>
                </a:solidFill>
              </a:rPr>
              <a:t>内点</a:t>
            </a:r>
            <a:r>
              <a:rPr lang="zh-CN" altLang="en-US" sz="1200" b="1" dirty="0"/>
              <a:t>: 有向树中入度为1, 出度大于0的顶点</a:t>
            </a:r>
          </a:p>
          <a:p>
            <a:pPr algn="just" eaLnBrk="1" hangingPunct="1">
              <a:lnSpc>
                <a:spcPct val="130000"/>
              </a:lnSpc>
              <a:spcBef>
                <a:spcPct val="25000"/>
              </a:spcBef>
              <a:buFontTx/>
              <a:buNone/>
            </a:pPr>
            <a:r>
              <a:rPr lang="zh-CN" altLang="en-US" sz="1200" b="1" dirty="0">
                <a:solidFill>
                  <a:srgbClr val="FF0000"/>
                </a:solidFill>
              </a:rPr>
              <a:t>分支点</a:t>
            </a:r>
            <a:r>
              <a:rPr lang="zh-CN" altLang="en-US" sz="1200" b="1" dirty="0"/>
              <a:t>: 树根与内点的总称</a:t>
            </a:r>
          </a:p>
          <a:p>
            <a:pPr algn="just" eaLnBrk="1" hangingPunct="1">
              <a:lnSpc>
                <a:spcPct val="130000"/>
              </a:lnSpc>
              <a:spcBef>
                <a:spcPct val="25000"/>
              </a:spcBef>
              <a:buFontTx/>
              <a:buNone/>
            </a:pPr>
            <a:r>
              <a:rPr lang="zh-CN" altLang="en-US" sz="1200" b="1" dirty="0">
                <a:solidFill>
                  <a:srgbClr val="FF0000"/>
                </a:solidFill>
              </a:rPr>
              <a:t>顶点</a:t>
            </a:r>
            <a:r>
              <a:rPr lang="en-US" altLang="zh-CN" sz="1200" b="1" i="1" dirty="0">
                <a:solidFill>
                  <a:srgbClr val="FF0000"/>
                </a:solidFill>
              </a:rPr>
              <a:t>v</a:t>
            </a:r>
            <a:r>
              <a:rPr lang="zh-CN" altLang="en-US" sz="1200" b="1" dirty="0">
                <a:solidFill>
                  <a:srgbClr val="FF0000"/>
                </a:solidFill>
              </a:rPr>
              <a:t>的层数</a:t>
            </a:r>
            <a:r>
              <a:rPr lang="zh-CN" altLang="en-US" sz="1200" b="1" dirty="0"/>
              <a:t>: 从树根到</a:t>
            </a:r>
            <a:r>
              <a:rPr lang="en-US" altLang="zh-CN" sz="1200" b="1" i="1" dirty="0"/>
              <a:t>v</a:t>
            </a:r>
            <a:r>
              <a:rPr lang="zh-CN" altLang="en-US" sz="1200" b="1" dirty="0"/>
              <a:t>的通路长度</a:t>
            </a:r>
          </a:p>
          <a:p>
            <a:pPr algn="just" eaLnBrk="1" hangingPunct="1">
              <a:lnSpc>
                <a:spcPct val="130000"/>
              </a:lnSpc>
              <a:spcBef>
                <a:spcPct val="25000"/>
              </a:spcBef>
              <a:buFontTx/>
              <a:buNone/>
            </a:pPr>
            <a:r>
              <a:rPr lang="zh-CN" altLang="en-US" sz="1200" b="1" dirty="0">
                <a:solidFill>
                  <a:srgbClr val="FF0000"/>
                </a:solidFill>
              </a:rPr>
              <a:t>树高</a:t>
            </a:r>
            <a:r>
              <a:rPr lang="zh-CN" altLang="en-US" sz="1200" b="1" dirty="0"/>
              <a:t>: 有向树中顶点的最大层数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25</a:t>
            </a:fld>
            <a:endParaRPr lang="zh-CN" altLang="en-US"/>
          </a:p>
        </p:txBody>
      </p:sp>
    </p:spTree>
    <p:extLst>
      <p:ext uri="{BB962C8B-B14F-4D97-AF65-F5344CB8AC3E}">
        <p14:creationId xmlns:p14="http://schemas.microsoft.com/office/powerpoint/2010/main" val="15588618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Tx/>
              <a:buNone/>
            </a:pPr>
            <a:r>
              <a:rPr lang="zh-CN" altLang="en-US" sz="1200" b="1" dirty="0">
                <a:solidFill>
                  <a:srgbClr val="FF0000"/>
                </a:solidFill>
                <a:latin typeface="宋体" panose="02010600030101010101" pitchFamily="2" charset="-122"/>
              </a:rPr>
              <a:t>根树的画法</a:t>
            </a:r>
            <a:r>
              <a:rPr lang="zh-CN" altLang="en-US" sz="1200" b="1" dirty="0">
                <a:latin typeface="宋体" panose="02010600030101010101" pitchFamily="2" charset="-122"/>
              </a:rPr>
              <a:t>:树根放最上方,省去所有有向边上的箭头</a:t>
            </a:r>
          </a:p>
          <a:p>
            <a:pPr algn="just">
              <a:buFontTx/>
              <a:buNone/>
            </a:pPr>
            <a:r>
              <a:rPr lang="zh-CN" altLang="en-US" sz="1200" b="1" dirty="0">
                <a:solidFill>
                  <a:srgbClr val="00B0F0"/>
                </a:solidFill>
                <a:latin typeface="宋体" panose="02010600030101010101" pitchFamily="2" charset="-122"/>
              </a:rPr>
              <a:t>例：</a:t>
            </a:r>
            <a:r>
              <a:rPr lang="zh-CN" altLang="en-US" sz="1200" b="1" dirty="0">
                <a:latin typeface="宋体" panose="02010600030101010101" pitchFamily="2" charset="-122"/>
              </a:rPr>
              <a:t>右图中</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a</a:t>
            </a:r>
            <a:r>
              <a:rPr lang="zh-CN" altLang="en-US" sz="1200" b="1" dirty="0">
                <a:latin typeface="Times New Roman" panose="02020603050405020304" pitchFamily="18" charset="0"/>
                <a:cs typeface="Times New Roman" panose="02020603050405020304" pitchFamily="18" charset="0"/>
              </a:rPr>
              <a:t>是树根</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b,e,f,h,i</a:t>
            </a:r>
            <a:r>
              <a:rPr lang="zh-CN" altLang="en-US" sz="1200" b="1" dirty="0">
                <a:latin typeface="Times New Roman" panose="02020603050405020304" pitchFamily="18" charset="0"/>
                <a:cs typeface="Times New Roman" panose="02020603050405020304" pitchFamily="18" charset="0"/>
              </a:rPr>
              <a:t>是树叶</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c,d,g</a:t>
            </a:r>
            <a:r>
              <a:rPr lang="zh-CN" altLang="en-US" sz="1200" b="1" dirty="0">
                <a:latin typeface="Times New Roman" panose="02020603050405020304" pitchFamily="18" charset="0"/>
                <a:cs typeface="Times New Roman" panose="02020603050405020304" pitchFamily="18" charset="0"/>
              </a:rPr>
              <a:t>是内点</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a,c,d,g</a:t>
            </a:r>
            <a:r>
              <a:rPr lang="zh-CN" altLang="en-US" sz="1200" b="1" dirty="0">
                <a:latin typeface="Times New Roman" panose="02020603050405020304" pitchFamily="18" charset="0"/>
                <a:cs typeface="Times New Roman" panose="02020603050405020304" pitchFamily="18" charset="0"/>
              </a:rPr>
              <a:t>是分支点</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a</a:t>
            </a:r>
            <a:r>
              <a:rPr lang="zh-CN" altLang="en-US" sz="1200" b="1" dirty="0">
                <a:latin typeface="Times New Roman" panose="02020603050405020304" pitchFamily="18" charset="0"/>
                <a:cs typeface="Times New Roman" panose="02020603050405020304" pitchFamily="18" charset="0"/>
              </a:rPr>
              <a:t>为0层;1层有</a:t>
            </a:r>
            <a:r>
              <a:rPr lang="en-US" altLang="zh-CN" sz="1200" b="1" i="1" dirty="0" err="1">
                <a:latin typeface="Times New Roman" panose="02020603050405020304" pitchFamily="18" charset="0"/>
                <a:cs typeface="Times New Roman" panose="02020603050405020304" pitchFamily="18" charset="0"/>
              </a:rPr>
              <a:t>b,c</a:t>
            </a:r>
            <a:r>
              <a:rPr lang="en-US" altLang="zh-CN" sz="1200" b="1" dirty="0">
                <a:latin typeface="Times New Roman" panose="02020603050405020304" pitchFamily="18" charset="0"/>
                <a:cs typeface="Times New Roman" panose="02020603050405020304" pitchFamily="18" charset="0"/>
              </a:rPr>
              <a:t>; 2</a:t>
            </a:r>
            <a:r>
              <a:rPr lang="zh-CN" altLang="en-US" sz="1200" b="1" dirty="0">
                <a:latin typeface="Times New Roman" panose="02020603050405020304" pitchFamily="18" charset="0"/>
                <a:cs typeface="Times New Roman" panose="02020603050405020304" pitchFamily="18" charset="0"/>
              </a:rPr>
              <a:t>层有</a:t>
            </a:r>
            <a:r>
              <a:rPr lang="en-US" altLang="zh-CN" sz="1200" b="1" i="1" dirty="0" err="1">
                <a:latin typeface="Times New Roman" panose="02020603050405020304" pitchFamily="18" charset="0"/>
                <a:cs typeface="Times New Roman" panose="02020603050405020304" pitchFamily="18" charset="0"/>
              </a:rPr>
              <a:t>d,e,f</a:t>
            </a:r>
            <a:r>
              <a:rPr lang="en-US" altLang="zh-CN" sz="1200" b="1" dirty="0">
                <a:latin typeface="Times New Roman" panose="02020603050405020304" pitchFamily="18" charset="0"/>
                <a:cs typeface="Times New Roman" panose="02020603050405020304" pitchFamily="18" charset="0"/>
              </a:rPr>
              <a:t>;</a:t>
            </a:r>
          </a:p>
          <a:p>
            <a:pPr algn="just">
              <a:buFontTx/>
              <a:buNone/>
            </a:pPr>
            <a:r>
              <a:rPr lang="en-US" altLang="zh-CN" sz="1200" b="1" dirty="0">
                <a:latin typeface="Times New Roman" panose="02020603050405020304" pitchFamily="18" charset="0"/>
                <a:cs typeface="Times New Roman" panose="02020603050405020304" pitchFamily="18" charset="0"/>
              </a:rPr>
              <a:t>    3</a:t>
            </a:r>
            <a:r>
              <a:rPr lang="zh-CN" altLang="en-US" sz="1200" b="1" dirty="0">
                <a:latin typeface="Times New Roman" panose="02020603050405020304" pitchFamily="18" charset="0"/>
                <a:cs typeface="Times New Roman" panose="02020603050405020304" pitchFamily="18" charset="0"/>
              </a:rPr>
              <a:t>层有</a:t>
            </a:r>
            <a:r>
              <a:rPr lang="en-US" altLang="zh-CN" sz="1200" b="1" i="1" dirty="0" err="1">
                <a:latin typeface="Times New Roman" panose="02020603050405020304" pitchFamily="18" charset="0"/>
                <a:cs typeface="Times New Roman" panose="02020603050405020304" pitchFamily="18" charset="0"/>
              </a:rPr>
              <a:t>g,h</a:t>
            </a:r>
            <a:r>
              <a:rPr lang="en-US" altLang="zh-CN" sz="1200" b="1" dirty="0">
                <a:latin typeface="Times New Roman" panose="02020603050405020304" pitchFamily="18" charset="0"/>
                <a:cs typeface="Times New Roman" panose="02020603050405020304" pitchFamily="18" charset="0"/>
              </a:rPr>
              <a:t>; 4</a:t>
            </a:r>
            <a:r>
              <a:rPr lang="zh-CN" altLang="en-US" sz="1200" b="1" dirty="0">
                <a:latin typeface="Times New Roman" panose="02020603050405020304" pitchFamily="18" charset="0"/>
                <a:cs typeface="Times New Roman" panose="02020603050405020304" pitchFamily="18" charset="0"/>
              </a:rPr>
              <a:t>层有</a:t>
            </a:r>
            <a:r>
              <a:rPr lang="en-US" altLang="zh-CN" sz="1200" b="1" i="1" dirty="0" err="1">
                <a:latin typeface="Times New Roman" panose="02020603050405020304" pitchFamily="18" charset="0"/>
                <a:cs typeface="Times New Roman" panose="02020603050405020304" pitchFamily="18" charset="0"/>
              </a:rPr>
              <a:t>i</a:t>
            </a:r>
            <a:r>
              <a:rPr lang="en-US" altLang="zh-CN" sz="1200" b="1" dirty="0">
                <a:latin typeface="Times New Roman" panose="02020603050405020304" pitchFamily="18" charset="0"/>
                <a:cs typeface="Times New Roman" panose="02020603050405020304" pitchFamily="18" charset="0"/>
              </a:rPr>
              <a:t>.</a:t>
            </a:r>
          </a:p>
          <a:p>
            <a:pPr algn="just">
              <a:buFontTx/>
              <a:buNone/>
            </a:pP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树高为4</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26</a:t>
            </a:fld>
            <a:endParaRPr lang="zh-CN" altLang="en-US"/>
          </a:p>
        </p:txBody>
      </p:sp>
    </p:spTree>
    <p:extLst>
      <p:ext uri="{BB962C8B-B14F-4D97-AF65-F5344CB8AC3E}">
        <p14:creationId xmlns:p14="http://schemas.microsoft.com/office/powerpoint/2010/main" val="3120073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家族树和有序树都可以视为根树的特定类型或应用，但它们侧重点不同，家族树关注于血缘关系的表示，而</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有序树关注于节点之间顺序</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的维护。</a:t>
            </a:r>
          </a:p>
          <a:p>
            <a:endParaRPr lang="en-US" altLang="zh-CN" b="0" i="0" dirty="0">
              <a:solidFill>
                <a:srgbClr val="0D0D0D"/>
              </a:solidFill>
              <a:effectLst/>
              <a:latin typeface="Söhne"/>
            </a:endParaRPr>
          </a:p>
          <a:p>
            <a:r>
              <a:rPr lang="zh-CN" altLang="en-US" b="0" i="0" dirty="0">
                <a:solidFill>
                  <a:srgbClr val="0D0D0D"/>
                </a:solidFill>
                <a:effectLst/>
                <a:latin typeface="Söhne"/>
              </a:rPr>
              <a:t>家族树的特点和用途使其成为一种特殊的应用场景下的树结构，而不是计算机科学或图论中的一种</a:t>
            </a:r>
            <a:r>
              <a:rPr lang="en-US" altLang="zh-CN" b="0" i="0" dirty="0">
                <a:solidFill>
                  <a:srgbClr val="0D0D0D"/>
                </a:solidFill>
                <a:effectLst/>
                <a:latin typeface="Söhne"/>
              </a:rPr>
              <a:t>"</a:t>
            </a:r>
            <a:r>
              <a:rPr lang="zh-CN" altLang="en-US" b="0" i="0" dirty="0">
                <a:solidFill>
                  <a:srgbClr val="0D0D0D"/>
                </a:solidFill>
                <a:effectLst/>
                <a:latin typeface="Söhne"/>
              </a:rPr>
              <a:t>正规</a:t>
            </a:r>
            <a:r>
              <a:rPr lang="en-US" altLang="zh-CN" b="0" i="0" dirty="0">
                <a:solidFill>
                  <a:srgbClr val="0D0D0D"/>
                </a:solidFill>
                <a:effectLst/>
                <a:latin typeface="Söhne"/>
              </a:rPr>
              <a:t>"</a:t>
            </a:r>
            <a:r>
              <a:rPr lang="zh-CN" altLang="en-US" b="0" i="0" dirty="0">
                <a:solidFill>
                  <a:srgbClr val="0D0D0D"/>
                </a:solidFill>
                <a:effectLst/>
                <a:latin typeface="Söhne"/>
              </a:rPr>
              <a:t>分类。不过，理解家族树仍然可以帮助我们学习和理解树形结构的通用特性，如节点、边、层次关系等，以及如何利用这些结构来组织和处理复杂的关系数据。</a:t>
            </a:r>
            <a:endParaRPr lang="en-US" altLang="zh-CN" b="0" i="0" dirty="0">
              <a:solidFill>
                <a:srgbClr val="0D0D0D"/>
              </a:solidFill>
              <a:effectLst/>
              <a:latin typeface="Söhne"/>
            </a:endParaRPr>
          </a:p>
          <a:p>
            <a:r>
              <a:rPr lang="zh-CN" altLang="en-US" sz="1200" b="1" dirty="0">
                <a:solidFill>
                  <a:srgbClr val="00B0F0"/>
                </a:solidFill>
                <a:latin typeface="Times New Roman" panose="02020603050405020304" pitchFamily="18" charset="0"/>
                <a:cs typeface="Times New Roman" panose="02020603050405020304" pitchFamily="18" charset="0"/>
              </a:rPr>
              <a:t>注：</a:t>
            </a:r>
            <a:r>
              <a:rPr lang="zh-CN" altLang="en-US" sz="1200" b="1" dirty="0">
                <a:latin typeface="Calibri" panose="020F0502020204030204" pitchFamily="34" charset="0"/>
                <a:cs typeface="Calibri" panose="020F0502020204030204" pitchFamily="34" charset="0"/>
              </a:rPr>
              <a:t>①</a:t>
            </a:r>
            <a:r>
              <a:rPr lang="zh-CN" altLang="zh-CN" sz="1200" b="1" dirty="0">
                <a:effectLst/>
                <a:latin typeface="Times New Roman" panose="02020603050405020304" pitchFamily="18" charset="0"/>
                <a:ea typeface="宋体" panose="02010600030101010101" pitchFamily="2" charset="-122"/>
                <a:cs typeface="Times New Roman" panose="02020603050405020304" pitchFamily="18" charset="0"/>
              </a:rPr>
              <a:t>家族树和有序树可视为根树的特定类型或应用</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latin typeface="Calibri" panose="020F0502020204030204" pitchFamily="34" charset="0"/>
                <a:ea typeface="宋体" panose="02010600030101010101" pitchFamily="2" charset="-122"/>
                <a:cs typeface="Calibri" panose="020F0502020204030204" pitchFamily="34" charset="0"/>
              </a:rPr>
              <a:t>②</a:t>
            </a:r>
            <a:r>
              <a:rPr lang="zh-CN" altLang="zh-CN" sz="1200" b="1" dirty="0">
                <a:latin typeface="Times New Roman" panose="02020603050405020304" pitchFamily="18" charset="0"/>
                <a:ea typeface="宋体" panose="02010600030101010101" pitchFamily="2" charset="-122"/>
                <a:cs typeface="Times New Roman" panose="02020603050405020304" pitchFamily="18" charset="0"/>
              </a:rPr>
              <a:t>家族树关注于血缘关系的表示，有序树关注于节点之间</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次</a:t>
            </a:r>
            <a:r>
              <a:rPr lang="zh-CN" altLang="zh-CN" sz="1200" b="1" dirty="0">
                <a:latin typeface="Times New Roman" panose="02020603050405020304" pitchFamily="18" charset="0"/>
                <a:ea typeface="宋体" panose="02010600030101010101" pitchFamily="2" charset="-122"/>
                <a:cs typeface="Times New Roman" panose="02020603050405020304" pitchFamily="18" charset="0"/>
              </a:rPr>
              <a:t>序的维护</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Calibri" panose="020F0502020204030204" pitchFamily="34" charset="0"/>
                <a:ea typeface="宋体" panose="02010600030101010101" pitchFamily="2" charset="-122"/>
                <a:cs typeface="Calibri" panose="020F0502020204030204" pitchFamily="34" charset="0"/>
              </a:rPr>
              <a:t>③</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家族树和有序树可帮助理解树中节点、边、层次结构，以及利用这些结构来组织和处理复杂的数据关系</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27</a:t>
            </a:fld>
            <a:endParaRPr lang="zh-CN" altLang="en-US"/>
          </a:p>
        </p:txBody>
      </p:sp>
    </p:spTree>
    <p:extLst>
      <p:ext uri="{BB962C8B-B14F-4D97-AF65-F5344CB8AC3E}">
        <p14:creationId xmlns:p14="http://schemas.microsoft.com/office/powerpoint/2010/main" val="12719800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eaLnBrk="1" hangingPunct="1">
              <a:spcBef>
                <a:spcPct val="45000"/>
              </a:spcBef>
              <a:buFontTx/>
              <a:buNone/>
            </a:pPr>
            <a:r>
              <a:rPr lang="zh-CN" altLang="en-US" sz="1200" b="1" dirty="0"/>
              <a:t>根据根树中节点和子节点数、子节点的顺序性、树的规则性以及树的完全性对根树进行了细分</a:t>
            </a:r>
            <a:r>
              <a:rPr lang="en-US" altLang="zh-CN" sz="1200" b="1" dirty="0"/>
              <a:t>.</a:t>
            </a:r>
          </a:p>
          <a:p>
            <a:pPr algn="just"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元树</a:t>
            </a:r>
            <a:r>
              <a:rPr lang="zh-CN" altLang="en-US" sz="1200" b="1" dirty="0"/>
              <a:t>:根树的每个分支点至多有</a:t>
            </a:r>
            <a:r>
              <a:rPr lang="en-US" altLang="zh-CN" sz="1200" b="1" i="1" dirty="0"/>
              <a:t>r</a:t>
            </a:r>
            <a:r>
              <a:rPr lang="zh-CN" altLang="en-US" sz="1200" b="1" dirty="0"/>
              <a:t>个儿子</a:t>
            </a:r>
          </a:p>
          <a:p>
            <a:pPr algn="just"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元正则树</a:t>
            </a:r>
            <a:r>
              <a:rPr lang="zh-CN" altLang="en-US" sz="1200" b="1" dirty="0"/>
              <a:t>: 根树的每个分支点恰有</a:t>
            </a:r>
            <a:r>
              <a:rPr lang="en-US" altLang="zh-CN" sz="1200" b="1" i="1" dirty="0"/>
              <a:t>r</a:t>
            </a:r>
            <a:r>
              <a:rPr lang="zh-CN" altLang="en-US" sz="1200" b="1" dirty="0"/>
              <a:t>个儿子</a:t>
            </a:r>
          </a:p>
          <a:p>
            <a:pPr algn="just"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元完全正则树</a:t>
            </a:r>
            <a:r>
              <a:rPr lang="zh-CN" altLang="en-US" sz="1200" b="1" dirty="0"/>
              <a:t>: 所有树叶层数相同的</a:t>
            </a:r>
            <a:r>
              <a:rPr lang="en-US" altLang="zh-CN" sz="1200" b="1" i="1" dirty="0"/>
              <a:t>r</a:t>
            </a:r>
            <a:r>
              <a:rPr lang="zh-CN" altLang="en-US" sz="1200" b="1" dirty="0"/>
              <a:t>元正则树</a:t>
            </a:r>
          </a:p>
          <a:p>
            <a:pPr algn="just"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元有序树</a:t>
            </a:r>
            <a:r>
              <a:rPr lang="zh-CN" altLang="en-US" sz="1200" b="1" dirty="0"/>
              <a:t>: 有序的</a:t>
            </a:r>
            <a:r>
              <a:rPr lang="en-US" altLang="zh-CN" sz="1200" b="1" i="1" dirty="0"/>
              <a:t>r</a:t>
            </a:r>
            <a:r>
              <a:rPr lang="zh-CN" altLang="en-US" sz="1200" b="1" dirty="0"/>
              <a:t>元树</a:t>
            </a:r>
          </a:p>
          <a:p>
            <a:pPr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元正则有序树</a:t>
            </a:r>
            <a:r>
              <a:rPr lang="zh-CN" altLang="en-US" sz="1200" b="1" dirty="0"/>
              <a:t>: 有序的</a:t>
            </a:r>
            <a:r>
              <a:rPr lang="en-US" altLang="zh-CN" sz="1200" b="1" i="1" dirty="0"/>
              <a:t>r</a:t>
            </a:r>
            <a:r>
              <a:rPr lang="zh-CN" altLang="en-US" sz="1200" b="1" dirty="0"/>
              <a:t>元正则树</a:t>
            </a:r>
            <a:endParaRPr lang="zh-CN" altLang="en-US" sz="1200" b="1" i="1" dirty="0">
              <a:solidFill>
                <a:srgbClr val="FF0066"/>
              </a:solidFill>
            </a:endParaRPr>
          </a:p>
          <a:p>
            <a:pPr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元完全正则有序树</a:t>
            </a:r>
            <a:r>
              <a:rPr lang="zh-CN" altLang="en-US" sz="1200" b="1" dirty="0"/>
              <a:t>: 有序的</a:t>
            </a:r>
            <a:r>
              <a:rPr lang="en-US" altLang="zh-CN" sz="1200" b="1" i="1" dirty="0"/>
              <a:t>r</a:t>
            </a:r>
            <a:r>
              <a:rPr lang="zh-CN" altLang="en-US" sz="1200" b="1" dirty="0"/>
              <a:t>元完全正则树</a:t>
            </a:r>
            <a:endParaRPr lang="en-US" altLang="zh-CN"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28</a:t>
            </a:fld>
            <a:endParaRPr lang="zh-CN" altLang="en-US"/>
          </a:p>
        </p:txBody>
      </p:sp>
    </p:spTree>
    <p:extLst>
      <p:ext uri="{BB962C8B-B14F-4D97-AF65-F5344CB8AC3E}">
        <p14:creationId xmlns:p14="http://schemas.microsoft.com/office/powerpoint/2010/main" val="9765474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7.2.1 </a:t>
            </a:r>
            <a:r>
              <a:rPr lang="zh-CN" altLang="en-US" dirty="0"/>
              <a:t>根树及其分类</a:t>
            </a:r>
          </a:p>
          <a:p>
            <a:r>
              <a:rPr lang="en-US" altLang="zh-CN" dirty="0"/>
              <a:t>7.2.2 </a:t>
            </a:r>
            <a:r>
              <a:rPr lang="zh-CN" altLang="en-US" dirty="0"/>
              <a:t>最优树与哈夫曼算法</a:t>
            </a:r>
          </a:p>
          <a:p>
            <a:r>
              <a:rPr lang="en-US" altLang="zh-CN" dirty="0"/>
              <a:t>7.2.3 </a:t>
            </a:r>
            <a:r>
              <a:rPr lang="zh-CN" altLang="en-US" dirty="0"/>
              <a:t>最佳前缀码</a:t>
            </a:r>
          </a:p>
          <a:p>
            <a:r>
              <a:rPr lang="en-US" altLang="zh-CN" dirty="0"/>
              <a:t>7.2.4 </a:t>
            </a:r>
            <a:r>
              <a:rPr lang="zh-CN" altLang="en-US" dirty="0"/>
              <a:t>根树的行遍及其应用</a:t>
            </a:r>
          </a:p>
          <a:p>
            <a:pPr marL="1884363" lvl="1" indent="277813" eaLnBrk="1" hangingPunct="1"/>
            <a:r>
              <a:rPr lang="zh-CN" altLang="en-US" b="1" dirty="0"/>
              <a:t>中序行遍法、前序行遍法和后序行遍法</a:t>
            </a:r>
          </a:p>
          <a:p>
            <a:pPr marL="1884363" lvl="1" indent="277813" eaLnBrk="1" hangingPunct="1"/>
            <a:r>
              <a:rPr lang="zh-CN" altLang="en-US" b="1" dirty="0"/>
              <a:t>波兰符号法与逆波兰符号法</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29</a:t>
            </a:fld>
            <a:endParaRPr lang="zh-CN" altLang="en-US"/>
          </a:p>
        </p:txBody>
      </p:sp>
    </p:spTree>
    <p:extLst>
      <p:ext uri="{BB962C8B-B14F-4D97-AF65-F5344CB8AC3E}">
        <p14:creationId xmlns:p14="http://schemas.microsoft.com/office/powerpoint/2010/main" val="18202356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设计和实现数据结构时，选择或设计一个最优的树结构可以大大提高程序的效率和性能</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。最优树和最优二叉树的计算和构建通常涉及复杂的算法，包括动态规划、贪心算法等。</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80000"/>
              </a:spcBef>
              <a:buClr>
                <a:schemeClr val="bg2"/>
              </a:buClr>
              <a:buSzPct val="75000"/>
              <a:buFont typeface="Wingdings" panose="05000000000000000000" pitchFamily="2" charset="2"/>
              <a:buNone/>
            </a:pPr>
            <a:r>
              <a:rPr kumimoji="0" lang="zh-CN" altLang="en-US" sz="1800" b="1" dirty="0">
                <a:solidFill>
                  <a:srgbClr val="FF3300"/>
                </a:solidFill>
                <a:cs typeface="Times New Roman" panose="02020603050405020304" pitchFamily="18" charset="0"/>
              </a:rPr>
              <a:t>定义：</a:t>
            </a:r>
            <a:r>
              <a:rPr kumimoji="0" lang="zh-CN" altLang="en-US" sz="1800" b="1" dirty="0">
                <a:cs typeface="Times New Roman" panose="02020603050405020304" pitchFamily="18" charset="0"/>
              </a:rPr>
              <a:t>设2元树</a:t>
            </a:r>
            <a:r>
              <a:rPr kumimoji="0" lang="en-US" altLang="zh-CN" sz="1800" b="1" i="1" dirty="0">
                <a:cs typeface="Times New Roman" panose="02020603050405020304" pitchFamily="18" charset="0"/>
              </a:rPr>
              <a:t>T</a:t>
            </a:r>
            <a:r>
              <a:rPr kumimoji="0" lang="zh-CN" altLang="en-US" sz="1800" b="1" dirty="0">
                <a:cs typeface="Times New Roman" panose="02020603050405020304" pitchFamily="18" charset="0"/>
              </a:rPr>
              <a:t>有</a:t>
            </a:r>
            <a:r>
              <a:rPr kumimoji="0" lang="en-US" altLang="zh-CN" sz="1800" b="1" i="1" dirty="0">
                <a:cs typeface="Times New Roman" panose="02020603050405020304" pitchFamily="18" charset="0"/>
              </a:rPr>
              <a:t>t</a:t>
            </a:r>
            <a:r>
              <a:rPr kumimoji="0" lang="zh-CN" altLang="en-US" sz="1800" b="1" dirty="0">
                <a:cs typeface="Times New Roman" panose="02020603050405020304" pitchFamily="18" charset="0"/>
              </a:rPr>
              <a:t>片树叶</a:t>
            </a:r>
            <a:r>
              <a:rPr kumimoji="0" lang="en-US" altLang="zh-CN" sz="1800" b="1" i="1" dirty="0">
                <a:cs typeface="Times New Roman" panose="02020603050405020304" pitchFamily="18" charset="0"/>
              </a:rPr>
              <a:t>v</a:t>
            </a:r>
            <a:r>
              <a:rPr kumimoji="0" lang="en-US" altLang="zh-CN" sz="1800" b="1" baseline="-30000" dirty="0">
                <a:cs typeface="Times New Roman" panose="02020603050405020304" pitchFamily="18" charset="0"/>
              </a:rPr>
              <a:t>1</a:t>
            </a:r>
            <a:r>
              <a:rPr kumimoji="0" lang="en-US" altLang="zh-CN" sz="1800" b="1" dirty="0">
                <a:cs typeface="Times New Roman" panose="02020603050405020304" pitchFamily="18" charset="0"/>
              </a:rPr>
              <a:t>, </a:t>
            </a:r>
            <a:r>
              <a:rPr kumimoji="0" lang="en-US" altLang="zh-CN" sz="1800" b="1" i="1" dirty="0">
                <a:cs typeface="Times New Roman" panose="02020603050405020304" pitchFamily="18" charset="0"/>
              </a:rPr>
              <a:t>v</a:t>
            </a:r>
            <a:r>
              <a:rPr kumimoji="0" lang="en-US" altLang="zh-CN" sz="1800" b="1" baseline="-30000" dirty="0">
                <a:cs typeface="Times New Roman" panose="02020603050405020304" pitchFamily="18" charset="0"/>
              </a:rPr>
              <a:t>2</a:t>
            </a:r>
            <a:r>
              <a:rPr kumimoji="0" lang="en-US" altLang="zh-CN" sz="1800" b="1" dirty="0">
                <a:cs typeface="Times New Roman" panose="02020603050405020304" pitchFamily="18" charset="0"/>
              </a:rPr>
              <a:t>, …, </a:t>
            </a:r>
            <a:r>
              <a:rPr kumimoji="0" lang="en-US" altLang="zh-CN" sz="1800" b="1" i="1" dirty="0" err="1">
                <a:cs typeface="Times New Roman" panose="02020603050405020304" pitchFamily="18" charset="0"/>
              </a:rPr>
              <a:t>v</a:t>
            </a:r>
            <a:r>
              <a:rPr kumimoji="0" lang="en-US" altLang="zh-CN" sz="1800" b="1" i="1" baseline="-30000" dirty="0" err="1">
                <a:cs typeface="Times New Roman" panose="02020603050405020304" pitchFamily="18" charset="0"/>
              </a:rPr>
              <a:t>t</a:t>
            </a:r>
            <a:r>
              <a:rPr kumimoji="0" lang="en-US" altLang="zh-CN" sz="1800" b="1" dirty="0">
                <a:cs typeface="Times New Roman" panose="02020603050405020304" pitchFamily="18" charset="0"/>
              </a:rPr>
              <a:t>, </a:t>
            </a:r>
            <a:r>
              <a:rPr kumimoji="0" lang="zh-CN" altLang="en-US" sz="1800" b="1" dirty="0">
                <a:cs typeface="Times New Roman" panose="02020603050405020304" pitchFamily="18" charset="0"/>
              </a:rPr>
              <a:t>树叶的权分别为</a:t>
            </a:r>
          </a:p>
          <a:p>
            <a:pPr eaLnBrk="1" hangingPunct="1">
              <a:spcBef>
                <a:spcPct val="60000"/>
              </a:spcBef>
              <a:buClr>
                <a:schemeClr val="bg2"/>
              </a:buClr>
              <a:buSzPct val="75000"/>
              <a:buFont typeface="Wingdings" panose="05000000000000000000" pitchFamily="2" charset="2"/>
              <a:buNone/>
            </a:pPr>
            <a:r>
              <a:rPr kumimoji="0" lang="en-US" altLang="zh-CN" sz="1800" b="1" i="1" dirty="0">
                <a:cs typeface="Times New Roman" panose="02020603050405020304" pitchFamily="18" charset="0"/>
              </a:rPr>
              <a:t>w</a:t>
            </a:r>
            <a:r>
              <a:rPr kumimoji="0" lang="en-US" altLang="zh-CN" sz="1800" b="1" baseline="-30000" dirty="0">
                <a:cs typeface="Times New Roman" panose="02020603050405020304" pitchFamily="18" charset="0"/>
              </a:rPr>
              <a:t>1</a:t>
            </a:r>
            <a:r>
              <a:rPr kumimoji="0" lang="en-US" altLang="zh-CN" sz="1800" b="1" dirty="0">
                <a:cs typeface="Times New Roman" panose="02020603050405020304" pitchFamily="18" charset="0"/>
              </a:rPr>
              <a:t>, </a:t>
            </a:r>
            <a:r>
              <a:rPr kumimoji="0" lang="en-US" altLang="zh-CN" sz="1800" b="1" i="1" dirty="0">
                <a:cs typeface="Times New Roman" panose="02020603050405020304" pitchFamily="18" charset="0"/>
              </a:rPr>
              <a:t>w</a:t>
            </a:r>
            <a:r>
              <a:rPr kumimoji="0" lang="en-US" altLang="zh-CN" sz="1800" b="1" baseline="-30000" dirty="0">
                <a:cs typeface="Times New Roman" panose="02020603050405020304" pitchFamily="18" charset="0"/>
              </a:rPr>
              <a:t>2</a:t>
            </a:r>
            <a:r>
              <a:rPr kumimoji="0" lang="en-US" altLang="zh-CN" sz="1800" b="1" dirty="0">
                <a:cs typeface="Times New Roman" panose="02020603050405020304" pitchFamily="18" charset="0"/>
              </a:rPr>
              <a:t>, …, </a:t>
            </a:r>
            <a:r>
              <a:rPr kumimoji="0" lang="en-US" altLang="zh-CN" sz="1800" b="1" i="1" dirty="0" err="1">
                <a:cs typeface="Times New Roman" panose="02020603050405020304" pitchFamily="18" charset="0"/>
              </a:rPr>
              <a:t>w</a:t>
            </a:r>
            <a:r>
              <a:rPr kumimoji="0" lang="en-US" altLang="zh-CN" sz="1800" b="1" i="1" baseline="-30000" dirty="0" err="1">
                <a:cs typeface="Times New Roman" panose="02020603050405020304" pitchFamily="18" charset="0"/>
              </a:rPr>
              <a:t>t</a:t>
            </a:r>
            <a:r>
              <a:rPr kumimoji="0" lang="en-US" altLang="zh-CN" sz="1800" b="1" dirty="0">
                <a:cs typeface="Times New Roman" panose="02020603050405020304" pitchFamily="18" charset="0"/>
              </a:rPr>
              <a:t>, </a:t>
            </a:r>
            <a:r>
              <a:rPr kumimoji="0" lang="zh-CN" altLang="en-US" sz="1800" b="1" dirty="0">
                <a:cs typeface="Times New Roman" panose="02020603050405020304" pitchFamily="18" charset="0"/>
              </a:rPr>
              <a:t>称                             为</a:t>
            </a:r>
            <a:r>
              <a:rPr kumimoji="0" lang="en-US" altLang="zh-CN" sz="1800" b="1" i="1" dirty="0">
                <a:solidFill>
                  <a:srgbClr val="FF3300"/>
                </a:solidFill>
                <a:cs typeface="Times New Roman" panose="02020603050405020304" pitchFamily="18" charset="0"/>
              </a:rPr>
              <a:t>T</a:t>
            </a:r>
            <a:r>
              <a:rPr kumimoji="0" lang="zh-CN" altLang="en-US" sz="1800" b="1" dirty="0">
                <a:solidFill>
                  <a:srgbClr val="FF3300"/>
                </a:solidFill>
                <a:cs typeface="Times New Roman" panose="02020603050405020304" pitchFamily="18" charset="0"/>
              </a:rPr>
              <a:t>的权</a:t>
            </a:r>
            <a:r>
              <a:rPr kumimoji="0" lang="zh-CN" altLang="en-US" sz="1800" b="1" dirty="0">
                <a:cs typeface="Times New Roman" panose="02020603050405020304" pitchFamily="18" charset="0"/>
              </a:rPr>
              <a:t>, 记作</a:t>
            </a:r>
            <a:r>
              <a:rPr kumimoji="0" lang="en-US" altLang="zh-CN" sz="1800" b="1" i="1" dirty="0">
                <a:cs typeface="Times New Roman" panose="02020603050405020304" pitchFamily="18" charset="0"/>
              </a:rPr>
              <a:t>W</a:t>
            </a:r>
            <a:r>
              <a:rPr kumimoji="0" lang="en-US" altLang="zh-CN" sz="1800" b="1" dirty="0">
                <a:cs typeface="Times New Roman" panose="02020603050405020304" pitchFamily="18" charset="0"/>
              </a:rPr>
              <a:t>(</a:t>
            </a:r>
            <a:r>
              <a:rPr kumimoji="0" lang="en-US" altLang="zh-CN" sz="1800" b="1" i="1" dirty="0">
                <a:cs typeface="Times New Roman" panose="02020603050405020304" pitchFamily="18" charset="0"/>
              </a:rPr>
              <a:t>T</a:t>
            </a:r>
            <a:r>
              <a:rPr kumimoji="0" lang="en-US" altLang="zh-CN" sz="1800" b="1" dirty="0">
                <a:cs typeface="Times New Roman" panose="02020603050405020304" pitchFamily="18" charset="0"/>
              </a:rPr>
              <a:t>), </a:t>
            </a:r>
            <a:r>
              <a:rPr kumimoji="0" lang="zh-CN" altLang="en-US" sz="1800" b="1" dirty="0">
                <a:cs typeface="Times New Roman" panose="02020603050405020304" pitchFamily="18" charset="0"/>
              </a:rPr>
              <a:t>其中</a:t>
            </a:r>
          </a:p>
          <a:p>
            <a:pPr eaLnBrk="1" hangingPunct="1">
              <a:spcBef>
                <a:spcPct val="60000"/>
              </a:spcBef>
              <a:buClr>
                <a:schemeClr val="bg2"/>
              </a:buClr>
              <a:buSzPct val="75000"/>
              <a:buFont typeface="Wingdings" panose="05000000000000000000" pitchFamily="2" charset="2"/>
              <a:buNone/>
            </a:pPr>
            <a:r>
              <a:rPr kumimoji="0" lang="en-US" altLang="zh-CN" sz="1800" b="1" i="1" dirty="0">
                <a:cs typeface="Times New Roman" panose="02020603050405020304" pitchFamily="18" charset="0"/>
              </a:rPr>
              <a:t>l</a:t>
            </a:r>
            <a:r>
              <a:rPr kumimoji="0" lang="en-US" altLang="zh-CN" sz="1800" b="1" dirty="0">
                <a:cs typeface="Times New Roman" panose="02020603050405020304" pitchFamily="18" charset="0"/>
              </a:rPr>
              <a:t>(</a:t>
            </a:r>
            <a:r>
              <a:rPr kumimoji="0" lang="en-US" altLang="zh-CN" sz="1800" b="1" i="1" dirty="0">
                <a:cs typeface="Times New Roman" panose="02020603050405020304" pitchFamily="18" charset="0"/>
              </a:rPr>
              <a:t>v</a:t>
            </a:r>
            <a:r>
              <a:rPr kumimoji="0" lang="en-US" altLang="zh-CN" sz="1800" b="1" i="1" baseline="-30000" dirty="0">
                <a:cs typeface="Times New Roman" panose="02020603050405020304" pitchFamily="18" charset="0"/>
              </a:rPr>
              <a:t>i</a:t>
            </a:r>
            <a:r>
              <a:rPr kumimoji="0" lang="en-US" altLang="zh-CN" sz="1800" b="1" dirty="0">
                <a:cs typeface="Times New Roman" panose="02020603050405020304" pitchFamily="18" charset="0"/>
              </a:rPr>
              <a:t>)</a:t>
            </a:r>
            <a:r>
              <a:rPr kumimoji="0" lang="zh-CN" altLang="en-US" sz="1800" b="1" dirty="0">
                <a:cs typeface="Times New Roman" panose="02020603050405020304" pitchFamily="18" charset="0"/>
              </a:rPr>
              <a:t>是</a:t>
            </a:r>
            <a:r>
              <a:rPr kumimoji="0" lang="en-US" altLang="zh-CN" sz="1800" b="1" i="1" dirty="0">
                <a:cs typeface="Times New Roman" panose="02020603050405020304" pitchFamily="18" charset="0"/>
              </a:rPr>
              <a:t>v</a:t>
            </a:r>
            <a:r>
              <a:rPr kumimoji="0" lang="en-US" altLang="zh-CN" sz="1800" b="1" i="1" baseline="-30000" dirty="0">
                <a:cs typeface="Times New Roman" panose="02020603050405020304" pitchFamily="18" charset="0"/>
              </a:rPr>
              <a:t>i</a:t>
            </a:r>
            <a:r>
              <a:rPr kumimoji="0" lang="zh-CN" altLang="en-US" sz="1800" b="1" dirty="0">
                <a:cs typeface="Times New Roman" panose="02020603050405020304" pitchFamily="18" charset="0"/>
              </a:rPr>
              <a:t>的层数. 在所有有</a:t>
            </a:r>
            <a:r>
              <a:rPr kumimoji="0" lang="en-US" altLang="zh-CN" sz="1800" b="1" i="1" dirty="0">
                <a:cs typeface="Times New Roman" panose="02020603050405020304" pitchFamily="18" charset="0"/>
              </a:rPr>
              <a:t>t</a:t>
            </a:r>
            <a:r>
              <a:rPr kumimoji="0" lang="zh-CN" altLang="en-US" sz="1800" b="1" dirty="0">
                <a:cs typeface="Times New Roman" panose="02020603050405020304" pitchFamily="18" charset="0"/>
              </a:rPr>
              <a:t>片树叶, 带权</a:t>
            </a:r>
            <a:r>
              <a:rPr kumimoji="0" lang="en-US" altLang="zh-CN" sz="1800" b="1" i="1" dirty="0">
                <a:cs typeface="Times New Roman" panose="02020603050405020304" pitchFamily="18" charset="0"/>
              </a:rPr>
              <a:t>w</a:t>
            </a:r>
            <a:r>
              <a:rPr kumimoji="0" lang="en-US" altLang="zh-CN" sz="1800" b="1" baseline="-30000" dirty="0">
                <a:cs typeface="Times New Roman" panose="02020603050405020304" pitchFamily="18" charset="0"/>
              </a:rPr>
              <a:t>1</a:t>
            </a:r>
            <a:r>
              <a:rPr kumimoji="0" lang="en-US" altLang="zh-CN" sz="1800" b="1" dirty="0">
                <a:cs typeface="Times New Roman" panose="02020603050405020304" pitchFamily="18" charset="0"/>
              </a:rPr>
              <a:t>, </a:t>
            </a:r>
            <a:r>
              <a:rPr kumimoji="0" lang="en-US" altLang="zh-CN" sz="1800" b="1" i="1" dirty="0">
                <a:cs typeface="Times New Roman" panose="02020603050405020304" pitchFamily="18" charset="0"/>
              </a:rPr>
              <a:t>w</a:t>
            </a:r>
            <a:r>
              <a:rPr kumimoji="0" lang="en-US" altLang="zh-CN" sz="1800" b="1" baseline="-30000" dirty="0">
                <a:cs typeface="Times New Roman" panose="02020603050405020304" pitchFamily="18" charset="0"/>
              </a:rPr>
              <a:t>2</a:t>
            </a:r>
            <a:r>
              <a:rPr kumimoji="0" lang="en-US" altLang="zh-CN" sz="1800" b="1" dirty="0">
                <a:cs typeface="Times New Roman" panose="02020603050405020304" pitchFamily="18" charset="0"/>
              </a:rPr>
              <a:t>, …, </a:t>
            </a:r>
            <a:r>
              <a:rPr kumimoji="0" lang="en-US" altLang="zh-CN" sz="1800" b="1" i="1" dirty="0" err="1">
                <a:cs typeface="Times New Roman" panose="02020603050405020304" pitchFamily="18" charset="0"/>
              </a:rPr>
              <a:t>w</a:t>
            </a:r>
            <a:r>
              <a:rPr kumimoji="0" lang="en-US" altLang="zh-CN" sz="1800" b="1" i="1" baseline="-30000" dirty="0" err="1">
                <a:cs typeface="Times New Roman" panose="02020603050405020304" pitchFamily="18" charset="0"/>
              </a:rPr>
              <a:t>t</a:t>
            </a:r>
            <a:r>
              <a:rPr kumimoji="0" lang="en-US" altLang="zh-CN" sz="1800" b="1" i="1" baseline="-30000" dirty="0">
                <a:cs typeface="Times New Roman" panose="02020603050405020304" pitchFamily="18" charset="0"/>
              </a:rPr>
              <a:t> </a:t>
            </a:r>
            <a:r>
              <a:rPr kumimoji="0" lang="zh-CN" altLang="en-US" sz="1800" b="1" dirty="0">
                <a:cs typeface="Times New Roman" panose="02020603050405020304" pitchFamily="18" charset="0"/>
              </a:rPr>
              <a:t>的 2元</a:t>
            </a:r>
          </a:p>
          <a:p>
            <a:pPr eaLnBrk="1" hangingPunct="1">
              <a:spcBef>
                <a:spcPct val="40000"/>
              </a:spcBef>
              <a:buClr>
                <a:schemeClr val="bg2"/>
              </a:buClr>
              <a:buSzPct val="75000"/>
              <a:buFont typeface="Wingdings" panose="05000000000000000000" pitchFamily="2" charset="2"/>
              <a:buNone/>
            </a:pPr>
            <a:r>
              <a:rPr kumimoji="0" lang="zh-CN" altLang="en-US" sz="1800" b="1" dirty="0">
                <a:cs typeface="Times New Roman" panose="02020603050405020304" pitchFamily="18" charset="0"/>
              </a:rPr>
              <a:t>树中, 权最小的二叉树称为</a:t>
            </a:r>
            <a:r>
              <a:rPr kumimoji="0" lang="zh-CN" altLang="en-US" sz="1800" b="1" dirty="0">
                <a:solidFill>
                  <a:srgbClr val="FF3300"/>
                </a:solidFill>
                <a:cs typeface="Times New Roman" panose="02020603050405020304" pitchFamily="18" charset="0"/>
              </a:rPr>
              <a:t>最优二叉树</a:t>
            </a:r>
            <a:endParaRPr kumimoji="0" lang="zh-CN" altLang="en-US" sz="1800" b="1" dirty="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30</a:t>
            </a:fld>
            <a:endParaRPr lang="zh-CN" altLang="en-US"/>
          </a:p>
        </p:txBody>
      </p:sp>
    </p:spTree>
    <p:extLst>
      <p:ext uri="{BB962C8B-B14F-4D97-AF65-F5344CB8AC3E}">
        <p14:creationId xmlns:p14="http://schemas.microsoft.com/office/powerpoint/2010/main" val="807846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最优二叉树通过</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确保频率（或权重）较高的树叶在树的较低层</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，而频率较低的树叶在较高层，从而减少整体的加权路径长度。</a:t>
            </a:r>
            <a:endParaRPr lang="en-US" altLang="zh-CN" sz="1200" b="1" i="0" dirty="0">
              <a:latin typeface="Times New Roman" panose="02020603050405020304" pitchFamily="18" charset="0"/>
              <a:cs typeface="Times New Roman" panose="02020603050405020304" pitchFamily="18" charset="0"/>
            </a:endParaRPr>
          </a:p>
          <a:p>
            <a:r>
              <a:rPr lang="zh-CN" altLang="en-US" sz="1200" b="1" i="0" dirty="0">
                <a:latin typeface="Times New Roman" panose="02020603050405020304" pitchFamily="18" charset="0"/>
                <a:cs typeface="Times New Roman" panose="02020603050405020304" pitchFamily="18" charset="0"/>
              </a:rPr>
              <a:t>当</a:t>
            </a:r>
            <a:r>
              <a:rPr lang="zh-CN" altLang="en-US" sz="1200" b="1" dirty="0">
                <a:latin typeface="Times New Roman" panose="02020603050405020304" pitchFamily="18" charset="0"/>
                <a:cs typeface="Times New Roman" panose="02020603050405020304" pitchFamily="18" charset="0"/>
              </a:rPr>
              <a:t>树叶表示编码字符、</a:t>
            </a:r>
            <a:r>
              <a:rPr lang="zh-CN" altLang="en-US" sz="1200" b="1" i="0" dirty="0">
                <a:latin typeface="Times New Roman" panose="02020603050405020304" pitchFamily="18" charset="0"/>
                <a:cs typeface="Times New Roman" panose="02020603050405020304" pitchFamily="18" charset="0"/>
              </a:rPr>
              <a:t>权重</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 …, </a:t>
            </a:r>
            <a:r>
              <a:rPr lang="en-US" altLang="zh-CN" sz="1200" b="1" i="1" dirty="0" err="1">
                <a:latin typeface="Times New Roman" panose="02020603050405020304" pitchFamily="18" charset="0"/>
                <a:cs typeface="Times New Roman" panose="02020603050405020304" pitchFamily="18" charset="0"/>
              </a:rPr>
              <a:t>w</a:t>
            </a:r>
            <a:r>
              <a:rPr lang="en-US" altLang="zh-CN" sz="1200" b="1" i="1" baseline="-30000" dirty="0" err="1">
                <a:latin typeface="Times New Roman" panose="02020603050405020304" pitchFamily="18" charset="0"/>
                <a:cs typeface="Times New Roman" panose="02020603050405020304" pitchFamily="18" charset="0"/>
              </a:rPr>
              <a:t>t</a:t>
            </a:r>
            <a:r>
              <a:rPr lang="zh-CN" altLang="en-US" sz="1200" b="1" dirty="0">
                <a:latin typeface="Times New Roman" panose="02020603050405020304" pitchFamily="18" charset="0"/>
                <a:cs typeface="Times New Roman" panose="02020603050405020304" pitchFamily="18" charset="0"/>
              </a:rPr>
              <a:t>度表示编码字符出现的频率时，产生的最优二叉树就是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哈夫曼树</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b="1" dirty="0"/>
              <a:t>🔹 </a:t>
            </a:r>
            <a:r>
              <a:rPr lang="en-US" altLang="zh-CN" b="1" dirty="0"/>
              <a:t>Complexity</a:t>
            </a:r>
          </a:p>
          <a:p>
            <a:pPr>
              <a:buFont typeface="Arial" panose="020B0604020202020204" pitchFamily="34" charset="0"/>
              <a:buChar char="•"/>
            </a:pPr>
            <a:r>
              <a:rPr lang="en-US" altLang="zh-CN" dirty="0"/>
              <a:t>Building the tree requires repeatedly selecting the two smallest nodes.</a:t>
            </a:r>
          </a:p>
          <a:p>
            <a:pPr>
              <a:buFont typeface="Arial" panose="020B0604020202020204" pitchFamily="34" charset="0"/>
              <a:buChar char="•"/>
            </a:pPr>
            <a:r>
              <a:rPr lang="en-US" altLang="zh-CN" dirty="0"/>
              <a:t>With a </a:t>
            </a:r>
            <a:r>
              <a:rPr lang="en-US" altLang="zh-CN" b="1" dirty="0"/>
              <a:t>priority queue (min-heap)</a:t>
            </a:r>
            <a:r>
              <a:rPr lang="en-US" altLang="zh-CN" dirty="0"/>
              <a:t>:</a:t>
            </a:r>
          </a:p>
          <a:p>
            <a:pPr marL="742950" lvl="1" indent="-285750">
              <a:buFont typeface="Arial" panose="020B0604020202020204" pitchFamily="34" charset="0"/>
              <a:buChar char="•"/>
            </a:pPr>
            <a:r>
              <a:rPr lang="en-US" altLang="zh-CN" dirty="0"/>
              <a:t>Each extract-min and insert takes O(</a:t>
            </a:r>
            <a:r>
              <a:rPr lang="en-US" altLang="zh-CN" dirty="0" err="1"/>
              <a:t>log⁡n</a:t>
            </a:r>
            <a:r>
              <a:rPr lang="en-US" altLang="zh-CN" dirty="0"/>
              <a:t>)).</a:t>
            </a:r>
          </a:p>
          <a:p>
            <a:pPr marL="742950" lvl="1" indent="-285750">
              <a:buFont typeface="Arial" panose="020B0604020202020204" pitchFamily="34" charset="0"/>
              <a:buChar char="•"/>
            </a:pPr>
            <a:r>
              <a:rPr lang="en-US" altLang="zh-CN" dirty="0"/>
              <a:t>There are n symbols → O(</a:t>
            </a:r>
            <a:r>
              <a:rPr lang="en-US" altLang="zh-CN" dirty="0" err="1"/>
              <a:t>nlog⁡n</a:t>
            </a:r>
            <a:r>
              <a:rPr lang="zh-CN" altLang="en-US" dirty="0"/>
              <a:t>）</a:t>
            </a:r>
            <a:endParaRPr lang="en-US" altLang="zh-CN" dirty="0"/>
          </a:p>
          <a:p>
            <a:pPr>
              <a:buFont typeface="Arial" panose="020B0604020202020204" pitchFamily="34" charset="0"/>
              <a:buChar char="•"/>
            </a:pPr>
            <a:r>
              <a:rPr lang="en-US" altLang="zh-CN" dirty="0"/>
              <a:t>So </a:t>
            </a:r>
            <a:r>
              <a:rPr lang="en-US" altLang="zh-CN" b="1" dirty="0"/>
              <a:t>time complexity</a:t>
            </a:r>
            <a:r>
              <a:rPr lang="en-US" altLang="zh-CN" dirty="0"/>
              <a:t> = O(</a:t>
            </a:r>
            <a:r>
              <a:rPr lang="en-US" altLang="zh-CN" dirty="0" err="1"/>
              <a:t>nlog⁡n</a:t>
            </a:r>
            <a:r>
              <a:rPr lang="en-US" altLang="zh-CN"/>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lnSpc>
                <a:spcPct val="115000"/>
              </a:lnSpc>
              <a:buFontTx/>
              <a:buNone/>
            </a:pPr>
            <a:r>
              <a:rPr lang="zh-CN" altLang="en-US" sz="1200" b="1" dirty="0">
                <a:solidFill>
                  <a:srgbClr val="FF0000"/>
                </a:solidFill>
                <a:latin typeface="Times New Roman" panose="02020603050405020304" pitchFamily="18" charset="0"/>
                <a:cs typeface="Times New Roman" panose="02020603050405020304" pitchFamily="18" charset="0"/>
              </a:rPr>
              <a:t>哈夫曼(</a:t>
            </a:r>
            <a:r>
              <a:rPr lang="en-US" altLang="zh-CN" sz="1200" b="1" dirty="0">
                <a:solidFill>
                  <a:srgbClr val="FF0000"/>
                </a:solidFill>
                <a:latin typeface="Times New Roman" panose="02020603050405020304" pitchFamily="18" charset="0"/>
                <a:cs typeface="Times New Roman" panose="02020603050405020304" pitchFamily="18" charset="0"/>
              </a:rPr>
              <a:t>Huffman)</a:t>
            </a:r>
            <a:r>
              <a:rPr lang="zh-CN" altLang="en-US" sz="1200" b="1" dirty="0">
                <a:solidFill>
                  <a:srgbClr val="FF0000"/>
                </a:solidFill>
                <a:latin typeface="Times New Roman" panose="02020603050405020304" pitchFamily="18" charset="0"/>
                <a:cs typeface="Times New Roman" panose="02020603050405020304" pitchFamily="18" charset="0"/>
              </a:rPr>
              <a:t>算法</a:t>
            </a:r>
          </a:p>
          <a:p>
            <a:pPr algn="just" eaLnBrk="1" hangingPunct="1">
              <a:lnSpc>
                <a:spcPct val="115000"/>
              </a:lnSpc>
              <a:buFontTx/>
              <a:buNone/>
            </a:pPr>
            <a:r>
              <a:rPr lang="zh-CN" altLang="en-US" sz="1200" b="1" dirty="0">
                <a:latin typeface="Times New Roman" panose="02020603050405020304" pitchFamily="18" charset="0"/>
                <a:cs typeface="Times New Roman" panose="02020603050405020304" pitchFamily="18" charset="0"/>
              </a:rPr>
              <a:t>给定实数</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 …, </a:t>
            </a:r>
            <a:r>
              <a:rPr lang="en-US" altLang="zh-CN" sz="1200" b="1" i="1" dirty="0" err="1">
                <a:latin typeface="Times New Roman" panose="02020603050405020304" pitchFamily="18" charset="0"/>
                <a:cs typeface="Times New Roman" panose="02020603050405020304" pitchFamily="18" charset="0"/>
              </a:rPr>
              <a:t>w</a:t>
            </a:r>
            <a:r>
              <a:rPr lang="en-US" altLang="zh-CN" sz="1200" b="1" i="1" baseline="-30000" dirty="0" err="1">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 </a:t>
            </a:r>
          </a:p>
          <a:p>
            <a:pPr algn="just" eaLnBrk="1" hangingPunct="1">
              <a:lnSpc>
                <a:spcPct val="115000"/>
              </a:lnSpc>
              <a:buFontTx/>
              <a:buNone/>
            </a:pPr>
            <a:r>
              <a:rPr lang="en-US" altLang="zh-CN" sz="1200" b="1" dirty="0">
                <a:latin typeface="Times New Roman" panose="02020603050405020304" pitchFamily="18" charset="0"/>
                <a:cs typeface="Times New Roman" panose="02020603050405020304" pitchFamily="18" charset="0"/>
              </a:rPr>
              <a:t>① </a:t>
            </a:r>
            <a:r>
              <a:rPr lang="zh-CN" altLang="en-US" sz="1200" b="1" dirty="0">
                <a:latin typeface="Times New Roman" panose="02020603050405020304" pitchFamily="18" charset="0"/>
                <a:cs typeface="Times New Roman" panose="02020603050405020304" pitchFamily="18" charset="0"/>
              </a:rPr>
              <a:t>作</a:t>
            </a:r>
            <a:r>
              <a:rPr lang="en-US" altLang="zh-CN" sz="1200" b="1" i="1" dirty="0">
                <a:latin typeface="Times New Roman" panose="02020603050405020304" pitchFamily="18" charset="0"/>
                <a:cs typeface="Times New Roman" panose="02020603050405020304" pitchFamily="18" charset="0"/>
              </a:rPr>
              <a:t>t</a:t>
            </a:r>
            <a:r>
              <a:rPr lang="zh-CN" altLang="en-US" sz="1200" b="1" dirty="0">
                <a:latin typeface="Times New Roman" panose="02020603050405020304" pitchFamily="18" charset="0"/>
                <a:cs typeface="Times New Roman" panose="02020603050405020304" pitchFamily="18" charset="0"/>
              </a:rPr>
              <a:t>片树叶, 分别以</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 …, </a:t>
            </a:r>
            <a:r>
              <a:rPr lang="en-US" altLang="zh-CN" sz="1200" b="1" i="1" dirty="0" err="1">
                <a:latin typeface="Times New Roman" panose="02020603050405020304" pitchFamily="18" charset="0"/>
                <a:cs typeface="Times New Roman" panose="02020603050405020304" pitchFamily="18" charset="0"/>
              </a:rPr>
              <a:t>w</a:t>
            </a:r>
            <a:r>
              <a:rPr lang="en-US" altLang="zh-CN" sz="1200" b="1" i="1" baseline="-30000" dirty="0" err="1">
                <a:latin typeface="Times New Roman" panose="02020603050405020304" pitchFamily="18" charset="0"/>
                <a:cs typeface="Times New Roman" panose="02020603050405020304" pitchFamily="18" charset="0"/>
              </a:rPr>
              <a:t>t</a:t>
            </a:r>
            <a:r>
              <a:rPr lang="zh-CN" altLang="en-US" sz="1200" b="1" dirty="0">
                <a:latin typeface="Times New Roman" panose="02020603050405020304" pitchFamily="18" charset="0"/>
                <a:cs typeface="Times New Roman" panose="02020603050405020304" pitchFamily="18" charset="0"/>
              </a:rPr>
              <a:t>为权</a:t>
            </a:r>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a:p>
            <a:pPr algn="just" eaLnBrk="1" hangingPunct="1">
              <a:lnSpc>
                <a:spcPct val="115000"/>
              </a:lnSpc>
              <a:buFontTx/>
              <a:buNone/>
            </a:pPr>
            <a:r>
              <a:rPr lang="zh-CN" altLang="en-US" sz="1200" b="1" dirty="0">
                <a:latin typeface="Times New Roman" panose="02020603050405020304" pitchFamily="18" charset="0"/>
                <a:cs typeface="Times New Roman" panose="02020603050405020304" pitchFamily="18" charset="0"/>
              </a:rPr>
              <a:t>② 在所有入度为0的顶点(不一定是树叶)中选出两个权最小的顶点, 添加一个新分支点, 以这2个顶点为儿子, 其权等于这2个儿子的权之和</a:t>
            </a:r>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a:p>
            <a:pPr eaLnBrk="1" hangingPunct="1">
              <a:lnSpc>
                <a:spcPct val="115000"/>
              </a:lnSpc>
              <a:buFontTx/>
              <a:buNone/>
            </a:pPr>
            <a:r>
              <a:rPr lang="zh-CN" altLang="en-US" sz="1200" b="1" dirty="0">
                <a:latin typeface="Times New Roman" panose="02020603050405020304" pitchFamily="18" charset="0"/>
                <a:cs typeface="Times New Roman" panose="02020603050405020304" pitchFamily="18" charset="0"/>
              </a:rPr>
              <a:t>③ 重复②, 直到只有1个入度为0 的顶点为止 </a:t>
            </a:r>
          </a:p>
          <a:p>
            <a:pPr eaLnBrk="1" hangingPunct="1">
              <a:lnSpc>
                <a:spcPct val="115000"/>
              </a:lnSpc>
              <a:buFontTx/>
              <a:buNone/>
            </a:pP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等于所有分支点的权之和，生成的最优二叉树其加权路径长度最小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31</a:t>
            </a:fld>
            <a:endParaRPr lang="zh-CN" altLang="en-US"/>
          </a:p>
        </p:txBody>
      </p:sp>
    </p:spTree>
    <p:extLst>
      <p:ext uri="{BB962C8B-B14F-4D97-AF65-F5344CB8AC3E}">
        <p14:creationId xmlns:p14="http://schemas.microsoft.com/office/powerpoint/2010/main" val="21498429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Tx/>
              <a:buNone/>
            </a:pPr>
            <a:r>
              <a:rPr lang="zh-CN" altLang="en-US" sz="1200" b="1" dirty="0">
                <a:solidFill>
                  <a:srgbClr val="00B0F0"/>
                </a:solidFill>
              </a:rPr>
              <a:t>例： </a:t>
            </a:r>
            <a:r>
              <a:rPr lang="zh-CN" altLang="en-US" sz="1200" b="1" dirty="0"/>
              <a:t>求以1,3,4,5,6为权的最优2叉树, 并计算它的权</a:t>
            </a:r>
          </a:p>
          <a:p>
            <a:pPr>
              <a:buNone/>
            </a:pPr>
            <a:r>
              <a:rPr lang="zh-CN" altLang="en-US" sz="1200" b="1" dirty="0">
                <a:solidFill>
                  <a:srgbClr val="00B0F0"/>
                </a:solidFill>
              </a:rPr>
              <a:t>解： </a:t>
            </a:r>
            <a:r>
              <a:rPr kumimoji="0" lang="zh-CN" altLang="en-US" sz="1200" b="1" dirty="0"/>
              <a:t>(</a:t>
            </a:r>
            <a:r>
              <a:rPr kumimoji="0" lang="en-US" altLang="zh-CN" sz="1200" b="1" dirty="0"/>
              <a:t>a)</a:t>
            </a:r>
            <a:r>
              <a:rPr kumimoji="0" lang="zh-CN" altLang="en-US" sz="1200" b="1" dirty="0"/>
              <a:t>到(</a:t>
            </a:r>
            <a:r>
              <a:rPr kumimoji="0" lang="en-US" altLang="zh-CN" sz="1200" b="1" dirty="0"/>
              <a:t>e)</a:t>
            </a:r>
            <a:r>
              <a:rPr kumimoji="0" lang="zh-CN" altLang="en-US" sz="1200" b="1" dirty="0"/>
              <a:t>是哈夫曼算法的计算过程</a:t>
            </a:r>
            <a:endParaRPr kumimoji="0" lang="en-US" altLang="zh-CN"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32</a:t>
            </a:fld>
            <a:endParaRPr lang="zh-CN" altLang="en-US"/>
          </a:p>
        </p:txBody>
      </p:sp>
    </p:spTree>
    <p:extLst>
      <p:ext uri="{BB962C8B-B14F-4D97-AF65-F5344CB8AC3E}">
        <p14:creationId xmlns:p14="http://schemas.microsoft.com/office/powerpoint/2010/main" val="22685250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7.2.1 </a:t>
            </a:r>
            <a:r>
              <a:rPr lang="zh-CN" altLang="en-US" dirty="0"/>
              <a:t>根树及其分类</a:t>
            </a:r>
          </a:p>
          <a:p>
            <a:r>
              <a:rPr lang="en-US" altLang="zh-CN" dirty="0"/>
              <a:t>7.2.2 </a:t>
            </a:r>
            <a:r>
              <a:rPr lang="zh-CN" altLang="en-US" dirty="0"/>
              <a:t>最优树与哈夫曼算法</a:t>
            </a:r>
          </a:p>
          <a:p>
            <a:r>
              <a:rPr lang="en-US" altLang="zh-CN" dirty="0"/>
              <a:t>7.2.3 </a:t>
            </a:r>
            <a:r>
              <a:rPr lang="zh-CN" altLang="en-US" dirty="0"/>
              <a:t>最佳前缀码</a:t>
            </a:r>
          </a:p>
          <a:p>
            <a:r>
              <a:rPr lang="en-US" altLang="zh-CN" dirty="0"/>
              <a:t>7.2.4 </a:t>
            </a:r>
            <a:r>
              <a:rPr lang="zh-CN" altLang="en-US" dirty="0"/>
              <a:t>根树的行遍及其应用</a:t>
            </a:r>
          </a:p>
          <a:p>
            <a:pPr marL="1884363" lvl="1" indent="277813" eaLnBrk="1" hangingPunct="1"/>
            <a:r>
              <a:rPr lang="zh-CN" altLang="en-US" b="1" dirty="0"/>
              <a:t>中序行遍法、前序行遍法和后序行遍法</a:t>
            </a:r>
          </a:p>
          <a:p>
            <a:pPr marL="1884363" lvl="1" indent="277813" eaLnBrk="1" hangingPunct="1"/>
            <a:r>
              <a:rPr lang="zh-CN" altLang="en-US" b="1" dirty="0"/>
              <a:t>波兰符号法与逆波兰符号法</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33</a:t>
            </a:fld>
            <a:endParaRPr lang="zh-CN" altLang="en-US"/>
          </a:p>
        </p:txBody>
      </p:sp>
    </p:spTree>
    <p:extLst>
      <p:ext uri="{BB962C8B-B14F-4D97-AF65-F5344CB8AC3E}">
        <p14:creationId xmlns:p14="http://schemas.microsoft.com/office/powerpoint/2010/main" val="35329505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None/>
            </a:pPr>
            <a:r>
              <a:rPr lang="zh-CN" altLang="en-US" sz="1200" b="1" dirty="0">
                <a:solidFill>
                  <a:srgbClr val="FF0000"/>
                </a:solidFill>
                <a:latin typeface="Times New Roman" panose="02020603050405020304" pitchFamily="18" charset="0"/>
                <a:cs typeface="Times New Roman" panose="02020603050405020304" pitchFamily="18" charset="0"/>
              </a:rPr>
              <a:t>定义：</a:t>
            </a:r>
            <a:r>
              <a:rPr lang="zh-CN" altLang="en-US" sz="1200" b="1" dirty="0">
                <a:latin typeface="Times New Roman" panose="02020603050405020304" pitchFamily="18" charset="0"/>
                <a:cs typeface="Times New Roman" panose="02020603050405020304" pitchFamily="18" charset="0"/>
              </a:rPr>
              <a:t>设</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rPr>
              <a:t>=</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1</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baseline="-30000" dirty="0">
                <a:latin typeface="Times New Roman" panose="02020603050405020304" pitchFamily="18" charset="0"/>
                <a:cs typeface="Times New Roman" panose="02020603050405020304" pitchFamily="18" charset="0"/>
              </a:rPr>
              <a:t>n</a:t>
            </a:r>
            <a:r>
              <a:rPr lang="en-US" altLang="zh-CN" sz="1200" b="1" baseline="-30000" dirty="0">
                <a:latin typeface="Times New Roman" panose="02020603050405020304" pitchFamily="18" charset="0"/>
                <a:cs typeface="Times New Roman" panose="02020603050405020304" pitchFamily="18" charset="0"/>
              </a:rPr>
              <a:t>-1</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baseline="-30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是长度为</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的符号串,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1</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baseline="-30000" dirty="0">
                <a:latin typeface="Times New Roman" panose="02020603050405020304" pitchFamily="18" charset="0"/>
                <a:cs typeface="Times New Roman" panose="02020603050405020304" pitchFamily="18" charset="0"/>
              </a:rPr>
              <a:t>j</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j</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为</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（长度为</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j</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）的前缀。</a:t>
            </a:r>
            <a:endParaRPr lang="en-US" altLang="zh-CN" sz="1200" b="1" baseline="-30000" dirty="0">
              <a:latin typeface="Times New Roman" panose="02020603050405020304" pitchFamily="18" charset="0"/>
              <a:cs typeface="Times New Roman" panose="02020603050405020304" pitchFamily="18" charset="0"/>
            </a:endParaRPr>
          </a:p>
          <a:p>
            <a:pPr marL="87313" indent="403225" algn="just" eaLnBrk="1" hangingPunct="1">
              <a:buFontTx/>
              <a:buNone/>
            </a:pPr>
            <a:r>
              <a:rPr lang="zh-CN" altLang="en-US" sz="1200" b="1" dirty="0">
                <a:latin typeface="Times New Roman" panose="02020603050405020304" pitchFamily="18" charset="0"/>
                <a:cs typeface="Times New Roman" panose="02020603050405020304" pitchFamily="18" charset="0"/>
              </a:rPr>
              <a:t>若非空符号串集</a:t>
            </a:r>
            <a:r>
              <a:rPr lang="en-US" altLang="zh-CN" sz="1200" b="1" dirty="0">
                <a:latin typeface="Times New Roman" panose="02020603050405020304" pitchFamily="18" charset="0"/>
                <a:cs typeface="Times New Roman" panose="02020603050405020304" pitchFamily="18" charset="0"/>
              </a:rPr>
              <a:t>B=</a:t>
            </a:r>
            <a:r>
              <a:rPr lang="zh-CN" altLang="en-US" sz="1200" b="1" dirty="0">
                <a:latin typeface="Times New Roman" panose="02020603050405020304" pitchFamily="18" charset="0"/>
                <a:cs typeface="Times New Roman" panose="02020603050405020304" pitchFamily="18" charset="0"/>
              </a:rPr>
              <a:t>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 …,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baseline="-30000"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中任何两个</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baseline="-30000" dirty="0" err="1">
                <a:latin typeface="Times New Roman" panose="02020603050405020304" pitchFamily="18" charset="0"/>
                <a:cs typeface="Times New Roman" panose="02020603050405020304" pitchFamily="18" charset="0"/>
              </a:rPr>
              <a:t>i</a:t>
            </a:r>
            <a:r>
              <a:rPr lang="zh-CN" altLang="en-US" sz="1200" b="1" dirty="0">
                <a:latin typeface="Times New Roman" panose="02020603050405020304" pitchFamily="18" charset="0"/>
                <a:cs typeface="Times New Roman" panose="02020603050405020304" pitchFamily="18" charset="0"/>
              </a:rPr>
              <a:t>,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baseline="-30000" dirty="0">
                <a:latin typeface="Times New Roman" panose="02020603050405020304" pitchFamily="18" charset="0"/>
                <a:cs typeface="Times New Roman" panose="02020603050405020304" pitchFamily="18" charset="0"/>
                <a:sym typeface="Symbol" panose="05050102010706020507" pitchFamily="18" charset="2"/>
              </a:rPr>
              <a:t>j</a:t>
            </a:r>
            <a:r>
              <a:rPr lang="zh-CN" altLang="en-US" sz="1200" b="1" dirty="0">
                <a:latin typeface="Times New Roman" panose="02020603050405020304" pitchFamily="18" charset="0"/>
                <a:cs typeface="Times New Roman" panose="02020603050405020304" pitchFamily="18" charset="0"/>
              </a:rPr>
              <a:t>互</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i</a:t>
            </a:r>
            <a:r>
              <a:rPr lang="en-US" altLang="zh-CN" b="1" i="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cs typeface="Times New Roman" panose="02020603050405020304" pitchFamily="18" charset="0"/>
              </a:rPr>
              <a:t>j</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互</a:t>
            </a:r>
            <a:r>
              <a:rPr lang="zh-CN" altLang="en-US" sz="1200" b="1" dirty="0">
                <a:latin typeface="Times New Roman" panose="02020603050405020304" pitchFamily="18" charset="0"/>
                <a:cs typeface="Times New Roman" panose="02020603050405020304" pitchFamily="18" charset="0"/>
              </a:rPr>
              <a:t>不为前缀, 则称</a:t>
            </a:r>
            <a:r>
              <a:rPr lang="en-US" altLang="zh-CN" sz="1200" b="1" dirty="0">
                <a:latin typeface="Times New Roman" panose="02020603050405020304" pitchFamily="18" charset="0"/>
                <a:cs typeface="Times New Roman" panose="02020603050405020304" pitchFamily="18" charset="0"/>
              </a:rPr>
              <a:t>B</a:t>
            </a:r>
            <a:r>
              <a:rPr lang="zh-CN" altLang="en-US" sz="1200" b="1" dirty="0">
                <a:latin typeface="Times New Roman" panose="02020603050405020304" pitchFamily="18" charset="0"/>
                <a:cs typeface="Times New Roman" panose="02020603050405020304" pitchFamily="18" charset="0"/>
              </a:rPr>
              <a:t>为</a:t>
            </a:r>
            <a:r>
              <a:rPr lang="zh-CN" altLang="en-US" sz="1200" b="1" dirty="0">
                <a:solidFill>
                  <a:srgbClr val="FF3300"/>
                </a:solidFill>
                <a:latin typeface="Times New Roman" panose="02020603050405020304" pitchFamily="18" charset="0"/>
                <a:cs typeface="Times New Roman" panose="02020603050405020304" pitchFamily="18" charset="0"/>
              </a:rPr>
              <a:t>前缀码。</a:t>
            </a:r>
            <a:endParaRPr lang="en-US" altLang="zh-CN" sz="1200" b="1" dirty="0">
              <a:solidFill>
                <a:srgbClr val="FF3300"/>
              </a:solidFill>
              <a:latin typeface="Times New Roman" panose="02020603050405020304" pitchFamily="18" charset="0"/>
              <a:cs typeface="Times New Roman" panose="02020603050405020304" pitchFamily="18" charset="0"/>
            </a:endParaRPr>
          </a:p>
          <a:p>
            <a:pPr marL="87313" indent="403225" algn="just" eaLnBrk="1" hangingPunct="1">
              <a:buFontTx/>
              <a:buNone/>
            </a:pPr>
            <a:endParaRPr lang="zh-CN" altLang="en-US" sz="1200" b="1" dirty="0">
              <a:latin typeface="Times New Roman" panose="02020603050405020304" pitchFamily="18" charset="0"/>
              <a:cs typeface="Times New Roman" panose="02020603050405020304" pitchFamily="18" charset="0"/>
            </a:endParaRPr>
          </a:p>
          <a:p>
            <a:pPr indent="304800" eaLnBrk="1" hangingPunct="1">
              <a:buFontTx/>
              <a:buNone/>
            </a:pPr>
            <a:r>
              <a:rPr lang="zh-CN" altLang="en-US" sz="1200" b="1" dirty="0"/>
              <a:t>只出现两个符号(如0与1)的前缀码称作</a:t>
            </a:r>
            <a:r>
              <a:rPr lang="zh-CN" altLang="en-US" sz="1200" b="1" dirty="0">
                <a:solidFill>
                  <a:srgbClr val="FF3300"/>
                </a:solidFill>
              </a:rPr>
              <a:t>二元前缀码</a:t>
            </a:r>
            <a:endParaRPr lang="en-US" altLang="zh-CN" sz="1200" b="1" dirty="0">
              <a:solidFill>
                <a:srgbClr val="FF3300"/>
              </a:solidFill>
            </a:endParaRPr>
          </a:p>
          <a:p>
            <a:pPr indent="304800" eaLnBrk="1" hangingPunct="1">
              <a:buFontTx/>
              <a:buNone/>
            </a:pPr>
            <a:endParaRPr lang="zh-CN" altLang="en-US" sz="1200" b="1" dirty="0"/>
          </a:p>
          <a:p>
            <a:pPr eaLnBrk="1" hangingPunct="1">
              <a:buFontTx/>
              <a:buNone/>
            </a:pPr>
            <a:r>
              <a:rPr lang="zh-CN" altLang="en-US" sz="1200" b="1" dirty="0">
                <a:solidFill>
                  <a:srgbClr val="00B0F0"/>
                </a:solidFill>
              </a:rPr>
              <a:t>例</a:t>
            </a:r>
            <a:r>
              <a:rPr lang="zh-CN" altLang="en-US" sz="1200" b="1" dirty="0"/>
              <a:t>：   {0,10,110, 1111}, {10,01,001,110}是2元前缀码</a:t>
            </a:r>
          </a:p>
          <a:p>
            <a:pPr eaLnBrk="1" hangingPunct="1">
              <a:buFontTx/>
              <a:buNone/>
            </a:pPr>
            <a:r>
              <a:rPr lang="zh-CN" altLang="en-US" sz="1200" b="1" dirty="0"/>
              <a:t>           {0,10,010, 1010} 不是前缀码</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34</a:t>
            </a:fld>
            <a:endParaRPr lang="zh-CN" altLang="en-US"/>
          </a:p>
        </p:txBody>
      </p:sp>
    </p:spTree>
    <p:extLst>
      <p:ext uri="{BB962C8B-B14F-4D97-AF65-F5344CB8AC3E}">
        <p14:creationId xmlns:p14="http://schemas.microsoft.com/office/powerpoint/2010/main" val="958798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lnSpc>
                <a:spcPct val="110000"/>
              </a:lnSpc>
              <a:buNone/>
            </a:pPr>
            <a:r>
              <a:rPr lang="zh-CN" altLang="en-US" b="1" dirty="0">
                <a:solidFill>
                  <a:srgbClr val="FF0000"/>
                </a:solidFill>
                <a:latin typeface="Times New Roman" panose="02020603050405020304" pitchFamily="18" charset="0"/>
                <a:cs typeface="Times New Roman" panose="02020603050405020304" pitchFamily="18" charset="0"/>
              </a:rPr>
              <a:t>一棵</a:t>
            </a:r>
            <a:r>
              <a:rPr lang="en-US" altLang="zh-CN" b="1" dirty="0">
                <a:solidFill>
                  <a:srgbClr val="FF0000"/>
                </a:solidFill>
                <a:latin typeface="Times New Roman" panose="02020603050405020304" pitchFamily="18" charset="0"/>
                <a:cs typeface="Times New Roman" panose="02020603050405020304" pitchFamily="18" charset="0"/>
              </a:rPr>
              <a:t>2</a:t>
            </a:r>
            <a:r>
              <a:rPr lang="zh-CN" altLang="en-US" b="1" dirty="0">
                <a:solidFill>
                  <a:srgbClr val="FF0000"/>
                </a:solidFill>
                <a:latin typeface="Times New Roman" panose="02020603050405020304" pitchFamily="18" charset="0"/>
                <a:cs typeface="Times New Roman" panose="02020603050405020304" pitchFamily="18" charset="0"/>
              </a:rPr>
              <a:t>叉树产生一组二元前缀码</a:t>
            </a:r>
            <a:r>
              <a:rPr lang="en-US" altLang="zh-CN" b="1" dirty="0">
                <a:solidFill>
                  <a:srgbClr val="FF0000"/>
                </a:solidFill>
                <a:latin typeface="Times New Roman" panose="02020603050405020304" pitchFamily="18" charset="0"/>
                <a:cs typeface="Times New Roman" panose="02020603050405020304" pitchFamily="18" charset="0"/>
              </a:rPr>
              <a:t>:</a:t>
            </a:r>
          </a:p>
          <a:p>
            <a:pPr marL="0" indent="0" algn="just">
              <a:lnSpc>
                <a:spcPct val="110000"/>
              </a:lnSpc>
              <a:buNone/>
            </a:pPr>
            <a:r>
              <a:rPr lang="en-US" altLang="zh-CN" b="1" dirty="0">
                <a:latin typeface="Times New Roman" panose="02020603050405020304" pitchFamily="18" charset="0"/>
                <a:cs typeface="Times New Roman" panose="02020603050405020304" pitchFamily="18" charset="0"/>
              </a:rPr>
              <a:t>①</a:t>
            </a:r>
            <a:r>
              <a:rPr lang="zh-CN" altLang="en-US" b="1" dirty="0">
                <a:latin typeface="Times New Roman" panose="02020603050405020304" pitchFamily="18" charset="0"/>
                <a:cs typeface="Times New Roman" panose="02020603050405020304" pitchFamily="18" charset="0"/>
              </a:rPr>
              <a:t>对每个分支点, 若关联2条边, 则给左边标0, 右边标1; </a:t>
            </a:r>
            <a:endParaRPr lang="en-US" altLang="zh-CN" b="1" dirty="0">
              <a:latin typeface="Times New Roman" panose="02020603050405020304" pitchFamily="18" charset="0"/>
              <a:cs typeface="Times New Roman" panose="02020603050405020304" pitchFamily="18" charset="0"/>
            </a:endParaRPr>
          </a:p>
          <a:p>
            <a:pPr marL="0" indent="0" algn="just">
              <a:lnSpc>
                <a:spcPct val="110000"/>
              </a:lnSpc>
              <a:buNone/>
            </a:pPr>
            <a:r>
              <a:rPr lang="zh-CN" altLang="en-US" b="1" dirty="0">
                <a:latin typeface="Times New Roman" panose="02020603050405020304" pitchFamily="18" charset="0"/>
                <a:cs typeface="Times New Roman" panose="02020603050405020304" pitchFamily="18" charset="0"/>
              </a:rPr>
              <a:t>②若只关联1条边, 则可以给它标0(看作左边), 也可以标1(看作右边). </a:t>
            </a:r>
            <a:endParaRPr lang="en-US" altLang="zh-CN" b="1" dirty="0">
              <a:latin typeface="Times New Roman" panose="02020603050405020304" pitchFamily="18" charset="0"/>
              <a:cs typeface="Times New Roman" panose="02020603050405020304" pitchFamily="18" charset="0"/>
            </a:endParaRPr>
          </a:p>
          <a:p>
            <a:pPr marL="0" indent="0" algn="just">
              <a:lnSpc>
                <a:spcPct val="110000"/>
              </a:lnSpc>
              <a:buNone/>
            </a:pPr>
            <a:r>
              <a:rPr lang="zh-CN" altLang="en-US" b="1" dirty="0">
                <a:latin typeface="Times New Roman" panose="02020603050405020304" pitchFamily="18" charset="0"/>
                <a:cs typeface="Times New Roman" panose="02020603050405020304" pitchFamily="18" charset="0"/>
              </a:rPr>
              <a:t>③将从树根到每一片树叶的通路上标识的数字组成的字符串记在树叶处, 所得的字符串构成一个前缀码.</a:t>
            </a:r>
            <a:endParaRPr lang="en-US" altLang="zh-CN" b="1"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0000"/>
              </a:lnSpc>
              <a:spcBef>
                <a:spcPts val="0"/>
              </a:spcBef>
              <a:spcAft>
                <a:spcPts val="0"/>
              </a:spcAft>
              <a:buClrTx/>
              <a:buSzTx/>
              <a:buFontTx/>
              <a:buNone/>
              <a:tabLst/>
              <a:defRPr/>
            </a:pPr>
            <a:r>
              <a:rPr kumimoji="0" lang="zh-CN" altLang="en-US" sz="1200" b="1" dirty="0"/>
              <a:t>前缀码：{00, 11, 011, 0100 , 010</a:t>
            </a:r>
            <a:r>
              <a:rPr kumimoji="0" lang="en-US" altLang="zh-CN" sz="1200" b="1" dirty="0"/>
              <a:t>1</a:t>
            </a:r>
            <a:r>
              <a:rPr kumimoji="0" lang="zh-CN" altLang="en-US" sz="1200" b="1" dirty="0"/>
              <a:t>}， {00, 1</a:t>
            </a:r>
            <a:r>
              <a:rPr kumimoji="0" lang="en-US" altLang="zh-CN" sz="1200" b="1" dirty="0"/>
              <a:t>0</a:t>
            </a:r>
            <a:r>
              <a:rPr kumimoji="0" lang="zh-CN" altLang="en-US" sz="1200" b="1" dirty="0"/>
              <a:t>, 011, 0100 , 010</a:t>
            </a:r>
            <a:r>
              <a:rPr kumimoji="0" lang="en-US" altLang="zh-CN" sz="1200" b="1" dirty="0"/>
              <a:t>1</a:t>
            </a:r>
            <a:r>
              <a:rPr kumimoji="0" lang="zh-CN" altLang="en-US" sz="1200" b="1" dirty="0"/>
              <a:t>}</a:t>
            </a:r>
          </a:p>
          <a:p>
            <a:pPr marL="0" indent="0" algn="just">
              <a:lnSpc>
                <a:spcPct val="110000"/>
              </a:lnSpc>
              <a:buNone/>
            </a:pPr>
            <a:endParaRPr lang="en-US" altLang="zh-CN"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35</a:t>
            </a:fld>
            <a:endParaRPr lang="zh-CN" altLang="en-US"/>
          </a:p>
        </p:txBody>
      </p:sp>
    </p:spTree>
    <p:extLst>
      <p:ext uri="{BB962C8B-B14F-4D97-AF65-F5344CB8AC3E}">
        <p14:creationId xmlns:p14="http://schemas.microsoft.com/office/powerpoint/2010/main" val="4768404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r>
              <a:rPr lang="zh-CN" altLang="en-US" sz="1200" b="1" dirty="0">
                <a:solidFill>
                  <a:srgbClr val="00B0F0"/>
                </a:solidFill>
              </a:rPr>
              <a:t>例：</a:t>
            </a:r>
            <a:r>
              <a:rPr lang="zh-CN" altLang="en-US" sz="1200" b="1" dirty="0"/>
              <a:t>在通信中,设八进制数字出现的频率(%)如下:</a:t>
            </a:r>
          </a:p>
          <a:p>
            <a:pPr algn="just" eaLnBrk="1" hangingPunct="1">
              <a:lnSpc>
                <a:spcPct val="110000"/>
              </a:lnSpc>
              <a:buFontTx/>
              <a:buNone/>
            </a:pPr>
            <a:r>
              <a:rPr lang="zh-CN" altLang="en-US" sz="1200" b="1" dirty="0"/>
              <a:t>      </a:t>
            </a:r>
            <a:r>
              <a:rPr lang="zh-CN" altLang="en-US" sz="1200" b="1" dirty="0">
                <a:latin typeface="Times New Roman" panose="02020603050405020304" pitchFamily="18" charset="0"/>
                <a:cs typeface="Times New Roman" panose="02020603050405020304" pitchFamily="18" charset="0"/>
              </a:rPr>
              <a:t>0: </a:t>
            </a:r>
            <a:r>
              <a:rPr lang="en-US" altLang="zh-CN" sz="1200" b="1" dirty="0">
                <a:latin typeface="Times New Roman" panose="02020603050405020304" pitchFamily="18" charset="0"/>
                <a:cs typeface="Times New Roman" panose="02020603050405020304" pitchFamily="18" charset="0"/>
              </a:rPr>
              <a:t>30</a:t>
            </a:r>
            <a:r>
              <a:rPr lang="zh-CN" altLang="en-US" sz="1200" b="1" dirty="0">
                <a:latin typeface="Times New Roman" panose="02020603050405020304" pitchFamily="18" charset="0"/>
                <a:cs typeface="Times New Roman" panose="02020603050405020304" pitchFamily="18" charset="0"/>
              </a:rPr>
              <a:t>,  1: 20,  2: 15,  3: 10,  4: 10,  5: </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  6: 5,  7: 5</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采用2元前缀码, 求传输数字最少的2元前缀码 (称作</a:t>
            </a:r>
            <a:r>
              <a:rPr lang="zh-CN" altLang="en-US" sz="1200" b="1" dirty="0">
                <a:solidFill>
                  <a:srgbClr val="FF3300"/>
                </a:solidFill>
                <a:latin typeface="Times New Roman" panose="02020603050405020304" pitchFamily="18" charset="0"/>
                <a:cs typeface="Times New Roman" panose="02020603050405020304" pitchFamily="18" charset="0"/>
              </a:rPr>
              <a:t>最佳</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前缀码</a:t>
            </a:r>
            <a:r>
              <a:rPr lang="zh-CN" altLang="en-US" sz="1200" b="1" dirty="0">
                <a:latin typeface="Times New Roman" panose="02020603050405020304" pitchFamily="18" charset="0"/>
                <a:cs typeface="Times New Roman" panose="02020603050405020304" pitchFamily="18" charset="0"/>
              </a:rPr>
              <a:t>), 并求传输100</a:t>
            </a:r>
            <a:r>
              <a:rPr lang="en-US" altLang="zh-CN" sz="1200" b="1" dirty="0">
                <a:latin typeface="Times New Roman" panose="02020603050405020304" pitchFamily="18" charset="0"/>
                <a:cs typeface="Times New Roman" panose="02020603050405020304" pitchFamily="18" charset="0"/>
              </a:rPr>
              <a:t>00</a:t>
            </a:r>
            <a:r>
              <a:rPr lang="zh-CN" altLang="en-US" sz="1200" b="1" dirty="0">
                <a:latin typeface="Times New Roman" panose="02020603050405020304" pitchFamily="18" charset="0"/>
                <a:cs typeface="Times New Roman" panose="02020603050405020304" pitchFamily="18" charset="0"/>
              </a:rPr>
              <a:t>个按上述比例出现的八进制数字需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要多少个二进制数字？若用等长的 (长为3) 的码字传输需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a:t>
            </a:r>
            <a:endParaRPr lang="en-US" altLang="zh-CN" sz="12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解：</a:t>
            </a:r>
            <a:r>
              <a:rPr lang="zh-CN" altLang="en-US" sz="1200" b="1" dirty="0">
                <a:latin typeface="Times New Roman" panose="02020603050405020304" pitchFamily="18" charset="0"/>
                <a:cs typeface="Times New Roman" panose="02020603050405020304" pitchFamily="18" charset="0"/>
              </a:rPr>
              <a:t>①</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用</a:t>
            </a:r>
            <a:r>
              <a:rPr lang="en-US" altLang="zh-CN" sz="1200" b="1" dirty="0">
                <a:latin typeface="Times New Roman" panose="02020603050405020304" pitchFamily="18" charset="0"/>
                <a:cs typeface="Times New Roman" panose="02020603050405020304" pitchFamily="18" charset="0"/>
              </a:rPr>
              <a:t>Huffman</a:t>
            </a:r>
            <a:r>
              <a:rPr lang="zh-CN" altLang="en-US" sz="1200" b="1" dirty="0">
                <a:latin typeface="Times New Roman" panose="02020603050405020304" pitchFamily="18" charset="0"/>
                <a:cs typeface="Times New Roman" panose="02020603050405020304" pitchFamily="18" charset="0"/>
              </a:rPr>
              <a:t>算法求以频率(乘以100)为权的最优2元树. </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3</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4</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5</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6</a:t>
            </a:r>
            <a:r>
              <a:rPr lang="en-US" altLang="zh-CN" sz="1200" b="1" dirty="0">
                <a:latin typeface="Times New Roman" panose="02020603050405020304" pitchFamily="18" charset="0"/>
                <a:cs typeface="Times New Roman" panose="02020603050405020304" pitchFamily="18" charset="0"/>
              </a:rPr>
              <a:t>=15,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7</a:t>
            </a:r>
            <a:r>
              <a:rPr lang="en-US" altLang="zh-CN" sz="1200" b="1" dirty="0">
                <a:latin typeface="Times New Roman" panose="02020603050405020304" pitchFamily="18" charset="0"/>
                <a:cs typeface="Times New Roman" panose="02020603050405020304" pitchFamily="18" charset="0"/>
              </a:rPr>
              <a:t>=20,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8</a:t>
            </a:r>
            <a:r>
              <a:rPr lang="en-US" altLang="zh-CN" sz="1200" b="1" dirty="0">
                <a:latin typeface="Times New Roman" panose="02020603050405020304" pitchFamily="18" charset="0"/>
                <a:cs typeface="Times New Roman" panose="02020603050405020304" pitchFamily="18" charset="0"/>
              </a:rPr>
              <a:t>=30</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36</a:t>
            </a:fld>
            <a:endParaRPr lang="zh-CN" altLang="en-US"/>
          </a:p>
        </p:txBody>
      </p:sp>
    </p:spTree>
    <p:extLst>
      <p:ext uri="{BB962C8B-B14F-4D97-AF65-F5344CB8AC3E}">
        <p14:creationId xmlns:p14="http://schemas.microsoft.com/office/powerpoint/2010/main" val="36786973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r>
              <a:rPr lang="zh-CN" altLang="en-US" sz="1200" b="1" dirty="0">
                <a:solidFill>
                  <a:srgbClr val="00B0F0"/>
                </a:solidFill>
              </a:rPr>
              <a:t>例：</a:t>
            </a:r>
            <a:r>
              <a:rPr lang="zh-CN" altLang="en-US" sz="1200" b="1" dirty="0"/>
              <a:t>在通信中,设八进制数字出现的频率(%)如下:</a:t>
            </a:r>
          </a:p>
          <a:p>
            <a:pPr algn="just" eaLnBrk="1" hangingPunct="1">
              <a:lnSpc>
                <a:spcPct val="110000"/>
              </a:lnSpc>
              <a:buFontTx/>
              <a:buNone/>
            </a:pPr>
            <a:r>
              <a:rPr lang="zh-CN" altLang="en-US" sz="1200" b="1" dirty="0"/>
              <a:t>      </a:t>
            </a:r>
            <a:r>
              <a:rPr lang="zh-CN" altLang="en-US" sz="1200" b="1" dirty="0">
                <a:latin typeface="Times New Roman" panose="02020603050405020304" pitchFamily="18" charset="0"/>
                <a:cs typeface="Times New Roman" panose="02020603050405020304" pitchFamily="18" charset="0"/>
              </a:rPr>
              <a:t>0: </a:t>
            </a:r>
            <a:r>
              <a:rPr lang="en-US" altLang="zh-CN" sz="1200" b="1" dirty="0">
                <a:latin typeface="Times New Roman" panose="02020603050405020304" pitchFamily="18" charset="0"/>
                <a:cs typeface="Times New Roman" panose="02020603050405020304" pitchFamily="18" charset="0"/>
              </a:rPr>
              <a:t>30</a:t>
            </a:r>
            <a:r>
              <a:rPr lang="zh-CN" altLang="en-US" sz="1200" b="1" dirty="0">
                <a:latin typeface="Times New Roman" panose="02020603050405020304" pitchFamily="18" charset="0"/>
                <a:cs typeface="Times New Roman" panose="02020603050405020304" pitchFamily="18" charset="0"/>
              </a:rPr>
              <a:t>,  1: 20,  2: 15,  3: 10,  4: 10,  5: </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  6: 5,  7: 5</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采用2元前缀码, 求传输数字最少的2元前缀码 (称作</a:t>
            </a:r>
            <a:r>
              <a:rPr lang="zh-CN" altLang="en-US" sz="1200" b="1" dirty="0">
                <a:solidFill>
                  <a:srgbClr val="FF3300"/>
                </a:solidFill>
                <a:latin typeface="Times New Roman" panose="02020603050405020304" pitchFamily="18" charset="0"/>
                <a:cs typeface="Times New Roman" panose="02020603050405020304" pitchFamily="18" charset="0"/>
              </a:rPr>
              <a:t>最佳</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前缀码</a:t>
            </a:r>
            <a:r>
              <a:rPr lang="zh-CN" altLang="en-US" sz="1200" b="1" dirty="0">
                <a:latin typeface="Times New Roman" panose="02020603050405020304" pitchFamily="18" charset="0"/>
                <a:cs typeface="Times New Roman" panose="02020603050405020304" pitchFamily="18" charset="0"/>
              </a:rPr>
              <a:t>), 并求传输100</a:t>
            </a:r>
            <a:r>
              <a:rPr lang="en-US" altLang="zh-CN" sz="1200" b="1" dirty="0">
                <a:latin typeface="Times New Roman" panose="02020603050405020304" pitchFamily="18" charset="0"/>
                <a:cs typeface="Times New Roman" panose="02020603050405020304" pitchFamily="18" charset="0"/>
              </a:rPr>
              <a:t>00</a:t>
            </a:r>
            <a:r>
              <a:rPr lang="zh-CN" altLang="en-US" sz="1200" b="1" dirty="0">
                <a:latin typeface="Times New Roman" panose="02020603050405020304" pitchFamily="18" charset="0"/>
                <a:cs typeface="Times New Roman" panose="02020603050405020304" pitchFamily="18" charset="0"/>
              </a:rPr>
              <a:t>个按上述比例出现的八进制数字需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要多少个二进制数字？若用等长的 (长为3) 的码字传输需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a:t>
            </a:r>
            <a:endParaRPr lang="en-US" altLang="zh-CN" sz="12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解：</a:t>
            </a:r>
            <a:r>
              <a:rPr lang="zh-CN" altLang="en-US" sz="1200" b="1" dirty="0">
                <a:latin typeface="Times New Roman" panose="02020603050405020304" pitchFamily="18" charset="0"/>
                <a:cs typeface="Times New Roman" panose="02020603050405020304" pitchFamily="18" charset="0"/>
              </a:rPr>
              <a:t>①</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用</a:t>
            </a:r>
            <a:r>
              <a:rPr lang="en-US" altLang="zh-CN" sz="1200" b="1" dirty="0">
                <a:latin typeface="Times New Roman" panose="02020603050405020304" pitchFamily="18" charset="0"/>
                <a:cs typeface="Times New Roman" panose="02020603050405020304" pitchFamily="18" charset="0"/>
              </a:rPr>
              <a:t>Huffman</a:t>
            </a:r>
            <a:r>
              <a:rPr lang="zh-CN" altLang="en-US" sz="1200" b="1" dirty="0">
                <a:latin typeface="Times New Roman" panose="02020603050405020304" pitchFamily="18" charset="0"/>
                <a:cs typeface="Times New Roman" panose="02020603050405020304" pitchFamily="18" charset="0"/>
              </a:rPr>
              <a:t>算法求以频率(乘以100)为权的最优2元树. </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3</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4</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5</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6</a:t>
            </a:r>
            <a:r>
              <a:rPr lang="en-US" altLang="zh-CN" sz="1200" b="1" dirty="0">
                <a:latin typeface="Times New Roman" panose="02020603050405020304" pitchFamily="18" charset="0"/>
                <a:cs typeface="Times New Roman" panose="02020603050405020304" pitchFamily="18" charset="0"/>
              </a:rPr>
              <a:t>=15,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7</a:t>
            </a:r>
            <a:r>
              <a:rPr lang="en-US" altLang="zh-CN" sz="1200" b="1" dirty="0">
                <a:latin typeface="Times New Roman" panose="02020603050405020304" pitchFamily="18" charset="0"/>
                <a:cs typeface="Times New Roman" panose="02020603050405020304" pitchFamily="18" charset="0"/>
              </a:rPr>
              <a:t>=20,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8</a:t>
            </a:r>
            <a:r>
              <a:rPr lang="en-US" altLang="zh-CN" sz="1200" b="1" dirty="0">
                <a:latin typeface="Times New Roman" panose="02020603050405020304" pitchFamily="18" charset="0"/>
                <a:cs typeface="Times New Roman" panose="02020603050405020304" pitchFamily="18" charset="0"/>
              </a:rPr>
              <a:t>=30</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37</a:t>
            </a:fld>
            <a:endParaRPr lang="zh-CN" altLang="en-US"/>
          </a:p>
        </p:txBody>
      </p:sp>
    </p:spTree>
    <p:extLst>
      <p:ext uri="{BB962C8B-B14F-4D97-AF65-F5344CB8AC3E}">
        <p14:creationId xmlns:p14="http://schemas.microsoft.com/office/powerpoint/2010/main" val="15345549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r>
              <a:rPr lang="zh-CN" altLang="en-US" sz="1200" b="1" dirty="0">
                <a:solidFill>
                  <a:srgbClr val="00B0F0"/>
                </a:solidFill>
              </a:rPr>
              <a:t>例：</a:t>
            </a:r>
            <a:r>
              <a:rPr lang="zh-CN" altLang="en-US" sz="1200" b="1" dirty="0"/>
              <a:t>在通信中,设八进制数字出现的频率(%)如下:</a:t>
            </a:r>
          </a:p>
          <a:p>
            <a:pPr algn="just" eaLnBrk="1" hangingPunct="1">
              <a:lnSpc>
                <a:spcPct val="110000"/>
              </a:lnSpc>
              <a:buFontTx/>
              <a:buNone/>
            </a:pPr>
            <a:r>
              <a:rPr lang="zh-CN" altLang="en-US" sz="1200" b="1" dirty="0"/>
              <a:t>      </a:t>
            </a:r>
            <a:r>
              <a:rPr lang="zh-CN" altLang="en-US" sz="1200" b="1" dirty="0">
                <a:latin typeface="Times New Roman" panose="02020603050405020304" pitchFamily="18" charset="0"/>
                <a:cs typeface="Times New Roman" panose="02020603050405020304" pitchFamily="18" charset="0"/>
              </a:rPr>
              <a:t>0: </a:t>
            </a:r>
            <a:r>
              <a:rPr lang="en-US" altLang="zh-CN" sz="1200" b="1" dirty="0">
                <a:latin typeface="Times New Roman" panose="02020603050405020304" pitchFamily="18" charset="0"/>
                <a:cs typeface="Times New Roman" panose="02020603050405020304" pitchFamily="18" charset="0"/>
              </a:rPr>
              <a:t>30</a:t>
            </a:r>
            <a:r>
              <a:rPr lang="zh-CN" altLang="en-US" sz="1200" b="1" dirty="0">
                <a:latin typeface="Times New Roman" panose="02020603050405020304" pitchFamily="18" charset="0"/>
                <a:cs typeface="Times New Roman" panose="02020603050405020304" pitchFamily="18" charset="0"/>
              </a:rPr>
              <a:t>,  1: 20,  2: 15,  3: 10,  4: 10,  5: </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  6: 5,  7: 5</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采用2元前缀码, 求传输数字最少的2元前缀码 (称作</a:t>
            </a:r>
            <a:r>
              <a:rPr lang="zh-CN" altLang="en-US" sz="1200" b="1" dirty="0">
                <a:solidFill>
                  <a:srgbClr val="FF3300"/>
                </a:solidFill>
                <a:latin typeface="Times New Roman" panose="02020603050405020304" pitchFamily="18" charset="0"/>
                <a:cs typeface="Times New Roman" panose="02020603050405020304" pitchFamily="18" charset="0"/>
              </a:rPr>
              <a:t>最佳</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前缀码</a:t>
            </a:r>
            <a:r>
              <a:rPr lang="zh-CN" altLang="en-US" sz="1200" b="1" dirty="0">
                <a:latin typeface="Times New Roman" panose="02020603050405020304" pitchFamily="18" charset="0"/>
                <a:cs typeface="Times New Roman" panose="02020603050405020304" pitchFamily="18" charset="0"/>
              </a:rPr>
              <a:t>), 并求传输100</a:t>
            </a:r>
            <a:r>
              <a:rPr lang="en-US" altLang="zh-CN" sz="1200" b="1" dirty="0">
                <a:latin typeface="Times New Roman" panose="02020603050405020304" pitchFamily="18" charset="0"/>
                <a:cs typeface="Times New Roman" panose="02020603050405020304" pitchFamily="18" charset="0"/>
              </a:rPr>
              <a:t>00</a:t>
            </a:r>
            <a:r>
              <a:rPr lang="zh-CN" altLang="en-US" sz="1200" b="1" dirty="0">
                <a:latin typeface="Times New Roman" panose="02020603050405020304" pitchFamily="18" charset="0"/>
                <a:cs typeface="Times New Roman" panose="02020603050405020304" pitchFamily="18" charset="0"/>
              </a:rPr>
              <a:t>个按上述比例出现的八进制数字需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要多少个二进制数字？若用等长的 (长为3) 的码字传输需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a:t>
            </a:r>
            <a:endParaRPr lang="en-US" altLang="zh-CN" sz="12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解：</a:t>
            </a:r>
            <a:r>
              <a:rPr lang="zh-CN" altLang="en-US" sz="1200" b="1" dirty="0">
                <a:latin typeface="Times New Roman" panose="02020603050405020304" pitchFamily="18" charset="0"/>
                <a:cs typeface="Times New Roman" panose="02020603050405020304" pitchFamily="18" charset="0"/>
              </a:rPr>
              <a:t>①</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用</a:t>
            </a:r>
            <a:r>
              <a:rPr lang="en-US" altLang="zh-CN" sz="1200" b="1" dirty="0">
                <a:latin typeface="Times New Roman" panose="02020603050405020304" pitchFamily="18" charset="0"/>
                <a:cs typeface="Times New Roman" panose="02020603050405020304" pitchFamily="18" charset="0"/>
              </a:rPr>
              <a:t>Huffman</a:t>
            </a:r>
            <a:r>
              <a:rPr lang="zh-CN" altLang="en-US" sz="1200" b="1" dirty="0">
                <a:latin typeface="Times New Roman" panose="02020603050405020304" pitchFamily="18" charset="0"/>
                <a:cs typeface="Times New Roman" panose="02020603050405020304" pitchFamily="18" charset="0"/>
              </a:rPr>
              <a:t>算法求以频率(乘以100)为权的最优2元树. </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3</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4</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5</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6</a:t>
            </a:r>
            <a:r>
              <a:rPr lang="en-US" altLang="zh-CN" sz="1200" b="1" dirty="0">
                <a:latin typeface="Times New Roman" panose="02020603050405020304" pitchFamily="18" charset="0"/>
                <a:cs typeface="Times New Roman" panose="02020603050405020304" pitchFamily="18" charset="0"/>
              </a:rPr>
              <a:t>=15,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7</a:t>
            </a:r>
            <a:r>
              <a:rPr lang="en-US" altLang="zh-CN" sz="1200" b="1" dirty="0">
                <a:latin typeface="Times New Roman" panose="02020603050405020304" pitchFamily="18" charset="0"/>
                <a:cs typeface="Times New Roman" panose="02020603050405020304" pitchFamily="18" charset="0"/>
              </a:rPr>
              <a:t>=20,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8</a:t>
            </a:r>
            <a:r>
              <a:rPr lang="en-US" altLang="zh-CN" sz="1200" b="1" dirty="0">
                <a:latin typeface="Times New Roman" panose="02020603050405020304" pitchFamily="18" charset="0"/>
                <a:cs typeface="Times New Roman" panose="02020603050405020304" pitchFamily="18" charset="0"/>
              </a:rPr>
              <a:t>=30</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38</a:t>
            </a:fld>
            <a:endParaRPr lang="zh-CN" altLang="en-US"/>
          </a:p>
        </p:txBody>
      </p:sp>
    </p:spTree>
    <p:extLst>
      <p:ext uri="{BB962C8B-B14F-4D97-AF65-F5344CB8AC3E}">
        <p14:creationId xmlns:p14="http://schemas.microsoft.com/office/powerpoint/2010/main" val="13342550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r>
              <a:rPr lang="zh-CN" altLang="en-US" sz="1200" b="1" dirty="0">
                <a:solidFill>
                  <a:srgbClr val="00B0F0"/>
                </a:solidFill>
              </a:rPr>
              <a:t>例：</a:t>
            </a:r>
            <a:r>
              <a:rPr lang="zh-CN" altLang="en-US" sz="1200" b="1" dirty="0"/>
              <a:t>在通信中,设八进制数字出现的频率(%)如下:</a:t>
            </a:r>
          </a:p>
          <a:p>
            <a:pPr algn="just" eaLnBrk="1" hangingPunct="1">
              <a:lnSpc>
                <a:spcPct val="110000"/>
              </a:lnSpc>
              <a:buFontTx/>
              <a:buNone/>
            </a:pPr>
            <a:r>
              <a:rPr lang="zh-CN" altLang="en-US" sz="1200" b="1" dirty="0"/>
              <a:t>      </a:t>
            </a:r>
            <a:r>
              <a:rPr lang="zh-CN" altLang="en-US" sz="1200" b="1" dirty="0">
                <a:latin typeface="Times New Roman" panose="02020603050405020304" pitchFamily="18" charset="0"/>
                <a:cs typeface="Times New Roman" panose="02020603050405020304" pitchFamily="18" charset="0"/>
              </a:rPr>
              <a:t>0: </a:t>
            </a:r>
            <a:r>
              <a:rPr lang="en-US" altLang="zh-CN" sz="1200" b="1" dirty="0">
                <a:latin typeface="Times New Roman" panose="02020603050405020304" pitchFamily="18" charset="0"/>
                <a:cs typeface="Times New Roman" panose="02020603050405020304" pitchFamily="18" charset="0"/>
              </a:rPr>
              <a:t>30</a:t>
            </a:r>
            <a:r>
              <a:rPr lang="zh-CN" altLang="en-US" sz="1200" b="1" dirty="0">
                <a:latin typeface="Times New Roman" panose="02020603050405020304" pitchFamily="18" charset="0"/>
                <a:cs typeface="Times New Roman" panose="02020603050405020304" pitchFamily="18" charset="0"/>
              </a:rPr>
              <a:t>,  1: 20,  2: 15,  3: 10,  4: 10,  5: </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  6: 5,  7: 5</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采用2元前缀码, 求传输数字最少的2元前缀码 (称作</a:t>
            </a:r>
            <a:r>
              <a:rPr lang="zh-CN" altLang="en-US" sz="1200" b="1" dirty="0">
                <a:solidFill>
                  <a:srgbClr val="FF3300"/>
                </a:solidFill>
                <a:latin typeface="Times New Roman" panose="02020603050405020304" pitchFamily="18" charset="0"/>
                <a:cs typeface="Times New Roman" panose="02020603050405020304" pitchFamily="18" charset="0"/>
              </a:rPr>
              <a:t>最佳</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前缀码</a:t>
            </a:r>
            <a:r>
              <a:rPr lang="zh-CN" altLang="en-US" sz="1200" b="1" dirty="0">
                <a:latin typeface="Times New Roman" panose="02020603050405020304" pitchFamily="18" charset="0"/>
                <a:cs typeface="Times New Roman" panose="02020603050405020304" pitchFamily="18" charset="0"/>
              </a:rPr>
              <a:t>), 并求传输100</a:t>
            </a:r>
            <a:r>
              <a:rPr lang="en-US" altLang="zh-CN" sz="1200" b="1" dirty="0">
                <a:latin typeface="Times New Roman" panose="02020603050405020304" pitchFamily="18" charset="0"/>
                <a:cs typeface="Times New Roman" panose="02020603050405020304" pitchFamily="18" charset="0"/>
              </a:rPr>
              <a:t>00</a:t>
            </a:r>
            <a:r>
              <a:rPr lang="zh-CN" altLang="en-US" sz="1200" b="1" dirty="0">
                <a:latin typeface="Times New Roman" panose="02020603050405020304" pitchFamily="18" charset="0"/>
                <a:cs typeface="Times New Roman" panose="02020603050405020304" pitchFamily="18" charset="0"/>
              </a:rPr>
              <a:t>个按上述比例出现的八进制数字需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要多少个二进制数字？若用等长的 (长为3) 的码字传输需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a:t>
            </a:r>
            <a:endParaRPr lang="en-US" altLang="zh-CN" sz="12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解：</a:t>
            </a:r>
            <a:r>
              <a:rPr lang="zh-CN" altLang="en-US" sz="1200" b="1" dirty="0">
                <a:latin typeface="Times New Roman" panose="02020603050405020304" pitchFamily="18" charset="0"/>
                <a:cs typeface="Times New Roman" panose="02020603050405020304" pitchFamily="18" charset="0"/>
              </a:rPr>
              <a:t>①</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用</a:t>
            </a:r>
            <a:r>
              <a:rPr lang="en-US" altLang="zh-CN" sz="1200" b="1" dirty="0">
                <a:latin typeface="Times New Roman" panose="02020603050405020304" pitchFamily="18" charset="0"/>
                <a:cs typeface="Times New Roman" panose="02020603050405020304" pitchFamily="18" charset="0"/>
              </a:rPr>
              <a:t>Huffman</a:t>
            </a:r>
            <a:r>
              <a:rPr lang="zh-CN" altLang="en-US" sz="1200" b="1" dirty="0">
                <a:latin typeface="Times New Roman" panose="02020603050405020304" pitchFamily="18" charset="0"/>
                <a:cs typeface="Times New Roman" panose="02020603050405020304" pitchFamily="18" charset="0"/>
              </a:rPr>
              <a:t>算法求以频率(乘以100)为权的最优2元树. </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3</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4</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5</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6</a:t>
            </a:r>
            <a:r>
              <a:rPr lang="en-US" altLang="zh-CN" sz="1200" b="1" dirty="0">
                <a:latin typeface="Times New Roman" panose="02020603050405020304" pitchFamily="18" charset="0"/>
                <a:cs typeface="Times New Roman" panose="02020603050405020304" pitchFamily="18" charset="0"/>
              </a:rPr>
              <a:t>=15,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7</a:t>
            </a:r>
            <a:r>
              <a:rPr lang="en-US" altLang="zh-CN" sz="1200" b="1" dirty="0">
                <a:latin typeface="Times New Roman" panose="02020603050405020304" pitchFamily="18" charset="0"/>
                <a:cs typeface="Times New Roman" panose="02020603050405020304" pitchFamily="18" charset="0"/>
              </a:rPr>
              <a:t>=20,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8</a:t>
            </a:r>
            <a:r>
              <a:rPr lang="en-US" altLang="zh-CN" sz="1200" b="1" dirty="0">
                <a:latin typeface="Times New Roman" panose="02020603050405020304" pitchFamily="18" charset="0"/>
                <a:cs typeface="Times New Roman" panose="02020603050405020304" pitchFamily="18" charset="0"/>
              </a:rPr>
              <a:t>=30</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39</a:t>
            </a:fld>
            <a:endParaRPr lang="zh-CN" altLang="en-US"/>
          </a:p>
        </p:txBody>
      </p:sp>
    </p:spTree>
    <p:extLst>
      <p:ext uri="{BB962C8B-B14F-4D97-AF65-F5344CB8AC3E}">
        <p14:creationId xmlns:p14="http://schemas.microsoft.com/office/powerpoint/2010/main" val="25120641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7.2.1 </a:t>
            </a:r>
            <a:r>
              <a:rPr lang="zh-CN" altLang="en-US" dirty="0"/>
              <a:t>根树及其分类</a:t>
            </a:r>
          </a:p>
          <a:p>
            <a:r>
              <a:rPr lang="en-US" altLang="zh-CN" dirty="0"/>
              <a:t>7.2.2 </a:t>
            </a:r>
            <a:r>
              <a:rPr lang="zh-CN" altLang="en-US" dirty="0"/>
              <a:t>最优树与哈夫曼算法</a:t>
            </a:r>
          </a:p>
          <a:p>
            <a:r>
              <a:rPr lang="en-US" altLang="zh-CN" dirty="0"/>
              <a:t>7.2.3 </a:t>
            </a:r>
            <a:r>
              <a:rPr lang="zh-CN" altLang="en-US" dirty="0"/>
              <a:t>最佳前缀码</a:t>
            </a:r>
          </a:p>
          <a:p>
            <a:r>
              <a:rPr lang="en-US" altLang="zh-CN" dirty="0"/>
              <a:t>7.2.4 </a:t>
            </a:r>
            <a:r>
              <a:rPr lang="zh-CN" altLang="en-US" dirty="0"/>
              <a:t>根树的行遍及其应用</a:t>
            </a:r>
          </a:p>
          <a:p>
            <a:pPr marL="1884363" lvl="1" indent="277813" eaLnBrk="1" hangingPunct="1"/>
            <a:r>
              <a:rPr lang="zh-CN" altLang="en-US" b="1" dirty="0"/>
              <a:t>中序行遍法、前序行遍法和后序行遍法</a:t>
            </a:r>
          </a:p>
          <a:p>
            <a:pPr marL="1884363" lvl="1" indent="277813" eaLnBrk="1" hangingPunct="1"/>
            <a:r>
              <a:rPr lang="zh-CN" altLang="en-US" b="1" dirty="0"/>
              <a:t>波兰符号法与逆波兰符号法</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40</a:t>
            </a:fld>
            <a:endParaRPr lang="zh-CN" altLang="en-US"/>
          </a:p>
        </p:txBody>
      </p:sp>
    </p:spTree>
    <p:extLst>
      <p:ext uri="{BB962C8B-B14F-4D97-AF65-F5344CB8AC3E}">
        <p14:creationId xmlns:p14="http://schemas.microsoft.com/office/powerpoint/2010/main" val="38592380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Times New Roman" panose="02020603050405020304" pitchFamily="18" charset="0"/>
              </a:rPr>
              <a:t>行遍</a:t>
            </a:r>
            <a:r>
              <a:rPr lang="en-US" altLang="zh-CN" sz="1200" b="1" dirty="0">
                <a:solidFill>
                  <a:srgbClr val="FF3300"/>
                </a:solidFill>
                <a:latin typeface="Times New Roman" panose="02020603050405020304" pitchFamily="18" charset="0"/>
              </a:rPr>
              <a:t>(</a:t>
            </a:r>
            <a:r>
              <a:rPr lang="zh-CN" altLang="en-US" sz="1200" b="1" dirty="0">
                <a:solidFill>
                  <a:srgbClr val="FF3300"/>
                </a:solidFill>
                <a:latin typeface="Times New Roman" panose="02020603050405020304" pitchFamily="18" charset="0"/>
              </a:rPr>
              <a:t>周游</a:t>
            </a:r>
            <a:r>
              <a:rPr lang="en-US" altLang="zh-CN" sz="1200" b="1" dirty="0">
                <a:solidFill>
                  <a:srgbClr val="FF3300"/>
                </a:solidFill>
                <a:latin typeface="Times New Roman" panose="02020603050405020304" pitchFamily="18" charset="0"/>
              </a:rPr>
              <a:t>)</a:t>
            </a:r>
            <a:r>
              <a:rPr lang="zh-CN" altLang="en-US" sz="1200" b="1" dirty="0">
                <a:solidFill>
                  <a:srgbClr val="FF3300"/>
                </a:solidFill>
                <a:latin typeface="Times New Roman" panose="02020603050405020304" pitchFamily="18" charset="0"/>
              </a:rPr>
              <a:t>根树</a:t>
            </a:r>
            <a:r>
              <a:rPr lang="en-US" altLang="zh-CN" sz="1200" b="1" dirty="0"/>
              <a:t>: </a:t>
            </a:r>
            <a:r>
              <a:rPr lang="zh-CN" altLang="en-US" sz="1200" b="1" dirty="0"/>
              <a:t>对根树每个顶点访问一次且仅访问一次</a:t>
            </a:r>
            <a:r>
              <a:rPr lang="en-US" altLang="zh-CN" sz="1200" b="1" dirty="0"/>
              <a:t>.</a:t>
            </a:r>
            <a:endParaRPr lang="zh-CN" altLang="en-US" sz="1200" b="1" dirty="0"/>
          </a:p>
          <a:p>
            <a:pPr algn="just" eaLnBrk="1" hangingPunct="1">
              <a:buFont typeface="Wingdings" panose="05000000000000000000" pitchFamily="2" charset="2"/>
              <a:buNone/>
            </a:pPr>
            <a:r>
              <a:rPr lang="zh-CN" altLang="en-US" sz="1200" b="1" dirty="0">
                <a:solidFill>
                  <a:srgbClr val="FF0000"/>
                </a:solidFill>
                <a:latin typeface="Times New Roman" panose="02020603050405020304" pitchFamily="18" charset="0"/>
              </a:rPr>
              <a:t>行遍</a:t>
            </a:r>
            <a:r>
              <a:rPr lang="en-US" altLang="zh-CN" sz="1200" b="1" dirty="0">
                <a:solidFill>
                  <a:srgbClr val="FF0000"/>
                </a:solidFill>
                <a:latin typeface="Times New Roman" panose="02020603050405020304" pitchFamily="18" charset="0"/>
              </a:rPr>
              <a:t>2</a:t>
            </a:r>
            <a:r>
              <a:rPr lang="zh-CN" altLang="en-US" sz="1200" b="1" dirty="0">
                <a:solidFill>
                  <a:srgbClr val="FF0000"/>
                </a:solidFill>
                <a:latin typeface="Times New Roman" panose="02020603050405020304" pitchFamily="18" charset="0"/>
              </a:rPr>
              <a:t>叉有序树的方式</a:t>
            </a:r>
            <a:r>
              <a:rPr lang="zh-CN" altLang="en-US" sz="1200" b="1" dirty="0">
                <a:latin typeface="Times New Roman" panose="02020603050405020304" pitchFamily="18" charset="0"/>
              </a:rPr>
              <a:t>：</a:t>
            </a:r>
          </a:p>
          <a:p>
            <a:pPr algn="just" eaLnBrk="1" hangingPunct="1">
              <a:buFont typeface="Wingdings" panose="05000000000000000000" pitchFamily="2" charset="2"/>
              <a:buNone/>
            </a:pPr>
            <a:r>
              <a:rPr lang="zh-CN" altLang="en-US" sz="1200" b="1" dirty="0">
                <a:latin typeface="Times New Roman" panose="02020603050405020304" pitchFamily="18" charset="0"/>
              </a:rPr>
              <a:t>    ① </a:t>
            </a:r>
            <a:r>
              <a:rPr lang="zh-CN" altLang="en-US" sz="1200" b="1" dirty="0">
                <a:solidFill>
                  <a:srgbClr val="FF0000"/>
                </a:solidFill>
                <a:latin typeface="Times New Roman" panose="02020603050405020304" pitchFamily="18" charset="0"/>
              </a:rPr>
              <a:t>中序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左子树、根、右子树</a:t>
            </a:r>
          </a:p>
          <a:p>
            <a:pPr algn="just" eaLnBrk="1" hangingPunct="1">
              <a:buFont typeface="Wingdings" panose="05000000000000000000" pitchFamily="2" charset="2"/>
              <a:buNone/>
            </a:pPr>
            <a:r>
              <a:rPr lang="zh-CN" altLang="en-US" sz="1200" b="1" dirty="0">
                <a:latin typeface="Times New Roman" panose="02020603050405020304" pitchFamily="18" charset="0"/>
              </a:rPr>
              <a:t>    ② </a:t>
            </a:r>
            <a:r>
              <a:rPr lang="zh-CN" altLang="en-US" sz="1200" b="1" dirty="0">
                <a:solidFill>
                  <a:srgbClr val="FF0000"/>
                </a:solidFill>
                <a:latin typeface="Times New Roman" panose="02020603050405020304" pitchFamily="18" charset="0"/>
              </a:rPr>
              <a:t>前序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根、左子树、右子树</a:t>
            </a:r>
          </a:p>
          <a:p>
            <a:pPr eaLnBrk="1" hangingPunct="1">
              <a:buFont typeface="Wingdings" panose="05000000000000000000" pitchFamily="2" charset="2"/>
              <a:buNone/>
            </a:pPr>
            <a:r>
              <a:rPr lang="zh-CN" altLang="en-US" sz="1200" b="1" dirty="0">
                <a:latin typeface="Times New Roman" panose="02020603050405020304" pitchFamily="18" charset="0"/>
              </a:rPr>
              <a:t>    ③ </a:t>
            </a:r>
            <a:r>
              <a:rPr lang="zh-CN" altLang="en-US" sz="1200" b="1" dirty="0">
                <a:solidFill>
                  <a:srgbClr val="FF0000"/>
                </a:solidFill>
                <a:latin typeface="Times New Roman" panose="02020603050405020304" pitchFamily="18" charset="0"/>
              </a:rPr>
              <a:t>后序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左子树、右子树、根 </a:t>
            </a:r>
          </a:p>
          <a:p>
            <a:pPr algn="just" eaLnBrk="1" hangingPunct="1">
              <a:buFont typeface="Wingdings" panose="05000000000000000000" pitchFamily="2" charset="2"/>
              <a:buNone/>
            </a:pPr>
            <a:r>
              <a:rPr lang="zh-CN" altLang="zh-CN" sz="1200" b="1" dirty="0"/>
              <a:t>当</a:t>
            </a:r>
            <a:r>
              <a:rPr lang="en-US" altLang="zh-CN" b="1" dirty="0"/>
              <a:t>2</a:t>
            </a:r>
            <a:r>
              <a:rPr lang="zh-CN" altLang="en-US" b="1" dirty="0"/>
              <a:t>叉有序树</a:t>
            </a:r>
            <a:r>
              <a:rPr lang="zh-CN" altLang="zh-CN" sz="1200" b="1" dirty="0"/>
              <a:t>不是正则树时</a:t>
            </a:r>
            <a:r>
              <a:rPr lang="en-US" altLang="zh-CN" sz="1200" b="1" dirty="0"/>
              <a:t>, </a:t>
            </a:r>
            <a:r>
              <a:rPr lang="zh-CN" altLang="zh-CN" sz="1200" b="1" dirty="0"/>
              <a:t>左子树或右子树可缺省</a:t>
            </a:r>
            <a:endParaRPr lang="en-US" altLang="zh-CN" sz="1200" b="1" dirty="0"/>
          </a:p>
          <a:p>
            <a:pPr algn="just" eaLnBrk="1" hangingPunct="1">
              <a:buFont typeface="Wingdings" panose="05000000000000000000" pitchFamily="2" charset="2"/>
              <a:buNone/>
            </a:pPr>
            <a:endParaRPr lang="en-US" altLang="zh-CN" sz="1200" b="1" dirty="0"/>
          </a:p>
          <a:p>
            <a:pPr algn="just" eaLnBrk="1" hangingPunct="1">
              <a:buFont typeface="Wingdings" panose="05000000000000000000" pitchFamily="2" charset="2"/>
              <a:buNone/>
            </a:pPr>
            <a:r>
              <a:rPr lang="zh-CN" altLang="en-US" sz="1200" b="1" dirty="0">
                <a:solidFill>
                  <a:srgbClr val="00B0F0"/>
                </a:solidFill>
                <a:latin typeface="Times New Roman" panose="02020603050405020304" pitchFamily="18" charset="0"/>
              </a:rPr>
              <a:t>例</a:t>
            </a:r>
            <a:r>
              <a:rPr lang="en-US" altLang="zh-CN" sz="1200" b="1" dirty="0">
                <a:solidFill>
                  <a:srgbClr val="00B0F0"/>
                </a:solidFill>
                <a:latin typeface="Times New Roman" panose="02020603050405020304" pitchFamily="18" charset="0"/>
              </a:rPr>
              <a:t>:  </a:t>
            </a:r>
            <a:r>
              <a:rPr lang="zh-CN" altLang="en-US" sz="1200" b="1" dirty="0">
                <a:latin typeface="Times New Roman" panose="02020603050405020304" pitchFamily="18" charset="0"/>
              </a:rPr>
              <a:t>右图的行遍结果为：</a:t>
            </a:r>
            <a:r>
              <a:rPr lang="en-US" altLang="zh-CN" sz="1200" b="1" dirty="0">
                <a:latin typeface="Times New Roman" panose="02020603050405020304" pitchFamily="18" charset="0"/>
              </a:rPr>
              <a:t> </a:t>
            </a:r>
          </a:p>
          <a:p>
            <a:pPr algn="just" eaLnBrk="1" hangingPunct="1">
              <a:buFont typeface="Wingdings" panose="05000000000000000000" pitchFamily="2" charset="2"/>
              <a:buNone/>
            </a:pPr>
            <a:r>
              <a:rPr lang="en-US" altLang="zh-CN" sz="1200" b="1" dirty="0">
                <a:latin typeface="Times New Roman" panose="02020603050405020304" pitchFamily="18" charset="0"/>
              </a:rPr>
              <a:t> </a:t>
            </a:r>
            <a:r>
              <a:rPr lang="zh-CN" altLang="en-US" sz="1200" b="1" dirty="0">
                <a:latin typeface="Times New Roman" panose="02020603050405020304" pitchFamily="18" charset="0"/>
              </a:rPr>
              <a:t>中序行遍</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 </a:t>
            </a:r>
          </a:p>
          <a:p>
            <a:pPr algn="just" eaLnBrk="1" hangingPunct="1">
              <a:buFont typeface="Wingdings" panose="05000000000000000000" pitchFamily="2" charset="2"/>
              <a:buNone/>
            </a:pPr>
            <a:r>
              <a:rPr lang="zh-CN" altLang="en-US" sz="1200" b="1" dirty="0">
                <a:latin typeface="Times New Roman" panose="02020603050405020304" pitchFamily="18" charset="0"/>
              </a:rPr>
              <a:t> 前序行遍</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a:t>
            </a:r>
            <a:endParaRPr lang="zh-CN" altLang="en-US" sz="1200" b="1" dirty="0">
              <a:latin typeface="Times New Roman" panose="02020603050405020304" pitchFamily="18" charset="0"/>
            </a:endParaRPr>
          </a:p>
          <a:p>
            <a:pPr algn="just" eaLnBrk="1" hangingPunct="1">
              <a:buFont typeface="Wingdings" panose="05000000000000000000" pitchFamily="2" charset="2"/>
              <a:buNone/>
            </a:pPr>
            <a:r>
              <a:rPr lang="zh-CN" altLang="en-US" sz="1200" b="1" dirty="0">
                <a:latin typeface="Times New Roman" panose="02020603050405020304" pitchFamily="18" charset="0"/>
              </a:rPr>
              <a:t>后序行遍</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p>
          <a:p>
            <a:pPr algn="just" eaLnBrk="1" hangingPunct="1">
              <a:buFont typeface="Wingdings" panose="05000000000000000000" pitchFamily="2" charset="2"/>
              <a:buNone/>
            </a:pPr>
            <a:r>
              <a:rPr lang="zh-CN" altLang="en-US" sz="1200" b="1" i="1" dirty="0">
                <a:solidFill>
                  <a:srgbClr val="00B0F0"/>
                </a:solidFill>
                <a:latin typeface="Times New Roman" panose="02020603050405020304" pitchFamily="18" charset="0"/>
              </a:rPr>
              <a:t>*</a:t>
            </a:r>
            <a:r>
              <a:rPr lang="zh-CN" altLang="en-US" sz="1200" b="1" dirty="0"/>
              <a:t>带下划线的是(子)树根, 一对括号内是一棵子树</a:t>
            </a:r>
            <a:endParaRPr lang="en-US" altLang="zh-CN" sz="1200" b="1" i="1" u="sng" dirty="0">
              <a:latin typeface="Times New Roman" panose="02020603050405020304" pitchFamily="18" charset="0"/>
            </a:endParaRPr>
          </a:p>
          <a:p>
            <a:pPr algn="just" eaLnBrk="1" hangingPunct="1">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41</a:t>
            </a:fld>
            <a:endParaRPr lang="zh-CN" altLang="en-US"/>
          </a:p>
        </p:txBody>
      </p:sp>
    </p:spTree>
    <p:extLst>
      <p:ext uri="{BB962C8B-B14F-4D97-AF65-F5344CB8AC3E}">
        <p14:creationId xmlns:p14="http://schemas.microsoft.com/office/powerpoint/2010/main" val="14093039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Times New Roman" panose="02020603050405020304" pitchFamily="18" charset="0"/>
              </a:rPr>
              <a:t>行遍</a:t>
            </a:r>
            <a:r>
              <a:rPr lang="en-US" altLang="zh-CN" sz="1200" b="1" dirty="0">
                <a:solidFill>
                  <a:srgbClr val="FF3300"/>
                </a:solidFill>
                <a:latin typeface="Times New Roman" panose="02020603050405020304" pitchFamily="18" charset="0"/>
              </a:rPr>
              <a:t>(</a:t>
            </a:r>
            <a:r>
              <a:rPr lang="zh-CN" altLang="en-US" sz="1200" b="1" dirty="0">
                <a:solidFill>
                  <a:srgbClr val="FF3300"/>
                </a:solidFill>
                <a:latin typeface="Times New Roman" panose="02020603050405020304" pitchFamily="18" charset="0"/>
              </a:rPr>
              <a:t>周游</a:t>
            </a:r>
            <a:r>
              <a:rPr lang="en-US" altLang="zh-CN" sz="1200" b="1" dirty="0">
                <a:solidFill>
                  <a:srgbClr val="FF3300"/>
                </a:solidFill>
                <a:latin typeface="Times New Roman" panose="02020603050405020304" pitchFamily="18" charset="0"/>
              </a:rPr>
              <a:t>)</a:t>
            </a:r>
            <a:r>
              <a:rPr lang="zh-CN" altLang="en-US" sz="1200" b="1" dirty="0">
                <a:solidFill>
                  <a:srgbClr val="FF3300"/>
                </a:solidFill>
                <a:latin typeface="Times New Roman" panose="02020603050405020304" pitchFamily="18" charset="0"/>
              </a:rPr>
              <a:t>根树</a:t>
            </a:r>
            <a:r>
              <a:rPr lang="en-US" altLang="zh-CN" sz="1200" b="1" dirty="0"/>
              <a:t>: </a:t>
            </a:r>
            <a:r>
              <a:rPr lang="zh-CN" altLang="en-US" sz="1200" b="1" dirty="0"/>
              <a:t>对根树每个顶点访问一次且仅访问一次</a:t>
            </a:r>
            <a:r>
              <a:rPr lang="en-US" altLang="zh-CN" sz="1200" b="1" dirty="0"/>
              <a:t>.</a:t>
            </a:r>
            <a:endParaRPr lang="zh-CN" altLang="en-US" sz="1200" b="1" dirty="0"/>
          </a:p>
          <a:p>
            <a:pPr algn="just" eaLnBrk="1" hangingPunct="1">
              <a:buFont typeface="Wingdings" panose="05000000000000000000" pitchFamily="2" charset="2"/>
              <a:buNone/>
            </a:pPr>
            <a:r>
              <a:rPr lang="zh-CN" altLang="en-US" sz="1200" b="1" dirty="0">
                <a:solidFill>
                  <a:srgbClr val="FF0000"/>
                </a:solidFill>
                <a:latin typeface="Times New Roman" panose="02020603050405020304" pitchFamily="18" charset="0"/>
              </a:rPr>
              <a:t>行遍</a:t>
            </a:r>
            <a:r>
              <a:rPr lang="en-US" altLang="zh-CN" sz="1200" b="1" dirty="0">
                <a:solidFill>
                  <a:srgbClr val="FF0000"/>
                </a:solidFill>
                <a:latin typeface="Times New Roman" panose="02020603050405020304" pitchFamily="18" charset="0"/>
              </a:rPr>
              <a:t>2</a:t>
            </a:r>
            <a:r>
              <a:rPr lang="zh-CN" altLang="en-US" sz="1200" b="1" dirty="0">
                <a:solidFill>
                  <a:srgbClr val="FF0000"/>
                </a:solidFill>
                <a:latin typeface="Times New Roman" panose="02020603050405020304" pitchFamily="18" charset="0"/>
              </a:rPr>
              <a:t>叉有序树的方式</a:t>
            </a:r>
            <a:r>
              <a:rPr lang="zh-CN" altLang="en-US" sz="1200" b="1" dirty="0">
                <a:latin typeface="Times New Roman" panose="02020603050405020304" pitchFamily="18" charset="0"/>
              </a:rPr>
              <a:t>：</a:t>
            </a:r>
          </a:p>
          <a:p>
            <a:pPr algn="just" eaLnBrk="1" hangingPunct="1">
              <a:buFont typeface="Wingdings" panose="05000000000000000000" pitchFamily="2" charset="2"/>
              <a:buNone/>
            </a:pPr>
            <a:r>
              <a:rPr lang="zh-CN" altLang="en-US" sz="1200" b="1" dirty="0">
                <a:latin typeface="Times New Roman" panose="02020603050405020304" pitchFamily="18" charset="0"/>
              </a:rPr>
              <a:t>    ① </a:t>
            </a:r>
            <a:r>
              <a:rPr lang="zh-CN" altLang="en-US" sz="1200" b="1" dirty="0">
                <a:solidFill>
                  <a:srgbClr val="FF0000"/>
                </a:solidFill>
                <a:latin typeface="Times New Roman" panose="02020603050405020304" pitchFamily="18" charset="0"/>
              </a:rPr>
              <a:t>中序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左子树、根、右子树</a:t>
            </a:r>
          </a:p>
          <a:p>
            <a:pPr algn="just" eaLnBrk="1" hangingPunct="1">
              <a:buFont typeface="Wingdings" panose="05000000000000000000" pitchFamily="2" charset="2"/>
              <a:buNone/>
            </a:pPr>
            <a:r>
              <a:rPr lang="zh-CN" altLang="en-US" sz="1200" b="1" dirty="0">
                <a:latin typeface="Times New Roman" panose="02020603050405020304" pitchFamily="18" charset="0"/>
              </a:rPr>
              <a:t>    ② </a:t>
            </a:r>
            <a:r>
              <a:rPr lang="zh-CN" altLang="en-US" sz="1200" b="1" dirty="0">
                <a:solidFill>
                  <a:srgbClr val="FF0000"/>
                </a:solidFill>
                <a:latin typeface="Times New Roman" panose="02020603050405020304" pitchFamily="18" charset="0"/>
              </a:rPr>
              <a:t>前序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根、左子树、右子树</a:t>
            </a:r>
          </a:p>
          <a:p>
            <a:pPr eaLnBrk="1" hangingPunct="1">
              <a:buFont typeface="Wingdings" panose="05000000000000000000" pitchFamily="2" charset="2"/>
              <a:buNone/>
            </a:pPr>
            <a:r>
              <a:rPr lang="zh-CN" altLang="en-US" sz="1200" b="1" dirty="0">
                <a:latin typeface="Times New Roman" panose="02020603050405020304" pitchFamily="18" charset="0"/>
              </a:rPr>
              <a:t>    ③ </a:t>
            </a:r>
            <a:r>
              <a:rPr lang="zh-CN" altLang="en-US" sz="1200" b="1" dirty="0">
                <a:solidFill>
                  <a:srgbClr val="FF0000"/>
                </a:solidFill>
                <a:latin typeface="Times New Roman" panose="02020603050405020304" pitchFamily="18" charset="0"/>
              </a:rPr>
              <a:t>后序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左子树、右子树、根 </a:t>
            </a:r>
          </a:p>
          <a:p>
            <a:pPr algn="just" eaLnBrk="1" hangingPunct="1">
              <a:buFont typeface="Wingdings" panose="05000000000000000000" pitchFamily="2" charset="2"/>
              <a:buNone/>
            </a:pPr>
            <a:r>
              <a:rPr lang="zh-CN" altLang="zh-CN" sz="1200" b="1" dirty="0"/>
              <a:t>当</a:t>
            </a:r>
            <a:r>
              <a:rPr lang="en-US" altLang="zh-CN" b="1" dirty="0"/>
              <a:t>2</a:t>
            </a:r>
            <a:r>
              <a:rPr lang="zh-CN" altLang="en-US" b="1" dirty="0"/>
              <a:t>叉有序树</a:t>
            </a:r>
            <a:r>
              <a:rPr lang="zh-CN" altLang="zh-CN" sz="1200" b="1" dirty="0"/>
              <a:t>不是正则树时</a:t>
            </a:r>
            <a:r>
              <a:rPr lang="en-US" altLang="zh-CN" sz="1200" b="1" dirty="0"/>
              <a:t>, </a:t>
            </a:r>
            <a:r>
              <a:rPr lang="zh-CN" altLang="zh-CN" sz="1200" b="1" dirty="0"/>
              <a:t>左子树或右子树可缺省</a:t>
            </a:r>
            <a:endParaRPr lang="en-US" altLang="zh-CN" sz="1200" b="1" dirty="0"/>
          </a:p>
          <a:p>
            <a:pPr algn="just" eaLnBrk="1" hangingPunct="1">
              <a:buFont typeface="Wingdings" panose="05000000000000000000" pitchFamily="2" charset="2"/>
              <a:buNone/>
            </a:pPr>
            <a:endParaRPr lang="en-US" altLang="zh-CN" sz="1200" b="1" dirty="0"/>
          </a:p>
          <a:p>
            <a:pPr algn="just" eaLnBrk="1" hangingPunct="1">
              <a:buFont typeface="Wingdings" panose="05000000000000000000" pitchFamily="2" charset="2"/>
              <a:buNone/>
            </a:pPr>
            <a:r>
              <a:rPr lang="zh-CN" altLang="en-US" sz="1200" b="1" dirty="0">
                <a:solidFill>
                  <a:srgbClr val="00B0F0"/>
                </a:solidFill>
                <a:latin typeface="Times New Roman" panose="02020603050405020304" pitchFamily="18" charset="0"/>
              </a:rPr>
              <a:t>例</a:t>
            </a:r>
            <a:r>
              <a:rPr lang="en-US" altLang="zh-CN" sz="1200" b="1" dirty="0">
                <a:solidFill>
                  <a:srgbClr val="00B0F0"/>
                </a:solidFill>
                <a:latin typeface="Times New Roman" panose="02020603050405020304" pitchFamily="18" charset="0"/>
              </a:rPr>
              <a:t>:  </a:t>
            </a:r>
            <a:r>
              <a:rPr lang="zh-CN" altLang="en-US" sz="1200" b="1" dirty="0">
                <a:latin typeface="Times New Roman" panose="02020603050405020304" pitchFamily="18" charset="0"/>
              </a:rPr>
              <a:t>右图的行遍结果为：</a:t>
            </a:r>
            <a:r>
              <a:rPr lang="en-US" altLang="zh-CN" sz="1200" b="1" dirty="0">
                <a:latin typeface="Times New Roman" panose="02020603050405020304" pitchFamily="18" charset="0"/>
              </a:rPr>
              <a:t> </a:t>
            </a:r>
          </a:p>
          <a:p>
            <a:pPr algn="just" eaLnBrk="1" hangingPunct="1">
              <a:buFont typeface="Wingdings" panose="05000000000000000000" pitchFamily="2" charset="2"/>
              <a:buNone/>
            </a:pPr>
            <a:r>
              <a:rPr lang="en-US" altLang="zh-CN" sz="1200" b="1" dirty="0">
                <a:latin typeface="Times New Roman" panose="02020603050405020304" pitchFamily="18" charset="0"/>
              </a:rPr>
              <a:t> </a:t>
            </a:r>
            <a:r>
              <a:rPr lang="zh-CN" altLang="en-US" sz="1200" b="1" dirty="0">
                <a:latin typeface="Times New Roman" panose="02020603050405020304" pitchFamily="18" charset="0"/>
              </a:rPr>
              <a:t>中序行遍</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 </a:t>
            </a:r>
          </a:p>
          <a:p>
            <a:pPr algn="just" eaLnBrk="1" hangingPunct="1">
              <a:buFont typeface="Wingdings" panose="05000000000000000000" pitchFamily="2" charset="2"/>
              <a:buNone/>
            </a:pPr>
            <a:r>
              <a:rPr lang="zh-CN" altLang="en-US" sz="1200" b="1" dirty="0">
                <a:latin typeface="Times New Roman" panose="02020603050405020304" pitchFamily="18" charset="0"/>
              </a:rPr>
              <a:t> 前序行遍</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a:t>
            </a:r>
            <a:endParaRPr lang="zh-CN" altLang="en-US" sz="1200" b="1" dirty="0">
              <a:latin typeface="Times New Roman" panose="02020603050405020304" pitchFamily="18" charset="0"/>
            </a:endParaRPr>
          </a:p>
          <a:p>
            <a:pPr algn="just" eaLnBrk="1" hangingPunct="1">
              <a:buFont typeface="Wingdings" panose="05000000000000000000" pitchFamily="2" charset="2"/>
              <a:buNone/>
            </a:pPr>
            <a:r>
              <a:rPr lang="zh-CN" altLang="en-US" sz="1200" b="1" dirty="0">
                <a:latin typeface="Times New Roman" panose="02020603050405020304" pitchFamily="18" charset="0"/>
              </a:rPr>
              <a:t>后序行遍</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p>
          <a:p>
            <a:pPr algn="just" eaLnBrk="1" hangingPunct="1">
              <a:buFont typeface="Wingdings" panose="05000000000000000000" pitchFamily="2" charset="2"/>
              <a:buNone/>
            </a:pPr>
            <a:r>
              <a:rPr lang="zh-CN" altLang="en-US" sz="1200" b="1" i="1" dirty="0">
                <a:solidFill>
                  <a:srgbClr val="00B0F0"/>
                </a:solidFill>
                <a:latin typeface="Times New Roman" panose="02020603050405020304" pitchFamily="18" charset="0"/>
              </a:rPr>
              <a:t>*</a:t>
            </a:r>
            <a:r>
              <a:rPr lang="zh-CN" altLang="en-US" sz="1200" b="1" dirty="0"/>
              <a:t>带下划线的是(子)树根, 一对括号内是一棵子树</a:t>
            </a:r>
            <a:endParaRPr lang="en-US" altLang="zh-CN" sz="1200" b="1" i="1" u="sng" dirty="0">
              <a:latin typeface="Times New Roman" panose="02020603050405020304" pitchFamily="18" charset="0"/>
            </a:endParaRPr>
          </a:p>
          <a:p>
            <a:pPr algn="just" eaLnBrk="1" hangingPunct="1">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42</a:t>
            </a:fld>
            <a:endParaRPr lang="zh-CN" altLang="en-US"/>
          </a:p>
        </p:txBody>
      </p:sp>
    </p:spTree>
    <p:extLst>
      <p:ext uri="{BB962C8B-B14F-4D97-AF65-F5344CB8AC3E}">
        <p14:creationId xmlns:p14="http://schemas.microsoft.com/office/powerpoint/2010/main" val="38908757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panose="05000000000000000000" pitchFamily="2" charset="2"/>
              <a:buNone/>
            </a:pPr>
            <a:r>
              <a:rPr lang="zh-CN" altLang="en-US" sz="1200" b="1" dirty="0">
                <a:latin typeface="Times New Roman" panose="02020603050405020304" pitchFamily="18" charset="0"/>
                <a:cs typeface="Times New Roman" panose="02020603050405020304" pitchFamily="18" charset="0"/>
              </a:rPr>
              <a:t>①</a:t>
            </a:r>
            <a:r>
              <a:rPr lang="zh-CN" altLang="zh-CN" sz="1200" b="1" dirty="0">
                <a:latin typeface="Times New Roman" panose="02020603050405020304" pitchFamily="18" charset="0"/>
                <a:cs typeface="Times New Roman" panose="02020603050405020304" pitchFamily="18" charset="0"/>
              </a:rPr>
              <a:t>每一个分支点放一个运算符</a:t>
            </a:r>
            <a:r>
              <a:rPr lang="en-US" altLang="zh-CN" sz="1200" b="1" dirty="0">
                <a:latin typeface="Times New Roman" panose="02020603050405020304" pitchFamily="18" charset="0"/>
                <a:cs typeface="Times New Roman" panose="02020603050405020304" pitchFamily="18" charset="0"/>
              </a:rPr>
              <a:t>. </a:t>
            </a:r>
          </a:p>
          <a:p>
            <a:pPr algn="just" eaLnBrk="1" hangingPunct="1">
              <a:buFont typeface="Wingdings" panose="05000000000000000000" pitchFamily="2" charset="2"/>
              <a:buNone/>
            </a:pPr>
            <a:r>
              <a:rPr lang="zh-CN" altLang="en-US" sz="1200" b="1" dirty="0">
                <a:latin typeface="Times New Roman" panose="02020603050405020304" pitchFamily="18" charset="0"/>
                <a:cs typeface="Times New Roman" panose="02020603050405020304" pitchFamily="18" charset="0"/>
              </a:rPr>
              <a:t>②</a:t>
            </a:r>
            <a:r>
              <a:rPr lang="zh-CN" altLang="zh-CN" sz="1200" b="1" dirty="0">
                <a:latin typeface="Times New Roman" panose="02020603050405020304" pitchFamily="18" charset="0"/>
                <a:cs typeface="Times New Roman" panose="02020603050405020304" pitchFamily="18" charset="0"/>
              </a:rPr>
              <a:t>二元运算符</a:t>
            </a:r>
            <a:r>
              <a:rPr lang="zh-CN" altLang="en-US" sz="1200" b="1" dirty="0">
                <a:latin typeface="Times New Roman" panose="02020603050405020304" pitchFamily="18" charset="0"/>
                <a:cs typeface="Times New Roman" panose="02020603050405020304" pitchFamily="18" charset="0"/>
              </a:rPr>
              <a:t>所在</a:t>
            </a:r>
            <a:r>
              <a:rPr lang="zh-CN" altLang="zh-CN" sz="1200" b="1" dirty="0">
                <a:latin typeface="Times New Roman" panose="02020603050405020304" pitchFamily="18" charset="0"/>
                <a:cs typeface="Times New Roman" panose="02020603050405020304" pitchFamily="18" charset="0"/>
              </a:rPr>
              <a:t>的分支点有</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个儿子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运算对象是以这</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个儿子为根的根子树表示的子表达式</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并规定被减数和被除数放在左子树上</a:t>
            </a:r>
            <a:r>
              <a:rPr lang="en-US" altLang="zh-CN" sz="1200" b="1" dirty="0">
                <a:latin typeface="Times New Roman" panose="02020603050405020304" pitchFamily="18" charset="0"/>
                <a:cs typeface="Times New Roman" panose="02020603050405020304" pitchFamily="18" charset="0"/>
              </a:rPr>
              <a:t>; </a:t>
            </a:r>
          </a:p>
          <a:p>
            <a:pPr algn="just" eaLnBrk="1" hangingPunct="1">
              <a:buFont typeface="Wingdings" panose="05000000000000000000" pitchFamily="2" charset="2"/>
              <a:buNone/>
            </a:pPr>
            <a:r>
              <a:rPr lang="en-US" altLang="zh-CN" sz="1200" b="1" dirty="0">
                <a:latin typeface="Times New Roman" panose="02020603050405020304" pitchFamily="18" charset="0"/>
                <a:cs typeface="Times New Roman" panose="02020603050405020304" pitchFamily="18" charset="0"/>
              </a:rPr>
              <a:t>③</a:t>
            </a:r>
            <a:r>
              <a:rPr lang="zh-CN" altLang="zh-CN" sz="1200" b="1" dirty="0">
                <a:latin typeface="Times New Roman" panose="02020603050405020304" pitchFamily="18" charset="0"/>
                <a:cs typeface="Times New Roman" panose="02020603050405020304" pitchFamily="18" charset="0"/>
              </a:rPr>
              <a:t>一元运算符</a:t>
            </a:r>
            <a:r>
              <a:rPr lang="zh-CN" altLang="en-US" sz="1200" b="1" dirty="0">
                <a:latin typeface="Times New Roman" panose="02020603050405020304" pitchFamily="18" charset="0"/>
                <a:cs typeface="Times New Roman" panose="02020603050405020304" pitchFamily="18" charset="0"/>
              </a:rPr>
              <a:t>所在</a:t>
            </a:r>
            <a:r>
              <a:rPr lang="zh-CN" altLang="zh-CN" sz="1200" b="1" dirty="0">
                <a:latin typeface="Times New Roman" panose="02020603050405020304" pitchFamily="18" charset="0"/>
                <a:cs typeface="Times New Roman" panose="02020603050405020304" pitchFamily="18" charset="0"/>
              </a:rPr>
              <a:t>的分支点只有一个儿子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运算对象是以这个儿子为根的根子树表示的子表达式</a:t>
            </a:r>
            <a:r>
              <a:rPr lang="en-US" altLang="zh-CN" sz="1200" b="1" dirty="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None/>
            </a:pPr>
            <a:r>
              <a:rPr lang="en-US" altLang="zh-CN" sz="1200" b="1" dirty="0">
                <a:latin typeface="Times New Roman" panose="02020603050405020304" pitchFamily="18" charset="0"/>
                <a:cs typeface="Times New Roman" panose="02020603050405020304" pitchFamily="18" charset="0"/>
              </a:rPr>
              <a:t>④</a:t>
            </a:r>
            <a:r>
              <a:rPr lang="zh-CN" altLang="zh-CN" sz="1200" b="1" dirty="0">
                <a:latin typeface="Times New Roman" panose="02020603050405020304" pitchFamily="18" charset="0"/>
                <a:cs typeface="Times New Roman" panose="02020603050405020304" pitchFamily="18" charset="0"/>
              </a:rPr>
              <a:t>数字和变量放在树叶上</a:t>
            </a:r>
            <a:r>
              <a:rPr lang="en-US" altLang="zh-CN" sz="12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endParaRPr>
          </a:p>
          <a:p>
            <a:endParaRPr lang="en-US" altLang="zh-CN" dirty="0"/>
          </a:p>
          <a:p>
            <a:r>
              <a:rPr lang="zh-CN" altLang="en-US" dirty="0"/>
              <a:t>二叉有序正则树：“平衡的二叉搜索树”（如</a:t>
            </a:r>
            <a:r>
              <a:rPr lang="en-US" altLang="zh-CN" dirty="0"/>
              <a:t>AVL</a:t>
            </a:r>
            <a:r>
              <a:rPr lang="zh-CN" altLang="en-US" dirty="0"/>
              <a:t>树或红黑树）</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solidFill>
                  <a:srgbClr val="00B0F0"/>
                </a:solidFill>
              </a:rPr>
              <a:t>例：</a:t>
            </a:r>
            <a:r>
              <a:rPr kumimoji="0" lang="zh-CN" altLang="en-US" sz="1200" b="1" dirty="0"/>
              <a:t>右图是表示算式</a:t>
            </a:r>
            <a:r>
              <a:rPr lang="zh-CN" altLang="en-US"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b</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c</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d</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a</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e</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g</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h</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i</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rPr>
              <a:t>j</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的</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叉有序树</a:t>
            </a: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Times New Roman" panose="02020603050405020304" pitchFamily="18" charset="0"/>
                <a:cs typeface="Times New Roman" panose="02020603050405020304" pitchFamily="18" charset="0"/>
              </a:rPr>
              <a:t>该</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叉有序树的中序行遍结果是原算式</a:t>
            </a: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43</a:t>
            </a:fld>
            <a:endParaRPr lang="zh-CN" altLang="en-US"/>
          </a:p>
        </p:txBody>
      </p:sp>
    </p:spTree>
    <p:extLst>
      <p:ext uri="{BB962C8B-B14F-4D97-AF65-F5344CB8AC3E}">
        <p14:creationId xmlns:p14="http://schemas.microsoft.com/office/powerpoint/2010/main" val="40155101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panose="05000000000000000000" pitchFamily="2" charset="2"/>
              <a:buNone/>
            </a:pPr>
            <a:r>
              <a:rPr lang="zh-CN" altLang="en-US" sz="1200" b="1" dirty="0">
                <a:latin typeface="Times New Roman" panose="02020603050405020304" pitchFamily="18" charset="0"/>
                <a:cs typeface="Times New Roman" panose="02020603050405020304" pitchFamily="18" charset="0"/>
              </a:rPr>
              <a:t>①</a:t>
            </a:r>
            <a:r>
              <a:rPr lang="zh-CN" altLang="zh-CN" sz="1200" b="1" dirty="0">
                <a:latin typeface="Times New Roman" panose="02020603050405020304" pitchFamily="18" charset="0"/>
                <a:cs typeface="Times New Roman" panose="02020603050405020304" pitchFamily="18" charset="0"/>
              </a:rPr>
              <a:t>每一个分支点放一个运算符</a:t>
            </a:r>
            <a:r>
              <a:rPr lang="en-US" altLang="zh-CN" sz="1200" b="1" dirty="0">
                <a:latin typeface="Times New Roman" panose="02020603050405020304" pitchFamily="18" charset="0"/>
                <a:cs typeface="Times New Roman" panose="02020603050405020304" pitchFamily="18" charset="0"/>
              </a:rPr>
              <a:t>. </a:t>
            </a:r>
          </a:p>
          <a:p>
            <a:pPr algn="just" eaLnBrk="1" hangingPunct="1">
              <a:buFont typeface="Wingdings" panose="05000000000000000000" pitchFamily="2" charset="2"/>
              <a:buNone/>
            </a:pPr>
            <a:r>
              <a:rPr lang="zh-CN" altLang="en-US" sz="1200" b="1" dirty="0">
                <a:latin typeface="Times New Roman" panose="02020603050405020304" pitchFamily="18" charset="0"/>
                <a:cs typeface="Times New Roman" panose="02020603050405020304" pitchFamily="18" charset="0"/>
              </a:rPr>
              <a:t>②</a:t>
            </a:r>
            <a:r>
              <a:rPr lang="zh-CN" altLang="zh-CN" sz="1200" b="1" dirty="0">
                <a:latin typeface="Times New Roman" panose="02020603050405020304" pitchFamily="18" charset="0"/>
                <a:cs typeface="Times New Roman" panose="02020603050405020304" pitchFamily="18" charset="0"/>
              </a:rPr>
              <a:t>二元运算符</a:t>
            </a:r>
            <a:r>
              <a:rPr lang="zh-CN" altLang="en-US" sz="1200" b="1" dirty="0">
                <a:latin typeface="Times New Roman" panose="02020603050405020304" pitchFamily="18" charset="0"/>
                <a:cs typeface="Times New Roman" panose="02020603050405020304" pitchFamily="18" charset="0"/>
              </a:rPr>
              <a:t>所在</a:t>
            </a:r>
            <a:r>
              <a:rPr lang="zh-CN" altLang="zh-CN" sz="1200" b="1" dirty="0">
                <a:latin typeface="Times New Roman" panose="02020603050405020304" pitchFamily="18" charset="0"/>
                <a:cs typeface="Times New Roman" panose="02020603050405020304" pitchFamily="18" charset="0"/>
              </a:rPr>
              <a:t>的分支点有</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个儿子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运算对象是以这</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个儿子为根的根子树表示的子表达式</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并规定被减数和被除数放在左子树上</a:t>
            </a:r>
            <a:r>
              <a:rPr lang="en-US" altLang="zh-CN" sz="1200" b="1" dirty="0">
                <a:latin typeface="Times New Roman" panose="02020603050405020304" pitchFamily="18" charset="0"/>
                <a:cs typeface="Times New Roman" panose="02020603050405020304" pitchFamily="18" charset="0"/>
              </a:rPr>
              <a:t>; </a:t>
            </a:r>
          </a:p>
          <a:p>
            <a:pPr algn="just" eaLnBrk="1" hangingPunct="1">
              <a:buFont typeface="Wingdings" panose="05000000000000000000" pitchFamily="2" charset="2"/>
              <a:buNone/>
            </a:pPr>
            <a:r>
              <a:rPr lang="en-US" altLang="zh-CN" sz="1200" b="1" dirty="0">
                <a:latin typeface="Times New Roman" panose="02020603050405020304" pitchFamily="18" charset="0"/>
                <a:cs typeface="Times New Roman" panose="02020603050405020304" pitchFamily="18" charset="0"/>
              </a:rPr>
              <a:t>③</a:t>
            </a:r>
            <a:r>
              <a:rPr lang="zh-CN" altLang="zh-CN" sz="1200" b="1" dirty="0">
                <a:latin typeface="Times New Roman" panose="02020603050405020304" pitchFamily="18" charset="0"/>
                <a:cs typeface="Times New Roman" panose="02020603050405020304" pitchFamily="18" charset="0"/>
              </a:rPr>
              <a:t>一元运算符</a:t>
            </a:r>
            <a:r>
              <a:rPr lang="zh-CN" altLang="en-US" sz="1200" b="1" dirty="0">
                <a:latin typeface="Times New Roman" panose="02020603050405020304" pitchFamily="18" charset="0"/>
                <a:cs typeface="Times New Roman" panose="02020603050405020304" pitchFamily="18" charset="0"/>
              </a:rPr>
              <a:t>所在</a:t>
            </a:r>
            <a:r>
              <a:rPr lang="zh-CN" altLang="zh-CN" sz="1200" b="1" dirty="0">
                <a:latin typeface="Times New Roman" panose="02020603050405020304" pitchFamily="18" charset="0"/>
                <a:cs typeface="Times New Roman" panose="02020603050405020304" pitchFamily="18" charset="0"/>
              </a:rPr>
              <a:t>的分支点只有一个儿子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运算对象是以这个儿子为根的根子树表示的子表达式</a:t>
            </a:r>
            <a:r>
              <a:rPr lang="en-US" altLang="zh-CN" sz="1200" b="1" dirty="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None/>
            </a:pPr>
            <a:r>
              <a:rPr lang="en-US" altLang="zh-CN" sz="1200" b="1" dirty="0">
                <a:latin typeface="Times New Roman" panose="02020603050405020304" pitchFamily="18" charset="0"/>
                <a:cs typeface="Times New Roman" panose="02020603050405020304" pitchFamily="18" charset="0"/>
              </a:rPr>
              <a:t>④</a:t>
            </a:r>
            <a:r>
              <a:rPr lang="zh-CN" altLang="zh-CN" sz="1200" b="1" dirty="0">
                <a:latin typeface="Times New Roman" panose="02020603050405020304" pitchFamily="18" charset="0"/>
                <a:cs typeface="Times New Roman" panose="02020603050405020304" pitchFamily="18" charset="0"/>
              </a:rPr>
              <a:t>数字和变量放在树叶上</a:t>
            </a:r>
            <a:r>
              <a:rPr lang="en-US" altLang="zh-CN" sz="12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endParaRPr>
          </a:p>
          <a:p>
            <a:endParaRPr lang="en-US" altLang="zh-CN" dirty="0"/>
          </a:p>
          <a:p>
            <a:r>
              <a:rPr lang="zh-CN" altLang="en-US" dirty="0"/>
              <a:t>二叉有序正则树：“平衡的二叉搜索树”（如</a:t>
            </a:r>
            <a:r>
              <a:rPr lang="en-US" altLang="zh-CN" dirty="0"/>
              <a:t>AVL</a:t>
            </a:r>
            <a:r>
              <a:rPr lang="zh-CN" altLang="en-US" dirty="0"/>
              <a:t>树或红黑树）</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solidFill>
                  <a:srgbClr val="00B0F0"/>
                </a:solidFill>
              </a:rPr>
              <a:t>例：</a:t>
            </a:r>
            <a:r>
              <a:rPr kumimoji="0" lang="zh-CN" altLang="en-US" sz="1200" b="1" dirty="0"/>
              <a:t>右图是表示算式</a:t>
            </a:r>
            <a:r>
              <a:rPr lang="zh-CN" altLang="en-US"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b</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c</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d</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a</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e</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g</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h</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i</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rPr>
              <a:t>j</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的</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叉有序树</a:t>
            </a: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Times New Roman" panose="02020603050405020304" pitchFamily="18" charset="0"/>
                <a:cs typeface="Times New Roman" panose="02020603050405020304" pitchFamily="18" charset="0"/>
              </a:rPr>
              <a:t>该</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叉有序树的中序行遍结果是原算式</a:t>
            </a: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44</a:t>
            </a:fld>
            <a:endParaRPr lang="zh-CN" altLang="en-US"/>
          </a:p>
        </p:txBody>
      </p:sp>
    </p:spTree>
    <p:extLst>
      <p:ext uri="{BB962C8B-B14F-4D97-AF65-F5344CB8AC3E}">
        <p14:creationId xmlns:p14="http://schemas.microsoft.com/office/powerpoint/2010/main" val="12730022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波兰符号法和逆波兰符号法都能清晰地表示节点之间的父子关系和操作顺序，使得树的构建和遍历变得更加直观和简单。</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两种符号法广泛应用于表达式求值、编译器设计、以及算法实现等领域，因为它们提供了一种简洁、高效的方式来处理和计算表达式。</a:t>
            </a:r>
          </a:p>
          <a:p>
            <a:pPr algn="just">
              <a:buNone/>
            </a:pPr>
            <a:r>
              <a:rPr lang="zh-CN" altLang="en-US" sz="1200" b="1" dirty="0">
                <a:solidFill>
                  <a:srgbClr val="FF3300"/>
                </a:solidFill>
              </a:rPr>
              <a:t>波兰符号法(前缀符号法)</a:t>
            </a:r>
            <a:r>
              <a:rPr lang="zh-CN" altLang="en-US" sz="1200" b="1" dirty="0"/>
              <a:t>:</a:t>
            </a:r>
            <a:r>
              <a:rPr lang="zh-CN" altLang="en-US" sz="1200" b="1" dirty="0">
                <a:latin typeface="Times New Roman" panose="02020603050405020304" pitchFamily="18" charset="0"/>
              </a:rPr>
              <a:t>按前序行遍法访问表示算式的</a:t>
            </a:r>
            <a:r>
              <a:rPr lang="en-US" altLang="zh-CN" sz="1200" b="1" dirty="0">
                <a:latin typeface="Times New Roman" panose="02020603050405020304" pitchFamily="18" charset="0"/>
              </a:rPr>
              <a:t>2</a:t>
            </a:r>
            <a:r>
              <a:rPr lang="zh-CN" altLang="en-US" sz="1200" b="1" dirty="0">
                <a:latin typeface="Times New Roman" panose="02020603050405020304" pitchFamily="18" charset="0"/>
              </a:rPr>
              <a:t>叉有序树</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并舍去所有括号</a:t>
            </a:r>
            <a:r>
              <a:rPr lang="en-US" altLang="zh-CN" sz="1200" b="1" dirty="0">
                <a:latin typeface="Times New Roman" panose="02020603050405020304" pitchFamily="18" charset="0"/>
              </a:rPr>
              <a:t>.</a:t>
            </a:r>
            <a:r>
              <a:rPr lang="zh-CN" altLang="en-US" sz="1200" b="1" dirty="0"/>
              <a:t> </a:t>
            </a:r>
          </a:p>
          <a:p>
            <a:pPr algn="just">
              <a:buFontTx/>
              <a:buNone/>
            </a:pPr>
            <a:r>
              <a:rPr lang="zh-CN" altLang="en-US" sz="1200" b="1" dirty="0">
                <a:solidFill>
                  <a:srgbClr val="FF3300"/>
                </a:solidFill>
              </a:rPr>
              <a:t>逆波兰符号法(后缀符号法)</a:t>
            </a:r>
            <a:r>
              <a:rPr lang="zh-CN" altLang="en-US" sz="1200" b="1" dirty="0"/>
              <a:t>: 按后序行遍法访问</a:t>
            </a:r>
            <a:r>
              <a:rPr lang="zh-CN" altLang="en-US" sz="1200" b="1" dirty="0">
                <a:latin typeface="Times New Roman" panose="02020603050405020304" pitchFamily="18" charset="0"/>
              </a:rPr>
              <a:t>表示算式的</a:t>
            </a:r>
            <a:r>
              <a:rPr lang="en-US" altLang="zh-CN" sz="1200" b="1" dirty="0">
                <a:latin typeface="Times New Roman" panose="02020603050405020304" pitchFamily="18" charset="0"/>
              </a:rPr>
              <a:t>2</a:t>
            </a:r>
            <a:r>
              <a:rPr lang="zh-CN" altLang="en-US" sz="1200" b="1" dirty="0">
                <a:latin typeface="Times New Roman" panose="02020603050405020304" pitchFamily="18" charset="0"/>
              </a:rPr>
              <a:t>叉有序树</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并舍去所有括号</a:t>
            </a:r>
            <a:endParaRPr lang="en-US" altLang="zh-CN" sz="1200" b="1" dirty="0">
              <a:latin typeface="Times New Roman" panose="02020603050405020304" pitchFamily="18" charset="0"/>
            </a:endParaRPr>
          </a:p>
          <a:p>
            <a:r>
              <a:rPr kumimoji="0" lang="zh-CN" altLang="en-US" sz="1200" b="1" dirty="0">
                <a:solidFill>
                  <a:srgbClr val="00B0F0"/>
                </a:solidFill>
              </a:rPr>
              <a:t>例：</a:t>
            </a:r>
            <a:r>
              <a:rPr kumimoji="0" lang="zh-CN" altLang="en-US" sz="1200" b="1" dirty="0"/>
              <a:t>右图的波兰符号法和逆波兰符号法表示结果为：</a:t>
            </a:r>
            <a:endParaRPr kumimoji="0" lang="en-US" altLang="zh-CN" sz="1200" b="1" dirty="0"/>
          </a:p>
          <a:p>
            <a:r>
              <a:rPr kumimoji="0" lang="zh-CN" altLang="en-US" sz="1200" b="1" dirty="0"/>
              <a:t>波兰符号法：</a:t>
            </a:r>
            <a:r>
              <a:rPr lang="zh-CN" altLang="en-US"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b</a:t>
            </a:r>
            <a:r>
              <a:rPr lang="en-US" altLang="zh-CN" sz="1600" b="1" dirty="0" err="1">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cda</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ef</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gh</a:t>
            </a:r>
            <a:r>
              <a:rPr lang="en-US" altLang="zh-CN" sz="1600" b="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ij</a:t>
            </a:r>
            <a:endParaRPr kumimoji="0" lang="en-US" altLang="zh-CN" sz="1600" b="1" dirty="0">
              <a:solidFill>
                <a:srgbClr val="FF0000"/>
              </a:solidFill>
              <a:latin typeface="Times New Roman" panose="02020603050405020304" pitchFamily="18" charset="0"/>
              <a:cs typeface="Times New Roman" panose="02020603050405020304" pitchFamily="18" charset="0"/>
            </a:endParaRPr>
          </a:p>
          <a:p>
            <a:r>
              <a:rPr lang="zh-CN" altLang="en-US" sz="1200" b="1" dirty="0"/>
              <a:t>逆波兰符号法：</a:t>
            </a:r>
            <a:r>
              <a:rPr lang="en-US" altLang="zh-CN" sz="1600" b="1" i="1" dirty="0" err="1">
                <a:solidFill>
                  <a:srgbClr val="FF0000"/>
                </a:solidFill>
                <a:latin typeface="Times New Roman" panose="02020603050405020304" pitchFamily="18" charset="0"/>
                <a:cs typeface="Times New Roman" panose="02020603050405020304" pitchFamily="18" charset="0"/>
              </a:rPr>
              <a:t>bcd</a:t>
            </a:r>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a</a:t>
            </a:r>
            <a:r>
              <a:rPr lang="en-US" altLang="zh-CN" sz="1600" b="1" i="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ef</a:t>
            </a:r>
            <a:r>
              <a:rPr lang="en-US" altLang="zh-CN" sz="1600" b="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gh</a:t>
            </a:r>
            <a:r>
              <a:rPr lang="en-US" altLang="zh-CN" sz="1600" b="1" dirty="0" err="1">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ij</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600" b="1" dirty="0">
                <a:solidFill>
                  <a:srgbClr val="FF0000"/>
                </a:solidFill>
                <a:latin typeface="Times New Roman" panose="02020603050405020304" pitchFamily="18" charset="0"/>
                <a:cs typeface="Times New Roman" panose="02020603050405020304" pitchFamily="18" charset="0"/>
              </a:rPr>
              <a:t> </a:t>
            </a:r>
          </a:p>
          <a:p>
            <a:pPr algn="just">
              <a:buFontTx/>
              <a:buNone/>
            </a:pPr>
            <a:endParaRPr lang="en-US" altLang="zh-CN"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计算机处理方式：对波兰符号法表示的算式，从根节点开始，首先遇到操作符，然后是其操作数。对逆波兰符号法表示的算式，从叶节点开始计算，逐步向上直至根节点</a:t>
            </a:r>
            <a:r>
              <a:rPr lang="en-US" altLang="zh-CN" sz="1200" b="1" dirty="0">
                <a:latin typeface="Times New Roman" panose="02020603050405020304" pitchFamily="18" charset="0"/>
                <a:cs typeface="Times New Roman" panose="02020603050405020304" pitchFamily="18" charset="0"/>
              </a:rPr>
              <a:t>.</a:t>
            </a:r>
            <a:endParaRPr lang="zh-CN" altLang="en-US" sz="1200" dirty="0"/>
          </a:p>
          <a:p>
            <a:pPr algn="just">
              <a:buFontTx/>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45</a:t>
            </a:fld>
            <a:endParaRPr lang="zh-CN" altLang="en-US"/>
          </a:p>
        </p:txBody>
      </p:sp>
    </p:spTree>
    <p:extLst>
      <p:ext uri="{BB962C8B-B14F-4D97-AF65-F5344CB8AC3E}">
        <p14:creationId xmlns:p14="http://schemas.microsoft.com/office/powerpoint/2010/main" val="7654466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波兰符号法和逆波兰符号法都能清晰地表示节点之间的父子关系和操作顺序，使得树的构建和遍历变得更加直观和简单。</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两种符号法广泛应用于表达式求值、编译器设计、以及算法实现等领域，因为它们提供了一种简洁、高效的方式来处理和计算表达式。</a:t>
            </a:r>
          </a:p>
          <a:p>
            <a:pPr algn="just">
              <a:buNone/>
            </a:pPr>
            <a:r>
              <a:rPr lang="zh-CN" altLang="en-US" sz="1200" b="1" dirty="0">
                <a:solidFill>
                  <a:srgbClr val="FF3300"/>
                </a:solidFill>
              </a:rPr>
              <a:t>波兰符号法(前缀符号法)</a:t>
            </a:r>
            <a:r>
              <a:rPr lang="zh-CN" altLang="en-US" sz="1200" b="1" dirty="0"/>
              <a:t>:</a:t>
            </a:r>
            <a:r>
              <a:rPr lang="zh-CN" altLang="en-US" sz="1200" b="1" dirty="0">
                <a:latin typeface="Times New Roman" panose="02020603050405020304" pitchFamily="18" charset="0"/>
              </a:rPr>
              <a:t>按前序行遍法访问表示算式的</a:t>
            </a:r>
            <a:r>
              <a:rPr lang="en-US" altLang="zh-CN" sz="1200" b="1" dirty="0">
                <a:latin typeface="Times New Roman" panose="02020603050405020304" pitchFamily="18" charset="0"/>
              </a:rPr>
              <a:t>2</a:t>
            </a:r>
            <a:r>
              <a:rPr lang="zh-CN" altLang="en-US" sz="1200" b="1" dirty="0">
                <a:latin typeface="Times New Roman" panose="02020603050405020304" pitchFamily="18" charset="0"/>
              </a:rPr>
              <a:t>叉有序树</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并舍去所有括号</a:t>
            </a:r>
            <a:r>
              <a:rPr lang="en-US" altLang="zh-CN" sz="1200" b="1" dirty="0">
                <a:latin typeface="Times New Roman" panose="02020603050405020304" pitchFamily="18" charset="0"/>
              </a:rPr>
              <a:t>.</a:t>
            </a:r>
            <a:r>
              <a:rPr lang="zh-CN" altLang="en-US" sz="1200" b="1" dirty="0"/>
              <a:t> </a:t>
            </a:r>
          </a:p>
          <a:p>
            <a:pPr algn="just">
              <a:buFontTx/>
              <a:buNone/>
            </a:pPr>
            <a:r>
              <a:rPr lang="zh-CN" altLang="en-US" sz="1200" b="1" dirty="0">
                <a:solidFill>
                  <a:srgbClr val="FF3300"/>
                </a:solidFill>
              </a:rPr>
              <a:t>逆波兰符号法(后缀符号法)</a:t>
            </a:r>
            <a:r>
              <a:rPr lang="zh-CN" altLang="en-US" sz="1200" b="1" dirty="0"/>
              <a:t>: 按后序行遍法访问</a:t>
            </a:r>
            <a:r>
              <a:rPr lang="zh-CN" altLang="en-US" sz="1200" b="1" dirty="0">
                <a:latin typeface="Times New Roman" panose="02020603050405020304" pitchFamily="18" charset="0"/>
              </a:rPr>
              <a:t>表示算式的</a:t>
            </a:r>
            <a:r>
              <a:rPr lang="en-US" altLang="zh-CN" sz="1200" b="1" dirty="0">
                <a:latin typeface="Times New Roman" panose="02020603050405020304" pitchFamily="18" charset="0"/>
              </a:rPr>
              <a:t>2</a:t>
            </a:r>
            <a:r>
              <a:rPr lang="zh-CN" altLang="en-US" sz="1200" b="1" dirty="0">
                <a:latin typeface="Times New Roman" panose="02020603050405020304" pitchFamily="18" charset="0"/>
              </a:rPr>
              <a:t>叉有序树</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并舍去所有括号</a:t>
            </a:r>
            <a:endParaRPr lang="en-US" altLang="zh-CN" sz="1200" b="1" dirty="0">
              <a:latin typeface="Times New Roman" panose="02020603050405020304" pitchFamily="18" charset="0"/>
            </a:endParaRPr>
          </a:p>
          <a:p>
            <a:r>
              <a:rPr kumimoji="0" lang="zh-CN" altLang="en-US" sz="1200" b="1" dirty="0">
                <a:solidFill>
                  <a:srgbClr val="00B0F0"/>
                </a:solidFill>
              </a:rPr>
              <a:t>例：</a:t>
            </a:r>
            <a:r>
              <a:rPr kumimoji="0" lang="zh-CN" altLang="en-US" sz="1200" b="1" dirty="0"/>
              <a:t>右图的波兰符号法和逆波兰符号法表示结果为：</a:t>
            </a:r>
            <a:endParaRPr kumimoji="0" lang="en-US" altLang="zh-CN" sz="1200" b="1" dirty="0"/>
          </a:p>
          <a:p>
            <a:r>
              <a:rPr kumimoji="0" lang="zh-CN" altLang="en-US" sz="1200" b="1" dirty="0"/>
              <a:t>波兰符号法：</a:t>
            </a:r>
            <a:r>
              <a:rPr lang="zh-CN" altLang="en-US"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b</a:t>
            </a:r>
            <a:r>
              <a:rPr lang="en-US" altLang="zh-CN" sz="1600" b="1" dirty="0" err="1">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cda</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ef</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gh</a:t>
            </a:r>
            <a:r>
              <a:rPr lang="en-US" altLang="zh-CN" sz="1600" b="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ij</a:t>
            </a:r>
            <a:endParaRPr kumimoji="0" lang="en-US" altLang="zh-CN" sz="1600" b="1" dirty="0">
              <a:solidFill>
                <a:srgbClr val="FF0000"/>
              </a:solidFill>
              <a:latin typeface="Times New Roman" panose="02020603050405020304" pitchFamily="18" charset="0"/>
              <a:cs typeface="Times New Roman" panose="02020603050405020304" pitchFamily="18" charset="0"/>
            </a:endParaRPr>
          </a:p>
          <a:p>
            <a:r>
              <a:rPr lang="zh-CN" altLang="en-US" sz="1200" b="1" dirty="0"/>
              <a:t>逆波兰符号法：</a:t>
            </a:r>
            <a:r>
              <a:rPr lang="en-US" altLang="zh-CN" sz="1600" b="1" i="1" dirty="0" err="1">
                <a:solidFill>
                  <a:srgbClr val="FF0000"/>
                </a:solidFill>
                <a:latin typeface="Times New Roman" panose="02020603050405020304" pitchFamily="18" charset="0"/>
                <a:cs typeface="Times New Roman" panose="02020603050405020304" pitchFamily="18" charset="0"/>
              </a:rPr>
              <a:t>bcd</a:t>
            </a:r>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a</a:t>
            </a:r>
            <a:r>
              <a:rPr lang="en-US" altLang="zh-CN" sz="1600" b="1" i="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ef</a:t>
            </a:r>
            <a:r>
              <a:rPr lang="en-US" altLang="zh-CN" sz="1600" b="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gh</a:t>
            </a:r>
            <a:r>
              <a:rPr lang="en-US" altLang="zh-CN" sz="1600" b="1" dirty="0" err="1">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ij</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600" b="1" dirty="0">
                <a:solidFill>
                  <a:srgbClr val="FF0000"/>
                </a:solidFill>
                <a:latin typeface="Times New Roman" panose="02020603050405020304" pitchFamily="18" charset="0"/>
                <a:cs typeface="Times New Roman" panose="02020603050405020304" pitchFamily="18" charset="0"/>
              </a:rPr>
              <a:t> </a:t>
            </a:r>
          </a:p>
          <a:p>
            <a:pPr algn="just">
              <a:buFontTx/>
              <a:buNone/>
            </a:pPr>
            <a:endParaRPr lang="en-US" altLang="zh-CN"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计算机处理方式：对波兰符号法表示的算式，从根节点开始，首先遇到操作符，然后是其操作数。对逆波兰符号法表示的算式，从叶节点开始计算，逐步向上直至根节点</a:t>
            </a:r>
            <a:r>
              <a:rPr lang="en-US" altLang="zh-CN" sz="1200" b="1" dirty="0">
                <a:latin typeface="Times New Roman" panose="02020603050405020304" pitchFamily="18" charset="0"/>
                <a:cs typeface="Times New Roman" panose="02020603050405020304" pitchFamily="18" charset="0"/>
              </a:rPr>
              <a:t>.</a:t>
            </a:r>
            <a:endParaRPr lang="zh-CN" altLang="en-US" sz="1200" dirty="0"/>
          </a:p>
          <a:p>
            <a:pPr algn="just">
              <a:buFontTx/>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46</a:t>
            </a:fld>
            <a:endParaRPr lang="zh-CN" altLang="en-US"/>
          </a:p>
        </p:txBody>
      </p:sp>
    </p:spTree>
    <p:extLst>
      <p:ext uri="{BB962C8B-B14F-4D97-AF65-F5344CB8AC3E}">
        <p14:creationId xmlns:p14="http://schemas.microsoft.com/office/powerpoint/2010/main" val="18756474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47</a:t>
            </a:fld>
            <a:endParaRPr lang="zh-CN" altLang="en-US"/>
          </a:p>
        </p:txBody>
      </p:sp>
    </p:spTree>
    <p:extLst>
      <p:ext uri="{BB962C8B-B14F-4D97-AF65-F5344CB8AC3E}">
        <p14:creationId xmlns:p14="http://schemas.microsoft.com/office/powerpoint/2010/main" val="19561999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48</a:t>
            </a:fld>
            <a:endParaRPr lang="zh-CN" altLang="en-US"/>
          </a:p>
        </p:txBody>
      </p:sp>
    </p:spTree>
    <p:extLst>
      <p:ext uri="{BB962C8B-B14F-4D97-AF65-F5344CB8AC3E}">
        <p14:creationId xmlns:p14="http://schemas.microsoft.com/office/powerpoint/2010/main" val="678990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2025/8/16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0" y="0"/>
            <a:ext cx="12192000" cy="4403725"/>
          </a:xfrm>
          <a:prstGeom prst="rect">
            <a:avLst/>
          </a:prstGeom>
        </p:spPr>
        <p:txBody>
          <a:bodyPr/>
          <a:lstStyle/>
          <a:p>
            <a:endParaRPr lang="zh-CN" altLang="en-US"/>
          </a:p>
        </p:txBody>
      </p:sp>
      <p:sp>
        <p:nvSpPr>
          <p:cNvPr id="5" name="文本占位符 4"/>
          <p:cNvSpPr>
            <a:spLocks noGrp="1"/>
          </p:cNvSpPr>
          <p:nvPr>
            <p:ph type="body" sz="quarter" idx="11"/>
          </p:nvPr>
        </p:nvSpPr>
        <p:spPr>
          <a:xfrm>
            <a:off x="0" y="3075709"/>
            <a:ext cx="12192000" cy="1328016"/>
          </a:xfrm>
          <a:prstGeom prst="rect">
            <a:avLst/>
          </a:prstGeom>
          <a:solidFill>
            <a:schemeClr val="accent1">
              <a:lumMod val="75000"/>
              <a:alpha val="74000"/>
            </a:schemeClr>
          </a:solidFill>
          <a:ln>
            <a:noFill/>
          </a:ln>
        </p:spPr>
        <p:txBody>
          <a:bodyPr/>
          <a:lstStyle>
            <a:lvl1pPr>
              <a:defRPr>
                <a:solidFill>
                  <a:schemeClr val="tx1">
                    <a:alpha val="0"/>
                  </a:schemeClr>
                </a:solidFill>
              </a:defRPr>
            </a:lvl1pPr>
          </a:lstStyle>
          <a:p>
            <a:pPr lvl="0"/>
            <a:endParaRPr lang="zh-CN" altLang="en-US" dirty="0"/>
          </a:p>
        </p:txBody>
      </p:sp>
      <p:sp>
        <p:nvSpPr>
          <p:cNvPr id="6" name="副标题 2"/>
          <p:cNvSpPr>
            <a:spLocks noGrp="1"/>
          </p:cNvSpPr>
          <p:nvPr>
            <p:ph type="subTitle" idx="1"/>
          </p:nvPr>
        </p:nvSpPr>
        <p:spPr>
          <a:xfrm>
            <a:off x="1851024" y="2809284"/>
            <a:ext cx="7855511" cy="558799"/>
          </a:xfrm>
          <a:prstGeom prst="rect">
            <a:avLst/>
          </a:prstGeo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标题 1"/>
          <p:cNvSpPr>
            <a:spLocks noGrp="1"/>
          </p:cNvSpPr>
          <p:nvPr>
            <p:ph type="ctrTitle"/>
          </p:nvPr>
        </p:nvSpPr>
        <p:spPr>
          <a:xfrm>
            <a:off x="1851024" y="2110693"/>
            <a:ext cx="7855511" cy="698591"/>
          </a:xfrm>
          <a:prstGeom prst="rect">
            <a:avLst/>
          </a:prstGeo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8" name="文本占位符 13"/>
          <p:cNvSpPr>
            <a:spLocks noGrp="1"/>
          </p:cNvSpPr>
          <p:nvPr>
            <p:ph type="body" sz="quarter" idx="12" hasCustomPrompt="1"/>
          </p:nvPr>
        </p:nvSpPr>
        <p:spPr>
          <a:xfrm>
            <a:off x="1851024" y="4572592"/>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13"/>
          <p:cNvSpPr>
            <a:spLocks noGrp="1"/>
          </p:cNvSpPr>
          <p:nvPr>
            <p:ph type="body" sz="quarter" idx="13" hasCustomPrompt="1"/>
          </p:nvPr>
        </p:nvSpPr>
        <p:spPr>
          <a:xfrm>
            <a:off x="1851024" y="4868863"/>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2025/8/16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1.bin"/><Relationship Id="rId4" Type="http://schemas.openxmlformats.org/officeDocument/2006/relationships/image" Target="../media/image3.png"/><Relationship Id="rId9"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7: Trees and Their Applications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a:p>
            <a:pPr>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7.1 Undirected Trees</a:t>
            </a:r>
          </a:p>
          <a:p>
            <a:pPr>
              <a:lnSpc>
                <a:spcPct val="13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7.2 Rooted Trees and Their Applications</a:t>
            </a:r>
            <a:endParaRPr lang="en-US" altLang="zh-CN" sz="2400" dirty="0">
              <a:latin typeface="Trebuchet MS" panose="020B0603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20295"/>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7.1 Undirected Trees</a:t>
            </a:r>
            <a:r>
              <a:rPr lang="en-US" altLang="zh-CN" sz="2400" b="1" dirty="0">
                <a:solidFill>
                  <a:schemeClr val="bg1"/>
                </a:solidFill>
                <a:latin typeface="Trebuchet MS" panose="020B0603020202020204" pitchFamily="34" charset="0"/>
                <a:ea typeface="宋体" panose="02010600030101010101" pitchFamily="2" charset="-122"/>
                <a:cs typeface="Times New Roman" panose="02020603050405020304" pitchFamily="18" charset="0"/>
              </a:rPr>
              <a:t>          </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9877336" cy="51663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a:p>
            <a:pPr>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7.1.1 Definition and Properties of Undirected Trees</a:t>
            </a:r>
          </a:p>
          <a:p>
            <a:pPr>
              <a:lnSpc>
                <a:spcPct val="13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7.1.2 Spanning Trees</a:t>
            </a:r>
          </a:p>
        </p:txBody>
      </p:sp>
    </p:spTree>
    <p:extLst>
      <p:ext uri="{BB962C8B-B14F-4D97-AF65-F5344CB8AC3E}">
        <p14:creationId xmlns:p14="http://schemas.microsoft.com/office/powerpoint/2010/main" val="4288781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t> </a:t>
            </a:r>
            <a:r>
              <a:rPr lang="en-US" altLang="zh-CN" sz="2400" b="1" dirty="0">
                <a:latin typeface="Trebuchet MS" panose="020B0603020202020204" pitchFamily="34" charset="0"/>
              </a:rPr>
              <a:t>Undirected Trees, Trivial Trees, and Forests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896886"/>
            <a:ext cx="9877336" cy="56430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eaLnBrk="0" fontAlgn="base" hangingPunct="0">
              <a:lnSpc>
                <a:spcPct val="120000"/>
              </a:lnSpc>
              <a:spcBef>
                <a:spcPct val="0"/>
              </a:spcBef>
              <a:spcAft>
                <a:spcPct val="0"/>
              </a:spcAft>
              <a:buClr>
                <a:srgbClr val="0B61FF"/>
              </a:buClr>
              <a:buSzPct val="80000"/>
              <a:buFont typeface="Wingdings" panose="05000000000000000000" pitchFamily="2" charset="2"/>
              <a:buChar char="n"/>
            </a:pPr>
            <a:r>
              <a:rPr lang="zh-CN" altLang="zh-CN" sz="2400" b="1" i="1" dirty="0">
                <a:solidFill>
                  <a:srgbClr val="0B61FF"/>
                </a:solidFill>
                <a:latin typeface="Trebuchet MS" panose="020B0603020202020204" pitchFamily="34" charset="0"/>
              </a:rPr>
              <a:t>Undirected Tree</a:t>
            </a:r>
            <a:r>
              <a:rPr lang="zh-CN" altLang="zh-CN" sz="2400" dirty="0">
                <a:latin typeface="Trebuchet MS" panose="020B0603020202020204" pitchFamily="34" charset="0"/>
              </a:rPr>
              <a:t>: A connected undirected graph with </a:t>
            </a:r>
            <a:r>
              <a:rPr lang="zh-CN" altLang="zh-CN" sz="2400" b="1" i="1" dirty="0">
                <a:latin typeface="Trebuchet MS" panose="020B0603020202020204" pitchFamily="34" charset="0"/>
              </a:rPr>
              <a:t>no cycles</a:t>
            </a:r>
            <a:r>
              <a:rPr lang="zh-CN" altLang="zh-CN" sz="2400" dirty="0">
                <a:latin typeface="Trebuchet MS" panose="020B0603020202020204" pitchFamily="34" charset="0"/>
              </a:rPr>
              <a:t>.</a:t>
            </a:r>
            <a:endParaRPr lang="en-US" altLang="zh-CN" sz="2400" dirty="0">
              <a:latin typeface="Trebuchet MS" panose="020B0603020202020204" pitchFamily="34" charset="0"/>
            </a:endParaRPr>
          </a:p>
          <a:p>
            <a:pPr marL="342900" lvl="0" indent="-342900" eaLnBrk="0" fontAlgn="base" hangingPunct="0">
              <a:lnSpc>
                <a:spcPct val="120000"/>
              </a:lnSpc>
              <a:spcBef>
                <a:spcPct val="0"/>
              </a:spcBef>
              <a:spcAft>
                <a:spcPct val="0"/>
              </a:spcAft>
              <a:buClr>
                <a:srgbClr val="0B61FF"/>
              </a:buClr>
              <a:buSzPct val="80000"/>
              <a:buFont typeface="Wingdings" panose="05000000000000000000" pitchFamily="2" charset="2"/>
              <a:buChar char="n"/>
            </a:pPr>
            <a:r>
              <a:rPr lang="zh-CN" altLang="zh-CN" sz="2400" b="1" i="1" dirty="0">
                <a:solidFill>
                  <a:srgbClr val="0B61FF"/>
                </a:solidFill>
                <a:latin typeface="Trebuchet MS" panose="020B0603020202020204" pitchFamily="34" charset="0"/>
              </a:rPr>
              <a:t>Trivial Tree</a:t>
            </a:r>
            <a:r>
              <a:rPr lang="zh-CN" altLang="zh-CN" sz="2400" dirty="0">
                <a:latin typeface="Trebuchet MS" panose="020B0603020202020204" pitchFamily="34" charset="0"/>
              </a:rPr>
              <a:t>: A trivial graph (a graph with </a:t>
            </a:r>
            <a:r>
              <a:rPr lang="zh-CN" altLang="zh-CN" sz="2400" b="1" i="1" dirty="0">
                <a:latin typeface="Trebuchet MS" panose="020B0603020202020204" pitchFamily="34" charset="0"/>
              </a:rPr>
              <a:t>only one vertex</a:t>
            </a:r>
            <a:r>
              <a:rPr lang="zh-CN" altLang="zh-CN" sz="2400" b="1" i="1" dirty="0">
                <a:solidFill>
                  <a:srgbClr val="0B61FF"/>
                </a:solidFill>
                <a:latin typeface="Trebuchet MS" panose="020B0603020202020204" pitchFamily="34" charset="0"/>
              </a:rPr>
              <a:t> </a:t>
            </a:r>
            <a:r>
              <a:rPr lang="zh-CN" altLang="zh-CN" sz="2400" dirty="0">
                <a:latin typeface="Trebuchet MS" panose="020B0603020202020204" pitchFamily="34" charset="0"/>
              </a:rPr>
              <a:t>and no edges).</a:t>
            </a:r>
            <a:endParaRPr lang="en-US" altLang="zh-CN" sz="2400" dirty="0">
              <a:latin typeface="Trebuchet MS" panose="020B0603020202020204" pitchFamily="34" charset="0"/>
            </a:endParaRPr>
          </a:p>
          <a:p>
            <a:pPr marL="342900" lvl="0" indent="-342900" eaLnBrk="0" fontAlgn="base" hangingPunct="0">
              <a:lnSpc>
                <a:spcPct val="120000"/>
              </a:lnSpc>
              <a:spcBef>
                <a:spcPct val="0"/>
              </a:spcBef>
              <a:spcAft>
                <a:spcPct val="0"/>
              </a:spcAft>
              <a:buClr>
                <a:srgbClr val="0B61FF"/>
              </a:buClr>
              <a:buSzPct val="80000"/>
              <a:buFont typeface="Wingdings" panose="05000000000000000000" pitchFamily="2" charset="2"/>
              <a:buChar char="n"/>
            </a:pPr>
            <a:r>
              <a:rPr lang="zh-CN" altLang="zh-CN" sz="2400" b="1" i="1" dirty="0">
                <a:solidFill>
                  <a:srgbClr val="0B61FF"/>
                </a:solidFill>
                <a:latin typeface="Trebuchet MS" panose="020B0603020202020204" pitchFamily="34" charset="0"/>
              </a:rPr>
              <a:t>Forest</a:t>
            </a:r>
            <a:r>
              <a:rPr lang="zh-CN" altLang="zh-CN" sz="2400" dirty="0">
                <a:latin typeface="Trebuchet MS" panose="020B0603020202020204" pitchFamily="34" charset="0"/>
              </a:rPr>
              <a:t>: A disconnected undirected graph in which </a:t>
            </a:r>
            <a:r>
              <a:rPr lang="zh-CN" altLang="zh-CN" sz="2400" b="1" i="1" dirty="0">
                <a:latin typeface="Trebuchet MS" panose="020B0603020202020204" pitchFamily="34" charset="0"/>
              </a:rPr>
              <a:t>each connected component is a tree</a:t>
            </a:r>
            <a:r>
              <a:rPr lang="zh-CN" altLang="zh-CN" sz="2400" dirty="0">
                <a:latin typeface="Trebuchet MS" panose="020B0603020202020204" pitchFamily="34" charset="0"/>
              </a:rPr>
              <a:t>.</a:t>
            </a:r>
            <a:endParaRPr lang="en-US" altLang="zh-CN" sz="2400" dirty="0">
              <a:latin typeface="Trebuchet MS" panose="020B0603020202020204" pitchFamily="34" charset="0"/>
            </a:endParaRPr>
          </a:p>
          <a:p>
            <a:pPr marL="342900" lvl="0" indent="-342900" eaLnBrk="0" fontAlgn="base" hangingPunct="0">
              <a:lnSpc>
                <a:spcPct val="120000"/>
              </a:lnSpc>
              <a:spcBef>
                <a:spcPct val="0"/>
              </a:spcBef>
              <a:spcAft>
                <a:spcPct val="0"/>
              </a:spcAft>
              <a:buClr>
                <a:srgbClr val="0B61FF"/>
              </a:buClr>
              <a:buSzPct val="80000"/>
              <a:buFont typeface="Wingdings" panose="05000000000000000000" pitchFamily="2" charset="2"/>
              <a:buChar char="n"/>
            </a:pPr>
            <a:r>
              <a:rPr lang="zh-CN" altLang="zh-CN" sz="2400" b="1" i="1" dirty="0">
                <a:solidFill>
                  <a:srgbClr val="0B61FF"/>
                </a:solidFill>
                <a:latin typeface="Trebuchet MS" panose="020B0603020202020204" pitchFamily="34" charset="0"/>
              </a:rPr>
              <a:t>Leaf</a:t>
            </a:r>
            <a:r>
              <a:rPr lang="zh-CN" altLang="zh-CN" sz="2400" dirty="0">
                <a:latin typeface="Trebuchet MS" panose="020B0603020202020204" pitchFamily="34" charset="0"/>
              </a:rPr>
              <a:t>: A vertex in a tree with </a:t>
            </a:r>
            <a:r>
              <a:rPr lang="zh-CN" altLang="zh-CN" sz="2400" b="1" i="1" dirty="0">
                <a:latin typeface="Trebuchet MS" panose="020B0603020202020204" pitchFamily="34" charset="0"/>
              </a:rPr>
              <a:t>degree 1</a:t>
            </a:r>
            <a:r>
              <a:rPr lang="zh-CN" altLang="zh-CN" sz="2400" dirty="0">
                <a:latin typeface="Trebuchet MS" panose="020B0603020202020204" pitchFamily="34" charset="0"/>
              </a:rPr>
              <a:t>.</a:t>
            </a:r>
            <a:endParaRPr lang="en-US" altLang="zh-CN" sz="2400" dirty="0">
              <a:latin typeface="Trebuchet MS" panose="020B0603020202020204" pitchFamily="34" charset="0"/>
            </a:endParaRPr>
          </a:p>
          <a:p>
            <a:pPr marL="342900" lvl="0" indent="-342900" eaLnBrk="0" fontAlgn="base" hangingPunct="0">
              <a:lnSpc>
                <a:spcPct val="120000"/>
              </a:lnSpc>
              <a:spcBef>
                <a:spcPct val="0"/>
              </a:spcBef>
              <a:spcAft>
                <a:spcPct val="0"/>
              </a:spcAft>
              <a:buClr>
                <a:srgbClr val="0B61FF"/>
              </a:buClr>
              <a:buSzPct val="80000"/>
              <a:buFont typeface="Wingdings" panose="05000000000000000000" pitchFamily="2" charset="2"/>
              <a:buChar char="n"/>
            </a:pPr>
            <a:r>
              <a:rPr lang="zh-CN" altLang="zh-CN" sz="2400" b="1" i="1" dirty="0">
                <a:solidFill>
                  <a:srgbClr val="0B61FF"/>
                </a:solidFill>
                <a:latin typeface="Trebuchet MS" panose="020B0603020202020204" pitchFamily="34" charset="0"/>
              </a:rPr>
              <a:t>Branching Point</a:t>
            </a:r>
            <a:r>
              <a:rPr lang="zh-CN" altLang="zh-CN" sz="2400" dirty="0">
                <a:latin typeface="Trebuchet MS" panose="020B0603020202020204" pitchFamily="34" charset="0"/>
              </a:rPr>
              <a:t>: A </a:t>
            </a:r>
            <a:r>
              <a:rPr lang="zh-CN" altLang="zh-CN" sz="2400" dirty="0">
                <a:latin typeface="Trebuchet MS" panose="020B0603020202020204" pitchFamily="34" charset="0"/>
                <a:cs typeface="Arial" panose="020B0604020202020204" pitchFamily="34" charset="0"/>
              </a:rPr>
              <a:t>vertex in a tree </a:t>
            </a:r>
            <a:r>
              <a:rPr lang="zh-CN" altLang="zh-CN" sz="2400" dirty="0">
                <a:latin typeface="Trebuchet MS" panose="020B0603020202020204" pitchFamily="34" charset="0"/>
              </a:rPr>
              <a:t>with </a:t>
            </a:r>
            <a:r>
              <a:rPr lang="zh-CN" altLang="zh-CN" sz="2400" b="1" i="1" dirty="0">
                <a:latin typeface="Trebuchet MS" panose="020B0603020202020204" pitchFamily="34" charset="0"/>
              </a:rPr>
              <a:t>degree ≥ 2</a:t>
            </a:r>
            <a:r>
              <a:rPr lang="en-US" altLang="zh-CN" sz="2400" b="1" i="1" dirty="0">
                <a:latin typeface="Trebuchet MS" panose="020B0603020202020204" pitchFamily="34" charset="0"/>
              </a:rPr>
              <a:t>.</a:t>
            </a:r>
          </a:p>
          <a:p>
            <a:pPr marL="342900" indent="-342900" eaLnBrk="0" fontAlgn="base" hangingPunct="0">
              <a:lnSpc>
                <a:spcPct val="120000"/>
              </a:lnSpc>
              <a:spcBef>
                <a:spcPct val="0"/>
              </a:spcBef>
              <a:spcAft>
                <a:spcPct val="0"/>
              </a:spcAft>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zh-CN" altLang="en-US" sz="2400" b="1" dirty="0">
                <a:latin typeface="Trebuchet MS" panose="020B0603020202020204" pitchFamily="34" charset="0"/>
              </a:rPr>
              <a:t>：</a:t>
            </a:r>
          </a:p>
          <a:p>
            <a:pPr marL="342900" lvl="0" indent="-342900" eaLnBrk="0" fontAlgn="base" hangingPunct="0">
              <a:lnSpc>
                <a:spcPct val="120000"/>
              </a:lnSpc>
              <a:spcBef>
                <a:spcPct val="0"/>
              </a:spcBef>
              <a:spcAft>
                <a:spcPct val="0"/>
              </a:spcAft>
              <a:buClr>
                <a:srgbClr val="0B61FF"/>
              </a:buClr>
              <a:buSzPct val="80000"/>
              <a:buFont typeface="Wingdings" panose="05000000000000000000" pitchFamily="2" charset="2"/>
              <a:buChar char="n"/>
            </a:pPr>
            <a:endParaRPr lang="zh-CN" altLang="en-US" sz="2400" b="1" i="1" dirty="0">
              <a:latin typeface="Trebuchet MS" panose="020B0603020202020204" pitchFamily="34" charset="0"/>
            </a:endParaRPr>
          </a:p>
        </p:txBody>
      </p:sp>
      <p:grpSp>
        <p:nvGrpSpPr>
          <p:cNvPr id="24" name="组合 23">
            <a:extLst>
              <a:ext uri="{FF2B5EF4-FFF2-40B4-BE49-F238E27FC236}">
                <a16:creationId xmlns:a16="http://schemas.microsoft.com/office/drawing/2014/main" id="{47532BBB-E1ED-49E5-BBD3-ABE13497DE45}"/>
              </a:ext>
            </a:extLst>
          </p:cNvPr>
          <p:cNvGrpSpPr/>
          <p:nvPr/>
        </p:nvGrpSpPr>
        <p:grpSpPr>
          <a:xfrm>
            <a:off x="3138399" y="4341485"/>
            <a:ext cx="1358900" cy="1920875"/>
            <a:chOff x="2621564" y="3772354"/>
            <a:chExt cx="1358900" cy="1920875"/>
          </a:xfrm>
        </p:grpSpPr>
        <p:pic>
          <p:nvPicPr>
            <p:cNvPr id="25" name="Picture 6" descr="树">
              <a:extLst>
                <a:ext uri="{FF2B5EF4-FFF2-40B4-BE49-F238E27FC236}">
                  <a16:creationId xmlns:a16="http://schemas.microsoft.com/office/drawing/2014/main" id="{05806C9C-A2E1-4AC2-90E9-588F8174A2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1564" y="3772354"/>
              <a:ext cx="13589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7">
              <a:extLst>
                <a:ext uri="{FF2B5EF4-FFF2-40B4-BE49-F238E27FC236}">
                  <a16:creationId xmlns:a16="http://schemas.microsoft.com/office/drawing/2014/main" id="{1FCC8464-EAE0-43E8-8A08-802463927665}"/>
                </a:ext>
              </a:extLst>
            </p:cNvPr>
            <p:cNvSpPr txBox="1">
              <a:spLocks noChangeArrowheads="1"/>
            </p:cNvSpPr>
            <p:nvPr/>
          </p:nvSpPr>
          <p:spPr bwMode="auto">
            <a:xfrm>
              <a:off x="3135086" y="5236029"/>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a:t>
              </a:r>
              <a:r>
                <a:rPr kumimoji="0" lang="en-US" altLang="zh-CN" sz="2400" b="1"/>
                <a:t>a)</a:t>
              </a:r>
            </a:p>
          </p:txBody>
        </p:sp>
      </p:grpSp>
      <p:grpSp>
        <p:nvGrpSpPr>
          <p:cNvPr id="27" name="组合 26">
            <a:extLst>
              <a:ext uri="{FF2B5EF4-FFF2-40B4-BE49-F238E27FC236}">
                <a16:creationId xmlns:a16="http://schemas.microsoft.com/office/drawing/2014/main" id="{C81209A6-E671-4FC9-A5B5-571C10A53DE0}"/>
              </a:ext>
            </a:extLst>
          </p:cNvPr>
          <p:cNvGrpSpPr/>
          <p:nvPr/>
        </p:nvGrpSpPr>
        <p:grpSpPr>
          <a:xfrm>
            <a:off x="5937921" y="4433560"/>
            <a:ext cx="2895600" cy="1828800"/>
            <a:chOff x="5421086" y="3864429"/>
            <a:chExt cx="2895600" cy="1828800"/>
          </a:xfrm>
        </p:grpSpPr>
        <p:pic>
          <p:nvPicPr>
            <p:cNvPr id="28" name="Picture 5" descr="森林">
              <a:extLst>
                <a:ext uri="{FF2B5EF4-FFF2-40B4-BE49-F238E27FC236}">
                  <a16:creationId xmlns:a16="http://schemas.microsoft.com/office/drawing/2014/main" id="{F31637E0-8928-4493-936C-9E18258BDE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1086" y="3864429"/>
              <a:ext cx="289560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8">
              <a:extLst>
                <a:ext uri="{FF2B5EF4-FFF2-40B4-BE49-F238E27FC236}">
                  <a16:creationId xmlns:a16="http://schemas.microsoft.com/office/drawing/2014/main" id="{55685537-23CB-4855-ADD4-CB0E5CFA0453}"/>
                </a:ext>
              </a:extLst>
            </p:cNvPr>
            <p:cNvSpPr txBox="1">
              <a:spLocks noChangeArrowheads="1"/>
            </p:cNvSpPr>
            <p:nvPr/>
          </p:nvSpPr>
          <p:spPr bwMode="auto">
            <a:xfrm>
              <a:off x="6564086" y="5236029"/>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a:t>
              </a:r>
              <a:r>
                <a:rPr kumimoji="0" lang="en-US" altLang="zh-CN" sz="2400" b="1"/>
                <a:t>b)</a:t>
              </a:r>
            </a:p>
          </p:txBody>
        </p:sp>
      </p:grpSp>
    </p:spTree>
    <p:extLst>
      <p:ext uri="{BB962C8B-B14F-4D97-AF65-F5344CB8AC3E}">
        <p14:creationId xmlns:p14="http://schemas.microsoft.com/office/powerpoint/2010/main" val="1905531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1000"/>
                                        <p:tgtEl>
                                          <p:spTgt spid="24"/>
                                        </p:tgtEl>
                                      </p:cBhvr>
                                    </p:animEffect>
                                    <p:anim calcmode="lin" valueType="num">
                                      <p:cBhvr>
                                        <p:cTn id="32" dur="1000" fill="hold"/>
                                        <p:tgtEl>
                                          <p:spTgt spid="24"/>
                                        </p:tgtEl>
                                        <p:attrNameLst>
                                          <p:attrName>ppt_x</p:attrName>
                                        </p:attrNameLst>
                                      </p:cBhvr>
                                      <p:tavLst>
                                        <p:tav tm="0">
                                          <p:val>
                                            <p:strVal val="#ppt_x"/>
                                          </p:val>
                                        </p:tav>
                                        <p:tav tm="100000">
                                          <p:val>
                                            <p:strVal val="#ppt_x"/>
                                          </p:val>
                                        </p:tav>
                                      </p:tavLst>
                                    </p:anim>
                                    <p:anim calcmode="lin" valueType="num">
                                      <p:cBhvr>
                                        <p:cTn id="3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1000"/>
                                        <p:tgtEl>
                                          <p:spTgt spid="27"/>
                                        </p:tgtEl>
                                      </p:cBhvr>
                                    </p:animEffect>
                                    <p:anim calcmode="lin" valueType="num">
                                      <p:cBhvr>
                                        <p:cTn id="39" dur="1000" fill="hold"/>
                                        <p:tgtEl>
                                          <p:spTgt spid="27"/>
                                        </p:tgtEl>
                                        <p:attrNameLst>
                                          <p:attrName>ppt_x</p:attrName>
                                        </p:attrNameLst>
                                      </p:cBhvr>
                                      <p:tavLst>
                                        <p:tav tm="0">
                                          <p:val>
                                            <p:strVal val="#ppt_x"/>
                                          </p:val>
                                        </p:tav>
                                        <p:tav tm="100000">
                                          <p:val>
                                            <p:strVal val="#ppt_x"/>
                                          </p:val>
                                        </p:tav>
                                      </p:tavLst>
                                    </p:anim>
                                    <p:anim calcmode="lin" valueType="num">
                                      <p:cBhvr>
                                        <p:cTn id="4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b="1" dirty="0"/>
              <a:t> </a:t>
            </a:r>
            <a:r>
              <a:rPr lang="en-US" altLang="zh-CN" sz="2400" b="1" dirty="0">
                <a:latin typeface="Trebuchet MS" panose="020B0603020202020204" pitchFamily="34" charset="0"/>
              </a:rPr>
              <a:t>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9134475" cy="4724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a:t>
            </a:r>
            <a:r>
              <a:rPr lang="zh-CN" altLang="en-US" sz="2400" b="1" dirty="0">
                <a:latin typeface="Trebuchet MS" panose="020B0603020202020204" pitchFamily="34" charset="0"/>
                <a:cs typeface="Times New Roman" panose="02020603050405020304" pitchFamily="18" charset="0"/>
              </a:rPr>
              <a:t>7.1</a:t>
            </a:r>
            <a:r>
              <a:rPr lang="en-US" altLang="zh-CN"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Let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V</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&gt;</a:t>
            </a:r>
            <a:r>
              <a:rPr lang="en-US" altLang="zh-CN" sz="2400" dirty="0">
                <a:latin typeface="Trebuchet MS" panose="020B0603020202020204" pitchFamily="34" charset="0"/>
              </a:rPr>
              <a:t> be an undirected graph of order </a:t>
            </a:r>
            <a:r>
              <a:rPr lang="en-US" altLang="zh-CN" sz="2400" b="1" i="1" dirty="0">
                <a:latin typeface="Trebuchet MS" panose="020B0603020202020204" pitchFamily="34" charset="0"/>
              </a:rPr>
              <a:t>n</a:t>
            </a:r>
            <a:r>
              <a:rPr lang="en-US" altLang="zh-CN" sz="2400" dirty="0">
                <a:latin typeface="Trebuchet MS" panose="020B0603020202020204" pitchFamily="34" charset="0"/>
              </a:rPr>
              <a:t> with </a:t>
            </a:r>
            <a:r>
              <a:rPr lang="en-US" altLang="zh-CN" sz="2400" b="1" i="1" dirty="0">
                <a:latin typeface="Trebuchet MS" panose="020B0603020202020204" pitchFamily="34" charset="0"/>
              </a:rPr>
              <a:t>m</a:t>
            </a:r>
            <a:r>
              <a:rPr lang="en-US" altLang="zh-CN" sz="2400" dirty="0">
                <a:latin typeface="Trebuchet MS" panose="020B0603020202020204" pitchFamily="34" charset="0"/>
              </a:rPr>
              <a:t> edges. The following statements are equivalent:</a:t>
            </a:r>
            <a:endParaRPr lang="zh-CN" altLang="en-US" sz="2400" b="1" dirty="0">
              <a:latin typeface="Trebuchet MS" panose="020B0603020202020204" pitchFamily="34" charset="0"/>
              <a:cs typeface="Times New Roman" panose="02020603050405020304" pitchFamily="18" charset="0"/>
            </a:endParaRPr>
          </a:p>
          <a:p>
            <a:pPr indent="-47625" algn="just">
              <a:lnSpc>
                <a:spcPct val="120000"/>
              </a:lnSpc>
              <a:spcBef>
                <a:spcPts val="300"/>
              </a:spcBef>
              <a:buNone/>
            </a:pPr>
            <a:r>
              <a:rPr lang="zh-CN" altLang="en-US" sz="2400" b="1" dirty="0">
                <a:solidFill>
                  <a:srgbClr val="0B61FF"/>
                </a:solidFill>
                <a:latin typeface="Trebuchet MS" panose="020B0603020202020204" pitchFamily="34" charset="0"/>
                <a:cs typeface="Times New Roman" panose="02020603050405020304" pitchFamily="18" charset="0"/>
              </a:rPr>
              <a:t>(1) </a:t>
            </a:r>
            <a:r>
              <a:rPr kumimoji="0" lang="zh-CN" altLang="zh-CN" sz="2400" b="1" i="1" u="none" strike="noStrike" cap="none" normalizeH="0" baseline="0" dirty="0">
                <a:ln>
                  <a:noFill/>
                </a:ln>
                <a:effectLst/>
                <a:latin typeface="Trebuchet MS" panose="020B0603020202020204" pitchFamily="34" charset="0"/>
              </a:rPr>
              <a:t>G </a:t>
            </a:r>
            <a:r>
              <a:rPr kumimoji="0" lang="zh-CN" altLang="zh-CN" sz="2400" b="0" i="0" u="none" strike="noStrike" cap="none" normalizeH="0" baseline="0" dirty="0">
                <a:ln>
                  <a:noFill/>
                </a:ln>
                <a:effectLst/>
                <a:latin typeface="Trebuchet MS" panose="020B0603020202020204" pitchFamily="34" charset="0"/>
              </a:rPr>
              <a:t>is connected and contains </a:t>
            </a:r>
            <a:r>
              <a:rPr kumimoji="0" lang="zh-CN" altLang="zh-CN" sz="2400" b="0" i="1" u="none" strike="noStrike" cap="none" normalizeH="0" baseline="0" dirty="0">
                <a:ln>
                  <a:noFill/>
                </a:ln>
                <a:solidFill>
                  <a:srgbClr val="0B61FF"/>
                </a:solidFill>
                <a:effectLst/>
                <a:latin typeface="Trebuchet MS" panose="020B0603020202020204" pitchFamily="34" charset="0"/>
              </a:rPr>
              <a:t>no cycles </a:t>
            </a:r>
            <a:r>
              <a:rPr kumimoji="0" lang="zh-CN" altLang="zh-CN" sz="2400" b="0" i="0" u="none" strike="noStrike" cap="none" normalizeH="0" baseline="0" dirty="0">
                <a:ln>
                  <a:noFill/>
                </a:ln>
                <a:effectLst/>
                <a:latin typeface="Trebuchet MS" panose="020B0603020202020204" pitchFamily="34" charset="0"/>
              </a:rPr>
              <a:t>(i.e., </a:t>
            </a:r>
            <a:r>
              <a:rPr kumimoji="0" lang="zh-CN" altLang="zh-CN" sz="2400" b="1" i="1" u="none" strike="noStrike" cap="none" normalizeH="0" baseline="0" dirty="0">
                <a:ln>
                  <a:noFill/>
                </a:ln>
                <a:effectLst/>
                <a:latin typeface="Trebuchet MS" panose="020B0603020202020204" pitchFamily="34" charset="0"/>
              </a:rPr>
              <a:t>G</a:t>
            </a:r>
            <a:r>
              <a:rPr kumimoji="0" lang="zh-CN" altLang="zh-CN" sz="2400" b="0" i="0" u="none" strike="noStrike" cap="none" normalizeH="0" baseline="0" dirty="0">
                <a:ln>
                  <a:noFill/>
                </a:ln>
                <a:effectLst/>
                <a:latin typeface="Trebuchet MS" panose="020B0603020202020204" pitchFamily="34" charset="0"/>
              </a:rPr>
              <a:t> is a tree)</a:t>
            </a:r>
            <a:r>
              <a:rPr kumimoji="0" lang="en-US" altLang="zh-CN" sz="2400" b="0" i="0" u="none" strike="noStrike" cap="none" normalizeH="0" baseline="0" dirty="0">
                <a:ln>
                  <a:noFill/>
                </a:ln>
                <a:effectLst/>
                <a:latin typeface="Trebuchet MS" panose="020B0603020202020204" pitchFamily="34" charset="0"/>
              </a:rPr>
              <a:t>.</a:t>
            </a:r>
          </a:p>
          <a:p>
            <a:pPr indent="-47625" algn="just" eaLnBrk="1" hangingPunct="1">
              <a:lnSpc>
                <a:spcPct val="120000"/>
              </a:lnSpc>
              <a:spcBef>
                <a:spcPts val="300"/>
              </a:spcBef>
              <a:buFontTx/>
              <a:buNone/>
            </a:pPr>
            <a:r>
              <a:rPr lang="zh-CN" altLang="en-US" sz="2400" b="1" dirty="0">
                <a:solidFill>
                  <a:srgbClr val="0B61FF"/>
                </a:solidFill>
                <a:latin typeface="Trebuchet MS" panose="020B0603020202020204" pitchFamily="34" charset="0"/>
                <a:cs typeface="Times New Roman" panose="02020603050405020304" pitchFamily="18" charset="0"/>
              </a:rPr>
              <a:t>(2)</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There exists a </a:t>
            </a:r>
            <a:r>
              <a:rPr lang="en-US" altLang="zh-CN" sz="2400" i="1" dirty="0">
                <a:solidFill>
                  <a:srgbClr val="0B61FF"/>
                </a:solidFill>
                <a:latin typeface="Trebuchet MS" panose="020B0603020202020204" pitchFamily="34" charset="0"/>
              </a:rPr>
              <a:t>unique path </a:t>
            </a:r>
            <a:r>
              <a:rPr lang="en-US" altLang="zh-CN" sz="2400" dirty="0">
                <a:latin typeface="Trebuchet MS" panose="020B0603020202020204" pitchFamily="34" charset="0"/>
              </a:rPr>
              <a:t>between any two vertices in </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a:t>
            </a:r>
          </a:p>
          <a:p>
            <a:pPr indent="-47625" algn="just" eaLnBrk="1" hangingPunct="1">
              <a:lnSpc>
                <a:spcPct val="120000"/>
              </a:lnSpc>
              <a:spcBef>
                <a:spcPts val="300"/>
              </a:spcBef>
              <a:buFontTx/>
              <a:buNone/>
            </a:pPr>
            <a:r>
              <a:rPr lang="zh-CN" altLang="en-US" sz="2400" b="1" dirty="0">
                <a:solidFill>
                  <a:srgbClr val="0B61FF"/>
                </a:solidFill>
                <a:latin typeface="Trebuchet MS" panose="020B0603020202020204" pitchFamily="34" charset="0"/>
                <a:cs typeface="Times New Roman" panose="02020603050405020304" pitchFamily="18" charset="0"/>
              </a:rPr>
              <a:t>(3)</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G</a:t>
            </a:r>
            <a:r>
              <a:rPr lang="en-US" altLang="zh-CN" sz="2400" dirty="0">
                <a:latin typeface="Trebuchet MS" panose="020B0603020202020204" pitchFamily="34" charset="0"/>
              </a:rPr>
              <a:t> is connected and </a:t>
            </a:r>
            <a:r>
              <a:rPr lang="en-US" altLang="zh-CN" sz="2400" b="1" i="1"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a:t>
            </a:r>
          </a:p>
          <a:p>
            <a:pPr indent="-47625" algn="just" eaLnBrk="1" hangingPunct="1">
              <a:lnSpc>
                <a:spcPct val="120000"/>
              </a:lnSpc>
              <a:spcBef>
                <a:spcPts val="300"/>
              </a:spcBef>
              <a:buFontTx/>
              <a:buNone/>
            </a:pPr>
            <a:r>
              <a:rPr lang="en-US" altLang="zh-CN" sz="2400" b="1" dirty="0">
                <a:solidFill>
                  <a:srgbClr val="0B61FF"/>
                </a:solidFill>
                <a:latin typeface="Trebuchet MS" panose="020B0603020202020204" pitchFamily="34" charset="0"/>
                <a:cs typeface="Times New Roman" panose="02020603050405020304" pitchFamily="18" charset="0"/>
              </a:rPr>
              <a:t>(4) </a:t>
            </a:r>
            <a:r>
              <a:rPr lang="en-US" altLang="zh-CN" sz="2400" b="1" i="1" dirty="0">
                <a:latin typeface="Trebuchet MS" panose="020B0603020202020204" pitchFamily="34" charset="0"/>
                <a:cs typeface="Times New Roman" panose="02020603050405020304" pitchFamily="18" charset="0"/>
              </a:rPr>
              <a:t>G</a:t>
            </a:r>
            <a:r>
              <a:rPr lang="en-US" altLang="zh-CN" sz="2400" dirty="0">
                <a:latin typeface="Trebuchet MS" panose="020B0603020202020204" pitchFamily="34" charset="0"/>
              </a:rPr>
              <a:t> contains no cycles and </a:t>
            </a:r>
            <a:r>
              <a:rPr lang="en-US" altLang="zh-CN" sz="2400" b="1" i="1"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a:t>
            </a:r>
          </a:p>
          <a:p>
            <a:pPr marL="719138" indent="-538163" algn="just" eaLnBrk="1" hangingPunct="1">
              <a:lnSpc>
                <a:spcPct val="120000"/>
              </a:lnSpc>
              <a:spcBef>
                <a:spcPts val="300"/>
              </a:spcBef>
              <a:buFontTx/>
              <a:buNone/>
            </a:pPr>
            <a:r>
              <a:rPr lang="zh-CN" altLang="en-US" sz="2400" b="1" dirty="0">
                <a:solidFill>
                  <a:srgbClr val="0B61FF"/>
                </a:solidFill>
                <a:latin typeface="Trebuchet MS" panose="020B0603020202020204" pitchFamily="34" charset="0"/>
                <a:cs typeface="Times New Roman" panose="02020603050405020304" pitchFamily="18" charset="0"/>
              </a:rPr>
              <a:t>(5) </a:t>
            </a:r>
            <a:r>
              <a:rPr lang="en-US" altLang="zh-CN" sz="2400" b="1" i="1" dirty="0">
                <a:latin typeface="Trebuchet MS" panose="020B0603020202020204" pitchFamily="34" charset="0"/>
              </a:rPr>
              <a:t>G</a:t>
            </a:r>
            <a:r>
              <a:rPr lang="en-US" altLang="zh-CN" sz="2400" dirty="0">
                <a:latin typeface="Trebuchet MS" panose="020B0603020202020204" pitchFamily="34" charset="0"/>
              </a:rPr>
              <a:t> contains no cycles, but adding an edge between any two non-adjacent vertices creates exactly one simple cycle</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719138" indent="-538163" algn="just" eaLnBrk="1" hangingPunct="1">
              <a:lnSpc>
                <a:spcPct val="120000"/>
              </a:lnSpc>
              <a:spcBef>
                <a:spcPts val="300"/>
              </a:spcBef>
              <a:buFontTx/>
              <a:buNone/>
            </a:pPr>
            <a:r>
              <a:rPr lang="en-US" altLang="zh-CN" sz="2400" b="1" dirty="0">
                <a:solidFill>
                  <a:srgbClr val="0B61FF"/>
                </a:solidFill>
                <a:latin typeface="Trebuchet MS" panose="020B0603020202020204" pitchFamily="34" charset="0"/>
                <a:cs typeface="Times New Roman" panose="02020603050405020304" pitchFamily="18" charset="0"/>
              </a:rPr>
              <a:t>(6)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connected, and every edge in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a bridge.</a:t>
            </a: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24723703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fade">
                                      <p:cBhvr>
                                        <p:cTn id="28" dur="1000"/>
                                        <p:tgtEl>
                                          <p:spTgt spid="8">
                                            <p:txEl>
                                              <p:pRg st="5" end="5"/>
                                            </p:txEl>
                                          </p:spTgt>
                                        </p:tgtEl>
                                      </p:cBhvr>
                                    </p:animEffect>
                                    <p:anim calcmode="lin" valueType="num">
                                      <p:cBhvr>
                                        <p:cTn id="2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fade">
                                      <p:cBhvr>
                                        <p:cTn id="35" dur="1000"/>
                                        <p:tgtEl>
                                          <p:spTgt spid="8">
                                            <p:txEl>
                                              <p:pRg st="6" end="6"/>
                                            </p:txEl>
                                          </p:spTgt>
                                        </p:tgtEl>
                                      </p:cBhvr>
                                    </p:animEffect>
                                    <p:anim calcmode="lin" valueType="num">
                                      <p:cBhvr>
                                        <p:cTn id="3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9877336" cy="50139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p>
          <a:p>
            <a:pPr marL="449263" indent="-273050" eaLnBrk="1" hangingPunct="1">
              <a:lnSpc>
                <a:spcPct val="120000"/>
              </a:lnSpc>
              <a:spcBef>
                <a:spcPts val="0"/>
              </a:spcBef>
              <a:buFontTx/>
              <a:buNone/>
              <a:tabLst>
                <a:tab pos="265113" algn="l"/>
                <a:tab pos="449263" algn="l"/>
              </a:tabLst>
            </a:pPr>
            <a:r>
              <a:rPr lang="en-US" altLang="zh-CN" sz="2400" b="1" dirty="0">
                <a:solidFill>
                  <a:srgbClr val="0B61FF"/>
                </a:solidFill>
                <a:latin typeface="Trebuchet MS" panose="020B0603020202020204" pitchFamily="34" charset="0"/>
              </a:rPr>
              <a:t>①</a:t>
            </a:r>
            <a:r>
              <a:rPr lang="en-US" altLang="zh-CN" sz="2400" dirty="0">
                <a:latin typeface="Trebuchet MS" panose="020B0603020202020204" pitchFamily="34" charset="0"/>
              </a:rPr>
              <a:t>By the definition of connectivity, there is a path between any two vertices.</a:t>
            </a:r>
          </a:p>
          <a:p>
            <a:pPr marL="449263" indent="-273050" eaLnBrk="1" hangingPunct="1">
              <a:lnSpc>
                <a:spcPct val="120000"/>
              </a:lnSpc>
              <a:spcBef>
                <a:spcPts val="0"/>
              </a:spcBef>
              <a:buFontTx/>
              <a:buNone/>
              <a:tabLst>
                <a:tab pos="265113" algn="l"/>
                <a:tab pos="449263" algn="l"/>
              </a:tabLst>
            </a:pPr>
            <a:r>
              <a:rPr lang="en-US" altLang="zh-CN" sz="2400" b="1" dirty="0">
                <a:solidFill>
                  <a:srgbClr val="0B61FF"/>
                </a:solidFill>
                <a:latin typeface="Trebuchet MS" panose="020B0603020202020204" pitchFamily="34" charset="0"/>
              </a:rPr>
              <a:t>②</a:t>
            </a:r>
            <a:r>
              <a:rPr lang="en-US" altLang="zh-CN" sz="2400" dirty="0">
                <a:latin typeface="Trebuchet MS" panose="020B0603020202020204" pitchFamily="34" charset="0"/>
              </a:rPr>
              <a:t>Now suppose there are two different paths between some pair of vertices. Then these two paths together form a cycle, which contradicts the definition of a tree.</a:t>
            </a:r>
          </a:p>
          <a:p>
            <a:pPr>
              <a:lnSpc>
                <a:spcPct val="120000"/>
              </a:lnSpc>
              <a:spcBef>
                <a:spcPts val="0"/>
              </a:spcBef>
              <a:buClr>
                <a:srgbClr val="0B61FF"/>
              </a:buClr>
              <a:buSzPct val="80000"/>
              <a:buFont typeface="Wingdings" panose="05000000000000000000" pitchFamily="2" charset="2"/>
              <a:buChar char="n"/>
              <a:tabLst>
                <a:tab pos="176213" algn="l"/>
                <a:tab pos="265113" algn="l"/>
              </a:tabLst>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(3)</a:t>
            </a:r>
            <a:r>
              <a:rPr lang="en-US" altLang="zh-CN" sz="2400" b="1" dirty="0">
                <a:latin typeface="Trebuchet MS" panose="020B0603020202020204" pitchFamily="34" charset="0"/>
                <a:sym typeface="Symbol" panose="05050102010706020507" pitchFamily="18" charset="2"/>
              </a:rPr>
              <a:t> </a:t>
            </a:r>
          </a:p>
          <a:p>
            <a:pPr marL="449263" indent="-273050" eaLnBrk="1" hangingPunct="1">
              <a:lnSpc>
                <a:spcPct val="120000"/>
              </a:lnSpc>
              <a:spcBef>
                <a:spcPts val="0"/>
              </a:spcBef>
              <a:buFontTx/>
              <a:buNone/>
            </a:pPr>
            <a:r>
              <a:rPr lang="zh-CN" altLang="en-US"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①</a:t>
            </a:r>
            <a:r>
              <a:rPr lang="en-US" altLang="zh-CN" sz="2400" dirty="0">
                <a:latin typeface="Trebuchet MS" panose="020B0603020202020204" pitchFamily="34" charset="0"/>
              </a:rPr>
              <a:t>Clearly, the graph is connected. We now prove that </a:t>
            </a:r>
            <a:r>
              <a:rPr lang="en-US" altLang="zh-CN" sz="2400" b="1" i="1"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 </a:t>
            </a:r>
            <a:r>
              <a:rPr lang="en-US" altLang="zh-CN" sz="2400" dirty="0">
                <a:latin typeface="Trebuchet MS" panose="020B0603020202020204" pitchFamily="34" charset="0"/>
              </a:rPr>
              <a:t>by induction on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n</a:t>
            </a:r>
            <a:r>
              <a:rPr lang="zh-CN" altLang="en-US" sz="2400" b="1" dirty="0">
                <a:latin typeface="Trebuchet MS" panose="020B0603020202020204" pitchFamily="34" charset="0"/>
                <a:cs typeface="Times New Roman" panose="02020603050405020304" pitchFamily="18" charset="0"/>
              </a:rPr>
              <a:t>. </a:t>
            </a:r>
            <a:endParaRPr lang="en-US" altLang="zh-CN" sz="2400" b="1" dirty="0">
              <a:latin typeface="Trebuchet MS" panose="020B0603020202020204" pitchFamily="34" charset="0"/>
              <a:cs typeface="Times New Roman" panose="02020603050405020304" pitchFamily="18" charset="0"/>
            </a:endParaRPr>
          </a:p>
          <a:p>
            <a:pPr marL="609600" indent="-433388">
              <a:lnSpc>
                <a:spcPct val="120000"/>
              </a:lnSpc>
              <a:spcBef>
                <a:spcPts val="0"/>
              </a:spcBef>
              <a:buNone/>
            </a:pPr>
            <a:r>
              <a:rPr lang="en-US" altLang="zh-CN" sz="2400" b="1" dirty="0">
                <a:solidFill>
                  <a:srgbClr val="0B61FF"/>
                </a:solidFill>
                <a:latin typeface="Trebuchet MS" panose="020B0603020202020204" pitchFamily="34" charset="0"/>
              </a:rPr>
              <a:t>②</a:t>
            </a:r>
            <a:r>
              <a:rPr lang="en-US" altLang="zh-CN" sz="2400" b="1" dirty="0">
                <a:latin typeface="Trebuchet MS" panose="020B0603020202020204" pitchFamily="34" charset="0"/>
              </a:rPr>
              <a:t>Base case:</a:t>
            </a:r>
            <a:r>
              <a:rPr lang="en-US" altLang="zh-CN" sz="2400" dirty="0">
                <a:latin typeface="Trebuchet MS" panose="020B0603020202020204" pitchFamily="34" charset="0"/>
              </a:rPr>
              <a:t> When </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=1</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obviously  </a:t>
            </a:r>
            <a:r>
              <a:rPr lang="en-US" altLang="zh-CN" sz="2400" b="1" i="1"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=0, </a:t>
            </a:r>
            <a:r>
              <a:rPr lang="en-US" altLang="zh-CN" sz="2400" dirty="0">
                <a:latin typeface="Trebuchet MS" panose="020B0603020202020204" pitchFamily="34" charset="0"/>
              </a:rPr>
              <a:t>so the conclusion holds.</a:t>
            </a:r>
            <a:r>
              <a:rPr lang="zh-CN" altLang="en-US" sz="2400" b="1" dirty="0">
                <a:latin typeface="Trebuchet MS" panose="020B0603020202020204" pitchFamily="34" charset="0"/>
                <a:cs typeface="Times New Roman" panose="02020603050405020304" pitchFamily="18" charset="0"/>
              </a:rPr>
              <a:t> </a:t>
            </a:r>
          </a:p>
          <a:p>
            <a:pPr algn="just" eaLnBrk="1" hangingPunct="1">
              <a:lnSpc>
                <a:spcPct val="120000"/>
              </a:lnSpc>
              <a:spcBef>
                <a:spcPts val="0"/>
              </a:spcBef>
              <a:buFontTx/>
              <a:buNone/>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4883631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10114260" cy="47076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(3)</a:t>
            </a:r>
            <a:r>
              <a:rPr lang="en-US" altLang="zh-CN" sz="2400" b="1" dirty="0">
                <a:latin typeface="Trebuchet MS" panose="020B0603020202020204" pitchFamily="34" charset="0"/>
                <a:sym typeface="Symbol" panose="05050102010706020507" pitchFamily="18" charset="2"/>
              </a:rPr>
              <a:t> </a:t>
            </a:r>
          </a:p>
          <a:p>
            <a:pPr marL="536575" indent="-360363">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sym typeface="Symbol" panose="05050102010706020507" pitchFamily="18" charset="2"/>
              </a:rPr>
              <a:t>③</a:t>
            </a: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Inductive step:</a:t>
            </a:r>
            <a:r>
              <a:rPr lang="en-US" altLang="zh-CN" sz="2400" dirty="0">
                <a:latin typeface="Trebuchet MS" panose="020B0603020202020204" pitchFamily="34" charset="0"/>
              </a:rPr>
              <a:t> Assume the conclusion holds for all graphs with up to </a:t>
            </a:r>
            <a:r>
              <a:rPr lang="en-US" altLang="zh-CN" sz="2400" b="1" i="1" dirty="0" err="1">
                <a:latin typeface="Trebuchet MS" panose="020B0603020202020204" pitchFamily="34" charset="0"/>
                <a:cs typeface="Times New Roman" panose="02020603050405020304" pitchFamily="18" charset="0"/>
              </a:rPr>
              <a:t>n</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k</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consider </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 </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marL="536575" indent="-360363">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④</a:t>
            </a:r>
            <a:r>
              <a:rPr lang="en-US" altLang="zh-CN" sz="2400" dirty="0">
                <a:latin typeface="Trebuchet MS" panose="020B0603020202020204" pitchFamily="34" charset="0"/>
              </a:rPr>
              <a:t>Select any edge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u,v</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Since the path between </a:t>
            </a:r>
            <a:r>
              <a:rPr lang="en-US" altLang="zh-CN" sz="2400" b="1" i="1" dirty="0">
                <a:latin typeface="Trebuchet MS" panose="020B0603020202020204" pitchFamily="34" charset="0"/>
              </a:rPr>
              <a:t>u</a:t>
            </a:r>
            <a:r>
              <a:rPr lang="en-US" altLang="zh-CN" sz="2400" dirty="0">
                <a:latin typeface="Trebuchet MS" panose="020B0603020202020204" pitchFamily="34" charset="0"/>
              </a:rPr>
              <a:t> and </a:t>
            </a:r>
            <a:r>
              <a:rPr lang="en-US" altLang="zh-CN" sz="2400" b="1" i="1" dirty="0">
                <a:latin typeface="Trebuchet MS" panose="020B0603020202020204" pitchFamily="34" charset="0"/>
              </a:rPr>
              <a:t>v</a:t>
            </a:r>
            <a:r>
              <a:rPr lang="en-US" altLang="zh-CN" sz="2400" dirty="0">
                <a:latin typeface="Trebuchet MS" panose="020B0603020202020204" pitchFamily="34" charset="0"/>
              </a:rPr>
              <a:t> is unique, </a:t>
            </a:r>
            <a:r>
              <a:rPr lang="en-US" altLang="zh-CN" sz="2400" b="1" i="1" dirty="0">
                <a:latin typeface="Trebuchet MS" panose="020B0603020202020204" pitchFamily="34" charset="0"/>
              </a:rPr>
              <a:t>e must be the only path connecting them.</a:t>
            </a:r>
          </a:p>
          <a:p>
            <a:pPr marL="536575" indent="-360363">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⑤</a:t>
            </a:r>
            <a:r>
              <a:rPr lang="en-US" altLang="zh-CN" sz="2400" dirty="0">
                <a:latin typeface="Trebuchet MS" panose="020B0603020202020204" pitchFamily="34" charset="0"/>
              </a:rPr>
              <a:t>Removing </a:t>
            </a:r>
            <a:r>
              <a:rPr lang="en-US" altLang="zh-CN" sz="2400" b="1" i="1" dirty="0">
                <a:latin typeface="Trebuchet MS" panose="020B0603020202020204" pitchFamily="34" charset="0"/>
              </a:rPr>
              <a:t>e</a:t>
            </a:r>
            <a:r>
              <a:rPr lang="en-US" altLang="zh-CN" sz="2400" dirty="0">
                <a:latin typeface="Trebuchet MS" panose="020B0603020202020204" pitchFamily="34" charset="0"/>
              </a:rPr>
              <a:t> disconnects the graph into two connected components.</a:t>
            </a:r>
          </a:p>
          <a:p>
            <a:pPr marL="536575" indent="-360363">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⑥</a:t>
            </a:r>
            <a:r>
              <a:rPr lang="en-US" altLang="zh-CN" sz="2400" dirty="0">
                <a:latin typeface="Trebuchet MS" panose="020B0603020202020204" pitchFamily="34" charset="0"/>
              </a:rPr>
              <a:t>Let these components have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vertices, 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 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edges, respectively, where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 </a:t>
            </a:r>
          </a:p>
          <a:p>
            <a:pPr eaLnBrk="1" hangingPunct="1">
              <a:lnSpc>
                <a:spcPct val="12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Therefore</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a:t>
            </a:r>
          </a:p>
          <a:p>
            <a:pPr algn="just" eaLnBrk="1" hangingPunct="1">
              <a:lnSpc>
                <a:spcPct val="120000"/>
              </a:lnSpc>
              <a:spcBef>
                <a:spcPts val="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658729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557684" y="794339"/>
            <a:ext cx="11046358" cy="52053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(3)</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(4)</a:t>
            </a:r>
            <a:r>
              <a:rPr lang="en-US" altLang="zh-CN" sz="2400" b="1" dirty="0">
                <a:latin typeface="Trebuchet MS" panose="020B0603020202020204" pitchFamily="34" charset="0"/>
                <a:sym typeface="Symbol" panose="05050102010706020507" pitchFamily="18" charset="2"/>
              </a:rPr>
              <a:t> </a:t>
            </a:r>
          </a:p>
          <a:p>
            <a:pPr marL="625475" indent="-449263">
              <a:lnSpc>
                <a:spcPct val="120000"/>
              </a:lnSpc>
              <a:spcBef>
                <a:spcPts val="0"/>
              </a:spcBef>
              <a:buNone/>
            </a:pPr>
            <a:r>
              <a:rPr lang="en-US" altLang="zh-CN" sz="2400" b="1" dirty="0">
                <a:solidFill>
                  <a:srgbClr val="0B61FF"/>
                </a:solidFill>
                <a:latin typeface="Trebuchet MS" panose="020B0603020202020204" pitchFamily="34" charset="0"/>
              </a:rPr>
              <a:t>① </a:t>
            </a:r>
            <a:r>
              <a:rPr lang="en-US" altLang="zh-CN" sz="2400" dirty="0">
                <a:latin typeface="Trebuchet MS" panose="020B0603020202020204" pitchFamily="34" charset="0"/>
              </a:rPr>
              <a:t>Suppose </a:t>
            </a:r>
            <a:r>
              <a:rPr lang="en-US" altLang="zh-CN" sz="2400" b="1" i="1" dirty="0">
                <a:latin typeface="Trebuchet MS" panose="020B0603020202020204" pitchFamily="34" charset="0"/>
              </a:rPr>
              <a:t>G</a:t>
            </a:r>
            <a:r>
              <a:rPr lang="en-US" altLang="zh-CN" sz="2400" dirty="0">
                <a:latin typeface="Trebuchet MS" panose="020B0603020202020204" pitchFamily="34" charset="0"/>
              </a:rPr>
              <a:t> contains a cycle. Then, by removing any edge from the cycle, the resulting graph remains connected. </a:t>
            </a:r>
          </a:p>
          <a:p>
            <a:pPr marL="625475" indent="-449263">
              <a:lnSpc>
                <a:spcPct val="120000"/>
              </a:lnSpc>
              <a:spcBef>
                <a:spcPts val="300"/>
              </a:spcBef>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Repeat this process until no cycles remain. The resulting graph is a tree with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dirty="0">
                <a:latin typeface="Trebuchet MS" panose="020B0603020202020204" pitchFamily="34" charset="0"/>
              </a:rPr>
              <a:t> vertices 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m-r</a:t>
            </a:r>
            <a:r>
              <a:rPr lang="en-US" altLang="zh-CN" sz="2400" dirty="0">
                <a:latin typeface="Trebuchet MS" panose="020B0603020202020204" pitchFamily="34" charset="0"/>
              </a:rPr>
              <a:t> edges</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&gt;0. </a:t>
            </a:r>
          </a:p>
          <a:p>
            <a:pPr marL="625475" indent="-449263">
              <a:lnSpc>
                <a:spcPct val="120000"/>
              </a:lnSpc>
              <a:spcBef>
                <a:spcPts val="300"/>
              </a:spcBef>
              <a:buNone/>
            </a:pPr>
            <a:r>
              <a:rPr lang="en-US" altLang="zh-CN" sz="2400" b="1" dirty="0">
                <a:solidFill>
                  <a:srgbClr val="0B61FF"/>
                </a:solidFill>
                <a:latin typeface="Trebuchet MS" panose="020B0603020202020204" pitchFamily="34" charset="0"/>
                <a:sym typeface="Symbol" panose="05050102010706020507" pitchFamily="18" charset="2"/>
              </a:rPr>
              <a:t>③ </a:t>
            </a:r>
            <a:r>
              <a:rPr lang="en-US" altLang="zh-CN" sz="2400" dirty="0">
                <a:latin typeface="Trebuchet MS" panose="020B0603020202020204" pitchFamily="34" charset="0"/>
              </a:rPr>
              <a:t>From</a:t>
            </a:r>
            <a:r>
              <a:rPr lang="en-US" altLang="zh-CN" sz="2400" dirty="0"/>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(2)(3),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we</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know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which contradicts the assumption that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(4)</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(1)  </a:t>
            </a:r>
            <a:r>
              <a:rPr lang="en-US" altLang="zh-CN" sz="2400" dirty="0">
                <a:latin typeface="Trebuchet MS" panose="020B0603020202020204" pitchFamily="34" charset="0"/>
              </a:rPr>
              <a:t>We only need to prove that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connected</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indent="-52388">
              <a:lnSpc>
                <a:spcPct val="120000"/>
              </a:lnSpc>
              <a:spcBef>
                <a:spcPts val="300"/>
              </a:spcBef>
              <a:buNone/>
            </a:pPr>
            <a:r>
              <a:rPr lang="en-US" altLang="zh-CN" sz="2400" b="1" dirty="0">
                <a:solidFill>
                  <a:srgbClr val="0B61FF"/>
                </a:solidFill>
                <a:latin typeface="Trebuchet MS" panose="020B0603020202020204" pitchFamily="34" charset="0"/>
              </a:rPr>
              <a:t>① </a:t>
            </a:r>
            <a:r>
              <a:rPr lang="en-US" altLang="zh-CN" sz="2400" dirty="0">
                <a:latin typeface="Trebuchet MS" panose="020B0603020202020204" pitchFamily="34" charset="0"/>
              </a:rPr>
              <a:t>Assume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disconnected and has </a:t>
            </a:r>
            <a:r>
              <a:rPr lang="en-US" altLang="zh-CN" sz="2400" b="1" i="1" dirty="0">
                <a:latin typeface="Trebuchet MS" panose="020B0603020202020204" pitchFamily="34" charset="0"/>
              </a:rPr>
              <a:t>p</a:t>
            </a:r>
            <a:r>
              <a:rPr lang="en-US" altLang="zh-CN" sz="2400" dirty="0">
                <a:latin typeface="Trebuchet MS" panose="020B0603020202020204" pitchFamily="34" charset="0"/>
              </a:rPr>
              <a:t> connected components, where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marL="536575" indent="-360363">
              <a:lnSpc>
                <a:spcPct val="120000"/>
              </a:lnSpc>
              <a:spcBef>
                <a:spcPts val="300"/>
              </a:spcBef>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Let the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th</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component have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k</a:t>
            </a:r>
            <a:r>
              <a:rPr lang="en-US" altLang="zh-CN" sz="2400" dirty="0">
                <a:latin typeface="Trebuchet MS" panose="020B0603020202020204" pitchFamily="34" charset="0"/>
              </a:rPr>
              <a:t> vertices and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k</a:t>
            </a:r>
            <a:r>
              <a:rPr lang="en-US" altLang="zh-CN" sz="2400" dirty="0">
                <a:latin typeface="Trebuchet MS" panose="020B0603020202020204" pitchFamily="34" charset="0"/>
              </a:rPr>
              <a:t> edges</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by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(2)(3),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k</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k</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get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n-p</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which contradicts the assumption that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algn="just" eaLnBrk="1" hangingPunct="1">
              <a:lnSpc>
                <a:spcPct val="120000"/>
              </a:lnSpc>
              <a:spcBef>
                <a:spcPts val="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2363748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fade">
                                      <p:cBhvr>
                                        <p:cTn id="28" dur="1000"/>
                                        <p:tgtEl>
                                          <p:spTgt spid="8">
                                            <p:txEl>
                                              <p:pRg st="5" end="5"/>
                                            </p:txEl>
                                          </p:spTgt>
                                        </p:tgtEl>
                                      </p:cBhvr>
                                    </p:animEffect>
                                    <p:anim calcmode="lin" valueType="num">
                                      <p:cBhvr>
                                        <p:cTn id="2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fade">
                                      <p:cBhvr>
                                        <p:cTn id="35" dur="1000"/>
                                        <p:tgtEl>
                                          <p:spTgt spid="8">
                                            <p:txEl>
                                              <p:pRg st="6" end="6"/>
                                            </p:txEl>
                                          </p:spTgt>
                                        </p:tgtEl>
                                      </p:cBhvr>
                                    </p:animEffect>
                                    <p:anim calcmode="lin" valueType="num">
                                      <p:cBhvr>
                                        <p:cTn id="3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557684" y="794339"/>
            <a:ext cx="11046358" cy="52053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(1)</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(5)</a:t>
            </a:r>
            <a:r>
              <a:rPr lang="en-US" altLang="zh-CN" sz="2400" b="1" dirty="0">
                <a:latin typeface="Trebuchet MS" panose="020B0603020202020204" pitchFamily="34" charset="0"/>
                <a:sym typeface="Symbol" panose="05050102010706020507" pitchFamily="18" charset="2"/>
              </a:rPr>
              <a:t> </a:t>
            </a:r>
          </a:p>
          <a:p>
            <a:pPr marL="625475" indent="-449263">
              <a:lnSpc>
                <a:spcPct val="120000"/>
              </a:lnSpc>
              <a:spcBef>
                <a:spcPts val="0"/>
              </a:spcBef>
              <a:buNone/>
            </a:pPr>
            <a:r>
              <a:rPr lang="en-US" altLang="zh-CN" sz="2400" b="1" dirty="0">
                <a:solidFill>
                  <a:srgbClr val="0B61FF"/>
                </a:solidFill>
                <a:latin typeface="Trebuchet MS" panose="020B0603020202020204" pitchFamily="34" charset="0"/>
              </a:rPr>
              <a:t>①</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From</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there exists a unique path between any two non-adjacent vertices.</a:t>
            </a:r>
          </a:p>
          <a:p>
            <a:pPr marL="625475" indent="-449263">
              <a:lnSpc>
                <a:spcPct val="120000"/>
              </a:lnSpc>
              <a:spcBef>
                <a:spcPts val="300"/>
              </a:spcBef>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Therefore, adding a new edge between them will create exactly one simple cycle.</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(5)</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(6)</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marL="536575" indent="-357188">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①</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First, there must be a path between any two non-adjacent vertices. Otherwise, adding a new edge between them would not create a cycle. Hence,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connected.</a:t>
            </a:r>
          </a:p>
          <a:p>
            <a:pPr marL="536575" indent="-357188">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Second, if removing any edge leaves </a:t>
            </a:r>
            <a:r>
              <a:rPr lang="en-US" altLang="zh-CN" sz="2400" b="1" i="1" dirty="0">
                <a:latin typeface="Trebuchet MS" panose="020B0603020202020204" pitchFamily="34" charset="0"/>
              </a:rPr>
              <a:t>G</a:t>
            </a:r>
            <a:r>
              <a:rPr lang="en-US" altLang="zh-CN" sz="2400" dirty="0">
                <a:latin typeface="Trebuchet MS" panose="020B0603020202020204" pitchFamily="34" charset="0"/>
              </a:rPr>
              <a:t> still connected, then that edge must lie on a cycle—contradicting the assumption that </a:t>
            </a:r>
            <a:r>
              <a:rPr lang="en-US" altLang="zh-CN" sz="2400" b="1" i="1" dirty="0">
                <a:latin typeface="Trebuchet MS" panose="020B0603020202020204" pitchFamily="34" charset="0"/>
              </a:rPr>
              <a:t>G</a:t>
            </a:r>
            <a:r>
              <a:rPr lang="en-US" altLang="zh-CN" sz="2400" dirty="0">
                <a:latin typeface="Trebuchet MS" panose="020B0603020202020204" pitchFamily="34" charset="0"/>
              </a:rPr>
              <a:t> has no cycles.</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marL="0" indent="0">
              <a:lnSpc>
                <a:spcPct val="120000"/>
              </a:lnSpc>
              <a:spcBef>
                <a:spcPts val="300"/>
              </a:spcBef>
              <a:buClr>
                <a:srgbClr val="0B61FF"/>
              </a:buClr>
              <a:buSzPct val="80000"/>
              <a:buNone/>
            </a:pP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algn="just" eaLnBrk="1" hangingPunct="1">
              <a:lnSpc>
                <a:spcPct val="120000"/>
              </a:lnSpc>
              <a:spcBef>
                <a:spcPts val="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7860038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557684" y="794339"/>
            <a:ext cx="11046358" cy="52053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(6)</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(1)</a:t>
            </a:r>
            <a:r>
              <a:rPr lang="en-US" altLang="zh-CN" sz="2400" b="1" dirty="0">
                <a:latin typeface="Trebuchet MS" panose="020B0603020202020204" pitchFamily="34" charset="0"/>
                <a:sym typeface="Symbol" panose="05050102010706020507" pitchFamily="18" charset="2"/>
              </a:rPr>
              <a:t> </a:t>
            </a:r>
          </a:p>
          <a:p>
            <a:pPr marL="625475" indent="-449263">
              <a:lnSpc>
                <a:spcPct val="120000"/>
              </a:lnSpc>
              <a:spcBef>
                <a:spcPts val="600"/>
              </a:spcBef>
              <a:buNone/>
            </a:pPr>
            <a:r>
              <a:rPr lang="en-US" altLang="zh-CN" sz="2400" b="1" dirty="0">
                <a:solidFill>
                  <a:srgbClr val="0B61FF"/>
                </a:solidFill>
                <a:latin typeface="Trebuchet MS" panose="020B0603020202020204" pitchFamily="34" charset="0"/>
              </a:rPr>
              <a:t>①</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I</a:t>
            </a:r>
            <a:r>
              <a:rPr lang="en-US" altLang="zh-CN" sz="2400" dirty="0">
                <a:latin typeface="Trebuchet MS" panose="020B0603020202020204" pitchFamily="34" charset="0"/>
              </a:rPr>
              <a:t>f </a:t>
            </a:r>
            <a:r>
              <a:rPr lang="en-US" altLang="zh-CN" sz="2400" b="1" i="1" dirty="0">
                <a:latin typeface="Trebuchet MS" panose="020B0603020202020204" pitchFamily="34" charset="0"/>
              </a:rPr>
              <a:t>G</a:t>
            </a:r>
            <a:r>
              <a:rPr lang="en-US" altLang="zh-CN" sz="2400" dirty="0">
                <a:latin typeface="Trebuchet MS" panose="020B0603020202020204" pitchFamily="34" charset="0"/>
              </a:rPr>
              <a:t> contains a cycle, then removing any edge on that cycle would leave </a:t>
            </a:r>
            <a:r>
              <a:rPr lang="en-US" altLang="zh-CN" sz="2400" b="1" i="1" dirty="0">
                <a:latin typeface="Trebuchet MS" panose="020B0603020202020204" pitchFamily="34" charset="0"/>
              </a:rPr>
              <a:t>G</a:t>
            </a:r>
            <a:r>
              <a:rPr lang="en-US" altLang="zh-CN" sz="2400" dirty="0">
                <a:latin typeface="Trebuchet MS" panose="020B0603020202020204" pitchFamily="34" charset="0"/>
              </a:rPr>
              <a:t> connected—contradicting the assumption that every edge is a bridge.</a:t>
            </a:r>
          </a:p>
          <a:p>
            <a:pPr marL="625475" indent="-449263">
              <a:lnSpc>
                <a:spcPct val="120000"/>
              </a:lnSpc>
              <a:spcBef>
                <a:spcPts val="300"/>
              </a:spcBef>
              <a:buNone/>
            </a:pPr>
            <a:r>
              <a:rPr lang="en-US" altLang="zh-CN" sz="2400" b="1" dirty="0">
                <a:solidFill>
                  <a:srgbClr val="0B61FF"/>
                </a:solidFill>
                <a:latin typeface="Trebuchet MS" panose="020B0603020202020204" pitchFamily="34" charset="0"/>
              </a:rPr>
              <a:t>②</a:t>
            </a:r>
            <a:r>
              <a:rPr lang="en-US" altLang="zh-CN" sz="2400" dirty="0">
                <a:latin typeface="Trebuchet MS" panose="020B0603020202020204" pitchFamily="34" charset="0"/>
              </a:rPr>
              <a:t>Thus, </a:t>
            </a:r>
            <a:r>
              <a:rPr lang="en-US" altLang="zh-CN" sz="2400" b="1" i="1" dirty="0">
                <a:latin typeface="Trebuchet MS" panose="020B0603020202020204" pitchFamily="34" charset="0"/>
              </a:rPr>
              <a:t>G</a:t>
            </a:r>
            <a:r>
              <a:rPr lang="en-US" altLang="zh-CN" sz="2400" dirty="0">
                <a:latin typeface="Trebuchet MS" panose="020B0603020202020204" pitchFamily="34" charset="0"/>
              </a:rPr>
              <a:t> has no cycles and is connected, so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a tree.</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algn="just" eaLnBrk="1" hangingPunct="1">
              <a:lnSpc>
                <a:spcPct val="120000"/>
              </a:lnSpc>
              <a:spcBef>
                <a:spcPts val="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4184062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Minimum Leaf Theorem for Trees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9877336" cy="50139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7.2:</a:t>
            </a:r>
            <a:br>
              <a:rPr lang="en-US" altLang="zh-CN" sz="2400" dirty="0">
                <a:latin typeface="Trebuchet MS" panose="020B0603020202020204" pitchFamily="34" charset="0"/>
              </a:rPr>
            </a:br>
            <a:r>
              <a:rPr lang="en-US" altLang="zh-CN" sz="2400" dirty="0">
                <a:latin typeface="Trebuchet MS" panose="020B0603020202020204" pitchFamily="34" charset="0"/>
              </a:rPr>
              <a:t>An undirected tree of order </a:t>
            </a:r>
            <a:r>
              <a:rPr lang="en-US" altLang="zh-CN" sz="2400" b="1" i="1" dirty="0">
                <a:latin typeface="Trebuchet MS" panose="020B0603020202020204" pitchFamily="34" charset="0"/>
              </a:rPr>
              <a:t>n</a:t>
            </a:r>
            <a:r>
              <a:rPr lang="en-US" altLang="zh-CN" sz="2400" dirty="0">
                <a:latin typeface="Trebuchet MS" panose="020B0603020202020204" pitchFamily="34" charset="0"/>
              </a:rPr>
              <a:t> (with </a:t>
            </a:r>
            <a:r>
              <a:rPr lang="en-US" altLang="zh-CN" sz="2400" b="1" i="1" dirty="0">
                <a:latin typeface="Trebuchet MS" panose="020B0603020202020204" pitchFamily="34" charset="0"/>
              </a:rPr>
              <a:t>n</a:t>
            </a:r>
            <a:r>
              <a:rPr lang="en-US" altLang="zh-CN" sz="2400" b="1" dirty="0">
                <a:latin typeface="Trebuchet MS" panose="020B0603020202020204" pitchFamily="34" charset="0"/>
              </a:rPr>
              <a:t>&gt;1</a:t>
            </a:r>
            <a:r>
              <a:rPr lang="en-US" altLang="zh-CN" sz="2400" dirty="0">
                <a:latin typeface="Trebuchet MS" panose="020B0603020202020204" pitchFamily="34" charset="0"/>
              </a:rPr>
              <a:t>) has at least two leaves.</a:t>
            </a:r>
          </a:p>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a:t>
            </a:r>
            <a:r>
              <a:rPr kumimoji="0" lang="zh-CN" altLang="en-US" sz="2400" b="1" dirty="0">
                <a:latin typeface="Trebuchet MS" panose="020B0603020202020204" pitchFamily="34" charset="0"/>
                <a:cs typeface="Times New Roman" panose="02020603050405020304" pitchFamily="18" charset="0"/>
              </a:rPr>
              <a:t>：</a:t>
            </a:r>
            <a:endParaRPr kumimoji="0" lang="en-US" altLang="zh-CN" sz="2400" b="1" dirty="0">
              <a:latin typeface="Trebuchet MS" panose="020B0603020202020204" pitchFamily="34" charset="0"/>
              <a:cs typeface="Times New Roman" panose="02020603050405020304" pitchFamily="18" charset="0"/>
            </a:endParaRPr>
          </a:p>
          <a:p>
            <a:pPr marL="536575" indent="-357188" eaLnBrk="1" hangingPunct="1">
              <a:lnSpc>
                <a:spcPct val="120000"/>
              </a:lnSpc>
              <a:spcBef>
                <a:spcPts val="300"/>
              </a:spcBef>
              <a:buClr>
                <a:srgbClr val="0B61FF"/>
              </a:buClr>
              <a:buSzPct val="80000"/>
              <a:buNone/>
            </a:pPr>
            <a:r>
              <a:rPr kumimoji="0" lang="zh-CN" altLang="en-US" sz="2400" b="1" dirty="0">
                <a:solidFill>
                  <a:srgbClr val="0B61FF"/>
                </a:solidFill>
                <a:latin typeface="Trebuchet MS" panose="020B0603020202020204" pitchFamily="34" charset="0"/>
                <a:cs typeface="Times New Roman" panose="02020603050405020304" pitchFamily="18" charset="0"/>
              </a:rPr>
              <a:t>① </a:t>
            </a:r>
            <a:r>
              <a:rPr lang="en-US" altLang="zh-CN" sz="2400" dirty="0">
                <a:latin typeface="Trebuchet MS" panose="020B0603020202020204" pitchFamily="34" charset="0"/>
              </a:rPr>
              <a:t>Let the tree have </a:t>
            </a:r>
            <a:r>
              <a:rPr lang="en-US" altLang="zh-CN" sz="2400" b="1" i="1" dirty="0">
                <a:latin typeface="Trebuchet MS" panose="020B0603020202020204" pitchFamily="34" charset="0"/>
              </a:rPr>
              <a:t>n</a:t>
            </a:r>
            <a:r>
              <a:rPr lang="en-US" altLang="zh-CN" sz="2400" dirty="0">
                <a:latin typeface="Trebuchet MS" panose="020B0603020202020204" pitchFamily="34" charset="0"/>
              </a:rPr>
              <a:t> vertices </a:t>
            </a:r>
            <a:r>
              <a:rPr kumimoji="0" lang="en-US" altLang="zh-CN" sz="2400" b="1" i="1" dirty="0">
                <a:latin typeface="Trebuchet MS" panose="020B0603020202020204" pitchFamily="34" charset="0"/>
                <a:cs typeface="Times New Roman" panose="02020603050405020304" pitchFamily="18" charset="0"/>
              </a:rPr>
              <a:t>n</a:t>
            </a:r>
            <a:r>
              <a:rPr kumimoji="0" lang="en-US" altLang="zh-CN" sz="2400" b="1" dirty="0">
                <a:latin typeface="Trebuchet MS" panose="020B0603020202020204" pitchFamily="34" charset="0"/>
                <a:cs typeface="Times New Roman" panose="02020603050405020304" pitchFamily="18" charset="0"/>
              </a:rPr>
              <a:t>(</a:t>
            </a:r>
            <a:r>
              <a:rPr kumimoji="0" lang="en-US" altLang="zh-CN" sz="2400" b="1" i="1" dirty="0">
                <a:latin typeface="Trebuchet MS" panose="020B0603020202020204" pitchFamily="34" charset="0"/>
                <a:cs typeface="Times New Roman" panose="02020603050405020304" pitchFamily="18" charset="0"/>
              </a:rPr>
              <a:t>n</a:t>
            </a:r>
            <a:r>
              <a:rPr kumimoji="0" lang="en-US" altLang="zh-CN" sz="2400" b="1" dirty="0">
                <a:latin typeface="Trebuchet MS" panose="020B0603020202020204" pitchFamily="34" charset="0"/>
                <a:cs typeface="Times New Roman" panose="02020603050405020304" pitchFamily="18" charset="0"/>
              </a:rPr>
              <a:t>&gt;1)</a:t>
            </a:r>
            <a:r>
              <a:rPr lang="en-US" altLang="zh-CN" sz="2400" dirty="0">
                <a:latin typeface="Trebuchet MS" panose="020B0603020202020204" pitchFamily="34" charset="0"/>
              </a:rPr>
              <a:t>  </a:t>
            </a:r>
            <a:r>
              <a:rPr lang="en-US" altLang="zh-CN" sz="2400" b="1" i="1" dirty="0">
                <a:latin typeface="Trebuchet MS" panose="020B0603020202020204" pitchFamily="34" charset="0"/>
              </a:rPr>
              <a:t>k</a:t>
            </a:r>
            <a:r>
              <a:rPr lang="en-US" altLang="zh-CN" sz="2400" dirty="0">
                <a:latin typeface="Trebuchet MS" panose="020B0603020202020204" pitchFamily="34" charset="0"/>
              </a:rPr>
              <a:t> leaves (vertices of degree 1), and </a:t>
            </a:r>
            <a:r>
              <a:rPr lang="en-US" altLang="zh-CN" sz="2400" b="1" i="1" dirty="0">
                <a:latin typeface="Trebuchet MS" panose="020B0603020202020204" pitchFamily="34" charset="0"/>
              </a:rPr>
              <a:t>m</a:t>
            </a:r>
            <a:r>
              <a:rPr lang="en-US" altLang="zh-CN" sz="2400" dirty="0">
                <a:latin typeface="Trebuchet MS" panose="020B0603020202020204" pitchFamily="34" charset="0"/>
              </a:rPr>
              <a:t> edges.</a:t>
            </a:r>
          </a:p>
          <a:p>
            <a:pPr marL="536575" indent="-357188" eaLnBrk="1" hangingPunct="1">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By the </a:t>
            </a:r>
            <a:r>
              <a:rPr lang="en-US" altLang="zh-CN" sz="2400" dirty="0" err="1">
                <a:latin typeface="Trebuchet MS" panose="020B0603020202020204" pitchFamily="34" charset="0"/>
              </a:rPr>
              <a:t>andshaking</a:t>
            </a:r>
            <a:r>
              <a:rPr lang="en-US" altLang="zh-CN" sz="2400" dirty="0">
                <a:latin typeface="Trebuchet MS" panose="020B0603020202020204" pitchFamily="34" charset="0"/>
              </a:rPr>
              <a:t> Lemma, we have:</a:t>
            </a:r>
            <a:r>
              <a:rPr lang="en-US" altLang="zh-CN" sz="2400" b="1" dirty="0">
                <a:latin typeface="Trebuchet MS" panose="020B0603020202020204" pitchFamily="34" charset="0"/>
                <a:cs typeface="Times New Roman" panose="02020603050405020304" pitchFamily="18" charset="0"/>
              </a:rPr>
              <a:t>   </a:t>
            </a:r>
            <a:r>
              <a:rPr kumimoji="0"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 m</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kumimoji="0" lang="en-US" altLang="zh-CN" sz="2400" b="1" i="1" dirty="0">
                <a:latin typeface="Trebuchet MS" panose="020B0603020202020204" pitchFamily="34" charset="0"/>
                <a:cs typeface="Times New Roman" panose="02020603050405020304" pitchFamily="18" charset="0"/>
              </a:rPr>
              <a:t> k + 2(n-k).</a:t>
            </a:r>
          </a:p>
          <a:p>
            <a:pPr marL="536575" indent="-357188" eaLnBrk="1" hangingPunct="1">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rPr>
              <a:t>③ </a:t>
            </a:r>
            <a:r>
              <a:rPr lang="en-US" altLang="zh-CN" sz="2400" dirty="0">
                <a:latin typeface="Trebuchet MS" panose="020B0603020202020204" pitchFamily="34" charset="0"/>
              </a:rPr>
              <a:t>According to </a:t>
            </a:r>
            <a:r>
              <a:rPr lang="en-US" altLang="zh-CN" sz="2400" b="1" dirty="0">
                <a:latin typeface="Trebuchet MS" panose="020B0603020202020204" pitchFamily="34" charset="0"/>
              </a:rPr>
              <a:t>Theorem 7.1 </a:t>
            </a:r>
            <a:r>
              <a:rPr lang="en-US" altLang="zh-CN" sz="2400" dirty="0">
                <a:latin typeface="Trebuchet MS" panose="020B0603020202020204" pitchFamily="34" charset="0"/>
              </a:rPr>
              <a:t>(the number of edges in a tree is always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altLang="zh-CN" sz="2400" dirty="0">
                <a:latin typeface="Trebuchet MS" panose="020B0603020202020204" pitchFamily="34" charset="0"/>
              </a:rPr>
              <a:t>), we substitute:</a:t>
            </a:r>
          </a:p>
          <a:p>
            <a:pPr eaLnBrk="1" hangingPunct="1">
              <a:lnSpc>
                <a:spcPct val="120000"/>
              </a:lnSpc>
              <a:spcBef>
                <a:spcPts val="300"/>
              </a:spcBef>
              <a:buClr>
                <a:schemeClr val="bg2"/>
              </a:buClr>
              <a:buSzPct val="75000"/>
              <a:buFont typeface="Wingdings" panose="05000000000000000000" pitchFamily="2" charset="2"/>
              <a:buNone/>
            </a:pPr>
            <a:r>
              <a:rPr kumimoji="0" lang="en-US" altLang="zh-CN" sz="2400" b="1" i="1" dirty="0">
                <a:latin typeface="Trebuchet MS" panose="020B0603020202020204" pitchFamily="34" charset="0"/>
                <a:cs typeface="Times New Roman" panose="02020603050405020304" pitchFamily="18" charset="0"/>
              </a:rPr>
              <a:t>       </a:t>
            </a:r>
            <a:r>
              <a:rPr kumimoji="0"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n-1</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kumimoji="0" lang="en-US" altLang="zh-CN" sz="2400" b="1" i="1" dirty="0">
                <a:latin typeface="Trebuchet MS" panose="020B0603020202020204" pitchFamily="34" charset="0"/>
                <a:cs typeface="Times New Roman" panose="02020603050405020304" pitchFamily="18" charset="0"/>
              </a:rPr>
              <a:t> k + 2</a:t>
            </a:r>
            <a:r>
              <a:rPr kumimoji="0" lang="en-US" altLang="zh-CN" sz="2400" b="1" dirty="0">
                <a:latin typeface="Trebuchet MS" panose="020B0603020202020204" pitchFamily="34" charset="0"/>
                <a:cs typeface="Times New Roman" panose="02020603050405020304" pitchFamily="18" charset="0"/>
              </a:rPr>
              <a:t>(</a:t>
            </a:r>
            <a:r>
              <a:rPr kumimoji="0" lang="en-US" altLang="zh-CN" sz="2400" b="1" i="1" dirty="0">
                <a:latin typeface="Trebuchet MS" panose="020B0603020202020204" pitchFamily="34" charset="0"/>
                <a:cs typeface="Times New Roman" panose="02020603050405020304" pitchFamily="18" charset="0"/>
              </a:rPr>
              <a:t>n-k</a:t>
            </a:r>
            <a:r>
              <a:rPr kumimoji="0"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     </a:t>
            </a:r>
            <a:endParaRPr kumimoji="0" lang="zh-CN" altLang="en-US" sz="2400" b="1" dirty="0">
              <a:latin typeface="Trebuchet MS" panose="020B0603020202020204" pitchFamily="34" charset="0"/>
              <a:cs typeface="Times New Roman" panose="02020603050405020304" pitchFamily="18" charset="0"/>
            </a:endParaRPr>
          </a:p>
          <a:p>
            <a:pPr eaLnBrk="1" hangingPunct="1">
              <a:lnSpc>
                <a:spcPct val="120000"/>
              </a:lnSpc>
              <a:spcBef>
                <a:spcPts val="300"/>
              </a:spcBef>
              <a:buClr>
                <a:schemeClr val="bg2"/>
              </a:buClr>
              <a:buSzPct val="75000"/>
              <a:buFont typeface="Wingdings" panose="05000000000000000000" pitchFamily="2" charset="2"/>
              <a:buNone/>
            </a:pPr>
            <a:r>
              <a:rPr kumimoji="0" lang="zh-CN" altLang="en-US"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k</a:t>
            </a:r>
            <a:r>
              <a:rPr kumimoji="0"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kumimoji="0" lang="en-US" altLang="zh-CN" sz="2400" b="1" dirty="0">
                <a:latin typeface="Trebuchet MS" panose="020B0603020202020204" pitchFamily="34" charset="0"/>
                <a:cs typeface="Times New Roman" panose="02020603050405020304" pitchFamily="18" charset="0"/>
              </a:rPr>
              <a:t>2.</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11983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Minimum Leaf Theorem for Trees(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0000"/>
              </a:spcBef>
              <a:buClr>
                <a:schemeClr val="bg2"/>
              </a:buClr>
              <a:buSzPct val="75000"/>
              <a:buFont typeface="Wingdings" panose="05000000000000000000" pitchFamily="2" charset="2"/>
              <a:buNone/>
            </a:pPr>
            <a:endParaRPr kumimoji="0" lang="en-US" altLang="zh-CN" sz="2800" b="1" dirty="0">
              <a:solidFill>
                <a:srgbClr val="FF3300"/>
              </a:solidFill>
            </a:endParaRPr>
          </a:p>
          <a:p>
            <a:pPr algn="just" eaLnBrk="1" hangingPunct="1">
              <a:spcBef>
                <a:spcPct val="40000"/>
              </a:spcBef>
              <a:buClr>
                <a:schemeClr val="bg2"/>
              </a:buClr>
              <a:buSzPct val="75000"/>
              <a:buFont typeface="Wingdings" panose="05000000000000000000" pitchFamily="2" charset="2"/>
              <a:buNone/>
            </a:pPr>
            <a:endParaRPr lang="en-US" altLang="zh-CN" sz="2800" b="1" dirty="0">
              <a:sym typeface="Symbol" panose="05050102010706020507" pitchFamily="18" charset="2"/>
            </a:endParaRPr>
          </a:p>
        </p:txBody>
      </p:sp>
      <p:sp>
        <p:nvSpPr>
          <p:cNvPr id="9" name="Rectangle 3">
            <a:extLst>
              <a:ext uri="{FF2B5EF4-FFF2-40B4-BE49-F238E27FC236}">
                <a16:creationId xmlns:a16="http://schemas.microsoft.com/office/drawing/2014/main" id="{1F6CF529-398D-477C-A449-594E839254CA}"/>
              </a:ext>
            </a:extLst>
          </p:cNvPr>
          <p:cNvSpPr txBox="1">
            <a:spLocks noChangeArrowheads="1"/>
          </p:cNvSpPr>
          <p:nvPr/>
        </p:nvSpPr>
        <p:spPr>
          <a:xfrm>
            <a:off x="718191" y="742343"/>
            <a:ext cx="10473684" cy="19434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altLang="zh-CN" sz="2400" dirty="0">
                <a:latin typeface="Trebuchet MS" panose="020B0603020202020204" pitchFamily="34" charset="0"/>
              </a:rPr>
              <a:t>Given an undirected tree </a:t>
            </a:r>
            <a:r>
              <a:rPr lang="en-US" altLang="zh-CN" sz="2400" b="1" i="1" dirty="0">
                <a:latin typeface="Trebuchet MS" panose="020B0603020202020204" pitchFamily="34" charset="0"/>
              </a:rPr>
              <a:t>T</a:t>
            </a:r>
            <a:r>
              <a:rPr lang="en-US" altLang="zh-CN" sz="2400" dirty="0">
                <a:latin typeface="Trebuchet MS" panose="020B0603020202020204" pitchFamily="34" charset="0"/>
              </a:rPr>
              <a:t> with one vertex of degree </a:t>
            </a:r>
            <a:r>
              <a:rPr lang="en-US" altLang="zh-CN" sz="2400" b="1" dirty="0">
                <a:latin typeface="Trebuchet MS" panose="020B0603020202020204" pitchFamily="34" charset="0"/>
              </a:rPr>
              <a:t>3</a:t>
            </a:r>
            <a:r>
              <a:rPr lang="en-US" altLang="zh-CN" sz="2400" dirty="0">
                <a:latin typeface="Trebuchet MS" panose="020B0603020202020204" pitchFamily="34" charset="0"/>
              </a:rPr>
              <a:t>, two vertices of degree </a:t>
            </a:r>
            <a:r>
              <a:rPr lang="en-US" altLang="zh-CN" sz="2400" b="1" dirty="0">
                <a:latin typeface="Trebuchet MS" panose="020B0603020202020204" pitchFamily="34" charset="0"/>
              </a:rPr>
              <a:t>2</a:t>
            </a:r>
            <a:r>
              <a:rPr lang="en-US" altLang="zh-CN" sz="2400" dirty="0">
                <a:latin typeface="Trebuchet MS" panose="020B0603020202020204" pitchFamily="34" charset="0"/>
              </a:rPr>
              <a:t>, and all other vertices being leaves, determine the </a:t>
            </a:r>
            <a:r>
              <a:rPr lang="en-US" altLang="zh-CN" sz="2400" b="1" i="1" dirty="0">
                <a:solidFill>
                  <a:srgbClr val="0B61FF"/>
                </a:solidFill>
                <a:latin typeface="Trebuchet MS" panose="020B0603020202020204" pitchFamily="34" charset="0"/>
              </a:rPr>
              <a:t>number of leaves </a:t>
            </a:r>
            <a:r>
              <a:rPr lang="en-US" altLang="zh-CN" sz="2400" dirty="0">
                <a:latin typeface="Trebuchet MS" panose="020B0603020202020204" pitchFamily="34" charset="0"/>
              </a:rPr>
              <a:t>and draw all non-isomorphic undirected trees that satisfy these conditions.</a:t>
            </a:r>
            <a:endParaRPr lang="zh-CN" altLang="en-US" sz="2400" b="1" dirty="0">
              <a:latin typeface="Trebuchet MS" panose="020B0603020202020204" pitchFamily="34" charset="0"/>
              <a:cs typeface="Times New Roman" panose="02020603050405020304" pitchFamily="18" charset="0"/>
            </a:endParaRPr>
          </a:p>
        </p:txBody>
      </p:sp>
      <p:sp>
        <p:nvSpPr>
          <p:cNvPr id="10" name="Text Box 4">
            <a:extLst>
              <a:ext uri="{FF2B5EF4-FFF2-40B4-BE49-F238E27FC236}">
                <a16:creationId xmlns:a16="http://schemas.microsoft.com/office/drawing/2014/main" id="{82386471-8963-4E85-8D5E-800DC216859F}"/>
              </a:ext>
            </a:extLst>
          </p:cNvPr>
          <p:cNvSpPr txBox="1">
            <a:spLocks noChangeArrowheads="1"/>
          </p:cNvSpPr>
          <p:nvPr/>
        </p:nvSpPr>
        <p:spPr bwMode="auto">
          <a:xfrm>
            <a:off x="718191" y="2577547"/>
            <a:ext cx="7064472" cy="4124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 : </a:t>
            </a:r>
            <a:r>
              <a:rPr lang="en-US" altLang="zh-CN" sz="2400" dirty="0">
                <a:latin typeface="Trebuchet MS" panose="020B0603020202020204" pitchFamily="34" charset="0"/>
              </a:rPr>
              <a:t>Let the tree have </a:t>
            </a:r>
            <a:r>
              <a:rPr lang="en-US" altLang="zh-CN" sz="2400" b="1" i="1" dirty="0">
                <a:latin typeface="Trebuchet MS" panose="020B0603020202020204" pitchFamily="34" charset="0"/>
              </a:rPr>
              <a:t>x</a:t>
            </a:r>
            <a:r>
              <a:rPr lang="en-US" altLang="zh-CN" sz="2400" dirty="0">
                <a:latin typeface="Trebuchet MS" panose="020B0603020202020204" pitchFamily="34" charset="0"/>
              </a:rPr>
              <a:t> leaves </a:t>
            </a:r>
            <a:r>
              <a:rPr lang="zh-CN" altLang="en-US"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dirty="0">
                <a:latin typeface="Trebuchet MS" panose="020B0603020202020204" pitchFamily="34" charset="0"/>
              </a:rPr>
              <a:t> edges and </a:t>
            </a:r>
            <a:r>
              <a:rPr lang="en-US" altLang="zh-CN" sz="2400" b="1" i="1" dirty="0">
                <a:latin typeface="Trebuchet MS" panose="020B0603020202020204" pitchFamily="34" charset="0"/>
              </a:rPr>
              <a:t> n</a:t>
            </a:r>
            <a:r>
              <a:rPr lang="zh-CN" altLang="en-US" sz="2400" b="1" dirty="0">
                <a:latin typeface="Trebuchet MS" panose="020B0603020202020204" pitchFamily="34" charset="0"/>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 </a:t>
            </a:r>
            <a:r>
              <a:rPr lang="en-US" altLang="zh-CN" sz="2400" b="1" dirty="0">
                <a:latin typeface="Trebuchet MS" panose="020B0603020202020204" pitchFamily="34" charset="0"/>
              </a:rPr>
              <a:t>1+2+</a:t>
            </a:r>
            <a:r>
              <a:rPr lang="en-US" altLang="zh-CN" sz="2400" b="1" i="1" dirty="0">
                <a:latin typeface="Trebuchet MS" panose="020B0603020202020204" pitchFamily="34" charset="0"/>
              </a:rPr>
              <a:t> x </a:t>
            </a:r>
            <a:r>
              <a:rPr lang="en-US" altLang="zh-CN" sz="2400" b="1" dirty="0">
                <a:latin typeface="Trebuchet MS" panose="020B0603020202020204" pitchFamily="34" charset="0"/>
              </a:rPr>
              <a:t>)</a:t>
            </a:r>
            <a:r>
              <a:rPr lang="en-US" altLang="zh-CN" sz="2400" dirty="0">
                <a:latin typeface="Trebuchet MS" panose="020B0603020202020204" pitchFamily="34" charset="0"/>
              </a:rPr>
              <a:t> vertices </a:t>
            </a:r>
            <a:r>
              <a:rPr lang="en-US" altLang="zh-CN" sz="2400" b="1" dirty="0">
                <a:latin typeface="Trebuchet MS" panose="020B0603020202020204" pitchFamily="34" charset="0"/>
              </a:rPr>
              <a:t>.</a:t>
            </a:r>
            <a:r>
              <a:rPr lang="en-US" altLang="zh-CN" sz="2400" dirty="0">
                <a:latin typeface="Trebuchet MS" panose="020B0603020202020204" pitchFamily="34" charset="0"/>
              </a:rPr>
              <a:t> The total degree is </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3</a:t>
            </a:r>
            <a:r>
              <a:rPr lang="zh-CN" altLang="zh-CN" sz="2400" b="1" dirty="0">
                <a:latin typeface="Trebuchet MS" panose="020B0603020202020204" pitchFamily="34" charset="0"/>
              </a:rPr>
              <a:t>∗1</a:t>
            </a:r>
            <a:r>
              <a:rPr lang="en-US" altLang="zh-CN" sz="2400" b="1" dirty="0">
                <a:latin typeface="Trebuchet MS" panose="020B0603020202020204" pitchFamily="34" charset="0"/>
              </a:rPr>
              <a:t>+</a:t>
            </a:r>
            <a:r>
              <a:rPr lang="zh-CN" altLang="zh-CN" sz="2400" b="1" dirty="0">
                <a:latin typeface="Trebuchet MS" panose="020B0603020202020204" pitchFamily="34" charset="0"/>
              </a:rPr>
              <a:t>2∗2</a:t>
            </a:r>
            <a:r>
              <a:rPr lang="en-US" altLang="zh-CN" sz="2400" b="1" dirty="0">
                <a:latin typeface="Trebuchet MS" panose="020B0603020202020204" pitchFamily="34" charset="0"/>
              </a:rPr>
              <a:t>+</a:t>
            </a:r>
            <a:r>
              <a:rPr lang="zh-CN" altLang="zh-CN" sz="2400" b="1" dirty="0">
                <a:latin typeface="Trebuchet MS" panose="020B0603020202020204" pitchFamily="34" charset="0"/>
              </a:rPr>
              <a:t>1∗</a:t>
            </a:r>
            <a:r>
              <a:rPr lang="en-US" altLang="zh-CN" sz="2400" b="1" i="1" dirty="0">
                <a:latin typeface="Trebuchet MS" panose="020B0603020202020204" pitchFamily="34" charset="0"/>
              </a:rPr>
              <a:t> x</a:t>
            </a:r>
            <a:r>
              <a:rPr lang="zh-CN" altLang="zh-CN" sz="2400" i="1" dirty="0">
                <a:latin typeface="Trebuchet MS" panose="020B0603020202020204" pitchFamily="34" charset="0"/>
              </a:rPr>
              <a:t> </a:t>
            </a:r>
            <a:r>
              <a:rPr lang="en-US" altLang="zh-CN" sz="2400" i="1" dirty="0">
                <a:latin typeface="Trebuchet MS" panose="020B0603020202020204" pitchFamily="34" charset="0"/>
              </a:rPr>
              <a:t>.</a:t>
            </a:r>
            <a:r>
              <a:rPr lang="en-US" altLang="zh-CN" sz="2400" dirty="0">
                <a:latin typeface="Trebuchet MS" panose="020B0603020202020204" pitchFamily="34" charset="0"/>
              </a:rPr>
              <a:t> Using the properties of trees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a:t>
            </a:r>
            <a:r>
              <a:rPr lang="en-US" altLang="zh-CN" sz="2400" dirty="0">
                <a:latin typeface="Trebuchet MS" panose="020B0603020202020204" pitchFamily="34" charset="0"/>
              </a:rPr>
              <a:t> and the Handshaking Lemma</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indent="808038">
              <a:buNone/>
            </a:pPr>
            <a:r>
              <a:rPr lang="en-US" altLang="zh-CN" sz="2400" b="1" dirty="0"/>
              <a:t>2</a:t>
            </a:r>
            <a:r>
              <a:rPr lang="en-US" altLang="zh-CN" sz="2400" b="1" dirty="0">
                <a:sym typeface="Symbol" panose="05050102010706020507" pitchFamily="18" charset="2"/>
              </a:rPr>
              <a:t></a:t>
            </a:r>
            <a:r>
              <a:rPr lang="en-US" altLang="zh-CN" sz="2400" b="1" i="1" dirty="0"/>
              <a:t>m</a:t>
            </a:r>
            <a:r>
              <a:rPr lang="en-US" altLang="zh-CN" sz="2400" b="1" dirty="0"/>
              <a:t>= 2</a:t>
            </a:r>
            <a:r>
              <a:rPr lang="en-US" altLang="zh-CN" sz="2400" b="1" dirty="0">
                <a:sym typeface="Symbol" panose="05050102010706020507" pitchFamily="18" charset="2"/>
              </a:rPr>
              <a:t>(</a:t>
            </a:r>
            <a:r>
              <a:rPr lang="en-US" altLang="zh-CN" sz="2400" b="1" i="1" dirty="0"/>
              <a:t>n</a:t>
            </a:r>
            <a:r>
              <a:rPr lang="en-US" altLang="zh-CN" sz="2400" b="1" dirty="0">
                <a:sym typeface="Symbol" panose="05050102010706020507" pitchFamily="18" charset="2"/>
              </a:rPr>
              <a:t></a:t>
            </a:r>
            <a:r>
              <a:rPr lang="en-US" altLang="zh-CN" sz="2400" b="1" dirty="0"/>
              <a:t>1</a:t>
            </a:r>
            <a:r>
              <a:rPr lang="en-US" altLang="zh-CN" sz="2400" b="1" dirty="0">
                <a:sym typeface="Symbol" panose="05050102010706020507" pitchFamily="18" charset="2"/>
              </a:rPr>
              <a:t>)</a:t>
            </a:r>
            <a:r>
              <a:rPr lang="en-US" altLang="zh-CN" sz="2400" b="1" i="1" dirty="0"/>
              <a:t> =</a:t>
            </a:r>
            <a:r>
              <a:rPr lang="en-US" altLang="zh-CN" sz="2400" b="1" dirty="0"/>
              <a:t> 2</a:t>
            </a:r>
            <a:r>
              <a:rPr lang="en-US" altLang="zh-CN" sz="2400" b="1" dirty="0">
                <a:sym typeface="Symbol" panose="05050102010706020507" pitchFamily="18" charset="2"/>
              </a:rPr>
              <a:t>(3</a:t>
            </a:r>
            <a:r>
              <a:rPr lang="en-US" altLang="zh-CN" sz="2400" b="1" i="1" dirty="0">
                <a:sym typeface="Symbol" panose="05050102010706020507" pitchFamily="18" charset="2"/>
              </a:rPr>
              <a:t>+x</a:t>
            </a:r>
            <a:r>
              <a:rPr lang="en-US" altLang="zh-CN" sz="2400" b="1" dirty="0">
                <a:sym typeface="Symbol" panose="05050102010706020507" pitchFamily="18" charset="2"/>
              </a:rPr>
              <a:t></a:t>
            </a:r>
            <a:r>
              <a:rPr lang="en-US" altLang="zh-CN" sz="2400" b="1" dirty="0"/>
              <a:t>1</a:t>
            </a:r>
            <a:r>
              <a:rPr lang="en-US" altLang="zh-CN" sz="2400" b="1" dirty="0">
                <a:sym typeface="Symbol" panose="05050102010706020507" pitchFamily="18" charset="2"/>
              </a:rPr>
              <a:t>)= </a:t>
            </a:r>
            <a:r>
              <a:rPr lang="en-US" altLang="zh-CN" sz="2400" b="1" dirty="0"/>
              <a:t>2</a:t>
            </a:r>
            <a:r>
              <a:rPr lang="en-US" altLang="zh-CN" sz="2400" b="1" dirty="0">
                <a:sym typeface="Symbol" panose="05050102010706020507" pitchFamily="18" charset="2"/>
              </a:rPr>
              <a:t></a:t>
            </a:r>
            <a:r>
              <a:rPr lang="en-US" altLang="zh-CN" sz="2400" b="1" dirty="0"/>
              <a:t>(2+</a:t>
            </a:r>
            <a:r>
              <a:rPr lang="en-US" altLang="zh-CN" sz="2400" b="1" i="1" dirty="0"/>
              <a:t>x</a:t>
            </a:r>
            <a:r>
              <a:rPr lang="en-US" altLang="zh-CN" sz="2400" b="1" dirty="0"/>
              <a:t>)</a:t>
            </a:r>
          </a:p>
          <a:p>
            <a:pPr indent="808038">
              <a:buNone/>
            </a:pPr>
            <a:r>
              <a:rPr lang="en-US" altLang="zh-CN" sz="2400" b="1" dirty="0"/>
              <a:t>2</a:t>
            </a:r>
            <a:r>
              <a:rPr lang="en-US" altLang="zh-CN" sz="2400" b="1" dirty="0">
                <a:sym typeface="Symbol" panose="05050102010706020507" pitchFamily="18" charset="2"/>
              </a:rPr>
              <a:t></a:t>
            </a:r>
            <a:r>
              <a:rPr lang="en-US" altLang="zh-CN" sz="2400" b="1" dirty="0"/>
              <a:t>(2+</a:t>
            </a:r>
            <a:r>
              <a:rPr lang="en-US" altLang="zh-CN" sz="2400" b="1" i="1" dirty="0"/>
              <a:t>x</a:t>
            </a:r>
            <a:r>
              <a:rPr lang="en-US" altLang="zh-CN" sz="2400" b="1" dirty="0"/>
              <a:t>)=1</a:t>
            </a:r>
            <a:r>
              <a:rPr lang="en-US" altLang="zh-CN" sz="2400" b="1" dirty="0">
                <a:sym typeface="Symbol" panose="05050102010706020507" pitchFamily="18" charset="2"/>
              </a:rPr>
              <a:t></a:t>
            </a:r>
            <a:r>
              <a:rPr lang="en-US" altLang="zh-CN" sz="2400" b="1" dirty="0"/>
              <a:t>3+2</a:t>
            </a:r>
            <a:r>
              <a:rPr lang="en-US" altLang="zh-CN" sz="2400" b="1" dirty="0">
                <a:sym typeface="Symbol" panose="05050102010706020507" pitchFamily="18" charset="2"/>
              </a:rPr>
              <a:t></a:t>
            </a:r>
            <a:r>
              <a:rPr lang="en-US" altLang="zh-CN" sz="2400" b="1" dirty="0"/>
              <a:t>2+</a:t>
            </a:r>
            <a:r>
              <a:rPr lang="en-US" altLang="zh-CN" sz="2400" b="1" i="1" dirty="0"/>
              <a:t>x</a:t>
            </a:r>
          </a:p>
          <a:p>
            <a:pPr marL="342900" indent="-342900">
              <a:buClr>
                <a:srgbClr val="0B61FF"/>
              </a:buClr>
              <a:buSzPct val="80000"/>
              <a:buFont typeface="Wingdings" panose="05000000000000000000" pitchFamily="2" charset="2"/>
              <a:buChar char="n"/>
            </a:pPr>
            <a:r>
              <a:rPr lang="en-US" altLang="zh-CN" sz="2400" b="1" dirty="0"/>
              <a:t>Answer:</a:t>
            </a:r>
            <a:r>
              <a:rPr lang="en-US" altLang="zh-CN" sz="2400" dirty="0"/>
              <a:t> The tree has </a:t>
            </a:r>
            <a:r>
              <a:rPr lang="en-US" altLang="zh-CN" sz="2400" b="1" dirty="0"/>
              <a:t>3 leaves</a:t>
            </a:r>
            <a:r>
              <a:rPr lang="en-US" altLang="zh-CN" sz="2400" dirty="0"/>
              <a:t>.</a:t>
            </a:r>
          </a:p>
          <a:p>
            <a:pPr indent="357188">
              <a:buClr>
                <a:srgbClr val="0B61FF"/>
              </a:buClr>
              <a:buSzPct val="80000"/>
              <a:buNone/>
            </a:pPr>
            <a:r>
              <a:rPr lang="en-US" altLang="zh-CN" sz="2400" dirty="0"/>
              <a:t>The degree sequence of </a:t>
            </a:r>
            <a:r>
              <a:rPr lang="en-US" altLang="zh-CN" sz="2400" b="1" i="1" dirty="0"/>
              <a:t>T</a:t>
            </a:r>
            <a:r>
              <a:rPr lang="en-US" altLang="zh-CN" sz="2400" dirty="0"/>
              <a:t> : </a:t>
            </a:r>
            <a:r>
              <a:rPr lang="zh-CN" altLang="en-US" sz="2400" b="1" dirty="0"/>
              <a:t>1, 1, 1, 2, 2, 3</a:t>
            </a:r>
            <a:r>
              <a:rPr lang="en-US" altLang="zh-CN" sz="2400" b="1" dirty="0"/>
              <a:t>.</a:t>
            </a:r>
            <a:endParaRPr lang="en-US" altLang="zh-CN" sz="2400" dirty="0"/>
          </a:p>
          <a:p>
            <a:pPr indent="808038">
              <a:buNone/>
            </a:pPr>
            <a:endParaRPr lang="en-US" altLang="zh-CN" sz="2400" b="1" i="1" dirty="0"/>
          </a:p>
          <a:p>
            <a:pPr indent="808038">
              <a:buNone/>
            </a:pPr>
            <a:endParaRPr lang="zh-CN" altLang="en-US" sz="2400" b="1" i="1" dirty="0"/>
          </a:p>
          <a:p>
            <a:pPr marL="342900" indent="-342900">
              <a:lnSpc>
                <a:spcPct val="120000"/>
              </a:lnSpc>
              <a:spcBef>
                <a:spcPts val="30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pic>
        <p:nvPicPr>
          <p:cNvPr id="15" name="Picture 8" descr="E:\插图\离散\例7-1(1).tif">
            <a:extLst>
              <a:ext uri="{FF2B5EF4-FFF2-40B4-BE49-F238E27FC236}">
                <a16:creationId xmlns:a16="http://schemas.microsoft.com/office/drawing/2014/main" id="{C4DF6F3B-C442-4C20-8073-EF221F6337E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06553" y="2934130"/>
            <a:ext cx="1420812"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9" descr="E:\插图\离散\例7-1(2).tif">
            <a:extLst>
              <a:ext uri="{FF2B5EF4-FFF2-40B4-BE49-F238E27FC236}">
                <a16:creationId xmlns:a16="http://schemas.microsoft.com/office/drawing/2014/main" id="{2B436E32-5D58-4576-9EE6-0222D5103C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38069" y="2953004"/>
            <a:ext cx="928687"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1554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1000"/>
                                        <p:tgtEl>
                                          <p:spTgt spid="10">
                                            <p:txEl>
                                              <p:pRg st="1" end="1"/>
                                            </p:txEl>
                                          </p:spTgt>
                                        </p:tgtEl>
                                      </p:cBhvr>
                                    </p:animEffect>
                                    <p:anim calcmode="lin" valueType="num">
                                      <p:cBhvr>
                                        <p:cTn id="1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1000"/>
                                        <p:tgtEl>
                                          <p:spTgt spid="10">
                                            <p:txEl>
                                              <p:pRg st="2" end="2"/>
                                            </p:txEl>
                                          </p:spTgt>
                                        </p:tgtEl>
                                      </p:cBhvr>
                                    </p:animEffect>
                                    <p:anim calcmode="lin" valueType="num">
                                      <p:cBhvr>
                                        <p:cTn id="1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0">
                                            <p:txEl>
                                              <p:pRg st="3" end="3"/>
                                            </p:txEl>
                                          </p:spTgt>
                                        </p:tgtEl>
                                        <p:attrNameLst>
                                          <p:attrName>style.visibility</p:attrName>
                                        </p:attrNameLst>
                                      </p:cBhvr>
                                      <p:to>
                                        <p:strVal val="visible"/>
                                      </p:to>
                                    </p:set>
                                    <p:animEffect transition="in" filter="fade">
                                      <p:cBhvr>
                                        <p:cTn id="24" dur="1000"/>
                                        <p:tgtEl>
                                          <p:spTgt spid="10">
                                            <p:txEl>
                                              <p:pRg st="3" end="3"/>
                                            </p:txEl>
                                          </p:spTgt>
                                        </p:tgtEl>
                                      </p:cBhvr>
                                    </p:animEffect>
                                    <p:anim calcmode="lin" valueType="num">
                                      <p:cBhvr>
                                        <p:cTn id="25"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animEffect transition="in" filter="fade">
                                      <p:cBhvr>
                                        <p:cTn id="29" dur="1000"/>
                                        <p:tgtEl>
                                          <p:spTgt spid="10">
                                            <p:txEl>
                                              <p:pRg st="4" end="4"/>
                                            </p:txEl>
                                          </p:spTgt>
                                        </p:tgtEl>
                                      </p:cBhvr>
                                    </p:animEffect>
                                    <p:anim calcmode="lin" valueType="num">
                                      <p:cBhvr>
                                        <p:cTn id="3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000"/>
                                        <p:tgtEl>
                                          <p:spTgt spid="15"/>
                                        </p:tgtEl>
                                      </p:cBhvr>
                                    </p:animEffect>
                                    <p:anim calcmode="lin" valueType="num">
                                      <p:cBhvr>
                                        <p:cTn id="37" dur="1000" fill="hold"/>
                                        <p:tgtEl>
                                          <p:spTgt spid="15"/>
                                        </p:tgtEl>
                                        <p:attrNameLst>
                                          <p:attrName>ppt_x</p:attrName>
                                        </p:attrNameLst>
                                      </p:cBhvr>
                                      <p:tavLst>
                                        <p:tav tm="0">
                                          <p:val>
                                            <p:strVal val="#ppt_x"/>
                                          </p:val>
                                        </p:tav>
                                        <p:tav tm="100000">
                                          <p:val>
                                            <p:strVal val="#ppt_x"/>
                                          </p:val>
                                        </p:tav>
                                      </p:tavLst>
                                    </p:anim>
                                    <p:anim calcmode="lin" valueType="num">
                                      <p:cBhvr>
                                        <p:cTn id="38" dur="1000" fill="hold"/>
                                        <p:tgtEl>
                                          <p:spTgt spid="15"/>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anim calcmode="lin" valueType="num">
                                      <p:cBhvr>
                                        <p:cTn id="42" dur="1000" fill="hold"/>
                                        <p:tgtEl>
                                          <p:spTgt spid="16"/>
                                        </p:tgtEl>
                                        <p:attrNameLst>
                                          <p:attrName>ppt_x</p:attrName>
                                        </p:attrNameLst>
                                      </p:cBhvr>
                                      <p:tavLst>
                                        <p:tav tm="0">
                                          <p:val>
                                            <p:strVal val="#ppt_x"/>
                                          </p:val>
                                        </p:tav>
                                        <p:tav tm="100000">
                                          <p:val>
                                            <p:strVal val="#ppt_x"/>
                                          </p:val>
                                        </p:tav>
                                      </p:tavLst>
                                    </p:anim>
                                    <p:anim calcmode="lin" valueType="num">
                                      <p:cBhvr>
                                        <p:cTn id="4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Constructing an Undirected Tree: An Example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0000"/>
              </a:spcBef>
              <a:buClr>
                <a:schemeClr val="bg2"/>
              </a:buClr>
              <a:buSzPct val="75000"/>
              <a:buFont typeface="Wingdings" panose="05000000000000000000" pitchFamily="2" charset="2"/>
              <a:buNone/>
            </a:pPr>
            <a:endParaRPr kumimoji="0" lang="en-US" altLang="zh-CN" sz="2800" b="1" dirty="0">
              <a:solidFill>
                <a:srgbClr val="FF3300"/>
              </a:solidFill>
            </a:endParaRPr>
          </a:p>
          <a:p>
            <a:pPr algn="just" eaLnBrk="1" hangingPunct="1">
              <a:spcBef>
                <a:spcPct val="40000"/>
              </a:spcBef>
              <a:buClr>
                <a:schemeClr val="bg2"/>
              </a:buClr>
              <a:buSzPct val="75000"/>
              <a:buFont typeface="Wingdings" panose="05000000000000000000" pitchFamily="2" charset="2"/>
              <a:buNone/>
            </a:pPr>
            <a:endParaRPr lang="en-US" altLang="zh-CN" sz="2800" b="1" dirty="0">
              <a:sym typeface="Symbol" panose="05050102010706020507" pitchFamily="18" charset="2"/>
            </a:endParaRPr>
          </a:p>
        </p:txBody>
      </p:sp>
      <p:sp>
        <p:nvSpPr>
          <p:cNvPr id="17" name="Rectangle 3">
            <a:extLst>
              <a:ext uri="{FF2B5EF4-FFF2-40B4-BE49-F238E27FC236}">
                <a16:creationId xmlns:a16="http://schemas.microsoft.com/office/drawing/2014/main" id="{660CCF81-FFA2-474A-A2B1-35E8E77B20F6}"/>
              </a:ext>
            </a:extLst>
          </p:cNvPr>
          <p:cNvSpPr txBox="1">
            <a:spLocks noChangeArrowheads="1"/>
          </p:cNvSpPr>
          <p:nvPr/>
        </p:nvSpPr>
        <p:spPr>
          <a:xfrm>
            <a:off x="1000125" y="880359"/>
            <a:ext cx="9080880" cy="11897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dirty="0">
                <a:latin typeface="Trebuchet MS" panose="020B0603020202020204" pitchFamily="34" charset="0"/>
              </a:rPr>
              <a:t> Draw all non-isomorphic undirected trees of order 6.</a:t>
            </a:r>
          </a:p>
          <a:p>
            <a:pPr>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 </a:t>
            </a:r>
            <a:r>
              <a:rPr lang="en-US" altLang="zh-CN" sz="2400" dirty="0">
                <a:latin typeface="Trebuchet MS" panose="020B0603020202020204" pitchFamily="34" charset="0"/>
              </a:rPr>
              <a:t>There are 5 edges, and the total degree is 10.</a:t>
            </a:r>
            <a:endParaRPr lang="zh-CN" altLang="en-US" sz="2400" b="1" dirty="0">
              <a:latin typeface="Trebuchet MS" panose="020B0603020202020204" pitchFamily="34" charset="0"/>
            </a:endParaRPr>
          </a:p>
          <a:p>
            <a:pPr>
              <a:buClr>
                <a:srgbClr val="0B61FF"/>
              </a:buClr>
              <a:buSzPct val="80000"/>
              <a:buFont typeface="Wingdings" panose="05000000000000000000" pitchFamily="2" charset="2"/>
              <a:buChar char="n"/>
            </a:pPr>
            <a:endParaRPr lang="en-US" altLang="zh-CN" sz="2400" dirty="0">
              <a:latin typeface="Trebuchet MS" panose="020B0603020202020204" pitchFamily="34" charset="0"/>
            </a:endParaRPr>
          </a:p>
        </p:txBody>
      </p:sp>
      <p:sp>
        <p:nvSpPr>
          <p:cNvPr id="21" name="Text Box 5">
            <a:extLst>
              <a:ext uri="{FF2B5EF4-FFF2-40B4-BE49-F238E27FC236}">
                <a16:creationId xmlns:a16="http://schemas.microsoft.com/office/drawing/2014/main" id="{8F7B520C-AB94-4781-BDA9-F31297FB9D5B}"/>
              </a:ext>
            </a:extLst>
          </p:cNvPr>
          <p:cNvSpPr txBox="1">
            <a:spLocks noChangeArrowheads="1"/>
          </p:cNvSpPr>
          <p:nvPr/>
        </p:nvSpPr>
        <p:spPr bwMode="auto">
          <a:xfrm>
            <a:off x="1278619" y="1996209"/>
            <a:ext cx="2438400" cy="3475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500"/>
              </a:spcBef>
              <a:buNone/>
            </a:pPr>
            <a:r>
              <a:rPr lang="en-US" altLang="zh-CN" sz="2400" b="1" dirty="0">
                <a:latin typeface="Trebuchet MS" panose="020B0603020202020204" pitchFamily="34" charset="0"/>
              </a:rPr>
              <a:t>Possible degree sequences:</a:t>
            </a:r>
            <a:endParaRPr lang="en-US" altLang="zh-CN" sz="2400" dirty="0">
              <a:latin typeface="Trebuchet MS" panose="020B0603020202020204" pitchFamily="34" charset="0"/>
            </a:endParaRPr>
          </a:p>
          <a:p>
            <a:pPr eaLnBrk="1" hangingPunct="1">
              <a:lnSpc>
                <a:spcPct val="120000"/>
              </a:lnSpc>
              <a:spcBef>
                <a:spcPts val="500"/>
              </a:spcBef>
              <a:buFontTx/>
              <a:buNone/>
            </a:pPr>
            <a:r>
              <a:rPr kumimoji="0" lang="zh-CN" altLang="en-US" sz="2400" b="1" dirty="0">
                <a:latin typeface="Trebuchet MS" panose="020B0603020202020204" pitchFamily="34" charset="0"/>
              </a:rPr>
              <a:t>(1) 1,1,1,1,1,5</a:t>
            </a:r>
          </a:p>
          <a:p>
            <a:pPr eaLnBrk="1" hangingPunct="1">
              <a:lnSpc>
                <a:spcPct val="120000"/>
              </a:lnSpc>
              <a:spcBef>
                <a:spcPts val="500"/>
              </a:spcBef>
              <a:buFontTx/>
              <a:buNone/>
            </a:pPr>
            <a:r>
              <a:rPr kumimoji="0" lang="zh-CN" altLang="en-US" sz="2400" b="1" dirty="0">
                <a:latin typeface="Trebuchet MS" panose="020B0603020202020204" pitchFamily="34" charset="0"/>
              </a:rPr>
              <a:t>(2) 1,1,1,1,2,4</a:t>
            </a:r>
          </a:p>
          <a:p>
            <a:pPr eaLnBrk="1" hangingPunct="1">
              <a:lnSpc>
                <a:spcPct val="120000"/>
              </a:lnSpc>
              <a:spcBef>
                <a:spcPts val="500"/>
              </a:spcBef>
              <a:buFontTx/>
              <a:buNone/>
            </a:pPr>
            <a:r>
              <a:rPr kumimoji="0" lang="zh-CN" altLang="en-US" sz="2400" b="1" dirty="0">
                <a:latin typeface="Trebuchet MS" panose="020B0603020202020204" pitchFamily="34" charset="0"/>
              </a:rPr>
              <a:t>(3) 1,1,1,1,3,3</a:t>
            </a:r>
          </a:p>
          <a:p>
            <a:pPr eaLnBrk="1" hangingPunct="1">
              <a:lnSpc>
                <a:spcPct val="120000"/>
              </a:lnSpc>
              <a:spcBef>
                <a:spcPts val="500"/>
              </a:spcBef>
              <a:buFontTx/>
              <a:buNone/>
            </a:pPr>
            <a:r>
              <a:rPr kumimoji="0" lang="zh-CN" altLang="en-US" sz="2400" b="1" dirty="0">
                <a:latin typeface="Trebuchet MS" panose="020B0603020202020204" pitchFamily="34" charset="0"/>
              </a:rPr>
              <a:t>(4) 1,1,1,2,2,3</a:t>
            </a:r>
          </a:p>
          <a:p>
            <a:pPr eaLnBrk="1" hangingPunct="1">
              <a:lnSpc>
                <a:spcPct val="120000"/>
              </a:lnSpc>
              <a:spcBef>
                <a:spcPts val="500"/>
              </a:spcBef>
              <a:buFontTx/>
              <a:buNone/>
            </a:pPr>
            <a:r>
              <a:rPr kumimoji="0" lang="zh-CN" altLang="en-US" sz="2400" b="1" dirty="0">
                <a:latin typeface="Trebuchet MS" panose="020B0603020202020204" pitchFamily="34" charset="0"/>
              </a:rPr>
              <a:t>(5) 1,1,2,2,2,2</a:t>
            </a:r>
          </a:p>
        </p:txBody>
      </p:sp>
      <p:grpSp>
        <p:nvGrpSpPr>
          <p:cNvPr id="23" name="Group 20">
            <a:extLst>
              <a:ext uri="{FF2B5EF4-FFF2-40B4-BE49-F238E27FC236}">
                <a16:creationId xmlns:a16="http://schemas.microsoft.com/office/drawing/2014/main" id="{03B03AB3-E836-4911-B1A4-5AA5893B5047}"/>
              </a:ext>
            </a:extLst>
          </p:cNvPr>
          <p:cNvGrpSpPr>
            <a:grpSpLocks/>
          </p:cNvGrpSpPr>
          <p:nvPr/>
        </p:nvGrpSpPr>
        <p:grpSpPr bwMode="auto">
          <a:xfrm>
            <a:off x="4232316" y="2272197"/>
            <a:ext cx="1219200" cy="1546225"/>
            <a:chOff x="2064" y="2050"/>
            <a:chExt cx="768" cy="974"/>
          </a:xfrm>
        </p:grpSpPr>
        <p:sp>
          <p:nvSpPr>
            <p:cNvPr id="24" name="Text Box 6">
              <a:extLst>
                <a:ext uri="{FF2B5EF4-FFF2-40B4-BE49-F238E27FC236}">
                  <a16:creationId xmlns:a16="http://schemas.microsoft.com/office/drawing/2014/main" id="{35C9CC6B-EFDE-40C2-9357-2C9BDA96D455}"/>
                </a:ext>
              </a:extLst>
            </p:cNvPr>
            <p:cNvSpPr txBox="1">
              <a:spLocks noChangeArrowheads="1"/>
            </p:cNvSpPr>
            <p:nvPr/>
          </p:nvSpPr>
          <p:spPr bwMode="auto">
            <a:xfrm>
              <a:off x="2304" y="273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pic>
          <p:nvPicPr>
            <p:cNvPr id="25" name="Picture 13" descr="E:\插图\离散\图7-3(1).tif">
              <a:extLst>
                <a:ext uri="{FF2B5EF4-FFF2-40B4-BE49-F238E27FC236}">
                  <a16:creationId xmlns:a16="http://schemas.microsoft.com/office/drawing/2014/main" id="{5F96AAC4-6332-4B75-806B-1CB6A4D5AF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4" y="2050"/>
              <a:ext cx="768"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 name="Group 21">
            <a:extLst>
              <a:ext uri="{FF2B5EF4-FFF2-40B4-BE49-F238E27FC236}">
                <a16:creationId xmlns:a16="http://schemas.microsoft.com/office/drawing/2014/main" id="{927D2E47-39D0-4E48-88B9-E5C8701DE92B}"/>
              </a:ext>
            </a:extLst>
          </p:cNvPr>
          <p:cNvGrpSpPr>
            <a:grpSpLocks/>
          </p:cNvGrpSpPr>
          <p:nvPr/>
        </p:nvGrpSpPr>
        <p:grpSpPr bwMode="auto">
          <a:xfrm>
            <a:off x="6137316" y="2294422"/>
            <a:ext cx="1235075" cy="1524000"/>
            <a:chOff x="3264" y="2064"/>
            <a:chExt cx="778" cy="960"/>
          </a:xfrm>
        </p:grpSpPr>
        <p:pic>
          <p:nvPicPr>
            <p:cNvPr id="27" name="Picture 14" descr="E:\插图\离散\图7-3(2).tif">
              <a:extLst>
                <a:ext uri="{FF2B5EF4-FFF2-40B4-BE49-F238E27FC236}">
                  <a16:creationId xmlns:a16="http://schemas.microsoft.com/office/drawing/2014/main" id="{52723FE7-0943-4706-9EBD-7C8BC428CD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4" y="2064"/>
              <a:ext cx="778" cy="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 Box 15">
              <a:extLst>
                <a:ext uri="{FF2B5EF4-FFF2-40B4-BE49-F238E27FC236}">
                  <a16:creationId xmlns:a16="http://schemas.microsoft.com/office/drawing/2014/main" id="{22ED285A-8676-4C3B-9B33-E0A198FC8640}"/>
                </a:ext>
              </a:extLst>
            </p:cNvPr>
            <p:cNvSpPr txBox="1">
              <a:spLocks noChangeArrowheads="1"/>
            </p:cNvSpPr>
            <p:nvPr/>
          </p:nvSpPr>
          <p:spPr bwMode="auto">
            <a:xfrm>
              <a:off x="3360" y="273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(2)</a:t>
              </a:r>
            </a:p>
          </p:txBody>
        </p:sp>
      </p:grpSp>
      <p:grpSp>
        <p:nvGrpSpPr>
          <p:cNvPr id="29" name="Group 22">
            <a:extLst>
              <a:ext uri="{FF2B5EF4-FFF2-40B4-BE49-F238E27FC236}">
                <a16:creationId xmlns:a16="http://schemas.microsoft.com/office/drawing/2014/main" id="{6FFF35BD-607B-4555-95FC-490BD2263ED7}"/>
              </a:ext>
            </a:extLst>
          </p:cNvPr>
          <p:cNvGrpSpPr>
            <a:grpSpLocks/>
          </p:cNvGrpSpPr>
          <p:nvPr/>
        </p:nvGrpSpPr>
        <p:grpSpPr bwMode="auto">
          <a:xfrm>
            <a:off x="7950241" y="2307122"/>
            <a:ext cx="1235075" cy="1511300"/>
            <a:chOff x="4406" y="2072"/>
            <a:chExt cx="778" cy="952"/>
          </a:xfrm>
        </p:grpSpPr>
        <p:pic>
          <p:nvPicPr>
            <p:cNvPr id="30" name="Picture 9" descr="E:\插图\离散\图7-3(3).tif">
              <a:extLst>
                <a:ext uri="{FF2B5EF4-FFF2-40B4-BE49-F238E27FC236}">
                  <a16:creationId xmlns:a16="http://schemas.microsoft.com/office/drawing/2014/main" id="{B79B1051-8E6F-45CE-87B5-166B677C81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6" y="2072"/>
              <a:ext cx="778" cy="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6">
              <a:extLst>
                <a:ext uri="{FF2B5EF4-FFF2-40B4-BE49-F238E27FC236}">
                  <a16:creationId xmlns:a16="http://schemas.microsoft.com/office/drawing/2014/main" id="{7A03A6B0-618C-4D1B-BCD2-14FAC7C2307A}"/>
                </a:ext>
              </a:extLst>
            </p:cNvPr>
            <p:cNvSpPr txBox="1">
              <a:spLocks noChangeArrowheads="1"/>
            </p:cNvSpPr>
            <p:nvPr/>
          </p:nvSpPr>
          <p:spPr bwMode="auto">
            <a:xfrm>
              <a:off x="4608" y="273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grpSp>
      <p:grpSp>
        <p:nvGrpSpPr>
          <p:cNvPr id="32" name="Group 23">
            <a:extLst>
              <a:ext uri="{FF2B5EF4-FFF2-40B4-BE49-F238E27FC236}">
                <a16:creationId xmlns:a16="http://schemas.microsoft.com/office/drawing/2014/main" id="{8B79ECBE-C622-4DC1-90D8-45AE719FF7EA}"/>
              </a:ext>
            </a:extLst>
          </p:cNvPr>
          <p:cNvGrpSpPr>
            <a:grpSpLocks/>
          </p:cNvGrpSpPr>
          <p:nvPr/>
        </p:nvGrpSpPr>
        <p:grpSpPr bwMode="auto">
          <a:xfrm>
            <a:off x="4125214" y="4117423"/>
            <a:ext cx="1603375" cy="1066800"/>
            <a:chOff x="1824" y="3216"/>
            <a:chExt cx="1010" cy="672"/>
          </a:xfrm>
        </p:grpSpPr>
        <p:pic>
          <p:nvPicPr>
            <p:cNvPr id="33" name="Picture 10" descr="E:\插图\离散\图7-3(4a).tif">
              <a:extLst>
                <a:ext uri="{FF2B5EF4-FFF2-40B4-BE49-F238E27FC236}">
                  <a16:creationId xmlns:a16="http://schemas.microsoft.com/office/drawing/2014/main" id="{66A47C8C-0630-4A02-8D3F-D3C3383F53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52965"/>
            <a:stretch>
              <a:fillRect/>
            </a:stretch>
          </p:blipFill>
          <p:spPr bwMode="auto">
            <a:xfrm>
              <a:off x="1824" y="3216"/>
              <a:ext cx="101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 Box 17">
              <a:extLst>
                <a:ext uri="{FF2B5EF4-FFF2-40B4-BE49-F238E27FC236}">
                  <a16:creationId xmlns:a16="http://schemas.microsoft.com/office/drawing/2014/main" id="{09CC2AB2-04C1-4276-A648-44DE8A4A2E55}"/>
                </a:ext>
              </a:extLst>
            </p:cNvPr>
            <p:cNvSpPr txBox="1">
              <a:spLocks noChangeArrowheads="1"/>
            </p:cNvSpPr>
            <p:nvPr/>
          </p:nvSpPr>
          <p:spPr bwMode="auto">
            <a:xfrm>
              <a:off x="2064" y="360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r>
                <a:rPr kumimoji="0" lang="en-US" altLang="zh-CN" sz="2400" b="1" dirty="0"/>
                <a:t>a)</a:t>
              </a:r>
            </a:p>
          </p:txBody>
        </p:sp>
      </p:grpSp>
      <p:grpSp>
        <p:nvGrpSpPr>
          <p:cNvPr id="35" name="Group 24">
            <a:extLst>
              <a:ext uri="{FF2B5EF4-FFF2-40B4-BE49-F238E27FC236}">
                <a16:creationId xmlns:a16="http://schemas.microsoft.com/office/drawing/2014/main" id="{BC13D454-38FF-43A7-B845-49F72461884E}"/>
              </a:ext>
            </a:extLst>
          </p:cNvPr>
          <p:cNvGrpSpPr>
            <a:grpSpLocks/>
          </p:cNvGrpSpPr>
          <p:nvPr/>
        </p:nvGrpSpPr>
        <p:grpSpPr bwMode="auto">
          <a:xfrm>
            <a:off x="5954014" y="4117423"/>
            <a:ext cx="1603375" cy="1066800"/>
            <a:chOff x="2976" y="3216"/>
            <a:chExt cx="1010" cy="672"/>
          </a:xfrm>
        </p:grpSpPr>
        <p:pic>
          <p:nvPicPr>
            <p:cNvPr id="36" name="Picture 11" descr="E:\插图\离散\图7-3(4b).tif">
              <a:extLst>
                <a:ext uri="{FF2B5EF4-FFF2-40B4-BE49-F238E27FC236}">
                  <a16:creationId xmlns:a16="http://schemas.microsoft.com/office/drawing/2014/main" id="{443495CF-3D72-4502-8630-331A0B5FCC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b="52611"/>
            <a:stretch>
              <a:fillRect/>
            </a:stretch>
          </p:blipFill>
          <p:spPr bwMode="auto">
            <a:xfrm>
              <a:off x="2976" y="3216"/>
              <a:ext cx="1010"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 Box 18">
              <a:extLst>
                <a:ext uri="{FF2B5EF4-FFF2-40B4-BE49-F238E27FC236}">
                  <a16:creationId xmlns:a16="http://schemas.microsoft.com/office/drawing/2014/main" id="{0440A44C-6384-4585-8372-66C5B15AFB6B}"/>
                </a:ext>
              </a:extLst>
            </p:cNvPr>
            <p:cNvSpPr txBox="1">
              <a:spLocks noChangeArrowheads="1"/>
            </p:cNvSpPr>
            <p:nvPr/>
          </p:nvSpPr>
          <p:spPr bwMode="auto">
            <a:xfrm>
              <a:off x="3264" y="360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r>
                <a:rPr kumimoji="0" lang="en-US" altLang="zh-CN" sz="2400" b="1"/>
                <a:t>b)</a:t>
              </a:r>
            </a:p>
          </p:txBody>
        </p:sp>
      </p:grpSp>
      <p:grpSp>
        <p:nvGrpSpPr>
          <p:cNvPr id="38" name="Group 25">
            <a:extLst>
              <a:ext uri="{FF2B5EF4-FFF2-40B4-BE49-F238E27FC236}">
                <a16:creationId xmlns:a16="http://schemas.microsoft.com/office/drawing/2014/main" id="{269B6BA9-DEBE-4A5F-84C0-76C2E194AC2A}"/>
              </a:ext>
            </a:extLst>
          </p:cNvPr>
          <p:cNvGrpSpPr>
            <a:grpSpLocks/>
          </p:cNvGrpSpPr>
          <p:nvPr/>
        </p:nvGrpSpPr>
        <p:grpSpPr bwMode="auto">
          <a:xfrm>
            <a:off x="7859014" y="4574623"/>
            <a:ext cx="2030413" cy="609600"/>
            <a:chOff x="4176" y="3504"/>
            <a:chExt cx="1279" cy="384"/>
          </a:xfrm>
        </p:grpSpPr>
        <p:pic>
          <p:nvPicPr>
            <p:cNvPr id="39" name="Picture 12" descr="E:\插图\离散\图7-3(5).tif">
              <a:extLst>
                <a:ext uri="{FF2B5EF4-FFF2-40B4-BE49-F238E27FC236}">
                  <a16:creationId xmlns:a16="http://schemas.microsoft.com/office/drawing/2014/main" id="{92366FC5-3329-4A51-8CE0-EF8F0A47564E}"/>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t="21530" b="61516"/>
            <a:stretch>
              <a:fillRect/>
            </a:stretch>
          </p:blipFill>
          <p:spPr bwMode="auto">
            <a:xfrm>
              <a:off x="4176" y="3504"/>
              <a:ext cx="127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19">
              <a:extLst>
                <a:ext uri="{FF2B5EF4-FFF2-40B4-BE49-F238E27FC236}">
                  <a16:creationId xmlns:a16="http://schemas.microsoft.com/office/drawing/2014/main" id="{92E12789-172A-4F09-9CE8-BB0E290DB120}"/>
                </a:ext>
              </a:extLst>
            </p:cNvPr>
            <p:cNvSpPr txBox="1">
              <a:spLocks noChangeArrowheads="1"/>
            </p:cNvSpPr>
            <p:nvPr/>
          </p:nvSpPr>
          <p:spPr bwMode="auto">
            <a:xfrm>
              <a:off x="4608" y="36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(5)</a:t>
              </a:r>
            </a:p>
          </p:txBody>
        </p:sp>
      </p:grpSp>
    </p:spTree>
    <p:extLst>
      <p:ext uri="{BB962C8B-B14F-4D97-AF65-F5344CB8AC3E}">
        <p14:creationId xmlns:p14="http://schemas.microsoft.com/office/powerpoint/2010/main" val="1737197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Effect transition="in" filter="fade">
                                      <p:cBhvr>
                                        <p:cTn id="7" dur="1000"/>
                                        <p:tgtEl>
                                          <p:spTgt spid="17">
                                            <p:txEl>
                                              <p:pRg st="1" end="1"/>
                                            </p:txEl>
                                          </p:spTgt>
                                        </p:tgtEl>
                                      </p:cBhvr>
                                    </p:animEffect>
                                    <p:anim calcmode="lin" valueType="num">
                                      <p:cBhvr>
                                        <p:cTn id="8"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fade">
                                      <p:cBhvr>
                                        <p:cTn id="14" dur="1000"/>
                                        <p:tgtEl>
                                          <p:spTgt spid="21">
                                            <p:txEl>
                                              <p:pRg st="0" end="0"/>
                                            </p:txEl>
                                          </p:spTgt>
                                        </p:tgtEl>
                                      </p:cBhvr>
                                    </p:animEffect>
                                    <p:anim calcmode="lin" valueType="num">
                                      <p:cBhvr>
                                        <p:cTn id="15"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1">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animEffect transition="in" filter="fade">
                                      <p:cBhvr>
                                        <p:cTn id="19" dur="1000"/>
                                        <p:tgtEl>
                                          <p:spTgt spid="21">
                                            <p:txEl>
                                              <p:pRg st="1" end="1"/>
                                            </p:txEl>
                                          </p:spTgt>
                                        </p:tgtEl>
                                      </p:cBhvr>
                                    </p:animEffect>
                                    <p:anim calcmode="lin" valueType="num">
                                      <p:cBhvr>
                                        <p:cTn id="20" dur="100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1">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1">
                                            <p:txEl>
                                              <p:pRg st="2" end="2"/>
                                            </p:txEl>
                                          </p:spTgt>
                                        </p:tgtEl>
                                        <p:attrNameLst>
                                          <p:attrName>style.visibility</p:attrName>
                                        </p:attrNameLst>
                                      </p:cBhvr>
                                      <p:to>
                                        <p:strVal val="visible"/>
                                      </p:to>
                                    </p:set>
                                    <p:animEffect transition="in" filter="fade">
                                      <p:cBhvr>
                                        <p:cTn id="31" dur="1000"/>
                                        <p:tgtEl>
                                          <p:spTgt spid="21">
                                            <p:txEl>
                                              <p:pRg st="2" end="2"/>
                                            </p:txEl>
                                          </p:spTgt>
                                        </p:tgtEl>
                                      </p:cBhvr>
                                    </p:animEffect>
                                    <p:anim calcmode="lin" valueType="num">
                                      <p:cBhvr>
                                        <p:cTn id="32" dur="1000" fill="hold"/>
                                        <p:tgtEl>
                                          <p:spTgt spid="21">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21">
                                            <p:txEl>
                                              <p:pRg st="2" end="2"/>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1000"/>
                                        <p:tgtEl>
                                          <p:spTgt spid="26"/>
                                        </p:tgtEl>
                                      </p:cBhvr>
                                    </p:animEffect>
                                    <p:anim calcmode="lin" valueType="num">
                                      <p:cBhvr>
                                        <p:cTn id="37" dur="1000" fill="hold"/>
                                        <p:tgtEl>
                                          <p:spTgt spid="26"/>
                                        </p:tgtEl>
                                        <p:attrNameLst>
                                          <p:attrName>ppt_x</p:attrName>
                                        </p:attrNameLst>
                                      </p:cBhvr>
                                      <p:tavLst>
                                        <p:tav tm="0">
                                          <p:val>
                                            <p:strVal val="#ppt_x"/>
                                          </p:val>
                                        </p:tav>
                                        <p:tav tm="100000">
                                          <p:val>
                                            <p:strVal val="#ppt_x"/>
                                          </p:val>
                                        </p:tav>
                                      </p:tavLst>
                                    </p:anim>
                                    <p:anim calcmode="lin" valueType="num">
                                      <p:cBhvr>
                                        <p:cTn id="3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1">
                                            <p:txEl>
                                              <p:pRg st="3" end="3"/>
                                            </p:txEl>
                                          </p:spTgt>
                                        </p:tgtEl>
                                        <p:attrNameLst>
                                          <p:attrName>style.visibility</p:attrName>
                                        </p:attrNameLst>
                                      </p:cBhvr>
                                      <p:to>
                                        <p:strVal val="visible"/>
                                      </p:to>
                                    </p:set>
                                    <p:animEffect transition="in" filter="fade">
                                      <p:cBhvr>
                                        <p:cTn id="43" dur="1000"/>
                                        <p:tgtEl>
                                          <p:spTgt spid="21">
                                            <p:txEl>
                                              <p:pRg st="3" end="3"/>
                                            </p:txEl>
                                          </p:spTgt>
                                        </p:tgtEl>
                                      </p:cBhvr>
                                    </p:animEffect>
                                    <p:anim calcmode="lin" valueType="num">
                                      <p:cBhvr>
                                        <p:cTn id="44" dur="1000" fill="hold"/>
                                        <p:tgtEl>
                                          <p:spTgt spid="21">
                                            <p:txEl>
                                              <p:pRg st="3" end="3"/>
                                            </p:txEl>
                                          </p:spTgt>
                                        </p:tgtEl>
                                        <p:attrNameLst>
                                          <p:attrName>ppt_x</p:attrName>
                                        </p:attrNameLst>
                                      </p:cBhvr>
                                      <p:tavLst>
                                        <p:tav tm="0">
                                          <p:val>
                                            <p:strVal val="#ppt_x"/>
                                          </p:val>
                                        </p:tav>
                                        <p:tav tm="100000">
                                          <p:val>
                                            <p:strVal val="#ppt_x"/>
                                          </p:val>
                                        </p:tav>
                                      </p:tavLst>
                                    </p:anim>
                                    <p:anim calcmode="lin" valueType="num">
                                      <p:cBhvr>
                                        <p:cTn id="45" dur="1000" fill="hold"/>
                                        <p:tgtEl>
                                          <p:spTgt spid="21">
                                            <p:txEl>
                                              <p:pRg st="3" end="3"/>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1000"/>
                                        <p:tgtEl>
                                          <p:spTgt spid="29"/>
                                        </p:tgtEl>
                                      </p:cBhvr>
                                    </p:animEffect>
                                    <p:anim calcmode="lin" valueType="num">
                                      <p:cBhvr>
                                        <p:cTn id="49" dur="1000" fill="hold"/>
                                        <p:tgtEl>
                                          <p:spTgt spid="29"/>
                                        </p:tgtEl>
                                        <p:attrNameLst>
                                          <p:attrName>ppt_x</p:attrName>
                                        </p:attrNameLst>
                                      </p:cBhvr>
                                      <p:tavLst>
                                        <p:tav tm="0">
                                          <p:val>
                                            <p:strVal val="#ppt_x"/>
                                          </p:val>
                                        </p:tav>
                                        <p:tav tm="100000">
                                          <p:val>
                                            <p:strVal val="#ppt_x"/>
                                          </p:val>
                                        </p:tav>
                                      </p:tavLst>
                                    </p:anim>
                                    <p:anim calcmode="lin" valueType="num">
                                      <p:cBhvr>
                                        <p:cTn id="5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21">
                                            <p:txEl>
                                              <p:pRg st="4" end="4"/>
                                            </p:txEl>
                                          </p:spTgt>
                                        </p:tgtEl>
                                        <p:attrNameLst>
                                          <p:attrName>style.visibility</p:attrName>
                                        </p:attrNameLst>
                                      </p:cBhvr>
                                      <p:to>
                                        <p:strVal val="visible"/>
                                      </p:to>
                                    </p:set>
                                    <p:animEffect transition="in" filter="fade">
                                      <p:cBhvr>
                                        <p:cTn id="55" dur="1000"/>
                                        <p:tgtEl>
                                          <p:spTgt spid="21">
                                            <p:txEl>
                                              <p:pRg st="4" end="4"/>
                                            </p:txEl>
                                          </p:spTgt>
                                        </p:tgtEl>
                                      </p:cBhvr>
                                    </p:animEffect>
                                    <p:anim calcmode="lin" valueType="num">
                                      <p:cBhvr>
                                        <p:cTn id="56" dur="1000" fill="hold"/>
                                        <p:tgtEl>
                                          <p:spTgt spid="21">
                                            <p:txEl>
                                              <p:pRg st="4" end="4"/>
                                            </p:txEl>
                                          </p:spTgt>
                                        </p:tgtEl>
                                        <p:attrNameLst>
                                          <p:attrName>ppt_x</p:attrName>
                                        </p:attrNameLst>
                                      </p:cBhvr>
                                      <p:tavLst>
                                        <p:tav tm="0">
                                          <p:val>
                                            <p:strVal val="#ppt_x"/>
                                          </p:val>
                                        </p:tav>
                                        <p:tav tm="100000">
                                          <p:val>
                                            <p:strVal val="#ppt_x"/>
                                          </p:val>
                                        </p:tav>
                                      </p:tavLst>
                                    </p:anim>
                                    <p:anim calcmode="lin" valueType="num">
                                      <p:cBhvr>
                                        <p:cTn id="57" dur="1000" fill="hold"/>
                                        <p:tgtEl>
                                          <p:spTgt spid="21">
                                            <p:txEl>
                                              <p:pRg st="4" end="4"/>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1000"/>
                                        <p:tgtEl>
                                          <p:spTgt spid="32"/>
                                        </p:tgtEl>
                                      </p:cBhvr>
                                    </p:animEffect>
                                    <p:anim calcmode="lin" valueType="num">
                                      <p:cBhvr>
                                        <p:cTn id="61" dur="1000" fill="hold"/>
                                        <p:tgtEl>
                                          <p:spTgt spid="32"/>
                                        </p:tgtEl>
                                        <p:attrNameLst>
                                          <p:attrName>ppt_x</p:attrName>
                                        </p:attrNameLst>
                                      </p:cBhvr>
                                      <p:tavLst>
                                        <p:tav tm="0">
                                          <p:val>
                                            <p:strVal val="#ppt_x"/>
                                          </p:val>
                                        </p:tav>
                                        <p:tav tm="100000">
                                          <p:val>
                                            <p:strVal val="#ppt_x"/>
                                          </p:val>
                                        </p:tav>
                                      </p:tavLst>
                                    </p:anim>
                                    <p:anim calcmode="lin" valueType="num">
                                      <p:cBhvr>
                                        <p:cTn id="62" dur="1000" fill="hold"/>
                                        <p:tgtEl>
                                          <p:spTgt spid="3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1000"/>
                                        <p:tgtEl>
                                          <p:spTgt spid="35"/>
                                        </p:tgtEl>
                                      </p:cBhvr>
                                    </p:animEffect>
                                    <p:anim calcmode="lin" valueType="num">
                                      <p:cBhvr>
                                        <p:cTn id="66" dur="1000" fill="hold"/>
                                        <p:tgtEl>
                                          <p:spTgt spid="35"/>
                                        </p:tgtEl>
                                        <p:attrNameLst>
                                          <p:attrName>ppt_x</p:attrName>
                                        </p:attrNameLst>
                                      </p:cBhvr>
                                      <p:tavLst>
                                        <p:tav tm="0">
                                          <p:val>
                                            <p:strVal val="#ppt_x"/>
                                          </p:val>
                                        </p:tav>
                                        <p:tav tm="100000">
                                          <p:val>
                                            <p:strVal val="#ppt_x"/>
                                          </p:val>
                                        </p:tav>
                                      </p:tavLst>
                                    </p:anim>
                                    <p:anim calcmode="lin" valueType="num">
                                      <p:cBhvr>
                                        <p:cTn id="67"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21">
                                            <p:txEl>
                                              <p:pRg st="5" end="5"/>
                                            </p:txEl>
                                          </p:spTgt>
                                        </p:tgtEl>
                                        <p:attrNameLst>
                                          <p:attrName>style.visibility</p:attrName>
                                        </p:attrNameLst>
                                      </p:cBhvr>
                                      <p:to>
                                        <p:strVal val="visible"/>
                                      </p:to>
                                    </p:set>
                                    <p:animEffect transition="in" filter="fade">
                                      <p:cBhvr>
                                        <p:cTn id="72" dur="1000"/>
                                        <p:tgtEl>
                                          <p:spTgt spid="21">
                                            <p:txEl>
                                              <p:pRg st="5" end="5"/>
                                            </p:txEl>
                                          </p:spTgt>
                                        </p:tgtEl>
                                      </p:cBhvr>
                                    </p:animEffect>
                                    <p:anim calcmode="lin" valueType="num">
                                      <p:cBhvr>
                                        <p:cTn id="73" dur="1000" fill="hold"/>
                                        <p:tgtEl>
                                          <p:spTgt spid="21">
                                            <p:txEl>
                                              <p:pRg st="5" end="5"/>
                                            </p:txEl>
                                          </p:spTgt>
                                        </p:tgtEl>
                                        <p:attrNameLst>
                                          <p:attrName>ppt_x</p:attrName>
                                        </p:attrNameLst>
                                      </p:cBhvr>
                                      <p:tavLst>
                                        <p:tav tm="0">
                                          <p:val>
                                            <p:strVal val="#ppt_x"/>
                                          </p:val>
                                        </p:tav>
                                        <p:tav tm="100000">
                                          <p:val>
                                            <p:strVal val="#ppt_x"/>
                                          </p:val>
                                        </p:tav>
                                      </p:tavLst>
                                    </p:anim>
                                    <p:anim calcmode="lin" valueType="num">
                                      <p:cBhvr>
                                        <p:cTn id="74" dur="1000" fill="hold"/>
                                        <p:tgtEl>
                                          <p:spTgt spid="21">
                                            <p:txEl>
                                              <p:pRg st="5" end="5"/>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1000"/>
                                        <p:tgtEl>
                                          <p:spTgt spid="38"/>
                                        </p:tgtEl>
                                      </p:cBhvr>
                                    </p:animEffect>
                                    <p:anim calcmode="lin" valueType="num">
                                      <p:cBhvr>
                                        <p:cTn id="78" dur="1000" fill="hold"/>
                                        <p:tgtEl>
                                          <p:spTgt spid="38"/>
                                        </p:tgtEl>
                                        <p:attrNameLst>
                                          <p:attrName>ppt_x</p:attrName>
                                        </p:attrNameLst>
                                      </p:cBhvr>
                                      <p:tavLst>
                                        <p:tav tm="0">
                                          <p:val>
                                            <p:strVal val="#ppt_x"/>
                                          </p:val>
                                        </p:tav>
                                        <p:tav tm="100000">
                                          <p:val>
                                            <p:strVal val="#ppt_x"/>
                                          </p:val>
                                        </p:tav>
                                      </p:tavLst>
                                    </p:anim>
                                    <p:anim calcmode="lin" valueType="num">
                                      <p:cBhvr>
                                        <p:cTn id="7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20295"/>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7.1 Undirected Trees</a:t>
            </a:r>
            <a:r>
              <a:rPr lang="en-US" altLang="zh-CN" sz="2400" b="1" dirty="0">
                <a:solidFill>
                  <a:schemeClr val="bg1"/>
                </a:solidFill>
                <a:latin typeface="Trebuchet MS" panose="020B0603020202020204" pitchFamily="34" charset="0"/>
                <a:ea typeface="宋体" panose="02010600030101010101" pitchFamily="2" charset="-122"/>
                <a:cs typeface="Times New Roman" panose="02020603050405020304" pitchFamily="18" charset="0"/>
              </a:rPr>
              <a:t>          </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9877336" cy="51663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a:p>
            <a:pPr>
              <a:lnSpc>
                <a:spcPct val="130000"/>
              </a:lnSpc>
              <a:spcBef>
                <a:spcPts val="600"/>
              </a:spcBef>
              <a:buClr>
                <a:srgbClr val="0B61FF"/>
              </a:buClr>
              <a:buSzPct val="80000"/>
              <a:buFont typeface="Wingdings" panose="05000000000000000000" pitchFamily="2" charset="2"/>
              <a:buChar char="n"/>
            </a:pPr>
            <a:r>
              <a:rPr lang="en-US" altLang="zh-CN" sz="2400" b="1" dirty="0">
                <a:solidFill>
                  <a:schemeClr val="bg2">
                    <a:lumMod val="75000"/>
                  </a:schemeClr>
                </a:solidFill>
                <a:latin typeface="Trebuchet MS" panose="020B0603020202020204" pitchFamily="34" charset="0"/>
              </a:rPr>
              <a:t>7.1.1 Definition and Properties of Undirected Trees</a:t>
            </a:r>
          </a:p>
          <a:p>
            <a:pPr>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7.1.2 Spanning Trees</a:t>
            </a:r>
          </a:p>
        </p:txBody>
      </p:sp>
    </p:spTree>
    <p:extLst>
      <p:ext uri="{BB962C8B-B14F-4D97-AF65-F5344CB8AC3E}">
        <p14:creationId xmlns:p14="http://schemas.microsoft.com/office/powerpoint/2010/main" val="1894426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4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Spanning Tree T and Its Co-Tree </a:t>
                </a:r>
                <a14:m>
                  <m:oMath xmlns:m="http://schemas.openxmlformats.org/officeDocument/2006/math">
                    <m:acc>
                      <m:accPr>
                        <m:chr m:val="̅"/>
                        <m:ctrlPr>
                          <a:rPr lang="zh-CN" altLang="en-US" sz="2400" b="1" i="1">
                            <a:solidFill>
                              <a:srgbClr val="FF0000"/>
                            </a:solidFill>
                            <a:latin typeface="Cambria Math" panose="02040503050406030204" pitchFamily="18" charset="0"/>
                          </a:rPr>
                        </m:ctrlPr>
                      </m:accPr>
                      <m:e>
                        <m:r>
                          <m:rPr>
                            <m:nor/>
                          </m:rPr>
                          <a:rPr lang="en-US" altLang="zh-CN" sz="2400" b="1" i="1" dirty="0">
                            <a:solidFill>
                              <a:srgbClr val="FF0000"/>
                            </a:solidFill>
                            <a:latin typeface="Trebuchet MS" panose="020B0603020202020204" pitchFamily="34" charset="0"/>
                          </a:rPr>
                          <m:t>T</m:t>
                        </m:r>
                      </m:e>
                    </m:acc>
                  </m:oMath>
                </a14:m>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p:txBody>
          </p:sp>
        </mc:Choice>
        <mc:Fallback xmlns="">
          <p:sp>
            <p:nvSpPr>
              <p:cNvPr id="20" name="矩形 19"/>
              <p:cNvSpPr>
                <a:spLocks noRot="1" noChangeAspect="1" noMove="1" noResize="1" noEditPoints="1" noAdjustHandles="1" noChangeArrowheads="1" noChangeShapeType="1" noTextEdit="1"/>
              </p:cNvSpPr>
              <p:nvPr/>
            </p:nvSpPr>
            <p:spPr>
              <a:xfrm>
                <a:off x="0" y="0"/>
                <a:ext cx="12192000" cy="762000"/>
              </a:xfrm>
              <a:prstGeom prst="rect">
                <a:avLst/>
              </a:prstGeom>
              <a:blipFill>
                <a:blip r:embed="rId3"/>
                <a:stretch>
                  <a:fillRect t="-6299" b="-19685"/>
                </a:stretch>
              </a:blipFill>
            </p:spPr>
            <p:txBody>
              <a:bodyPr/>
              <a:lstStyle/>
              <a:p>
                <a:r>
                  <a:rPr lang="zh-CN" altLang="en-US">
                    <a:noFill/>
                  </a:rPr>
                  <a:t> </a:t>
                </a:r>
              </a:p>
            </p:txBody>
          </p:sp>
        </mc:Fallback>
      </mc:AlternateContent>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3" y="806450"/>
                <a:ext cx="10829346"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Let </a:t>
                </a:r>
                <a:r>
                  <a:rPr lang="en-US" altLang="zh-CN" sz="2400" b="1" i="1" dirty="0">
                    <a:latin typeface="Trebuchet MS" panose="020B0603020202020204" pitchFamily="34" charset="0"/>
                  </a:rPr>
                  <a:t>G</a:t>
                </a:r>
                <a:r>
                  <a:rPr lang="en-US" altLang="zh-CN" sz="2400" dirty="0">
                    <a:latin typeface="Trebuchet MS" panose="020B0603020202020204" pitchFamily="34" charset="0"/>
                  </a:rPr>
                  <a:t> be an undirected connected graph.</a:t>
                </a:r>
              </a:p>
              <a:p>
                <a:pPr marL="450850" indent="-273050">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a:t>
                </a:r>
                <a:r>
                  <a:rPr lang="en-US" altLang="zh-CN" sz="2400" b="1" i="1" dirty="0">
                    <a:solidFill>
                      <a:srgbClr val="0B61FF"/>
                    </a:solidFill>
                    <a:latin typeface="Trebuchet MS" panose="020B0603020202020204" pitchFamily="34" charset="0"/>
                  </a:rPr>
                  <a:t>spanning tree T </a:t>
                </a:r>
                <a:r>
                  <a:rPr lang="en-US" altLang="zh-CN" sz="2400" dirty="0">
                    <a:latin typeface="Trebuchet MS" panose="020B0603020202020204" pitchFamily="34" charset="0"/>
                  </a:rPr>
                  <a:t>of </a:t>
                </a:r>
                <a:r>
                  <a:rPr lang="en-US" altLang="zh-CN" sz="2400" b="1" i="1" dirty="0">
                    <a:latin typeface="Trebuchet MS" panose="020B0603020202020204" pitchFamily="34" charset="0"/>
                  </a:rPr>
                  <a:t>G</a:t>
                </a:r>
                <a:r>
                  <a:rPr lang="en-US" altLang="zh-CN" sz="2400" dirty="0">
                    <a:latin typeface="Trebuchet MS" panose="020B0603020202020204" pitchFamily="34" charset="0"/>
                  </a:rPr>
                  <a:t>: a spanning subgraph of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is also a tree.</a:t>
                </a:r>
              </a:p>
              <a:p>
                <a:pPr marL="450850" indent="-273050">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a:t>
                </a:r>
                <a:r>
                  <a:rPr lang="en-US" altLang="zh-CN" sz="2400" b="1" i="1" dirty="0">
                    <a:solidFill>
                      <a:srgbClr val="0B61FF"/>
                    </a:solidFill>
                    <a:latin typeface="Trebuchet MS" panose="020B0603020202020204" pitchFamily="34" charset="0"/>
                  </a:rPr>
                  <a:t>branch</a:t>
                </a:r>
                <a:r>
                  <a:rPr lang="en-US" altLang="zh-CN" sz="2400" dirty="0">
                    <a:latin typeface="Trebuchet MS" panose="020B0603020202020204" pitchFamily="34" charset="0"/>
                  </a:rPr>
                  <a:t> of the spanning tree </a:t>
                </a:r>
                <a:r>
                  <a:rPr lang="en-US" altLang="zh-CN" sz="2400" b="1" i="1" dirty="0">
                    <a:latin typeface="Trebuchet MS" panose="020B0603020202020204" pitchFamily="34" charset="0"/>
                  </a:rPr>
                  <a:t>T</a:t>
                </a:r>
                <a:r>
                  <a:rPr lang="en-US" altLang="zh-CN" sz="2400" dirty="0">
                    <a:latin typeface="Trebuchet MS" panose="020B0603020202020204" pitchFamily="34" charset="0"/>
                  </a:rPr>
                  <a:t>: an edge of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belongs to </a:t>
                </a:r>
                <a:r>
                  <a:rPr lang="en-US" altLang="zh-CN" sz="2400" b="1" i="1" dirty="0">
                    <a:latin typeface="Trebuchet MS" panose="020B0603020202020204" pitchFamily="34" charset="0"/>
                  </a:rPr>
                  <a:t>T</a:t>
                </a:r>
                <a:r>
                  <a:rPr lang="en-US" altLang="zh-CN" sz="2400" dirty="0">
                    <a:latin typeface="Trebuchet MS" panose="020B0603020202020204" pitchFamily="34" charset="0"/>
                  </a:rPr>
                  <a:t>.</a:t>
                </a:r>
              </a:p>
              <a:p>
                <a:pPr marL="450850" indent="-273050">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a:t>
                </a:r>
                <a:r>
                  <a:rPr lang="en-US" altLang="zh-CN" sz="2400" b="1" i="1" dirty="0">
                    <a:solidFill>
                      <a:srgbClr val="0B61FF"/>
                    </a:solidFill>
                    <a:latin typeface="Trebuchet MS" panose="020B0603020202020204" pitchFamily="34" charset="0"/>
                  </a:rPr>
                  <a:t>chord</a:t>
                </a:r>
                <a:r>
                  <a:rPr lang="en-US" altLang="zh-CN" sz="2400" dirty="0">
                    <a:latin typeface="Trebuchet MS" panose="020B0603020202020204" pitchFamily="34" charset="0"/>
                  </a:rPr>
                  <a:t> of the spanning tree </a:t>
                </a:r>
                <a:r>
                  <a:rPr lang="en-US" altLang="zh-CN" sz="2400" b="1" i="1" dirty="0">
                    <a:latin typeface="Trebuchet MS" panose="020B0603020202020204" pitchFamily="34" charset="0"/>
                  </a:rPr>
                  <a:t>T</a:t>
                </a:r>
                <a:r>
                  <a:rPr lang="en-US" altLang="zh-CN" sz="2400" dirty="0">
                    <a:latin typeface="Trebuchet MS" panose="020B0603020202020204" pitchFamily="34" charset="0"/>
                  </a:rPr>
                  <a:t>: an edge of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does </a:t>
                </a:r>
                <a:r>
                  <a:rPr lang="en-US" altLang="zh-CN" sz="2400" b="1" dirty="0">
                    <a:latin typeface="Trebuchet MS" panose="020B0603020202020204" pitchFamily="34" charset="0"/>
                  </a:rPr>
                  <a:t>not</a:t>
                </a:r>
                <a:r>
                  <a:rPr lang="en-US" altLang="zh-CN" sz="2400" dirty="0">
                    <a:latin typeface="Trebuchet MS" panose="020B0603020202020204" pitchFamily="34" charset="0"/>
                  </a:rPr>
                  <a:t> belong to </a:t>
                </a:r>
                <a:r>
                  <a:rPr lang="en-US" altLang="zh-CN" sz="2400" b="1" i="1" dirty="0">
                    <a:latin typeface="Trebuchet MS" panose="020B0603020202020204" pitchFamily="34" charset="0"/>
                  </a:rPr>
                  <a:t>T</a:t>
                </a:r>
                <a:r>
                  <a:rPr lang="en-US" altLang="zh-CN" sz="2400" dirty="0">
                    <a:latin typeface="Trebuchet MS" panose="020B0603020202020204" pitchFamily="34" charset="0"/>
                  </a:rPr>
                  <a:t>.</a:t>
                </a:r>
              </a:p>
              <a:p>
                <a:pPr marL="450850" indent="-273050">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The </a:t>
                </a:r>
                <a:r>
                  <a:rPr lang="en-US" altLang="zh-CN" sz="2400" b="1" i="1" dirty="0">
                    <a:solidFill>
                      <a:srgbClr val="0B61FF"/>
                    </a:solidFill>
                    <a:latin typeface="Trebuchet MS" panose="020B0603020202020204" pitchFamily="34" charset="0"/>
                  </a:rPr>
                  <a:t>co-tree</a:t>
                </a:r>
                <a:r>
                  <a:rPr lang="en-US" altLang="zh-CN" sz="2400" b="1" dirty="0">
                    <a:latin typeface="Trebuchet MS" panose="020B0603020202020204" pitchFamily="34" charset="0"/>
                  </a:rPr>
                  <a:t> </a:t>
                </a:r>
                <a:r>
                  <a:rPr lang="en-US" altLang="zh-CN" sz="2400" dirty="0">
                    <a:latin typeface="Trebuchet MS" panose="020B0603020202020204" pitchFamily="34" charset="0"/>
                  </a:rPr>
                  <a:t>of the spanning tree </a:t>
                </a:r>
                <a:r>
                  <a:rPr lang="en-US" altLang="zh-CN" sz="2400" b="1" i="1" dirty="0">
                    <a:latin typeface="Trebuchet MS" panose="020B0603020202020204" pitchFamily="34" charset="0"/>
                  </a:rPr>
                  <a:t>T</a:t>
                </a:r>
                <a:r>
                  <a:rPr lang="en-US" altLang="zh-CN" sz="2400" dirty="0">
                    <a:latin typeface="Trebuchet MS" panose="020B0603020202020204" pitchFamily="34" charset="0"/>
                  </a:rPr>
                  <a:t>: the subgraph induced by the set of all chords.</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Note:</a:t>
                </a:r>
                <a:r>
                  <a:rPr lang="en-US" altLang="zh-CN" sz="2400" dirty="0">
                    <a:latin typeface="Trebuchet MS" panose="020B0603020202020204" pitchFamily="34" charset="0"/>
                  </a:rPr>
                  <a:t> The co-tree </a:t>
                </a:r>
                <a14:m>
                  <m:oMath xmlns:m="http://schemas.openxmlformats.org/officeDocument/2006/math">
                    <m:acc>
                      <m:accPr>
                        <m:chr m:val="̅"/>
                        <m:ctrlPr>
                          <a:rPr lang="zh-CN" altLang="en-US" sz="2400" b="1" i="1" smtClean="0">
                            <a:solidFill>
                              <a:srgbClr val="FF0000"/>
                            </a:solidFill>
                            <a:latin typeface="Cambria Math" panose="02040503050406030204" pitchFamily="18" charset="0"/>
                          </a:rPr>
                        </m:ctrlPr>
                      </m:accPr>
                      <m:e>
                        <m:r>
                          <m:rPr>
                            <m:nor/>
                          </m:rPr>
                          <a:rPr lang="en-US" altLang="zh-CN" sz="2400" b="1" i="1" dirty="0">
                            <a:solidFill>
                              <a:srgbClr val="FF0000"/>
                            </a:solidFill>
                            <a:latin typeface="Trebuchet MS" panose="020B0603020202020204" pitchFamily="34" charset="0"/>
                          </a:rPr>
                          <m:t>T</m:t>
                        </m:r>
                      </m:e>
                    </m:acc>
                  </m:oMath>
                </a14:m>
                <a:r>
                  <a:rPr lang="zh-CN" altLang="en-US" sz="2400" b="1" dirty="0">
                    <a:latin typeface="Trebuchet MS" panose="020B0603020202020204" pitchFamily="34" charset="0"/>
                  </a:rPr>
                  <a:t> </a:t>
                </a:r>
                <a:r>
                  <a:rPr lang="en-US" altLang="zh-CN" sz="2400" dirty="0">
                    <a:latin typeface="Trebuchet MS" panose="020B0603020202020204" pitchFamily="34" charset="0"/>
                  </a:rPr>
                  <a:t>is not necessarily connected, and it may contain cycles.</a:t>
                </a:r>
              </a:p>
              <a:p>
                <a:pPr>
                  <a:lnSpc>
                    <a:spcPct val="120000"/>
                  </a:lnSpc>
                  <a:spcBef>
                    <a:spcPts val="300"/>
                  </a:spcBef>
                  <a:buClr>
                    <a:srgbClr val="0B61FF"/>
                  </a:buClr>
                  <a:buSzPct val="80000"/>
                  <a:buFont typeface="Wingdings" panose="05000000000000000000" pitchFamily="2" charset="2"/>
                  <a:buChar char="n"/>
                </a:pPr>
                <a:r>
                  <a:rPr lang="en-US" altLang="zh-CN" sz="2400" b="1" dirty="0"/>
                  <a:t>Example:</a:t>
                </a:r>
                <a:r>
                  <a:rPr lang="en-US" altLang="zh-CN" sz="2400" dirty="0"/>
                  <a:t> The black edges form a spanning tree, and the red edges form the co-tree.</a:t>
                </a:r>
                <a:endParaRPr lang="en-US" altLang="zh-CN" sz="2400" dirty="0">
                  <a:latin typeface="Trebuchet MS" panose="020B0603020202020204" pitchFamily="34" charset="0"/>
                </a:endParaRPr>
              </a:p>
            </p:txBody>
          </p:sp>
        </mc:Choice>
        <mc:Fallback xmlns="">
          <p:sp>
            <p:nvSpPr>
              <p:cNvPr id="8" name="Rectangle 3">
                <a:extLst>
                  <a:ext uri="{FF2B5EF4-FFF2-40B4-BE49-F238E27FC236}">
                    <a16:creationId xmlns:a16="http://schemas.microsoft.com/office/drawing/2014/main" id="{97F08C45-3D15-45C1-A5A3-D1EB58DC91FE}"/>
                  </a:ext>
                </a:extLst>
              </p:cNvPr>
              <p:cNvSpPr txBox="1">
                <a:spLocks noRot="1" noChangeAspect="1" noMove="1" noResize="1" noEditPoints="1" noAdjustHandles="1" noChangeArrowheads="1" noChangeShapeType="1" noTextEdit="1"/>
              </p:cNvSpPr>
              <p:nvPr/>
            </p:nvSpPr>
            <p:spPr>
              <a:xfrm>
                <a:off x="824683" y="806450"/>
                <a:ext cx="10829346" cy="5788025"/>
              </a:xfrm>
              <a:prstGeom prst="rect">
                <a:avLst/>
              </a:prstGeom>
              <a:blipFill>
                <a:blip r:embed="rId6"/>
                <a:stretch>
                  <a:fillRect l="-394" t="-316" r="-619"/>
                </a:stretch>
              </a:blipFill>
            </p:spPr>
            <p:txBody>
              <a:bodyPr/>
              <a:lstStyle/>
              <a:p>
                <a:r>
                  <a:rPr lang="zh-CN" altLang="en-US">
                    <a:noFill/>
                  </a:rPr>
                  <a:t> </a:t>
                </a:r>
              </a:p>
            </p:txBody>
          </p:sp>
        </mc:Fallback>
      </mc:AlternateContent>
      <p:pic>
        <p:nvPicPr>
          <p:cNvPr id="15" name="Picture 6" descr="16-4">
            <a:extLst>
              <a:ext uri="{FF2B5EF4-FFF2-40B4-BE49-F238E27FC236}">
                <a16:creationId xmlns:a16="http://schemas.microsoft.com/office/drawing/2014/main" id="{26398D40-CF61-4B04-92DF-BB711F9C05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15027" b="42075"/>
          <a:stretch>
            <a:fillRect/>
          </a:stretch>
        </p:blipFill>
        <p:spPr bwMode="auto">
          <a:xfrm>
            <a:off x="2988812" y="5106956"/>
            <a:ext cx="3048000"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9143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fade">
                                      <p:cBhvr>
                                        <p:cTn id="28" dur="1000"/>
                                        <p:tgtEl>
                                          <p:spTgt spid="8">
                                            <p:txEl>
                                              <p:pRg st="5" end="5"/>
                                            </p:txEl>
                                          </p:spTgt>
                                        </p:tgtEl>
                                      </p:cBhvr>
                                    </p:animEffect>
                                    <p:anim calcmode="lin" valueType="num">
                                      <p:cBhvr>
                                        <p:cTn id="2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fade">
                                      <p:cBhvr>
                                        <p:cTn id="35" dur="1000"/>
                                        <p:tgtEl>
                                          <p:spTgt spid="8">
                                            <p:txEl>
                                              <p:pRg st="6" end="6"/>
                                            </p:txEl>
                                          </p:spTgt>
                                        </p:tgtEl>
                                      </p:cBhvr>
                                    </p:animEffect>
                                    <p:anim calcmode="lin" valueType="num">
                                      <p:cBhvr>
                                        <p:cTn id="3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0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Spanning Tree Existence Theorem</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16732" y="794338"/>
            <a:ext cx="10338617" cy="5390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B61FF"/>
              </a:buClr>
              <a:buSzPct val="80000"/>
              <a:buFont typeface="Wingdings" panose="05000000000000000000" pitchFamily="2" charset="2"/>
              <a:buChar char="n"/>
            </a:pPr>
            <a:r>
              <a:rPr lang="en-US" altLang="zh-CN" sz="2400" b="1">
                <a:latin typeface="Trebuchet MS" panose="020B0603020202020204" pitchFamily="34" charset="0"/>
              </a:rPr>
              <a:t>Theorem 7.3: </a:t>
            </a:r>
            <a:r>
              <a:rPr lang="en-US" altLang="zh-CN" sz="2400">
                <a:latin typeface="Trebuchet MS" panose="020B0603020202020204" pitchFamily="34" charset="0"/>
              </a:rPr>
              <a:t>Every </a:t>
            </a:r>
            <a:r>
              <a:rPr lang="en-US" altLang="zh-CN" sz="2400" dirty="0">
                <a:latin typeface="Trebuchet MS" panose="020B0603020202020204" pitchFamily="34" charset="0"/>
              </a:rPr>
              <a:t>undirected connected graph has a spanning tree.</a:t>
            </a:r>
          </a:p>
          <a:p>
            <a:pPr>
              <a:lnSpc>
                <a:spcPct val="11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dirty="0">
                <a:latin typeface="Trebuchet MS" panose="020B0603020202020204" pitchFamily="34" charset="0"/>
              </a:rPr>
              <a:t>Use the </a:t>
            </a:r>
            <a:r>
              <a:rPr lang="en-US" altLang="zh-CN" sz="2400" b="1" dirty="0">
                <a:latin typeface="Trebuchet MS" panose="020B0603020202020204" pitchFamily="34" charset="0"/>
              </a:rPr>
              <a:t>cycle-breaking method</a:t>
            </a:r>
            <a:r>
              <a:rPr lang="en-US" altLang="zh-CN" sz="2400" dirty="0">
                <a:latin typeface="Trebuchet MS" panose="020B0603020202020204" pitchFamily="34" charset="0"/>
              </a:rPr>
              <a:t>.</a:t>
            </a:r>
          </a:p>
          <a:p>
            <a:pPr marL="539750" indent="-361950">
              <a:lnSpc>
                <a:spcPct val="110000"/>
              </a:lnSpc>
              <a:spcBef>
                <a:spcPts val="0"/>
              </a:spcBef>
              <a:buClr>
                <a:srgbClr val="0B61FF"/>
              </a:buClr>
              <a:buSzPct val="80000"/>
              <a:buNone/>
            </a:pPr>
            <a:r>
              <a:rPr lang="en-US" altLang="zh-CN" sz="2400" b="1" dirty="0">
                <a:solidFill>
                  <a:srgbClr val="0B61FF"/>
                </a:solidFill>
                <a:latin typeface="Trebuchet MS" panose="020B0603020202020204" pitchFamily="34" charset="0"/>
              </a:rPr>
              <a:t>①</a:t>
            </a:r>
            <a:r>
              <a:rPr lang="en-US" altLang="zh-CN" sz="2400" dirty="0">
                <a:latin typeface="Trebuchet MS" panose="020B0603020202020204" pitchFamily="34" charset="0"/>
              </a:rPr>
              <a:t> If the graph contains no cycles, then the graph itself is a spanning tree.</a:t>
            </a:r>
          </a:p>
          <a:p>
            <a:pPr marL="539750" indent="-361950">
              <a:lnSpc>
                <a:spcPct val="110000"/>
              </a:lnSpc>
              <a:spcBef>
                <a:spcPts val="0"/>
              </a:spcBef>
              <a:buClr>
                <a:srgbClr val="0B61FF"/>
              </a:buClr>
              <a:buSzPct val="80000"/>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Otherwise, remove any edge from a cycle — this does not destroy connectivity.</a:t>
            </a:r>
          </a:p>
          <a:p>
            <a:pPr marL="539750" indent="-361950">
              <a:lnSpc>
                <a:spcPct val="110000"/>
              </a:lnSpc>
              <a:spcBef>
                <a:spcPts val="0"/>
              </a:spcBef>
              <a:buClr>
                <a:srgbClr val="0B61FF"/>
              </a:buClr>
              <a:buSzPct val="80000"/>
              <a:buNone/>
            </a:pPr>
            <a:r>
              <a:rPr lang="en-US" altLang="zh-CN" sz="2400" b="1" dirty="0">
                <a:solidFill>
                  <a:srgbClr val="0B61FF"/>
                </a:solidFill>
                <a:latin typeface="Trebuchet MS" panose="020B0603020202020204" pitchFamily="34" charset="0"/>
              </a:rPr>
              <a:t>③</a:t>
            </a:r>
            <a:r>
              <a:rPr lang="en-US" altLang="zh-CN" sz="2400" dirty="0">
                <a:latin typeface="Trebuchet MS" panose="020B0603020202020204" pitchFamily="34" charset="0"/>
              </a:rPr>
              <a:t> Repeat this process until there are no cycles remaining. The resulting graph is a spanning tree of the original graph.</a:t>
            </a:r>
          </a:p>
          <a:p>
            <a:pPr>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Corollary 1: </a:t>
            </a:r>
            <a:r>
              <a:rPr lang="en-US" altLang="zh-CN" sz="2400" dirty="0">
                <a:latin typeface="Trebuchet MS" panose="020B0603020202020204" pitchFamily="34" charset="0"/>
              </a:rPr>
              <a:t>If an undirected connected graph has </a:t>
            </a:r>
            <a:r>
              <a:rPr lang="en-US" altLang="zh-CN" sz="2400" b="1" i="1" dirty="0">
                <a:latin typeface="Trebuchet MS" panose="020B0603020202020204" pitchFamily="34" charset="0"/>
              </a:rPr>
              <a:t>n</a:t>
            </a:r>
            <a:r>
              <a:rPr lang="en-US" altLang="zh-CN" sz="2400" dirty="0">
                <a:latin typeface="Trebuchet MS" panose="020B0603020202020204" pitchFamily="34" charset="0"/>
              </a:rPr>
              <a:t> vertices and </a:t>
            </a:r>
            <a:r>
              <a:rPr lang="en-US" altLang="zh-CN" sz="2400" b="1" i="1" dirty="0">
                <a:latin typeface="Trebuchet MS" panose="020B0603020202020204" pitchFamily="34" charset="0"/>
              </a:rPr>
              <a:t>m</a:t>
            </a:r>
            <a:r>
              <a:rPr lang="en-US" altLang="zh-CN" sz="2400" dirty="0">
                <a:latin typeface="Trebuchet MS" panose="020B0603020202020204" pitchFamily="34" charset="0"/>
              </a:rPr>
              <a:t> edges, then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altLang="zh-CN" sz="2400" dirty="0">
                <a:latin typeface="Trebuchet MS" panose="020B0603020202020204" pitchFamily="34" charset="0"/>
              </a:rPr>
              <a:t>.</a:t>
            </a:r>
          </a:p>
          <a:p>
            <a:pPr>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Corollary 2: </a:t>
            </a:r>
            <a:r>
              <a:rPr lang="en-US" altLang="zh-CN" sz="2400" dirty="0">
                <a:latin typeface="Trebuchet MS" panose="020B0603020202020204" pitchFamily="34" charset="0"/>
              </a:rPr>
              <a:t>If an undirected connected graph has </a:t>
            </a:r>
            <a:r>
              <a:rPr lang="en-US" altLang="zh-CN" sz="2400" i="1" dirty="0">
                <a:latin typeface="Trebuchet MS" panose="020B0603020202020204" pitchFamily="34" charset="0"/>
              </a:rPr>
              <a:t>n</a:t>
            </a:r>
            <a:r>
              <a:rPr lang="en-US" altLang="zh-CN" sz="2400" dirty="0">
                <a:latin typeface="Trebuchet MS" panose="020B0603020202020204" pitchFamily="34" charset="0"/>
              </a:rPr>
              <a:t> vertices and </a:t>
            </a:r>
            <a:r>
              <a:rPr lang="en-US" altLang="zh-CN" sz="2400" i="1" dirty="0">
                <a:latin typeface="Trebuchet MS" panose="020B0603020202020204" pitchFamily="34" charset="0"/>
              </a:rPr>
              <a:t>m</a:t>
            </a:r>
            <a:r>
              <a:rPr lang="en-US" altLang="zh-CN" sz="2400" dirty="0">
                <a:latin typeface="Trebuchet MS" panose="020B0603020202020204" pitchFamily="34" charset="0"/>
              </a:rPr>
              <a:t> edges, then the co-tree of any spanning tree contains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altLang="zh-CN" sz="2400" dirty="0">
                <a:latin typeface="Trebuchet MS" panose="020B0603020202020204" pitchFamily="34" charset="0"/>
              </a:rPr>
              <a:t> edges.</a:t>
            </a:r>
          </a:p>
        </p:txBody>
      </p:sp>
    </p:spTree>
    <p:extLst>
      <p:ext uri="{BB962C8B-B14F-4D97-AF65-F5344CB8AC3E}">
        <p14:creationId xmlns:p14="http://schemas.microsoft.com/office/powerpoint/2010/main" val="34699322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fade">
                                      <p:cBhvr>
                                        <p:cTn id="40" dur="1000"/>
                                        <p:tgtEl>
                                          <p:spTgt spid="8">
                                            <p:txEl>
                                              <p:pRg st="6" end="6"/>
                                            </p:txEl>
                                          </p:spTgt>
                                        </p:tgtEl>
                                      </p:cBhvr>
                                    </p:animEffect>
                                    <p:anim calcmode="lin" valueType="num">
                                      <p:cBhvr>
                                        <p:cTn id="41"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0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Weighted Graphs and Minimum Spanning Trees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27688"/>
            <a:ext cx="9877336" cy="42291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Each edge </a:t>
            </a:r>
            <a:r>
              <a:rPr lang="en-US" altLang="zh-CN" sz="2400" b="1" i="1" dirty="0">
                <a:latin typeface="Trebuchet MS" panose="020B0603020202020204" pitchFamily="34" charset="0"/>
              </a:rPr>
              <a:t>e</a:t>
            </a:r>
            <a:r>
              <a:rPr lang="en-US" altLang="zh-CN" sz="2400" dirty="0">
                <a:latin typeface="Trebuchet MS" panose="020B0603020202020204" pitchFamily="34" charset="0"/>
              </a:rPr>
              <a:t> of a graph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assigned a real number </a:t>
            </a:r>
            <a:r>
              <a:rPr lang="en-US" altLang="zh-CN" sz="2400" b="1" i="1" dirty="0">
                <a:latin typeface="Trebuchet MS" panose="020B0603020202020204" pitchFamily="34" charset="0"/>
                <a:cs typeface="Times New Roman" panose="02020603050405020304" pitchFamily="18" charset="0"/>
              </a:rPr>
              <a:t>w</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c</a:t>
            </a:r>
            <a:r>
              <a:rPr lang="en-US" altLang="zh-CN" sz="2400" dirty="0">
                <a:latin typeface="Trebuchet MS" panose="020B0603020202020204" pitchFamily="34" charset="0"/>
              </a:rPr>
              <a:t>alled the </a:t>
            </a:r>
            <a:r>
              <a:rPr lang="en-US" altLang="zh-CN" sz="2400" b="1" i="1" dirty="0">
                <a:solidFill>
                  <a:srgbClr val="0B61FF"/>
                </a:solidFill>
                <a:latin typeface="Trebuchet MS" panose="020B0603020202020204" pitchFamily="34" charset="0"/>
              </a:rPr>
              <a:t>weight</a:t>
            </a:r>
            <a:r>
              <a:rPr lang="en-US" altLang="zh-CN" sz="2400" dirty="0">
                <a:latin typeface="Trebuchet MS" panose="020B0603020202020204" pitchFamily="34" charset="0"/>
              </a:rPr>
              <a:t> of edge </a:t>
            </a:r>
            <a:r>
              <a:rPr lang="en-US" altLang="zh-CN" sz="2400" b="1" i="1" dirty="0">
                <a:latin typeface="Trebuchet MS" panose="020B0603020202020204" pitchFamily="34" charset="0"/>
                <a:cs typeface="Times New Roman" panose="02020603050405020304" pitchFamily="18" charset="0"/>
              </a:rPr>
              <a:t>e</a:t>
            </a:r>
            <a:r>
              <a:rPr lang="zh-CN" altLang="en-US" sz="2400" b="1" dirty="0">
                <a:latin typeface="Trebuchet MS" panose="020B0603020202020204" pitchFamily="34" charset="0"/>
                <a:cs typeface="Times New Roman" panose="02020603050405020304" pitchFamily="18" charset="0"/>
              </a:rPr>
              <a:t>. </a:t>
            </a:r>
            <a:endParaRPr lang="en-US" altLang="zh-CN" sz="2400" b="1" dirty="0">
              <a:latin typeface="Trebuchet MS" panose="020B0603020202020204" pitchFamily="34" charset="0"/>
              <a:cs typeface="Times New Roman" panose="02020603050405020304" pitchFamily="18" charset="0"/>
            </a:endParaRPr>
          </a:p>
          <a:p>
            <a:pPr marL="539750" indent="-273050" eaLnBrk="1" hangingPunct="1">
              <a:lnSpc>
                <a:spcPct val="120000"/>
              </a:lnSpc>
              <a:spcBef>
                <a:spcPts val="300"/>
              </a:spcBef>
              <a:buClr>
                <a:srgbClr val="0B61FF"/>
              </a:buClr>
              <a:buSzPct val="120000"/>
            </a:pPr>
            <a:r>
              <a:rPr lang="en-US" altLang="zh-CN" sz="2400" dirty="0">
                <a:latin typeface="Trebuchet MS" panose="020B0603020202020204" pitchFamily="34" charset="0"/>
              </a:rPr>
              <a:t>The graph </a:t>
            </a:r>
            <a:r>
              <a:rPr lang="en-US" altLang="zh-CN" sz="2400" b="1" i="1" dirty="0">
                <a:latin typeface="Trebuchet MS" panose="020B0603020202020204" pitchFamily="34" charset="0"/>
                <a:cs typeface="Times New Roman" panose="02020603050405020304" pitchFamily="18" charset="0"/>
              </a:rPr>
              <a:t>G</a:t>
            </a:r>
            <a:r>
              <a:rPr lang="en-US" altLang="zh-CN" sz="2400" dirty="0">
                <a:latin typeface="Trebuchet MS" panose="020B0603020202020204" pitchFamily="34" charset="0"/>
              </a:rPr>
              <a:t> together with the weights on its edges is called a </a:t>
            </a:r>
            <a:r>
              <a:rPr lang="en-US" altLang="zh-CN" sz="2400" b="1" i="1" dirty="0">
                <a:solidFill>
                  <a:srgbClr val="0B61FF"/>
                </a:solidFill>
                <a:latin typeface="Trebuchet MS" panose="020B0603020202020204" pitchFamily="34" charset="0"/>
              </a:rPr>
              <a:t>weighted graph</a:t>
            </a:r>
            <a:r>
              <a:rPr lang="en-US" altLang="zh-CN" sz="2400" dirty="0">
                <a:latin typeface="Trebuchet MS" panose="020B0603020202020204" pitchFamily="34" charset="0"/>
              </a:rPr>
              <a:t>, denoted by </a:t>
            </a:r>
            <a:r>
              <a:rPr lang="en-US" altLang="zh-CN" sz="2400" b="1" i="1" dirty="0">
                <a:solidFill>
                  <a:srgbClr val="0B61FF"/>
                </a:solidFill>
                <a:latin typeface="Trebuchet MS" panose="020B0603020202020204" pitchFamily="34" charset="0"/>
                <a:cs typeface="Times New Roman" panose="02020603050405020304" pitchFamily="18" charset="0"/>
              </a:rPr>
              <a:t>G</a:t>
            </a:r>
            <a:r>
              <a:rPr lang="en-US" altLang="zh-CN" sz="2400" b="1" dirty="0">
                <a:solidFill>
                  <a:srgbClr val="0B61FF"/>
                </a:solidFill>
                <a:latin typeface="Trebuchet MS" panose="020B0603020202020204" pitchFamily="34" charset="0"/>
                <a:cs typeface="Times New Roman" panose="02020603050405020304" pitchFamily="18" charset="0"/>
              </a:rPr>
              <a:t>=&lt;</a:t>
            </a:r>
            <a:r>
              <a:rPr lang="en-US" altLang="zh-CN" sz="2400" b="1" i="1" dirty="0">
                <a:solidFill>
                  <a:srgbClr val="0B61FF"/>
                </a:solidFill>
                <a:latin typeface="Trebuchet MS" panose="020B0603020202020204" pitchFamily="34" charset="0"/>
                <a:cs typeface="Times New Roman" panose="02020603050405020304" pitchFamily="18" charset="0"/>
              </a:rPr>
              <a:t>V</a:t>
            </a:r>
            <a:r>
              <a:rPr lang="en-US" altLang="zh-CN" sz="2400" b="1" dirty="0">
                <a:solidFill>
                  <a:srgbClr val="0B61FF"/>
                </a:solidFill>
                <a:latin typeface="Trebuchet MS" panose="020B0603020202020204" pitchFamily="34" charset="0"/>
                <a:cs typeface="Times New Roman" panose="02020603050405020304" pitchFamily="18" charset="0"/>
              </a:rPr>
              <a:t>,</a:t>
            </a:r>
            <a:r>
              <a:rPr lang="en-US" altLang="zh-CN" sz="2400" b="1" i="1" dirty="0">
                <a:solidFill>
                  <a:srgbClr val="0B61FF"/>
                </a:solidFill>
                <a:latin typeface="Trebuchet MS" panose="020B0603020202020204" pitchFamily="34" charset="0"/>
                <a:cs typeface="Times New Roman" panose="02020603050405020304" pitchFamily="18" charset="0"/>
              </a:rPr>
              <a:t>E</a:t>
            </a:r>
            <a:r>
              <a:rPr lang="en-US" altLang="zh-CN" sz="2400" b="1" dirty="0">
                <a:solidFill>
                  <a:srgbClr val="0B61FF"/>
                </a:solidFill>
                <a:latin typeface="Trebuchet MS" panose="020B0603020202020204" pitchFamily="34" charset="0"/>
                <a:cs typeface="Times New Roman" panose="02020603050405020304" pitchFamily="18" charset="0"/>
              </a:rPr>
              <a:t>,</a:t>
            </a:r>
            <a:r>
              <a:rPr lang="en-US" altLang="zh-CN" sz="2400" b="1" i="1" dirty="0">
                <a:solidFill>
                  <a:srgbClr val="0B61FF"/>
                </a:solidFill>
                <a:latin typeface="Trebuchet MS" panose="020B0603020202020204" pitchFamily="34" charset="0"/>
                <a:cs typeface="Times New Roman" panose="02020603050405020304" pitchFamily="18" charset="0"/>
              </a:rPr>
              <a:t>W</a:t>
            </a:r>
            <a:r>
              <a:rPr lang="en-US" altLang="zh-CN" sz="2400" b="1" dirty="0">
                <a:solidFill>
                  <a:srgbClr val="0B61FF"/>
                </a:solidFill>
                <a:latin typeface="Trebuchet MS" panose="020B0603020202020204" pitchFamily="34" charset="0"/>
                <a:cs typeface="Times New Roman" panose="02020603050405020304" pitchFamily="18" charset="0"/>
              </a:rPr>
              <a:t>&gt;. </a:t>
            </a:r>
          </a:p>
          <a:p>
            <a:pPr marL="539750" indent="-273050" eaLnBrk="1" hangingPunct="1">
              <a:lnSpc>
                <a:spcPct val="120000"/>
              </a:lnSpc>
              <a:spcBef>
                <a:spcPts val="300"/>
              </a:spcBef>
              <a:buClr>
                <a:srgbClr val="0B61FF"/>
              </a:buClr>
              <a:buSzPct val="120000"/>
            </a:pPr>
            <a:r>
              <a:rPr lang="en-US" altLang="zh-CN" sz="2400" dirty="0">
                <a:latin typeface="Trebuchet MS" panose="020B0603020202020204" pitchFamily="34" charset="0"/>
                <a:cs typeface="Times New Roman" panose="02020603050405020304" pitchFamily="18" charset="0"/>
              </a:rPr>
              <a:t>Let</a:t>
            </a:r>
            <a:r>
              <a:rPr lang="en-US" altLang="zh-CN" sz="2400" b="1" i="1" dirty="0">
                <a:latin typeface="Trebuchet MS" panose="020B0603020202020204" pitchFamily="34" charset="0"/>
                <a:cs typeface="Times New Roman" panose="02020603050405020304" pitchFamily="18" charset="0"/>
              </a:rPr>
              <a:t> H</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be a subgraph of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G</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The </a:t>
            </a:r>
            <a:r>
              <a:rPr lang="en-US" altLang="zh-CN" sz="2400" b="1" dirty="0">
                <a:latin typeface="Trebuchet MS" panose="020B0603020202020204" pitchFamily="34" charset="0"/>
              </a:rPr>
              <a:t>weight of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H </a:t>
            </a:r>
            <a:r>
              <a:rPr lang="en-US" altLang="zh-CN" sz="2400" dirty="0">
                <a:latin typeface="Trebuchet MS" panose="020B0603020202020204" pitchFamily="34" charset="0"/>
              </a:rPr>
              <a:t>denoted </a:t>
            </a:r>
            <a:r>
              <a:rPr lang="en-US" altLang="zh-CN" sz="2400" b="1" i="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W</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H</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is the sum of the weights of all edges in </a:t>
            </a:r>
            <a:r>
              <a:rPr lang="en-US" altLang="zh-CN" sz="2400" b="1" i="1" dirty="0">
                <a:latin typeface="Trebuchet MS" panose="020B0603020202020204" pitchFamily="34" charset="0"/>
              </a:rPr>
              <a:t>H</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eaLnBrk="1" hangingPunct="1">
              <a:lnSpc>
                <a:spcPct val="120000"/>
              </a:lnSpc>
              <a:spcBef>
                <a:spcPts val="300"/>
              </a:spcBef>
              <a:buClr>
                <a:srgbClr val="0B61FF"/>
              </a:buClr>
              <a:buSzPct val="80000"/>
              <a:buFont typeface="Wingdings" panose="05000000000000000000" pitchFamily="2" charset="2"/>
              <a:buChar char="n"/>
            </a:pPr>
            <a:r>
              <a:rPr lang="en-US" altLang="zh-CN" sz="2400" b="1" i="1" dirty="0">
                <a:solidFill>
                  <a:srgbClr val="0B61FF"/>
                </a:solidFill>
                <a:latin typeface="Trebuchet MS" panose="020B0603020202020204" pitchFamily="34" charset="0"/>
              </a:rPr>
              <a:t>Minimum Spanning Tree </a:t>
            </a:r>
            <a:r>
              <a:rPr lang="en-US" altLang="zh-CN" sz="2400" b="1" dirty="0">
                <a:latin typeface="Trebuchet MS" panose="020B0603020202020204" pitchFamily="34" charset="0"/>
              </a:rPr>
              <a:t>(</a:t>
            </a:r>
            <a:r>
              <a:rPr lang="en-US" altLang="zh-CN" sz="2400" b="1" dirty="0">
                <a:solidFill>
                  <a:srgbClr val="0B61FF"/>
                </a:solidFill>
                <a:latin typeface="Trebuchet MS" panose="020B0603020202020204" pitchFamily="34" charset="0"/>
              </a:rPr>
              <a:t>MST</a:t>
            </a:r>
            <a:r>
              <a:rPr lang="en-US" altLang="zh-CN" sz="2400" b="1" dirty="0">
                <a:latin typeface="Trebuchet MS" panose="020B0603020202020204" pitchFamily="34" charset="0"/>
              </a:rPr>
              <a:t>):</a:t>
            </a:r>
            <a:br>
              <a:rPr lang="en-US" altLang="zh-CN" sz="2400" dirty="0">
                <a:latin typeface="Trebuchet MS" panose="020B0603020202020204" pitchFamily="34" charset="0"/>
              </a:rPr>
            </a:br>
            <a:r>
              <a:rPr lang="en-US" altLang="zh-CN" sz="2400" dirty="0">
                <a:latin typeface="Trebuchet MS" panose="020B0603020202020204" pitchFamily="34" charset="0"/>
              </a:rPr>
              <a:t>A spanning tree of a weighted graph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has the </a:t>
            </a:r>
            <a:r>
              <a:rPr lang="en-US" altLang="zh-CN" sz="2400" b="1" dirty="0">
                <a:latin typeface="Trebuchet MS" panose="020B0603020202020204" pitchFamily="34" charset="0"/>
              </a:rPr>
              <a:t>minimum total weight</a:t>
            </a:r>
            <a:r>
              <a:rPr lang="en-US" altLang="zh-CN" sz="2400" dirty="0">
                <a:latin typeface="Trebuchet MS" panose="020B0603020202020204" pitchFamily="34" charset="0"/>
              </a:rPr>
              <a:t> among all possible spanning trees.</a:t>
            </a:r>
            <a:endParaRPr lang="en-US" altLang="zh-CN" sz="2400" b="1" dirty="0">
              <a:solidFill>
                <a:srgbClr val="FF3300"/>
              </a:solidFill>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887517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0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Kruskal’s MST Algorithm – Cycle-Avoidance Approach</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27687"/>
            <a:ext cx="9877336" cy="48889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Kruskal’s Algorithm</a:t>
            </a:r>
            <a:r>
              <a:rPr lang="en-US" altLang="zh-CN" sz="2400" dirty="0">
                <a:latin typeface="Trebuchet MS" panose="020B0603020202020204" pitchFamily="34" charset="0"/>
              </a:rPr>
              <a:t> — An algorithm for </a:t>
            </a:r>
            <a:r>
              <a:rPr lang="en-US" altLang="zh-CN" sz="2400" b="1" i="1" dirty="0">
                <a:solidFill>
                  <a:srgbClr val="0B61FF"/>
                </a:solidFill>
                <a:latin typeface="Trebuchet MS" panose="020B0603020202020204" pitchFamily="34" charset="0"/>
              </a:rPr>
              <a:t>finding a minimum spanning tree</a:t>
            </a:r>
            <a:r>
              <a:rPr lang="en-US" altLang="zh-CN" sz="2400" dirty="0">
                <a:latin typeface="Trebuchet MS" panose="020B0603020202020204" pitchFamily="34" charset="0"/>
              </a:rPr>
              <a:t>. Let </a:t>
            </a:r>
            <a:r>
              <a:rPr lang="en-US" altLang="zh-CN" sz="2400" b="1" i="1" dirty="0">
                <a:latin typeface="Trebuchet MS" panose="020B0603020202020204" pitchFamily="34" charset="0"/>
              </a:rPr>
              <a:t>G</a:t>
            </a:r>
            <a:r>
              <a:rPr lang="en-US" altLang="zh-CN" sz="2400" dirty="0">
                <a:latin typeface="Trebuchet MS" panose="020B0603020202020204" pitchFamily="34" charset="0"/>
              </a:rPr>
              <a:t> be an undirected connected weighted graph of order </a:t>
            </a:r>
            <a:r>
              <a:rPr lang="en-US" altLang="zh-CN" sz="2400" b="1" i="1" dirty="0">
                <a:latin typeface="Trebuchet MS" panose="020B0603020202020204" pitchFamily="34" charset="0"/>
              </a:rPr>
              <a:t>n</a:t>
            </a:r>
            <a:r>
              <a:rPr lang="en-US" altLang="zh-CN" sz="2400" dirty="0">
                <a:latin typeface="Trebuchet MS" panose="020B0603020202020204" pitchFamily="34" charset="0"/>
              </a:rPr>
              <a:t>.</a:t>
            </a:r>
          </a:p>
          <a:p>
            <a:pPr marL="717550" indent="-450850">
              <a:lnSpc>
                <a:spcPct val="120000"/>
              </a:lnSpc>
              <a:spcBef>
                <a:spcPts val="600"/>
              </a:spcBef>
              <a:buFont typeface="Wingdings" panose="05000000000000000000" pitchFamily="2" charset="2"/>
              <a:buNone/>
              <a:defRPr/>
            </a:pPr>
            <a:r>
              <a:rPr lang="en-US" altLang="zh-CN" sz="2400" b="1" dirty="0">
                <a:solidFill>
                  <a:srgbClr val="0B61FF"/>
                </a:solidFill>
                <a:latin typeface="Trebuchet MS" panose="020B0603020202020204" pitchFamily="34" charset="0"/>
                <a:cs typeface="Times New Roman" pitchFamily="18" charset="0"/>
              </a:rPr>
              <a:t>(1) </a:t>
            </a:r>
            <a:r>
              <a:rPr lang="en-US" altLang="zh-CN" sz="2400" dirty="0">
                <a:latin typeface="Trebuchet MS" panose="020B0603020202020204" pitchFamily="34" charset="0"/>
              </a:rPr>
              <a:t>Sort all edges in non-decreasing order of weight (excluding cycles), i.e. </a:t>
            </a:r>
            <a:r>
              <a:rPr lang="en-US" altLang="zh-CN" sz="2400" b="1" i="1" dirty="0">
                <a:latin typeface="Trebuchet MS" panose="020B0603020202020204" pitchFamily="34" charset="0"/>
                <a:cs typeface="Times New Roman" pitchFamily="18" charset="0"/>
              </a:rPr>
              <a:t>W</a:t>
            </a:r>
            <a:r>
              <a:rPr lang="en-US" altLang="zh-CN" sz="2400" b="1" dirty="0">
                <a:latin typeface="Trebuchet MS" panose="020B0603020202020204" pitchFamily="34" charset="0"/>
                <a:cs typeface="Times New Roman" pitchFamily="18" charset="0"/>
              </a:rPr>
              <a:t>(</a:t>
            </a:r>
            <a:r>
              <a:rPr lang="en-US" altLang="zh-CN" sz="2400" b="1" i="1" dirty="0">
                <a:latin typeface="Trebuchet MS" panose="020B0603020202020204" pitchFamily="34" charset="0"/>
                <a:cs typeface="Times New Roman" pitchFamily="18" charset="0"/>
              </a:rPr>
              <a:t>e</a:t>
            </a:r>
            <a:r>
              <a:rPr lang="en-US" altLang="zh-CN" sz="2400" b="1" baseline="-25000" dirty="0">
                <a:latin typeface="Trebuchet MS" panose="020B0603020202020204" pitchFamily="34" charset="0"/>
                <a:cs typeface="Times New Roman" pitchFamily="18" charset="0"/>
              </a:rPr>
              <a:t>1</a:t>
            </a:r>
            <a:r>
              <a:rPr lang="en-US" altLang="zh-CN" sz="2400" b="1" dirty="0">
                <a:latin typeface="Trebuchet MS" panose="020B0603020202020204" pitchFamily="34" charset="0"/>
                <a:cs typeface="Times New Roman" pitchFamily="18" charset="0"/>
              </a:rPr>
              <a:t>)</a:t>
            </a:r>
            <a:r>
              <a:rPr lang="zh-CN" altLang="zh-CN" sz="2400" b="1" dirty="0">
                <a:latin typeface="Trebuchet MS" panose="020B0603020202020204" pitchFamily="34" charset="0"/>
                <a:cs typeface="Times New Roman" pitchFamily="18" charset="0"/>
              </a:rPr>
              <a:t>≤</a:t>
            </a:r>
            <a:r>
              <a:rPr lang="en-US" altLang="zh-CN" sz="2400" b="1" i="1" dirty="0">
                <a:latin typeface="Trebuchet MS" panose="020B0603020202020204" pitchFamily="34" charset="0"/>
                <a:cs typeface="Times New Roman" pitchFamily="18" charset="0"/>
              </a:rPr>
              <a:t>W</a:t>
            </a:r>
            <a:r>
              <a:rPr lang="en-US" altLang="zh-CN" sz="2400" b="1" dirty="0">
                <a:latin typeface="Trebuchet MS" panose="020B0603020202020204" pitchFamily="34" charset="0"/>
                <a:cs typeface="Times New Roman" pitchFamily="18" charset="0"/>
              </a:rPr>
              <a:t>(</a:t>
            </a:r>
            <a:r>
              <a:rPr lang="en-US" altLang="zh-CN" sz="2400" b="1" i="1" dirty="0">
                <a:latin typeface="Trebuchet MS" panose="020B0603020202020204" pitchFamily="34" charset="0"/>
                <a:cs typeface="Times New Roman" pitchFamily="18" charset="0"/>
              </a:rPr>
              <a:t>e</a:t>
            </a:r>
            <a:r>
              <a:rPr lang="en-US" altLang="zh-CN" sz="2400" b="1" baseline="-25000" dirty="0">
                <a:latin typeface="Trebuchet MS" panose="020B0603020202020204" pitchFamily="34" charset="0"/>
                <a:cs typeface="Times New Roman" pitchFamily="18" charset="0"/>
              </a:rPr>
              <a:t>2</a:t>
            </a:r>
            <a:r>
              <a:rPr lang="en-US" altLang="zh-CN" sz="2400" b="1" dirty="0">
                <a:latin typeface="Trebuchet MS" panose="020B0603020202020204" pitchFamily="34" charset="0"/>
                <a:cs typeface="Times New Roman" pitchFamily="18" charset="0"/>
              </a:rPr>
              <a:t>)</a:t>
            </a:r>
            <a:r>
              <a:rPr lang="zh-CN" altLang="zh-CN" sz="2400" b="1" dirty="0">
                <a:latin typeface="Trebuchet MS" panose="020B0603020202020204" pitchFamily="34" charset="0"/>
                <a:cs typeface="Times New Roman" pitchFamily="18" charset="0"/>
              </a:rPr>
              <a:t>≤…≤</a:t>
            </a:r>
            <a:r>
              <a:rPr lang="en-US" altLang="zh-CN" sz="2400" b="1" i="1" dirty="0">
                <a:latin typeface="Trebuchet MS" panose="020B0603020202020204" pitchFamily="34" charset="0"/>
                <a:cs typeface="Times New Roman" pitchFamily="18" charset="0"/>
              </a:rPr>
              <a:t>W</a:t>
            </a:r>
            <a:r>
              <a:rPr lang="en-US" altLang="zh-CN" sz="2400" b="1" dirty="0">
                <a:latin typeface="Trebuchet MS" panose="020B0603020202020204" pitchFamily="34" charset="0"/>
                <a:cs typeface="Times New Roman" pitchFamily="18" charset="0"/>
              </a:rPr>
              <a:t>(</a:t>
            </a:r>
            <a:r>
              <a:rPr lang="en-US" altLang="zh-CN" sz="2400" b="1" i="1" dirty="0" err="1">
                <a:latin typeface="Trebuchet MS" panose="020B0603020202020204" pitchFamily="34" charset="0"/>
                <a:cs typeface="Times New Roman" pitchFamily="18" charset="0"/>
              </a:rPr>
              <a:t>e</a:t>
            </a:r>
            <a:r>
              <a:rPr lang="en-US" altLang="zh-CN" sz="2400" b="1" i="1" baseline="-25000" dirty="0" err="1">
                <a:latin typeface="Trebuchet MS" panose="020B0603020202020204" pitchFamily="34" charset="0"/>
                <a:cs typeface="Times New Roman" pitchFamily="18" charset="0"/>
              </a:rPr>
              <a:t>m</a:t>
            </a:r>
            <a:r>
              <a:rPr lang="en-US" altLang="zh-CN" sz="2400" b="1" dirty="0">
                <a:latin typeface="Trebuchet MS" panose="020B0603020202020204" pitchFamily="34" charset="0"/>
                <a:cs typeface="Times New Roman" pitchFamily="18" charset="0"/>
              </a:rPr>
              <a:t>).</a:t>
            </a:r>
          </a:p>
          <a:p>
            <a:pPr marL="717550" indent="-450850">
              <a:lnSpc>
                <a:spcPct val="120000"/>
              </a:lnSpc>
              <a:spcBef>
                <a:spcPts val="600"/>
              </a:spcBef>
              <a:buFont typeface="Wingdings" panose="05000000000000000000" pitchFamily="2" charset="2"/>
              <a:buNone/>
              <a:defRPr/>
            </a:pPr>
            <a:r>
              <a:rPr lang="en-US" altLang="zh-CN" sz="2400" b="1" dirty="0">
                <a:solidFill>
                  <a:srgbClr val="0B61FF"/>
                </a:solidFill>
                <a:latin typeface="Trebuchet MS" panose="020B0603020202020204" pitchFamily="34" charset="0"/>
                <a:cs typeface="Times New Roman" pitchFamily="18" charset="0"/>
              </a:rPr>
              <a:t>(2) </a:t>
            </a:r>
            <a:r>
              <a:rPr lang="en-US" altLang="zh-CN" sz="2400" dirty="0">
                <a:latin typeface="Trebuchet MS" panose="020B0603020202020204" pitchFamily="34" charset="0"/>
              </a:rPr>
              <a:t>Initialize </a:t>
            </a:r>
            <a:r>
              <a:rPr lang="en-US" altLang="zh-CN" sz="2400" b="1" i="1" dirty="0">
                <a:latin typeface="Trebuchet MS" panose="020B0603020202020204" pitchFamily="34" charset="0"/>
                <a:cs typeface="Times New Roman" pitchFamily="18" charset="0"/>
              </a:rPr>
              <a:t>T</a:t>
            </a:r>
            <a:r>
              <a:rPr lang="en-US" altLang="zh-CN" sz="2400" b="1" dirty="0">
                <a:latin typeface="Trebuchet MS" panose="020B0603020202020204" pitchFamily="34" charset="0"/>
                <a:cs typeface="Times New Roman" pitchFamily="18" charset="0"/>
                <a:sym typeface="Symbol"/>
              </a:rPr>
              <a:t></a:t>
            </a:r>
            <a:r>
              <a:rPr lang="en-US" altLang="zh-CN" sz="2400" b="1" dirty="0">
                <a:latin typeface="Trebuchet MS" panose="020B0603020202020204" pitchFamily="34" charset="0"/>
                <a:cs typeface="Times New Roman" pitchFamily="18" charset="0"/>
              </a:rPr>
              <a:t>, </a:t>
            </a:r>
            <a:r>
              <a:rPr lang="en-US" altLang="zh-CN" sz="2400" b="1" i="1" dirty="0">
                <a:latin typeface="Trebuchet MS" panose="020B0603020202020204" pitchFamily="34" charset="0"/>
                <a:cs typeface="Times New Roman" pitchFamily="18" charset="0"/>
              </a:rPr>
              <a:t>i</a:t>
            </a:r>
            <a:r>
              <a:rPr lang="en-US" altLang="zh-CN" sz="2400" b="1" dirty="0">
                <a:latin typeface="Trebuchet MS" panose="020B0603020202020204" pitchFamily="34" charset="0"/>
                <a:cs typeface="Times New Roman" pitchFamily="18" charset="0"/>
                <a:sym typeface="Symbol"/>
              </a:rPr>
              <a:t></a:t>
            </a:r>
            <a:r>
              <a:rPr lang="en-US" altLang="zh-CN" sz="2400" b="1" dirty="0">
                <a:latin typeface="Trebuchet MS" panose="020B0603020202020204" pitchFamily="34" charset="0"/>
                <a:cs typeface="Times New Roman" pitchFamily="18" charset="0"/>
              </a:rPr>
              <a:t>1, </a:t>
            </a:r>
            <a:r>
              <a:rPr lang="en-US" altLang="zh-CN" sz="2400" b="1" i="1" dirty="0">
                <a:latin typeface="Trebuchet MS" panose="020B0603020202020204" pitchFamily="34" charset="0"/>
                <a:cs typeface="Times New Roman" pitchFamily="18" charset="0"/>
              </a:rPr>
              <a:t>k</a:t>
            </a:r>
            <a:r>
              <a:rPr lang="en-US" altLang="zh-CN" sz="2400" b="1" dirty="0">
                <a:latin typeface="Trebuchet MS" panose="020B0603020202020204" pitchFamily="34" charset="0"/>
                <a:cs typeface="Times New Roman" pitchFamily="18" charset="0"/>
                <a:sym typeface="Symbol"/>
              </a:rPr>
              <a:t></a:t>
            </a:r>
            <a:r>
              <a:rPr lang="en-US" altLang="zh-CN" sz="2400" b="1" dirty="0">
                <a:latin typeface="Trebuchet MS" panose="020B0603020202020204" pitchFamily="34" charset="0"/>
                <a:cs typeface="Times New Roman" pitchFamily="18" charset="0"/>
              </a:rPr>
              <a:t>0.</a:t>
            </a:r>
          </a:p>
          <a:p>
            <a:pPr marL="717550" indent="-450850">
              <a:lnSpc>
                <a:spcPct val="120000"/>
              </a:lnSpc>
              <a:spcBef>
                <a:spcPts val="600"/>
              </a:spcBef>
              <a:buFont typeface="Wingdings" panose="05000000000000000000" pitchFamily="2" charset="2"/>
              <a:buNone/>
              <a:defRPr/>
            </a:pPr>
            <a:r>
              <a:rPr lang="en-US" altLang="zh-CN" sz="2400" b="1" dirty="0">
                <a:solidFill>
                  <a:srgbClr val="0B61FF"/>
                </a:solidFill>
                <a:latin typeface="Trebuchet MS" panose="020B0603020202020204" pitchFamily="34" charset="0"/>
                <a:cs typeface="Times New Roman" pitchFamily="18" charset="0"/>
              </a:rPr>
              <a:t>(3)</a:t>
            </a:r>
            <a:r>
              <a:rPr lang="en-US" altLang="zh-CN" sz="2400" b="1" dirty="0">
                <a:latin typeface="Trebuchet MS" panose="020B0603020202020204" pitchFamily="34" charset="0"/>
                <a:cs typeface="Times New Roman" pitchFamily="18" charset="0"/>
              </a:rPr>
              <a:t> </a:t>
            </a:r>
            <a:r>
              <a:rPr lang="en-US" altLang="zh-CN" sz="2400" dirty="0">
                <a:latin typeface="Trebuchet MS" panose="020B0603020202020204" pitchFamily="34" charset="0"/>
                <a:cs typeface="Times New Roman" pitchFamily="18" charset="0"/>
              </a:rPr>
              <a:t>If</a:t>
            </a:r>
            <a:r>
              <a:rPr lang="en-US" altLang="zh-CN" sz="2400" b="1" dirty="0">
                <a:latin typeface="Trebuchet MS" panose="020B0603020202020204" pitchFamily="34" charset="0"/>
                <a:cs typeface="Times New Roman" pitchFamily="18" charset="0"/>
              </a:rPr>
              <a:t> </a:t>
            </a:r>
            <a:r>
              <a:rPr lang="en-US" altLang="zh-CN" sz="2400" b="1" i="1" dirty="0" err="1">
                <a:latin typeface="Trebuchet MS" panose="020B0603020202020204" pitchFamily="34" charset="0"/>
                <a:cs typeface="Times New Roman" pitchFamily="18" charset="0"/>
              </a:rPr>
              <a:t>e</a:t>
            </a:r>
            <a:r>
              <a:rPr lang="en-US" altLang="zh-CN" sz="2400" b="1" i="1" baseline="-25000" dirty="0" err="1">
                <a:latin typeface="Trebuchet MS" panose="020B0603020202020204" pitchFamily="34" charset="0"/>
                <a:cs typeface="Times New Roman" pitchFamily="18" charset="0"/>
              </a:rPr>
              <a:t>i</a:t>
            </a:r>
            <a:r>
              <a:rPr lang="en-US" altLang="zh-CN" sz="2400" b="1" i="1" baseline="-25000" dirty="0">
                <a:latin typeface="Trebuchet MS" panose="020B0603020202020204" pitchFamily="34" charset="0"/>
                <a:cs typeface="Times New Roman" pitchFamily="18" charset="0"/>
              </a:rPr>
              <a:t> </a:t>
            </a:r>
            <a:r>
              <a:rPr lang="en-US" altLang="zh-CN" sz="2400" dirty="0">
                <a:latin typeface="Trebuchet MS" panose="020B0603020202020204" pitchFamily="34" charset="0"/>
              </a:rPr>
              <a:t>does not form a cycle with the edges already in </a:t>
            </a:r>
            <a:r>
              <a:rPr lang="en-US" altLang="zh-CN" sz="2400" b="1" i="1" dirty="0">
                <a:latin typeface="Trebuchet MS" panose="020B0603020202020204" pitchFamily="34" charset="0"/>
                <a:cs typeface="Times New Roman" pitchFamily="18" charset="0"/>
              </a:rPr>
              <a:t>T</a:t>
            </a:r>
            <a:r>
              <a:rPr lang="zh-CN" altLang="zh-CN" sz="2400" b="1" dirty="0">
                <a:latin typeface="Trebuchet MS" panose="020B0603020202020204" pitchFamily="34" charset="0"/>
                <a:cs typeface="Times New Roman" pitchFamily="18" charset="0"/>
              </a:rPr>
              <a:t>，</a:t>
            </a:r>
            <a:r>
              <a:rPr lang="en-US" altLang="zh-CN" sz="2400" dirty="0">
                <a:latin typeface="Trebuchet MS" panose="020B0603020202020204" pitchFamily="34" charset="0"/>
              </a:rPr>
              <a:t> then set </a:t>
            </a:r>
            <a:r>
              <a:rPr lang="en-US" altLang="zh-CN" sz="2400" b="1" i="1" dirty="0">
                <a:latin typeface="Trebuchet MS" panose="020B0603020202020204" pitchFamily="34" charset="0"/>
                <a:cs typeface="Times New Roman" pitchFamily="18" charset="0"/>
              </a:rPr>
              <a:t>T</a:t>
            </a:r>
            <a:r>
              <a:rPr lang="en-US" altLang="zh-CN" sz="2400" b="1" dirty="0">
                <a:latin typeface="Trebuchet MS" panose="020B0603020202020204" pitchFamily="34" charset="0"/>
                <a:cs typeface="Times New Roman" pitchFamily="18" charset="0"/>
                <a:sym typeface="Symbol"/>
              </a:rPr>
              <a:t></a:t>
            </a:r>
            <a:r>
              <a:rPr lang="en-US" altLang="zh-CN" sz="2400" b="1" i="1" dirty="0">
                <a:latin typeface="Trebuchet MS" panose="020B0603020202020204" pitchFamily="34" charset="0"/>
                <a:cs typeface="Times New Roman" pitchFamily="18" charset="0"/>
              </a:rPr>
              <a:t>T</a:t>
            </a:r>
            <a:r>
              <a:rPr lang="en-US" altLang="zh-CN" sz="2400" b="1" dirty="0">
                <a:latin typeface="Trebuchet MS" panose="020B0603020202020204" pitchFamily="34" charset="0"/>
                <a:cs typeface="Times New Roman" pitchFamily="18" charset="0"/>
                <a:sym typeface="Symbol"/>
              </a:rPr>
              <a:t></a:t>
            </a:r>
            <a:r>
              <a:rPr lang="en-US" altLang="zh-CN" sz="2400" b="1" dirty="0">
                <a:latin typeface="Trebuchet MS" panose="020B0603020202020204" pitchFamily="34" charset="0"/>
                <a:cs typeface="Times New Roman" pitchFamily="18" charset="0"/>
              </a:rPr>
              <a:t>{</a:t>
            </a:r>
            <a:r>
              <a:rPr lang="en-US" altLang="zh-CN" sz="2400" b="1" i="1" dirty="0" err="1">
                <a:latin typeface="Trebuchet MS" panose="020B0603020202020204" pitchFamily="34" charset="0"/>
                <a:cs typeface="Times New Roman" pitchFamily="18" charset="0"/>
              </a:rPr>
              <a:t>e</a:t>
            </a:r>
            <a:r>
              <a:rPr lang="en-US" altLang="zh-CN" sz="2400" b="1" i="1" baseline="-25000" dirty="0" err="1">
                <a:latin typeface="Trebuchet MS" panose="020B0603020202020204" pitchFamily="34" charset="0"/>
                <a:cs typeface="Times New Roman" pitchFamily="18" charset="0"/>
              </a:rPr>
              <a:t>i</a:t>
            </a:r>
            <a:r>
              <a:rPr lang="en-US" altLang="zh-CN" sz="2400" b="1" dirty="0">
                <a:latin typeface="Trebuchet MS" panose="020B0603020202020204" pitchFamily="34" charset="0"/>
                <a:cs typeface="Times New Roman" pitchFamily="18" charset="0"/>
              </a:rPr>
              <a:t>}, </a:t>
            </a:r>
            <a:r>
              <a:rPr lang="en-US" altLang="zh-CN" sz="2400" b="1" i="1" dirty="0">
                <a:latin typeface="Trebuchet MS" panose="020B0603020202020204" pitchFamily="34" charset="0"/>
                <a:cs typeface="Times New Roman" pitchFamily="18" charset="0"/>
              </a:rPr>
              <a:t>k</a:t>
            </a:r>
            <a:r>
              <a:rPr lang="en-US" altLang="zh-CN" sz="2400" b="1" dirty="0">
                <a:latin typeface="Trebuchet MS" panose="020B0603020202020204" pitchFamily="34" charset="0"/>
                <a:cs typeface="Times New Roman" pitchFamily="18" charset="0"/>
                <a:sym typeface="Symbol"/>
              </a:rPr>
              <a:t></a:t>
            </a:r>
            <a:r>
              <a:rPr lang="en-US" altLang="zh-CN" sz="2400" b="1" i="1" dirty="0">
                <a:latin typeface="Trebuchet MS" panose="020B0603020202020204" pitchFamily="34" charset="0"/>
                <a:cs typeface="Times New Roman" pitchFamily="18" charset="0"/>
              </a:rPr>
              <a:t>k</a:t>
            </a:r>
            <a:r>
              <a:rPr lang="en-US" altLang="zh-CN" sz="2400" b="1" dirty="0">
                <a:latin typeface="Trebuchet MS" panose="020B0603020202020204" pitchFamily="34" charset="0"/>
                <a:cs typeface="Times New Roman" pitchFamily="18" charset="0"/>
              </a:rPr>
              <a:t>+1.  </a:t>
            </a:r>
          </a:p>
          <a:p>
            <a:pPr marL="717550" indent="-450850">
              <a:lnSpc>
                <a:spcPct val="120000"/>
              </a:lnSpc>
              <a:spcBef>
                <a:spcPts val="600"/>
              </a:spcBef>
              <a:buFont typeface="Wingdings" panose="05000000000000000000" pitchFamily="2" charset="2"/>
              <a:buNone/>
              <a:defRPr/>
            </a:pPr>
            <a:r>
              <a:rPr lang="en-US" altLang="zh-CN" sz="2400" b="1" dirty="0">
                <a:solidFill>
                  <a:srgbClr val="0B61FF"/>
                </a:solidFill>
                <a:latin typeface="Trebuchet MS" panose="020B0603020202020204" pitchFamily="34" charset="0"/>
                <a:cs typeface="Times New Roman" pitchFamily="18" charset="0"/>
              </a:rPr>
              <a:t>(4) </a:t>
            </a:r>
            <a:r>
              <a:rPr lang="en-US" altLang="zh-CN" sz="2400" dirty="0">
                <a:latin typeface="Trebuchet MS" panose="020B0603020202020204" pitchFamily="34" charset="0"/>
                <a:cs typeface="Times New Roman" pitchFamily="18" charset="0"/>
              </a:rPr>
              <a:t>If</a:t>
            </a:r>
            <a:r>
              <a:rPr lang="en-US" altLang="zh-CN" sz="2400" b="1" dirty="0">
                <a:latin typeface="Trebuchet MS" panose="020B0603020202020204" pitchFamily="34" charset="0"/>
                <a:cs typeface="Times New Roman" pitchFamily="18" charset="0"/>
              </a:rPr>
              <a:t> </a:t>
            </a:r>
            <a:r>
              <a:rPr lang="en-US" altLang="zh-CN" sz="2400" b="1" i="1" dirty="0">
                <a:latin typeface="Trebuchet MS" panose="020B0603020202020204" pitchFamily="34" charset="0"/>
                <a:cs typeface="Times New Roman" pitchFamily="18" charset="0"/>
              </a:rPr>
              <a:t>k</a:t>
            </a:r>
            <a:r>
              <a:rPr lang="en-US" altLang="zh-CN" sz="2400" b="1" dirty="0">
                <a:latin typeface="Trebuchet MS" panose="020B0603020202020204" pitchFamily="34" charset="0"/>
                <a:cs typeface="Times New Roman" pitchFamily="18" charset="0"/>
              </a:rPr>
              <a:t>&lt;</a:t>
            </a:r>
            <a:r>
              <a:rPr lang="en-US" altLang="zh-CN" sz="2400" b="1" i="1" dirty="0">
                <a:latin typeface="Trebuchet MS" panose="020B0603020202020204" pitchFamily="34" charset="0"/>
                <a:cs typeface="Times New Roman" pitchFamily="18" charset="0"/>
              </a:rPr>
              <a:t>n</a:t>
            </a:r>
            <a:r>
              <a:rPr lang="en-US" altLang="zh-CN" sz="2400" b="1" dirty="0">
                <a:latin typeface="Trebuchet MS" panose="020B0603020202020204" pitchFamily="34" charset="0"/>
                <a:cs typeface="Times New Roman" pitchFamily="18" charset="0"/>
              </a:rPr>
              <a:t>-1, </a:t>
            </a:r>
            <a:r>
              <a:rPr lang="en-US" altLang="zh-CN" sz="2400" dirty="0">
                <a:latin typeface="Trebuchet MS" panose="020B0603020202020204" pitchFamily="34" charset="0"/>
              </a:rPr>
              <a:t>then set </a:t>
            </a:r>
            <a:r>
              <a:rPr lang="en-US" altLang="zh-CN" sz="2400" b="1" i="1" dirty="0">
                <a:latin typeface="Trebuchet MS" panose="020B0603020202020204" pitchFamily="34" charset="0"/>
                <a:cs typeface="Times New Roman" pitchFamily="18" charset="0"/>
              </a:rPr>
              <a:t>i</a:t>
            </a:r>
            <a:r>
              <a:rPr lang="en-US" altLang="zh-CN" sz="2400" b="1" dirty="0">
                <a:latin typeface="Trebuchet MS" panose="020B0603020202020204" pitchFamily="34" charset="0"/>
                <a:cs typeface="Times New Roman" pitchFamily="18" charset="0"/>
                <a:sym typeface="Symbol"/>
              </a:rPr>
              <a:t></a:t>
            </a:r>
            <a:r>
              <a:rPr lang="en-US" altLang="zh-CN" sz="2400" b="1" i="1" dirty="0">
                <a:latin typeface="Trebuchet MS" panose="020B0603020202020204" pitchFamily="34" charset="0"/>
                <a:cs typeface="Times New Roman" pitchFamily="18" charset="0"/>
              </a:rPr>
              <a:t>i</a:t>
            </a:r>
            <a:r>
              <a:rPr lang="en-US" altLang="zh-CN" sz="2400" b="1" dirty="0">
                <a:latin typeface="Trebuchet MS" panose="020B0603020202020204" pitchFamily="34" charset="0"/>
                <a:cs typeface="Times New Roman" pitchFamily="18" charset="0"/>
              </a:rPr>
              <a:t>+1, </a:t>
            </a:r>
            <a:r>
              <a:rPr lang="en-US" altLang="zh-CN" sz="2400" dirty="0">
                <a:latin typeface="Trebuchet MS" panose="020B0603020202020204" pitchFamily="34" charset="0"/>
              </a:rPr>
              <a:t>and repeat step </a:t>
            </a:r>
            <a:r>
              <a:rPr lang="en-US" altLang="zh-CN" sz="2400" b="1" dirty="0">
                <a:solidFill>
                  <a:srgbClr val="0B61FF"/>
                </a:solidFill>
                <a:latin typeface="Trebuchet MS" panose="020B0603020202020204" pitchFamily="34" charset="0"/>
                <a:cs typeface="Times New Roman" pitchFamily="18" charset="0"/>
              </a:rPr>
              <a:t>(3)</a:t>
            </a:r>
            <a:r>
              <a:rPr lang="en-US" altLang="zh-CN" sz="2400" b="1" dirty="0">
                <a:latin typeface="Trebuchet MS" panose="020B0603020202020204" pitchFamily="34" charset="0"/>
                <a:cs typeface="Times New Roman" pitchFamily="18" charset="0"/>
              </a:rPr>
              <a:t>.</a:t>
            </a:r>
            <a:endParaRPr lang="en-US" altLang="zh-CN" sz="2400" b="1" dirty="0">
              <a:solidFill>
                <a:srgbClr val="FF3300"/>
              </a:solidFill>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17468397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0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Kruskal’s MST Algorithm – Cycle-Avoidance Approach(</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27687"/>
            <a:ext cx="9877336" cy="48889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dirty="0">
                <a:latin typeface="Trebuchet MS" panose="020B0603020202020204" pitchFamily="34" charset="0"/>
              </a:rPr>
              <a:t> Find a minimum spanning tree of the graph.</a:t>
            </a:r>
          </a:p>
          <a:p>
            <a:pPr>
              <a:buClr>
                <a:srgbClr val="0B61FF"/>
              </a:buClr>
              <a:buSzPct val="80000"/>
              <a:buFont typeface="Wingdings" panose="05000000000000000000" pitchFamily="2" charset="2"/>
              <a:buChar char="n"/>
            </a:pPr>
            <a:endParaRPr lang="en-US" altLang="zh-CN" sz="2400" dirty="0">
              <a:latin typeface="Trebuchet MS" panose="020B0603020202020204" pitchFamily="34" charset="0"/>
            </a:endParaRPr>
          </a:p>
        </p:txBody>
      </p:sp>
      <p:sp>
        <p:nvSpPr>
          <p:cNvPr id="9" name="Text Box 4">
            <a:extLst>
              <a:ext uri="{FF2B5EF4-FFF2-40B4-BE49-F238E27FC236}">
                <a16:creationId xmlns:a16="http://schemas.microsoft.com/office/drawing/2014/main" id="{BA9A33DA-C165-4BA8-8B5A-6FB59D6D2837}"/>
              </a:ext>
            </a:extLst>
          </p:cNvPr>
          <p:cNvSpPr txBox="1">
            <a:spLocks noChangeArrowheads="1"/>
          </p:cNvSpPr>
          <p:nvPr/>
        </p:nvSpPr>
        <p:spPr bwMode="auto">
          <a:xfrm>
            <a:off x="4550229" y="477882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a:t>W</a:t>
            </a:r>
            <a:r>
              <a:rPr kumimoji="0" lang="en-US" altLang="zh-CN" sz="2400" b="1"/>
              <a:t>(</a:t>
            </a:r>
            <a:r>
              <a:rPr kumimoji="0" lang="en-US" altLang="zh-CN" sz="2400" b="1" i="1"/>
              <a:t>T</a:t>
            </a:r>
            <a:r>
              <a:rPr kumimoji="0" lang="en-US" altLang="zh-CN" sz="2400" b="1"/>
              <a:t>)=38</a:t>
            </a:r>
          </a:p>
        </p:txBody>
      </p:sp>
      <p:pic>
        <p:nvPicPr>
          <p:cNvPr id="10" name="Picture 12" descr="E:\插图\离散\16-6.tif">
            <a:extLst>
              <a:ext uri="{FF2B5EF4-FFF2-40B4-BE49-F238E27FC236}">
                <a16:creationId xmlns:a16="http://schemas.microsoft.com/office/drawing/2014/main" id="{E95047A4-72B2-453B-ABAF-D7C2441513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3" descr="E:\插图\离散\16-6(1).tif">
            <a:extLst>
              <a:ext uri="{FF2B5EF4-FFF2-40B4-BE49-F238E27FC236}">
                <a16:creationId xmlns:a16="http://schemas.microsoft.com/office/drawing/2014/main" id="{71590FF5-7827-4CB8-A4A9-EC17495562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4" descr="E:\插图\离散\16-6(2).tif">
            <a:extLst>
              <a:ext uri="{FF2B5EF4-FFF2-40B4-BE49-F238E27FC236}">
                <a16:creationId xmlns:a16="http://schemas.microsoft.com/office/drawing/2014/main" id="{B8275564-309C-4BCC-886C-77D60758B4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 descr="E:\插图\离散\16-6(3).tif">
            <a:extLst>
              <a:ext uri="{FF2B5EF4-FFF2-40B4-BE49-F238E27FC236}">
                <a16:creationId xmlns:a16="http://schemas.microsoft.com/office/drawing/2014/main" id="{9FE3D55B-8B2C-459E-9404-E481C1D1C6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6" descr="E:\插图\离散\16-6(4).tif">
            <a:extLst>
              <a:ext uri="{FF2B5EF4-FFF2-40B4-BE49-F238E27FC236}">
                <a16:creationId xmlns:a16="http://schemas.microsoft.com/office/drawing/2014/main" id="{E3A28FCE-F950-4D8E-9A64-74E0EB7AF6F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7" descr="E:\插图\离散\16-6(5).tif">
            <a:extLst>
              <a:ext uri="{FF2B5EF4-FFF2-40B4-BE49-F238E27FC236}">
                <a16:creationId xmlns:a16="http://schemas.microsoft.com/office/drawing/2014/main" id="{E60E050C-95B4-434E-98EB-51D5308B10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8" descr="E:\插图\离散\16-6(6).tif">
            <a:extLst>
              <a:ext uri="{FF2B5EF4-FFF2-40B4-BE49-F238E27FC236}">
                <a16:creationId xmlns:a16="http://schemas.microsoft.com/office/drawing/2014/main" id="{A814B77F-756E-4DF4-B774-95339682608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9" descr="E:\插图\离散\16-6(7).tif">
            <a:extLst>
              <a:ext uri="{FF2B5EF4-FFF2-40B4-BE49-F238E27FC236}">
                <a16:creationId xmlns:a16="http://schemas.microsoft.com/office/drawing/2014/main" id="{34037BE8-93D3-4F45-BB0A-D29E1B5B613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117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7.1.2 Spanning Trees</a:t>
            </a:r>
          </a:p>
          <a:p>
            <a:pPr>
              <a:lnSpc>
                <a:spcPct val="110000"/>
              </a:lnSpc>
              <a:buClr>
                <a:srgbClr val="0B61FF"/>
              </a:buClr>
              <a:buSzPct val="80000"/>
            </a:pPr>
            <a:r>
              <a:rPr lang="en-US" altLang="zh-CN"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Kruskal’s MST Algorithm – Cycle-Avoidance Approach(</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30000"/>
              </a:spcBef>
              <a:buFontTx/>
              <a:buNone/>
            </a:pPr>
            <a:endParaRPr lang="en-US" altLang="zh-CN" sz="2800" b="1" dirty="0">
              <a:solidFill>
                <a:srgbClr val="FF3300"/>
              </a:solidFill>
            </a:endParaRPr>
          </a:p>
        </p:txBody>
      </p:sp>
      <p:sp>
        <p:nvSpPr>
          <p:cNvPr id="23" name="Rectangle 3">
            <a:extLst>
              <a:ext uri="{FF2B5EF4-FFF2-40B4-BE49-F238E27FC236}">
                <a16:creationId xmlns:a16="http://schemas.microsoft.com/office/drawing/2014/main" id="{C3BDE044-78E6-4D0B-8BA5-4184679F8443}"/>
              </a:ext>
            </a:extLst>
          </p:cNvPr>
          <p:cNvSpPr txBox="1">
            <a:spLocks noChangeArrowheads="1"/>
          </p:cNvSpPr>
          <p:nvPr/>
        </p:nvSpPr>
        <p:spPr>
          <a:xfrm>
            <a:off x="725831" y="763436"/>
            <a:ext cx="6378191" cy="55358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dirty="0">
                <a:latin typeface="Trebuchet MS" panose="020B0603020202020204" pitchFamily="34" charset="0"/>
              </a:rPr>
              <a:t> A telecommunications company has a </a:t>
            </a:r>
            <a:r>
              <a:rPr lang="en-US" altLang="zh-CN" sz="2400" b="1" i="1" dirty="0">
                <a:solidFill>
                  <a:srgbClr val="0B61FF"/>
                </a:solidFill>
                <a:latin typeface="Trebuchet MS" panose="020B0603020202020204" pitchFamily="34" charset="0"/>
              </a:rPr>
              <a:t>fiber-optic network </a:t>
            </a:r>
            <a:r>
              <a:rPr lang="en-US" altLang="zh-CN" sz="2400" dirty="0">
                <a:latin typeface="Trebuchet MS" panose="020B0603020202020204" pitchFamily="34" charset="0"/>
              </a:rPr>
              <a:t>coverage requirement as shown in the figure. The possible cable routes between buildings and their lengths (in meters) are given in the diagram.</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Question:</a:t>
            </a:r>
            <a:r>
              <a:rPr lang="en-US" altLang="zh-CN" sz="2400" dirty="0">
                <a:latin typeface="Trebuchet MS" panose="020B0603020202020204" pitchFamily="34" charset="0"/>
              </a:rPr>
              <a:t> Under the condition that the entire network must be connected, how should the cable routes be selected to ensure that the </a:t>
            </a:r>
            <a:r>
              <a:rPr lang="en-US" altLang="zh-CN" sz="2400" b="1" i="1" dirty="0">
                <a:solidFill>
                  <a:srgbClr val="0B61FF"/>
                </a:solidFill>
                <a:latin typeface="Trebuchet MS" panose="020B0603020202020204" pitchFamily="34" charset="0"/>
              </a:rPr>
              <a:t>total cable length is minimized</a:t>
            </a:r>
            <a:r>
              <a:rPr lang="en-US" altLang="zh-CN" sz="2400" dirty="0">
                <a:latin typeface="Trebuchet MS" panose="020B0603020202020204" pitchFamily="34" charset="0"/>
              </a:rPr>
              <a:t>?</a:t>
            </a:r>
          </a:p>
          <a:p>
            <a:pPr>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a:t>
            </a:r>
            <a:endParaRPr lang="en-US" altLang="zh-CN" sz="2400" dirty="0">
              <a:latin typeface="Trebuchet MS" panose="020B0603020202020204" pitchFamily="34" charset="0"/>
            </a:endParaRPr>
          </a:p>
        </p:txBody>
      </p:sp>
      <p:grpSp>
        <p:nvGrpSpPr>
          <p:cNvPr id="24" name="组合 107">
            <a:extLst>
              <a:ext uri="{FF2B5EF4-FFF2-40B4-BE49-F238E27FC236}">
                <a16:creationId xmlns:a16="http://schemas.microsoft.com/office/drawing/2014/main" id="{604D362C-7DB6-4FCE-B0EC-BCDC17426856}"/>
              </a:ext>
            </a:extLst>
          </p:cNvPr>
          <p:cNvGrpSpPr>
            <a:grpSpLocks/>
          </p:cNvGrpSpPr>
          <p:nvPr/>
        </p:nvGrpSpPr>
        <p:grpSpPr bwMode="auto">
          <a:xfrm>
            <a:off x="7104022" y="1671466"/>
            <a:ext cx="4000501" cy="2428877"/>
            <a:chOff x="2357428" y="3143245"/>
            <a:chExt cx="4000538" cy="2428891"/>
          </a:xfrm>
        </p:grpSpPr>
        <p:grpSp>
          <p:nvGrpSpPr>
            <p:cNvPr id="25" name="组合 61">
              <a:extLst>
                <a:ext uri="{FF2B5EF4-FFF2-40B4-BE49-F238E27FC236}">
                  <a16:creationId xmlns:a16="http://schemas.microsoft.com/office/drawing/2014/main" id="{9793CF9E-0216-4138-8140-6D4D1DF039B7}"/>
                </a:ext>
              </a:extLst>
            </p:cNvPr>
            <p:cNvGrpSpPr>
              <a:grpSpLocks/>
            </p:cNvGrpSpPr>
            <p:nvPr/>
          </p:nvGrpSpPr>
          <p:grpSpPr bwMode="auto">
            <a:xfrm>
              <a:off x="2700920" y="3428996"/>
              <a:ext cx="3156977" cy="1856185"/>
              <a:chOff x="2700914" y="3429000"/>
              <a:chExt cx="3156970" cy="1856187"/>
            </a:xfrm>
          </p:grpSpPr>
          <p:cxnSp>
            <p:nvCxnSpPr>
              <p:cNvPr id="50" name="AutoShape 3">
                <a:extLst>
                  <a:ext uri="{FF2B5EF4-FFF2-40B4-BE49-F238E27FC236}">
                    <a16:creationId xmlns:a16="http://schemas.microsoft.com/office/drawing/2014/main" id="{3C798D77-9BDE-4A06-9249-C893985985EF}"/>
                  </a:ext>
                </a:extLst>
              </p:cNvPr>
              <p:cNvCxnSpPr>
                <a:cxnSpLocks noChangeShapeType="1"/>
              </p:cNvCxnSpPr>
              <p:nvPr/>
            </p:nvCxnSpPr>
            <p:spPr bwMode="auto">
              <a:xfrm flipV="1">
                <a:off x="2731164" y="3668948"/>
                <a:ext cx="782220" cy="73725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1" name="AutoShape 4">
                <a:extLst>
                  <a:ext uri="{FF2B5EF4-FFF2-40B4-BE49-F238E27FC236}">
                    <a16:creationId xmlns:a16="http://schemas.microsoft.com/office/drawing/2014/main" id="{38E52B38-8DAC-4974-9644-FF37D98B55CA}"/>
                  </a:ext>
                </a:extLst>
              </p:cNvPr>
              <p:cNvCxnSpPr>
                <a:cxnSpLocks noChangeShapeType="1"/>
              </p:cNvCxnSpPr>
              <p:nvPr/>
            </p:nvCxnSpPr>
            <p:spPr bwMode="auto">
              <a:xfrm>
                <a:off x="2731164" y="4406202"/>
                <a:ext cx="782220" cy="83547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2" name="AutoShape 5">
                <a:extLst>
                  <a:ext uri="{FF2B5EF4-FFF2-40B4-BE49-F238E27FC236}">
                    <a16:creationId xmlns:a16="http://schemas.microsoft.com/office/drawing/2014/main" id="{037D1B36-CBC4-442F-909E-012978158DE2}"/>
                  </a:ext>
                </a:extLst>
              </p:cNvPr>
              <p:cNvCxnSpPr>
                <a:cxnSpLocks noChangeShapeType="1"/>
              </p:cNvCxnSpPr>
              <p:nvPr/>
            </p:nvCxnSpPr>
            <p:spPr bwMode="auto">
              <a:xfrm>
                <a:off x="3513385" y="3668948"/>
                <a:ext cx="0" cy="157272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3" name="AutoShape 6">
                <a:extLst>
                  <a:ext uri="{FF2B5EF4-FFF2-40B4-BE49-F238E27FC236}">
                    <a16:creationId xmlns:a16="http://schemas.microsoft.com/office/drawing/2014/main" id="{5DBE3E9F-51D5-4894-A416-C8D790BB0C8D}"/>
                  </a:ext>
                </a:extLst>
              </p:cNvPr>
              <p:cNvCxnSpPr>
                <a:cxnSpLocks noChangeShapeType="1"/>
              </p:cNvCxnSpPr>
              <p:nvPr/>
            </p:nvCxnSpPr>
            <p:spPr bwMode="auto">
              <a:xfrm flipV="1">
                <a:off x="3513385" y="3462568"/>
                <a:ext cx="1206823" cy="20638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4" name="AutoShape 7">
                <a:extLst>
                  <a:ext uri="{FF2B5EF4-FFF2-40B4-BE49-F238E27FC236}">
                    <a16:creationId xmlns:a16="http://schemas.microsoft.com/office/drawing/2014/main" id="{E14B8614-2424-43C0-84E7-7580C9775AF6}"/>
                  </a:ext>
                </a:extLst>
              </p:cNvPr>
              <p:cNvCxnSpPr>
                <a:cxnSpLocks noChangeShapeType="1"/>
              </p:cNvCxnSpPr>
              <p:nvPr/>
            </p:nvCxnSpPr>
            <p:spPr bwMode="auto">
              <a:xfrm flipH="1">
                <a:off x="4522492" y="3462568"/>
                <a:ext cx="197716" cy="177910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5" name="AutoShape 8">
                <a:extLst>
                  <a:ext uri="{FF2B5EF4-FFF2-40B4-BE49-F238E27FC236}">
                    <a16:creationId xmlns:a16="http://schemas.microsoft.com/office/drawing/2014/main" id="{1C413575-EF28-49D9-8925-C66E2869B27A}"/>
                  </a:ext>
                </a:extLst>
              </p:cNvPr>
              <p:cNvCxnSpPr>
                <a:cxnSpLocks noChangeShapeType="1"/>
              </p:cNvCxnSpPr>
              <p:nvPr/>
            </p:nvCxnSpPr>
            <p:spPr bwMode="auto">
              <a:xfrm>
                <a:off x="2731164" y="4406202"/>
                <a:ext cx="18756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6" name="AutoShape 9">
                <a:extLst>
                  <a:ext uri="{FF2B5EF4-FFF2-40B4-BE49-F238E27FC236}">
                    <a16:creationId xmlns:a16="http://schemas.microsoft.com/office/drawing/2014/main" id="{6CA05814-710F-467A-8F1F-72591DF3BE24}"/>
                  </a:ext>
                </a:extLst>
              </p:cNvPr>
              <p:cNvCxnSpPr>
                <a:cxnSpLocks noChangeShapeType="1"/>
              </p:cNvCxnSpPr>
              <p:nvPr/>
            </p:nvCxnSpPr>
            <p:spPr bwMode="auto">
              <a:xfrm>
                <a:off x="3513385" y="4406202"/>
                <a:ext cx="1009107" cy="83547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7" name="AutoShape 10">
                <a:extLst>
                  <a:ext uri="{FF2B5EF4-FFF2-40B4-BE49-F238E27FC236}">
                    <a16:creationId xmlns:a16="http://schemas.microsoft.com/office/drawing/2014/main" id="{2F3FE378-9ED8-48BA-89A7-8E7D72B1F0DA}"/>
                  </a:ext>
                </a:extLst>
              </p:cNvPr>
              <p:cNvCxnSpPr>
                <a:cxnSpLocks noChangeShapeType="1"/>
              </p:cNvCxnSpPr>
              <p:nvPr/>
            </p:nvCxnSpPr>
            <p:spPr bwMode="auto">
              <a:xfrm>
                <a:off x="3513385" y="5241671"/>
                <a:ext cx="100910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8" name="AutoShape 11">
                <a:extLst>
                  <a:ext uri="{FF2B5EF4-FFF2-40B4-BE49-F238E27FC236}">
                    <a16:creationId xmlns:a16="http://schemas.microsoft.com/office/drawing/2014/main" id="{9BC63E24-4FB2-4AE4-BBD3-BF02AA27AA27}"/>
                  </a:ext>
                </a:extLst>
              </p:cNvPr>
              <p:cNvCxnSpPr>
                <a:cxnSpLocks noChangeShapeType="1"/>
              </p:cNvCxnSpPr>
              <p:nvPr/>
            </p:nvCxnSpPr>
            <p:spPr bwMode="auto">
              <a:xfrm>
                <a:off x="4720208" y="3462568"/>
                <a:ext cx="1103103" cy="73849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9" name="AutoShape 12">
                <a:extLst>
                  <a:ext uri="{FF2B5EF4-FFF2-40B4-BE49-F238E27FC236}">
                    <a16:creationId xmlns:a16="http://schemas.microsoft.com/office/drawing/2014/main" id="{89CA0034-BD4D-4E9A-B418-01AD56D7F6C6}"/>
                  </a:ext>
                </a:extLst>
              </p:cNvPr>
              <p:cNvCxnSpPr>
                <a:cxnSpLocks noChangeShapeType="1"/>
              </p:cNvCxnSpPr>
              <p:nvPr/>
            </p:nvCxnSpPr>
            <p:spPr bwMode="auto">
              <a:xfrm flipV="1">
                <a:off x="4522492" y="4883612"/>
                <a:ext cx="735762" cy="35805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0" name="AutoShape 13">
                <a:extLst>
                  <a:ext uri="{FF2B5EF4-FFF2-40B4-BE49-F238E27FC236}">
                    <a16:creationId xmlns:a16="http://schemas.microsoft.com/office/drawing/2014/main" id="{43EEE39D-F954-4514-87F8-AF91CB5921EF}"/>
                  </a:ext>
                </a:extLst>
              </p:cNvPr>
              <p:cNvCxnSpPr>
                <a:cxnSpLocks noChangeShapeType="1"/>
              </p:cNvCxnSpPr>
              <p:nvPr/>
            </p:nvCxnSpPr>
            <p:spPr bwMode="auto">
              <a:xfrm flipH="1">
                <a:off x="5258254" y="4201064"/>
                <a:ext cx="565056" cy="68255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1" name="AutoShape 14">
                <a:extLst>
                  <a:ext uri="{FF2B5EF4-FFF2-40B4-BE49-F238E27FC236}">
                    <a16:creationId xmlns:a16="http://schemas.microsoft.com/office/drawing/2014/main" id="{B360B7AB-3D14-4B9E-95F9-6E3B8B970389}"/>
                  </a:ext>
                </a:extLst>
              </p:cNvPr>
              <p:cNvCxnSpPr>
                <a:cxnSpLocks noChangeShapeType="1"/>
              </p:cNvCxnSpPr>
              <p:nvPr/>
            </p:nvCxnSpPr>
            <p:spPr bwMode="auto">
              <a:xfrm>
                <a:off x="4720208" y="3462568"/>
                <a:ext cx="538046" cy="142104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2" name="Oval 15">
                <a:extLst>
                  <a:ext uri="{FF2B5EF4-FFF2-40B4-BE49-F238E27FC236}">
                    <a16:creationId xmlns:a16="http://schemas.microsoft.com/office/drawing/2014/main" id="{A783BA1F-4F64-47A0-B721-0C37E4674E52}"/>
                  </a:ext>
                </a:extLst>
              </p:cNvPr>
              <p:cNvSpPr>
                <a:spLocks noChangeArrowheads="1"/>
              </p:cNvSpPr>
              <p:nvPr/>
            </p:nvSpPr>
            <p:spPr bwMode="auto">
              <a:xfrm>
                <a:off x="3473442" y="3635376"/>
                <a:ext cx="77788"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3" name="Oval 16">
                <a:extLst>
                  <a:ext uri="{FF2B5EF4-FFF2-40B4-BE49-F238E27FC236}">
                    <a16:creationId xmlns:a16="http://schemas.microsoft.com/office/drawing/2014/main" id="{E317C503-5C68-4E0C-AEAA-1A95A22DBD2F}"/>
                  </a:ext>
                </a:extLst>
              </p:cNvPr>
              <p:cNvSpPr>
                <a:spLocks noChangeArrowheads="1"/>
              </p:cNvSpPr>
              <p:nvPr/>
            </p:nvSpPr>
            <p:spPr bwMode="auto">
              <a:xfrm>
                <a:off x="2700324" y="4356106"/>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4" name="Oval 17">
                <a:extLst>
                  <a:ext uri="{FF2B5EF4-FFF2-40B4-BE49-F238E27FC236}">
                    <a16:creationId xmlns:a16="http://schemas.microsoft.com/office/drawing/2014/main" id="{8A10D878-B933-4DF4-8A23-4FA167ED60B6}"/>
                  </a:ext>
                </a:extLst>
              </p:cNvPr>
              <p:cNvSpPr>
                <a:spLocks noChangeArrowheads="1"/>
              </p:cNvSpPr>
              <p:nvPr/>
            </p:nvSpPr>
            <p:spPr bwMode="auto">
              <a:xfrm>
                <a:off x="3473442" y="4360870"/>
                <a:ext cx="77788"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5" name="Oval 18">
                <a:extLst>
                  <a:ext uri="{FF2B5EF4-FFF2-40B4-BE49-F238E27FC236}">
                    <a16:creationId xmlns:a16="http://schemas.microsoft.com/office/drawing/2014/main" id="{4F654236-0908-4EE7-9B6F-4C4416D73352}"/>
                  </a:ext>
                </a:extLst>
              </p:cNvPr>
              <p:cNvSpPr>
                <a:spLocks noChangeArrowheads="1"/>
              </p:cNvSpPr>
              <p:nvPr/>
            </p:nvSpPr>
            <p:spPr bwMode="auto">
              <a:xfrm>
                <a:off x="4672013" y="3429000"/>
                <a:ext cx="77789"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6" name="Oval 19">
                <a:extLst>
                  <a:ext uri="{FF2B5EF4-FFF2-40B4-BE49-F238E27FC236}">
                    <a16:creationId xmlns:a16="http://schemas.microsoft.com/office/drawing/2014/main" id="{5F73F20E-F5A1-4BF5-9B0D-73C40CCA203F}"/>
                  </a:ext>
                </a:extLst>
              </p:cNvPr>
              <p:cNvSpPr>
                <a:spLocks noChangeArrowheads="1"/>
              </p:cNvSpPr>
              <p:nvPr/>
            </p:nvSpPr>
            <p:spPr bwMode="auto">
              <a:xfrm>
                <a:off x="4568825" y="4371982"/>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7" name="Oval 20">
                <a:extLst>
                  <a:ext uri="{FF2B5EF4-FFF2-40B4-BE49-F238E27FC236}">
                    <a16:creationId xmlns:a16="http://schemas.microsoft.com/office/drawing/2014/main" id="{71536B25-3553-4990-B3CC-4BE9F8387F1C}"/>
                  </a:ext>
                </a:extLst>
              </p:cNvPr>
              <p:cNvSpPr>
                <a:spLocks noChangeArrowheads="1"/>
              </p:cNvSpPr>
              <p:nvPr/>
            </p:nvSpPr>
            <p:spPr bwMode="auto">
              <a:xfrm>
                <a:off x="4478336" y="5184787"/>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8" name="Oval 21">
                <a:extLst>
                  <a:ext uri="{FF2B5EF4-FFF2-40B4-BE49-F238E27FC236}">
                    <a16:creationId xmlns:a16="http://schemas.microsoft.com/office/drawing/2014/main" id="{3C6C0E76-FFF7-44A2-BF6B-7B5B50B3EA9B}"/>
                  </a:ext>
                </a:extLst>
              </p:cNvPr>
              <p:cNvSpPr>
                <a:spLocks noChangeArrowheads="1"/>
              </p:cNvSpPr>
              <p:nvPr/>
            </p:nvSpPr>
            <p:spPr bwMode="auto">
              <a:xfrm>
                <a:off x="3467092" y="5195900"/>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9" name="Oval 22">
                <a:extLst>
                  <a:ext uri="{FF2B5EF4-FFF2-40B4-BE49-F238E27FC236}">
                    <a16:creationId xmlns:a16="http://schemas.microsoft.com/office/drawing/2014/main" id="{FC61E386-B2C8-4AA7-B617-68CC1C2DF839}"/>
                  </a:ext>
                </a:extLst>
              </p:cNvPr>
              <p:cNvSpPr>
                <a:spLocks noChangeArrowheads="1"/>
              </p:cNvSpPr>
              <p:nvPr/>
            </p:nvSpPr>
            <p:spPr bwMode="auto">
              <a:xfrm>
                <a:off x="5207004" y="4838710"/>
                <a:ext cx="77788" cy="87314"/>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70" name="Oval 23">
                <a:extLst>
                  <a:ext uri="{FF2B5EF4-FFF2-40B4-BE49-F238E27FC236}">
                    <a16:creationId xmlns:a16="http://schemas.microsoft.com/office/drawing/2014/main" id="{CA2922B2-08CD-48D3-A23E-7F25C5C93DAB}"/>
                  </a:ext>
                </a:extLst>
              </p:cNvPr>
              <p:cNvSpPr>
                <a:spLocks noChangeArrowheads="1"/>
              </p:cNvSpPr>
              <p:nvPr/>
            </p:nvSpPr>
            <p:spPr bwMode="auto">
              <a:xfrm>
                <a:off x="5781683" y="4144968"/>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grpSp>
        <p:sp>
          <p:nvSpPr>
            <p:cNvPr id="26" name="Text Box 31">
              <a:extLst>
                <a:ext uri="{FF2B5EF4-FFF2-40B4-BE49-F238E27FC236}">
                  <a16:creationId xmlns:a16="http://schemas.microsoft.com/office/drawing/2014/main" id="{C597D932-7904-4C9B-81AC-D7B708CE99F9}"/>
                </a:ext>
              </a:extLst>
            </p:cNvPr>
            <p:cNvSpPr txBox="1">
              <a:spLocks noChangeArrowheads="1"/>
            </p:cNvSpPr>
            <p:nvPr/>
          </p:nvSpPr>
          <p:spPr bwMode="auto">
            <a:xfrm>
              <a:off x="5214953" y="4786316"/>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H</a:t>
              </a:r>
              <a:endParaRPr kumimoji="0" lang="zh-CN" altLang="zh-CN" sz="2000" b="1">
                <a:latin typeface="Arial" panose="020B0604020202020204" pitchFamily="34" charset="0"/>
                <a:ea typeface="华文行楷" panose="02010800040101010101" pitchFamily="2" charset="-122"/>
              </a:endParaRPr>
            </a:p>
          </p:txBody>
        </p:sp>
        <p:sp>
          <p:nvSpPr>
            <p:cNvPr id="27" name="Text Box 31">
              <a:extLst>
                <a:ext uri="{FF2B5EF4-FFF2-40B4-BE49-F238E27FC236}">
                  <a16:creationId xmlns:a16="http://schemas.microsoft.com/office/drawing/2014/main" id="{AF9F5C0A-2FD4-4377-B179-DEF55025D9F5}"/>
                </a:ext>
              </a:extLst>
            </p:cNvPr>
            <p:cNvSpPr txBox="1">
              <a:spLocks noChangeArrowheads="1"/>
            </p:cNvSpPr>
            <p:nvPr/>
          </p:nvSpPr>
          <p:spPr bwMode="auto">
            <a:xfrm>
              <a:off x="3214685" y="3286120"/>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B</a:t>
              </a:r>
              <a:endParaRPr kumimoji="0" lang="zh-CN" altLang="zh-CN" sz="2000" b="1">
                <a:latin typeface="Arial" panose="020B0604020202020204" pitchFamily="34" charset="0"/>
                <a:ea typeface="华文行楷" panose="02010800040101010101" pitchFamily="2" charset="-122"/>
              </a:endParaRPr>
            </a:p>
          </p:txBody>
        </p:sp>
        <p:sp>
          <p:nvSpPr>
            <p:cNvPr id="28" name="Text Box 31">
              <a:extLst>
                <a:ext uri="{FF2B5EF4-FFF2-40B4-BE49-F238E27FC236}">
                  <a16:creationId xmlns:a16="http://schemas.microsoft.com/office/drawing/2014/main" id="{E1297D8D-5FB9-4722-8156-738896E1FF65}"/>
                </a:ext>
              </a:extLst>
            </p:cNvPr>
            <p:cNvSpPr txBox="1">
              <a:spLocks noChangeArrowheads="1"/>
            </p:cNvSpPr>
            <p:nvPr/>
          </p:nvSpPr>
          <p:spPr bwMode="auto">
            <a:xfrm>
              <a:off x="2357428" y="4176223"/>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A</a:t>
              </a:r>
              <a:endParaRPr kumimoji="0" lang="zh-CN" altLang="zh-CN" sz="2000" b="1">
                <a:latin typeface="Arial" panose="020B0604020202020204" pitchFamily="34" charset="0"/>
                <a:ea typeface="华文行楷" panose="02010800040101010101" pitchFamily="2" charset="-122"/>
              </a:endParaRPr>
            </a:p>
          </p:txBody>
        </p:sp>
        <p:sp>
          <p:nvSpPr>
            <p:cNvPr id="29" name="Text Box 31">
              <a:extLst>
                <a:ext uri="{FF2B5EF4-FFF2-40B4-BE49-F238E27FC236}">
                  <a16:creationId xmlns:a16="http://schemas.microsoft.com/office/drawing/2014/main" id="{04C927FD-EB0F-4E5A-9DC0-956A32F366D2}"/>
                </a:ext>
              </a:extLst>
            </p:cNvPr>
            <p:cNvSpPr txBox="1">
              <a:spLocks noChangeArrowheads="1"/>
            </p:cNvSpPr>
            <p:nvPr/>
          </p:nvSpPr>
          <p:spPr bwMode="auto">
            <a:xfrm>
              <a:off x="3143248" y="4319099"/>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C</a:t>
              </a:r>
              <a:endParaRPr kumimoji="0" lang="zh-CN" altLang="zh-CN" sz="2000" b="1">
                <a:latin typeface="Arial" panose="020B0604020202020204" pitchFamily="34" charset="0"/>
                <a:ea typeface="华文行楷" panose="02010800040101010101" pitchFamily="2" charset="-122"/>
              </a:endParaRPr>
            </a:p>
          </p:txBody>
        </p:sp>
        <p:sp>
          <p:nvSpPr>
            <p:cNvPr id="30" name="Text Box 31">
              <a:extLst>
                <a:ext uri="{FF2B5EF4-FFF2-40B4-BE49-F238E27FC236}">
                  <a16:creationId xmlns:a16="http://schemas.microsoft.com/office/drawing/2014/main" id="{7277127D-6C1F-4811-B387-0C7DF8400163}"/>
                </a:ext>
              </a:extLst>
            </p:cNvPr>
            <p:cNvSpPr txBox="1">
              <a:spLocks noChangeArrowheads="1"/>
            </p:cNvSpPr>
            <p:nvPr/>
          </p:nvSpPr>
          <p:spPr bwMode="auto">
            <a:xfrm>
              <a:off x="3143248" y="5072068"/>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D</a:t>
              </a:r>
              <a:endParaRPr kumimoji="0" lang="zh-CN" altLang="zh-CN" sz="2000" b="1">
                <a:latin typeface="Arial" panose="020B0604020202020204" pitchFamily="34" charset="0"/>
                <a:ea typeface="华文行楷" panose="02010800040101010101" pitchFamily="2" charset="-122"/>
              </a:endParaRPr>
            </a:p>
          </p:txBody>
        </p:sp>
        <p:sp>
          <p:nvSpPr>
            <p:cNvPr id="31" name="Text Box 31">
              <a:extLst>
                <a:ext uri="{FF2B5EF4-FFF2-40B4-BE49-F238E27FC236}">
                  <a16:creationId xmlns:a16="http://schemas.microsoft.com/office/drawing/2014/main" id="{2DDE6C48-FD6F-48BA-9229-6DD62890D1D0}"/>
                </a:ext>
              </a:extLst>
            </p:cNvPr>
            <p:cNvSpPr txBox="1">
              <a:spLocks noChangeArrowheads="1"/>
            </p:cNvSpPr>
            <p:nvPr/>
          </p:nvSpPr>
          <p:spPr bwMode="auto">
            <a:xfrm>
              <a:off x="4714888" y="3143245"/>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E</a:t>
              </a:r>
              <a:endParaRPr kumimoji="0" lang="zh-CN" altLang="zh-CN" sz="2000" b="1">
                <a:latin typeface="Arial" panose="020B0604020202020204" pitchFamily="34" charset="0"/>
                <a:ea typeface="华文行楷" panose="02010800040101010101" pitchFamily="2" charset="-122"/>
              </a:endParaRPr>
            </a:p>
          </p:txBody>
        </p:sp>
        <p:sp>
          <p:nvSpPr>
            <p:cNvPr id="32" name="Text Box 31">
              <a:extLst>
                <a:ext uri="{FF2B5EF4-FFF2-40B4-BE49-F238E27FC236}">
                  <a16:creationId xmlns:a16="http://schemas.microsoft.com/office/drawing/2014/main" id="{B63CB926-956E-4DC4-BE8F-93596CF4E810}"/>
                </a:ext>
              </a:extLst>
            </p:cNvPr>
            <p:cNvSpPr txBox="1">
              <a:spLocks noChangeArrowheads="1"/>
            </p:cNvSpPr>
            <p:nvPr/>
          </p:nvSpPr>
          <p:spPr bwMode="auto">
            <a:xfrm>
              <a:off x="4572011" y="4247661"/>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F</a:t>
              </a:r>
              <a:endParaRPr kumimoji="0" lang="zh-CN" altLang="zh-CN" sz="2000" b="1">
                <a:latin typeface="Arial" panose="020B0604020202020204" pitchFamily="34" charset="0"/>
                <a:ea typeface="华文行楷" panose="02010800040101010101" pitchFamily="2" charset="-122"/>
              </a:endParaRPr>
            </a:p>
          </p:txBody>
        </p:sp>
        <p:sp>
          <p:nvSpPr>
            <p:cNvPr id="33" name="Text Box 31">
              <a:extLst>
                <a:ext uri="{FF2B5EF4-FFF2-40B4-BE49-F238E27FC236}">
                  <a16:creationId xmlns:a16="http://schemas.microsoft.com/office/drawing/2014/main" id="{DE1E184D-5CE6-4911-A7CD-B008C53670B1}"/>
                </a:ext>
              </a:extLst>
            </p:cNvPr>
            <p:cNvSpPr txBox="1">
              <a:spLocks noChangeArrowheads="1"/>
            </p:cNvSpPr>
            <p:nvPr/>
          </p:nvSpPr>
          <p:spPr bwMode="auto">
            <a:xfrm>
              <a:off x="4500573" y="5104918"/>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G</a:t>
              </a:r>
              <a:endParaRPr kumimoji="0" lang="zh-CN" altLang="zh-CN" sz="2000" b="1">
                <a:latin typeface="Arial" panose="020B0604020202020204" pitchFamily="34" charset="0"/>
                <a:ea typeface="华文行楷" panose="02010800040101010101" pitchFamily="2" charset="-122"/>
              </a:endParaRPr>
            </a:p>
          </p:txBody>
        </p:sp>
        <p:sp>
          <p:nvSpPr>
            <p:cNvPr id="34" name="Text Box 31">
              <a:extLst>
                <a:ext uri="{FF2B5EF4-FFF2-40B4-BE49-F238E27FC236}">
                  <a16:creationId xmlns:a16="http://schemas.microsoft.com/office/drawing/2014/main" id="{53E8823F-3A22-4F54-A06E-FD29DEAEEF08}"/>
                </a:ext>
              </a:extLst>
            </p:cNvPr>
            <p:cNvSpPr txBox="1">
              <a:spLocks noChangeArrowheads="1"/>
            </p:cNvSpPr>
            <p:nvPr/>
          </p:nvSpPr>
          <p:spPr bwMode="auto">
            <a:xfrm>
              <a:off x="5857898" y="4033349"/>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I</a:t>
              </a:r>
              <a:endParaRPr kumimoji="0" lang="zh-CN" altLang="zh-CN" sz="2000" b="1">
                <a:latin typeface="Arial" panose="020B0604020202020204" pitchFamily="34" charset="0"/>
                <a:ea typeface="华文行楷" panose="02010800040101010101" pitchFamily="2" charset="-122"/>
              </a:endParaRPr>
            </a:p>
          </p:txBody>
        </p:sp>
        <p:sp>
          <p:nvSpPr>
            <p:cNvPr id="35" name="Text Box 31">
              <a:extLst>
                <a:ext uri="{FF2B5EF4-FFF2-40B4-BE49-F238E27FC236}">
                  <a16:creationId xmlns:a16="http://schemas.microsoft.com/office/drawing/2014/main" id="{CAB5F54D-548D-49C8-B39A-4264D05883A3}"/>
                </a:ext>
              </a:extLst>
            </p:cNvPr>
            <p:cNvSpPr txBox="1">
              <a:spLocks noChangeArrowheads="1"/>
            </p:cNvSpPr>
            <p:nvPr/>
          </p:nvSpPr>
          <p:spPr bwMode="auto">
            <a:xfrm>
              <a:off x="2857495" y="3747597"/>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6</a:t>
              </a:r>
              <a:endParaRPr kumimoji="0" lang="zh-CN" altLang="zh-CN" sz="2000" b="1">
                <a:latin typeface="Arial" panose="020B0604020202020204" pitchFamily="34" charset="0"/>
                <a:ea typeface="华文行楷" panose="02010800040101010101" pitchFamily="2" charset="-122"/>
              </a:endParaRPr>
            </a:p>
          </p:txBody>
        </p:sp>
        <p:sp>
          <p:nvSpPr>
            <p:cNvPr id="36" name="Text Box 31">
              <a:extLst>
                <a:ext uri="{FF2B5EF4-FFF2-40B4-BE49-F238E27FC236}">
                  <a16:creationId xmlns:a16="http://schemas.microsoft.com/office/drawing/2014/main" id="{A2A2CF20-1A7B-47A8-A384-3F5966433792}"/>
                </a:ext>
              </a:extLst>
            </p:cNvPr>
            <p:cNvSpPr txBox="1">
              <a:spLocks noChangeArrowheads="1"/>
            </p:cNvSpPr>
            <p:nvPr/>
          </p:nvSpPr>
          <p:spPr bwMode="auto">
            <a:xfrm>
              <a:off x="3009895" y="4033349"/>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4</a:t>
              </a:r>
              <a:endParaRPr kumimoji="0" lang="zh-CN" altLang="zh-CN" sz="2000" b="1">
                <a:latin typeface="Arial" panose="020B0604020202020204" pitchFamily="34" charset="0"/>
                <a:ea typeface="华文行楷" panose="02010800040101010101" pitchFamily="2" charset="-122"/>
              </a:endParaRPr>
            </a:p>
          </p:txBody>
        </p:sp>
        <p:sp>
          <p:nvSpPr>
            <p:cNvPr id="37" name="Text Box 31">
              <a:extLst>
                <a:ext uri="{FF2B5EF4-FFF2-40B4-BE49-F238E27FC236}">
                  <a16:creationId xmlns:a16="http://schemas.microsoft.com/office/drawing/2014/main" id="{A3CCCF7F-2CFC-4F80-A318-3F78C10ED47F}"/>
                </a:ext>
              </a:extLst>
            </p:cNvPr>
            <p:cNvSpPr txBox="1">
              <a:spLocks noChangeArrowheads="1"/>
            </p:cNvSpPr>
            <p:nvPr/>
          </p:nvSpPr>
          <p:spPr bwMode="auto">
            <a:xfrm>
              <a:off x="2714620" y="4604853"/>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4</a:t>
              </a:r>
              <a:endParaRPr kumimoji="0" lang="zh-CN" altLang="zh-CN" sz="2000" b="1">
                <a:latin typeface="Arial" panose="020B0604020202020204" pitchFamily="34" charset="0"/>
                <a:ea typeface="华文行楷" panose="02010800040101010101" pitchFamily="2" charset="-122"/>
              </a:endParaRPr>
            </a:p>
          </p:txBody>
        </p:sp>
        <p:sp>
          <p:nvSpPr>
            <p:cNvPr id="38" name="Text Box 31">
              <a:extLst>
                <a:ext uri="{FF2B5EF4-FFF2-40B4-BE49-F238E27FC236}">
                  <a16:creationId xmlns:a16="http://schemas.microsoft.com/office/drawing/2014/main" id="{7B1D6C94-03A6-4359-A17C-D201C26342CB}"/>
                </a:ext>
              </a:extLst>
            </p:cNvPr>
            <p:cNvSpPr txBox="1">
              <a:spLocks noChangeArrowheads="1"/>
            </p:cNvSpPr>
            <p:nvPr/>
          </p:nvSpPr>
          <p:spPr bwMode="auto">
            <a:xfrm>
              <a:off x="3500439" y="3786188"/>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5</a:t>
              </a:r>
              <a:endParaRPr kumimoji="0" lang="zh-CN" altLang="zh-CN" sz="2000" b="1">
                <a:latin typeface="Arial" panose="020B0604020202020204" pitchFamily="34" charset="0"/>
                <a:ea typeface="华文行楷" panose="02010800040101010101" pitchFamily="2" charset="-122"/>
              </a:endParaRPr>
            </a:p>
          </p:txBody>
        </p:sp>
        <p:sp>
          <p:nvSpPr>
            <p:cNvPr id="39" name="Text Box 31">
              <a:extLst>
                <a:ext uri="{FF2B5EF4-FFF2-40B4-BE49-F238E27FC236}">
                  <a16:creationId xmlns:a16="http://schemas.microsoft.com/office/drawing/2014/main" id="{059E1379-7168-4618-9587-79C332E34596}"/>
                </a:ext>
              </a:extLst>
            </p:cNvPr>
            <p:cNvSpPr txBox="1">
              <a:spLocks noChangeArrowheads="1"/>
            </p:cNvSpPr>
            <p:nvPr/>
          </p:nvSpPr>
          <p:spPr bwMode="auto">
            <a:xfrm>
              <a:off x="3500438" y="4604853"/>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2</a:t>
              </a:r>
              <a:endParaRPr kumimoji="0" lang="zh-CN" altLang="zh-CN" sz="2000" b="1">
                <a:latin typeface="Arial" panose="020B0604020202020204" pitchFamily="34" charset="0"/>
                <a:ea typeface="华文行楷" panose="02010800040101010101" pitchFamily="2" charset="-122"/>
              </a:endParaRPr>
            </a:p>
          </p:txBody>
        </p:sp>
        <p:sp>
          <p:nvSpPr>
            <p:cNvPr id="40" name="Text Box 31">
              <a:extLst>
                <a:ext uri="{FF2B5EF4-FFF2-40B4-BE49-F238E27FC236}">
                  <a16:creationId xmlns:a16="http://schemas.microsoft.com/office/drawing/2014/main" id="{541CCD88-A11E-45DE-B17E-D2463F7CA8DB}"/>
                </a:ext>
              </a:extLst>
            </p:cNvPr>
            <p:cNvSpPr txBox="1">
              <a:spLocks noChangeArrowheads="1"/>
            </p:cNvSpPr>
            <p:nvPr/>
          </p:nvSpPr>
          <p:spPr bwMode="auto">
            <a:xfrm>
              <a:off x="3786190" y="3214683"/>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7</a:t>
              </a:r>
              <a:endParaRPr kumimoji="0" lang="zh-CN" altLang="zh-CN" sz="2000" b="1">
                <a:latin typeface="Arial" panose="020B0604020202020204" pitchFamily="34" charset="0"/>
                <a:ea typeface="华文行楷" panose="02010800040101010101" pitchFamily="2" charset="-122"/>
              </a:endParaRPr>
            </a:p>
          </p:txBody>
        </p:sp>
        <p:sp>
          <p:nvSpPr>
            <p:cNvPr id="41" name="Text Box 31">
              <a:extLst>
                <a:ext uri="{FF2B5EF4-FFF2-40B4-BE49-F238E27FC236}">
                  <a16:creationId xmlns:a16="http://schemas.microsoft.com/office/drawing/2014/main" id="{7F15CCFE-B9A3-4DF1-9909-C4C126574A58}"/>
                </a:ext>
              </a:extLst>
            </p:cNvPr>
            <p:cNvSpPr txBox="1">
              <a:spLocks noChangeArrowheads="1"/>
            </p:cNvSpPr>
            <p:nvPr/>
          </p:nvSpPr>
          <p:spPr bwMode="auto">
            <a:xfrm>
              <a:off x="3857629" y="4033348"/>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dirty="0">
                  <a:ea typeface="华文行楷" panose="02010800040101010101" pitchFamily="2" charset="-122"/>
                </a:rPr>
                <a:t>4</a:t>
              </a:r>
              <a:endParaRPr kumimoji="0" lang="zh-CN" altLang="zh-CN" sz="2000" b="1" dirty="0">
                <a:latin typeface="Arial" panose="020B0604020202020204" pitchFamily="34" charset="0"/>
                <a:ea typeface="华文行楷" panose="02010800040101010101" pitchFamily="2" charset="-122"/>
              </a:endParaRPr>
            </a:p>
          </p:txBody>
        </p:sp>
        <p:sp>
          <p:nvSpPr>
            <p:cNvPr id="42" name="Text Box 31">
              <a:extLst>
                <a:ext uri="{FF2B5EF4-FFF2-40B4-BE49-F238E27FC236}">
                  <a16:creationId xmlns:a16="http://schemas.microsoft.com/office/drawing/2014/main" id="{C8225613-B80A-40F6-A3AB-02E9CC84FD87}"/>
                </a:ext>
              </a:extLst>
            </p:cNvPr>
            <p:cNvSpPr txBox="1">
              <a:spLocks noChangeArrowheads="1"/>
            </p:cNvSpPr>
            <p:nvPr/>
          </p:nvSpPr>
          <p:spPr bwMode="auto">
            <a:xfrm>
              <a:off x="4000505" y="4533413"/>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3</a:t>
              </a:r>
              <a:endParaRPr kumimoji="0" lang="zh-CN" altLang="zh-CN" sz="2000" b="1">
                <a:latin typeface="Arial" panose="020B0604020202020204" pitchFamily="34" charset="0"/>
                <a:ea typeface="华文行楷" panose="02010800040101010101" pitchFamily="2" charset="-122"/>
              </a:endParaRPr>
            </a:p>
          </p:txBody>
        </p:sp>
        <p:sp>
          <p:nvSpPr>
            <p:cNvPr id="43" name="Text Box 31">
              <a:extLst>
                <a:ext uri="{FF2B5EF4-FFF2-40B4-BE49-F238E27FC236}">
                  <a16:creationId xmlns:a16="http://schemas.microsoft.com/office/drawing/2014/main" id="{CB677CA0-ECD6-4DA1-A671-80C3FBBF215C}"/>
                </a:ext>
              </a:extLst>
            </p:cNvPr>
            <p:cNvSpPr txBox="1">
              <a:spLocks noChangeArrowheads="1"/>
            </p:cNvSpPr>
            <p:nvPr/>
          </p:nvSpPr>
          <p:spPr bwMode="auto">
            <a:xfrm>
              <a:off x="3857628" y="5176354"/>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4</a:t>
              </a:r>
              <a:endParaRPr kumimoji="0" lang="zh-CN" altLang="zh-CN" sz="2000" b="1">
                <a:latin typeface="Arial" panose="020B0604020202020204" pitchFamily="34" charset="0"/>
                <a:ea typeface="华文行楷" panose="02010800040101010101" pitchFamily="2" charset="-122"/>
              </a:endParaRPr>
            </a:p>
          </p:txBody>
        </p:sp>
        <p:sp>
          <p:nvSpPr>
            <p:cNvPr id="44" name="Text Box 31">
              <a:extLst>
                <a:ext uri="{FF2B5EF4-FFF2-40B4-BE49-F238E27FC236}">
                  <a16:creationId xmlns:a16="http://schemas.microsoft.com/office/drawing/2014/main" id="{B4333FE5-4DAD-4130-9AF7-58E523D13BA3}"/>
                </a:ext>
              </a:extLst>
            </p:cNvPr>
            <p:cNvSpPr txBox="1">
              <a:spLocks noChangeArrowheads="1"/>
            </p:cNvSpPr>
            <p:nvPr/>
          </p:nvSpPr>
          <p:spPr bwMode="auto">
            <a:xfrm>
              <a:off x="4357695" y="3747595"/>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7</a:t>
              </a:r>
              <a:endParaRPr kumimoji="0" lang="zh-CN" altLang="zh-CN" sz="2000" b="1">
                <a:latin typeface="Arial" panose="020B0604020202020204" pitchFamily="34" charset="0"/>
                <a:ea typeface="华文行楷" panose="02010800040101010101" pitchFamily="2" charset="-122"/>
              </a:endParaRPr>
            </a:p>
          </p:txBody>
        </p:sp>
        <p:sp>
          <p:nvSpPr>
            <p:cNvPr id="45" name="Text Box 31">
              <a:extLst>
                <a:ext uri="{FF2B5EF4-FFF2-40B4-BE49-F238E27FC236}">
                  <a16:creationId xmlns:a16="http://schemas.microsoft.com/office/drawing/2014/main" id="{190B441F-A7F9-4811-9B0B-CB19250BA42A}"/>
                </a:ext>
              </a:extLst>
            </p:cNvPr>
            <p:cNvSpPr txBox="1">
              <a:spLocks noChangeArrowheads="1"/>
            </p:cNvSpPr>
            <p:nvPr/>
          </p:nvSpPr>
          <p:spPr bwMode="auto">
            <a:xfrm>
              <a:off x="4286256" y="4572002"/>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2</a:t>
              </a:r>
              <a:endParaRPr kumimoji="0" lang="zh-CN" altLang="zh-CN" sz="2000" b="1">
                <a:latin typeface="Arial" panose="020B0604020202020204" pitchFamily="34" charset="0"/>
                <a:ea typeface="华文行楷" panose="02010800040101010101" pitchFamily="2" charset="-122"/>
              </a:endParaRPr>
            </a:p>
          </p:txBody>
        </p:sp>
        <p:sp>
          <p:nvSpPr>
            <p:cNvPr id="46" name="Text Box 31">
              <a:extLst>
                <a:ext uri="{FF2B5EF4-FFF2-40B4-BE49-F238E27FC236}">
                  <a16:creationId xmlns:a16="http://schemas.microsoft.com/office/drawing/2014/main" id="{AA881F8D-90D5-4CA2-96CD-F8C1D10B2A07}"/>
                </a:ext>
              </a:extLst>
            </p:cNvPr>
            <p:cNvSpPr txBox="1">
              <a:spLocks noChangeArrowheads="1"/>
            </p:cNvSpPr>
            <p:nvPr/>
          </p:nvSpPr>
          <p:spPr bwMode="auto">
            <a:xfrm>
              <a:off x="5214951" y="3500435"/>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8</a:t>
              </a:r>
              <a:endParaRPr kumimoji="0" lang="zh-CN" altLang="zh-CN" sz="2000" b="1">
                <a:latin typeface="Arial" panose="020B0604020202020204" pitchFamily="34" charset="0"/>
                <a:ea typeface="华文行楷" panose="02010800040101010101" pitchFamily="2" charset="-122"/>
              </a:endParaRPr>
            </a:p>
          </p:txBody>
        </p:sp>
        <p:sp>
          <p:nvSpPr>
            <p:cNvPr id="47" name="Text Box 31">
              <a:extLst>
                <a:ext uri="{FF2B5EF4-FFF2-40B4-BE49-F238E27FC236}">
                  <a16:creationId xmlns:a16="http://schemas.microsoft.com/office/drawing/2014/main" id="{C546655A-3ED8-47F0-9944-949A6EFE5FD9}"/>
                </a:ext>
              </a:extLst>
            </p:cNvPr>
            <p:cNvSpPr txBox="1">
              <a:spLocks noChangeArrowheads="1"/>
            </p:cNvSpPr>
            <p:nvPr/>
          </p:nvSpPr>
          <p:spPr bwMode="auto">
            <a:xfrm>
              <a:off x="5000638" y="4033349"/>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9</a:t>
              </a:r>
              <a:endParaRPr kumimoji="0" lang="zh-CN" altLang="zh-CN" sz="2000" b="1">
                <a:latin typeface="Arial" panose="020B0604020202020204" pitchFamily="34" charset="0"/>
                <a:ea typeface="华文行楷" panose="02010800040101010101" pitchFamily="2" charset="-122"/>
              </a:endParaRPr>
            </a:p>
          </p:txBody>
        </p:sp>
        <p:sp>
          <p:nvSpPr>
            <p:cNvPr id="48" name="Text Box 31">
              <a:extLst>
                <a:ext uri="{FF2B5EF4-FFF2-40B4-BE49-F238E27FC236}">
                  <a16:creationId xmlns:a16="http://schemas.microsoft.com/office/drawing/2014/main" id="{ACA96021-5C68-416A-B1C0-E97EA2310FD2}"/>
                </a:ext>
              </a:extLst>
            </p:cNvPr>
            <p:cNvSpPr txBox="1">
              <a:spLocks noChangeArrowheads="1"/>
            </p:cNvSpPr>
            <p:nvPr/>
          </p:nvSpPr>
          <p:spPr bwMode="auto">
            <a:xfrm>
              <a:off x="5500702" y="4390538"/>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5</a:t>
              </a:r>
              <a:endParaRPr kumimoji="0" lang="zh-CN" altLang="zh-CN" sz="2000" b="1">
                <a:latin typeface="Arial" panose="020B0604020202020204" pitchFamily="34" charset="0"/>
                <a:ea typeface="华文行楷" panose="02010800040101010101" pitchFamily="2" charset="-122"/>
              </a:endParaRPr>
            </a:p>
          </p:txBody>
        </p:sp>
        <p:sp>
          <p:nvSpPr>
            <p:cNvPr id="49" name="Text Box 31">
              <a:extLst>
                <a:ext uri="{FF2B5EF4-FFF2-40B4-BE49-F238E27FC236}">
                  <a16:creationId xmlns:a16="http://schemas.microsoft.com/office/drawing/2014/main" id="{D60E9311-0326-4E35-AA57-B4A793399DB7}"/>
                </a:ext>
              </a:extLst>
            </p:cNvPr>
            <p:cNvSpPr txBox="1">
              <a:spLocks noChangeArrowheads="1"/>
            </p:cNvSpPr>
            <p:nvPr/>
          </p:nvSpPr>
          <p:spPr bwMode="auto">
            <a:xfrm>
              <a:off x="4714877" y="4714884"/>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3</a:t>
              </a:r>
              <a:endParaRPr kumimoji="0" lang="zh-CN" altLang="zh-CN" sz="2000" b="1">
                <a:latin typeface="Arial" panose="020B0604020202020204" pitchFamily="34" charset="0"/>
                <a:ea typeface="华文行楷" panose="02010800040101010101" pitchFamily="2" charset="-122"/>
              </a:endParaRPr>
            </a:p>
          </p:txBody>
        </p:sp>
      </p:grpSp>
      <p:grpSp>
        <p:nvGrpSpPr>
          <p:cNvPr id="71" name="组合 114">
            <a:extLst>
              <a:ext uri="{FF2B5EF4-FFF2-40B4-BE49-F238E27FC236}">
                <a16:creationId xmlns:a16="http://schemas.microsoft.com/office/drawing/2014/main" id="{5E44934A-5629-4689-8810-C4A0BECA8ADC}"/>
              </a:ext>
            </a:extLst>
          </p:cNvPr>
          <p:cNvGrpSpPr>
            <a:grpSpLocks/>
          </p:cNvGrpSpPr>
          <p:nvPr/>
        </p:nvGrpSpPr>
        <p:grpSpPr bwMode="auto">
          <a:xfrm>
            <a:off x="7425622" y="1937038"/>
            <a:ext cx="3157581" cy="1855786"/>
            <a:chOff x="5714979" y="3581395"/>
            <a:chExt cx="3156999" cy="1856183"/>
          </a:xfrm>
        </p:grpSpPr>
        <p:cxnSp>
          <p:nvCxnSpPr>
            <p:cNvPr id="72" name="AutoShape 5">
              <a:extLst>
                <a:ext uri="{FF2B5EF4-FFF2-40B4-BE49-F238E27FC236}">
                  <a16:creationId xmlns:a16="http://schemas.microsoft.com/office/drawing/2014/main" id="{AF657CDE-494A-466E-B4AD-E92E4B2FD470}"/>
                </a:ext>
              </a:extLst>
            </p:cNvPr>
            <p:cNvCxnSpPr>
              <a:cxnSpLocks noChangeShapeType="1"/>
            </p:cNvCxnSpPr>
            <p:nvPr/>
          </p:nvCxnSpPr>
          <p:spPr bwMode="auto">
            <a:xfrm>
              <a:off x="6513749" y="3821341"/>
              <a:ext cx="0" cy="1572720"/>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3" name="AutoShape 6">
              <a:extLst>
                <a:ext uri="{FF2B5EF4-FFF2-40B4-BE49-F238E27FC236}">
                  <a16:creationId xmlns:a16="http://schemas.microsoft.com/office/drawing/2014/main" id="{3175B576-843A-46B9-8850-3DC3F5E9F242}"/>
                </a:ext>
              </a:extLst>
            </p:cNvPr>
            <p:cNvCxnSpPr>
              <a:cxnSpLocks noChangeShapeType="1"/>
            </p:cNvCxnSpPr>
            <p:nvPr/>
          </p:nvCxnSpPr>
          <p:spPr bwMode="auto">
            <a:xfrm flipV="1">
              <a:off x="6513749" y="3614962"/>
              <a:ext cx="1206818" cy="206382"/>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4" name="AutoShape 7">
              <a:extLst>
                <a:ext uri="{FF2B5EF4-FFF2-40B4-BE49-F238E27FC236}">
                  <a16:creationId xmlns:a16="http://schemas.microsoft.com/office/drawing/2014/main" id="{04775F96-169A-41EE-B84D-D08D9955084B}"/>
                </a:ext>
              </a:extLst>
            </p:cNvPr>
            <p:cNvCxnSpPr>
              <a:cxnSpLocks noChangeShapeType="1"/>
              <a:stCxn id="83" idx="4"/>
            </p:cNvCxnSpPr>
            <p:nvPr/>
          </p:nvCxnSpPr>
          <p:spPr bwMode="auto">
            <a:xfrm rot="5400000">
              <a:off x="7188574" y="4961275"/>
              <a:ext cx="780766" cy="84811"/>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5" name="AutoShape 8">
              <a:extLst>
                <a:ext uri="{FF2B5EF4-FFF2-40B4-BE49-F238E27FC236}">
                  <a16:creationId xmlns:a16="http://schemas.microsoft.com/office/drawing/2014/main" id="{F33D4C80-FD6A-4580-BA2D-73717E6DFBB3}"/>
                </a:ext>
              </a:extLst>
            </p:cNvPr>
            <p:cNvCxnSpPr>
              <a:cxnSpLocks noChangeShapeType="1"/>
              <a:endCxn id="81" idx="6"/>
            </p:cNvCxnSpPr>
            <p:nvPr/>
          </p:nvCxnSpPr>
          <p:spPr bwMode="auto">
            <a:xfrm flipV="1">
              <a:off x="5745229" y="4557973"/>
              <a:ext cx="820031" cy="622"/>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6" name="AutoShape 9">
              <a:extLst>
                <a:ext uri="{FF2B5EF4-FFF2-40B4-BE49-F238E27FC236}">
                  <a16:creationId xmlns:a16="http://schemas.microsoft.com/office/drawing/2014/main" id="{B00092EE-B14B-49A5-BF38-47E393B6B8A4}"/>
                </a:ext>
              </a:extLst>
            </p:cNvPr>
            <p:cNvCxnSpPr>
              <a:cxnSpLocks noChangeShapeType="1"/>
            </p:cNvCxnSpPr>
            <p:nvPr/>
          </p:nvCxnSpPr>
          <p:spPr bwMode="auto">
            <a:xfrm>
              <a:off x="6513749" y="4558594"/>
              <a:ext cx="1009102" cy="835470"/>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7" name="AutoShape 12">
              <a:extLst>
                <a:ext uri="{FF2B5EF4-FFF2-40B4-BE49-F238E27FC236}">
                  <a16:creationId xmlns:a16="http://schemas.microsoft.com/office/drawing/2014/main" id="{CF28E72E-B6DE-4DF3-AE4B-21E241ADD2A4}"/>
                </a:ext>
              </a:extLst>
            </p:cNvPr>
            <p:cNvCxnSpPr>
              <a:cxnSpLocks noChangeShapeType="1"/>
            </p:cNvCxnSpPr>
            <p:nvPr/>
          </p:nvCxnSpPr>
          <p:spPr bwMode="auto">
            <a:xfrm flipV="1">
              <a:off x="7522852" y="5036004"/>
              <a:ext cx="735758" cy="358059"/>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8" name="AutoShape 13">
              <a:extLst>
                <a:ext uri="{FF2B5EF4-FFF2-40B4-BE49-F238E27FC236}">
                  <a16:creationId xmlns:a16="http://schemas.microsoft.com/office/drawing/2014/main" id="{81B5D865-C0D8-4C33-81BE-B92FB78383FE}"/>
                </a:ext>
              </a:extLst>
            </p:cNvPr>
            <p:cNvCxnSpPr>
              <a:cxnSpLocks noChangeShapeType="1"/>
            </p:cNvCxnSpPr>
            <p:nvPr/>
          </p:nvCxnSpPr>
          <p:spPr bwMode="auto">
            <a:xfrm flipH="1">
              <a:off x="8258610" y="4353457"/>
              <a:ext cx="565053" cy="682549"/>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sp>
          <p:nvSpPr>
            <p:cNvPr id="79" name="Oval 15">
              <a:extLst>
                <a:ext uri="{FF2B5EF4-FFF2-40B4-BE49-F238E27FC236}">
                  <a16:creationId xmlns:a16="http://schemas.microsoft.com/office/drawing/2014/main" id="{CA8A6C9C-FD23-44B2-80F7-5FA56D843A9D}"/>
                </a:ext>
              </a:extLst>
            </p:cNvPr>
            <p:cNvSpPr>
              <a:spLocks noChangeArrowheads="1"/>
            </p:cNvSpPr>
            <p:nvPr/>
          </p:nvSpPr>
          <p:spPr bwMode="auto">
            <a:xfrm>
              <a:off x="6487950" y="3787813"/>
              <a:ext cx="77774"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0" name="Oval 16">
              <a:extLst>
                <a:ext uri="{FF2B5EF4-FFF2-40B4-BE49-F238E27FC236}">
                  <a16:creationId xmlns:a16="http://schemas.microsoft.com/office/drawing/2014/main" id="{782D9AFF-7F21-44DB-88CF-A95F57C6D193}"/>
                </a:ext>
              </a:extLst>
            </p:cNvPr>
            <p:cNvSpPr>
              <a:spLocks noChangeArrowheads="1"/>
            </p:cNvSpPr>
            <p:nvPr/>
          </p:nvSpPr>
          <p:spPr bwMode="auto">
            <a:xfrm>
              <a:off x="5714979" y="4508692"/>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1" name="Oval 17">
              <a:extLst>
                <a:ext uri="{FF2B5EF4-FFF2-40B4-BE49-F238E27FC236}">
                  <a16:creationId xmlns:a16="http://schemas.microsoft.com/office/drawing/2014/main" id="{D91CEEB9-3C2A-41F0-AEE6-17CD35AC221F}"/>
                </a:ext>
              </a:extLst>
            </p:cNvPr>
            <p:cNvSpPr>
              <a:spLocks noChangeArrowheads="1"/>
            </p:cNvSpPr>
            <p:nvPr/>
          </p:nvSpPr>
          <p:spPr bwMode="auto">
            <a:xfrm>
              <a:off x="6487949" y="4513455"/>
              <a:ext cx="77774"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2" name="Oval 18">
              <a:extLst>
                <a:ext uri="{FF2B5EF4-FFF2-40B4-BE49-F238E27FC236}">
                  <a16:creationId xmlns:a16="http://schemas.microsoft.com/office/drawing/2014/main" id="{35EB0457-69E4-4419-9FBF-3A1A882079B0}"/>
                </a:ext>
              </a:extLst>
            </p:cNvPr>
            <p:cNvSpPr>
              <a:spLocks noChangeArrowheads="1"/>
            </p:cNvSpPr>
            <p:nvPr/>
          </p:nvSpPr>
          <p:spPr bwMode="auto">
            <a:xfrm>
              <a:off x="7686291" y="3581395"/>
              <a:ext cx="77773"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3" name="Oval 19">
              <a:extLst>
                <a:ext uri="{FF2B5EF4-FFF2-40B4-BE49-F238E27FC236}">
                  <a16:creationId xmlns:a16="http://schemas.microsoft.com/office/drawing/2014/main" id="{4B065FBC-E7BC-4BA2-ACC0-6B3A8E25B1AA}"/>
                </a:ext>
              </a:extLst>
            </p:cNvPr>
            <p:cNvSpPr>
              <a:spLocks noChangeArrowheads="1"/>
            </p:cNvSpPr>
            <p:nvPr/>
          </p:nvSpPr>
          <p:spPr bwMode="auto">
            <a:xfrm>
              <a:off x="7583122" y="4524572"/>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4" name="Oval 20">
              <a:extLst>
                <a:ext uri="{FF2B5EF4-FFF2-40B4-BE49-F238E27FC236}">
                  <a16:creationId xmlns:a16="http://schemas.microsoft.com/office/drawing/2014/main" id="{3105437D-E515-4112-B42D-1337DBEB5543}"/>
                </a:ext>
              </a:extLst>
            </p:cNvPr>
            <p:cNvSpPr>
              <a:spLocks noChangeArrowheads="1"/>
            </p:cNvSpPr>
            <p:nvPr/>
          </p:nvSpPr>
          <p:spPr bwMode="auto">
            <a:xfrm>
              <a:off x="7492651" y="5337546"/>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5" name="Oval 21">
              <a:extLst>
                <a:ext uri="{FF2B5EF4-FFF2-40B4-BE49-F238E27FC236}">
                  <a16:creationId xmlns:a16="http://schemas.microsoft.com/office/drawing/2014/main" id="{B82B66E9-06D4-4CD0-8243-9F8F854E9A9D}"/>
                </a:ext>
              </a:extLst>
            </p:cNvPr>
            <p:cNvSpPr>
              <a:spLocks noChangeArrowheads="1"/>
            </p:cNvSpPr>
            <p:nvPr/>
          </p:nvSpPr>
          <p:spPr bwMode="auto">
            <a:xfrm>
              <a:off x="6481601" y="5348659"/>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6" name="Oval 22">
              <a:extLst>
                <a:ext uri="{FF2B5EF4-FFF2-40B4-BE49-F238E27FC236}">
                  <a16:creationId xmlns:a16="http://schemas.microsoft.com/office/drawing/2014/main" id="{9BAFDA13-0052-4119-B3D7-EABF2C00CCD2}"/>
                </a:ext>
              </a:extLst>
            </p:cNvPr>
            <p:cNvSpPr>
              <a:spLocks noChangeArrowheads="1"/>
            </p:cNvSpPr>
            <p:nvPr/>
          </p:nvSpPr>
          <p:spPr bwMode="auto">
            <a:xfrm>
              <a:off x="8221186" y="4991395"/>
              <a:ext cx="77774" cy="87331"/>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7" name="Oval 23">
              <a:extLst>
                <a:ext uri="{FF2B5EF4-FFF2-40B4-BE49-F238E27FC236}">
                  <a16:creationId xmlns:a16="http://schemas.microsoft.com/office/drawing/2014/main" id="{94F69AF1-388A-40F2-AA11-907A07189775}"/>
                </a:ext>
              </a:extLst>
            </p:cNvPr>
            <p:cNvSpPr>
              <a:spLocks noChangeArrowheads="1"/>
            </p:cNvSpPr>
            <p:nvPr/>
          </p:nvSpPr>
          <p:spPr bwMode="auto">
            <a:xfrm>
              <a:off x="8795792" y="4297516"/>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grpSp>
      <p:sp>
        <p:nvSpPr>
          <p:cNvPr id="88" name="TextBox 115">
            <a:extLst>
              <a:ext uri="{FF2B5EF4-FFF2-40B4-BE49-F238E27FC236}">
                <a16:creationId xmlns:a16="http://schemas.microsoft.com/office/drawing/2014/main" id="{C5D64270-3E99-4BD8-BA7F-B66741E94631}"/>
              </a:ext>
            </a:extLst>
          </p:cNvPr>
          <p:cNvSpPr txBox="1"/>
          <p:nvPr/>
        </p:nvSpPr>
        <p:spPr>
          <a:xfrm>
            <a:off x="6933871" y="4434154"/>
            <a:ext cx="4663327" cy="938590"/>
          </a:xfrm>
          <a:prstGeom prst="rect">
            <a:avLst/>
          </a:prstGeom>
          <a:noFill/>
        </p:spPr>
        <p:txBody>
          <a:bodyPr wrap="square">
            <a:spAutoFit/>
          </a:bodyPr>
          <a:lstStyle/>
          <a:p>
            <a:pPr eaLnBrk="1" hangingPunct="1">
              <a:lnSpc>
                <a:spcPct val="120000"/>
              </a:lnSpc>
              <a:defRPr/>
            </a:pPr>
            <a:r>
              <a:rPr lang="en-US" altLang="zh-CN" sz="2400" b="1" dirty="0">
                <a:solidFill>
                  <a:schemeClr val="tx1"/>
                </a:solidFill>
                <a:latin typeface="Trebuchet MS" panose="020B0603020202020204" pitchFamily="34" charset="0"/>
              </a:rPr>
              <a:t>Total Length</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2+2+3+3+4+5+5+7=31(</a:t>
            </a:r>
            <a:r>
              <a:rPr lang="en-US" altLang="zh-CN" sz="2400" b="1" dirty="0">
                <a:latin typeface="Trebuchet MS" panose="020B0603020202020204" pitchFamily="34" charset="0"/>
              </a:rPr>
              <a:t>meters</a:t>
            </a:r>
            <a:r>
              <a:rPr lang="en-US" altLang="zh-CN" sz="2400" b="1" dirty="0">
                <a:solidFill>
                  <a:schemeClr val="tx1"/>
                </a:solidFill>
                <a:latin typeface="Trebuchet MS" panose="020B0603020202020204" pitchFamily="34" charset="0"/>
              </a:rPr>
              <a:t>)</a:t>
            </a:r>
            <a:endParaRPr lang="zh-CN" altLang="en-US" sz="2400" b="1"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832478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3">
                                            <p:txEl>
                                              <p:pRg st="1" end="1"/>
                                            </p:txEl>
                                          </p:spTgt>
                                        </p:tgtEl>
                                        <p:attrNameLst>
                                          <p:attrName>style.visibility</p:attrName>
                                        </p:attrNameLst>
                                      </p:cBhvr>
                                      <p:to>
                                        <p:strVal val="visible"/>
                                      </p:to>
                                    </p:set>
                                    <p:animEffect transition="in" filter="fade">
                                      <p:cBhvr>
                                        <p:cTn id="14" dur="1000"/>
                                        <p:tgtEl>
                                          <p:spTgt spid="23">
                                            <p:txEl>
                                              <p:pRg st="1" end="1"/>
                                            </p:txEl>
                                          </p:spTgt>
                                        </p:tgtEl>
                                      </p:cBhvr>
                                    </p:animEffect>
                                    <p:anim calcmode="lin" valueType="num">
                                      <p:cBhvr>
                                        <p:cTn id="15" dur="1000" fill="hold"/>
                                        <p:tgtEl>
                                          <p:spTgt spid="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3">
                                            <p:txEl>
                                              <p:pRg st="2" end="2"/>
                                            </p:txEl>
                                          </p:spTgt>
                                        </p:tgtEl>
                                        <p:attrNameLst>
                                          <p:attrName>style.visibility</p:attrName>
                                        </p:attrNameLst>
                                      </p:cBhvr>
                                      <p:to>
                                        <p:strVal val="visible"/>
                                      </p:to>
                                    </p:set>
                                    <p:animEffect transition="in" filter="fade">
                                      <p:cBhvr>
                                        <p:cTn id="21" dur="1000"/>
                                        <p:tgtEl>
                                          <p:spTgt spid="23">
                                            <p:txEl>
                                              <p:pRg st="2" end="2"/>
                                            </p:txEl>
                                          </p:spTgt>
                                        </p:tgtEl>
                                      </p:cBhvr>
                                    </p:animEffect>
                                    <p:anim calcmode="lin" valueType="num">
                                      <p:cBhvr>
                                        <p:cTn id="22" dur="1000" fill="hold"/>
                                        <p:tgtEl>
                                          <p:spTgt spid="2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1"/>
                                        </p:tgtEl>
                                        <p:attrNameLst>
                                          <p:attrName>style.visibility</p:attrName>
                                        </p:attrNameLst>
                                      </p:cBhvr>
                                      <p:to>
                                        <p:strVal val="visible"/>
                                      </p:to>
                                    </p:set>
                                    <p:animEffect transition="in" filter="blinds(horizontal)">
                                      <p:cBhvr>
                                        <p:cTn id="28" dur="500"/>
                                        <p:tgtEl>
                                          <p:spTgt spid="7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animEffect transition="in" filter="blinds(horizontal)">
                                      <p:cBhvr>
                                        <p:cTn id="31"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7.1 Undirected Trees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285967644"/>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835766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7: Trees and Their Applications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a:p>
            <a:pPr>
              <a:lnSpc>
                <a:spcPct val="130000"/>
              </a:lnSpc>
              <a:spcBef>
                <a:spcPts val="600"/>
              </a:spcBef>
              <a:buClr>
                <a:srgbClr val="0B61FF"/>
              </a:buClr>
              <a:buSzPct val="80000"/>
              <a:buFont typeface="Wingdings" panose="05000000000000000000" pitchFamily="2" charset="2"/>
              <a:buChar char="n"/>
            </a:pPr>
            <a:r>
              <a:rPr lang="en-US" altLang="zh-CN" sz="2400" b="1" dirty="0">
                <a:solidFill>
                  <a:schemeClr val="bg2">
                    <a:lumMod val="50000"/>
                  </a:schemeClr>
                </a:solidFill>
                <a:latin typeface="Trebuchet MS" panose="020B0603020202020204" pitchFamily="34" charset="0"/>
              </a:rPr>
              <a:t>7.1 Undirected Trees</a:t>
            </a:r>
          </a:p>
          <a:p>
            <a:pPr>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7.2 Rooted Trees and Their Applications</a:t>
            </a:r>
            <a:endParaRPr lang="en-US" altLang="zh-CN" sz="2400" dirty="0">
              <a:solidFill>
                <a:srgbClr val="0B61FF"/>
              </a:solidFill>
              <a:latin typeface="Trebuchet MS" panose="020B0603020202020204" pitchFamily="34" charset="0"/>
            </a:endParaRPr>
          </a:p>
        </p:txBody>
      </p:sp>
    </p:spTree>
    <p:extLst>
      <p:ext uri="{BB962C8B-B14F-4D97-AF65-F5344CB8AC3E}">
        <p14:creationId xmlns:p14="http://schemas.microsoft.com/office/powerpoint/2010/main" val="24096210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7.2 </a:t>
            </a:r>
            <a:r>
              <a:rPr lang="en-US" altLang="zh-CN" sz="2400" b="1" dirty="0">
                <a:latin typeface="Trebuchet MS" panose="020B0603020202020204" pitchFamily="34" charset="0"/>
                <a:cs typeface="Times New Roman" panose="02020603050405020304" pitchFamily="18" charset="0"/>
              </a:rPr>
              <a:t>Rooted Trees and Their Applications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7.2.1 Rooted Trees and Their Classifications</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7.2.2 Optimal Trees and the Huffman Algorithm</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7.2.3 Optimal Prefix Codes</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7.2.4 Traversals of Rooted Trees and Their Applications</a:t>
            </a:r>
            <a:endParaRPr lang="en-US" sz="2400" dirty="0">
              <a:latin typeface="Trebuchet MS" panose="020B0603020202020204" pitchFamily="34" charset="0"/>
            </a:endParaRP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err="1">
                <a:latin typeface="Trebuchet MS" panose="020B0603020202020204" pitchFamily="34" charset="0"/>
              </a:rPr>
              <a:t>Inorder</a:t>
            </a:r>
            <a:r>
              <a:rPr lang="en-US" sz="2400" dirty="0">
                <a:latin typeface="Trebuchet MS" panose="020B0603020202020204" pitchFamily="34" charset="0"/>
              </a:rPr>
              <a:t> Traversal, Preorder Traversal, and </a:t>
            </a:r>
            <a:r>
              <a:rPr lang="en-US" sz="2400" dirty="0" err="1">
                <a:latin typeface="Trebuchet MS" panose="020B0603020202020204" pitchFamily="34" charset="0"/>
              </a:rPr>
              <a:t>Postorder</a:t>
            </a:r>
            <a:r>
              <a:rPr lang="en-US" sz="2400" dirty="0">
                <a:latin typeface="Trebuchet MS" panose="020B0603020202020204" pitchFamily="34" charset="0"/>
              </a:rPr>
              <a:t> Traversal</a:t>
            </a: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a:latin typeface="Trebuchet MS" panose="020B0603020202020204" pitchFamily="34" charset="0"/>
              </a:rPr>
              <a:t>Polish Notation and Reverse Polish Notation</a:t>
            </a:r>
          </a:p>
        </p:txBody>
      </p:sp>
    </p:spTree>
    <p:extLst>
      <p:ext uri="{BB962C8B-B14F-4D97-AF65-F5344CB8AC3E}">
        <p14:creationId xmlns:p14="http://schemas.microsoft.com/office/powerpoint/2010/main" val="142722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7.2.1 Rooted Trees and Their Classifications</a:t>
            </a: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t> </a:t>
            </a:r>
            <a:r>
              <a:rPr lang="en-US" altLang="zh-CN" sz="2400" b="1" dirty="0">
                <a:latin typeface="Trebuchet MS" panose="020B0603020202020204" pitchFamily="34" charset="0"/>
              </a:rPr>
              <a:t>Directed Tree vs. Rooted Tree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423081" y="772148"/>
            <a:ext cx="11546005" cy="58197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Directed Tree</a:t>
            </a:r>
            <a:r>
              <a:rPr lang="en-US" sz="2400" b="1" dirty="0">
                <a:latin typeface="Trebuchet MS" panose="020B0603020202020204" pitchFamily="34" charset="0"/>
              </a:rPr>
              <a:t>:</a:t>
            </a:r>
            <a:r>
              <a:rPr lang="en-US" sz="2400" dirty="0">
                <a:latin typeface="Trebuchet MS" panose="020B0603020202020204" pitchFamily="34" charset="0"/>
              </a:rPr>
              <a:t> A directed graph that becomes an undirected tree when edge directions are ignored.</a:t>
            </a:r>
          </a:p>
          <a:p>
            <a:pPr eaLnBrk="1" hangingPunct="1">
              <a:lnSpc>
                <a:spcPct val="120000"/>
              </a:lnSpc>
              <a:spcBef>
                <a:spcPts val="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Rooted Tree</a:t>
            </a:r>
            <a:r>
              <a:rPr lang="en-US" sz="2400" b="1" dirty="0">
                <a:latin typeface="Trebuchet MS" panose="020B0603020202020204" pitchFamily="34" charset="0"/>
              </a:rPr>
              <a:t>:</a:t>
            </a:r>
            <a:r>
              <a:rPr lang="en-US" sz="2400" dirty="0">
                <a:latin typeface="Trebuchet MS" panose="020B0603020202020204" pitchFamily="34" charset="0"/>
              </a:rPr>
              <a:t> A nontrivial directed tree in which exactly one vertex has in-degree </a:t>
            </a:r>
            <a:r>
              <a:rPr lang="en-US" sz="2400" b="1" dirty="0">
                <a:latin typeface="Trebuchet MS" panose="020B0603020202020204" pitchFamily="34" charset="0"/>
              </a:rPr>
              <a:t>0</a:t>
            </a:r>
            <a:r>
              <a:rPr lang="en-US" sz="2400" dirty="0">
                <a:latin typeface="Trebuchet MS" panose="020B0603020202020204" pitchFamily="34" charset="0"/>
              </a:rPr>
              <a:t> (</a:t>
            </a:r>
            <a:r>
              <a:rPr lang="en-US" sz="2400" b="1" i="1" dirty="0">
                <a:solidFill>
                  <a:srgbClr val="0B61FF"/>
                </a:solidFill>
                <a:latin typeface="Trebuchet MS" panose="020B0603020202020204" pitchFamily="34" charset="0"/>
              </a:rPr>
              <a:t>the root</a:t>
            </a:r>
            <a:r>
              <a:rPr lang="en-US" sz="2400" dirty="0">
                <a:latin typeface="Trebuchet MS" panose="020B0603020202020204" pitchFamily="34" charset="0"/>
              </a:rPr>
              <a:t>), and all other vertices have in-degree </a:t>
            </a:r>
            <a:r>
              <a:rPr lang="en-US" sz="2400" b="1" dirty="0">
                <a:latin typeface="Trebuchet MS" panose="020B0603020202020204" pitchFamily="34" charset="0"/>
              </a:rPr>
              <a:t>1</a:t>
            </a:r>
            <a:r>
              <a:rPr lang="en-US" sz="2400" dirty="0">
                <a:latin typeface="Trebuchet MS" panose="020B0603020202020204" pitchFamily="34" charset="0"/>
              </a:rPr>
              <a:t>.</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Root:</a:t>
            </a:r>
            <a:r>
              <a:rPr lang="en-US" sz="2400" dirty="0">
                <a:latin typeface="Trebuchet MS" panose="020B0603020202020204" pitchFamily="34" charset="0"/>
              </a:rPr>
              <a:t> The vertex with </a:t>
            </a:r>
            <a:r>
              <a:rPr lang="en-US" sz="2400" b="1" dirty="0">
                <a:solidFill>
                  <a:srgbClr val="0B61FF"/>
                </a:solidFill>
                <a:latin typeface="Trebuchet MS" panose="020B0603020202020204" pitchFamily="34" charset="0"/>
              </a:rPr>
              <a:t>in-degree 0</a:t>
            </a:r>
            <a:r>
              <a:rPr lang="en-US" sz="2400" dirty="0">
                <a:latin typeface="Trebuchet MS" panose="020B0603020202020204" pitchFamily="34" charset="0"/>
              </a:rPr>
              <a:t> in a directed tree.</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Leaf:</a:t>
            </a:r>
            <a:r>
              <a:rPr lang="en-US" sz="2400" dirty="0">
                <a:latin typeface="Trebuchet MS" panose="020B0603020202020204" pitchFamily="34" charset="0"/>
              </a:rPr>
              <a:t> A vertex with in-degree </a:t>
            </a:r>
            <a:r>
              <a:rPr lang="en-US" sz="2400" b="1" dirty="0">
                <a:latin typeface="Trebuchet MS" panose="020B0603020202020204" pitchFamily="34" charset="0"/>
              </a:rPr>
              <a:t>1</a:t>
            </a:r>
            <a:r>
              <a:rPr lang="en-US" sz="2400" dirty="0">
                <a:latin typeface="Trebuchet MS" panose="020B0603020202020204" pitchFamily="34" charset="0"/>
              </a:rPr>
              <a:t> and </a:t>
            </a:r>
            <a:r>
              <a:rPr lang="en-US" sz="2400" b="1" i="1" dirty="0">
                <a:solidFill>
                  <a:srgbClr val="0B61FF"/>
                </a:solidFill>
                <a:latin typeface="Trebuchet MS" panose="020B0603020202020204" pitchFamily="34" charset="0"/>
              </a:rPr>
              <a:t>out-degree 0</a:t>
            </a:r>
            <a:r>
              <a:rPr lang="en-US" sz="2400" dirty="0">
                <a:latin typeface="Trebuchet MS" panose="020B0603020202020204" pitchFamily="34" charset="0"/>
              </a:rPr>
              <a:t> in a directed tree.</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Internal Vertex:</a:t>
            </a:r>
            <a:r>
              <a:rPr lang="en-US" sz="2400" dirty="0">
                <a:latin typeface="Trebuchet MS" panose="020B0603020202020204" pitchFamily="34" charset="0"/>
              </a:rPr>
              <a:t> A vertex with in-degree </a:t>
            </a:r>
            <a:r>
              <a:rPr lang="en-US" sz="2400" b="1" dirty="0">
                <a:latin typeface="Trebuchet MS" panose="020B0603020202020204" pitchFamily="34" charset="0"/>
              </a:rPr>
              <a:t>1</a:t>
            </a:r>
            <a:r>
              <a:rPr lang="en-US" sz="2400" dirty="0">
                <a:latin typeface="Trebuchet MS" panose="020B0603020202020204" pitchFamily="34" charset="0"/>
              </a:rPr>
              <a:t> and </a:t>
            </a:r>
            <a:r>
              <a:rPr lang="en-US" sz="2400" b="1" i="1" dirty="0">
                <a:solidFill>
                  <a:srgbClr val="0B61FF"/>
                </a:solidFill>
                <a:latin typeface="Trebuchet MS" panose="020B0603020202020204" pitchFamily="34" charset="0"/>
              </a:rPr>
              <a:t>out-degree greater than 0 </a:t>
            </a:r>
            <a:r>
              <a:rPr lang="en-US" sz="2400" dirty="0">
                <a:latin typeface="Trebuchet MS" panose="020B0603020202020204" pitchFamily="34" charset="0"/>
              </a:rPr>
              <a:t>in a directed tree.</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Branching Vertex:</a:t>
            </a:r>
            <a:r>
              <a:rPr lang="en-US" sz="2400" dirty="0">
                <a:latin typeface="Trebuchet MS" panose="020B0603020202020204" pitchFamily="34" charset="0"/>
              </a:rPr>
              <a:t> A general term referring to both the </a:t>
            </a:r>
            <a:r>
              <a:rPr lang="en-US" sz="2400" b="1" i="1" dirty="0">
                <a:solidFill>
                  <a:srgbClr val="0B61FF"/>
                </a:solidFill>
                <a:latin typeface="Trebuchet MS" panose="020B0603020202020204" pitchFamily="34" charset="0"/>
              </a:rPr>
              <a:t>root and internal vertices</a:t>
            </a:r>
            <a:r>
              <a:rPr lang="en-US" sz="2400" dirty="0">
                <a:latin typeface="Trebuchet MS" panose="020B0603020202020204" pitchFamily="34" charset="0"/>
              </a:rPr>
              <a:t>.</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Level of a Vertex </a:t>
            </a:r>
            <a:r>
              <a:rPr lang="en-US" sz="2400" b="1" i="1" dirty="0">
                <a:latin typeface="Trebuchet MS" panose="020B0603020202020204" pitchFamily="34" charset="0"/>
              </a:rPr>
              <a:t>v</a:t>
            </a:r>
            <a:r>
              <a:rPr lang="en-US" sz="2400" b="1" dirty="0">
                <a:latin typeface="Trebuchet MS" panose="020B0603020202020204" pitchFamily="34" charset="0"/>
              </a:rPr>
              <a:t>:</a:t>
            </a:r>
            <a:r>
              <a:rPr lang="en-US" sz="2400" dirty="0">
                <a:latin typeface="Trebuchet MS" panose="020B0603020202020204" pitchFamily="34" charset="0"/>
              </a:rPr>
              <a:t> The </a:t>
            </a:r>
            <a:r>
              <a:rPr lang="en-US" sz="2400" b="1" i="1" dirty="0">
                <a:solidFill>
                  <a:srgbClr val="0B61FF"/>
                </a:solidFill>
                <a:latin typeface="Trebuchet MS" panose="020B0603020202020204" pitchFamily="34" charset="0"/>
              </a:rPr>
              <a:t>length of the path </a:t>
            </a:r>
            <a:r>
              <a:rPr lang="en-US" sz="2400" dirty="0">
                <a:latin typeface="Trebuchet MS" panose="020B0603020202020204" pitchFamily="34" charset="0"/>
              </a:rPr>
              <a:t>from the root to vertex </a:t>
            </a:r>
            <a:r>
              <a:rPr lang="en-US" sz="2400" b="1" i="1" dirty="0">
                <a:latin typeface="Trebuchet MS" panose="020B0603020202020204" pitchFamily="34" charset="0"/>
              </a:rPr>
              <a:t>v</a:t>
            </a:r>
            <a:r>
              <a:rPr lang="en-US" sz="2400" dirty="0">
                <a:latin typeface="Trebuchet MS" panose="020B0603020202020204" pitchFamily="34" charset="0"/>
              </a:rPr>
              <a:t>.</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Height of the Tree:</a:t>
            </a:r>
            <a:r>
              <a:rPr lang="en-US" sz="2400" dirty="0">
                <a:latin typeface="Trebuchet MS" panose="020B0603020202020204" pitchFamily="34" charset="0"/>
              </a:rPr>
              <a:t> The </a:t>
            </a:r>
            <a:r>
              <a:rPr lang="en-US" sz="2400" b="1" i="1" dirty="0">
                <a:solidFill>
                  <a:srgbClr val="0B61FF"/>
                </a:solidFill>
                <a:latin typeface="Trebuchet MS" panose="020B0603020202020204" pitchFamily="34" charset="0"/>
              </a:rPr>
              <a:t>maximum level </a:t>
            </a:r>
            <a:r>
              <a:rPr lang="en-US" sz="2400" dirty="0">
                <a:latin typeface="Trebuchet MS" panose="020B0603020202020204" pitchFamily="34" charset="0"/>
              </a:rPr>
              <a:t>among all vertices in the directed tree.</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482281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1000"/>
                                        <p:tgtEl>
                                          <p:spTgt spid="8">
                                            <p:txEl>
                                              <p:pRg st="6" end="6"/>
                                            </p:txEl>
                                          </p:spTgt>
                                        </p:tgtEl>
                                      </p:cBhvr>
                                    </p:animEffect>
                                    <p:anim calcmode="lin" valueType="num">
                                      <p:cBhvr>
                                        <p:cTn id="3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Effect transition="in" filter="fade">
                                      <p:cBhvr>
                                        <p:cTn id="43" dur="1000"/>
                                        <p:tgtEl>
                                          <p:spTgt spid="8">
                                            <p:txEl>
                                              <p:pRg st="7" end="7"/>
                                            </p:txEl>
                                          </p:spTgt>
                                        </p:tgtEl>
                                      </p:cBhvr>
                                    </p:animEffect>
                                    <p:anim calcmode="lin" valueType="num">
                                      <p:cBhvr>
                                        <p:cTn id="44"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7.2.1 Rooted Trees and Their Classifications</a:t>
            </a: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b="1" dirty="0"/>
              <a:t> </a:t>
            </a:r>
            <a:r>
              <a:rPr lang="en-US" altLang="zh-CN" sz="2400" b="1" dirty="0">
                <a:latin typeface="Trebuchet MS" panose="020B0603020202020204" pitchFamily="34" charset="0"/>
              </a:rPr>
              <a:t>Drawing a Rooted Tree(</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25000"/>
              </a:spcBef>
              <a:buFontTx/>
              <a:buNone/>
            </a:pPr>
            <a:endParaRPr lang="en-US" altLang="zh-CN" sz="2800" b="1" dirty="0">
              <a:solidFill>
                <a:srgbClr val="FF0000"/>
              </a:solidFill>
            </a:endParaRPr>
          </a:p>
          <a:p>
            <a:pPr marL="0" indent="0" eaLnBrk="1" hangingPunct="1">
              <a:spcBef>
                <a:spcPct val="40000"/>
              </a:spcBef>
              <a:buNone/>
            </a:pPr>
            <a:endParaRPr lang="zh-CN" altLang="en-US" b="1" dirty="0"/>
          </a:p>
        </p:txBody>
      </p:sp>
      <p:sp>
        <p:nvSpPr>
          <p:cNvPr id="9" name="Rectangle 3">
            <a:extLst>
              <a:ext uri="{FF2B5EF4-FFF2-40B4-BE49-F238E27FC236}">
                <a16:creationId xmlns:a16="http://schemas.microsoft.com/office/drawing/2014/main" id="{39A670A6-F93A-4E5E-8A8F-54D6333E6FDA}"/>
              </a:ext>
            </a:extLst>
          </p:cNvPr>
          <p:cNvSpPr txBox="1">
            <a:spLocks noChangeArrowheads="1"/>
          </p:cNvSpPr>
          <p:nvPr/>
        </p:nvSpPr>
        <p:spPr>
          <a:xfrm>
            <a:off x="912402" y="870107"/>
            <a:ext cx="7431497" cy="4692494"/>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zh-CN" altLang="en-US" sz="2400" dirty="0">
                <a:latin typeface="Trebuchet MS" panose="020B0603020202020204" pitchFamily="34" charset="0"/>
              </a:rPr>
              <a:t>：</a:t>
            </a:r>
            <a:r>
              <a:rPr lang="en-US" sz="2400" dirty="0">
                <a:latin typeface="Trebuchet MS" panose="020B0603020202020204" pitchFamily="34" charset="0"/>
              </a:rPr>
              <a:t>(as shown in the diagram on the right):</a:t>
            </a:r>
          </a:p>
          <a:p>
            <a:pPr marL="444500" indent="-177800">
              <a:lnSpc>
                <a:spcPct val="120000"/>
              </a:lnSpc>
              <a:spcBef>
                <a:spcPts val="300"/>
              </a:spcBef>
              <a:buClr>
                <a:srgbClr val="0B61FF"/>
              </a:buClr>
              <a:buSzPct val="120000"/>
            </a:pPr>
            <a:r>
              <a:rPr lang="en-US" sz="2400" b="1" i="1" dirty="0">
                <a:latin typeface="Trebuchet MS" panose="020B0603020202020204" pitchFamily="34" charset="0"/>
              </a:rPr>
              <a:t>a</a:t>
            </a:r>
            <a:r>
              <a:rPr lang="en-US" sz="2400" dirty="0">
                <a:latin typeface="Trebuchet MS" panose="020B0603020202020204" pitchFamily="34" charset="0"/>
              </a:rPr>
              <a:t> is the root.</a:t>
            </a:r>
          </a:p>
          <a:p>
            <a:pPr marL="444500" indent="-177800">
              <a:lnSpc>
                <a:spcPct val="120000"/>
              </a:lnSpc>
              <a:spcBef>
                <a:spcPts val="300"/>
              </a:spcBef>
              <a:buClr>
                <a:srgbClr val="0B61FF"/>
              </a:buClr>
              <a:buSzPct val="120000"/>
            </a:pPr>
            <a:r>
              <a:rPr lang="en-US" sz="2400" b="1" i="1" dirty="0" err="1">
                <a:latin typeface="Trebuchet MS" panose="020B0603020202020204" pitchFamily="34" charset="0"/>
              </a:rPr>
              <a:t>b,e,f,h,I</a:t>
            </a:r>
            <a:r>
              <a:rPr lang="en-US" sz="2400" dirty="0">
                <a:latin typeface="Trebuchet MS" panose="020B0603020202020204" pitchFamily="34" charset="0"/>
              </a:rPr>
              <a:t> are the leaves.</a:t>
            </a:r>
          </a:p>
          <a:p>
            <a:pPr marL="444500" indent="-177800">
              <a:lnSpc>
                <a:spcPct val="120000"/>
              </a:lnSpc>
              <a:spcBef>
                <a:spcPts val="300"/>
              </a:spcBef>
              <a:buClr>
                <a:srgbClr val="0B61FF"/>
              </a:buClr>
              <a:buSzPct val="120000"/>
            </a:pPr>
            <a:r>
              <a:rPr lang="en-US" sz="2400" b="1" i="1" dirty="0" err="1">
                <a:latin typeface="Trebuchet MS" panose="020B0603020202020204" pitchFamily="34" charset="0"/>
              </a:rPr>
              <a:t>c,d,g</a:t>
            </a:r>
            <a:r>
              <a:rPr lang="en-US" sz="2400" b="1" i="1" dirty="0">
                <a:latin typeface="Trebuchet MS" panose="020B0603020202020204" pitchFamily="34" charset="0"/>
              </a:rPr>
              <a:t> </a:t>
            </a:r>
            <a:r>
              <a:rPr lang="en-US" sz="2400" dirty="0">
                <a:latin typeface="Trebuchet MS" panose="020B0603020202020204" pitchFamily="34" charset="0"/>
              </a:rPr>
              <a:t>are internal vertices.</a:t>
            </a:r>
          </a:p>
          <a:p>
            <a:pPr marL="444500" indent="-177800">
              <a:lnSpc>
                <a:spcPct val="120000"/>
              </a:lnSpc>
              <a:spcBef>
                <a:spcPts val="300"/>
              </a:spcBef>
              <a:buClr>
                <a:srgbClr val="0B61FF"/>
              </a:buClr>
              <a:buSzPct val="120000"/>
            </a:pPr>
            <a:r>
              <a:rPr lang="en-US" sz="2400" b="1" i="1" dirty="0" err="1">
                <a:latin typeface="Trebuchet MS" panose="020B0603020202020204" pitchFamily="34" charset="0"/>
              </a:rPr>
              <a:t>a,c,d,g</a:t>
            </a:r>
            <a:r>
              <a:rPr lang="en-US" sz="2400" dirty="0">
                <a:latin typeface="Trebuchet MS" panose="020B0603020202020204" pitchFamily="34" charset="0"/>
              </a:rPr>
              <a:t> are branching vertices.</a:t>
            </a:r>
          </a:p>
          <a:p>
            <a:pPr marL="444500" indent="-177800">
              <a:lnSpc>
                <a:spcPct val="120000"/>
              </a:lnSpc>
              <a:spcBef>
                <a:spcPts val="300"/>
              </a:spcBef>
              <a:buClr>
                <a:srgbClr val="0B61FF"/>
              </a:buClr>
              <a:buSzPct val="120000"/>
            </a:pPr>
            <a:r>
              <a:rPr lang="en-US" sz="2400" b="1" i="1" dirty="0">
                <a:latin typeface="Trebuchet MS" panose="020B0603020202020204" pitchFamily="34" charset="0"/>
              </a:rPr>
              <a:t>a</a:t>
            </a:r>
            <a:r>
              <a:rPr lang="en-US" sz="2400" dirty="0">
                <a:latin typeface="Trebuchet MS" panose="020B0603020202020204" pitchFamily="34" charset="0"/>
              </a:rPr>
              <a:t> is at level 0; level 1 contains </a:t>
            </a:r>
            <a:r>
              <a:rPr lang="en-US" sz="2400" b="1" i="1" dirty="0" err="1">
                <a:latin typeface="Trebuchet MS" panose="020B0603020202020204" pitchFamily="34" charset="0"/>
              </a:rPr>
              <a:t>b,c</a:t>
            </a:r>
            <a:r>
              <a:rPr lang="en-US" sz="2400" dirty="0">
                <a:latin typeface="Trebuchet MS" panose="020B0603020202020204" pitchFamily="34" charset="0"/>
              </a:rPr>
              <a:t>; level 2 contains </a:t>
            </a:r>
            <a:r>
              <a:rPr lang="en-US" sz="2400" b="1" i="1" dirty="0" err="1">
                <a:latin typeface="Trebuchet MS" panose="020B0603020202020204" pitchFamily="34" charset="0"/>
              </a:rPr>
              <a:t>d,e,f</a:t>
            </a:r>
            <a:r>
              <a:rPr lang="en-US" sz="2400">
                <a:latin typeface="Trebuchet MS" panose="020B0603020202020204" pitchFamily="34" charset="0"/>
              </a:rPr>
              <a:t>; level </a:t>
            </a:r>
            <a:r>
              <a:rPr lang="en-US" sz="2400" dirty="0">
                <a:latin typeface="Trebuchet MS" panose="020B0603020202020204" pitchFamily="34" charset="0"/>
              </a:rPr>
              <a:t>3 contains </a:t>
            </a:r>
            <a:r>
              <a:rPr lang="en-US" sz="2400" b="1" i="1" dirty="0" err="1">
                <a:latin typeface="Trebuchet MS" panose="020B0603020202020204" pitchFamily="34" charset="0"/>
              </a:rPr>
              <a:t>g,h</a:t>
            </a:r>
            <a:r>
              <a:rPr lang="en-US" sz="2400" dirty="0">
                <a:latin typeface="Trebuchet MS" panose="020B0603020202020204" pitchFamily="34" charset="0"/>
              </a:rPr>
              <a:t>; level 4 contains </a:t>
            </a:r>
            <a:r>
              <a:rPr lang="en-US" sz="2400" b="1" i="1" dirty="0" err="1">
                <a:latin typeface="Trebuchet MS" panose="020B0603020202020204" pitchFamily="34" charset="0"/>
              </a:rPr>
              <a:t>i</a:t>
            </a:r>
            <a:r>
              <a:rPr lang="en-US" sz="2400" dirty="0">
                <a:latin typeface="Trebuchet MS" panose="020B0603020202020204" pitchFamily="34" charset="0"/>
              </a:rPr>
              <a:t>.</a:t>
            </a:r>
          </a:p>
          <a:p>
            <a:pPr marL="444500" indent="-177800">
              <a:lnSpc>
                <a:spcPct val="120000"/>
              </a:lnSpc>
              <a:spcBef>
                <a:spcPts val="300"/>
              </a:spcBef>
              <a:buClr>
                <a:srgbClr val="0B61FF"/>
              </a:buClr>
              <a:buSzPct val="120000"/>
            </a:pPr>
            <a:r>
              <a:rPr lang="en-US" sz="2400" dirty="0">
                <a:latin typeface="Trebuchet MS" panose="020B0603020202020204" pitchFamily="34" charset="0"/>
              </a:rPr>
              <a:t>The height of the tree is 4.</a:t>
            </a:r>
          </a:p>
        </p:txBody>
      </p:sp>
      <p:pic>
        <p:nvPicPr>
          <p:cNvPr id="10" name="Picture 5" descr="16-12(1)">
            <a:extLst>
              <a:ext uri="{FF2B5EF4-FFF2-40B4-BE49-F238E27FC236}">
                <a16:creationId xmlns:a16="http://schemas.microsoft.com/office/drawing/2014/main" id="{791E9AD5-2503-4FBB-B86C-74EDBCFF19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6840" y="1373492"/>
            <a:ext cx="20923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89976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fade">
                                      <p:cBhvr>
                                        <p:cTn id="19" dur="1000"/>
                                        <p:tgtEl>
                                          <p:spTgt spid="9">
                                            <p:txEl>
                                              <p:pRg st="3" end="3"/>
                                            </p:txEl>
                                          </p:spTgt>
                                        </p:tgtEl>
                                      </p:cBhvr>
                                    </p:animEffect>
                                    <p:anim calcmode="lin" valueType="num">
                                      <p:cBhvr>
                                        <p:cTn id="20"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1000"/>
                                        <p:tgtEl>
                                          <p:spTgt spid="9">
                                            <p:txEl>
                                              <p:pRg st="4" end="4"/>
                                            </p:txEl>
                                          </p:spTgt>
                                        </p:tgtEl>
                                      </p:cBhvr>
                                    </p:animEffect>
                                    <p:anim calcmode="lin" valueType="num">
                                      <p:cBhvr>
                                        <p:cTn id="2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Effect transition="in" filter="fade">
                                      <p:cBhvr>
                                        <p:cTn id="31" dur="1000"/>
                                        <p:tgtEl>
                                          <p:spTgt spid="9">
                                            <p:txEl>
                                              <p:pRg st="5" end="5"/>
                                            </p:txEl>
                                          </p:spTgt>
                                        </p:tgtEl>
                                      </p:cBhvr>
                                    </p:animEffect>
                                    <p:anim calcmode="lin" valueType="num">
                                      <p:cBhvr>
                                        <p:cTn id="32"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1000"/>
                                        <p:tgtEl>
                                          <p:spTgt spid="9">
                                            <p:txEl>
                                              <p:pRg st="6" end="6"/>
                                            </p:txEl>
                                          </p:spTgt>
                                        </p:tgtEl>
                                      </p:cBhvr>
                                    </p:animEffect>
                                    <p:anim calcmode="lin" valueType="num">
                                      <p:cBhvr>
                                        <p:cTn id="39"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7.2.1 Rooted Trees and Their Classifications</a:t>
            </a: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b="1" dirty="0"/>
              <a:t> </a:t>
            </a:r>
            <a:r>
              <a:rPr lang="en-US" altLang="zh-CN" sz="2400" b="1" dirty="0">
                <a:latin typeface="Trebuchet MS" panose="020B0603020202020204" pitchFamily="34" charset="0"/>
              </a:rPr>
              <a:t>Viewing a Rooted Tree as a Family Tree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9877336" cy="51282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If vertex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is adjacent to vertex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then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is called the </a:t>
            </a:r>
            <a:r>
              <a:rPr kumimoji="0" lang="en-US" altLang="en-US" sz="2400" b="1" i="1" u="none" strike="noStrike" cap="none" normalizeH="0" baseline="0" dirty="0">
                <a:ln>
                  <a:noFill/>
                </a:ln>
                <a:solidFill>
                  <a:srgbClr val="0B61FF"/>
                </a:solidFill>
                <a:effectLst/>
                <a:latin typeface="Trebuchet MS" panose="020B0603020202020204" pitchFamily="34" charset="0"/>
              </a:rPr>
              <a:t>child</a:t>
            </a:r>
            <a:r>
              <a:rPr kumimoji="0" lang="en-US" altLang="en-US" sz="2400" b="0" i="0" u="none" strike="noStrike" cap="none" normalizeH="0" baseline="0" dirty="0">
                <a:ln>
                  <a:noFill/>
                </a:ln>
                <a:solidFill>
                  <a:schemeClr val="tx1"/>
                </a:solidFill>
                <a:effectLst/>
                <a:latin typeface="Trebuchet MS" panose="020B0603020202020204" pitchFamily="34" charset="0"/>
              </a:rPr>
              <a:t> of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and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is the </a:t>
            </a:r>
            <a:r>
              <a:rPr lang="en-US" altLang="en-US" sz="2400" b="1" i="1" dirty="0">
                <a:solidFill>
                  <a:srgbClr val="0B61FF"/>
                </a:solidFill>
                <a:latin typeface="Trebuchet MS" panose="020B0603020202020204" pitchFamily="34" charset="0"/>
              </a:rPr>
              <a:t>parent</a:t>
            </a:r>
            <a:r>
              <a:rPr kumimoji="0" lang="en-US" altLang="en-US" sz="2400" b="0" i="0" u="none" strike="noStrike" cap="none" normalizeH="0" baseline="0" dirty="0">
                <a:ln>
                  <a:noFill/>
                </a:ln>
                <a:solidFill>
                  <a:schemeClr val="tx1"/>
                </a:solidFill>
                <a:effectLst/>
                <a:latin typeface="Trebuchet MS" panose="020B0603020202020204" pitchFamily="34" charset="0"/>
              </a:rPr>
              <a:t> of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If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and </a:t>
            </a:r>
            <a:r>
              <a:rPr kumimoji="0" lang="en-US" altLang="en-US" sz="2400" b="1" i="1" u="none" strike="noStrike" cap="none" normalizeH="0" baseline="0" dirty="0">
                <a:ln>
                  <a:noFill/>
                </a:ln>
                <a:solidFill>
                  <a:schemeClr val="tx1"/>
                </a:solidFill>
                <a:effectLst/>
                <a:latin typeface="Trebuchet MS" panose="020B0603020202020204" pitchFamily="34" charset="0"/>
              </a:rPr>
              <a:t>c</a:t>
            </a:r>
            <a:r>
              <a:rPr kumimoji="0" lang="en-US" altLang="en-US" sz="2400" b="0" i="0" u="none" strike="noStrike" cap="none" normalizeH="0" baseline="0" dirty="0">
                <a:ln>
                  <a:noFill/>
                </a:ln>
                <a:solidFill>
                  <a:schemeClr val="tx1"/>
                </a:solidFill>
                <a:effectLst/>
                <a:latin typeface="Trebuchet MS" panose="020B0603020202020204" pitchFamily="34" charset="0"/>
              </a:rPr>
              <a:t> are both children of the same vertex, they are called </a:t>
            </a:r>
            <a:r>
              <a:rPr lang="en-US" altLang="en-US" sz="2400" b="1" i="1" dirty="0">
                <a:solidFill>
                  <a:srgbClr val="0B61FF"/>
                </a:solidFill>
                <a:latin typeface="Trebuchet MS" panose="020B0603020202020204" pitchFamily="34" charset="0"/>
              </a:rPr>
              <a:t>siblings</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If </a:t>
            </a:r>
            <a:r>
              <a:rPr kumimoji="0" lang="en-US" altLang="en-US" sz="2400" b="1" i="1" u="none" strike="noStrike" cap="none" normalizeH="0" baseline="0" dirty="0" err="1">
                <a:ln>
                  <a:noFill/>
                </a:ln>
                <a:solidFill>
                  <a:schemeClr val="tx1"/>
                </a:solidFill>
                <a:effectLst/>
                <a:latin typeface="Trebuchet MS" panose="020B0603020202020204" pitchFamily="34" charset="0"/>
              </a:rPr>
              <a:t>a</a:t>
            </a:r>
            <a:r>
              <a:rPr kumimoji="0" lang="en-US" altLang="en-US" sz="2400" b="1" i="0" u="none" strike="noStrike" cap="none" normalizeH="0" baseline="0" dirty="0" err="1">
                <a:ln>
                  <a:noFill/>
                </a:ln>
                <a:solidFill>
                  <a:schemeClr val="tx1"/>
                </a:solidFill>
                <a:effectLst/>
                <a:latin typeface="Trebuchet MS" panose="020B0603020202020204" pitchFamily="34" charset="0"/>
              </a:rPr>
              <a:t>≠</a:t>
            </a:r>
            <a:r>
              <a:rPr kumimoji="0" lang="en-US" altLang="en-US" sz="2400" b="1" i="1" u="none" strike="noStrike" cap="none" normalizeH="0" baseline="0" dirty="0" err="1">
                <a:ln>
                  <a:noFill/>
                </a:ln>
                <a:solidFill>
                  <a:schemeClr val="tx1"/>
                </a:solidFill>
                <a:effectLst/>
                <a:latin typeface="Trebuchet MS" panose="020B0603020202020204" pitchFamily="34" charset="0"/>
              </a:rPr>
              <a:t>b</a:t>
            </a:r>
            <a:r>
              <a:rPr kumimoji="0" lang="en-US" altLang="en-US" sz="2400" b="1" i="0" u="none" strike="noStrike" cap="none" normalizeH="0" baseline="0" dirty="0">
                <a:ln>
                  <a:noFill/>
                </a:ln>
                <a:solidFill>
                  <a:schemeClr val="tx1"/>
                </a:solidFill>
                <a:effectLst/>
                <a:latin typeface="Trebuchet MS" panose="020B0603020202020204" pitchFamily="34" charset="0"/>
              </a:rPr>
              <a:t> </a:t>
            </a:r>
            <a:r>
              <a:rPr kumimoji="0" lang="en-US" altLang="en-US" sz="2400" b="0" i="0" u="none" strike="noStrike" cap="none" normalizeH="0" baseline="0" dirty="0">
                <a:ln>
                  <a:noFill/>
                </a:ln>
                <a:solidFill>
                  <a:schemeClr val="tx1"/>
                </a:solidFill>
                <a:effectLst/>
                <a:latin typeface="Trebuchet MS" panose="020B0603020202020204" pitchFamily="34" charset="0"/>
              </a:rPr>
              <a:t>and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can reach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then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is an </a:t>
            </a:r>
            <a:r>
              <a:rPr lang="en-US" altLang="en-US" sz="2400" b="1" i="1" dirty="0">
                <a:solidFill>
                  <a:srgbClr val="0B61FF"/>
                </a:solidFill>
                <a:latin typeface="Trebuchet MS" panose="020B0603020202020204" pitchFamily="34" charset="0"/>
              </a:rPr>
              <a:t>ancestor</a:t>
            </a:r>
            <a:r>
              <a:rPr kumimoji="0" lang="en-US" altLang="en-US" sz="2400" b="0" i="0" u="none" strike="noStrike" cap="none" normalizeH="0" baseline="0" dirty="0">
                <a:ln>
                  <a:noFill/>
                </a:ln>
                <a:solidFill>
                  <a:schemeClr val="tx1"/>
                </a:solidFill>
                <a:effectLst/>
                <a:latin typeface="Trebuchet MS" panose="020B0603020202020204" pitchFamily="34" charset="0"/>
              </a:rPr>
              <a:t> of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and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is a </a:t>
            </a:r>
            <a:r>
              <a:rPr lang="en-US" altLang="en-US" sz="2400" b="1" i="1" dirty="0">
                <a:solidFill>
                  <a:srgbClr val="0B61FF"/>
                </a:solidFill>
                <a:latin typeface="Trebuchet MS" panose="020B0603020202020204" pitchFamily="34" charset="0"/>
              </a:rPr>
              <a:t>descendant</a:t>
            </a:r>
            <a:r>
              <a:rPr kumimoji="0" lang="en-US" altLang="en-US" sz="2400" b="0" i="0" u="none" strike="noStrike" cap="none" normalizeH="0" baseline="0" dirty="0">
                <a:ln>
                  <a:noFill/>
                </a:ln>
                <a:solidFill>
                  <a:schemeClr val="tx1"/>
                </a:solidFill>
                <a:effectLst/>
                <a:latin typeface="Trebuchet MS" panose="020B0603020202020204" pitchFamily="34" charset="0"/>
              </a:rPr>
              <a:t> of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Let </a:t>
            </a:r>
            <a:r>
              <a:rPr kumimoji="0" lang="en-US" altLang="en-US" sz="2400" b="1" i="1" u="none" strike="noStrike" cap="none" normalizeH="0" baseline="0" dirty="0">
                <a:ln>
                  <a:noFill/>
                </a:ln>
                <a:solidFill>
                  <a:schemeClr val="tx1"/>
                </a:solidFill>
                <a:effectLst/>
                <a:latin typeface="Trebuchet MS" panose="020B0603020202020204" pitchFamily="34" charset="0"/>
              </a:rPr>
              <a:t>v</a:t>
            </a:r>
            <a:r>
              <a:rPr kumimoji="0" lang="en-US" altLang="en-US" sz="2400" b="0" i="0" u="none" strike="noStrike" cap="none" normalizeH="0" baseline="0" dirty="0">
                <a:ln>
                  <a:noFill/>
                </a:ln>
                <a:solidFill>
                  <a:schemeClr val="tx1"/>
                </a:solidFill>
                <a:effectLst/>
                <a:latin typeface="Trebuchet MS" panose="020B0603020202020204" pitchFamily="34" charset="0"/>
              </a:rPr>
              <a:t> be a vertex in the rooted tree that is not the root. The subgraph induced by </a:t>
            </a:r>
            <a:r>
              <a:rPr kumimoji="0" lang="en-US" altLang="en-US" sz="2400" b="1" i="1" u="none" strike="noStrike" cap="none" normalizeH="0" baseline="0" dirty="0">
                <a:ln>
                  <a:noFill/>
                </a:ln>
                <a:solidFill>
                  <a:schemeClr val="tx1"/>
                </a:solidFill>
                <a:effectLst/>
                <a:latin typeface="Trebuchet MS" panose="020B0603020202020204" pitchFamily="34" charset="0"/>
              </a:rPr>
              <a:t>v</a:t>
            </a:r>
            <a:r>
              <a:rPr kumimoji="0" lang="en-US" altLang="en-US" sz="2400" b="0" i="0" u="none" strike="noStrike" cap="none" normalizeH="0" baseline="0" dirty="0">
                <a:ln>
                  <a:noFill/>
                </a:ln>
                <a:solidFill>
                  <a:schemeClr val="tx1"/>
                </a:solidFill>
                <a:effectLst/>
                <a:latin typeface="Trebuchet MS" panose="020B0603020202020204" pitchFamily="34" charset="0"/>
              </a:rPr>
              <a:t> and all its descendants is called the </a:t>
            </a:r>
            <a:r>
              <a:rPr lang="en-US" altLang="en-US" sz="2400" b="1" i="1" dirty="0">
                <a:solidFill>
                  <a:srgbClr val="0B61FF"/>
                </a:solidFill>
                <a:latin typeface="Trebuchet MS" panose="020B0603020202020204" pitchFamily="34" charset="0"/>
              </a:rPr>
              <a:t>subtree rooted</a:t>
            </a:r>
            <a:r>
              <a:rPr kumimoji="0" lang="en-US" altLang="en-US" sz="2400" b="1" i="0" u="none" strike="noStrike" cap="none" normalizeH="0" baseline="0" dirty="0">
                <a:ln>
                  <a:noFill/>
                </a:ln>
                <a:solidFill>
                  <a:schemeClr val="tx1"/>
                </a:solidFill>
                <a:effectLst/>
                <a:latin typeface="Trebuchet MS" panose="020B0603020202020204" pitchFamily="34" charset="0"/>
              </a:rPr>
              <a:t> </a:t>
            </a:r>
            <a:r>
              <a:rPr kumimoji="0" lang="en-US" altLang="en-US" sz="2400" i="0" u="none" strike="noStrike" cap="none" normalizeH="0" baseline="0" dirty="0">
                <a:ln>
                  <a:noFill/>
                </a:ln>
                <a:solidFill>
                  <a:schemeClr val="tx1"/>
                </a:solidFill>
                <a:effectLst/>
                <a:latin typeface="Trebuchet MS" panose="020B0603020202020204" pitchFamily="34" charset="0"/>
              </a:rPr>
              <a:t>at</a:t>
            </a:r>
            <a:r>
              <a:rPr kumimoji="0" lang="en-US" altLang="en-US" sz="2400" b="1" i="0" u="none" strike="noStrike" cap="none" normalizeH="0" baseline="0" dirty="0">
                <a:ln>
                  <a:noFill/>
                </a:ln>
                <a:solidFill>
                  <a:schemeClr val="tx1"/>
                </a:solidFill>
                <a:effectLst/>
                <a:latin typeface="Trebuchet MS" panose="020B0603020202020204" pitchFamily="34" charset="0"/>
              </a:rPr>
              <a:t> </a:t>
            </a:r>
            <a:r>
              <a:rPr kumimoji="0" lang="en-US" altLang="en-US" sz="2400" b="1" i="1" u="none" strike="noStrike" cap="none" normalizeH="0" baseline="0" dirty="0">
                <a:ln>
                  <a:noFill/>
                </a:ln>
                <a:solidFill>
                  <a:schemeClr val="tx1"/>
                </a:solidFill>
                <a:effectLst/>
                <a:latin typeface="Trebuchet MS" panose="020B0603020202020204" pitchFamily="34" charset="0"/>
              </a:rPr>
              <a:t>v</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If a fixed order is assigned to the vertices at each level of a rooted tree, it is called an </a:t>
            </a:r>
            <a:r>
              <a:rPr lang="en-US" altLang="en-US" sz="2400" b="1" i="1" dirty="0">
                <a:solidFill>
                  <a:srgbClr val="0B61FF"/>
                </a:solidFill>
                <a:latin typeface="Trebuchet MS" panose="020B0603020202020204" pitchFamily="34" charset="0"/>
              </a:rPr>
              <a:t>ordered tree</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eaLnBrk="1" hangingPunct="1">
              <a:buFontTx/>
              <a:buNone/>
            </a:pP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4264565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7.2.1 Rooted Trees and Their Classifications</a:t>
            </a: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rPr>
              <a:t> </a:t>
            </a:r>
            <a:r>
              <a:rPr lang="en-US" altLang="zh-CN" sz="2400" b="1" dirty="0">
                <a:latin typeface="Trebuchet MS" panose="020B0603020202020204" pitchFamily="34" charset="0"/>
              </a:rPr>
              <a:t>r-</a:t>
            </a:r>
            <a:r>
              <a:rPr lang="en-US" altLang="zh-CN" sz="2400" b="1" dirty="0" err="1">
                <a:latin typeface="Trebuchet MS" panose="020B0603020202020204" pitchFamily="34" charset="0"/>
              </a:rPr>
              <a:t>ary</a:t>
            </a:r>
            <a:r>
              <a:rPr lang="en-US" altLang="zh-CN" sz="2400" b="1" dirty="0">
                <a:latin typeface="Trebuchet MS" panose="020B0603020202020204" pitchFamily="34" charset="0"/>
              </a:rPr>
              <a:t> Tree and Ordered r-</a:t>
            </a:r>
            <a:r>
              <a:rPr lang="en-US" altLang="zh-CN" sz="2400" b="1" dirty="0" err="1">
                <a:latin typeface="Trebuchet MS" panose="020B0603020202020204" pitchFamily="34" charset="0"/>
              </a:rPr>
              <a:t>ary</a:t>
            </a:r>
            <a:r>
              <a:rPr lang="en-US" altLang="zh-CN" sz="2400" b="1" dirty="0">
                <a:latin typeface="Trebuchet MS" panose="020B0603020202020204" pitchFamily="34" charset="0"/>
              </a:rPr>
              <a:t> Tree </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796290"/>
            <a:ext cx="9877336"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buClr>
                <a:srgbClr val="0B61FF"/>
              </a:buClr>
              <a:buSzPct val="80000"/>
              <a:buFont typeface="Wingdings" panose="05000000000000000000" pitchFamily="2" charset="2"/>
              <a:buChar char="n"/>
            </a:pPr>
            <a:r>
              <a:rPr lang="en-US" sz="2400" dirty="0">
                <a:latin typeface="Trebuchet MS" panose="020B0603020202020204" pitchFamily="34" charset="0"/>
              </a:rPr>
              <a:t>Rooted trees can be </a:t>
            </a:r>
            <a:r>
              <a:rPr lang="en-US" sz="2400" b="1" i="1" dirty="0">
                <a:solidFill>
                  <a:srgbClr val="0B61FF"/>
                </a:solidFill>
                <a:latin typeface="Trebuchet MS" panose="020B0603020202020204" pitchFamily="34" charset="0"/>
              </a:rPr>
              <a:t>further classified </a:t>
            </a:r>
            <a:r>
              <a:rPr lang="en-US" sz="2400" dirty="0">
                <a:latin typeface="Trebuchet MS" panose="020B0603020202020204" pitchFamily="34" charset="0"/>
              </a:rPr>
              <a:t>based on the number of child nodes per parent, the order of child nodes, the regularity of the structure, and the completeness of the tree.</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Tree</a:t>
            </a:r>
            <a:r>
              <a:rPr lang="en-US" sz="2400" b="1" dirty="0">
                <a:latin typeface="Trebuchet MS" panose="020B0603020202020204" pitchFamily="34" charset="0"/>
              </a:rPr>
              <a:t>:</a:t>
            </a:r>
            <a:r>
              <a:rPr lang="en-US" sz="2400" dirty="0">
                <a:latin typeface="Trebuchet MS" panose="020B0603020202020204" pitchFamily="34" charset="0"/>
              </a:rPr>
              <a:t> A rooted tree in which each branching vertex has at most </a:t>
            </a:r>
            <a:r>
              <a:rPr lang="en-US" sz="2400" b="1" i="1" dirty="0">
                <a:solidFill>
                  <a:srgbClr val="FF0000"/>
                </a:solidFill>
                <a:latin typeface="Trebuchet MS" panose="020B0603020202020204" pitchFamily="34" charset="0"/>
              </a:rPr>
              <a:t>r</a:t>
            </a:r>
            <a:r>
              <a:rPr lang="en-US" sz="2400" dirty="0">
                <a:latin typeface="Trebuchet MS" panose="020B0603020202020204" pitchFamily="34" charset="0"/>
              </a:rPr>
              <a:t> children.</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Regular Tree</a:t>
            </a:r>
            <a:r>
              <a:rPr lang="en-US" sz="2400" b="1" dirty="0">
                <a:latin typeface="Trebuchet MS" panose="020B0603020202020204" pitchFamily="34" charset="0"/>
              </a:rPr>
              <a:t>:</a:t>
            </a:r>
            <a:r>
              <a:rPr lang="en-US" sz="2400" dirty="0">
                <a:latin typeface="Trebuchet MS" panose="020B0603020202020204" pitchFamily="34" charset="0"/>
              </a:rPr>
              <a:t> A rooted tree in which each branching vertex has exactly </a:t>
            </a:r>
            <a:r>
              <a:rPr lang="en-US" sz="2400" b="1" i="1" dirty="0">
                <a:solidFill>
                  <a:srgbClr val="FF0000"/>
                </a:solidFill>
                <a:latin typeface="Trebuchet MS" panose="020B0603020202020204" pitchFamily="34" charset="0"/>
              </a:rPr>
              <a:t>r</a:t>
            </a:r>
            <a:r>
              <a:rPr lang="en-US" sz="2400" dirty="0">
                <a:latin typeface="Trebuchet MS" panose="020B0603020202020204" pitchFamily="34" charset="0"/>
              </a:rPr>
              <a:t> children.</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Complete 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Regular Tree</a:t>
            </a:r>
            <a:r>
              <a:rPr lang="en-US" sz="2400" b="1" dirty="0">
                <a:latin typeface="Trebuchet MS" panose="020B0603020202020204" pitchFamily="34" charset="0"/>
              </a:rPr>
              <a:t>:</a:t>
            </a:r>
            <a:r>
              <a:rPr lang="en-US" sz="2400" dirty="0">
                <a:latin typeface="Trebuchet MS" panose="020B0603020202020204" pitchFamily="34" charset="0"/>
              </a:rPr>
              <a:t> An r-</a:t>
            </a:r>
            <a:r>
              <a:rPr lang="en-US" sz="2400" dirty="0" err="1">
                <a:latin typeface="Trebuchet MS" panose="020B0603020202020204" pitchFamily="34" charset="0"/>
              </a:rPr>
              <a:t>ary</a:t>
            </a:r>
            <a:r>
              <a:rPr lang="en-US" sz="2400" dirty="0">
                <a:latin typeface="Trebuchet MS" panose="020B0603020202020204" pitchFamily="34" charset="0"/>
              </a:rPr>
              <a:t> regular tree in which all leaves are at the same level.</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Ordered 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Tree</a:t>
            </a:r>
            <a:r>
              <a:rPr lang="en-US" sz="2400" b="1" dirty="0">
                <a:latin typeface="Trebuchet MS" panose="020B0603020202020204" pitchFamily="34" charset="0"/>
              </a:rPr>
              <a:t>:</a:t>
            </a:r>
            <a:r>
              <a:rPr lang="en-US" sz="2400" dirty="0">
                <a:latin typeface="Trebuchet MS" panose="020B0603020202020204" pitchFamily="34" charset="0"/>
              </a:rPr>
              <a:t> An r-</a:t>
            </a:r>
            <a:r>
              <a:rPr lang="en-US" sz="2400" dirty="0" err="1">
                <a:latin typeface="Trebuchet MS" panose="020B0603020202020204" pitchFamily="34" charset="0"/>
              </a:rPr>
              <a:t>ary</a:t>
            </a:r>
            <a:r>
              <a:rPr lang="en-US" sz="2400" dirty="0">
                <a:latin typeface="Trebuchet MS" panose="020B0603020202020204" pitchFamily="34" charset="0"/>
              </a:rPr>
              <a:t> tree in which a specific order is assigned to the children of each vertex.</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Ordered 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Regular Tree</a:t>
            </a:r>
            <a:r>
              <a:rPr lang="en-US" sz="2400" b="1" dirty="0">
                <a:latin typeface="Trebuchet MS" panose="020B0603020202020204" pitchFamily="34" charset="0"/>
              </a:rPr>
              <a:t>:</a:t>
            </a:r>
            <a:r>
              <a:rPr lang="en-US" sz="2400" dirty="0">
                <a:latin typeface="Trebuchet MS" panose="020B0603020202020204" pitchFamily="34" charset="0"/>
              </a:rPr>
              <a:t> An ordered tree in which each branching vertex has exactly </a:t>
            </a:r>
            <a:r>
              <a:rPr lang="en-US" sz="2400" b="1" i="1" dirty="0">
                <a:solidFill>
                  <a:srgbClr val="FF0000"/>
                </a:solidFill>
                <a:latin typeface="Trebuchet MS" panose="020B0603020202020204" pitchFamily="34" charset="0"/>
              </a:rPr>
              <a:t>r</a:t>
            </a:r>
            <a:r>
              <a:rPr lang="en-US" sz="2400" dirty="0">
                <a:latin typeface="Trebuchet MS" panose="020B0603020202020204" pitchFamily="34" charset="0"/>
              </a:rPr>
              <a:t> ordered children.</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Ordered Complete 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Regular Tree</a:t>
            </a:r>
            <a:r>
              <a:rPr lang="en-US" sz="2400" b="1" dirty="0">
                <a:latin typeface="Trebuchet MS" panose="020B0603020202020204" pitchFamily="34" charset="0"/>
              </a:rPr>
              <a:t>:</a:t>
            </a:r>
            <a:r>
              <a:rPr lang="en-US" sz="2400" dirty="0">
                <a:latin typeface="Trebuchet MS" panose="020B0603020202020204" pitchFamily="34" charset="0"/>
              </a:rPr>
              <a:t> An ordered r-</a:t>
            </a:r>
            <a:r>
              <a:rPr lang="en-US" sz="2400" dirty="0" err="1">
                <a:latin typeface="Trebuchet MS" panose="020B0603020202020204" pitchFamily="34" charset="0"/>
              </a:rPr>
              <a:t>ary</a:t>
            </a:r>
            <a:r>
              <a:rPr lang="en-US" sz="2400" dirty="0">
                <a:latin typeface="Trebuchet MS" panose="020B0603020202020204" pitchFamily="34" charset="0"/>
              </a:rPr>
              <a:t> regular tree in which all leaves are at the same level.</a:t>
            </a:r>
          </a:p>
        </p:txBody>
      </p:sp>
    </p:spTree>
    <p:extLst>
      <p:ext uri="{BB962C8B-B14F-4D97-AF65-F5344CB8AC3E}">
        <p14:creationId xmlns:p14="http://schemas.microsoft.com/office/powerpoint/2010/main" val="4288992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fade">
                                      <p:cBhvr>
                                        <p:cTn id="40" dur="1000"/>
                                        <p:tgtEl>
                                          <p:spTgt spid="8">
                                            <p:txEl>
                                              <p:pRg st="6" end="6"/>
                                            </p:txEl>
                                          </p:spTgt>
                                        </p:tgtEl>
                                      </p:cBhvr>
                                    </p:animEffect>
                                    <p:anim calcmode="lin" valueType="num">
                                      <p:cBhvr>
                                        <p:cTn id="41"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7.2 </a:t>
            </a:r>
            <a:r>
              <a:rPr lang="en-US" altLang="zh-CN" sz="2400" b="1" dirty="0">
                <a:latin typeface="Trebuchet MS" panose="020B0603020202020204" pitchFamily="34" charset="0"/>
                <a:cs typeface="Times New Roman" panose="02020603050405020304" pitchFamily="18" charset="0"/>
              </a:rPr>
              <a:t>Rooted Trees and Their Applications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7.2.1 Rooted Trees and Their Classifications</a:t>
            </a:r>
          </a:p>
          <a:p>
            <a:pPr>
              <a:lnSpc>
                <a:spcPct val="12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7.2.2 Optimal Trees and the Huffman Algorithm</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7.2.3 Optimal Prefix Codes</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7.2.4 Traversals of Rooted Trees and Their Applications</a:t>
            </a:r>
            <a:endParaRPr lang="en-US" sz="2400" dirty="0">
              <a:latin typeface="Trebuchet MS" panose="020B0603020202020204" pitchFamily="34" charset="0"/>
            </a:endParaRP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err="1">
                <a:latin typeface="Trebuchet MS" panose="020B0603020202020204" pitchFamily="34" charset="0"/>
              </a:rPr>
              <a:t>Inorder</a:t>
            </a:r>
            <a:r>
              <a:rPr lang="en-US" sz="2400" dirty="0">
                <a:latin typeface="Trebuchet MS" panose="020B0603020202020204" pitchFamily="34" charset="0"/>
              </a:rPr>
              <a:t> Traversal, Preorder Traversal, and </a:t>
            </a:r>
            <a:r>
              <a:rPr lang="en-US" sz="2400" dirty="0" err="1">
                <a:latin typeface="Trebuchet MS" panose="020B0603020202020204" pitchFamily="34" charset="0"/>
              </a:rPr>
              <a:t>Postorder</a:t>
            </a:r>
            <a:r>
              <a:rPr lang="en-US" sz="2400" dirty="0">
                <a:latin typeface="Trebuchet MS" panose="020B0603020202020204" pitchFamily="34" charset="0"/>
              </a:rPr>
              <a:t> Traversal</a:t>
            </a: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a:latin typeface="Trebuchet MS" panose="020B0603020202020204" pitchFamily="34" charset="0"/>
              </a:rPr>
              <a:t>Polish Notation and Reverse Polish Notation</a:t>
            </a:r>
          </a:p>
        </p:txBody>
      </p:sp>
    </p:spTree>
    <p:extLst>
      <p:ext uri="{BB962C8B-B14F-4D97-AF65-F5344CB8AC3E}">
        <p14:creationId xmlns:p14="http://schemas.microsoft.com/office/powerpoint/2010/main" val="2930717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7.2.2 Optimal Trees and the Huffman Algorithm</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Optimal Binary Tree</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9877336" cy="56227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5000"/>
              </a:spcBef>
              <a:buFontTx/>
              <a:buNone/>
            </a:pPr>
            <a:endParaRPr lang="en-US" altLang="zh-CN" sz="2800" b="1" i="1" dirty="0">
              <a:solidFill>
                <a:srgbClr val="FF3300"/>
              </a:solidFill>
            </a:endParaRPr>
          </a:p>
        </p:txBody>
      </p:sp>
      <p:sp>
        <p:nvSpPr>
          <p:cNvPr id="10" name="Text Box 7">
            <a:extLst>
              <a:ext uri="{FF2B5EF4-FFF2-40B4-BE49-F238E27FC236}">
                <a16:creationId xmlns:a16="http://schemas.microsoft.com/office/drawing/2014/main" id="{F2CE684F-5526-4209-8410-B9B9892AD9B4}"/>
              </a:ext>
            </a:extLst>
          </p:cNvPr>
          <p:cNvSpPr txBox="1">
            <a:spLocks noChangeArrowheads="1"/>
          </p:cNvSpPr>
          <p:nvPr/>
        </p:nvSpPr>
        <p:spPr bwMode="auto">
          <a:xfrm>
            <a:off x="756963" y="788817"/>
            <a:ext cx="9877336" cy="3753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266700" indent="-266700">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Definition7.1</a:t>
            </a:r>
            <a:r>
              <a:rPr kumimoji="0" lang="zh-CN" altLang="en-US" sz="2400" b="1" dirty="0">
                <a:latin typeface="Trebuchet MS" panose="020B0603020202020204" pitchFamily="34" charset="0"/>
                <a:cs typeface="Times New Roman" panose="02020603050405020304" pitchFamily="18" charset="0"/>
              </a:rPr>
              <a:t>：</a:t>
            </a:r>
            <a:r>
              <a:rPr kumimoji="0" lang="en-US" altLang="zh-CN" sz="2400" dirty="0">
                <a:latin typeface="Trebuchet MS" panose="020B0603020202020204" pitchFamily="34" charset="0"/>
                <a:cs typeface="Times New Roman" panose="02020603050405020304" pitchFamily="18" charset="0"/>
              </a:rPr>
              <a:t>Let</a:t>
            </a:r>
            <a:r>
              <a:rPr kumimoji="0"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rPr>
              <a:t>T</a:t>
            </a:r>
            <a:r>
              <a:rPr lang="en-US" altLang="zh-CN" sz="2400" dirty="0">
                <a:latin typeface="Trebuchet MS" panose="020B0603020202020204" pitchFamily="34" charset="0"/>
              </a:rPr>
              <a:t> </a:t>
            </a:r>
            <a:r>
              <a:rPr lang="en-US" sz="2400" dirty="0">
                <a:latin typeface="Trebuchet MS" panose="020B0603020202020204" pitchFamily="34" charset="0"/>
              </a:rPr>
              <a:t>be a binary tree with</a:t>
            </a:r>
            <a:r>
              <a:rPr kumimoji="0" lang="en-US"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t</a:t>
            </a:r>
            <a:r>
              <a:rPr kumimoji="0" lang="zh-CN" altLang="en-US" sz="2400" b="1" i="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leaves</a:t>
            </a:r>
            <a:r>
              <a:rPr kumimoji="0" lang="en-US" altLang="zh-CN"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v</a:t>
            </a:r>
            <a:r>
              <a:rPr kumimoji="0" lang="en-US" altLang="zh-CN" sz="2400" b="1" baseline="-30000" dirty="0">
                <a:latin typeface="Trebuchet MS" panose="020B0603020202020204" pitchFamily="34" charset="0"/>
                <a:cs typeface="Times New Roman" panose="02020603050405020304" pitchFamily="18" charset="0"/>
              </a:rPr>
              <a:t>1</a:t>
            </a:r>
            <a:r>
              <a:rPr kumimoji="0" lang="en-US" altLang="zh-CN"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v</a:t>
            </a:r>
            <a:r>
              <a:rPr kumimoji="0" lang="en-US" altLang="zh-CN" sz="2400" b="1" baseline="-30000" dirty="0">
                <a:latin typeface="Trebuchet MS" panose="020B0603020202020204" pitchFamily="34" charset="0"/>
                <a:cs typeface="Times New Roman" panose="02020603050405020304" pitchFamily="18" charset="0"/>
              </a:rPr>
              <a:t>2</a:t>
            </a:r>
            <a:r>
              <a:rPr kumimoji="0" lang="en-US" altLang="zh-CN" sz="2400" b="1" dirty="0">
                <a:latin typeface="Trebuchet MS" panose="020B0603020202020204" pitchFamily="34" charset="0"/>
                <a:cs typeface="Times New Roman" panose="02020603050405020304" pitchFamily="18" charset="0"/>
              </a:rPr>
              <a:t>, …, </a:t>
            </a:r>
            <a:r>
              <a:rPr kumimoji="0" lang="en-US" altLang="zh-CN" sz="2400" b="1" i="1" dirty="0" err="1">
                <a:latin typeface="Trebuchet MS" panose="020B0603020202020204" pitchFamily="34" charset="0"/>
                <a:cs typeface="Times New Roman" panose="02020603050405020304" pitchFamily="18" charset="0"/>
              </a:rPr>
              <a:t>v</a:t>
            </a:r>
            <a:r>
              <a:rPr kumimoji="0" lang="en-US" altLang="zh-CN" sz="2400" b="1" i="1" baseline="-30000" dirty="0" err="1">
                <a:latin typeface="Trebuchet MS" panose="020B0603020202020204" pitchFamily="34" charset="0"/>
                <a:cs typeface="Times New Roman" panose="02020603050405020304" pitchFamily="18" charset="0"/>
              </a:rPr>
              <a:t>t</a:t>
            </a:r>
            <a:r>
              <a:rPr kumimoji="0"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and let the weights of the leaves be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baseline="-30000" dirty="0">
                <a:latin typeface="Trebuchet MS" panose="020B0603020202020204" pitchFamily="34" charset="0"/>
                <a:cs typeface="Times New Roman" panose="02020603050405020304" pitchFamily="18" charset="0"/>
              </a:rPr>
              <a:t>1</a:t>
            </a:r>
            <a:r>
              <a:rPr kumimoji="0" lang="en-US" altLang="zh-CN"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baseline="-30000" dirty="0">
                <a:latin typeface="Trebuchet MS" panose="020B0603020202020204" pitchFamily="34" charset="0"/>
                <a:cs typeface="Times New Roman" panose="02020603050405020304" pitchFamily="18" charset="0"/>
              </a:rPr>
              <a:t>2</a:t>
            </a:r>
            <a:r>
              <a:rPr kumimoji="0" lang="en-US" altLang="zh-CN" sz="2400" b="1" dirty="0">
                <a:latin typeface="Trebuchet MS" panose="020B0603020202020204" pitchFamily="34" charset="0"/>
                <a:cs typeface="Times New Roman" panose="02020603050405020304" pitchFamily="18" charset="0"/>
              </a:rPr>
              <a:t>, …,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i="1" baseline="-30000" dirty="0">
                <a:latin typeface="Trebuchet MS" panose="020B0603020202020204" pitchFamily="34" charset="0"/>
                <a:cs typeface="Times New Roman" panose="02020603050405020304" pitchFamily="18" charset="0"/>
              </a:rPr>
              <a:t>t</a:t>
            </a:r>
            <a:r>
              <a:rPr kumimoji="0" lang="en-US" altLang="zh-CN" sz="2400" b="1" i="1" dirty="0">
                <a:latin typeface="Trebuchet MS" panose="020B0603020202020204" pitchFamily="34" charset="0"/>
                <a:cs typeface="Times New Roman" panose="02020603050405020304" pitchFamily="18" charset="0"/>
              </a:rPr>
              <a:t>.</a:t>
            </a:r>
            <a:r>
              <a:rPr kumimoji="0" lang="en-US" altLang="zh-CN" sz="2400" b="1" i="1" baseline="-30000" dirty="0">
                <a:latin typeface="Trebuchet MS" panose="020B0603020202020204" pitchFamily="34" charset="0"/>
                <a:cs typeface="Times New Roman" panose="02020603050405020304" pitchFamily="18" charset="0"/>
              </a:rPr>
              <a:t> </a:t>
            </a:r>
          </a:p>
          <a:p>
            <a:pPr marL="361950" indent="-180975">
              <a:lnSpc>
                <a:spcPct val="120000"/>
              </a:lnSpc>
              <a:spcBef>
                <a:spcPts val="300"/>
              </a:spcBef>
              <a:buClr>
                <a:srgbClr val="0B61FF"/>
              </a:buClr>
              <a:buSzPct val="120000"/>
              <a:buFont typeface="Arial" panose="020B0604020202020204" pitchFamily="34" charset="0"/>
              <a:buChar char="•"/>
            </a:pPr>
            <a:r>
              <a:rPr lang="en-US" sz="2400" dirty="0">
                <a:latin typeface="Trebuchet MS" panose="020B0603020202020204" pitchFamily="34" charset="0"/>
              </a:rPr>
              <a:t>The </a:t>
            </a:r>
            <a:r>
              <a:rPr lang="en-US" sz="2400" b="1" dirty="0">
                <a:latin typeface="Trebuchet MS" panose="020B0603020202020204" pitchFamily="34" charset="0"/>
              </a:rPr>
              <a:t>weight</a:t>
            </a:r>
            <a:r>
              <a:rPr lang="en-US" sz="2400" dirty="0">
                <a:latin typeface="Trebuchet MS" panose="020B0603020202020204" pitchFamily="34" charset="0"/>
              </a:rPr>
              <a:t> of tree </a:t>
            </a:r>
            <a:r>
              <a:rPr lang="en-US" sz="2400" b="1" i="1" dirty="0">
                <a:latin typeface="Trebuchet MS" panose="020B0603020202020204" pitchFamily="34" charset="0"/>
              </a:rPr>
              <a:t>T</a:t>
            </a:r>
            <a:r>
              <a:rPr lang="en-US" sz="2400" dirty="0">
                <a:latin typeface="Trebuchet MS" panose="020B0603020202020204" pitchFamily="34" charset="0"/>
              </a:rPr>
              <a:t> is defined as:                   ,</a:t>
            </a:r>
            <a:r>
              <a:rPr kumimoji="0"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where </a:t>
            </a:r>
            <a:r>
              <a:rPr kumimoji="0" lang="en-US" altLang="zh-CN" sz="2400" b="1" i="1" dirty="0">
                <a:latin typeface="Trebuchet MS" panose="020B0603020202020204" pitchFamily="34" charset="0"/>
                <a:cs typeface="Times New Roman" panose="02020603050405020304" pitchFamily="18" charset="0"/>
              </a:rPr>
              <a:t>l</a:t>
            </a:r>
            <a:r>
              <a:rPr kumimoji="0" lang="en-US" altLang="zh-CN" sz="2400" b="1" dirty="0">
                <a:latin typeface="Trebuchet MS" panose="020B0603020202020204" pitchFamily="34" charset="0"/>
                <a:cs typeface="Times New Roman" panose="02020603050405020304" pitchFamily="18" charset="0"/>
              </a:rPr>
              <a:t>(</a:t>
            </a:r>
            <a:r>
              <a:rPr kumimoji="0" lang="en-US" altLang="zh-CN" sz="2400" b="1" i="1" dirty="0">
                <a:latin typeface="Trebuchet MS" panose="020B0603020202020204" pitchFamily="34" charset="0"/>
                <a:cs typeface="Times New Roman" panose="02020603050405020304" pitchFamily="18" charset="0"/>
              </a:rPr>
              <a:t>v</a:t>
            </a:r>
            <a:r>
              <a:rPr kumimoji="0" lang="en-US" altLang="zh-CN" sz="2400" b="1" i="1" baseline="-30000" dirty="0">
                <a:latin typeface="Trebuchet MS" panose="020B0603020202020204" pitchFamily="34" charset="0"/>
                <a:cs typeface="Times New Roman" panose="02020603050405020304" pitchFamily="18" charset="0"/>
              </a:rPr>
              <a:t>i</a:t>
            </a:r>
            <a:r>
              <a:rPr kumimoji="0"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is the level (depth) of leaf </a:t>
            </a:r>
            <a:r>
              <a:rPr kumimoji="0" lang="en-US" altLang="zh-CN" sz="2400" b="1" i="1" dirty="0">
                <a:latin typeface="Trebuchet MS" panose="020B0603020202020204" pitchFamily="34" charset="0"/>
                <a:cs typeface="Times New Roman" panose="02020603050405020304" pitchFamily="18" charset="0"/>
              </a:rPr>
              <a:t>v</a:t>
            </a:r>
            <a:r>
              <a:rPr kumimoji="0" lang="en-US" altLang="zh-CN" sz="2400" b="1" i="1" baseline="-30000" dirty="0">
                <a:latin typeface="Trebuchet MS" panose="020B0603020202020204" pitchFamily="34" charset="0"/>
                <a:cs typeface="Times New Roman" panose="02020603050405020304" pitchFamily="18" charset="0"/>
              </a:rPr>
              <a:t>i</a:t>
            </a:r>
            <a:r>
              <a:rPr kumimoji="0" lang="en-US" altLang="zh-CN" sz="2400" b="1" i="1" dirty="0">
                <a:latin typeface="Trebuchet MS" panose="020B0603020202020204" pitchFamily="34" charset="0"/>
                <a:cs typeface="Times New Roman" panose="02020603050405020304" pitchFamily="18" charset="0"/>
              </a:rPr>
              <a:t>.</a:t>
            </a:r>
          </a:p>
          <a:p>
            <a:pPr marL="361950" indent="-180975">
              <a:lnSpc>
                <a:spcPct val="120000"/>
              </a:lnSpc>
              <a:spcBef>
                <a:spcPts val="300"/>
              </a:spcBef>
              <a:buClr>
                <a:srgbClr val="0B61FF"/>
              </a:buClr>
              <a:buSzPct val="120000"/>
              <a:buFont typeface="Arial" panose="020B0604020202020204" pitchFamily="34" charset="0"/>
              <a:buChar char="•"/>
            </a:pPr>
            <a:r>
              <a:rPr lang="en-US" sz="2400" dirty="0">
                <a:latin typeface="Trebuchet MS" panose="020B0603020202020204" pitchFamily="34" charset="0"/>
              </a:rPr>
              <a:t>Among all binary trees with </a:t>
            </a:r>
            <a:r>
              <a:rPr lang="en-US" sz="2400" b="1" i="1" dirty="0">
                <a:latin typeface="Trebuchet MS" panose="020B0603020202020204" pitchFamily="34" charset="0"/>
              </a:rPr>
              <a:t>t</a:t>
            </a:r>
            <a:r>
              <a:rPr lang="en-US" sz="2400" dirty="0">
                <a:latin typeface="Trebuchet MS" panose="020B0603020202020204" pitchFamily="34" charset="0"/>
              </a:rPr>
              <a:t> leaves and weights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baseline="-30000" dirty="0">
                <a:latin typeface="Trebuchet MS" panose="020B0603020202020204" pitchFamily="34" charset="0"/>
                <a:cs typeface="Times New Roman" panose="02020603050405020304" pitchFamily="18" charset="0"/>
              </a:rPr>
              <a:t>1</a:t>
            </a:r>
            <a:r>
              <a:rPr kumimoji="0" lang="en-US" altLang="zh-CN"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baseline="-30000" dirty="0">
                <a:latin typeface="Trebuchet MS" panose="020B0603020202020204" pitchFamily="34" charset="0"/>
                <a:cs typeface="Times New Roman" panose="02020603050405020304" pitchFamily="18" charset="0"/>
              </a:rPr>
              <a:t>2</a:t>
            </a:r>
            <a:r>
              <a:rPr kumimoji="0" lang="en-US" altLang="zh-CN" sz="2400" b="1" dirty="0">
                <a:latin typeface="Trebuchet MS" panose="020B0603020202020204" pitchFamily="34" charset="0"/>
                <a:cs typeface="Times New Roman" panose="02020603050405020304" pitchFamily="18" charset="0"/>
              </a:rPr>
              <a:t>, …, </a:t>
            </a:r>
            <a:r>
              <a:rPr kumimoji="0" lang="en-US" altLang="zh-CN" sz="2400" b="1" i="1" dirty="0" err="1">
                <a:latin typeface="Trebuchet MS" panose="020B0603020202020204" pitchFamily="34" charset="0"/>
                <a:cs typeface="Times New Roman" panose="02020603050405020304" pitchFamily="18" charset="0"/>
              </a:rPr>
              <a:t>w</a:t>
            </a:r>
            <a:r>
              <a:rPr kumimoji="0" lang="en-US" altLang="zh-CN" sz="2400" b="1" i="1" baseline="-30000" dirty="0" err="1">
                <a:latin typeface="Trebuchet MS" panose="020B0603020202020204" pitchFamily="34" charset="0"/>
                <a:cs typeface="Times New Roman" panose="02020603050405020304" pitchFamily="18" charset="0"/>
              </a:rPr>
              <a:t>t</a:t>
            </a:r>
            <a:r>
              <a:rPr kumimoji="0" lang="en-US" altLang="zh-CN" sz="2400" b="1" i="1" baseline="-30000"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 the one with the minimum total weight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dirty="0">
                <a:latin typeface="Trebuchet MS" panose="020B0603020202020204" pitchFamily="34" charset="0"/>
                <a:cs typeface="Times New Roman" panose="02020603050405020304" pitchFamily="18" charset="0"/>
              </a:rPr>
              <a:t>(</a:t>
            </a:r>
            <a:r>
              <a:rPr kumimoji="0" lang="en-US" altLang="zh-CN" sz="2400" b="1" i="1" dirty="0">
                <a:latin typeface="Trebuchet MS" panose="020B0603020202020204" pitchFamily="34" charset="0"/>
                <a:cs typeface="Times New Roman" panose="02020603050405020304" pitchFamily="18" charset="0"/>
              </a:rPr>
              <a:t>T</a:t>
            </a:r>
            <a:r>
              <a:rPr kumimoji="0"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 is called the </a:t>
            </a:r>
            <a:r>
              <a:rPr lang="en-US" sz="2400" b="1" i="1" dirty="0">
                <a:solidFill>
                  <a:srgbClr val="0B61FF"/>
                </a:solidFill>
                <a:latin typeface="Trebuchet MS" panose="020B0603020202020204" pitchFamily="34" charset="0"/>
              </a:rPr>
              <a:t>optimal binary tree</a:t>
            </a:r>
            <a:r>
              <a:rPr lang="en-US" sz="2400" dirty="0">
                <a:latin typeface="Trebuchet MS" panose="020B0603020202020204" pitchFamily="34" charset="0"/>
              </a:rPr>
              <a:t>.</a:t>
            </a:r>
            <a:endParaRPr kumimoji="0" lang="en-US" altLang="zh-CN" sz="2400" b="1" dirty="0">
              <a:latin typeface="Trebuchet MS" panose="020B0603020202020204" pitchFamily="34" charset="0"/>
              <a:cs typeface="Times New Roman" panose="02020603050405020304" pitchFamily="18" charset="0"/>
            </a:endParaRPr>
          </a:p>
          <a:p>
            <a:pPr marL="342900" indent="-342900">
              <a:lnSpc>
                <a:spcPct val="120000"/>
              </a:lnSpc>
              <a:spcBef>
                <a:spcPts val="300"/>
              </a:spcBef>
              <a:buClr>
                <a:srgbClr val="0B61FF"/>
              </a:buClr>
              <a:buSzPct val="80000"/>
              <a:buFont typeface="Wingdings" panose="05000000000000000000" pitchFamily="2" charset="2"/>
              <a:buChar char="n"/>
            </a:pPr>
            <a:r>
              <a:rPr kumimoji="0" lang="en-US" altLang="zh-CN" sz="2400" b="1" dirty="0">
                <a:latin typeface="Trebuchet MS" panose="020B0603020202020204" pitchFamily="34" charset="0"/>
              </a:rPr>
              <a:t>Example</a:t>
            </a:r>
            <a:r>
              <a:rPr kumimoji="0" lang="zh-CN" altLang="en-US" sz="2400" b="1" dirty="0">
                <a:latin typeface="Trebuchet MS" panose="020B0603020202020204" pitchFamily="34" charset="0"/>
              </a:rPr>
              <a:t>：</a:t>
            </a:r>
          </a:p>
          <a:p>
            <a:pPr eaLnBrk="1" hangingPunct="1">
              <a:spcBef>
                <a:spcPct val="80000"/>
              </a:spcBef>
              <a:buClr>
                <a:schemeClr val="bg2"/>
              </a:buClr>
              <a:buSzPct val="75000"/>
              <a:buFont typeface="Wingdings" panose="05000000000000000000" pitchFamily="2" charset="2"/>
              <a:buNone/>
            </a:pPr>
            <a:endParaRPr kumimoji="0" lang="zh-CN" altLang="en-US" sz="2400" b="1" dirty="0">
              <a:cs typeface="Times New Roman" panose="02020603050405020304" pitchFamily="18" charset="0"/>
            </a:endParaRPr>
          </a:p>
        </p:txBody>
      </p:sp>
      <p:graphicFrame>
        <p:nvGraphicFramePr>
          <p:cNvPr id="11" name="Object 0">
            <a:extLst>
              <a:ext uri="{FF2B5EF4-FFF2-40B4-BE49-F238E27FC236}">
                <a16:creationId xmlns:a16="http://schemas.microsoft.com/office/drawing/2014/main" id="{A0C0E3B9-19FB-45DC-BBEB-31CB836BE96F}"/>
              </a:ext>
            </a:extLst>
          </p:cNvPr>
          <p:cNvGraphicFramePr>
            <a:graphicFrameLocks noChangeAspect="1"/>
          </p:cNvGraphicFramePr>
          <p:nvPr>
            <p:extLst>
              <p:ext uri="{D42A27DB-BD31-4B8C-83A1-F6EECF244321}">
                <p14:modId xmlns:p14="http://schemas.microsoft.com/office/powerpoint/2010/main" val="1706775333"/>
              </p:ext>
            </p:extLst>
          </p:nvPr>
        </p:nvGraphicFramePr>
        <p:xfrm>
          <a:off x="6089331" y="1670406"/>
          <a:ext cx="1607628" cy="708145"/>
        </p:xfrm>
        <a:graphic>
          <a:graphicData uri="http://schemas.openxmlformats.org/presentationml/2006/ole">
            <mc:AlternateContent xmlns:mc="http://schemas.openxmlformats.org/markup-compatibility/2006">
              <mc:Choice xmlns:v="urn:schemas-microsoft-com:vml" Requires="v">
                <p:oleObj name="Equation" r:id="rId5" imgW="1104900" imgH="431800" progId="Equation.DSMT4">
                  <p:embed/>
                </p:oleObj>
              </mc:Choice>
              <mc:Fallback>
                <p:oleObj name="Equation" r:id="rId5" imgW="1104900" imgH="431800" progId="Equation.DSMT4">
                  <p:embed/>
                  <p:pic>
                    <p:nvPicPr>
                      <p:cNvPr id="11" name="Object 0">
                        <a:extLst>
                          <a:ext uri="{FF2B5EF4-FFF2-40B4-BE49-F238E27FC236}">
                            <a16:creationId xmlns:a16="http://schemas.microsoft.com/office/drawing/2014/main" id="{A0C0E3B9-19FB-45DC-BBEB-31CB836BE9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9331" y="1670406"/>
                        <a:ext cx="1607628" cy="708145"/>
                      </a:xfrm>
                      <a:prstGeom prst="rect">
                        <a:avLst/>
                      </a:prstGeom>
                      <a:noFill/>
                      <a:ln>
                        <a:noFill/>
                      </a:ln>
                    </p:spPr>
                  </p:pic>
                </p:oleObj>
              </mc:Fallback>
            </mc:AlternateContent>
          </a:graphicData>
        </a:graphic>
      </p:graphicFrame>
      <p:grpSp>
        <p:nvGrpSpPr>
          <p:cNvPr id="6" name="组合 5">
            <a:extLst>
              <a:ext uri="{FF2B5EF4-FFF2-40B4-BE49-F238E27FC236}">
                <a16:creationId xmlns:a16="http://schemas.microsoft.com/office/drawing/2014/main" id="{FA5881FD-347C-413B-88FE-BCB3C4BDF73D}"/>
              </a:ext>
            </a:extLst>
          </p:cNvPr>
          <p:cNvGrpSpPr/>
          <p:nvPr/>
        </p:nvGrpSpPr>
        <p:grpSpPr>
          <a:xfrm>
            <a:off x="2734424" y="4215947"/>
            <a:ext cx="1905000" cy="2321251"/>
            <a:chOff x="2734424" y="4215947"/>
            <a:chExt cx="1905000" cy="2321251"/>
          </a:xfrm>
        </p:grpSpPr>
        <p:grpSp>
          <p:nvGrpSpPr>
            <p:cNvPr id="15" name="Group 30">
              <a:extLst>
                <a:ext uri="{FF2B5EF4-FFF2-40B4-BE49-F238E27FC236}">
                  <a16:creationId xmlns:a16="http://schemas.microsoft.com/office/drawing/2014/main" id="{DE9B139A-4EF8-4BC3-A866-AFF084037C5C}"/>
                </a:ext>
              </a:extLst>
            </p:cNvPr>
            <p:cNvGrpSpPr>
              <a:grpSpLocks/>
            </p:cNvGrpSpPr>
            <p:nvPr/>
          </p:nvGrpSpPr>
          <p:grpSpPr bwMode="auto">
            <a:xfrm>
              <a:off x="2734424" y="4215947"/>
              <a:ext cx="1905000" cy="1752600"/>
              <a:chOff x="768" y="2832"/>
              <a:chExt cx="1200" cy="1104"/>
            </a:xfrm>
            <a:noFill/>
          </p:grpSpPr>
          <p:pic>
            <p:nvPicPr>
              <p:cNvPr id="36" name="Picture 10" descr="E:\插图\离散\图7-10(1).tif">
                <a:extLst>
                  <a:ext uri="{FF2B5EF4-FFF2-40B4-BE49-F238E27FC236}">
                    <a16:creationId xmlns:a16="http://schemas.microsoft.com/office/drawing/2014/main" id="{585AC86B-F666-4DB1-AD44-C4C5E8A195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 y="2832"/>
                <a:ext cx="983" cy="86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37" name="Text Box 15">
                <a:extLst>
                  <a:ext uri="{FF2B5EF4-FFF2-40B4-BE49-F238E27FC236}">
                    <a16:creationId xmlns:a16="http://schemas.microsoft.com/office/drawing/2014/main" id="{4D65B9E1-7DB5-405E-9C2B-42BB953B748D}"/>
                  </a:ext>
                </a:extLst>
              </p:cNvPr>
              <p:cNvSpPr txBox="1">
                <a:spLocks noChangeArrowheads="1"/>
              </p:cNvSpPr>
              <p:nvPr/>
            </p:nvSpPr>
            <p:spPr bwMode="auto">
              <a:xfrm>
                <a:off x="1680" y="3360"/>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38" name="Text Box 18">
                <a:extLst>
                  <a:ext uri="{FF2B5EF4-FFF2-40B4-BE49-F238E27FC236}">
                    <a16:creationId xmlns:a16="http://schemas.microsoft.com/office/drawing/2014/main" id="{014FEB41-F067-45D9-85E9-052CFC349C64}"/>
                  </a:ext>
                </a:extLst>
              </p:cNvPr>
              <p:cNvSpPr txBox="1">
                <a:spLocks noChangeArrowheads="1"/>
              </p:cNvSpPr>
              <p:nvPr/>
            </p:nvSpPr>
            <p:spPr bwMode="auto">
              <a:xfrm>
                <a:off x="1104" y="364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3</a:t>
                </a:r>
              </a:p>
            </p:txBody>
          </p:sp>
          <p:sp>
            <p:nvSpPr>
              <p:cNvPr id="39" name="Text Box 21">
                <a:extLst>
                  <a:ext uri="{FF2B5EF4-FFF2-40B4-BE49-F238E27FC236}">
                    <a16:creationId xmlns:a16="http://schemas.microsoft.com/office/drawing/2014/main" id="{840CFBFF-B385-4C4F-AEFA-0A10E50E732F}"/>
                  </a:ext>
                </a:extLst>
              </p:cNvPr>
              <p:cNvSpPr txBox="1">
                <a:spLocks noChangeArrowheads="1"/>
              </p:cNvSpPr>
              <p:nvPr/>
            </p:nvSpPr>
            <p:spPr bwMode="auto">
              <a:xfrm>
                <a:off x="1200" y="3360"/>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40" name="Text Box 24">
                <a:extLst>
                  <a:ext uri="{FF2B5EF4-FFF2-40B4-BE49-F238E27FC236}">
                    <a16:creationId xmlns:a16="http://schemas.microsoft.com/office/drawing/2014/main" id="{DB76483A-E93F-43A4-831A-3CD92BDAC064}"/>
                  </a:ext>
                </a:extLst>
              </p:cNvPr>
              <p:cNvSpPr txBox="1">
                <a:spLocks noChangeArrowheads="1"/>
              </p:cNvSpPr>
              <p:nvPr/>
            </p:nvSpPr>
            <p:spPr bwMode="auto">
              <a:xfrm>
                <a:off x="1392" y="3360"/>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5</a:t>
                </a:r>
              </a:p>
            </p:txBody>
          </p:sp>
          <p:sp>
            <p:nvSpPr>
              <p:cNvPr id="41" name="Text Box 27">
                <a:extLst>
                  <a:ext uri="{FF2B5EF4-FFF2-40B4-BE49-F238E27FC236}">
                    <a16:creationId xmlns:a16="http://schemas.microsoft.com/office/drawing/2014/main" id="{76287366-C09A-4353-A130-337DE061DCE2}"/>
                  </a:ext>
                </a:extLst>
              </p:cNvPr>
              <p:cNvSpPr txBox="1">
                <a:spLocks noChangeArrowheads="1"/>
              </p:cNvSpPr>
              <p:nvPr/>
            </p:nvSpPr>
            <p:spPr bwMode="auto">
              <a:xfrm>
                <a:off x="768" y="364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grpSp>
        <p:sp>
          <p:nvSpPr>
            <p:cNvPr id="19" name="Text Box 33">
              <a:extLst>
                <a:ext uri="{FF2B5EF4-FFF2-40B4-BE49-F238E27FC236}">
                  <a16:creationId xmlns:a16="http://schemas.microsoft.com/office/drawing/2014/main" id="{06930207-46B4-4E06-8F16-B87B9A5490ED}"/>
                </a:ext>
              </a:extLst>
            </p:cNvPr>
            <p:cNvSpPr txBox="1">
              <a:spLocks noChangeArrowheads="1"/>
            </p:cNvSpPr>
            <p:nvPr/>
          </p:nvSpPr>
          <p:spPr bwMode="auto">
            <a:xfrm>
              <a:off x="2770357" y="6079998"/>
              <a:ext cx="1752600" cy="457200"/>
            </a:xfrm>
            <a:prstGeom prst="rect">
              <a:avLst/>
            </a:prstGeom>
            <a:no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dirty="0"/>
                <a:t>W</a:t>
              </a:r>
              <a:r>
                <a:rPr kumimoji="0" lang="en-US" altLang="zh-CN" sz="2400" b="1" dirty="0"/>
                <a:t>(</a:t>
              </a:r>
              <a:r>
                <a:rPr kumimoji="0" lang="en-US" altLang="zh-CN" sz="2400" b="1" i="1" dirty="0"/>
                <a:t>T</a:t>
              </a:r>
              <a:r>
                <a:rPr kumimoji="0" lang="en-US" altLang="zh-CN" sz="2400" b="1" baseline="-25000" dirty="0"/>
                <a:t>1</a:t>
              </a:r>
              <a:r>
                <a:rPr kumimoji="0" lang="en-US" altLang="zh-CN" sz="2400" b="1" dirty="0"/>
                <a:t>)=47</a:t>
              </a:r>
            </a:p>
          </p:txBody>
        </p:sp>
      </p:grpSp>
      <p:grpSp>
        <p:nvGrpSpPr>
          <p:cNvPr id="7" name="组合 6">
            <a:extLst>
              <a:ext uri="{FF2B5EF4-FFF2-40B4-BE49-F238E27FC236}">
                <a16:creationId xmlns:a16="http://schemas.microsoft.com/office/drawing/2014/main" id="{0B795977-5414-4BDC-A448-97843B494795}"/>
              </a:ext>
            </a:extLst>
          </p:cNvPr>
          <p:cNvGrpSpPr/>
          <p:nvPr/>
        </p:nvGrpSpPr>
        <p:grpSpPr>
          <a:xfrm>
            <a:off x="4890906" y="3763644"/>
            <a:ext cx="1888468" cy="2718942"/>
            <a:chOff x="4890906" y="3763644"/>
            <a:chExt cx="1888468" cy="2718942"/>
          </a:xfrm>
        </p:grpSpPr>
        <p:grpSp>
          <p:nvGrpSpPr>
            <p:cNvPr id="16" name="Group 31">
              <a:extLst>
                <a:ext uri="{FF2B5EF4-FFF2-40B4-BE49-F238E27FC236}">
                  <a16:creationId xmlns:a16="http://schemas.microsoft.com/office/drawing/2014/main" id="{93E0DA46-6DE6-4B82-930C-E09A023F700A}"/>
                </a:ext>
              </a:extLst>
            </p:cNvPr>
            <p:cNvGrpSpPr>
              <a:grpSpLocks/>
            </p:cNvGrpSpPr>
            <p:nvPr/>
          </p:nvGrpSpPr>
          <p:grpSpPr bwMode="auto">
            <a:xfrm>
              <a:off x="5020424" y="3763644"/>
              <a:ext cx="1758950" cy="2286000"/>
              <a:chOff x="2304" y="2640"/>
              <a:chExt cx="1108" cy="1440"/>
            </a:xfrm>
            <a:noFill/>
          </p:grpSpPr>
          <p:pic>
            <p:nvPicPr>
              <p:cNvPr id="30" name="Picture 11" descr="E:\插图\离散\图7-10(2).tif">
                <a:extLst>
                  <a:ext uri="{FF2B5EF4-FFF2-40B4-BE49-F238E27FC236}">
                    <a16:creationId xmlns:a16="http://schemas.microsoft.com/office/drawing/2014/main" id="{4C4ACFE8-3164-4212-94B0-1DF519D63A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0" y="2640"/>
                <a:ext cx="1012" cy="1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31" name="Text Box 16">
                <a:extLst>
                  <a:ext uri="{FF2B5EF4-FFF2-40B4-BE49-F238E27FC236}">
                    <a16:creationId xmlns:a16="http://schemas.microsoft.com/office/drawing/2014/main" id="{205807FD-DD94-48AC-8D69-9D10B70F7FF1}"/>
                  </a:ext>
                </a:extLst>
              </p:cNvPr>
              <p:cNvSpPr txBox="1">
                <a:spLocks noChangeArrowheads="1"/>
              </p:cNvSpPr>
              <p:nvPr/>
            </p:nvSpPr>
            <p:spPr bwMode="auto">
              <a:xfrm>
                <a:off x="2304" y="3792"/>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32" name="Text Box 19">
                <a:extLst>
                  <a:ext uri="{FF2B5EF4-FFF2-40B4-BE49-F238E27FC236}">
                    <a16:creationId xmlns:a16="http://schemas.microsoft.com/office/drawing/2014/main" id="{C194E175-4FAC-4401-A2A7-407A0CF8387C}"/>
                  </a:ext>
                </a:extLst>
              </p:cNvPr>
              <p:cNvSpPr txBox="1">
                <a:spLocks noChangeArrowheads="1"/>
              </p:cNvSpPr>
              <p:nvPr/>
            </p:nvSpPr>
            <p:spPr bwMode="auto">
              <a:xfrm>
                <a:off x="3072" y="2976"/>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33" name="Text Box 22">
                <a:extLst>
                  <a:ext uri="{FF2B5EF4-FFF2-40B4-BE49-F238E27FC236}">
                    <a16:creationId xmlns:a16="http://schemas.microsoft.com/office/drawing/2014/main" id="{2A6781F6-A8EC-4BA5-9FE4-1A2F929657D1}"/>
                  </a:ext>
                </a:extLst>
              </p:cNvPr>
              <p:cNvSpPr txBox="1">
                <a:spLocks noChangeArrowheads="1"/>
              </p:cNvSpPr>
              <p:nvPr/>
            </p:nvSpPr>
            <p:spPr bwMode="auto">
              <a:xfrm>
                <a:off x="2928" y="3216"/>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34" name="Text Box 25">
                <a:extLst>
                  <a:ext uri="{FF2B5EF4-FFF2-40B4-BE49-F238E27FC236}">
                    <a16:creationId xmlns:a16="http://schemas.microsoft.com/office/drawing/2014/main" id="{579A6237-9812-4E98-B5EF-EB9E3E6EC541}"/>
                  </a:ext>
                </a:extLst>
              </p:cNvPr>
              <p:cNvSpPr txBox="1">
                <a:spLocks noChangeArrowheads="1"/>
              </p:cNvSpPr>
              <p:nvPr/>
            </p:nvSpPr>
            <p:spPr bwMode="auto">
              <a:xfrm>
                <a:off x="2784" y="3552"/>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5</a:t>
                </a:r>
              </a:p>
            </p:txBody>
          </p:sp>
          <p:sp>
            <p:nvSpPr>
              <p:cNvPr id="35" name="Text Box 28">
                <a:extLst>
                  <a:ext uri="{FF2B5EF4-FFF2-40B4-BE49-F238E27FC236}">
                    <a16:creationId xmlns:a16="http://schemas.microsoft.com/office/drawing/2014/main" id="{A41D2B41-F26F-416F-A4E7-A48406E4303C}"/>
                  </a:ext>
                </a:extLst>
              </p:cNvPr>
              <p:cNvSpPr txBox="1">
                <a:spLocks noChangeArrowheads="1"/>
              </p:cNvSpPr>
              <p:nvPr/>
            </p:nvSpPr>
            <p:spPr bwMode="auto">
              <a:xfrm>
                <a:off x="2640" y="3792"/>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grpSp>
        <p:sp>
          <p:nvSpPr>
            <p:cNvPr id="21" name="Text Box 34">
              <a:extLst>
                <a:ext uri="{FF2B5EF4-FFF2-40B4-BE49-F238E27FC236}">
                  <a16:creationId xmlns:a16="http://schemas.microsoft.com/office/drawing/2014/main" id="{EB198C53-31DB-4C25-B746-5AE7A3A78E08}"/>
                </a:ext>
              </a:extLst>
            </p:cNvPr>
            <p:cNvSpPr txBox="1">
              <a:spLocks noChangeArrowheads="1"/>
            </p:cNvSpPr>
            <p:nvPr/>
          </p:nvSpPr>
          <p:spPr bwMode="auto">
            <a:xfrm>
              <a:off x="4890906" y="6025386"/>
              <a:ext cx="1752600" cy="457200"/>
            </a:xfrm>
            <a:prstGeom prst="rect">
              <a:avLst/>
            </a:prstGeom>
            <a:no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dirty="0"/>
                <a:t>W</a:t>
              </a:r>
              <a:r>
                <a:rPr kumimoji="0" lang="en-US" altLang="zh-CN" sz="2400" b="1" dirty="0"/>
                <a:t>(</a:t>
              </a:r>
              <a:r>
                <a:rPr kumimoji="0" lang="en-US" altLang="zh-CN" sz="2400" b="1" i="1" dirty="0"/>
                <a:t>T</a:t>
              </a:r>
              <a:r>
                <a:rPr kumimoji="0" lang="en-US" altLang="zh-CN" sz="2400" b="1" baseline="-25000" dirty="0"/>
                <a:t>2</a:t>
              </a:r>
              <a:r>
                <a:rPr kumimoji="0" lang="en-US" altLang="zh-CN" sz="2400" b="1" dirty="0"/>
                <a:t>)=54</a:t>
              </a:r>
            </a:p>
          </p:txBody>
        </p:sp>
      </p:grpSp>
      <p:grpSp>
        <p:nvGrpSpPr>
          <p:cNvPr id="42" name="组合 41">
            <a:extLst>
              <a:ext uri="{FF2B5EF4-FFF2-40B4-BE49-F238E27FC236}">
                <a16:creationId xmlns:a16="http://schemas.microsoft.com/office/drawing/2014/main" id="{8D5F6B55-E99B-49E6-AC06-26587FF0C036}"/>
              </a:ext>
            </a:extLst>
          </p:cNvPr>
          <p:cNvGrpSpPr/>
          <p:nvPr/>
        </p:nvGrpSpPr>
        <p:grpSpPr>
          <a:xfrm>
            <a:off x="7312774" y="4177847"/>
            <a:ext cx="1905000" cy="2225845"/>
            <a:chOff x="7312774" y="4177847"/>
            <a:chExt cx="1905000" cy="2225845"/>
          </a:xfrm>
        </p:grpSpPr>
        <p:grpSp>
          <p:nvGrpSpPr>
            <p:cNvPr id="17" name="Group 32">
              <a:extLst>
                <a:ext uri="{FF2B5EF4-FFF2-40B4-BE49-F238E27FC236}">
                  <a16:creationId xmlns:a16="http://schemas.microsoft.com/office/drawing/2014/main" id="{94557162-54BC-4344-9D4E-4B060F4B8105}"/>
                </a:ext>
              </a:extLst>
            </p:cNvPr>
            <p:cNvGrpSpPr>
              <a:grpSpLocks/>
            </p:cNvGrpSpPr>
            <p:nvPr/>
          </p:nvGrpSpPr>
          <p:grpSpPr bwMode="auto">
            <a:xfrm>
              <a:off x="7312774" y="4177847"/>
              <a:ext cx="1905000" cy="1752600"/>
              <a:chOff x="3840" y="2880"/>
              <a:chExt cx="1200" cy="1104"/>
            </a:xfrm>
            <a:noFill/>
          </p:grpSpPr>
          <p:pic>
            <p:nvPicPr>
              <p:cNvPr id="24" name="Picture 12" descr="E:\插图\离散\图7-10(3).tif">
                <a:extLst>
                  <a:ext uri="{FF2B5EF4-FFF2-40B4-BE49-F238E27FC236}">
                    <a16:creationId xmlns:a16="http://schemas.microsoft.com/office/drawing/2014/main" id="{56274385-B15B-4DE0-9E7A-5A269CE87BA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5" y="2880"/>
                <a:ext cx="1031" cy="88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5" name="Text Box 17">
                <a:extLst>
                  <a:ext uri="{FF2B5EF4-FFF2-40B4-BE49-F238E27FC236}">
                    <a16:creationId xmlns:a16="http://schemas.microsoft.com/office/drawing/2014/main" id="{9DA0875C-5DF9-4BB2-9046-476590C834FE}"/>
                  </a:ext>
                </a:extLst>
              </p:cNvPr>
              <p:cNvSpPr txBox="1">
                <a:spLocks noChangeArrowheads="1"/>
              </p:cNvSpPr>
              <p:nvPr/>
            </p:nvSpPr>
            <p:spPr bwMode="auto">
              <a:xfrm>
                <a:off x="4464" y="3696"/>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26" name="Text Box 20">
                <a:extLst>
                  <a:ext uri="{FF2B5EF4-FFF2-40B4-BE49-F238E27FC236}">
                    <a16:creationId xmlns:a16="http://schemas.microsoft.com/office/drawing/2014/main" id="{DC41F48B-ACCA-4310-8C1C-6C77C1CAF3C0}"/>
                  </a:ext>
                </a:extLst>
              </p:cNvPr>
              <p:cNvSpPr txBox="1">
                <a:spLocks noChangeArrowheads="1"/>
              </p:cNvSpPr>
              <p:nvPr/>
            </p:nvSpPr>
            <p:spPr bwMode="auto">
              <a:xfrm>
                <a:off x="4128" y="340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27" name="Text Box 23">
                <a:extLst>
                  <a:ext uri="{FF2B5EF4-FFF2-40B4-BE49-F238E27FC236}">
                    <a16:creationId xmlns:a16="http://schemas.microsoft.com/office/drawing/2014/main" id="{A868A97B-2D21-4C27-992D-D40CD1E3FBDA}"/>
                  </a:ext>
                </a:extLst>
              </p:cNvPr>
              <p:cNvSpPr txBox="1">
                <a:spLocks noChangeArrowheads="1"/>
              </p:cNvSpPr>
              <p:nvPr/>
            </p:nvSpPr>
            <p:spPr bwMode="auto">
              <a:xfrm>
                <a:off x="4752" y="3696"/>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28" name="Text Box 26">
                <a:extLst>
                  <a:ext uri="{FF2B5EF4-FFF2-40B4-BE49-F238E27FC236}">
                    <a16:creationId xmlns:a16="http://schemas.microsoft.com/office/drawing/2014/main" id="{366DBF4F-67B8-4D18-AC30-4AAFBCFA3660}"/>
                  </a:ext>
                </a:extLst>
              </p:cNvPr>
              <p:cNvSpPr txBox="1">
                <a:spLocks noChangeArrowheads="1"/>
              </p:cNvSpPr>
              <p:nvPr/>
            </p:nvSpPr>
            <p:spPr bwMode="auto">
              <a:xfrm>
                <a:off x="4320" y="340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5</a:t>
                </a:r>
              </a:p>
            </p:txBody>
          </p:sp>
          <p:sp>
            <p:nvSpPr>
              <p:cNvPr id="29" name="Text Box 29">
                <a:extLst>
                  <a:ext uri="{FF2B5EF4-FFF2-40B4-BE49-F238E27FC236}">
                    <a16:creationId xmlns:a16="http://schemas.microsoft.com/office/drawing/2014/main" id="{04DB18E3-B7A6-4174-9816-0276A47CEAB2}"/>
                  </a:ext>
                </a:extLst>
              </p:cNvPr>
              <p:cNvSpPr txBox="1">
                <a:spLocks noChangeArrowheads="1"/>
              </p:cNvSpPr>
              <p:nvPr/>
            </p:nvSpPr>
            <p:spPr bwMode="auto">
              <a:xfrm>
                <a:off x="3840" y="340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grpSp>
        <p:sp>
          <p:nvSpPr>
            <p:cNvPr id="23" name="Text Box 35">
              <a:extLst>
                <a:ext uri="{FF2B5EF4-FFF2-40B4-BE49-F238E27FC236}">
                  <a16:creationId xmlns:a16="http://schemas.microsoft.com/office/drawing/2014/main" id="{E1A8685D-F26E-4B9A-916F-1DF1FCCE91A0}"/>
                </a:ext>
              </a:extLst>
            </p:cNvPr>
            <p:cNvSpPr txBox="1">
              <a:spLocks noChangeArrowheads="1"/>
            </p:cNvSpPr>
            <p:nvPr/>
          </p:nvSpPr>
          <p:spPr bwMode="auto">
            <a:xfrm>
              <a:off x="7379405" y="5946492"/>
              <a:ext cx="1752600" cy="457200"/>
            </a:xfrm>
            <a:prstGeom prst="rect">
              <a:avLst/>
            </a:prstGeom>
            <a:no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dirty="0"/>
                <a:t>W</a:t>
              </a:r>
              <a:r>
                <a:rPr kumimoji="0" lang="en-US" altLang="zh-CN" sz="2400" b="1" dirty="0"/>
                <a:t>(</a:t>
              </a:r>
              <a:r>
                <a:rPr kumimoji="0" lang="en-US" altLang="zh-CN" sz="2400" b="1" i="1" dirty="0"/>
                <a:t>T</a:t>
              </a:r>
              <a:r>
                <a:rPr kumimoji="0" lang="en-US" altLang="zh-CN" sz="2400" b="1" baseline="-25000" dirty="0"/>
                <a:t>3</a:t>
              </a:r>
              <a:r>
                <a:rPr kumimoji="0" lang="en-US" altLang="zh-CN" sz="2400" b="1" dirty="0"/>
                <a:t>)=43</a:t>
              </a:r>
            </a:p>
          </p:txBody>
        </p:sp>
      </p:grpSp>
    </p:spTree>
    <p:extLst>
      <p:ext uri="{BB962C8B-B14F-4D97-AF65-F5344CB8AC3E}">
        <p14:creationId xmlns:p14="http://schemas.microsoft.com/office/powerpoint/2010/main" val="37090537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Effect transition="in" filter="fade">
                                      <p:cBhvr>
                                        <p:cTn id="19" dur="1000"/>
                                        <p:tgtEl>
                                          <p:spTgt spid="10">
                                            <p:txEl>
                                              <p:pRg st="2" end="2"/>
                                            </p:txEl>
                                          </p:spTgt>
                                        </p:tgtEl>
                                      </p:cBhvr>
                                    </p:animEffect>
                                    <p:anim calcmode="lin" valueType="num">
                                      <p:cBhvr>
                                        <p:cTn id="20"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xEl>
                                              <p:pRg st="3" end="3"/>
                                            </p:txEl>
                                          </p:spTgt>
                                        </p:tgtEl>
                                        <p:attrNameLst>
                                          <p:attrName>style.visibility</p:attrName>
                                        </p:attrNameLst>
                                      </p:cBhvr>
                                      <p:to>
                                        <p:strVal val="visible"/>
                                      </p:to>
                                    </p:set>
                                    <p:animEffect transition="in" filter="fade">
                                      <p:cBhvr>
                                        <p:cTn id="26" dur="1000"/>
                                        <p:tgtEl>
                                          <p:spTgt spid="10">
                                            <p:txEl>
                                              <p:pRg st="3" end="3"/>
                                            </p:txEl>
                                          </p:spTgt>
                                        </p:tgtEl>
                                      </p:cBhvr>
                                    </p:animEffect>
                                    <p:anim calcmode="lin" valueType="num">
                                      <p:cBhvr>
                                        <p:cTn id="27"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anim calcmode="lin" valueType="num">
                                      <p:cBhvr additive="base">
                                        <p:cTn id="45" dur="500" fill="hold"/>
                                        <p:tgtEl>
                                          <p:spTgt spid="42"/>
                                        </p:tgtEl>
                                        <p:attrNameLst>
                                          <p:attrName>ppt_x</p:attrName>
                                        </p:attrNameLst>
                                      </p:cBhvr>
                                      <p:tavLst>
                                        <p:tav tm="0">
                                          <p:val>
                                            <p:strVal val="#ppt_x"/>
                                          </p:val>
                                        </p:tav>
                                        <p:tav tm="100000">
                                          <p:val>
                                            <p:strVal val="#ppt_x"/>
                                          </p:val>
                                        </p:tav>
                                      </p:tavLst>
                                    </p:anim>
                                    <p:anim calcmode="lin" valueType="num">
                                      <p:cBhvr additive="base">
                                        <p:cTn id="46"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7.2.2 Optimal Trees and the Huffman Algorithm</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Static Huffman Coding Algorithm</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56522" y="794339"/>
            <a:ext cx="10780080" cy="51975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Huffman Algorithm</a:t>
            </a:r>
            <a:r>
              <a:rPr lang="en-US" altLang="zh-CN" sz="2400" b="1" dirty="0">
                <a:latin typeface="Trebuchet MS" panose="020B0603020202020204" pitchFamily="34" charset="0"/>
              </a:rPr>
              <a:t>: </a:t>
            </a:r>
            <a:r>
              <a:rPr lang="en-US" altLang="zh-CN" sz="2400" dirty="0">
                <a:latin typeface="Trebuchet MS" panose="020B0603020202020204" pitchFamily="34" charset="0"/>
              </a:rPr>
              <a:t>Constructing the </a:t>
            </a:r>
            <a:r>
              <a:rPr lang="en-US" altLang="zh-CN" sz="2400" b="1" i="1" dirty="0">
                <a:solidFill>
                  <a:srgbClr val="0B61FF"/>
                </a:solidFill>
                <a:latin typeface="Trebuchet MS" panose="020B0603020202020204" pitchFamily="34" charset="0"/>
              </a:rPr>
              <a:t>Optimal Binary (Huffman) Tree</a:t>
            </a:r>
            <a:r>
              <a:rPr lang="en-US" altLang="zh-CN" sz="2400" dirty="0">
                <a:latin typeface="Trebuchet MS" panose="020B0603020202020204" pitchFamily="34" charset="0"/>
              </a:rPr>
              <a:t>.</a:t>
            </a:r>
            <a:endParaRPr lang="en-US" altLang="zh-CN" sz="2400" b="1" dirty="0">
              <a:latin typeface="Trebuchet MS" panose="020B0603020202020204" pitchFamily="34" charset="0"/>
            </a:endParaRPr>
          </a:p>
          <a:p>
            <a:pPr marL="0" indent="179388">
              <a:lnSpc>
                <a:spcPct val="120000"/>
              </a:lnSpc>
              <a:spcBef>
                <a:spcPts val="0"/>
              </a:spcBef>
              <a:buClr>
                <a:srgbClr val="0B61FF"/>
              </a:buClr>
              <a:buSzPct val="80000"/>
              <a:buNone/>
            </a:pPr>
            <a:r>
              <a:rPr lang="en-US" sz="2400" dirty="0">
                <a:latin typeface="Trebuchet MS" panose="020B0603020202020204" pitchFamily="34" charset="0"/>
              </a:rPr>
              <a:t>Given real numbers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 …, </a:t>
            </a:r>
            <a:r>
              <a:rPr lang="en-US" altLang="zh-CN" sz="2400" b="1" i="1" dirty="0" err="1">
                <a:latin typeface="Trebuchet MS" panose="020B0603020202020204" pitchFamily="34" charset="0"/>
                <a:cs typeface="Times New Roman" panose="02020603050405020304" pitchFamily="18" charset="0"/>
              </a:rPr>
              <a:t>w</a:t>
            </a:r>
            <a:r>
              <a:rPr lang="en-US" altLang="zh-CN" sz="2400" b="1" i="1" baseline="-30000" dirty="0" err="1">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a:t>
            </a:r>
          </a:p>
          <a:p>
            <a:pPr marL="536575" indent="-357188">
              <a:lnSpc>
                <a:spcPct val="120000"/>
              </a:lnSpc>
              <a:spcBef>
                <a:spcPts val="300"/>
              </a:spcBef>
              <a:buNone/>
            </a:pPr>
            <a:r>
              <a:rPr lang="en-US" sz="2400" b="1" dirty="0">
                <a:solidFill>
                  <a:srgbClr val="0B61FF"/>
                </a:solidFill>
                <a:latin typeface="宋体" panose="02010600030101010101" pitchFamily="2" charset="-122"/>
                <a:ea typeface="宋体" panose="02010600030101010101" pitchFamily="2" charset="-122"/>
              </a:rPr>
              <a:t>①</a:t>
            </a:r>
            <a:r>
              <a:rPr lang="en-US" altLang="zh-CN" sz="2400" dirty="0">
                <a:latin typeface="Trebuchet MS" panose="020B0603020202020204" pitchFamily="34" charset="0"/>
              </a:rPr>
              <a:t>Create t leaves, each assigned a weight of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 …, </a:t>
            </a:r>
            <a:r>
              <a:rPr lang="en-US" altLang="zh-CN" sz="2400" b="1" i="1" dirty="0" err="1">
                <a:latin typeface="Trebuchet MS" panose="020B0603020202020204" pitchFamily="34" charset="0"/>
                <a:cs typeface="Times New Roman" panose="02020603050405020304" pitchFamily="18" charset="0"/>
              </a:rPr>
              <a:t>w</a:t>
            </a:r>
            <a:r>
              <a:rPr lang="en-US" altLang="zh-CN" sz="2400" b="1" i="1" baseline="-30000" dirty="0" err="1">
                <a:latin typeface="Trebuchet MS" panose="020B0603020202020204" pitchFamily="34" charset="0"/>
                <a:cs typeface="Times New Roman" panose="02020603050405020304" pitchFamily="18" charset="0"/>
              </a:rPr>
              <a:t>t</a:t>
            </a:r>
            <a:r>
              <a:rPr lang="en-US" altLang="zh-CN" sz="2400" b="1" i="1" baseline="-300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respectively.</a:t>
            </a:r>
          </a:p>
          <a:p>
            <a:pPr marL="536575" indent="-357188">
              <a:lnSpc>
                <a:spcPct val="120000"/>
              </a:lnSpc>
              <a:spcBef>
                <a:spcPts val="300"/>
              </a:spcBef>
              <a:buNone/>
            </a:pPr>
            <a:r>
              <a:rPr lang="en-US" altLang="zh-CN" sz="2400" b="1" dirty="0">
                <a:solidFill>
                  <a:srgbClr val="0B61FF"/>
                </a:solidFill>
                <a:latin typeface="Trebuchet MS" panose="020B0603020202020204" pitchFamily="34" charset="0"/>
              </a:rPr>
              <a:t>②</a:t>
            </a:r>
            <a:r>
              <a:rPr lang="en-US" sz="2400" dirty="0">
                <a:latin typeface="Trebuchet MS" panose="020B0603020202020204" pitchFamily="34" charset="0"/>
              </a:rPr>
              <a:t>Among all vertices with in-degree </a:t>
            </a:r>
            <a:r>
              <a:rPr lang="en-US" sz="2400" b="1" dirty="0">
                <a:latin typeface="Trebuchet MS" panose="020B0603020202020204" pitchFamily="34" charset="0"/>
              </a:rPr>
              <a:t>0</a:t>
            </a:r>
            <a:r>
              <a:rPr lang="en-US" sz="2400" dirty="0">
                <a:latin typeface="Trebuchet MS" panose="020B0603020202020204" pitchFamily="34" charset="0"/>
              </a:rPr>
              <a:t> (not necessarily leaves), select the two with the smallest weights. Create a new branching node with these two as its children. The weight of the new node is the sum of its two children's weights.</a:t>
            </a:r>
          </a:p>
          <a:p>
            <a:pPr marL="536575" indent="-357188">
              <a:lnSpc>
                <a:spcPct val="120000"/>
              </a:lnSpc>
              <a:spcBef>
                <a:spcPts val="300"/>
              </a:spcBef>
              <a:buNone/>
            </a:pPr>
            <a:r>
              <a:rPr lang="en-US" sz="2400" b="1" dirty="0">
                <a:solidFill>
                  <a:srgbClr val="0B61FF"/>
                </a:solidFill>
                <a:latin typeface="Trebuchet MS" panose="020B0603020202020204" pitchFamily="34" charset="0"/>
                <a:ea typeface="宋体" panose="02010600030101010101" pitchFamily="2" charset="-122"/>
              </a:rPr>
              <a:t>③</a:t>
            </a:r>
            <a:r>
              <a:rPr lang="en-US" sz="2400" dirty="0">
                <a:latin typeface="Trebuchet MS" panose="020B0603020202020204" pitchFamily="34" charset="0"/>
              </a:rPr>
              <a:t>Repeat step </a:t>
            </a:r>
            <a:r>
              <a:rPr lang="en-US" altLang="zh-CN" sz="2400" b="1" dirty="0">
                <a:solidFill>
                  <a:srgbClr val="0B61FF"/>
                </a:solidFill>
                <a:latin typeface="Trebuchet MS" panose="020B0603020202020204" pitchFamily="34" charset="0"/>
              </a:rPr>
              <a:t>②</a:t>
            </a:r>
            <a:r>
              <a:rPr lang="en-US" sz="2400" dirty="0">
                <a:latin typeface="Trebuchet MS" panose="020B0603020202020204" pitchFamily="34" charset="0"/>
              </a:rPr>
              <a:t> until there is only one vertex with in-degree </a:t>
            </a:r>
            <a:r>
              <a:rPr lang="en-US" sz="2400" b="1" dirty="0">
                <a:latin typeface="Trebuchet MS" panose="020B0603020202020204" pitchFamily="34" charset="0"/>
              </a:rPr>
              <a:t>0 </a:t>
            </a:r>
            <a:r>
              <a:rPr lang="en-US" sz="2400" dirty="0">
                <a:latin typeface="Trebuchet MS" panose="020B0603020202020204" pitchFamily="34" charset="0"/>
              </a:rPr>
              <a:t>remaining.</a:t>
            </a:r>
          </a:p>
          <a:p>
            <a:pPr>
              <a:lnSpc>
                <a:spcPct val="12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The total weight </a:t>
            </a:r>
            <a:r>
              <a:rPr lang="en-US" altLang="zh-CN" sz="2400" b="1" i="1" dirty="0">
                <a:latin typeface="Trebuchet MS" panose="020B0603020202020204" pitchFamily="34" charset="0"/>
                <a:cs typeface="Times New Roman" panose="02020603050405020304" pitchFamily="18" charset="0"/>
              </a:rPr>
              <a:t>W</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is the sum of the weights of all branching nodes. The resulting binary tree is the </a:t>
            </a:r>
            <a:r>
              <a:rPr lang="en-US" sz="2400" b="1" i="1" dirty="0">
                <a:solidFill>
                  <a:srgbClr val="0B61FF"/>
                </a:solidFill>
                <a:latin typeface="Trebuchet MS" panose="020B0603020202020204" pitchFamily="34" charset="0"/>
              </a:rPr>
              <a:t>optimal binary tree</a:t>
            </a:r>
            <a:r>
              <a:rPr lang="en-US" sz="2400" dirty="0">
                <a:latin typeface="Trebuchet MS" panose="020B0603020202020204" pitchFamily="34" charset="0"/>
              </a:rPr>
              <a:t>, having the </a:t>
            </a:r>
            <a:r>
              <a:rPr lang="en-US" sz="2400" b="1" i="1" dirty="0">
                <a:solidFill>
                  <a:srgbClr val="0B61FF"/>
                </a:solidFill>
                <a:latin typeface="Trebuchet MS" panose="020B0603020202020204" pitchFamily="34" charset="0"/>
              </a:rPr>
              <a:t>minimum weighted path length</a:t>
            </a:r>
            <a:r>
              <a:rPr lang="en-US" sz="2400" dirty="0">
                <a:latin typeface="Trebuchet MS" panose="020B0603020202020204" pitchFamily="34" charset="0"/>
              </a:rPr>
              <a:t>.</a:t>
            </a:r>
          </a:p>
        </p:txBody>
      </p:sp>
    </p:spTree>
    <p:extLst>
      <p:ext uri="{BB962C8B-B14F-4D97-AF65-F5344CB8AC3E}">
        <p14:creationId xmlns:p14="http://schemas.microsoft.com/office/powerpoint/2010/main" val="29016462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7.2.2 Optimal Trees and the Huffman Algorithm</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Static Huffman Coding Algorithm(</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15000"/>
              </a:lnSpc>
              <a:buFontTx/>
              <a:buNone/>
            </a:pPr>
            <a:endParaRPr lang="zh-CN" altLang="en-US" sz="2800" b="1" dirty="0"/>
          </a:p>
        </p:txBody>
      </p:sp>
      <p:sp>
        <p:nvSpPr>
          <p:cNvPr id="9" name="Rectangle 3">
            <a:extLst>
              <a:ext uri="{FF2B5EF4-FFF2-40B4-BE49-F238E27FC236}">
                <a16:creationId xmlns:a16="http://schemas.microsoft.com/office/drawing/2014/main" id="{520254EB-7221-45D9-8E79-00A591883735}"/>
              </a:ext>
            </a:extLst>
          </p:cNvPr>
          <p:cNvSpPr txBox="1">
            <a:spLocks noChangeArrowheads="1"/>
          </p:cNvSpPr>
          <p:nvPr/>
        </p:nvSpPr>
        <p:spPr>
          <a:xfrm>
            <a:off x="792104" y="715863"/>
            <a:ext cx="5151496" cy="32823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 </a:t>
            </a:r>
            <a:r>
              <a:rPr lang="en-US" sz="2400" dirty="0">
                <a:latin typeface="Trebuchet MS" panose="020B0603020202020204" pitchFamily="34" charset="0"/>
              </a:rPr>
              <a:t>Find the optimal binary tree with weights 1, 3, 4, 5, and 6, and compute its total weight.</a:t>
            </a:r>
          </a:p>
          <a:p>
            <a:pPr>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br>
              <a:rPr lang="en-US" sz="2400" dirty="0">
                <a:latin typeface="Trebuchet MS" panose="020B0603020202020204" pitchFamily="34" charset="0"/>
              </a:rPr>
            </a:br>
            <a:r>
              <a:rPr lang="en-US" sz="2400" dirty="0">
                <a:latin typeface="Trebuchet MS" panose="020B0603020202020204" pitchFamily="34" charset="0"/>
              </a:rPr>
              <a:t>Steps </a:t>
            </a:r>
            <a:r>
              <a:rPr lang="en-US" sz="2400" b="1" dirty="0">
                <a:latin typeface="Trebuchet MS" panose="020B0603020202020204" pitchFamily="34" charset="0"/>
              </a:rPr>
              <a:t>(a)</a:t>
            </a:r>
            <a:r>
              <a:rPr lang="en-US" sz="2400" dirty="0">
                <a:latin typeface="Trebuchet MS" panose="020B0603020202020204" pitchFamily="34" charset="0"/>
              </a:rPr>
              <a:t> through </a:t>
            </a:r>
            <a:r>
              <a:rPr lang="en-US" sz="2400" b="1" dirty="0">
                <a:latin typeface="Trebuchet MS" panose="020B0603020202020204" pitchFamily="34" charset="0"/>
              </a:rPr>
              <a:t>(e)</a:t>
            </a:r>
            <a:r>
              <a:rPr lang="en-US" sz="2400" dirty="0">
                <a:latin typeface="Trebuchet MS" panose="020B0603020202020204" pitchFamily="34" charset="0"/>
              </a:rPr>
              <a:t> show the computation process using the Huffman algorithm.</a:t>
            </a:r>
            <a:endParaRPr kumimoji="0" lang="en-US" altLang="zh-CN" sz="2400" b="1" dirty="0">
              <a:latin typeface="Trebuchet MS" panose="020B0603020202020204" pitchFamily="34" charset="0"/>
            </a:endParaRPr>
          </a:p>
          <a:p>
            <a:pPr>
              <a:buFontTx/>
              <a:buNone/>
            </a:pPr>
            <a:endParaRPr lang="zh-CN" altLang="en-US" sz="2400" b="1" dirty="0">
              <a:solidFill>
                <a:srgbClr val="00B0F0"/>
              </a:solidFill>
              <a:latin typeface="Trebuchet MS" panose="020B0603020202020204" pitchFamily="34" charset="0"/>
            </a:endParaRPr>
          </a:p>
        </p:txBody>
      </p:sp>
      <p:grpSp>
        <p:nvGrpSpPr>
          <p:cNvPr id="10" name="组合 52">
            <a:extLst>
              <a:ext uri="{FF2B5EF4-FFF2-40B4-BE49-F238E27FC236}">
                <a16:creationId xmlns:a16="http://schemas.microsoft.com/office/drawing/2014/main" id="{28E666FA-A4E5-492D-8766-4DEE9C927E59}"/>
              </a:ext>
            </a:extLst>
          </p:cNvPr>
          <p:cNvGrpSpPr>
            <a:grpSpLocks/>
          </p:cNvGrpSpPr>
          <p:nvPr/>
        </p:nvGrpSpPr>
        <p:grpSpPr bwMode="auto">
          <a:xfrm>
            <a:off x="6626799" y="1763054"/>
            <a:ext cx="2143125" cy="833438"/>
            <a:chOff x="500034" y="4500570"/>
            <a:chExt cx="2143140" cy="833430"/>
          </a:xfrm>
        </p:grpSpPr>
        <p:sp>
          <p:nvSpPr>
            <p:cNvPr id="11" name="Text Box 4">
              <a:extLst>
                <a:ext uri="{FF2B5EF4-FFF2-40B4-BE49-F238E27FC236}">
                  <a16:creationId xmlns:a16="http://schemas.microsoft.com/office/drawing/2014/main" id="{635B07C8-CD9B-4410-B8F4-B79674CF59C0}"/>
                </a:ext>
              </a:extLst>
            </p:cNvPr>
            <p:cNvSpPr txBox="1">
              <a:spLocks noChangeArrowheads="1"/>
            </p:cNvSpPr>
            <p:nvPr/>
          </p:nvSpPr>
          <p:spPr bwMode="auto">
            <a:xfrm>
              <a:off x="547662" y="4572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12" name="Text Box 12">
              <a:extLst>
                <a:ext uri="{FF2B5EF4-FFF2-40B4-BE49-F238E27FC236}">
                  <a16:creationId xmlns:a16="http://schemas.microsoft.com/office/drawing/2014/main" id="{004D4D17-3D99-45E3-A37B-25F9008726B0}"/>
                </a:ext>
              </a:extLst>
            </p:cNvPr>
            <p:cNvSpPr txBox="1">
              <a:spLocks noChangeArrowheads="1"/>
            </p:cNvSpPr>
            <p:nvPr/>
          </p:nvSpPr>
          <p:spPr bwMode="auto">
            <a:xfrm>
              <a:off x="1000100" y="4572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14" name="Text Box 16">
              <a:extLst>
                <a:ext uri="{FF2B5EF4-FFF2-40B4-BE49-F238E27FC236}">
                  <a16:creationId xmlns:a16="http://schemas.microsoft.com/office/drawing/2014/main" id="{468068C1-FB02-4495-A536-BFE1959390A2}"/>
                </a:ext>
              </a:extLst>
            </p:cNvPr>
            <p:cNvSpPr txBox="1">
              <a:spLocks noChangeArrowheads="1"/>
            </p:cNvSpPr>
            <p:nvPr/>
          </p:nvSpPr>
          <p:spPr bwMode="auto">
            <a:xfrm>
              <a:off x="1357290" y="45720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15" name="Text Box 33">
              <a:extLst>
                <a:ext uri="{FF2B5EF4-FFF2-40B4-BE49-F238E27FC236}">
                  <a16:creationId xmlns:a16="http://schemas.microsoft.com/office/drawing/2014/main" id="{08B0583D-3EFA-40FE-8983-04BADBDCE2C9}"/>
                </a:ext>
              </a:extLst>
            </p:cNvPr>
            <p:cNvSpPr txBox="1">
              <a:spLocks noChangeArrowheads="1"/>
            </p:cNvSpPr>
            <p:nvPr/>
          </p:nvSpPr>
          <p:spPr bwMode="auto">
            <a:xfrm>
              <a:off x="1247756" y="4876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a:t>
              </a:r>
              <a:r>
                <a:rPr kumimoji="0" lang="en-US" altLang="zh-CN" sz="2400" b="1" dirty="0"/>
                <a:t>a)</a:t>
              </a:r>
            </a:p>
          </p:txBody>
        </p:sp>
        <p:pic>
          <p:nvPicPr>
            <p:cNvPr id="16" name="Picture 5" descr="E:\插图\离散\图7-11(a).tif">
              <a:extLst>
                <a:ext uri="{FF2B5EF4-FFF2-40B4-BE49-F238E27FC236}">
                  <a16:creationId xmlns:a16="http://schemas.microsoft.com/office/drawing/2014/main" id="{36B45829-A698-451D-A2DE-0C6C0D27DC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1357290"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5" descr="E:\插图\离散\图7-11(a).tif">
              <a:extLst>
                <a:ext uri="{FF2B5EF4-FFF2-40B4-BE49-F238E27FC236}">
                  <a16:creationId xmlns:a16="http://schemas.microsoft.com/office/drawing/2014/main" id="{4981B8DA-93A5-40F9-8931-FE1C98FAC0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928662"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5" descr="E:\插图\离散\图7-11(a).tif">
              <a:extLst>
                <a:ext uri="{FF2B5EF4-FFF2-40B4-BE49-F238E27FC236}">
                  <a16:creationId xmlns:a16="http://schemas.microsoft.com/office/drawing/2014/main" id="{EEA80D85-606C-45FB-8C93-AD2D7B1281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2214546"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5" descr="E:\插图\离散\图7-11(a).tif">
              <a:extLst>
                <a:ext uri="{FF2B5EF4-FFF2-40B4-BE49-F238E27FC236}">
                  <a16:creationId xmlns:a16="http://schemas.microsoft.com/office/drawing/2014/main" id="{986EBA80-2FD1-44B2-8A23-91815C02BD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1785918"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5" descr="E:\插图\离散\图7-11(a).tif">
              <a:extLst>
                <a:ext uri="{FF2B5EF4-FFF2-40B4-BE49-F238E27FC236}">
                  <a16:creationId xmlns:a16="http://schemas.microsoft.com/office/drawing/2014/main" id="{81FD9D60-7963-454D-845E-87BD4929B0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928662"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5" descr="E:\插图\离散\图7-11(a).tif">
              <a:extLst>
                <a:ext uri="{FF2B5EF4-FFF2-40B4-BE49-F238E27FC236}">
                  <a16:creationId xmlns:a16="http://schemas.microsoft.com/office/drawing/2014/main" id="{FA25D167-A80A-4BBF-9CAF-99F5E44394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500034"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16">
              <a:extLst>
                <a:ext uri="{FF2B5EF4-FFF2-40B4-BE49-F238E27FC236}">
                  <a16:creationId xmlns:a16="http://schemas.microsoft.com/office/drawing/2014/main" id="{F564F2A9-A5BF-4E82-A57D-51F7DA836956}"/>
                </a:ext>
              </a:extLst>
            </p:cNvPr>
            <p:cNvSpPr txBox="1">
              <a:spLocks noChangeArrowheads="1"/>
            </p:cNvSpPr>
            <p:nvPr/>
          </p:nvSpPr>
          <p:spPr bwMode="auto">
            <a:xfrm>
              <a:off x="1833546" y="45720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dirty="0"/>
                <a:t>5</a:t>
              </a:r>
              <a:endParaRPr kumimoji="0" lang="zh-CN" altLang="en-US" sz="2400" b="1" dirty="0"/>
            </a:p>
          </p:txBody>
        </p:sp>
        <p:sp>
          <p:nvSpPr>
            <p:cNvPr id="26" name="Text Box 16">
              <a:extLst>
                <a:ext uri="{FF2B5EF4-FFF2-40B4-BE49-F238E27FC236}">
                  <a16:creationId xmlns:a16="http://schemas.microsoft.com/office/drawing/2014/main" id="{6530C2D0-6106-4D2A-A62F-6B7E665C617B}"/>
                </a:ext>
              </a:extLst>
            </p:cNvPr>
            <p:cNvSpPr txBox="1">
              <a:spLocks noChangeArrowheads="1"/>
            </p:cNvSpPr>
            <p:nvPr/>
          </p:nvSpPr>
          <p:spPr bwMode="auto">
            <a:xfrm>
              <a:off x="2262174" y="45720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dirty="0"/>
                <a:t>6</a:t>
              </a:r>
              <a:endParaRPr kumimoji="0" lang="zh-CN" altLang="en-US" sz="2400" b="1" dirty="0"/>
            </a:p>
          </p:txBody>
        </p:sp>
      </p:grpSp>
      <p:grpSp>
        <p:nvGrpSpPr>
          <p:cNvPr id="27" name="组合 53">
            <a:extLst>
              <a:ext uri="{FF2B5EF4-FFF2-40B4-BE49-F238E27FC236}">
                <a16:creationId xmlns:a16="http://schemas.microsoft.com/office/drawing/2014/main" id="{C214FD80-22F1-4E18-BC84-CF554DBDC7BF}"/>
              </a:ext>
            </a:extLst>
          </p:cNvPr>
          <p:cNvGrpSpPr>
            <a:grpSpLocks/>
          </p:cNvGrpSpPr>
          <p:nvPr/>
        </p:nvGrpSpPr>
        <p:grpSpPr bwMode="auto">
          <a:xfrm>
            <a:off x="9212760" y="882333"/>
            <a:ext cx="2271713" cy="1905000"/>
            <a:chOff x="3729038" y="3276600"/>
            <a:chExt cx="2271722" cy="1905000"/>
          </a:xfrm>
        </p:grpSpPr>
        <p:sp>
          <p:nvSpPr>
            <p:cNvPr id="28" name="Text Box 4">
              <a:extLst>
                <a:ext uri="{FF2B5EF4-FFF2-40B4-BE49-F238E27FC236}">
                  <a16:creationId xmlns:a16="http://schemas.microsoft.com/office/drawing/2014/main" id="{92EAD053-FCFA-48E3-9F41-B53A9F5798A0}"/>
                </a:ext>
              </a:extLst>
            </p:cNvPr>
            <p:cNvSpPr txBox="1">
              <a:spLocks noChangeArrowheads="1"/>
            </p:cNvSpPr>
            <p:nvPr/>
          </p:nvSpPr>
          <p:spPr bwMode="auto">
            <a:xfrm>
              <a:off x="3729038" y="4419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pic>
          <p:nvPicPr>
            <p:cNvPr id="29" name="Picture 5" descr="E:\插图\离散\图7-11(a).tif">
              <a:extLst>
                <a:ext uri="{FF2B5EF4-FFF2-40B4-BE49-F238E27FC236}">
                  <a16:creationId xmlns:a16="http://schemas.microsoft.com/office/drawing/2014/main" id="{422E0282-C5FD-4358-A29E-A0361459166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05238" y="3276600"/>
              <a:ext cx="7032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12">
              <a:extLst>
                <a:ext uri="{FF2B5EF4-FFF2-40B4-BE49-F238E27FC236}">
                  <a16:creationId xmlns:a16="http://schemas.microsoft.com/office/drawing/2014/main" id="{DA3CF5DC-7C0D-4E79-9A96-BACD2055ED71}"/>
                </a:ext>
              </a:extLst>
            </p:cNvPr>
            <p:cNvSpPr txBox="1">
              <a:spLocks noChangeArrowheads="1"/>
            </p:cNvSpPr>
            <p:nvPr/>
          </p:nvSpPr>
          <p:spPr bwMode="auto">
            <a:xfrm>
              <a:off x="4262438" y="4419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31" name="Text Box 16">
              <a:extLst>
                <a:ext uri="{FF2B5EF4-FFF2-40B4-BE49-F238E27FC236}">
                  <a16:creationId xmlns:a16="http://schemas.microsoft.com/office/drawing/2014/main" id="{F88E4DA0-296A-4767-9EEE-89206F3DDC7F}"/>
                </a:ext>
              </a:extLst>
            </p:cNvPr>
            <p:cNvSpPr txBox="1">
              <a:spLocks noChangeArrowheads="1"/>
            </p:cNvSpPr>
            <p:nvPr/>
          </p:nvSpPr>
          <p:spPr bwMode="auto">
            <a:xfrm>
              <a:off x="3957638" y="3429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32" name="Text Box 33">
              <a:extLst>
                <a:ext uri="{FF2B5EF4-FFF2-40B4-BE49-F238E27FC236}">
                  <a16:creationId xmlns:a16="http://schemas.microsoft.com/office/drawing/2014/main" id="{0362623A-7BA0-4EEB-ABF1-BF0E3DA278E7}"/>
                </a:ext>
              </a:extLst>
            </p:cNvPr>
            <p:cNvSpPr txBox="1">
              <a:spLocks noChangeArrowheads="1"/>
            </p:cNvSpPr>
            <p:nvPr/>
          </p:nvSpPr>
          <p:spPr bwMode="auto">
            <a:xfrm>
              <a:off x="4605342" y="4724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a:t>
              </a:r>
              <a:r>
                <a:rPr kumimoji="0" lang="en-US" altLang="zh-CN" sz="2400" b="1"/>
                <a:t>b)</a:t>
              </a:r>
            </a:p>
          </p:txBody>
        </p:sp>
        <p:pic>
          <p:nvPicPr>
            <p:cNvPr id="33" name="Picture 5" descr="E:\插图\离散\图7-11(a).tif">
              <a:extLst>
                <a:ext uri="{FF2B5EF4-FFF2-40B4-BE49-F238E27FC236}">
                  <a16:creationId xmlns:a16="http://schemas.microsoft.com/office/drawing/2014/main" id="{A19FA385-1131-429C-AF8E-85C49F988D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4714876" y="4357694"/>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5" descr="E:\插图\离散\图7-11(a).tif">
              <a:extLst>
                <a:ext uri="{FF2B5EF4-FFF2-40B4-BE49-F238E27FC236}">
                  <a16:creationId xmlns:a16="http://schemas.microsoft.com/office/drawing/2014/main" id="{7EB133C0-138E-4C96-A38D-C018DC63D9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5572132" y="4357694"/>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5" descr="E:\插图\离散\图7-11(a).tif">
              <a:extLst>
                <a:ext uri="{FF2B5EF4-FFF2-40B4-BE49-F238E27FC236}">
                  <a16:creationId xmlns:a16="http://schemas.microsoft.com/office/drawing/2014/main" id="{1FC9DBAC-D721-4C31-BE88-931B10E9D1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5143504" y="4357694"/>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16">
              <a:extLst>
                <a:ext uri="{FF2B5EF4-FFF2-40B4-BE49-F238E27FC236}">
                  <a16:creationId xmlns:a16="http://schemas.microsoft.com/office/drawing/2014/main" id="{8CDFE481-93E5-4BC8-A65C-114832F8F40A}"/>
                </a:ext>
              </a:extLst>
            </p:cNvPr>
            <p:cNvSpPr txBox="1">
              <a:spLocks noChangeArrowheads="1"/>
            </p:cNvSpPr>
            <p:nvPr/>
          </p:nvSpPr>
          <p:spPr bwMode="auto">
            <a:xfrm>
              <a:off x="4714876" y="442913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37" name="Text Box 16">
              <a:extLst>
                <a:ext uri="{FF2B5EF4-FFF2-40B4-BE49-F238E27FC236}">
                  <a16:creationId xmlns:a16="http://schemas.microsoft.com/office/drawing/2014/main" id="{FD08226C-6320-4FD6-8823-E35F3DFE6224}"/>
                </a:ext>
              </a:extLst>
            </p:cNvPr>
            <p:cNvSpPr txBox="1">
              <a:spLocks noChangeArrowheads="1"/>
            </p:cNvSpPr>
            <p:nvPr/>
          </p:nvSpPr>
          <p:spPr bwMode="auto">
            <a:xfrm>
              <a:off x="5191132" y="442913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t>5</a:t>
              </a:r>
              <a:endParaRPr kumimoji="0" lang="zh-CN" altLang="en-US" sz="2400" b="1"/>
            </a:p>
          </p:txBody>
        </p:sp>
        <p:sp>
          <p:nvSpPr>
            <p:cNvPr id="38" name="Text Box 16">
              <a:extLst>
                <a:ext uri="{FF2B5EF4-FFF2-40B4-BE49-F238E27FC236}">
                  <a16:creationId xmlns:a16="http://schemas.microsoft.com/office/drawing/2014/main" id="{52245812-A991-496C-8A4F-7F30305A59E0}"/>
                </a:ext>
              </a:extLst>
            </p:cNvPr>
            <p:cNvSpPr txBox="1">
              <a:spLocks noChangeArrowheads="1"/>
            </p:cNvSpPr>
            <p:nvPr/>
          </p:nvSpPr>
          <p:spPr bwMode="auto">
            <a:xfrm>
              <a:off x="5619760" y="442913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t>6</a:t>
              </a:r>
              <a:endParaRPr kumimoji="0" lang="zh-CN" altLang="en-US" sz="2400" b="1"/>
            </a:p>
          </p:txBody>
        </p:sp>
      </p:grpSp>
      <p:grpSp>
        <p:nvGrpSpPr>
          <p:cNvPr id="39" name="组合 54">
            <a:extLst>
              <a:ext uri="{FF2B5EF4-FFF2-40B4-BE49-F238E27FC236}">
                <a16:creationId xmlns:a16="http://schemas.microsoft.com/office/drawing/2014/main" id="{B18E82FF-716D-4139-B6F9-4DF2DE0D2903}"/>
              </a:ext>
            </a:extLst>
          </p:cNvPr>
          <p:cNvGrpSpPr>
            <a:grpSpLocks/>
          </p:cNvGrpSpPr>
          <p:nvPr/>
        </p:nvGrpSpPr>
        <p:grpSpPr bwMode="auto">
          <a:xfrm>
            <a:off x="1165805" y="3794137"/>
            <a:ext cx="2076450" cy="2286000"/>
            <a:chOff x="6138863" y="2895600"/>
            <a:chExt cx="2076475" cy="2286000"/>
          </a:xfrm>
        </p:grpSpPr>
        <p:pic>
          <p:nvPicPr>
            <p:cNvPr id="40" name="Picture 6" descr="E:\插图\离散\图7-11(b).tif">
              <a:extLst>
                <a:ext uri="{FF2B5EF4-FFF2-40B4-BE49-F238E27FC236}">
                  <a16:creationId xmlns:a16="http://schemas.microsoft.com/office/drawing/2014/main" id="{1F9F5A88-3557-4022-B77E-95E90C2A7E8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15063" y="3276600"/>
              <a:ext cx="98901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9">
              <a:extLst>
                <a:ext uri="{FF2B5EF4-FFF2-40B4-BE49-F238E27FC236}">
                  <a16:creationId xmlns:a16="http://schemas.microsoft.com/office/drawing/2014/main" id="{F87E60D2-9314-408B-9564-EC35CB6B97E8}"/>
                </a:ext>
              </a:extLst>
            </p:cNvPr>
            <p:cNvSpPr txBox="1">
              <a:spLocks noChangeArrowheads="1"/>
            </p:cNvSpPr>
            <p:nvPr/>
          </p:nvSpPr>
          <p:spPr bwMode="auto">
            <a:xfrm>
              <a:off x="6138863" y="4419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42" name="Text Box 13">
              <a:extLst>
                <a:ext uri="{FF2B5EF4-FFF2-40B4-BE49-F238E27FC236}">
                  <a16:creationId xmlns:a16="http://schemas.microsoft.com/office/drawing/2014/main" id="{89A50E6E-3611-473A-9D57-6F68A8B98C29}"/>
                </a:ext>
              </a:extLst>
            </p:cNvPr>
            <p:cNvSpPr txBox="1">
              <a:spLocks noChangeArrowheads="1"/>
            </p:cNvSpPr>
            <p:nvPr/>
          </p:nvSpPr>
          <p:spPr bwMode="auto">
            <a:xfrm>
              <a:off x="6672263" y="4419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43" name="Text Box 17">
              <a:extLst>
                <a:ext uri="{FF2B5EF4-FFF2-40B4-BE49-F238E27FC236}">
                  <a16:creationId xmlns:a16="http://schemas.microsoft.com/office/drawing/2014/main" id="{25D7F959-F9D0-43DF-91D1-71570E6427AE}"/>
                </a:ext>
              </a:extLst>
            </p:cNvPr>
            <p:cNvSpPr txBox="1">
              <a:spLocks noChangeArrowheads="1"/>
            </p:cNvSpPr>
            <p:nvPr/>
          </p:nvSpPr>
          <p:spPr bwMode="auto">
            <a:xfrm>
              <a:off x="6291263" y="35052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44" name="Text Box 20">
              <a:extLst>
                <a:ext uri="{FF2B5EF4-FFF2-40B4-BE49-F238E27FC236}">
                  <a16:creationId xmlns:a16="http://schemas.microsoft.com/office/drawing/2014/main" id="{2EBA9743-94B9-40C4-B360-44B72F77118B}"/>
                </a:ext>
              </a:extLst>
            </p:cNvPr>
            <p:cNvSpPr txBox="1">
              <a:spLocks noChangeArrowheads="1"/>
            </p:cNvSpPr>
            <p:nvPr/>
          </p:nvSpPr>
          <p:spPr bwMode="auto">
            <a:xfrm>
              <a:off x="6977063" y="38862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45" name="Text Box 27">
              <a:extLst>
                <a:ext uri="{FF2B5EF4-FFF2-40B4-BE49-F238E27FC236}">
                  <a16:creationId xmlns:a16="http://schemas.microsoft.com/office/drawing/2014/main" id="{7AC8CC9C-F797-4F2D-BA7D-BCDD9339A1A1}"/>
                </a:ext>
              </a:extLst>
            </p:cNvPr>
            <p:cNvSpPr txBox="1">
              <a:spLocks noChangeArrowheads="1"/>
            </p:cNvSpPr>
            <p:nvPr/>
          </p:nvSpPr>
          <p:spPr bwMode="auto">
            <a:xfrm>
              <a:off x="6672263" y="2895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8</a:t>
              </a:r>
            </a:p>
          </p:txBody>
        </p:sp>
        <p:sp>
          <p:nvSpPr>
            <p:cNvPr id="46" name="Text Box 34">
              <a:extLst>
                <a:ext uri="{FF2B5EF4-FFF2-40B4-BE49-F238E27FC236}">
                  <a16:creationId xmlns:a16="http://schemas.microsoft.com/office/drawing/2014/main" id="{6E2225F4-EF3C-4914-A396-F7D172419845}"/>
                </a:ext>
              </a:extLst>
            </p:cNvPr>
            <p:cNvSpPr txBox="1">
              <a:spLocks noChangeArrowheads="1"/>
            </p:cNvSpPr>
            <p:nvPr/>
          </p:nvSpPr>
          <p:spPr bwMode="auto">
            <a:xfrm>
              <a:off x="6891358" y="4724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a:t>
              </a:r>
              <a:r>
                <a:rPr kumimoji="0" lang="en-US" altLang="zh-CN" sz="2400" b="1"/>
                <a:t>c)</a:t>
              </a:r>
            </a:p>
          </p:txBody>
        </p:sp>
        <p:pic>
          <p:nvPicPr>
            <p:cNvPr id="47" name="Picture 5" descr="E:\插图\离散\图7-11(a).tif">
              <a:extLst>
                <a:ext uri="{FF2B5EF4-FFF2-40B4-BE49-F238E27FC236}">
                  <a16:creationId xmlns:a16="http://schemas.microsoft.com/office/drawing/2014/main" id="{FFD04666-C103-47A1-8ABB-80A28436A8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7786710" y="3829056"/>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5" descr="E:\插图\离散\图7-11(a).tif">
              <a:extLst>
                <a:ext uri="{FF2B5EF4-FFF2-40B4-BE49-F238E27FC236}">
                  <a16:creationId xmlns:a16="http://schemas.microsoft.com/office/drawing/2014/main" id="{5055F27A-C870-4C59-8BDF-DCEABE725F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7358082" y="3829056"/>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 Box 16">
              <a:extLst>
                <a:ext uri="{FF2B5EF4-FFF2-40B4-BE49-F238E27FC236}">
                  <a16:creationId xmlns:a16="http://schemas.microsoft.com/office/drawing/2014/main" id="{7CB65CF8-ECE7-4400-B0C9-E02A018AE27A}"/>
                </a:ext>
              </a:extLst>
            </p:cNvPr>
            <p:cNvSpPr txBox="1">
              <a:spLocks noChangeArrowheads="1"/>
            </p:cNvSpPr>
            <p:nvPr/>
          </p:nvSpPr>
          <p:spPr bwMode="auto">
            <a:xfrm>
              <a:off x="7405710" y="390049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t>5</a:t>
              </a:r>
              <a:endParaRPr kumimoji="0" lang="zh-CN" altLang="en-US" sz="2400" b="1"/>
            </a:p>
          </p:txBody>
        </p:sp>
        <p:sp>
          <p:nvSpPr>
            <p:cNvPr id="50" name="Text Box 16">
              <a:extLst>
                <a:ext uri="{FF2B5EF4-FFF2-40B4-BE49-F238E27FC236}">
                  <a16:creationId xmlns:a16="http://schemas.microsoft.com/office/drawing/2014/main" id="{F5729020-5C69-4537-A688-6158323A2288}"/>
                </a:ext>
              </a:extLst>
            </p:cNvPr>
            <p:cNvSpPr txBox="1">
              <a:spLocks noChangeArrowheads="1"/>
            </p:cNvSpPr>
            <p:nvPr/>
          </p:nvSpPr>
          <p:spPr bwMode="auto">
            <a:xfrm>
              <a:off x="7834338" y="390049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t>6</a:t>
              </a:r>
              <a:endParaRPr kumimoji="0" lang="zh-CN" altLang="en-US" sz="2400" b="1"/>
            </a:p>
          </p:txBody>
        </p:sp>
      </p:grpSp>
      <p:grpSp>
        <p:nvGrpSpPr>
          <p:cNvPr id="51" name="Group 39">
            <a:extLst>
              <a:ext uri="{FF2B5EF4-FFF2-40B4-BE49-F238E27FC236}">
                <a16:creationId xmlns:a16="http://schemas.microsoft.com/office/drawing/2014/main" id="{A9D5B615-3B91-4144-8903-97747B5B8A9C}"/>
              </a:ext>
            </a:extLst>
          </p:cNvPr>
          <p:cNvGrpSpPr>
            <a:grpSpLocks/>
          </p:cNvGrpSpPr>
          <p:nvPr/>
        </p:nvGrpSpPr>
        <p:grpSpPr bwMode="auto">
          <a:xfrm>
            <a:off x="3843327" y="3717937"/>
            <a:ext cx="2209800" cy="2362200"/>
            <a:chOff x="2448" y="2208"/>
            <a:chExt cx="1392" cy="1488"/>
          </a:xfrm>
        </p:grpSpPr>
        <p:pic>
          <p:nvPicPr>
            <p:cNvPr id="52" name="Picture 7" descr="E:\插图\离散\图7-11(c).tif">
              <a:extLst>
                <a:ext uri="{FF2B5EF4-FFF2-40B4-BE49-F238E27FC236}">
                  <a16:creationId xmlns:a16="http://schemas.microsoft.com/office/drawing/2014/main" id="{001B8952-4C4A-4435-B21E-ED6B51AA8A7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496" y="2432"/>
              <a:ext cx="1248"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Text Box 10">
              <a:extLst>
                <a:ext uri="{FF2B5EF4-FFF2-40B4-BE49-F238E27FC236}">
                  <a16:creationId xmlns:a16="http://schemas.microsoft.com/office/drawing/2014/main" id="{BD4D48A2-20A9-4814-8264-66B537F4ADCF}"/>
                </a:ext>
              </a:extLst>
            </p:cNvPr>
            <p:cNvSpPr txBox="1">
              <a:spLocks noChangeArrowheads="1"/>
            </p:cNvSpPr>
            <p:nvPr/>
          </p:nvSpPr>
          <p:spPr bwMode="auto">
            <a:xfrm>
              <a:off x="2448" y="32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54" name="Text Box 14">
              <a:extLst>
                <a:ext uri="{FF2B5EF4-FFF2-40B4-BE49-F238E27FC236}">
                  <a16:creationId xmlns:a16="http://schemas.microsoft.com/office/drawing/2014/main" id="{F1611A6A-B085-440B-AE58-A7A10556F320}"/>
                </a:ext>
              </a:extLst>
            </p:cNvPr>
            <p:cNvSpPr txBox="1">
              <a:spLocks noChangeArrowheads="1"/>
            </p:cNvSpPr>
            <p:nvPr/>
          </p:nvSpPr>
          <p:spPr bwMode="auto">
            <a:xfrm>
              <a:off x="2832" y="32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55" name="Text Box 18">
              <a:extLst>
                <a:ext uri="{FF2B5EF4-FFF2-40B4-BE49-F238E27FC236}">
                  <a16:creationId xmlns:a16="http://schemas.microsoft.com/office/drawing/2014/main" id="{45BCEB22-0CED-42A8-BD3A-5E1D03F4C14F}"/>
                </a:ext>
              </a:extLst>
            </p:cNvPr>
            <p:cNvSpPr txBox="1">
              <a:spLocks noChangeArrowheads="1"/>
            </p:cNvSpPr>
            <p:nvPr/>
          </p:nvSpPr>
          <p:spPr bwMode="auto">
            <a:xfrm>
              <a:off x="2544" y="259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56" name="Text Box 21">
              <a:extLst>
                <a:ext uri="{FF2B5EF4-FFF2-40B4-BE49-F238E27FC236}">
                  <a16:creationId xmlns:a16="http://schemas.microsoft.com/office/drawing/2014/main" id="{B111FAEF-1A28-49FC-9AD7-4415EE475F6D}"/>
                </a:ext>
              </a:extLst>
            </p:cNvPr>
            <p:cNvSpPr txBox="1">
              <a:spLocks noChangeArrowheads="1"/>
            </p:cNvSpPr>
            <p:nvPr/>
          </p:nvSpPr>
          <p:spPr bwMode="auto">
            <a:xfrm>
              <a:off x="2976" y="283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57" name="Text Box 23">
              <a:extLst>
                <a:ext uri="{FF2B5EF4-FFF2-40B4-BE49-F238E27FC236}">
                  <a16:creationId xmlns:a16="http://schemas.microsoft.com/office/drawing/2014/main" id="{6B7514BE-8536-4899-A0C3-C55DFCE41E26}"/>
                </a:ext>
              </a:extLst>
            </p:cNvPr>
            <p:cNvSpPr txBox="1">
              <a:spLocks noChangeArrowheads="1"/>
            </p:cNvSpPr>
            <p:nvPr/>
          </p:nvSpPr>
          <p:spPr bwMode="auto">
            <a:xfrm>
              <a:off x="3216"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5</a:t>
              </a:r>
            </a:p>
          </p:txBody>
        </p:sp>
        <p:sp>
          <p:nvSpPr>
            <p:cNvPr id="58" name="Text Box 25">
              <a:extLst>
                <a:ext uri="{FF2B5EF4-FFF2-40B4-BE49-F238E27FC236}">
                  <a16:creationId xmlns:a16="http://schemas.microsoft.com/office/drawing/2014/main" id="{AD420B8F-04A1-4D1D-B508-37B37EE84D7F}"/>
                </a:ext>
              </a:extLst>
            </p:cNvPr>
            <p:cNvSpPr txBox="1">
              <a:spLocks noChangeArrowheads="1"/>
            </p:cNvSpPr>
            <p:nvPr/>
          </p:nvSpPr>
          <p:spPr bwMode="auto">
            <a:xfrm>
              <a:off x="3600"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sp>
          <p:nvSpPr>
            <p:cNvPr id="59" name="Text Box 28">
              <a:extLst>
                <a:ext uri="{FF2B5EF4-FFF2-40B4-BE49-F238E27FC236}">
                  <a16:creationId xmlns:a16="http://schemas.microsoft.com/office/drawing/2014/main" id="{78B0AD51-DB14-4E12-96A5-1066291A86AA}"/>
                </a:ext>
              </a:extLst>
            </p:cNvPr>
            <p:cNvSpPr txBox="1">
              <a:spLocks noChangeArrowheads="1"/>
            </p:cNvSpPr>
            <p:nvPr/>
          </p:nvSpPr>
          <p:spPr bwMode="auto">
            <a:xfrm>
              <a:off x="2784"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8</a:t>
              </a:r>
            </a:p>
          </p:txBody>
        </p:sp>
        <p:sp>
          <p:nvSpPr>
            <p:cNvPr id="60" name="Text Box 30">
              <a:extLst>
                <a:ext uri="{FF2B5EF4-FFF2-40B4-BE49-F238E27FC236}">
                  <a16:creationId xmlns:a16="http://schemas.microsoft.com/office/drawing/2014/main" id="{552A2635-D3D2-46DD-84F3-261641B1AED7}"/>
                </a:ext>
              </a:extLst>
            </p:cNvPr>
            <p:cNvSpPr txBox="1">
              <a:spLocks noChangeArrowheads="1"/>
            </p:cNvSpPr>
            <p:nvPr/>
          </p:nvSpPr>
          <p:spPr bwMode="auto">
            <a:xfrm>
              <a:off x="3360" y="220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11</a:t>
              </a:r>
            </a:p>
          </p:txBody>
        </p:sp>
        <p:sp>
          <p:nvSpPr>
            <p:cNvPr id="61" name="Text Box 35">
              <a:extLst>
                <a:ext uri="{FF2B5EF4-FFF2-40B4-BE49-F238E27FC236}">
                  <a16:creationId xmlns:a16="http://schemas.microsoft.com/office/drawing/2014/main" id="{AADC78AD-BD21-4264-8A4A-A11C18C2A427}"/>
                </a:ext>
              </a:extLst>
            </p:cNvPr>
            <p:cNvSpPr txBox="1">
              <a:spLocks noChangeArrowheads="1"/>
            </p:cNvSpPr>
            <p:nvPr/>
          </p:nvSpPr>
          <p:spPr bwMode="auto">
            <a:xfrm>
              <a:off x="3024" y="340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a:t>
              </a:r>
              <a:r>
                <a:rPr kumimoji="0" lang="en-US" altLang="zh-CN" sz="2400" b="1"/>
                <a:t>d)</a:t>
              </a:r>
            </a:p>
          </p:txBody>
        </p:sp>
      </p:grpSp>
      <p:grpSp>
        <p:nvGrpSpPr>
          <p:cNvPr id="62" name="Group 40">
            <a:extLst>
              <a:ext uri="{FF2B5EF4-FFF2-40B4-BE49-F238E27FC236}">
                <a16:creationId xmlns:a16="http://schemas.microsoft.com/office/drawing/2014/main" id="{F5C2C19B-0F03-48AE-9904-25EAF09FA8D0}"/>
              </a:ext>
            </a:extLst>
          </p:cNvPr>
          <p:cNvGrpSpPr>
            <a:grpSpLocks/>
          </p:cNvGrpSpPr>
          <p:nvPr/>
        </p:nvGrpSpPr>
        <p:grpSpPr bwMode="auto">
          <a:xfrm>
            <a:off x="6626799" y="3508511"/>
            <a:ext cx="2057400" cy="2667000"/>
            <a:chOff x="3936" y="1968"/>
            <a:chExt cx="1296" cy="1680"/>
          </a:xfrm>
        </p:grpSpPr>
        <p:pic>
          <p:nvPicPr>
            <p:cNvPr id="63" name="Picture 8" descr="E:\插图\离散\图7-11(d).tif">
              <a:extLst>
                <a:ext uri="{FF2B5EF4-FFF2-40B4-BE49-F238E27FC236}">
                  <a16:creationId xmlns:a16="http://schemas.microsoft.com/office/drawing/2014/main" id="{79FC5254-A948-4B7F-B9D1-72CFBD99110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84" y="2256"/>
              <a:ext cx="1152"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Text Box 11">
              <a:extLst>
                <a:ext uri="{FF2B5EF4-FFF2-40B4-BE49-F238E27FC236}">
                  <a16:creationId xmlns:a16="http://schemas.microsoft.com/office/drawing/2014/main" id="{4AACFE5F-C8AE-4C4B-8F63-A138E76CB815}"/>
                </a:ext>
              </a:extLst>
            </p:cNvPr>
            <p:cNvSpPr txBox="1">
              <a:spLocks noChangeArrowheads="1"/>
            </p:cNvSpPr>
            <p:nvPr/>
          </p:nvSpPr>
          <p:spPr bwMode="auto">
            <a:xfrm>
              <a:off x="3936" y="32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65" name="Text Box 15">
              <a:extLst>
                <a:ext uri="{FF2B5EF4-FFF2-40B4-BE49-F238E27FC236}">
                  <a16:creationId xmlns:a16="http://schemas.microsoft.com/office/drawing/2014/main" id="{F3A85B7A-E129-4379-BF74-26A770040CEE}"/>
                </a:ext>
              </a:extLst>
            </p:cNvPr>
            <p:cNvSpPr txBox="1">
              <a:spLocks noChangeArrowheads="1"/>
            </p:cNvSpPr>
            <p:nvPr/>
          </p:nvSpPr>
          <p:spPr bwMode="auto">
            <a:xfrm>
              <a:off x="4272" y="32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66" name="Text Box 19">
              <a:extLst>
                <a:ext uri="{FF2B5EF4-FFF2-40B4-BE49-F238E27FC236}">
                  <a16:creationId xmlns:a16="http://schemas.microsoft.com/office/drawing/2014/main" id="{C09342B0-905E-4FFC-BE8B-D73DF7E0AAB9}"/>
                </a:ext>
              </a:extLst>
            </p:cNvPr>
            <p:cNvSpPr txBox="1">
              <a:spLocks noChangeArrowheads="1"/>
            </p:cNvSpPr>
            <p:nvPr/>
          </p:nvSpPr>
          <p:spPr bwMode="auto">
            <a:xfrm>
              <a:off x="4032" y="264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67" name="Text Box 22">
              <a:extLst>
                <a:ext uri="{FF2B5EF4-FFF2-40B4-BE49-F238E27FC236}">
                  <a16:creationId xmlns:a16="http://schemas.microsoft.com/office/drawing/2014/main" id="{293F73F7-DE32-4713-9132-560BEC1C6D32}"/>
                </a:ext>
              </a:extLst>
            </p:cNvPr>
            <p:cNvSpPr txBox="1">
              <a:spLocks noChangeArrowheads="1"/>
            </p:cNvSpPr>
            <p:nvPr/>
          </p:nvSpPr>
          <p:spPr bwMode="auto">
            <a:xfrm>
              <a:off x="4416"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68" name="Text Box 24">
              <a:extLst>
                <a:ext uri="{FF2B5EF4-FFF2-40B4-BE49-F238E27FC236}">
                  <a16:creationId xmlns:a16="http://schemas.microsoft.com/office/drawing/2014/main" id="{275FE983-07C0-4B6E-9DA6-A55836AE7FDE}"/>
                </a:ext>
              </a:extLst>
            </p:cNvPr>
            <p:cNvSpPr txBox="1">
              <a:spLocks noChangeArrowheads="1"/>
            </p:cNvSpPr>
            <p:nvPr/>
          </p:nvSpPr>
          <p:spPr bwMode="auto">
            <a:xfrm>
              <a:off x="4608"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5</a:t>
              </a:r>
            </a:p>
          </p:txBody>
        </p:sp>
        <p:sp>
          <p:nvSpPr>
            <p:cNvPr id="69" name="Text Box 26">
              <a:extLst>
                <a:ext uri="{FF2B5EF4-FFF2-40B4-BE49-F238E27FC236}">
                  <a16:creationId xmlns:a16="http://schemas.microsoft.com/office/drawing/2014/main" id="{948BB288-9916-4F30-A424-1CE097A91361}"/>
                </a:ext>
              </a:extLst>
            </p:cNvPr>
            <p:cNvSpPr txBox="1">
              <a:spLocks noChangeArrowheads="1"/>
            </p:cNvSpPr>
            <p:nvPr/>
          </p:nvSpPr>
          <p:spPr bwMode="auto">
            <a:xfrm>
              <a:off x="4992"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sp>
          <p:nvSpPr>
            <p:cNvPr id="70" name="Text Box 29">
              <a:extLst>
                <a:ext uri="{FF2B5EF4-FFF2-40B4-BE49-F238E27FC236}">
                  <a16:creationId xmlns:a16="http://schemas.microsoft.com/office/drawing/2014/main" id="{98214A33-A326-4C5E-8759-85F120B3434E}"/>
                </a:ext>
              </a:extLst>
            </p:cNvPr>
            <p:cNvSpPr txBox="1">
              <a:spLocks noChangeArrowheads="1"/>
            </p:cNvSpPr>
            <p:nvPr/>
          </p:nvSpPr>
          <p:spPr bwMode="auto">
            <a:xfrm>
              <a:off x="4224" y="230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8</a:t>
              </a:r>
            </a:p>
          </p:txBody>
        </p:sp>
        <p:sp>
          <p:nvSpPr>
            <p:cNvPr id="71" name="Text Box 31">
              <a:extLst>
                <a:ext uri="{FF2B5EF4-FFF2-40B4-BE49-F238E27FC236}">
                  <a16:creationId xmlns:a16="http://schemas.microsoft.com/office/drawing/2014/main" id="{F0AA12D8-29EF-4DD2-B7FA-4C6FB0F97E48}"/>
                </a:ext>
              </a:extLst>
            </p:cNvPr>
            <p:cNvSpPr txBox="1">
              <a:spLocks noChangeArrowheads="1"/>
            </p:cNvSpPr>
            <p:nvPr/>
          </p:nvSpPr>
          <p:spPr bwMode="auto">
            <a:xfrm>
              <a:off x="4848" y="230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11</a:t>
              </a:r>
            </a:p>
          </p:txBody>
        </p:sp>
        <p:sp>
          <p:nvSpPr>
            <p:cNvPr id="72" name="Text Box 32">
              <a:extLst>
                <a:ext uri="{FF2B5EF4-FFF2-40B4-BE49-F238E27FC236}">
                  <a16:creationId xmlns:a16="http://schemas.microsoft.com/office/drawing/2014/main" id="{AC1490FF-B7DF-4E50-9561-351250AA185B}"/>
                </a:ext>
              </a:extLst>
            </p:cNvPr>
            <p:cNvSpPr txBox="1">
              <a:spLocks noChangeArrowheads="1"/>
            </p:cNvSpPr>
            <p:nvPr/>
          </p:nvSpPr>
          <p:spPr bwMode="auto">
            <a:xfrm>
              <a:off x="4512" y="196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19</a:t>
              </a:r>
            </a:p>
          </p:txBody>
        </p:sp>
        <p:sp>
          <p:nvSpPr>
            <p:cNvPr id="73" name="Text Box 36">
              <a:extLst>
                <a:ext uri="{FF2B5EF4-FFF2-40B4-BE49-F238E27FC236}">
                  <a16:creationId xmlns:a16="http://schemas.microsoft.com/office/drawing/2014/main" id="{B09FDB1E-33CB-4CEE-9D13-C9FFFDD60AF2}"/>
                </a:ext>
              </a:extLst>
            </p:cNvPr>
            <p:cNvSpPr txBox="1">
              <a:spLocks noChangeArrowheads="1"/>
            </p:cNvSpPr>
            <p:nvPr/>
          </p:nvSpPr>
          <p:spPr bwMode="auto">
            <a:xfrm>
              <a:off x="4464" y="336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a:t>
              </a:r>
              <a:r>
                <a:rPr kumimoji="0" lang="en-US" altLang="zh-CN" sz="2400" b="1" dirty="0"/>
                <a:t>e)</a:t>
              </a:r>
            </a:p>
          </p:txBody>
        </p:sp>
      </p:grpSp>
      <p:sp>
        <p:nvSpPr>
          <p:cNvPr id="97" name="Text Box 41">
            <a:extLst>
              <a:ext uri="{FF2B5EF4-FFF2-40B4-BE49-F238E27FC236}">
                <a16:creationId xmlns:a16="http://schemas.microsoft.com/office/drawing/2014/main" id="{ABD99B74-DEE5-4BB8-8F2C-C151FEE12AFB}"/>
              </a:ext>
            </a:extLst>
          </p:cNvPr>
          <p:cNvSpPr txBox="1">
            <a:spLocks noChangeArrowheads="1"/>
          </p:cNvSpPr>
          <p:nvPr/>
        </p:nvSpPr>
        <p:spPr bwMode="auto">
          <a:xfrm>
            <a:off x="9593758" y="4175137"/>
            <a:ext cx="1828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dirty="0"/>
              <a:t>W</a:t>
            </a:r>
            <a:r>
              <a:rPr kumimoji="0" lang="en-US" altLang="zh-CN" sz="2400" b="1" dirty="0"/>
              <a:t>(</a:t>
            </a:r>
            <a:r>
              <a:rPr kumimoji="0" lang="en-US" altLang="zh-CN" sz="2400" b="1" i="1" dirty="0"/>
              <a:t>T</a:t>
            </a:r>
            <a:r>
              <a:rPr kumimoji="0" lang="en-US" altLang="zh-CN" sz="2400" b="1" dirty="0"/>
              <a:t>)=4+8+11+19=42</a:t>
            </a:r>
          </a:p>
        </p:txBody>
      </p:sp>
    </p:spTree>
    <p:extLst>
      <p:ext uri="{BB962C8B-B14F-4D97-AF65-F5344CB8AC3E}">
        <p14:creationId xmlns:p14="http://schemas.microsoft.com/office/powerpoint/2010/main" val="3936280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97"/>
                                        </p:tgtEl>
                                        <p:attrNameLst>
                                          <p:attrName>style.visibility</p:attrName>
                                        </p:attrNameLst>
                                      </p:cBhvr>
                                      <p:to>
                                        <p:strVal val="visible"/>
                                      </p:to>
                                    </p:set>
                                    <p:animEffect transition="in" filter="blinds(horizontal)">
                                      <p:cBhvr>
                                        <p:cTn id="35"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7.2 </a:t>
            </a:r>
            <a:r>
              <a:rPr lang="en-US" altLang="zh-CN" sz="2400" b="1" dirty="0">
                <a:latin typeface="Trebuchet MS" panose="020B0603020202020204" pitchFamily="34" charset="0"/>
                <a:cs typeface="Times New Roman" panose="02020603050405020304" pitchFamily="18" charset="0"/>
              </a:rPr>
              <a:t>Rooted Trees and Their Applications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7.2.1 Rooted Trees and Their Classifications</a:t>
            </a:r>
          </a:p>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7.2.2 Optimal Trees and the Huffman Algorithm</a:t>
            </a:r>
          </a:p>
          <a:p>
            <a:pPr>
              <a:lnSpc>
                <a:spcPct val="12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7.2.3 Optimal Prefix Codes</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7.2.4 Traversals of Rooted Trees and Their Applications</a:t>
            </a:r>
            <a:endParaRPr lang="en-US" sz="2400" dirty="0">
              <a:latin typeface="Trebuchet MS" panose="020B0603020202020204" pitchFamily="34" charset="0"/>
            </a:endParaRP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err="1">
                <a:latin typeface="Trebuchet MS" panose="020B0603020202020204" pitchFamily="34" charset="0"/>
              </a:rPr>
              <a:t>Inorder</a:t>
            </a:r>
            <a:r>
              <a:rPr lang="en-US" sz="2400" dirty="0">
                <a:latin typeface="Trebuchet MS" panose="020B0603020202020204" pitchFamily="34" charset="0"/>
              </a:rPr>
              <a:t> Traversal, Preorder Traversal, and </a:t>
            </a:r>
            <a:r>
              <a:rPr lang="en-US" sz="2400" dirty="0" err="1">
                <a:latin typeface="Trebuchet MS" panose="020B0603020202020204" pitchFamily="34" charset="0"/>
              </a:rPr>
              <a:t>Postorder</a:t>
            </a:r>
            <a:r>
              <a:rPr lang="en-US" sz="2400" dirty="0">
                <a:latin typeface="Trebuchet MS" panose="020B0603020202020204" pitchFamily="34" charset="0"/>
              </a:rPr>
              <a:t> Traversal</a:t>
            </a: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a:latin typeface="Trebuchet MS" panose="020B0603020202020204" pitchFamily="34" charset="0"/>
              </a:rPr>
              <a:t>Polish Notation and Reverse Polish Notation</a:t>
            </a:r>
          </a:p>
        </p:txBody>
      </p:sp>
    </p:spTree>
    <p:extLst>
      <p:ext uri="{BB962C8B-B14F-4D97-AF65-F5344CB8AC3E}">
        <p14:creationId xmlns:p14="http://schemas.microsoft.com/office/powerpoint/2010/main" val="287781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Prefix Codes and Binary Prefix Codes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914401"/>
            <a:ext cx="10653903" cy="49629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Definition7.2:</a:t>
            </a:r>
          </a:p>
          <a:p>
            <a:pPr marL="450850" indent="-271463">
              <a:lnSpc>
                <a:spcPct val="120000"/>
              </a:lnSpc>
              <a:spcBef>
                <a:spcPts val="300"/>
              </a:spcBef>
              <a:buClr>
                <a:srgbClr val="0B61FF"/>
              </a:buClr>
              <a:buSzPct val="120000"/>
              <a:tabLst>
                <a:tab pos="265113" algn="l"/>
              </a:tabLst>
            </a:pPr>
            <a:r>
              <a:rPr lang="en-US" sz="2400" dirty="0">
                <a:latin typeface="Trebuchet MS" panose="020B0603020202020204" pitchFamily="34" charset="0"/>
              </a:rPr>
              <a:t>Let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rPr>
              <a:t>=</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1</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2</a:t>
            </a:r>
            <a:r>
              <a:rPr lang="zh-CN" altLang="en-US" sz="2400" b="1" dirty="0">
                <a:latin typeface="Trebuchet MS" panose="020B0603020202020204" pitchFamily="34" charset="0"/>
                <a:cs typeface="Times New Roman" panose="02020603050405020304" pitchFamily="18" charset="0"/>
              </a:rPr>
              <a:t>…</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rPr>
              <a:t>n</a:t>
            </a:r>
            <a:r>
              <a:rPr lang="en-US" altLang="zh-CN" sz="2400" b="1" baseline="-30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rPr>
              <a:t>n </a:t>
            </a:r>
            <a:r>
              <a:rPr lang="en-US" sz="2400" dirty="0">
                <a:latin typeface="Trebuchet MS" panose="020B0603020202020204" pitchFamily="34" charset="0"/>
              </a:rPr>
              <a:t>be a string of length </a:t>
            </a:r>
            <a:r>
              <a:rPr lang="en-US" sz="2400" b="1" i="1" dirty="0">
                <a:latin typeface="Trebuchet MS" panose="020B0603020202020204" pitchFamily="34" charset="0"/>
              </a:rPr>
              <a:t>n</a:t>
            </a:r>
            <a:r>
              <a:rPr lang="en-US" sz="2400" dirty="0">
                <a:latin typeface="Trebuchet MS" panose="020B0603020202020204" pitchFamily="34" charset="0"/>
              </a:rPr>
              <a:t>, and let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1</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2</a:t>
            </a:r>
            <a:r>
              <a:rPr lang="zh-CN" altLang="en-US" sz="2400" b="1" dirty="0">
                <a:latin typeface="Trebuchet MS" panose="020B0603020202020204" pitchFamily="34" charset="0"/>
                <a:cs typeface="Times New Roman" panose="02020603050405020304" pitchFamily="18" charset="0"/>
              </a:rPr>
              <a:t>…</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rPr>
              <a:t>j</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j</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be a </a:t>
            </a:r>
            <a:r>
              <a:rPr lang="en-US" sz="2400" b="1" i="1" dirty="0">
                <a:solidFill>
                  <a:srgbClr val="0B61FF"/>
                </a:solidFill>
                <a:latin typeface="Trebuchet MS" panose="020B0603020202020204" pitchFamily="34" charset="0"/>
              </a:rPr>
              <a:t>prefix</a:t>
            </a:r>
            <a:r>
              <a:rPr lang="en-US" sz="2400" dirty="0">
                <a:latin typeface="Trebuchet MS" panose="020B0603020202020204" pitchFamily="34" charset="0"/>
              </a:rPr>
              <a:t> of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with length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j</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p>
          <a:p>
            <a:pPr marL="450850" indent="-271463">
              <a:lnSpc>
                <a:spcPct val="120000"/>
              </a:lnSpc>
              <a:spcBef>
                <a:spcPts val="300"/>
              </a:spcBef>
              <a:buClr>
                <a:srgbClr val="0B61FF"/>
              </a:buClr>
              <a:buSzPct val="120000"/>
              <a:tabLst>
                <a:tab pos="265113" algn="l"/>
              </a:tabLst>
            </a:pPr>
            <a:r>
              <a:rPr lang="en-US" sz="2400" dirty="0">
                <a:latin typeface="Trebuchet MS" panose="020B0603020202020204" pitchFamily="34" charset="0"/>
              </a:rPr>
              <a:t>If no two distinct strings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err="1">
                <a:latin typeface="Trebuchet MS" panose="020B0603020202020204" pitchFamily="34" charset="0"/>
                <a:cs typeface="Times New Roman" panose="02020603050405020304" pitchFamily="18" charset="0"/>
              </a:rPr>
              <a:t>i</a:t>
            </a:r>
            <a:r>
              <a:rPr lang="zh-CN" altLang="en-US" sz="2400" b="1" dirty="0">
                <a:latin typeface="Trebuchet MS" panose="020B0603020202020204" pitchFamily="34" charset="0"/>
                <a:cs typeface="Times New Roman" panose="02020603050405020304" pitchFamily="18" charset="0"/>
              </a:rPr>
              <a: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sym typeface="Symbol" panose="05050102010706020507" pitchFamily="18" charset="2"/>
              </a:rPr>
              <a:t>j </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i</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in a non-empty set </a:t>
            </a:r>
            <a:r>
              <a:rPr lang="en-US" altLang="zh-CN" sz="2400" b="1" dirty="0">
                <a:latin typeface="Trebuchet MS" panose="020B0603020202020204" pitchFamily="34" charset="0"/>
                <a:cs typeface="Times New Roman" panose="02020603050405020304" pitchFamily="18" charset="0"/>
              </a:rPr>
              <a:t>B=</a:t>
            </a:r>
            <a:r>
              <a:rPr lang="zh-CN" altLang="en-US" sz="2400" b="1" dirty="0">
                <a:latin typeface="Trebuchet MS" panose="020B0603020202020204" pitchFamily="34" charset="0"/>
                <a:cs typeface="Times New Roman" panose="02020603050405020304" pitchFamily="18" charset="0"/>
              </a:rPr>
              <a: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1</a:t>
            </a:r>
            <a:r>
              <a:rPr lang="zh-CN" altLang="en-US" sz="2400" b="1" dirty="0">
                <a:latin typeface="Trebuchet MS" panose="020B0603020202020204" pitchFamily="34" charset="0"/>
                <a:cs typeface="Times New Roman" panose="02020603050405020304" pitchFamily="18" charset="0"/>
              </a:rPr>
              <a: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2</a:t>
            </a:r>
            <a:r>
              <a:rPr lang="zh-CN" altLang="en-US" sz="2400" b="1" dirty="0">
                <a:latin typeface="Trebuchet MS" panose="020B0603020202020204" pitchFamily="34" charset="0"/>
                <a:cs typeface="Times New Roman" panose="02020603050405020304" pitchFamily="18" charset="0"/>
              </a:rPr>
              <a:t>, …,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a:t>
            </a:r>
            <a:r>
              <a:rPr lang="en-US" sz="2400" dirty="0">
                <a:latin typeface="Trebuchet MS" panose="020B0603020202020204" pitchFamily="34" charset="0"/>
              </a:rPr>
              <a:t> are prefixes of one another, then B is called a </a:t>
            </a:r>
            <a:r>
              <a:rPr lang="en-US" sz="2400" b="1" i="1" dirty="0">
                <a:solidFill>
                  <a:srgbClr val="0B61FF"/>
                </a:solidFill>
                <a:latin typeface="Trebuchet MS" panose="020B0603020202020204" pitchFamily="34" charset="0"/>
              </a:rPr>
              <a:t>prefix code</a:t>
            </a:r>
            <a:r>
              <a:rPr lang="en-US" sz="2400" dirty="0">
                <a:latin typeface="Trebuchet MS" panose="020B0603020202020204" pitchFamily="34" charset="0"/>
              </a:rPr>
              <a:t>. </a:t>
            </a:r>
          </a:p>
          <a:p>
            <a:pPr marL="450850" indent="-271463">
              <a:lnSpc>
                <a:spcPct val="120000"/>
              </a:lnSpc>
              <a:spcBef>
                <a:spcPts val="300"/>
              </a:spcBef>
              <a:buClr>
                <a:srgbClr val="0B61FF"/>
              </a:buClr>
              <a:buSzPct val="120000"/>
              <a:tabLst>
                <a:tab pos="265113" algn="l"/>
              </a:tabLst>
            </a:pPr>
            <a:r>
              <a:rPr lang="en-US" sz="2400" dirty="0">
                <a:latin typeface="Trebuchet MS" panose="020B0603020202020204" pitchFamily="34" charset="0"/>
              </a:rPr>
              <a:t>A prefix code that uses only two symbols (e.g., 0 and 1) is called a </a:t>
            </a:r>
            <a:r>
              <a:rPr lang="en-US" sz="2400" b="1" i="1" dirty="0">
                <a:solidFill>
                  <a:srgbClr val="0B61FF"/>
                </a:solidFill>
                <a:latin typeface="Trebuchet MS" panose="020B0603020202020204" pitchFamily="34" charset="0"/>
              </a:rPr>
              <a:t>binary prefix code</a:t>
            </a:r>
            <a:r>
              <a:rPr lang="en-US" sz="2400" dirty="0">
                <a:latin typeface="Trebuchet MS" panose="020B0603020202020204" pitchFamily="34" charset="0"/>
              </a:rPr>
              <a:t>.</a:t>
            </a:r>
          </a:p>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Examples </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indent="-49213" eaLnBrk="1" hangingPunct="1">
              <a:lnSpc>
                <a:spcPct val="120000"/>
              </a:lnSpc>
              <a:spcBef>
                <a:spcPts val="300"/>
              </a:spcBef>
              <a:buClr>
                <a:srgbClr val="0B61FF"/>
              </a:buClr>
              <a:buSzPct val="120000"/>
            </a:pPr>
            <a:r>
              <a:rPr lang="zh-CN" altLang="en-US" sz="2400" b="1" dirty="0">
                <a:latin typeface="Trebuchet MS" panose="020B0603020202020204" pitchFamily="34" charset="0"/>
              </a:rPr>
              <a:t> {0,10,110, 1111}, {10,01,001,110}</a:t>
            </a:r>
            <a:r>
              <a:rPr lang="en-US" sz="2400" dirty="0">
                <a:latin typeface="Trebuchet MS" panose="020B0603020202020204" pitchFamily="34" charset="0"/>
              </a:rPr>
              <a:t> are binary prefix codes.</a:t>
            </a:r>
          </a:p>
          <a:p>
            <a:pPr indent="-49213" eaLnBrk="1" hangingPunct="1">
              <a:lnSpc>
                <a:spcPct val="120000"/>
              </a:lnSpc>
              <a:spcBef>
                <a:spcPts val="300"/>
              </a:spcBef>
              <a:buClr>
                <a:srgbClr val="0B61FF"/>
              </a:buClr>
              <a:buSzPct val="120000"/>
            </a:pPr>
            <a:r>
              <a:rPr lang="zh-CN" altLang="en-US" sz="2400" b="1" dirty="0">
                <a:latin typeface="Trebuchet MS" panose="020B0603020202020204" pitchFamily="34" charset="0"/>
              </a:rPr>
              <a:t> {0,10,010, 1010} </a:t>
            </a:r>
            <a:r>
              <a:rPr lang="en-US" sz="2400" dirty="0">
                <a:latin typeface="Trebuchet MS" panose="020B0603020202020204" pitchFamily="34" charset="0"/>
              </a:rPr>
              <a:t>is </a:t>
            </a:r>
            <a:r>
              <a:rPr lang="en-US" sz="2400" b="1" dirty="0">
                <a:latin typeface="Trebuchet MS" panose="020B0603020202020204" pitchFamily="34" charset="0"/>
              </a:rPr>
              <a:t>not</a:t>
            </a:r>
            <a:r>
              <a:rPr lang="en-US" sz="2400" dirty="0">
                <a:latin typeface="Trebuchet MS" panose="020B0603020202020204" pitchFamily="34" charset="0"/>
              </a:rPr>
              <a:t> a prefix code.</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14346156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fade">
                                      <p:cBhvr>
                                        <p:cTn id="33" dur="1000"/>
                                        <p:tgtEl>
                                          <p:spTgt spid="8">
                                            <p:txEl>
                                              <p:pRg st="6" end="6"/>
                                            </p:txEl>
                                          </p:spTgt>
                                        </p:tgtEl>
                                      </p:cBhvr>
                                    </p:animEffect>
                                    <p:anim calcmode="lin" valueType="num">
                                      <p:cBhvr>
                                        <p:cTn id="3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Generating Binary Prefix Codes Using a Binary Tree</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0000"/>
              </a:solidFill>
            </a:endParaRPr>
          </a:p>
        </p:txBody>
      </p:sp>
      <p:sp>
        <p:nvSpPr>
          <p:cNvPr id="9" name="Rectangle 3">
            <a:extLst>
              <a:ext uri="{FF2B5EF4-FFF2-40B4-BE49-F238E27FC236}">
                <a16:creationId xmlns:a16="http://schemas.microsoft.com/office/drawing/2014/main" id="{59E042D7-8225-4A86-8392-AC436630CBB8}"/>
              </a:ext>
            </a:extLst>
          </p:cNvPr>
          <p:cNvSpPr txBox="1">
            <a:spLocks noChangeArrowheads="1"/>
          </p:cNvSpPr>
          <p:nvPr/>
        </p:nvSpPr>
        <p:spPr>
          <a:xfrm>
            <a:off x="683528" y="699249"/>
            <a:ext cx="11012557" cy="3472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A binary tree can generate a set of </a:t>
            </a:r>
            <a:r>
              <a:rPr lang="en-US" sz="2400" b="1" i="1" dirty="0">
                <a:solidFill>
                  <a:srgbClr val="0B61FF"/>
                </a:solidFill>
                <a:latin typeface="Trebuchet MS" panose="020B0603020202020204" pitchFamily="34" charset="0"/>
              </a:rPr>
              <a:t>binary prefix codes</a:t>
            </a:r>
            <a:r>
              <a:rPr lang="en-US" sz="2400" dirty="0">
                <a:latin typeface="Trebuchet MS" panose="020B0603020202020204" pitchFamily="34" charset="0"/>
              </a:rPr>
              <a:t>:</a:t>
            </a:r>
          </a:p>
          <a:p>
            <a:pPr marL="0" indent="0">
              <a:lnSpc>
                <a:spcPct val="110000"/>
              </a:lnSpc>
              <a:spcBef>
                <a:spcPts val="300"/>
              </a:spcBef>
              <a:buNone/>
            </a:pPr>
            <a:r>
              <a:rPr lang="en-US" sz="2400" b="1" dirty="0">
                <a:solidFill>
                  <a:srgbClr val="0B61FF"/>
                </a:solidFill>
                <a:latin typeface="宋体" panose="02010600030101010101" pitchFamily="2" charset="-122"/>
                <a:ea typeface="宋体" panose="02010600030101010101" pitchFamily="2" charset="-122"/>
              </a:rPr>
              <a:t>①</a:t>
            </a:r>
            <a:r>
              <a:rPr lang="en-US" sz="2400" dirty="0">
                <a:latin typeface="Trebuchet MS" panose="020B0603020202020204" pitchFamily="34" charset="0"/>
              </a:rPr>
              <a:t>For each branching node, if it has two associated edges, label the </a:t>
            </a:r>
            <a:r>
              <a:rPr lang="en-US" sz="2400" b="1" dirty="0">
                <a:latin typeface="Trebuchet MS" panose="020B0603020202020204" pitchFamily="34" charset="0"/>
              </a:rPr>
              <a:t>left</a:t>
            </a:r>
            <a:r>
              <a:rPr lang="en-US" sz="2400" dirty="0">
                <a:latin typeface="Trebuchet MS" panose="020B0603020202020204" pitchFamily="34" charset="0"/>
              </a:rPr>
              <a:t> edge with </a:t>
            </a:r>
            <a:r>
              <a:rPr lang="en-US" sz="2400" b="1" dirty="0">
                <a:latin typeface="Trebuchet MS" panose="020B0603020202020204" pitchFamily="34" charset="0"/>
              </a:rPr>
              <a:t>0</a:t>
            </a:r>
            <a:r>
              <a:rPr lang="en-US" sz="2400" dirty="0">
                <a:latin typeface="Trebuchet MS" panose="020B0603020202020204" pitchFamily="34" charset="0"/>
              </a:rPr>
              <a:t> and the </a:t>
            </a:r>
            <a:r>
              <a:rPr lang="en-US" sz="2400" b="1" dirty="0">
                <a:latin typeface="Trebuchet MS" panose="020B0603020202020204" pitchFamily="34" charset="0"/>
              </a:rPr>
              <a:t>right</a:t>
            </a:r>
            <a:r>
              <a:rPr lang="en-US" sz="2400" dirty="0">
                <a:latin typeface="Trebuchet MS" panose="020B0603020202020204" pitchFamily="34" charset="0"/>
              </a:rPr>
              <a:t> edge with </a:t>
            </a:r>
            <a:r>
              <a:rPr lang="en-US" sz="2400" b="1" dirty="0">
                <a:latin typeface="Trebuchet MS" panose="020B0603020202020204" pitchFamily="34" charset="0"/>
              </a:rPr>
              <a:t>1</a:t>
            </a:r>
            <a:r>
              <a:rPr lang="en-US" sz="2400" dirty="0">
                <a:latin typeface="Trebuchet MS" panose="020B0603020202020204" pitchFamily="34" charset="0"/>
              </a:rPr>
              <a:t>.</a:t>
            </a:r>
          </a:p>
          <a:p>
            <a:pPr marL="0" indent="0">
              <a:lnSpc>
                <a:spcPct val="110000"/>
              </a:lnSpc>
              <a:spcBef>
                <a:spcPts val="300"/>
              </a:spcBef>
              <a:buNone/>
            </a:pPr>
            <a:r>
              <a:rPr lang="en-US" sz="2400" b="1" dirty="0">
                <a:solidFill>
                  <a:srgbClr val="0B61FF"/>
                </a:solidFill>
                <a:latin typeface="Trebuchet MS" panose="020B0603020202020204" pitchFamily="34" charset="0"/>
                <a:ea typeface="宋体" panose="02010600030101010101" pitchFamily="2" charset="-122"/>
              </a:rPr>
              <a:t>②</a:t>
            </a:r>
            <a:r>
              <a:rPr lang="en-US" sz="2400" dirty="0">
                <a:latin typeface="Trebuchet MS" panose="020B0603020202020204" pitchFamily="34" charset="0"/>
              </a:rPr>
              <a:t>If a branching node has only </a:t>
            </a:r>
            <a:r>
              <a:rPr lang="en-US" sz="2400" b="1" dirty="0">
                <a:latin typeface="Trebuchet MS" panose="020B0603020202020204" pitchFamily="34" charset="0"/>
              </a:rPr>
              <a:t>one</a:t>
            </a:r>
            <a:r>
              <a:rPr lang="en-US" sz="2400" dirty="0">
                <a:latin typeface="Trebuchet MS" panose="020B0603020202020204" pitchFamily="34" charset="0"/>
              </a:rPr>
              <a:t> associated edge, you may label it with either </a:t>
            </a:r>
            <a:r>
              <a:rPr lang="en-US" sz="2400" b="1" dirty="0">
                <a:latin typeface="Trebuchet MS" panose="020B0603020202020204" pitchFamily="34" charset="0"/>
              </a:rPr>
              <a:t>0</a:t>
            </a:r>
            <a:r>
              <a:rPr lang="en-US" sz="2400" dirty="0">
                <a:latin typeface="Trebuchet MS" panose="020B0603020202020204" pitchFamily="34" charset="0"/>
              </a:rPr>
              <a:t> (interpreted as left) or </a:t>
            </a:r>
            <a:r>
              <a:rPr lang="en-US" sz="2400" b="1" dirty="0">
                <a:latin typeface="Trebuchet MS" panose="020B0603020202020204" pitchFamily="34" charset="0"/>
              </a:rPr>
              <a:t>1</a:t>
            </a:r>
            <a:r>
              <a:rPr lang="en-US" sz="2400" dirty="0">
                <a:latin typeface="Trebuchet MS" panose="020B0603020202020204" pitchFamily="34" charset="0"/>
              </a:rPr>
              <a:t> (interpreted as right).</a:t>
            </a:r>
          </a:p>
          <a:p>
            <a:pPr marL="0" indent="0">
              <a:lnSpc>
                <a:spcPct val="110000"/>
              </a:lnSpc>
              <a:spcBef>
                <a:spcPts val="300"/>
              </a:spcBef>
              <a:buNone/>
            </a:pPr>
            <a:r>
              <a:rPr lang="en-US" sz="2400" b="1" dirty="0">
                <a:solidFill>
                  <a:srgbClr val="0B61FF"/>
                </a:solidFill>
                <a:latin typeface="Trebuchet MS" panose="020B0603020202020204" pitchFamily="34" charset="0"/>
                <a:ea typeface="宋体" panose="02010600030101010101" pitchFamily="2" charset="-122"/>
              </a:rPr>
              <a:t>③</a:t>
            </a:r>
            <a:r>
              <a:rPr lang="en-US" sz="2400" dirty="0">
                <a:latin typeface="Trebuchet MS" panose="020B0603020202020204" pitchFamily="34" charset="0"/>
              </a:rPr>
              <a:t>For each leaf, record the sequence of digits along the path from the root to that leaf. The resulting strings form a </a:t>
            </a:r>
            <a:r>
              <a:rPr lang="en-US" altLang="zh-CN" sz="2400" b="1" i="1" dirty="0">
                <a:solidFill>
                  <a:srgbClr val="0B61FF"/>
                </a:solidFill>
                <a:latin typeface="Trebuchet MS" panose="020B0603020202020204" pitchFamily="34" charset="0"/>
              </a:rPr>
              <a:t>binary </a:t>
            </a:r>
            <a:r>
              <a:rPr lang="en-US" sz="2400" b="1" i="1" dirty="0">
                <a:solidFill>
                  <a:srgbClr val="0B61FF"/>
                </a:solidFill>
                <a:latin typeface="Trebuchet MS" panose="020B0603020202020204" pitchFamily="34" charset="0"/>
              </a:rPr>
              <a:t>prefix code</a:t>
            </a:r>
            <a:r>
              <a:rPr lang="en-US" sz="2400" dirty="0">
                <a:latin typeface="Trebuchet MS" panose="020B0603020202020204" pitchFamily="34" charset="0"/>
              </a:rPr>
              <a:t>.</a:t>
            </a:r>
          </a:p>
          <a:p>
            <a:pPr algn="just">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marL="0" indent="0" algn="just">
              <a:lnSpc>
                <a:spcPct val="110000"/>
              </a:lnSpc>
              <a:buNone/>
            </a:pPr>
            <a:endParaRPr lang="en-US" altLang="zh-CN" b="1" dirty="0">
              <a:latin typeface="Times New Roman" panose="02020603050405020304" pitchFamily="18" charset="0"/>
              <a:cs typeface="Times New Roman" panose="02020603050405020304" pitchFamily="18" charset="0"/>
            </a:endParaRPr>
          </a:p>
          <a:p>
            <a:pPr marL="0" indent="0" algn="just">
              <a:lnSpc>
                <a:spcPct val="110000"/>
              </a:lnSpc>
              <a:buNone/>
            </a:pPr>
            <a:endParaRPr lang="zh-CN" altLang="en-US" b="1" dirty="0">
              <a:latin typeface="Times New Roman" panose="02020603050405020304" pitchFamily="18" charset="0"/>
              <a:cs typeface="Times New Roman" panose="02020603050405020304" pitchFamily="18" charset="0"/>
            </a:endParaRPr>
          </a:p>
        </p:txBody>
      </p:sp>
      <p:pic>
        <p:nvPicPr>
          <p:cNvPr id="16" name="Picture 8" descr="9T10a">
            <a:extLst>
              <a:ext uri="{FF2B5EF4-FFF2-40B4-BE49-F238E27FC236}">
                <a16:creationId xmlns:a16="http://schemas.microsoft.com/office/drawing/2014/main" id="{41F88135-E3D9-404D-89BC-B1B7C966CC4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4201" r="2298" b="17175"/>
          <a:stretch>
            <a:fillRect/>
          </a:stretch>
        </p:blipFill>
        <p:spPr bwMode="auto">
          <a:xfrm>
            <a:off x="765048" y="4171317"/>
            <a:ext cx="6544982" cy="2232993"/>
          </a:xfrm>
          <a:prstGeom prst="rect">
            <a:avLst/>
          </a:prstGeom>
          <a:noFill/>
          <a:ln>
            <a:noFill/>
          </a:ln>
        </p:spPr>
      </p:pic>
      <p:sp>
        <p:nvSpPr>
          <p:cNvPr id="17" name="Text Box 6">
            <a:extLst>
              <a:ext uri="{FF2B5EF4-FFF2-40B4-BE49-F238E27FC236}">
                <a16:creationId xmlns:a16="http://schemas.microsoft.com/office/drawing/2014/main" id="{8531D522-B243-40FD-B028-6BD4FF4A1212}"/>
              </a:ext>
            </a:extLst>
          </p:cNvPr>
          <p:cNvSpPr txBox="1">
            <a:spLocks noChangeArrowheads="1"/>
          </p:cNvSpPr>
          <p:nvPr/>
        </p:nvSpPr>
        <p:spPr bwMode="auto">
          <a:xfrm>
            <a:off x="7369664" y="4313667"/>
            <a:ext cx="4326421" cy="167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600"/>
              </a:spcBef>
              <a:buNone/>
            </a:pPr>
            <a:r>
              <a:rPr lang="en-US" sz="2400" b="1" dirty="0">
                <a:latin typeface="Trebuchet MS" panose="020B0603020202020204" pitchFamily="34" charset="0"/>
              </a:rPr>
              <a:t>Prefix Code </a:t>
            </a:r>
            <a:r>
              <a:rPr kumimoji="0" lang="zh-CN" altLang="en-US" sz="2400" b="1" dirty="0">
                <a:latin typeface="Trebuchet MS" panose="020B0603020202020204" pitchFamily="34" charset="0"/>
              </a:rPr>
              <a:t>：</a:t>
            </a:r>
            <a:endParaRPr kumimoji="0" lang="en-US" altLang="zh-CN" sz="2400" b="1" dirty="0">
              <a:latin typeface="Trebuchet MS" panose="020B0603020202020204" pitchFamily="34" charset="0"/>
            </a:endParaRPr>
          </a:p>
          <a:p>
            <a:pPr>
              <a:lnSpc>
                <a:spcPct val="120000"/>
              </a:lnSpc>
              <a:spcBef>
                <a:spcPts val="600"/>
              </a:spcBef>
              <a:buNone/>
            </a:pPr>
            <a:r>
              <a:rPr kumimoji="0" lang="zh-CN" altLang="en-US" sz="2400" b="1" dirty="0">
                <a:latin typeface="Trebuchet MS" panose="020B0603020202020204" pitchFamily="34" charset="0"/>
              </a:rPr>
              <a:t>{00, 11, 011, 0100 , 010</a:t>
            </a:r>
            <a:r>
              <a:rPr kumimoji="0" lang="en-US" altLang="zh-CN" sz="2400" b="1" dirty="0">
                <a:latin typeface="Trebuchet MS" panose="020B0603020202020204" pitchFamily="34" charset="0"/>
              </a:rPr>
              <a:t>1</a:t>
            </a:r>
            <a:r>
              <a:rPr kumimoji="0" lang="zh-CN" altLang="en-US" sz="2400" b="1" dirty="0">
                <a:latin typeface="Trebuchet MS" panose="020B0603020202020204" pitchFamily="34" charset="0"/>
              </a:rPr>
              <a:t>}， {00, 1</a:t>
            </a:r>
            <a:r>
              <a:rPr kumimoji="0" lang="en-US" altLang="zh-CN" sz="2400" b="1" dirty="0">
                <a:latin typeface="Trebuchet MS" panose="020B0603020202020204" pitchFamily="34" charset="0"/>
              </a:rPr>
              <a:t>0</a:t>
            </a:r>
            <a:r>
              <a:rPr kumimoji="0" lang="zh-CN" altLang="en-US" sz="2400" b="1" dirty="0">
                <a:latin typeface="Trebuchet MS" panose="020B0603020202020204" pitchFamily="34" charset="0"/>
              </a:rPr>
              <a:t>, 011, 0100 , 010</a:t>
            </a:r>
            <a:r>
              <a:rPr kumimoji="0" lang="en-US" altLang="zh-CN" sz="2400" b="1" dirty="0">
                <a:latin typeface="Trebuchet MS" panose="020B0603020202020204" pitchFamily="34" charset="0"/>
              </a:rPr>
              <a:t>1</a:t>
            </a:r>
            <a:r>
              <a:rPr kumimoji="0" lang="zh-CN" altLang="en-US" sz="2400" b="1" dirty="0"/>
              <a:t>}</a:t>
            </a:r>
          </a:p>
        </p:txBody>
      </p:sp>
    </p:spTree>
    <p:extLst>
      <p:ext uri="{BB962C8B-B14F-4D97-AF65-F5344CB8AC3E}">
        <p14:creationId xmlns:p14="http://schemas.microsoft.com/office/powerpoint/2010/main" val="1827420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3" end="3"/>
                                            </p:txEl>
                                          </p:spTgt>
                                        </p:tgtEl>
                                        <p:attrNameLst>
                                          <p:attrName>style.visibility</p:attrName>
                                        </p:attrNameLst>
                                      </p:cBhvr>
                                      <p:to>
                                        <p:strVal val="visible"/>
                                      </p:to>
                                    </p:set>
                                    <p:animEffect transition="in" filter="fade">
                                      <p:cBhvr>
                                        <p:cTn id="14" dur="1000"/>
                                        <p:tgtEl>
                                          <p:spTgt spid="9">
                                            <p:txEl>
                                              <p:pRg st="3" end="3"/>
                                            </p:txEl>
                                          </p:spTgt>
                                        </p:tgtEl>
                                      </p:cBhvr>
                                    </p:animEffect>
                                    <p:anim calcmode="lin" valueType="num">
                                      <p:cBhvr>
                                        <p:cTn id="1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1000"/>
                                        <p:tgtEl>
                                          <p:spTgt spid="9">
                                            <p:txEl>
                                              <p:pRg st="4" end="4"/>
                                            </p:txEl>
                                          </p:spTgt>
                                        </p:tgtEl>
                                      </p:cBhvr>
                                    </p:animEffect>
                                    <p:anim calcmode="lin" valueType="num">
                                      <p:cBhvr>
                                        <p:cTn id="22"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1000"/>
                                        <p:tgtEl>
                                          <p:spTgt spid="17"/>
                                        </p:tgtEl>
                                      </p:cBhvr>
                                    </p:animEffect>
                                    <p:anim calcmode="lin" valueType="num">
                                      <p:cBhvr>
                                        <p:cTn id="34" dur="1000" fill="hold"/>
                                        <p:tgtEl>
                                          <p:spTgt spid="17"/>
                                        </p:tgtEl>
                                        <p:attrNameLst>
                                          <p:attrName>ppt_x</p:attrName>
                                        </p:attrNameLst>
                                      </p:cBhvr>
                                      <p:tavLst>
                                        <p:tav tm="0">
                                          <p:val>
                                            <p:strVal val="#ppt_x"/>
                                          </p:val>
                                        </p:tav>
                                        <p:tav tm="100000">
                                          <p:val>
                                            <p:strVal val="#ppt_x"/>
                                          </p:val>
                                        </p:tav>
                                      </p:tavLst>
                                    </p:anim>
                                    <p:anim calcmode="lin" valueType="num">
                                      <p:cBhvr>
                                        <p:cTn id="3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Examples of Binary Prefix Code Applications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28870" y="914400"/>
            <a:ext cx="10925158" cy="45918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 </a:t>
            </a:r>
            <a:r>
              <a:rPr lang="en-US" sz="2400" dirty="0">
                <a:latin typeface="Trebuchet MS" panose="020B0603020202020204" pitchFamily="34" charset="0"/>
              </a:rPr>
              <a:t>In communication, suppose the frequency (%) of octal digits is given as follows: 0: 30, 1: 20, 2: 15, 3: 10, 4: 10, 5: 5, 6: 5,7: 5.</a:t>
            </a:r>
          </a:p>
          <a:p>
            <a:pPr marL="450850" indent="-271463">
              <a:lnSpc>
                <a:spcPct val="120000"/>
              </a:lnSpc>
              <a:spcBef>
                <a:spcPts val="300"/>
              </a:spcBef>
              <a:buClr>
                <a:srgbClr val="0B61FF"/>
              </a:buClr>
              <a:buSzPct val="120000"/>
            </a:pPr>
            <a:r>
              <a:rPr lang="en-US" sz="2400" dirty="0">
                <a:latin typeface="Trebuchet MS" panose="020B0603020202020204" pitchFamily="34" charset="0"/>
              </a:rPr>
              <a:t>Using binary prefix codes, find the binary prefix code that transmits the digits with the </a:t>
            </a:r>
            <a:r>
              <a:rPr lang="en-US" sz="2400" b="1" dirty="0">
                <a:latin typeface="Trebuchet MS" panose="020B0603020202020204" pitchFamily="34" charset="0"/>
              </a:rPr>
              <a:t>fewest number of binary bits</a:t>
            </a:r>
            <a:r>
              <a:rPr lang="en-US" sz="2400" dirty="0">
                <a:latin typeface="Trebuchet MS" panose="020B0603020202020204" pitchFamily="34" charset="0"/>
              </a:rPr>
              <a:t> (this is called the </a:t>
            </a:r>
            <a:r>
              <a:rPr lang="en-US" sz="2400" b="1" dirty="0">
                <a:latin typeface="Trebuchet MS" panose="020B0603020202020204" pitchFamily="34" charset="0"/>
              </a:rPr>
              <a:t>optimal prefix code</a:t>
            </a:r>
            <a:r>
              <a:rPr lang="en-US" sz="2400" dirty="0">
                <a:latin typeface="Trebuchet MS" panose="020B0603020202020204" pitchFamily="34" charset="0"/>
              </a:rPr>
              <a:t>).</a:t>
            </a:r>
          </a:p>
          <a:p>
            <a:pPr marL="450850" indent="-271463">
              <a:buClr>
                <a:srgbClr val="0B61FF"/>
              </a:buClr>
              <a:buSzPct val="120000"/>
            </a:pPr>
            <a:r>
              <a:rPr lang="en-US" sz="2400" dirty="0">
                <a:latin typeface="Trebuchet MS" panose="020B0603020202020204" pitchFamily="34" charset="0"/>
              </a:rPr>
              <a:t>Also, calculate the </a:t>
            </a:r>
            <a:r>
              <a:rPr lang="en-US" sz="2400" b="1" dirty="0">
                <a:latin typeface="Trebuchet MS" panose="020B0603020202020204" pitchFamily="34" charset="0"/>
              </a:rPr>
              <a:t>total number of binary digits</a:t>
            </a:r>
            <a:r>
              <a:rPr lang="en-US" sz="2400" dirty="0">
                <a:latin typeface="Trebuchet MS" panose="020B0603020202020204" pitchFamily="34" charset="0"/>
              </a:rPr>
              <a:t> needed to transmit 10,000 octal digits following the given frequency distribution using the optimal prefix code.</a:t>
            </a:r>
          </a:p>
          <a:p>
            <a:pPr marL="450850" indent="-271463">
              <a:buClr>
                <a:srgbClr val="0B61FF"/>
              </a:buClr>
              <a:buSzPct val="120000"/>
            </a:pPr>
            <a:r>
              <a:rPr lang="en-US" sz="2400" dirty="0">
                <a:latin typeface="Trebuchet MS" panose="020B0603020202020204" pitchFamily="34" charset="0"/>
              </a:rPr>
              <a:t>The </a:t>
            </a:r>
            <a:r>
              <a:rPr lang="en-US" sz="2400" b="1" dirty="0">
                <a:latin typeface="Trebuchet MS" panose="020B0603020202020204" pitchFamily="34" charset="0"/>
              </a:rPr>
              <a:t>total number of binary digits</a:t>
            </a:r>
            <a:r>
              <a:rPr lang="en-US" sz="2400" dirty="0">
                <a:latin typeface="Trebuchet MS" panose="020B0603020202020204" pitchFamily="34" charset="0"/>
              </a:rPr>
              <a:t> required if a </a:t>
            </a:r>
            <a:r>
              <a:rPr lang="en-US" sz="2400" b="1" dirty="0">
                <a:latin typeface="Trebuchet MS" panose="020B0603020202020204" pitchFamily="34" charset="0"/>
              </a:rPr>
              <a:t>fixed-length code</a:t>
            </a:r>
            <a:r>
              <a:rPr lang="en-US" sz="2400" dirty="0">
                <a:latin typeface="Trebuchet MS" panose="020B0603020202020204" pitchFamily="34" charset="0"/>
              </a:rPr>
              <a:t> (of length 3) is used for each octal digit instead.</a:t>
            </a:r>
          </a:p>
          <a:p>
            <a:pPr eaLnBrk="1" hangingPunct="1">
              <a:lnSpc>
                <a:spcPct val="110000"/>
              </a:lnSpc>
              <a:buFontTx/>
              <a:buNone/>
            </a:pP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33751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Examples of Binary Prefix Code Applications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0F462FFF-A5E2-46E0-98CA-E32A18904F31}"/>
              </a:ext>
            </a:extLst>
          </p:cNvPr>
          <p:cNvSpPr txBox="1"/>
          <p:nvPr/>
        </p:nvSpPr>
        <p:spPr>
          <a:xfrm>
            <a:off x="667463" y="794338"/>
            <a:ext cx="4977964" cy="4572792"/>
          </a:xfrm>
          <a:prstGeom prst="rect">
            <a:avLst/>
          </a:prstGeom>
          <a:noFill/>
        </p:spPr>
        <p:txBody>
          <a:bodyPr wrap="square">
            <a:noAutofit/>
          </a:bodyPr>
          <a:lstStyle/>
          <a:p>
            <a:pPr marL="342900" indent="-342900">
              <a:lnSpc>
                <a:spcPct val="110000"/>
              </a:lnSpc>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630238" indent="-450850">
              <a:lnSpc>
                <a:spcPct val="120000"/>
              </a:lnSpc>
            </a:pPr>
            <a:r>
              <a:rPr lang="zh-CN" altLang="en-US" sz="2400" b="1" dirty="0">
                <a:solidFill>
                  <a:srgbClr val="0B61FF"/>
                </a:solidFill>
                <a:latin typeface="Trebuchet MS" panose="020B0603020202020204" pitchFamily="34" charset="0"/>
                <a:cs typeface="Times New Roman" panose="02020603050405020304" pitchFamily="18" charset="0"/>
              </a:rPr>
              <a:t>①</a:t>
            </a:r>
            <a:r>
              <a:rPr lang="zh-CN" altLang="en-US"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Use the Huffman algorithm to construct the optimal binary tree, treating the frequencies (multiplied by 100) as the weights.</a:t>
            </a:r>
          </a:p>
          <a:p>
            <a:pPr marL="630238" indent="-450850">
              <a:lnSpc>
                <a:spcPct val="110000"/>
              </a:lnSpc>
            </a:pPr>
            <a:r>
              <a:rPr lang="en-US" altLang="zh-CN" sz="2400" dirty="0">
                <a:latin typeface="Trebuchet MS" panose="020B0603020202020204" pitchFamily="34" charset="0"/>
                <a:cs typeface="Times New Roman" panose="02020603050405020304" pitchFamily="18" charset="0"/>
              </a:rPr>
              <a:t>Let: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=5,</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=5,</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=5,</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rPr>
              <a:t>=10,</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rPr>
              <a:t>=10,</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rPr>
              <a:t>=15,</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7</a:t>
            </a:r>
            <a:r>
              <a:rPr lang="en-US" altLang="zh-CN" sz="2400" b="1" dirty="0">
                <a:latin typeface="Trebuchet MS" panose="020B0603020202020204" pitchFamily="34" charset="0"/>
                <a:cs typeface="Times New Roman" panose="02020603050405020304" pitchFamily="18" charset="0"/>
              </a:rPr>
              <a:t>=20,</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8</a:t>
            </a:r>
            <a:r>
              <a:rPr lang="en-US" altLang="zh-CN" sz="2400" b="1" dirty="0">
                <a:latin typeface="Trebuchet MS" panose="020B0603020202020204" pitchFamily="34" charset="0"/>
                <a:cs typeface="Times New Roman" panose="02020603050405020304" pitchFamily="18" charset="0"/>
              </a:rPr>
              <a:t>=30.</a:t>
            </a:r>
          </a:p>
          <a:p>
            <a:pPr marL="630238" indent="-450850">
              <a:lnSpc>
                <a:spcPct val="110000"/>
              </a:lnSpc>
            </a:pPr>
            <a:r>
              <a:rPr lang="zh-CN" altLang="en-US" sz="2400" b="1" dirty="0">
                <a:solidFill>
                  <a:srgbClr val="0B61FF"/>
                </a:solidFill>
                <a:latin typeface="Trebuchet MS" panose="020B0603020202020204" pitchFamily="34" charset="0"/>
                <a:cs typeface="Times New Roman" panose="02020603050405020304" pitchFamily="18" charset="0"/>
              </a:rPr>
              <a:t>② </a:t>
            </a:r>
            <a:r>
              <a:rPr lang="en-US" altLang="zh-CN" sz="2400" dirty="0">
                <a:latin typeface="Trebuchet MS" panose="020B0603020202020204" pitchFamily="34" charset="0"/>
              </a:rPr>
              <a:t>Construct the Huffman tree.</a:t>
            </a:r>
            <a:endParaRPr lang="en-US" altLang="zh-CN" sz="2400" b="1" dirty="0">
              <a:latin typeface="Trebuchet MS" panose="020B0603020202020204" pitchFamily="34" charset="0"/>
            </a:endParaRPr>
          </a:p>
          <a:p>
            <a:pPr marL="630238" indent="-450850">
              <a:lnSpc>
                <a:spcPct val="110000"/>
              </a:lnSpc>
            </a:pPr>
            <a:endParaRPr lang="zh-CN" altLang="en-US" sz="2400" b="1" dirty="0">
              <a:latin typeface="Trebuchet MS" panose="020B0603020202020204" pitchFamily="34" charset="0"/>
              <a:cs typeface="Times New Roman" panose="02020603050405020304" pitchFamily="18" charset="0"/>
            </a:endParaRPr>
          </a:p>
        </p:txBody>
      </p:sp>
      <p:pic>
        <p:nvPicPr>
          <p:cNvPr id="10" name="图片 9">
            <a:extLst>
              <a:ext uri="{FF2B5EF4-FFF2-40B4-BE49-F238E27FC236}">
                <a16:creationId xmlns:a16="http://schemas.microsoft.com/office/drawing/2014/main" id="{6DD52C6F-E5DB-454C-9EBD-DD4EF0A46D34}"/>
              </a:ext>
            </a:extLst>
          </p:cNvPr>
          <p:cNvPicPr>
            <a:picLocks noChangeAspect="1"/>
          </p:cNvPicPr>
          <p:nvPr/>
        </p:nvPicPr>
        <p:blipFill>
          <a:blip r:embed="rId5"/>
          <a:stretch>
            <a:fillRect/>
          </a:stretch>
        </p:blipFill>
        <p:spPr>
          <a:xfrm>
            <a:off x="4969278" y="1490870"/>
            <a:ext cx="6555259" cy="4910093"/>
          </a:xfrm>
          <a:prstGeom prst="rect">
            <a:avLst/>
          </a:prstGeom>
        </p:spPr>
      </p:pic>
    </p:spTree>
    <p:extLst>
      <p:ext uri="{BB962C8B-B14F-4D97-AF65-F5344CB8AC3E}">
        <p14:creationId xmlns:p14="http://schemas.microsoft.com/office/powerpoint/2010/main" val="2111397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fade">
                                      <p:cBhvr>
                                        <p:cTn id="7" dur="1000"/>
                                        <p:tgtEl>
                                          <p:spTgt spid="9">
                                            <p:txEl>
                                              <p:pRg st="3" end="3"/>
                                            </p:txEl>
                                          </p:spTgt>
                                        </p:tgtEl>
                                      </p:cBhvr>
                                    </p:animEffect>
                                    <p:anim calcmode="lin" valueType="num">
                                      <p:cBhvr>
                                        <p:cTn id="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Examples of Binary Prefix Code Applications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0F462FFF-A5E2-46E0-98CA-E32A18904F31}"/>
              </a:ext>
            </a:extLst>
          </p:cNvPr>
          <p:cNvSpPr txBox="1"/>
          <p:nvPr/>
        </p:nvSpPr>
        <p:spPr>
          <a:xfrm>
            <a:off x="661430" y="762000"/>
            <a:ext cx="10869139" cy="1855299"/>
          </a:xfrm>
          <a:prstGeom prst="rect">
            <a:avLst/>
          </a:prstGeom>
          <a:noFill/>
        </p:spPr>
        <p:txBody>
          <a:bodyPr wrap="square">
            <a:noAutofit/>
          </a:bodyPr>
          <a:lstStyle/>
          <a:p>
            <a:pPr marL="342900" indent="-342900">
              <a:lnSpc>
                <a:spcPct val="110000"/>
              </a:lnSpc>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630238" indent="-450850">
              <a:lnSpc>
                <a:spcPct val="110000"/>
              </a:lnSpc>
            </a:pPr>
            <a:r>
              <a:rPr lang="en-US" altLang="zh-CN" sz="2400" b="1" dirty="0">
                <a:solidFill>
                  <a:srgbClr val="0B61FF"/>
                </a:solidFill>
                <a:latin typeface="Trebuchet MS" panose="020B0603020202020204" pitchFamily="34" charset="0"/>
                <a:cs typeface="Times New Roman" panose="02020603050405020304" pitchFamily="18" charset="0"/>
              </a:rPr>
              <a:t>③ </a:t>
            </a:r>
            <a:r>
              <a:rPr lang="en-US" altLang="zh-CN" sz="2400" dirty="0">
                <a:latin typeface="Trebuchet MS" panose="020B0603020202020204" pitchFamily="34" charset="0"/>
              </a:rPr>
              <a:t>Assign codes. For characters with the same frequency, their codes or fixed-length codes can be interchanged without affecting the </a:t>
            </a:r>
            <a:r>
              <a:rPr lang="en-US" altLang="zh-CN" sz="2400" b="1" dirty="0">
                <a:latin typeface="Trebuchet MS" panose="020B0603020202020204" pitchFamily="34" charset="0"/>
              </a:rPr>
              <a:t>validity</a:t>
            </a:r>
            <a:r>
              <a:rPr lang="en-US" altLang="zh-CN" sz="2400" dirty="0">
                <a:latin typeface="Trebuchet MS" panose="020B0603020202020204" pitchFamily="34" charset="0"/>
              </a:rPr>
              <a:t> or </a:t>
            </a:r>
            <a:r>
              <a:rPr lang="en-US" altLang="zh-CN" sz="2400" b="1" dirty="0">
                <a:latin typeface="Trebuchet MS" panose="020B0603020202020204" pitchFamily="34" charset="0"/>
              </a:rPr>
              <a:t>optimality</a:t>
            </a:r>
            <a:r>
              <a:rPr lang="en-US" altLang="zh-CN" sz="2400" dirty="0">
                <a:latin typeface="Trebuchet MS" panose="020B0603020202020204" pitchFamily="34" charset="0"/>
              </a:rPr>
              <a:t> of the encoding.</a:t>
            </a:r>
            <a:endParaRPr lang="en-US" altLang="zh-CN" sz="2400" b="1" dirty="0">
              <a:latin typeface="Trebuchet MS" panose="020B0603020202020204" pitchFamily="34" charset="0"/>
            </a:endParaRPr>
          </a:p>
          <a:p>
            <a:pPr marL="630238" indent="-450850">
              <a:lnSpc>
                <a:spcPct val="110000"/>
              </a:lnSpc>
            </a:pPr>
            <a:endParaRPr lang="en-US" altLang="zh-CN" sz="2400" b="1" dirty="0">
              <a:latin typeface="Trebuchet MS" panose="020B0603020202020204" pitchFamily="34" charset="0"/>
            </a:endParaRPr>
          </a:p>
          <a:p>
            <a:pPr marL="630238" indent="-450850">
              <a:lnSpc>
                <a:spcPct val="110000"/>
              </a:lnSpc>
            </a:pPr>
            <a:endParaRPr lang="zh-CN" altLang="en-US" sz="2400" b="1" dirty="0">
              <a:latin typeface="Trebuchet MS" panose="020B0603020202020204" pitchFamily="34" charset="0"/>
              <a:cs typeface="Times New Roman" panose="02020603050405020304" pitchFamily="18" charset="0"/>
            </a:endParaRPr>
          </a:p>
        </p:txBody>
      </p:sp>
      <p:graphicFrame>
        <p:nvGraphicFramePr>
          <p:cNvPr id="11" name="表格 6">
            <a:extLst>
              <a:ext uri="{FF2B5EF4-FFF2-40B4-BE49-F238E27FC236}">
                <a16:creationId xmlns:a16="http://schemas.microsoft.com/office/drawing/2014/main" id="{9F2973BE-D566-46FA-9049-C3DE5EDDD894}"/>
              </a:ext>
            </a:extLst>
          </p:cNvPr>
          <p:cNvGraphicFramePr>
            <a:graphicFrameLocks noGrp="1"/>
          </p:cNvGraphicFramePr>
          <p:nvPr>
            <p:extLst>
              <p:ext uri="{D42A27DB-BD31-4B8C-83A1-F6EECF244321}">
                <p14:modId xmlns:p14="http://schemas.microsoft.com/office/powerpoint/2010/main" val="2804863440"/>
              </p:ext>
            </p:extLst>
          </p:nvPr>
        </p:nvGraphicFramePr>
        <p:xfrm>
          <a:off x="996958" y="2533380"/>
          <a:ext cx="10300516" cy="2931152"/>
        </p:xfrm>
        <a:graphic>
          <a:graphicData uri="http://schemas.openxmlformats.org/drawingml/2006/table">
            <a:tbl>
              <a:tblPr firstRow="1" bandRow="1">
                <a:tableStyleId>{5C22544A-7EE6-4342-B048-85BDC9FD1C3A}</a:tableStyleId>
              </a:tblPr>
              <a:tblGrid>
                <a:gridCol w="1859451">
                  <a:extLst>
                    <a:ext uri="{9D8B030D-6E8A-4147-A177-3AD203B41FA5}">
                      <a16:colId xmlns:a16="http://schemas.microsoft.com/office/drawing/2014/main" val="4154359370"/>
                    </a:ext>
                  </a:extLst>
                </a:gridCol>
                <a:gridCol w="959390">
                  <a:extLst>
                    <a:ext uri="{9D8B030D-6E8A-4147-A177-3AD203B41FA5}">
                      <a16:colId xmlns:a16="http://schemas.microsoft.com/office/drawing/2014/main" val="1331483046"/>
                    </a:ext>
                  </a:extLst>
                </a:gridCol>
                <a:gridCol w="1064323">
                  <a:extLst>
                    <a:ext uri="{9D8B030D-6E8A-4147-A177-3AD203B41FA5}">
                      <a16:colId xmlns:a16="http://schemas.microsoft.com/office/drawing/2014/main" val="3833036226"/>
                    </a:ext>
                  </a:extLst>
                </a:gridCol>
                <a:gridCol w="1004362">
                  <a:extLst>
                    <a:ext uri="{9D8B030D-6E8A-4147-A177-3AD203B41FA5}">
                      <a16:colId xmlns:a16="http://schemas.microsoft.com/office/drawing/2014/main" val="848854554"/>
                    </a:ext>
                  </a:extLst>
                </a:gridCol>
                <a:gridCol w="1034342">
                  <a:extLst>
                    <a:ext uri="{9D8B030D-6E8A-4147-A177-3AD203B41FA5}">
                      <a16:colId xmlns:a16="http://schemas.microsoft.com/office/drawing/2014/main" val="1090439628"/>
                    </a:ext>
                  </a:extLst>
                </a:gridCol>
                <a:gridCol w="1034038">
                  <a:extLst>
                    <a:ext uri="{9D8B030D-6E8A-4147-A177-3AD203B41FA5}">
                      <a16:colId xmlns:a16="http://schemas.microsoft.com/office/drawing/2014/main" val="2752968567"/>
                    </a:ext>
                  </a:extLst>
                </a:gridCol>
                <a:gridCol w="1033024">
                  <a:extLst>
                    <a:ext uri="{9D8B030D-6E8A-4147-A177-3AD203B41FA5}">
                      <a16:colId xmlns:a16="http://schemas.microsoft.com/office/drawing/2014/main" val="2406532949"/>
                    </a:ext>
                  </a:extLst>
                </a:gridCol>
                <a:gridCol w="1182738">
                  <a:extLst>
                    <a:ext uri="{9D8B030D-6E8A-4147-A177-3AD203B41FA5}">
                      <a16:colId xmlns:a16="http://schemas.microsoft.com/office/drawing/2014/main" val="1085582691"/>
                    </a:ext>
                  </a:extLst>
                </a:gridCol>
                <a:gridCol w="1128848">
                  <a:extLst>
                    <a:ext uri="{9D8B030D-6E8A-4147-A177-3AD203B41FA5}">
                      <a16:colId xmlns:a16="http://schemas.microsoft.com/office/drawing/2014/main" val="3568188800"/>
                    </a:ext>
                  </a:extLst>
                </a:gridCol>
              </a:tblGrid>
              <a:tr h="431792">
                <a:tc>
                  <a:txBody>
                    <a:bodyPr/>
                    <a:lstStyle/>
                    <a:p>
                      <a:r>
                        <a:rPr lang="en-US" sz="2000" kern="1200" dirty="0">
                          <a:solidFill>
                            <a:srgbClr val="0B61FF"/>
                          </a:solidFill>
                          <a:latin typeface="Trebuchet MS" panose="020B0603020202020204" pitchFamily="34" charset="0"/>
                          <a:ea typeface="+mn-ea"/>
                          <a:cs typeface="+mn-cs"/>
                        </a:rPr>
                        <a:t>Digit </a:t>
                      </a:r>
                      <a:endParaRPr lang="zh-CN" altLang="en-US" sz="2000" kern="1200" dirty="0">
                        <a:solidFill>
                          <a:srgbClr val="0B61FF"/>
                        </a:solidFill>
                        <a:latin typeface="Trebuchet MS" panose="020B0603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0</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1</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2</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3</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4</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5</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6</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7</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7591962"/>
                  </a:ext>
                </a:extLst>
              </a:tr>
              <a:tr h="353169">
                <a:tc>
                  <a:txBody>
                    <a:bodyPr/>
                    <a:lstStyle/>
                    <a:p>
                      <a:r>
                        <a:rPr lang="en-US" sz="2000" b="1" dirty="0">
                          <a:solidFill>
                            <a:srgbClr val="0B61FF"/>
                          </a:solidFill>
                          <a:latin typeface="Trebuchet MS" panose="020B0603020202020204" pitchFamily="34" charset="0"/>
                        </a:rPr>
                        <a:t>Frequency </a:t>
                      </a:r>
                      <a:endParaRPr lang="zh-CN" altLang="en-US" sz="2000" b="1" dirty="0">
                        <a:solidFill>
                          <a:srgbClr val="0B61FF"/>
                        </a:solidFill>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30%</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20%</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15%</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10%</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10%</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675536068"/>
                  </a:ext>
                </a:extLst>
              </a:tr>
              <a:tr h="347096">
                <a:tc>
                  <a:txBody>
                    <a:bodyPr/>
                    <a:lstStyle/>
                    <a:p>
                      <a:r>
                        <a:rPr lang="en-US" sz="2000" b="1" dirty="0">
                          <a:solidFill>
                            <a:srgbClr val="0B61FF"/>
                          </a:solidFill>
                          <a:latin typeface="Trebuchet MS" panose="020B0603020202020204" pitchFamily="34" charset="0"/>
                        </a:rPr>
                        <a:t>Huffman Code </a:t>
                      </a:r>
                      <a:endParaRPr lang="zh-CN" altLang="en-US" sz="2000" b="1" dirty="0">
                        <a:solidFill>
                          <a:srgbClr val="0B61FF"/>
                        </a:solidFill>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100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00001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00000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9580931"/>
                  </a:ext>
                </a:extLst>
              </a:tr>
              <a:tr h="347096">
                <a:tc>
                  <a:txBody>
                    <a:bodyPr/>
                    <a:lstStyle/>
                    <a:p>
                      <a:r>
                        <a:rPr lang="en-US" sz="2000" b="1" dirty="0">
                          <a:solidFill>
                            <a:srgbClr val="0B61FF"/>
                          </a:solidFill>
                          <a:latin typeface="Trebuchet MS" panose="020B0603020202020204" pitchFamily="34" charset="0"/>
                        </a:rPr>
                        <a:t>Code Length</a:t>
                      </a:r>
                      <a:endParaRPr lang="zh-CN" altLang="en-US" sz="2000" b="1" dirty="0">
                        <a:solidFill>
                          <a:srgbClr val="0B61FF"/>
                        </a:solidFill>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2</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2</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3</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3</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3</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4</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087561082"/>
                  </a:ext>
                </a:extLst>
              </a:tr>
              <a:tr h="896506">
                <a:tc>
                  <a:txBody>
                    <a:bodyPr/>
                    <a:lstStyle/>
                    <a:p>
                      <a:r>
                        <a:rPr lang="en-US" sz="2000" b="1" dirty="0">
                          <a:solidFill>
                            <a:srgbClr val="0B61FF"/>
                          </a:solidFill>
                          <a:latin typeface="Trebuchet MS" panose="020B0603020202020204" pitchFamily="34" charset="0"/>
                        </a:rPr>
                        <a:t>Fixed-Length (Length 3) Code</a:t>
                      </a:r>
                      <a:endParaRPr lang="zh-CN" altLang="en-US" sz="2000" b="1" dirty="0">
                        <a:solidFill>
                          <a:srgbClr val="0B61FF"/>
                        </a:solidFill>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010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011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100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110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111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0110730"/>
                  </a:ext>
                </a:extLst>
              </a:tr>
            </a:tbl>
          </a:graphicData>
        </a:graphic>
      </p:graphicFrame>
    </p:spTree>
    <p:extLst>
      <p:ext uri="{BB962C8B-B14F-4D97-AF65-F5344CB8AC3E}">
        <p14:creationId xmlns:p14="http://schemas.microsoft.com/office/powerpoint/2010/main" val="3790200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Examples of Binary Prefix Code Applications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0F462FFF-A5E2-46E0-98CA-E32A18904F31}"/>
              </a:ext>
            </a:extLst>
          </p:cNvPr>
          <p:cNvSpPr txBox="1"/>
          <p:nvPr/>
        </p:nvSpPr>
        <p:spPr>
          <a:xfrm>
            <a:off x="661430" y="762000"/>
            <a:ext cx="11212518" cy="4850290"/>
          </a:xfrm>
          <a:prstGeom prst="rect">
            <a:avLst/>
          </a:prstGeom>
          <a:noFill/>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450850" indent="-271463">
              <a:lnSpc>
                <a:spcPct val="120000"/>
              </a:lnSpc>
              <a:spcBef>
                <a:spcPts val="600"/>
              </a:spcBef>
            </a:pPr>
            <a:r>
              <a:rPr lang="zh-CN" altLang="en-US" sz="2400" b="1" dirty="0">
                <a:solidFill>
                  <a:srgbClr val="0B61FF"/>
                </a:solidFill>
                <a:latin typeface="Trebuchet MS" panose="020B0603020202020204" pitchFamily="34" charset="0"/>
                <a:cs typeface="Times New Roman" panose="02020603050405020304" pitchFamily="18" charset="0"/>
              </a:rPr>
              <a:t>④</a:t>
            </a:r>
            <a:r>
              <a:rPr lang="en-US" altLang="zh-CN" sz="2400" dirty="0">
                <a:latin typeface="Trebuchet MS" panose="020B0603020202020204" pitchFamily="34" charset="0"/>
              </a:rPr>
              <a:t>Calculate the number of binary digits required to </a:t>
            </a:r>
            <a:r>
              <a:rPr lang="en-US" altLang="zh-CN" sz="2400" b="1" i="1" dirty="0">
                <a:solidFill>
                  <a:srgbClr val="0B61FF"/>
                </a:solidFill>
                <a:latin typeface="Trebuchet MS" panose="020B0603020202020204" pitchFamily="34" charset="0"/>
              </a:rPr>
              <a:t>transmit 10,000 octal digits </a:t>
            </a:r>
            <a:r>
              <a:rPr lang="en-US" altLang="zh-CN" sz="2400" dirty="0">
                <a:latin typeface="Trebuchet MS" panose="020B0603020202020204" pitchFamily="34" charset="0"/>
              </a:rPr>
              <a:t>according to the given frequency distribution</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marL="522287" indent="-342900">
              <a:lnSpc>
                <a:spcPct val="120000"/>
              </a:lnSpc>
              <a:spcBef>
                <a:spcPts val="600"/>
              </a:spcBef>
              <a:buClr>
                <a:srgbClr val="0B61FF"/>
              </a:buClr>
              <a:buSzPct val="120000"/>
              <a:buFont typeface="Arial" panose="020B0604020202020204" pitchFamily="34" charset="0"/>
              <a:buChar char="•"/>
            </a:pPr>
            <a:r>
              <a:rPr lang="en-US" altLang="zh-CN" sz="2400" b="1" i="1" dirty="0">
                <a:solidFill>
                  <a:srgbClr val="0B61FF"/>
                </a:solidFill>
                <a:latin typeface="Trebuchet MS" panose="020B0603020202020204" pitchFamily="34" charset="0"/>
              </a:rPr>
              <a:t>Huffman encoding </a:t>
            </a:r>
            <a:r>
              <a:rPr lang="en-US" altLang="zh-CN" sz="2400" b="1" dirty="0">
                <a:latin typeface="Trebuchet MS" panose="020B0603020202020204" pitchFamily="34" charset="0"/>
              </a:rPr>
              <a:t>(optimal prefix code):</a:t>
            </a:r>
          </a:p>
          <a:p>
            <a:pPr>
              <a:lnSpc>
                <a:spcPct val="120000"/>
              </a:lnSpc>
              <a:spcBef>
                <a:spcPts val="600"/>
              </a:spcBef>
              <a:buClr>
                <a:srgbClr val="0B61FF"/>
              </a:buClr>
              <a:buSzPct val="120000"/>
            </a:pPr>
            <a:r>
              <a:rPr lang="en-US" altLang="zh-CN" sz="2400" b="1" i="1" dirty="0">
                <a:latin typeface="Trebuchet MS" panose="020B0603020202020204" pitchFamily="34" charset="0"/>
              </a:rPr>
              <a:t>     W</a:t>
            </a:r>
            <a:r>
              <a:rPr lang="en-US" altLang="zh-CN" sz="2400" b="1" dirty="0">
                <a:latin typeface="Trebuchet MS" panose="020B0603020202020204" pitchFamily="34" charset="0"/>
              </a:rPr>
              <a:t>(</a:t>
            </a:r>
            <a:r>
              <a:rPr lang="en-US" altLang="zh-CN" sz="2400" b="1" i="1" dirty="0">
                <a:latin typeface="Trebuchet MS" panose="020B0603020202020204" pitchFamily="34" charset="0"/>
              </a:rPr>
              <a:t>T</a:t>
            </a:r>
            <a:r>
              <a:rPr lang="en-US" altLang="zh-CN" sz="2400" b="1" dirty="0">
                <a:latin typeface="Trebuchet MS" panose="020B0603020202020204" pitchFamily="34" charset="0"/>
              </a:rPr>
              <a:t>)=(3000+2000)*</a:t>
            </a:r>
            <a:r>
              <a:rPr lang="en-US" altLang="zh-CN" sz="2400" b="1" dirty="0">
                <a:solidFill>
                  <a:srgbClr val="FF0000"/>
                </a:solidFill>
                <a:latin typeface="Trebuchet MS" panose="020B0603020202020204" pitchFamily="34" charset="0"/>
              </a:rPr>
              <a:t>2</a:t>
            </a:r>
            <a:r>
              <a:rPr lang="en-US" altLang="zh-CN" sz="2400" b="1" dirty="0">
                <a:latin typeface="Trebuchet MS" panose="020B0603020202020204" pitchFamily="34" charset="0"/>
              </a:rPr>
              <a:t>+(1500+1000+1000)*</a:t>
            </a:r>
            <a:r>
              <a:rPr lang="en-US" altLang="zh-CN" sz="2400" b="1" dirty="0">
                <a:solidFill>
                  <a:srgbClr val="FF0000"/>
                </a:solidFill>
                <a:latin typeface="Trebuchet MS" panose="020B0603020202020204" pitchFamily="34" charset="0"/>
              </a:rPr>
              <a:t>3</a:t>
            </a:r>
            <a:r>
              <a:rPr lang="en-US" altLang="zh-CN" sz="2400" b="1" dirty="0">
                <a:latin typeface="Trebuchet MS" panose="020B0603020202020204" pitchFamily="34" charset="0"/>
              </a:rPr>
              <a:t>+500*</a:t>
            </a:r>
            <a:r>
              <a:rPr lang="en-US" altLang="zh-CN" sz="2400" b="1" dirty="0">
                <a:solidFill>
                  <a:srgbClr val="FF0000"/>
                </a:solidFill>
                <a:latin typeface="Trebuchet MS" panose="020B0603020202020204" pitchFamily="34" charset="0"/>
              </a:rPr>
              <a:t>4</a:t>
            </a:r>
            <a:r>
              <a:rPr lang="en-US" altLang="zh-CN" sz="2400" b="1" dirty="0">
                <a:latin typeface="Trebuchet MS" panose="020B0603020202020204" pitchFamily="34" charset="0"/>
              </a:rPr>
              <a:t>+(500+500)*</a:t>
            </a:r>
            <a:r>
              <a:rPr lang="en-US" altLang="zh-CN" sz="2400" b="1" dirty="0">
                <a:solidFill>
                  <a:srgbClr val="FF0000"/>
                </a:solidFill>
                <a:latin typeface="Trebuchet MS" panose="020B0603020202020204" pitchFamily="34" charset="0"/>
              </a:rPr>
              <a:t>5</a:t>
            </a:r>
            <a:r>
              <a:rPr lang="en-US" altLang="zh-CN" sz="2400" b="1" dirty="0">
                <a:latin typeface="Trebuchet MS" panose="020B0603020202020204" pitchFamily="34" charset="0"/>
              </a:rPr>
              <a:t>=27500.</a:t>
            </a:r>
          </a:p>
          <a:p>
            <a:pPr marL="536575" indent="-357188">
              <a:lnSpc>
                <a:spcPct val="120000"/>
              </a:lnSpc>
              <a:spcBef>
                <a:spcPts val="600"/>
              </a:spcBef>
              <a:buClr>
                <a:srgbClr val="0B61FF"/>
              </a:buClr>
              <a:buSzPct val="120000"/>
              <a:buFont typeface="Arial" panose="020B0604020202020204" pitchFamily="34" charset="0"/>
              <a:buChar char="•"/>
              <a:tabLst>
                <a:tab pos="179388" algn="l"/>
              </a:tabLst>
            </a:pPr>
            <a:r>
              <a:rPr lang="en-US" altLang="zh-CN" sz="2400" b="1" dirty="0">
                <a:latin typeface="Trebuchet MS" panose="020B0603020202020204" pitchFamily="34" charset="0"/>
              </a:rPr>
              <a:t>Fixed-length encoding (length 3):</a:t>
            </a:r>
            <a:br>
              <a:rPr lang="en-US" altLang="zh-CN" sz="2400" dirty="0">
                <a:latin typeface="Trebuchet MS" panose="020B0603020202020204" pitchFamily="34" charset="0"/>
              </a:rPr>
            </a:b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10000</a:t>
            </a:r>
            <a:r>
              <a:rPr lang="en-US" altLang="zh-CN" sz="2400" b="1" dirty="0">
                <a:latin typeface="Trebuchet MS" panose="020B0603020202020204" pitchFamily="34" charset="0"/>
              </a:rPr>
              <a:t>*</a:t>
            </a:r>
            <a:r>
              <a:rPr lang="en-US" altLang="zh-CN" sz="2400" b="1" dirty="0">
                <a:solidFill>
                  <a:srgbClr val="FF0000"/>
                </a:solidFill>
                <a:latin typeface="Trebuchet MS" panose="020B0603020202020204" pitchFamily="34" charset="0"/>
              </a:rPr>
              <a:t>3</a:t>
            </a:r>
            <a:r>
              <a:rPr lang="en-US" altLang="zh-CN" sz="2400" b="1" dirty="0">
                <a:latin typeface="Trebuchet MS" panose="020B0603020202020204" pitchFamily="34" charset="0"/>
              </a:rPr>
              <a:t>=30000.</a:t>
            </a:r>
          </a:p>
          <a:p>
            <a:pPr marL="536575" indent="-357188">
              <a:lnSpc>
                <a:spcPct val="120000"/>
              </a:lnSpc>
              <a:spcBef>
                <a:spcPts val="600"/>
              </a:spcBef>
              <a:buClr>
                <a:srgbClr val="0B61FF"/>
              </a:buClr>
              <a:buSzPct val="120000"/>
              <a:buFont typeface="Arial" panose="020B0604020202020204" pitchFamily="34" charset="0"/>
              <a:buChar char="•"/>
            </a:pPr>
            <a:r>
              <a:rPr lang="en-US" altLang="zh-CN" sz="2400" b="1" i="1" dirty="0">
                <a:solidFill>
                  <a:srgbClr val="0B61FF"/>
                </a:solidFill>
                <a:latin typeface="Trebuchet MS" panose="020B0603020202020204" pitchFamily="34" charset="0"/>
              </a:rPr>
              <a:t>Bits saved </a:t>
            </a:r>
            <a:r>
              <a:rPr lang="en-US" altLang="zh-CN" sz="2400" b="1" dirty="0">
                <a:latin typeface="Trebuchet MS" panose="020B0603020202020204" pitchFamily="34" charset="0"/>
              </a:rPr>
              <a:t>by using the optimal prefix code:</a:t>
            </a:r>
            <a:br>
              <a:rPr lang="en-US" altLang="zh-CN" sz="2400" dirty="0">
                <a:latin typeface="Trebuchet MS" panose="020B0603020202020204" pitchFamily="34" charset="0"/>
              </a:rPr>
            </a:br>
            <a:r>
              <a:rPr lang="en-US" altLang="zh-CN" sz="2400" b="1" dirty="0">
                <a:latin typeface="Trebuchet MS" panose="020B0603020202020204" pitchFamily="34" charset="0"/>
              </a:rPr>
              <a:t>30000-27500=2500 </a:t>
            </a:r>
            <a:r>
              <a:rPr lang="zh-CN" altLang="en-US" sz="2400" b="1" dirty="0">
                <a:latin typeface="Trebuchet MS" panose="020B0603020202020204" pitchFamily="34" charset="0"/>
              </a:rPr>
              <a:t>，</a:t>
            </a:r>
            <a:r>
              <a:rPr lang="en-US" altLang="zh-CN" sz="2400" dirty="0">
                <a:latin typeface="Trebuchet MS" panose="020B0603020202020204" pitchFamily="34" charset="0"/>
              </a:rPr>
              <a:t>approximately </a:t>
            </a:r>
            <a:r>
              <a:rPr lang="en-US" altLang="zh-CN" sz="2400" b="1" dirty="0">
                <a:latin typeface="Trebuchet MS" panose="020B0603020202020204" pitchFamily="34" charset="0"/>
              </a:rPr>
              <a:t>8.33% .</a:t>
            </a:r>
          </a:p>
          <a:p>
            <a:pPr marL="630238" indent="-450850">
              <a:lnSpc>
                <a:spcPct val="110000"/>
              </a:lnSpc>
            </a:pPr>
            <a:endParaRPr lang="en-US" altLang="zh-CN" sz="2400" b="1" dirty="0">
              <a:latin typeface="Trebuchet MS" panose="020B0603020202020204" pitchFamily="34" charset="0"/>
            </a:endParaRPr>
          </a:p>
          <a:p>
            <a:pPr marL="630238" indent="-450850">
              <a:lnSpc>
                <a:spcPct val="110000"/>
              </a:lnSpc>
            </a:pP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574696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1000"/>
                                        <p:tgtEl>
                                          <p:spTgt spid="9">
                                            <p:txEl>
                                              <p:pRg st="4" end="4"/>
                                            </p:txEl>
                                          </p:spTgt>
                                        </p:tgtEl>
                                      </p:cBhvr>
                                    </p:animEffect>
                                    <p:anim calcmode="lin" valueType="num">
                                      <p:cBhvr>
                                        <p:cTn id="2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fade">
                                      <p:cBhvr>
                                        <p:cTn id="26" dur="1000"/>
                                        <p:tgtEl>
                                          <p:spTgt spid="9">
                                            <p:txEl>
                                              <p:pRg st="5" end="5"/>
                                            </p:txEl>
                                          </p:spTgt>
                                        </p:tgtEl>
                                      </p:cBhvr>
                                    </p:animEffect>
                                    <p:anim calcmode="lin" valueType="num">
                                      <p:cBhvr>
                                        <p:cTn id="27"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7.2 </a:t>
            </a:r>
            <a:r>
              <a:rPr lang="en-US" altLang="zh-CN" sz="2400" b="1" dirty="0">
                <a:latin typeface="Trebuchet MS" panose="020B0603020202020204" pitchFamily="34" charset="0"/>
                <a:cs typeface="Times New Roman" panose="02020603050405020304" pitchFamily="18" charset="0"/>
              </a:rPr>
              <a:t>Rooted Trees and Their Applications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7.2.1 Rooted Trees and Their Classifications</a:t>
            </a:r>
          </a:p>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7.2.2 Optimal Trees and the Huffman Algorithm</a:t>
            </a:r>
          </a:p>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7.2.3 Optimal Prefix Codes</a:t>
            </a:r>
          </a:p>
          <a:p>
            <a:pPr>
              <a:lnSpc>
                <a:spcPct val="12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7.2.4 Traversals of Rooted Trees and Their Applications</a:t>
            </a:r>
            <a:endParaRPr lang="en-US" sz="2400" dirty="0">
              <a:solidFill>
                <a:srgbClr val="0B61FF"/>
              </a:solidFill>
              <a:latin typeface="Trebuchet MS" panose="020B0603020202020204" pitchFamily="34" charset="0"/>
            </a:endParaRP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err="1">
                <a:latin typeface="Trebuchet MS" panose="020B0603020202020204" pitchFamily="34" charset="0"/>
              </a:rPr>
              <a:t>Inorder</a:t>
            </a:r>
            <a:r>
              <a:rPr lang="en-US" sz="2400" dirty="0">
                <a:latin typeface="Trebuchet MS" panose="020B0603020202020204" pitchFamily="34" charset="0"/>
              </a:rPr>
              <a:t> Traversal, Preorder Traversal, and </a:t>
            </a:r>
            <a:r>
              <a:rPr lang="en-US" sz="2400" dirty="0" err="1">
                <a:latin typeface="Trebuchet MS" panose="020B0603020202020204" pitchFamily="34" charset="0"/>
              </a:rPr>
              <a:t>Postorder</a:t>
            </a:r>
            <a:r>
              <a:rPr lang="en-US" sz="2400" dirty="0">
                <a:latin typeface="Trebuchet MS" panose="020B0603020202020204" pitchFamily="34" charset="0"/>
              </a:rPr>
              <a:t> Traversal</a:t>
            </a: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a:latin typeface="Trebuchet MS" panose="020B0603020202020204" pitchFamily="34" charset="0"/>
              </a:rPr>
              <a:t>Polish Notation and Reverse Polish Notation</a:t>
            </a:r>
          </a:p>
        </p:txBody>
      </p:sp>
    </p:spTree>
    <p:extLst>
      <p:ext uri="{BB962C8B-B14F-4D97-AF65-F5344CB8AC3E}">
        <p14:creationId xmlns:p14="http://schemas.microsoft.com/office/powerpoint/2010/main" val="1068697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7.2.4 Traversals of Rooted Trees and Their Applications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000" b="1" dirty="0">
                <a:latin typeface="Trebuchet MS" panose="020B0603020202020204" pitchFamily="34" charset="0"/>
              </a:rPr>
              <a:t> </a:t>
            </a:r>
            <a:r>
              <a:rPr lang="en-US" altLang="zh-CN" sz="2400" b="1" dirty="0">
                <a:latin typeface="Trebuchet MS" panose="020B0603020202020204" pitchFamily="34" charset="0"/>
              </a:rPr>
              <a:t>Preorder, </a:t>
            </a:r>
            <a:r>
              <a:rPr lang="en-US" altLang="zh-CN" sz="2400" b="1" dirty="0" err="1">
                <a:latin typeface="Trebuchet MS" panose="020B0603020202020204" pitchFamily="34" charset="0"/>
              </a:rPr>
              <a:t>inorder</a:t>
            </a:r>
            <a:r>
              <a:rPr lang="en-US" altLang="zh-CN" sz="2400" b="1" dirty="0">
                <a:latin typeface="Trebuchet MS" panose="020B0603020202020204" pitchFamily="34" charset="0"/>
              </a:rPr>
              <a:t>, and </a:t>
            </a:r>
            <a:r>
              <a:rPr lang="en-US" altLang="zh-CN" sz="2400" b="1" dirty="0" err="1">
                <a:latin typeface="Trebuchet MS" panose="020B0603020202020204" pitchFamily="34" charset="0"/>
              </a:rPr>
              <a:t>postorder</a:t>
            </a:r>
            <a:r>
              <a:rPr lang="en-US" altLang="zh-CN" sz="2400" b="1" dirty="0">
                <a:latin typeface="Trebuchet MS" panose="020B0603020202020204" pitchFamily="34" charset="0"/>
              </a:rPr>
              <a:t> of an ordered rooted tree</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49298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Traversing (Touring) a </a:t>
            </a:r>
            <a:r>
              <a:rPr lang="en-US" sz="2400" b="1" i="1" dirty="0">
                <a:solidFill>
                  <a:srgbClr val="0B61FF"/>
                </a:solidFill>
                <a:latin typeface="Trebuchet MS" panose="020B0603020202020204" pitchFamily="34" charset="0"/>
              </a:rPr>
              <a:t>Rooted Tree</a:t>
            </a:r>
            <a:r>
              <a:rPr lang="en-US" sz="2400"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Visiting each vertex of a rooted tree exactly once.</a:t>
            </a:r>
          </a:p>
          <a:p>
            <a:pPr>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Traversal methods for a </a:t>
            </a:r>
            <a:r>
              <a:rPr lang="en-US" sz="2400" b="1" i="1" dirty="0">
                <a:solidFill>
                  <a:srgbClr val="0B61FF"/>
                </a:solidFill>
                <a:latin typeface="Trebuchet MS" panose="020B0603020202020204" pitchFamily="34" charset="0"/>
              </a:rPr>
              <a:t>binary ordered tree</a:t>
            </a:r>
            <a:r>
              <a:rPr lang="en-US" sz="2400" dirty="0">
                <a:latin typeface="Trebuchet MS" panose="020B0603020202020204" pitchFamily="34" charset="0"/>
              </a:rPr>
              <a:t>:</a:t>
            </a:r>
          </a:p>
          <a:p>
            <a:pPr marL="0" indent="268288">
              <a:lnSpc>
                <a:spcPct val="130000"/>
              </a:lnSpc>
              <a:buClr>
                <a:srgbClr val="0B61FF"/>
              </a:buClr>
              <a:buSzPct val="80000"/>
              <a:buNone/>
            </a:pPr>
            <a:r>
              <a:rPr lang="en-US" sz="2400" b="1" dirty="0">
                <a:solidFill>
                  <a:srgbClr val="0B61FF"/>
                </a:solidFill>
                <a:latin typeface="Trebuchet MS" panose="020B0603020202020204" pitchFamily="34" charset="0"/>
              </a:rPr>
              <a:t>(1) </a:t>
            </a:r>
            <a:r>
              <a:rPr lang="en-US" sz="2400" b="1" i="1" dirty="0" err="1">
                <a:solidFill>
                  <a:srgbClr val="0B61FF"/>
                </a:solidFill>
                <a:latin typeface="Trebuchet MS" panose="020B0603020202020204" pitchFamily="34" charset="0"/>
              </a:rPr>
              <a:t>Inorder</a:t>
            </a:r>
            <a:r>
              <a:rPr lang="en-US" sz="2400" b="1" i="1" dirty="0">
                <a:solidFill>
                  <a:srgbClr val="0B61FF"/>
                </a:solidFill>
                <a:latin typeface="Trebuchet MS" panose="020B0603020202020204" pitchFamily="34" charset="0"/>
              </a:rPr>
              <a:t> traversal</a:t>
            </a:r>
            <a:r>
              <a:rPr lang="en-US" sz="2400" dirty="0">
                <a:latin typeface="Trebuchet MS" panose="020B0603020202020204" pitchFamily="34" charset="0"/>
              </a:rPr>
              <a:t>: </a:t>
            </a:r>
            <a:r>
              <a:rPr lang="en-US" sz="2400" b="1" dirty="0">
                <a:solidFill>
                  <a:srgbClr val="FF0000"/>
                </a:solidFill>
                <a:latin typeface="Trebuchet MS" panose="020B0603020202020204" pitchFamily="34" charset="0"/>
              </a:rPr>
              <a:t>L</a:t>
            </a:r>
            <a:r>
              <a:rPr lang="en-US" sz="2400" dirty="0">
                <a:latin typeface="Trebuchet MS" panose="020B0603020202020204" pitchFamily="34" charset="0"/>
              </a:rPr>
              <a:t>eft subtree → </a:t>
            </a:r>
            <a:r>
              <a:rPr lang="en-US" sz="2400" b="1" dirty="0">
                <a:latin typeface="Trebuchet MS" panose="020B0603020202020204" pitchFamily="34" charset="0"/>
              </a:rPr>
              <a:t>Root</a:t>
            </a:r>
            <a:r>
              <a:rPr lang="en-US" sz="2400" dirty="0">
                <a:latin typeface="Trebuchet MS" panose="020B0603020202020204" pitchFamily="34" charset="0"/>
              </a:rPr>
              <a:t> → </a:t>
            </a:r>
            <a:r>
              <a:rPr lang="en-US" sz="2400" b="1" dirty="0">
                <a:solidFill>
                  <a:srgbClr val="FF0000"/>
                </a:solidFill>
                <a:latin typeface="Trebuchet MS" panose="020B0603020202020204" pitchFamily="34" charset="0"/>
              </a:rPr>
              <a:t>R</a:t>
            </a:r>
            <a:r>
              <a:rPr lang="en-US" sz="2400" dirty="0">
                <a:latin typeface="Trebuchet MS" panose="020B0603020202020204" pitchFamily="34" charset="0"/>
              </a:rPr>
              <a:t>ight subtree</a:t>
            </a:r>
          </a:p>
          <a:p>
            <a:pPr marL="0" indent="268288">
              <a:lnSpc>
                <a:spcPct val="130000"/>
              </a:lnSpc>
              <a:buClr>
                <a:srgbClr val="0B61FF"/>
              </a:buClr>
              <a:buSzPct val="80000"/>
              <a:buNone/>
            </a:pPr>
            <a:r>
              <a:rPr lang="en-US" sz="2400" b="1" dirty="0">
                <a:solidFill>
                  <a:srgbClr val="0B61FF"/>
                </a:solidFill>
                <a:latin typeface="Trebuchet MS" panose="020B0603020202020204" pitchFamily="34" charset="0"/>
              </a:rPr>
              <a:t>(2)</a:t>
            </a:r>
            <a:r>
              <a:rPr lang="en-US" sz="2400" dirty="0">
                <a:latin typeface="Trebuchet MS" panose="020B0603020202020204" pitchFamily="34" charset="0"/>
              </a:rPr>
              <a:t> </a:t>
            </a:r>
            <a:r>
              <a:rPr lang="en-US" sz="2400" b="1" i="1" dirty="0">
                <a:solidFill>
                  <a:srgbClr val="0B61FF"/>
                </a:solidFill>
                <a:latin typeface="Trebuchet MS" panose="020B0603020202020204" pitchFamily="34" charset="0"/>
              </a:rPr>
              <a:t>Preorder traversal</a:t>
            </a:r>
            <a:r>
              <a:rPr lang="en-US" sz="2400" dirty="0">
                <a:latin typeface="Trebuchet MS" panose="020B0603020202020204" pitchFamily="34" charset="0"/>
              </a:rPr>
              <a:t>: </a:t>
            </a:r>
            <a:r>
              <a:rPr lang="en-US" sz="2400" b="1" dirty="0">
                <a:latin typeface="Trebuchet MS" panose="020B0603020202020204" pitchFamily="34" charset="0"/>
              </a:rPr>
              <a:t>Root</a:t>
            </a:r>
            <a:r>
              <a:rPr lang="en-US" sz="2400" dirty="0">
                <a:latin typeface="Trebuchet MS" panose="020B0603020202020204" pitchFamily="34" charset="0"/>
              </a:rPr>
              <a:t> → </a:t>
            </a:r>
            <a:r>
              <a:rPr lang="en-US" sz="2400" b="1" dirty="0">
                <a:solidFill>
                  <a:srgbClr val="FF0000"/>
                </a:solidFill>
                <a:latin typeface="Trebuchet MS" panose="020B0603020202020204" pitchFamily="34" charset="0"/>
              </a:rPr>
              <a:t>L</a:t>
            </a:r>
            <a:r>
              <a:rPr lang="en-US" sz="2400" dirty="0">
                <a:latin typeface="Trebuchet MS" panose="020B0603020202020204" pitchFamily="34" charset="0"/>
              </a:rPr>
              <a:t>eft subtree → </a:t>
            </a:r>
            <a:r>
              <a:rPr lang="en-US" sz="2400" b="1" dirty="0">
                <a:solidFill>
                  <a:srgbClr val="FF0000"/>
                </a:solidFill>
                <a:latin typeface="Trebuchet MS" panose="020B0603020202020204" pitchFamily="34" charset="0"/>
              </a:rPr>
              <a:t>R</a:t>
            </a:r>
            <a:r>
              <a:rPr lang="en-US" sz="2400" dirty="0">
                <a:latin typeface="Trebuchet MS" panose="020B0603020202020204" pitchFamily="34" charset="0"/>
              </a:rPr>
              <a:t>ight subtree</a:t>
            </a:r>
          </a:p>
          <a:p>
            <a:pPr marL="0" indent="268288">
              <a:lnSpc>
                <a:spcPct val="130000"/>
              </a:lnSpc>
              <a:buClr>
                <a:srgbClr val="0B61FF"/>
              </a:buClr>
              <a:buSzPct val="80000"/>
              <a:buNone/>
            </a:pPr>
            <a:r>
              <a:rPr lang="en-US" sz="2400" b="1" dirty="0">
                <a:solidFill>
                  <a:srgbClr val="0B61FF"/>
                </a:solidFill>
                <a:latin typeface="Trebuchet MS" panose="020B0603020202020204" pitchFamily="34" charset="0"/>
              </a:rPr>
              <a:t>(3)</a:t>
            </a:r>
            <a:r>
              <a:rPr lang="en-US" sz="2400" dirty="0">
                <a:latin typeface="Trebuchet MS" panose="020B0603020202020204" pitchFamily="34" charset="0"/>
              </a:rPr>
              <a:t> </a:t>
            </a:r>
            <a:r>
              <a:rPr lang="en-US" sz="2400" b="1" i="1" dirty="0" err="1">
                <a:solidFill>
                  <a:srgbClr val="0B61FF"/>
                </a:solidFill>
                <a:latin typeface="Trebuchet MS" panose="020B0603020202020204" pitchFamily="34" charset="0"/>
              </a:rPr>
              <a:t>Postorder</a:t>
            </a:r>
            <a:r>
              <a:rPr lang="en-US" sz="2400" b="1" i="1" dirty="0">
                <a:solidFill>
                  <a:srgbClr val="0B61FF"/>
                </a:solidFill>
                <a:latin typeface="Trebuchet MS" panose="020B0603020202020204" pitchFamily="34" charset="0"/>
              </a:rPr>
              <a:t> trave</a:t>
            </a:r>
            <a:r>
              <a:rPr lang="en-US" sz="2400" b="1" dirty="0">
                <a:latin typeface="Trebuchet MS" panose="020B0603020202020204" pitchFamily="34" charset="0"/>
              </a:rPr>
              <a:t>rsal</a:t>
            </a:r>
            <a:r>
              <a:rPr lang="en-US" sz="2400" dirty="0">
                <a:latin typeface="Trebuchet MS" panose="020B0603020202020204" pitchFamily="34" charset="0"/>
              </a:rPr>
              <a:t>: </a:t>
            </a:r>
            <a:r>
              <a:rPr lang="en-US" sz="2400" b="1" dirty="0">
                <a:solidFill>
                  <a:srgbClr val="FF0000"/>
                </a:solidFill>
                <a:latin typeface="Trebuchet MS" panose="020B0603020202020204" pitchFamily="34" charset="0"/>
              </a:rPr>
              <a:t>L</a:t>
            </a:r>
            <a:r>
              <a:rPr lang="en-US" sz="2400" dirty="0">
                <a:latin typeface="Trebuchet MS" panose="020B0603020202020204" pitchFamily="34" charset="0"/>
              </a:rPr>
              <a:t>eft subtree → </a:t>
            </a:r>
            <a:r>
              <a:rPr lang="en-US" sz="2400" b="1" dirty="0">
                <a:solidFill>
                  <a:srgbClr val="FF0000"/>
                </a:solidFill>
                <a:latin typeface="Trebuchet MS" panose="020B0603020202020204" pitchFamily="34" charset="0"/>
              </a:rPr>
              <a:t>R</a:t>
            </a:r>
            <a:r>
              <a:rPr lang="en-US" sz="2400" dirty="0">
                <a:latin typeface="Trebuchet MS" panose="020B0603020202020204" pitchFamily="34" charset="0"/>
              </a:rPr>
              <a:t>ight subtree → </a:t>
            </a:r>
            <a:r>
              <a:rPr lang="en-US" sz="2400" b="1" dirty="0">
                <a:latin typeface="Trebuchet MS" panose="020B0603020202020204" pitchFamily="34" charset="0"/>
              </a:rPr>
              <a:t>Root</a:t>
            </a:r>
          </a:p>
          <a:p>
            <a:pPr marL="446088" indent="-174625">
              <a:lnSpc>
                <a:spcPct val="130000"/>
              </a:lnSpc>
              <a:buClr>
                <a:srgbClr val="0B61FF"/>
              </a:buClr>
              <a:buSzPct val="120000"/>
            </a:pPr>
            <a:r>
              <a:rPr lang="en-US" sz="2400" dirty="0">
                <a:latin typeface="Trebuchet MS" panose="020B0603020202020204" pitchFamily="34" charset="0"/>
              </a:rPr>
              <a:t>When the binary ordered tree is not a full (regular) tree, the left or right subtree may be absent.</a:t>
            </a:r>
          </a:p>
          <a:p>
            <a:pPr marL="804863" indent="-179388">
              <a:buClr>
                <a:srgbClr val="0B61FF"/>
              </a:buClr>
              <a:buSzPct val="120000"/>
            </a:pPr>
            <a:endParaRPr lang="en-US" sz="2400" dirty="0">
              <a:latin typeface="Trebuchet MS" panose="020B0603020202020204" pitchFamily="34" charset="0"/>
            </a:endParaRPr>
          </a:p>
          <a:p>
            <a:pPr marL="804863" indent="-179388">
              <a:buClr>
                <a:srgbClr val="0B61FF"/>
              </a:buClr>
              <a:buSzPct val="120000"/>
            </a:pPr>
            <a:endParaRPr lang="en-US" sz="2400" dirty="0">
              <a:latin typeface="Trebuchet MS" panose="020B0603020202020204" pitchFamily="34" charset="0"/>
            </a:endParaRPr>
          </a:p>
        </p:txBody>
      </p:sp>
    </p:spTree>
    <p:extLst>
      <p:ext uri="{BB962C8B-B14F-4D97-AF65-F5344CB8AC3E}">
        <p14:creationId xmlns:p14="http://schemas.microsoft.com/office/powerpoint/2010/main" val="26039845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7.2.4 Traversals of Rooted Trees and Their Applications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000" b="1" dirty="0">
                <a:latin typeface="Trebuchet MS" panose="020B0603020202020204" pitchFamily="34" charset="0"/>
              </a:rPr>
              <a:t> </a:t>
            </a:r>
            <a:r>
              <a:rPr lang="en-US" altLang="zh-CN" sz="2400" b="1" dirty="0">
                <a:latin typeface="Trebuchet MS" panose="020B0603020202020204" pitchFamily="34" charset="0"/>
              </a:rPr>
              <a:t>Preorder, </a:t>
            </a:r>
            <a:r>
              <a:rPr lang="en-US" altLang="zh-CN" sz="2400" b="1" dirty="0" err="1">
                <a:latin typeface="Trebuchet MS" panose="020B0603020202020204" pitchFamily="34" charset="0"/>
              </a:rPr>
              <a:t>inorder</a:t>
            </a:r>
            <a:r>
              <a:rPr lang="en-US" altLang="zh-CN" sz="2400" b="1" dirty="0">
                <a:latin typeface="Trebuchet MS" panose="020B0603020202020204" pitchFamily="34" charset="0"/>
              </a:rPr>
              <a:t>, and </a:t>
            </a:r>
            <a:r>
              <a:rPr lang="en-US" altLang="zh-CN" sz="2400" b="1" dirty="0" err="1">
                <a:latin typeface="Trebuchet MS" panose="020B0603020202020204" pitchFamily="34" charset="0"/>
              </a:rPr>
              <a:t>postorder</a:t>
            </a:r>
            <a:r>
              <a:rPr lang="en-US" altLang="zh-CN" sz="2400" b="1" dirty="0">
                <a:latin typeface="Trebuchet MS" panose="020B0603020202020204" pitchFamily="34" charset="0"/>
              </a:rPr>
              <a:t> of an ordered rooted tree(</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文本框 10">
            <a:extLst>
              <a:ext uri="{FF2B5EF4-FFF2-40B4-BE49-F238E27FC236}">
                <a16:creationId xmlns:a16="http://schemas.microsoft.com/office/drawing/2014/main" id="{CD1033EA-696A-48BA-A582-A96A6DA31C21}"/>
              </a:ext>
            </a:extLst>
          </p:cNvPr>
          <p:cNvSpPr txBox="1"/>
          <p:nvPr/>
        </p:nvSpPr>
        <p:spPr>
          <a:xfrm>
            <a:off x="824682" y="1024268"/>
            <a:ext cx="6470640" cy="4114249"/>
          </a:xfrm>
          <a:prstGeom prst="rect">
            <a:avLst/>
          </a:prstGeom>
          <a:noFill/>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en-US" sz="2400" dirty="0">
                <a:latin typeface="Trebuchet MS" panose="020B0603020202020204" pitchFamily="34" charset="0"/>
              </a:rPr>
              <a:t>: The traversal results of the tree on the right are:</a:t>
            </a:r>
          </a:p>
          <a:p>
            <a:pPr indent="179388">
              <a:lnSpc>
                <a:spcPct val="120000"/>
              </a:lnSpc>
              <a:spcBef>
                <a:spcPts val="600"/>
              </a:spcBef>
              <a:buClr>
                <a:srgbClr val="0B61FF"/>
              </a:buClr>
              <a:buSzPct val="80000"/>
            </a:pPr>
            <a:r>
              <a:rPr lang="en-US" sz="2400" b="1" dirty="0">
                <a:solidFill>
                  <a:srgbClr val="0B61FF"/>
                </a:solidFill>
                <a:latin typeface="Trebuchet MS" panose="020B0603020202020204" pitchFamily="34" charset="0"/>
              </a:rPr>
              <a:t>(1) </a:t>
            </a:r>
            <a:r>
              <a:rPr lang="en-US" sz="2400" b="1" dirty="0" err="1">
                <a:latin typeface="Trebuchet MS" panose="020B0603020202020204" pitchFamily="34" charset="0"/>
              </a:rPr>
              <a:t>Inorder</a:t>
            </a:r>
            <a:r>
              <a:rPr lang="en-US" sz="2400" b="1" dirty="0">
                <a:latin typeface="Trebuchet MS" panose="020B0603020202020204" pitchFamily="34" charset="0"/>
              </a:rPr>
              <a:t> traversal</a:t>
            </a:r>
            <a:r>
              <a:rPr lang="en-US" sz="2400" dirty="0">
                <a:latin typeface="Trebuchet MS" panose="020B0603020202020204" pitchFamily="34" charset="0"/>
              </a:rPr>
              <a:t>:    </a:t>
            </a:r>
            <a:r>
              <a:rPr lang="en-US" sz="2400" b="1" i="1" dirty="0">
                <a:latin typeface="Trebuchet MS" panose="020B0603020202020204" pitchFamily="34" charset="0"/>
              </a:rPr>
              <a:t>b </a:t>
            </a:r>
            <a:r>
              <a:rPr lang="en-US" sz="2400" b="1" i="1" u="sng" dirty="0">
                <a:latin typeface="Trebuchet MS" panose="020B0603020202020204" pitchFamily="34" charset="0"/>
              </a:rPr>
              <a:t>a</a:t>
            </a:r>
            <a:r>
              <a:rPr lang="en-US" sz="2400" b="1" i="1" dirty="0">
                <a:latin typeface="Trebuchet MS" panose="020B0603020202020204" pitchFamily="34" charset="0"/>
              </a:rPr>
              <a:t> </a:t>
            </a:r>
            <a:r>
              <a:rPr lang="en-US" sz="2400" b="1" dirty="0">
                <a:latin typeface="Trebuchet MS" panose="020B0603020202020204" pitchFamily="34" charset="0"/>
              </a:rPr>
              <a:t>(</a:t>
            </a:r>
            <a:r>
              <a:rPr lang="en-US" sz="2400" b="1" i="1" dirty="0">
                <a:latin typeface="Trebuchet MS" panose="020B0603020202020204" pitchFamily="34" charset="0"/>
              </a:rPr>
              <a:t>f </a:t>
            </a:r>
            <a:r>
              <a:rPr lang="en-US" sz="2400" b="1" i="1" u="sng" dirty="0">
                <a:latin typeface="Trebuchet MS" panose="020B0603020202020204" pitchFamily="34" charset="0"/>
              </a:rPr>
              <a:t>d</a:t>
            </a:r>
            <a:r>
              <a:rPr lang="en-US" sz="2400" b="1" i="1" dirty="0">
                <a:latin typeface="Trebuchet MS" panose="020B0603020202020204" pitchFamily="34" charset="0"/>
              </a:rPr>
              <a:t> g</a:t>
            </a:r>
            <a:r>
              <a:rPr lang="en-US" sz="2400" b="1" dirty="0">
                <a:latin typeface="Trebuchet MS" panose="020B0603020202020204" pitchFamily="34" charset="0"/>
              </a:rPr>
              <a:t>)</a:t>
            </a:r>
            <a:r>
              <a:rPr lang="en-US" sz="2400" b="1" i="1" dirty="0">
                <a:latin typeface="Trebuchet MS" panose="020B0603020202020204" pitchFamily="34" charset="0"/>
              </a:rPr>
              <a:t> </a:t>
            </a:r>
            <a:r>
              <a:rPr lang="en-US" sz="2400" b="1" i="1" u="sng" dirty="0">
                <a:latin typeface="Trebuchet MS" panose="020B0603020202020204" pitchFamily="34" charset="0"/>
              </a:rPr>
              <a:t>c</a:t>
            </a:r>
            <a:r>
              <a:rPr lang="en-US" sz="2400" b="1" i="1" dirty="0">
                <a:latin typeface="Trebuchet MS" panose="020B0603020202020204" pitchFamily="34" charset="0"/>
              </a:rPr>
              <a:t> e</a:t>
            </a:r>
          </a:p>
          <a:p>
            <a:pPr indent="179388">
              <a:lnSpc>
                <a:spcPct val="120000"/>
              </a:lnSpc>
              <a:spcBef>
                <a:spcPts val="600"/>
              </a:spcBef>
              <a:buClr>
                <a:srgbClr val="0B61FF"/>
              </a:buClr>
              <a:buSzPct val="80000"/>
            </a:pPr>
            <a:r>
              <a:rPr lang="en-US" sz="2400" b="1" dirty="0">
                <a:solidFill>
                  <a:srgbClr val="0B61FF"/>
                </a:solidFill>
                <a:latin typeface="Trebuchet MS" panose="020B0603020202020204" pitchFamily="34" charset="0"/>
              </a:rPr>
              <a:t>(2) </a:t>
            </a:r>
            <a:r>
              <a:rPr lang="en-US" sz="2400" b="1" dirty="0">
                <a:latin typeface="Trebuchet MS" panose="020B0603020202020204" pitchFamily="34" charset="0"/>
              </a:rPr>
              <a:t>Preorder traversal</a:t>
            </a:r>
            <a:r>
              <a:rPr lang="en-US" sz="2400" dirty="0">
                <a:latin typeface="Trebuchet MS" panose="020B0603020202020204" pitchFamily="34" charset="0"/>
              </a:rPr>
              <a:t>:  </a:t>
            </a:r>
            <a:r>
              <a:rPr lang="en-US" sz="2400" b="1" i="1" u="sng" dirty="0">
                <a:latin typeface="Trebuchet MS" panose="020B0603020202020204" pitchFamily="34" charset="0"/>
              </a:rPr>
              <a:t>a</a:t>
            </a:r>
            <a:r>
              <a:rPr lang="en-US" sz="2400" b="1" i="1" dirty="0">
                <a:latin typeface="Trebuchet MS" panose="020B0603020202020204" pitchFamily="34" charset="0"/>
              </a:rPr>
              <a:t> b </a:t>
            </a:r>
            <a:r>
              <a:rPr lang="en-US" sz="2400" b="1" dirty="0">
                <a:latin typeface="Trebuchet MS" panose="020B0603020202020204" pitchFamily="34" charset="0"/>
              </a:rPr>
              <a:t>(</a:t>
            </a:r>
            <a:r>
              <a:rPr lang="en-US" sz="2400" b="1" i="1" u="sng" dirty="0">
                <a:latin typeface="Trebuchet MS" panose="020B0603020202020204" pitchFamily="34" charset="0"/>
              </a:rPr>
              <a:t>c</a:t>
            </a:r>
            <a:r>
              <a:rPr lang="en-US" sz="2400" b="1" i="1" dirty="0">
                <a:latin typeface="Trebuchet MS" panose="020B0603020202020204" pitchFamily="34" charset="0"/>
              </a:rPr>
              <a:t> </a:t>
            </a:r>
            <a:r>
              <a:rPr lang="en-US" sz="2400" b="1" dirty="0">
                <a:latin typeface="Trebuchet MS" panose="020B0603020202020204" pitchFamily="34" charset="0"/>
              </a:rPr>
              <a:t>(</a:t>
            </a:r>
            <a:r>
              <a:rPr lang="en-US" sz="2400" b="1" i="1" u="sng" dirty="0">
                <a:latin typeface="Trebuchet MS" panose="020B0603020202020204" pitchFamily="34" charset="0"/>
              </a:rPr>
              <a:t>d</a:t>
            </a:r>
            <a:r>
              <a:rPr lang="en-US" sz="2400" b="1" i="1" dirty="0">
                <a:latin typeface="Trebuchet MS" panose="020B0603020202020204" pitchFamily="34" charset="0"/>
              </a:rPr>
              <a:t> f g</a:t>
            </a:r>
            <a:r>
              <a:rPr lang="en-US" sz="2400" b="1" dirty="0">
                <a:latin typeface="Trebuchet MS" panose="020B0603020202020204" pitchFamily="34" charset="0"/>
              </a:rPr>
              <a:t>)</a:t>
            </a:r>
            <a:r>
              <a:rPr lang="en-US" sz="2400" b="1" i="1" dirty="0">
                <a:latin typeface="Trebuchet MS" panose="020B0603020202020204" pitchFamily="34" charset="0"/>
              </a:rPr>
              <a:t> e</a:t>
            </a:r>
            <a:r>
              <a:rPr lang="en-US" sz="2400" b="1" dirty="0">
                <a:latin typeface="Trebuchet MS" panose="020B0603020202020204" pitchFamily="34" charset="0"/>
              </a:rPr>
              <a:t>)</a:t>
            </a:r>
          </a:p>
          <a:p>
            <a:pPr indent="179388">
              <a:lnSpc>
                <a:spcPct val="120000"/>
              </a:lnSpc>
              <a:spcBef>
                <a:spcPts val="600"/>
              </a:spcBef>
              <a:buClr>
                <a:srgbClr val="0B61FF"/>
              </a:buClr>
              <a:buSzPct val="80000"/>
            </a:pPr>
            <a:r>
              <a:rPr lang="en-US" sz="2400" b="1" dirty="0">
                <a:solidFill>
                  <a:srgbClr val="0B61FF"/>
                </a:solidFill>
                <a:latin typeface="Trebuchet MS" panose="020B0603020202020204" pitchFamily="34" charset="0"/>
              </a:rPr>
              <a:t>(3) </a:t>
            </a:r>
            <a:r>
              <a:rPr lang="en-US" sz="2400" b="1" dirty="0" err="1">
                <a:latin typeface="Trebuchet MS" panose="020B0603020202020204" pitchFamily="34" charset="0"/>
              </a:rPr>
              <a:t>Postorder</a:t>
            </a:r>
            <a:r>
              <a:rPr lang="en-US" sz="2400" b="1" dirty="0">
                <a:latin typeface="Trebuchet MS" panose="020B0603020202020204" pitchFamily="34" charset="0"/>
              </a:rPr>
              <a:t> traversal</a:t>
            </a:r>
            <a:r>
              <a:rPr lang="en-US" sz="2400" dirty="0">
                <a:latin typeface="Trebuchet MS" panose="020B0603020202020204" pitchFamily="34" charset="0"/>
              </a:rPr>
              <a:t>: </a:t>
            </a:r>
            <a:r>
              <a:rPr lang="en-US" sz="2400" b="1" i="1" dirty="0">
                <a:latin typeface="Trebuchet MS" panose="020B0603020202020204" pitchFamily="34" charset="0"/>
              </a:rPr>
              <a:t>b </a:t>
            </a:r>
            <a:r>
              <a:rPr lang="en-US" sz="2400" b="1" dirty="0">
                <a:latin typeface="Trebuchet MS" panose="020B0603020202020204" pitchFamily="34" charset="0"/>
              </a:rPr>
              <a:t>((</a:t>
            </a:r>
            <a:r>
              <a:rPr lang="en-US" sz="2400" b="1" i="1" dirty="0">
                <a:latin typeface="Trebuchet MS" panose="020B0603020202020204" pitchFamily="34" charset="0"/>
              </a:rPr>
              <a:t>f g </a:t>
            </a:r>
            <a:r>
              <a:rPr lang="en-US" sz="2400" b="1" i="1" u="sng" dirty="0">
                <a:latin typeface="Trebuchet MS" panose="020B0603020202020204" pitchFamily="34" charset="0"/>
              </a:rPr>
              <a:t>d</a:t>
            </a:r>
            <a:r>
              <a:rPr lang="en-US" sz="2400" b="1" i="1" dirty="0">
                <a:latin typeface="Trebuchet MS" panose="020B0603020202020204" pitchFamily="34" charset="0"/>
              </a:rPr>
              <a:t>) e </a:t>
            </a:r>
            <a:r>
              <a:rPr lang="en-US" sz="2400" b="1" i="1" u="sng" dirty="0">
                <a:latin typeface="Trebuchet MS" panose="020B0603020202020204" pitchFamily="34" charset="0"/>
              </a:rPr>
              <a:t>c</a:t>
            </a:r>
            <a:r>
              <a:rPr lang="en-US" sz="2400" b="1" dirty="0">
                <a:latin typeface="Trebuchet MS" panose="020B0603020202020204" pitchFamily="34" charset="0"/>
              </a:rPr>
              <a:t>)</a:t>
            </a:r>
            <a:r>
              <a:rPr lang="en-US" sz="2400" b="1" i="1" dirty="0">
                <a:latin typeface="Trebuchet MS" panose="020B0603020202020204" pitchFamily="34" charset="0"/>
              </a:rPr>
              <a:t> </a:t>
            </a:r>
            <a:r>
              <a:rPr lang="en-US" sz="2400" b="1" i="1" u="sng" dirty="0">
                <a:latin typeface="Trebuchet MS" panose="020B0603020202020204" pitchFamily="34" charset="0"/>
              </a:rPr>
              <a:t>a</a:t>
            </a:r>
          </a:p>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Note: </a:t>
            </a:r>
            <a:r>
              <a:rPr lang="en-US" sz="2400" dirty="0">
                <a:latin typeface="Trebuchet MS" panose="020B0603020202020204" pitchFamily="34" charset="0"/>
              </a:rPr>
              <a:t>Underlined nodes are (sub)tree roots, and each pair of parentheses encloses a subtree.</a:t>
            </a:r>
          </a:p>
        </p:txBody>
      </p:sp>
      <p:pic>
        <p:nvPicPr>
          <p:cNvPr id="12" name="Picture 4" descr="16-12">
            <a:extLst>
              <a:ext uri="{FF2B5EF4-FFF2-40B4-BE49-F238E27FC236}">
                <a16:creationId xmlns:a16="http://schemas.microsoft.com/office/drawing/2014/main" id="{C04363A7-63A8-4FD9-A5C7-700848A398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33833"/>
          <a:stretch>
            <a:fillRect/>
          </a:stretch>
        </p:blipFill>
        <p:spPr bwMode="auto">
          <a:xfrm>
            <a:off x="7901195" y="1347935"/>
            <a:ext cx="192246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9165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2" end="2"/>
                                            </p:txEl>
                                          </p:spTgt>
                                        </p:tgtEl>
                                        <p:attrNameLst>
                                          <p:attrName>style.visibility</p:attrName>
                                        </p:attrNameLst>
                                      </p:cBhvr>
                                      <p:to>
                                        <p:strVal val="visible"/>
                                      </p:to>
                                    </p:set>
                                    <p:animEffect transition="in" filter="fade">
                                      <p:cBhvr>
                                        <p:cTn id="14" dur="1000"/>
                                        <p:tgtEl>
                                          <p:spTgt spid="11">
                                            <p:txEl>
                                              <p:pRg st="2" end="2"/>
                                            </p:txEl>
                                          </p:spTgt>
                                        </p:tgtEl>
                                      </p:cBhvr>
                                    </p:animEffect>
                                    <p:anim calcmode="lin" valueType="num">
                                      <p:cBhvr>
                                        <p:cTn id="15"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Effect transition="in" filter="fade">
                                      <p:cBhvr>
                                        <p:cTn id="21" dur="1000"/>
                                        <p:tgtEl>
                                          <p:spTgt spid="11">
                                            <p:txEl>
                                              <p:pRg st="3" end="3"/>
                                            </p:txEl>
                                          </p:spTgt>
                                        </p:tgtEl>
                                      </p:cBhvr>
                                    </p:animEffect>
                                    <p:anim calcmode="lin" valueType="num">
                                      <p:cBhvr>
                                        <p:cTn id="22"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xEl>
                                              <p:pRg st="4" end="4"/>
                                            </p:txEl>
                                          </p:spTgt>
                                        </p:tgtEl>
                                        <p:attrNameLst>
                                          <p:attrName>style.visibility</p:attrName>
                                        </p:attrNameLst>
                                      </p:cBhvr>
                                      <p:to>
                                        <p:strVal val="visible"/>
                                      </p:to>
                                    </p:set>
                                    <p:animEffect transition="in" filter="fade">
                                      <p:cBhvr>
                                        <p:cTn id="28" dur="1000"/>
                                        <p:tgtEl>
                                          <p:spTgt spid="11">
                                            <p:txEl>
                                              <p:pRg st="4" end="4"/>
                                            </p:txEl>
                                          </p:spTgt>
                                        </p:tgtEl>
                                      </p:cBhvr>
                                    </p:animEffect>
                                    <p:anim calcmode="lin" valueType="num">
                                      <p:cBhvr>
                                        <p:cTn id="29"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7.2.4 Traversals of Rooted Trees and Their Applications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b="1" dirty="0">
                <a:latin typeface="Trebuchet MS" panose="020B0603020202020204" pitchFamily="34" charset="0"/>
              </a:rPr>
              <a:t> </a:t>
            </a:r>
            <a:r>
              <a:rPr lang="en-US" altLang="zh-CN" sz="2400" b="1" dirty="0">
                <a:latin typeface="Trebuchet MS" panose="020B0603020202020204" pitchFamily="34" charset="0"/>
              </a:rPr>
              <a:t>Expression Tree Construction Rules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p>
        </p:txBody>
      </p:sp>
      <p:sp>
        <p:nvSpPr>
          <p:cNvPr id="17" name="Rectangle 3">
            <a:extLst>
              <a:ext uri="{FF2B5EF4-FFF2-40B4-BE49-F238E27FC236}">
                <a16:creationId xmlns:a16="http://schemas.microsoft.com/office/drawing/2014/main" id="{DA41384C-2D2A-450E-AA37-2318F4643BF0}"/>
              </a:ext>
            </a:extLst>
          </p:cNvPr>
          <p:cNvSpPr txBox="1">
            <a:spLocks noChangeArrowheads="1"/>
          </p:cNvSpPr>
          <p:nvPr/>
        </p:nvSpPr>
        <p:spPr>
          <a:xfrm>
            <a:off x="824683" y="727684"/>
            <a:ext cx="8706944" cy="52006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7675" indent="-447675" eaLnBrk="1" hangingPunct="1">
              <a:lnSpc>
                <a:spcPct val="130000"/>
              </a:lnSpc>
              <a:spcBef>
                <a:spcPts val="0"/>
              </a:spcBef>
              <a:buFont typeface="Wingdings" panose="05000000000000000000" pitchFamily="2" charset="2"/>
              <a:buNone/>
            </a:pPr>
            <a:r>
              <a:rPr lang="en-US" sz="2400" b="1" dirty="0">
                <a:solidFill>
                  <a:srgbClr val="0B61FF"/>
                </a:solidFill>
                <a:latin typeface="Trebuchet MS" panose="020B0603020202020204" pitchFamily="34" charset="0"/>
              </a:rPr>
              <a:t>① </a:t>
            </a:r>
            <a:r>
              <a:rPr lang="en-US" sz="2400" dirty="0">
                <a:latin typeface="Trebuchet MS" panose="020B0603020202020204" pitchFamily="34" charset="0"/>
              </a:rPr>
              <a:t>Place an </a:t>
            </a:r>
            <a:r>
              <a:rPr lang="en-US" sz="2400" b="1" dirty="0">
                <a:latin typeface="Trebuchet MS" panose="020B0603020202020204" pitchFamily="34" charset="0"/>
              </a:rPr>
              <a:t>operator</a:t>
            </a:r>
            <a:r>
              <a:rPr lang="en-US" sz="2400" dirty="0">
                <a:latin typeface="Trebuchet MS" panose="020B0603020202020204" pitchFamily="34" charset="0"/>
              </a:rPr>
              <a:t> at each branching node.</a:t>
            </a:r>
          </a:p>
          <a:p>
            <a:pPr marL="447675" indent="-447675" eaLnBrk="1" hangingPunct="1">
              <a:lnSpc>
                <a:spcPct val="130000"/>
              </a:lnSpc>
              <a:spcBef>
                <a:spcPts val="0"/>
              </a:spcBef>
              <a:buFont typeface="Wingdings" panose="05000000000000000000" pitchFamily="2" charset="2"/>
              <a:buNone/>
            </a:pPr>
            <a:r>
              <a:rPr lang="en-US" sz="2400" b="1" dirty="0">
                <a:solidFill>
                  <a:srgbClr val="0B61FF"/>
                </a:solidFill>
                <a:latin typeface="Trebuchet MS" panose="020B0603020202020204" pitchFamily="34" charset="0"/>
              </a:rPr>
              <a:t>② </a:t>
            </a:r>
            <a:r>
              <a:rPr lang="en-US" sz="2400" dirty="0">
                <a:latin typeface="Trebuchet MS" panose="020B0603020202020204" pitchFamily="34" charset="0"/>
              </a:rPr>
              <a:t>A </a:t>
            </a:r>
            <a:r>
              <a:rPr lang="en-US" sz="2400" b="1" dirty="0">
                <a:latin typeface="Trebuchet MS" panose="020B0603020202020204" pitchFamily="34" charset="0"/>
              </a:rPr>
              <a:t>binary operator</a:t>
            </a:r>
            <a:r>
              <a:rPr lang="en-US" sz="2400" dirty="0">
                <a:latin typeface="Trebuchet MS" panose="020B0603020202020204" pitchFamily="34" charset="0"/>
              </a:rPr>
              <a:t> node has two children. The operation applies to the subexpressions represented by the left and right subtrees. By convention, the </a:t>
            </a:r>
            <a:r>
              <a:rPr lang="en-US" sz="2400" b="1" dirty="0">
                <a:latin typeface="Trebuchet MS" panose="020B0603020202020204" pitchFamily="34" charset="0"/>
              </a:rPr>
              <a:t>minuend</a:t>
            </a:r>
            <a:r>
              <a:rPr lang="en-US" sz="2400" dirty="0">
                <a:latin typeface="Trebuchet MS" panose="020B0603020202020204" pitchFamily="34" charset="0"/>
              </a:rPr>
              <a:t> or </a:t>
            </a:r>
            <a:r>
              <a:rPr lang="en-US" sz="2400" b="1" dirty="0">
                <a:latin typeface="Trebuchet MS" panose="020B0603020202020204" pitchFamily="34" charset="0"/>
              </a:rPr>
              <a:t>dividend</a:t>
            </a:r>
            <a:r>
              <a:rPr lang="en-US" sz="2400" dirty="0">
                <a:latin typeface="Trebuchet MS" panose="020B0603020202020204" pitchFamily="34" charset="0"/>
              </a:rPr>
              <a:t> is placed in the </a:t>
            </a:r>
            <a:r>
              <a:rPr lang="en-US" sz="2400" b="1" dirty="0">
                <a:latin typeface="Trebuchet MS" panose="020B0603020202020204" pitchFamily="34" charset="0"/>
              </a:rPr>
              <a:t>left subtree</a:t>
            </a:r>
            <a:r>
              <a:rPr lang="en-US" sz="2400" dirty="0">
                <a:latin typeface="Trebuchet MS" panose="020B0603020202020204" pitchFamily="34" charset="0"/>
              </a:rPr>
              <a:t>.</a:t>
            </a:r>
          </a:p>
          <a:p>
            <a:pPr marL="447675" indent="-447675" eaLnBrk="1" hangingPunct="1">
              <a:lnSpc>
                <a:spcPct val="130000"/>
              </a:lnSpc>
              <a:spcBef>
                <a:spcPts val="0"/>
              </a:spcBef>
              <a:buFont typeface="Wingdings" panose="05000000000000000000" pitchFamily="2" charset="2"/>
              <a:buNone/>
            </a:pPr>
            <a:r>
              <a:rPr lang="en-US" sz="2400" b="1" dirty="0">
                <a:solidFill>
                  <a:srgbClr val="0B61FF"/>
                </a:solidFill>
                <a:latin typeface="Trebuchet MS" panose="020B0603020202020204" pitchFamily="34" charset="0"/>
              </a:rPr>
              <a:t>③ </a:t>
            </a:r>
            <a:r>
              <a:rPr lang="en-US" sz="2400" dirty="0">
                <a:latin typeface="Trebuchet MS" panose="020B0603020202020204" pitchFamily="34" charset="0"/>
              </a:rPr>
              <a:t>A </a:t>
            </a:r>
            <a:r>
              <a:rPr lang="en-US" sz="2400" b="1" dirty="0">
                <a:latin typeface="Trebuchet MS" panose="020B0603020202020204" pitchFamily="34" charset="0"/>
              </a:rPr>
              <a:t>unary operator</a:t>
            </a:r>
            <a:r>
              <a:rPr lang="en-US" sz="2400" dirty="0">
                <a:latin typeface="Trebuchet MS" panose="020B0603020202020204" pitchFamily="34" charset="0"/>
              </a:rPr>
              <a:t> node has only one child. The operation applies to the subexpression represented by the subtree rooted at that child.</a:t>
            </a:r>
          </a:p>
          <a:p>
            <a:pPr marL="447675" indent="-447675" eaLnBrk="1" hangingPunct="1">
              <a:lnSpc>
                <a:spcPct val="130000"/>
              </a:lnSpc>
              <a:spcBef>
                <a:spcPts val="0"/>
              </a:spcBef>
              <a:buFont typeface="Wingdings" panose="05000000000000000000" pitchFamily="2" charset="2"/>
              <a:buNone/>
            </a:pPr>
            <a:r>
              <a:rPr lang="en-US" sz="2400" b="1" dirty="0">
                <a:solidFill>
                  <a:srgbClr val="0B61FF"/>
                </a:solidFill>
                <a:latin typeface="Trebuchet MS" panose="020B0603020202020204" pitchFamily="34" charset="0"/>
              </a:rPr>
              <a:t>④ </a:t>
            </a:r>
            <a:r>
              <a:rPr lang="en-US" sz="2400" b="1" dirty="0">
                <a:latin typeface="Trebuchet MS" panose="020B0603020202020204" pitchFamily="34" charset="0"/>
              </a:rPr>
              <a:t>Numbers</a:t>
            </a:r>
            <a:r>
              <a:rPr lang="en-US" sz="2400" dirty="0">
                <a:latin typeface="Trebuchet MS" panose="020B0603020202020204" pitchFamily="34" charset="0"/>
              </a:rPr>
              <a:t> and </a:t>
            </a:r>
            <a:r>
              <a:rPr lang="en-US" sz="2400" b="1" dirty="0">
                <a:latin typeface="Trebuchet MS" panose="020B0603020202020204" pitchFamily="34" charset="0"/>
              </a:rPr>
              <a:t>variables</a:t>
            </a:r>
            <a:r>
              <a:rPr lang="en-US" sz="2400" dirty="0">
                <a:latin typeface="Trebuchet MS" panose="020B0603020202020204" pitchFamily="34" charset="0"/>
              </a:rPr>
              <a:t> are placed at the </a:t>
            </a:r>
            <a:r>
              <a:rPr lang="en-US" sz="2400" b="1" dirty="0">
                <a:latin typeface="Trebuchet MS" panose="020B0603020202020204" pitchFamily="34" charset="0"/>
              </a:rPr>
              <a:t>leaves</a:t>
            </a:r>
            <a:r>
              <a:rPr lang="en-US" sz="2400" dirty="0">
                <a:latin typeface="Trebuchet MS" panose="020B0603020202020204" pitchFamily="34" charset="0"/>
              </a:rPr>
              <a:t> of the tree.</a:t>
            </a:r>
            <a:endParaRPr lang="en-US" altLang="zh-CN" sz="2400" b="1" dirty="0">
              <a:latin typeface="Trebuchet MS" panose="020B0603020202020204" pitchFamily="34" charset="0"/>
            </a:endParaRPr>
          </a:p>
        </p:txBody>
      </p:sp>
    </p:spTree>
    <p:extLst>
      <p:ext uri="{BB962C8B-B14F-4D97-AF65-F5344CB8AC3E}">
        <p14:creationId xmlns:p14="http://schemas.microsoft.com/office/powerpoint/2010/main" val="4252568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7.2.4 Traversals of Rooted Trees and Their Applications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b="1" dirty="0">
                <a:latin typeface="Trebuchet MS" panose="020B0603020202020204" pitchFamily="34" charset="0"/>
              </a:rPr>
              <a:t> </a:t>
            </a:r>
            <a:r>
              <a:rPr lang="en-US" altLang="zh-CN" sz="2400" b="1" dirty="0">
                <a:latin typeface="Trebuchet MS" panose="020B0603020202020204" pitchFamily="34" charset="0"/>
              </a:rPr>
              <a:t>Expression Tree Construction Rules(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p>
        </p:txBody>
      </p:sp>
      <p:sp>
        <p:nvSpPr>
          <p:cNvPr id="19" name="Text Box 4">
            <a:extLst>
              <a:ext uri="{FF2B5EF4-FFF2-40B4-BE49-F238E27FC236}">
                <a16:creationId xmlns:a16="http://schemas.microsoft.com/office/drawing/2014/main" id="{5EB0FC42-C56E-4B9F-B03F-0725BD09DAE7}"/>
              </a:ext>
            </a:extLst>
          </p:cNvPr>
          <p:cNvSpPr txBox="1">
            <a:spLocks noChangeArrowheads="1"/>
          </p:cNvSpPr>
          <p:nvPr/>
        </p:nvSpPr>
        <p:spPr bwMode="auto">
          <a:xfrm>
            <a:off x="1009871" y="1323874"/>
            <a:ext cx="6280693" cy="3645691"/>
          </a:xfrm>
          <a:prstGeom prst="rect">
            <a:avLst/>
          </a:prstGeom>
          <a:noFill/>
          <a:ln>
            <a:noFill/>
          </a:ln>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Example:</a:t>
            </a:r>
          </a:p>
          <a:p>
            <a:pPr marL="447675" indent="-179388">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The diagram on the right is a binary ordered tree representing the expression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c</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d</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e</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g</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h</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i</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rPr>
              <a:t>))</a:t>
            </a:r>
          </a:p>
          <a:p>
            <a:pPr marL="447675" indent="-179388">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The </a:t>
            </a:r>
            <a:r>
              <a:rPr lang="en-US" sz="2400" b="1" dirty="0" err="1">
                <a:latin typeface="Trebuchet MS" panose="020B0603020202020204" pitchFamily="34" charset="0"/>
              </a:rPr>
              <a:t>inorder</a:t>
            </a:r>
            <a:r>
              <a:rPr lang="en-US" sz="2400" b="1" dirty="0">
                <a:latin typeface="Trebuchet MS" panose="020B0603020202020204" pitchFamily="34" charset="0"/>
              </a:rPr>
              <a:t> traversal</a:t>
            </a:r>
            <a:r>
              <a:rPr lang="en-US" sz="2400" dirty="0">
                <a:latin typeface="Trebuchet MS" panose="020B0603020202020204" pitchFamily="34" charset="0"/>
              </a:rPr>
              <a:t> of this binary ordered tree yields the </a:t>
            </a:r>
            <a:r>
              <a:rPr lang="en-US" sz="2400" b="1" dirty="0">
                <a:latin typeface="Trebuchet MS" panose="020B0603020202020204" pitchFamily="34" charset="0"/>
              </a:rPr>
              <a:t>original expression</a:t>
            </a:r>
            <a:r>
              <a:rPr lang="en-US" sz="1400" dirty="0"/>
              <a:t>.</a:t>
            </a:r>
          </a:p>
        </p:txBody>
      </p:sp>
      <p:pic>
        <p:nvPicPr>
          <p:cNvPr id="21" name="Picture 5" descr="16-13">
            <a:extLst>
              <a:ext uri="{FF2B5EF4-FFF2-40B4-BE49-F238E27FC236}">
                <a16:creationId xmlns:a16="http://schemas.microsoft.com/office/drawing/2014/main" id="{FA120379-26E4-4346-9F60-0CC9803D253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239" r="14951" b="47244"/>
          <a:stretch>
            <a:fillRect/>
          </a:stretch>
        </p:blipFill>
        <p:spPr bwMode="auto">
          <a:xfrm>
            <a:off x="7290564" y="1503639"/>
            <a:ext cx="3586897" cy="304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0367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animEffect transition="in" filter="fade">
                                      <p:cBhvr>
                                        <p:cTn id="7" dur="1000"/>
                                        <p:tgtEl>
                                          <p:spTgt spid="19">
                                            <p:txEl>
                                              <p:pRg st="1" end="1"/>
                                            </p:txEl>
                                          </p:spTgt>
                                        </p:tgtEl>
                                      </p:cBhvr>
                                    </p:animEffect>
                                    <p:anim calcmode="lin" valueType="num">
                                      <p:cBhvr>
                                        <p:cTn id="8" dur="10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xEl>
                                              <p:pRg st="2" end="2"/>
                                            </p:txEl>
                                          </p:spTgt>
                                        </p:tgtEl>
                                        <p:attrNameLst>
                                          <p:attrName>style.visibility</p:attrName>
                                        </p:attrNameLst>
                                      </p:cBhvr>
                                      <p:to>
                                        <p:strVal val="visible"/>
                                      </p:to>
                                    </p:set>
                                    <p:animEffect transition="in" filter="fade">
                                      <p:cBhvr>
                                        <p:cTn id="14" dur="1000"/>
                                        <p:tgtEl>
                                          <p:spTgt spid="19">
                                            <p:txEl>
                                              <p:pRg st="2" end="2"/>
                                            </p:txEl>
                                          </p:spTgt>
                                        </p:tgtEl>
                                      </p:cBhvr>
                                    </p:animEffect>
                                    <p:anim calcmode="lin" valueType="num">
                                      <p:cBhvr>
                                        <p:cTn id="15"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7.2.4 Traversals of Rooted Trees and Their Applications</a:t>
            </a:r>
          </a:p>
          <a:p>
            <a:pPr>
              <a:buClr>
                <a:srgbClr val="0B61FF"/>
              </a:buClr>
              <a:buSzPct val="80000"/>
            </a:pP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dirty="0">
                <a:latin typeface="Trebuchet MS" panose="020B0603020202020204" pitchFamily="34" charset="0"/>
              </a:rPr>
              <a:t> </a:t>
            </a:r>
            <a:r>
              <a:rPr lang="en-US" altLang="zh-CN" sz="2400" dirty="0">
                <a:latin typeface="Trebuchet MS" panose="020B0603020202020204" pitchFamily="34" charset="0"/>
              </a:rPr>
              <a:t>Polish and reverse Polish notations of a rooted tree</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p>
        </p:txBody>
      </p:sp>
      <p:sp>
        <p:nvSpPr>
          <p:cNvPr id="11" name="Rectangle 3">
            <a:extLst>
              <a:ext uri="{FF2B5EF4-FFF2-40B4-BE49-F238E27FC236}">
                <a16:creationId xmlns:a16="http://schemas.microsoft.com/office/drawing/2014/main" id="{F72E995F-B430-4DEB-AFC9-6BA4CB0EEDFA}"/>
              </a:ext>
            </a:extLst>
          </p:cNvPr>
          <p:cNvSpPr txBox="1">
            <a:spLocks noChangeArrowheads="1"/>
          </p:cNvSpPr>
          <p:nvPr/>
        </p:nvSpPr>
        <p:spPr>
          <a:xfrm>
            <a:off x="824682" y="754801"/>
            <a:ext cx="8915666" cy="27067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Polish Notation </a:t>
            </a:r>
            <a:r>
              <a:rPr lang="en-US" sz="2400" b="1" dirty="0">
                <a:latin typeface="Trebuchet MS" panose="020B0603020202020204" pitchFamily="34" charset="0"/>
              </a:rPr>
              <a:t>(Prefix Notation):</a:t>
            </a:r>
            <a:br>
              <a:rPr lang="en-US" sz="2400" dirty="0">
                <a:latin typeface="Trebuchet MS" panose="020B0603020202020204" pitchFamily="34" charset="0"/>
              </a:rPr>
            </a:br>
            <a:r>
              <a:rPr lang="en-US" sz="2400" dirty="0">
                <a:latin typeface="Trebuchet MS" panose="020B0603020202020204" pitchFamily="34" charset="0"/>
              </a:rPr>
              <a:t>Traverse the binary ordered tree representing the expression using </a:t>
            </a:r>
            <a:r>
              <a:rPr lang="en-US" sz="2400" b="1" dirty="0">
                <a:latin typeface="Trebuchet MS" panose="020B0603020202020204" pitchFamily="34" charset="0"/>
              </a:rPr>
              <a:t>preorder traversal</a:t>
            </a:r>
            <a:r>
              <a:rPr lang="en-US" sz="2400" dirty="0">
                <a:latin typeface="Trebuchet MS" panose="020B0603020202020204" pitchFamily="34" charset="0"/>
              </a:rPr>
              <a:t>, and omit all parentheses.</a:t>
            </a:r>
          </a:p>
          <a:p>
            <a:pPr>
              <a:lnSpc>
                <a:spcPct val="120000"/>
              </a:lnSpc>
              <a:spcBef>
                <a:spcPts val="30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Reverse Polish Notation </a:t>
            </a:r>
            <a:r>
              <a:rPr lang="en-US" sz="2400" b="1" dirty="0">
                <a:latin typeface="Trebuchet MS" panose="020B0603020202020204" pitchFamily="34" charset="0"/>
              </a:rPr>
              <a:t>(Postfix Notation):</a:t>
            </a:r>
            <a:br>
              <a:rPr lang="en-US" sz="2400" dirty="0">
                <a:latin typeface="Trebuchet MS" panose="020B0603020202020204" pitchFamily="34" charset="0"/>
              </a:rPr>
            </a:br>
            <a:r>
              <a:rPr lang="en-US" sz="2400" dirty="0">
                <a:latin typeface="Trebuchet MS" panose="020B0603020202020204" pitchFamily="34" charset="0"/>
              </a:rPr>
              <a:t>Traverse the binary ordered tree using </a:t>
            </a:r>
            <a:r>
              <a:rPr lang="en-US" sz="2400" b="1" dirty="0" err="1">
                <a:latin typeface="Trebuchet MS" panose="020B0603020202020204" pitchFamily="34" charset="0"/>
              </a:rPr>
              <a:t>postorder</a:t>
            </a:r>
            <a:r>
              <a:rPr lang="en-US" sz="2400" b="1" dirty="0">
                <a:latin typeface="Trebuchet MS" panose="020B0603020202020204" pitchFamily="34" charset="0"/>
              </a:rPr>
              <a:t> traversal</a:t>
            </a:r>
            <a:r>
              <a:rPr lang="en-US" sz="2400" dirty="0">
                <a:latin typeface="Trebuchet MS" panose="020B0603020202020204" pitchFamily="34" charset="0"/>
              </a:rPr>
              <a:t>, and omit all parentheses.</a:t>
            </a:r>
          </a:p>
        </p:txBody>
      </p:sp>
      <p:sp>
        <p:nvSpPr>
          <p:cNvPr id="17" name="文本框 16">
            <a:extLst>
              <a:ext uri="{FF2B5EF4-FFF2-40B4-BE49-F238E27FC236}">
                <a16:creationId xmlns:a16="http://schemas.microsoft.com/office/drawing/2014/main" id="{C0E967E5-B3F3-4B50-85A5-2FD61F058B2D}"/>
              </a:ext>
            </a:extLst>
          </p:cNvPr>
          <p:cNvSpPr txBox="1"/>
          <p:nvPr/>
        </p:nvSpPr>
        <p:spPr>
          <a:xfrm>
            <a:off x="824682" y="3514872"/>
            <a:ext cx="6356602" cy="2904449"/>
          </a:xfrm>
          <a:prstGeom prst="rect">
            <a:avLst/>
          </a:prstGeom>
          <a:noFill/>
        </p:spPr>
        <p:txBody>
          <a:bodyPr wrap="square">
            <a:spAutoFit/>
          </a:bodyPr>
          <a:lstStyle/>
          <a:p>
            <a:pPr marL="268288" indent="-268288">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sz="2400" dirty="0">
                <a:latin typeface="Trebuchet MS" panose="020B0603020202020204" pitchFamily="34" charset="0"/>
              </a:rPr>
              <a:t>The Polish notation and Reverse Polish notation for the expression shown in the diagram on the right are:</a:t>
            </a:r>
          </a:p>
          <a:p>
            <a:pPr marL="342900" indent="-163513">
              <a:lnSpc>
                <a:spcPct val="110000"/>
              </a:lnSpc>
              <a:buClr>
                <a:srgbClr val="0B61FF"/>
              </a:buClr>
              <a:buSzPct val="120000"/>
              <a:buFont typeface="Arial" panose="020B0604020202020204" pitchFamily="34" charset="0"/>
              <a:buChar char="•"/>
            </a:pPr>
            <a:r>
              <a:rPr lang="en-US" sz="2400" dirty="0">
                <a:latin typeface="Trebuchet MS" panose="020B0603020202020204" pitchFamily="34" charset="0"/>
              </a:rPr>
              <a:t>Polish Notation (Prefix):</a:t>
            </a:r>
          </a:p>
          <a:p>
            <a:pPr marL="177800" indent="179388" algn="just">
              <a:lnSpc>
                <a:spcPct val="110000"/>
              </a:lnSpc>
              <a:buClr>
                <a:srgbClr val="0B61FF"/>
              </a:buClr>
              <a:buSzPct val="120000"/>
            </a:pPr>
            <a:r>
              <a:rPr lang="zh-CN" altLang="en-US"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b</a:t>
            </a:r>
            <a:r>
              <a:rPr lang="en-US" altLang="zh-CN" sz="2400" b="1" kern="1500" spc="300" dirty="0" err="1">
                <a:solidFill>
                  <a:srgbClr val="0B61FF"/>
                </a:solidFill>
                <a:latin typeface="Trebuchet MS" panose="020B0603020202020204" pitchFamily="34" charset="0"/>
                <a:cs typeface="Times New Roman" panose="02020603050405020304" pitchFamily="18" charset="0"/>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cda</a:t>
            </a:r>
            <a:r>
              <a:rPr lang="en-US" altLang="zh-CN"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ef</a:t>
            </a:r>
            <a:r>
              <a:rPr lang="en-US" altLang="zh-CN"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kern="1500" spc="300" dirty="0">
                <a:solidFill>
                  <a:srgbClr val="0B61FF"/>
                </a:solidFill>
                <a:latin typeface="Trebuchet MS" panose="020B0603020202020204" pitchFamily="34" charset="0"/>
                <a:cs typeface="Times New Roman" panose="02020603050405020304" pitchFamily="18" charset="0"/>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gh</a:t>
            </a:r>
            <a:r>
              <a:rPr lang="en-US" altLang="zh-CN" sz="2400" b="1" kern="1500"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ij</a:t>
            </a:r>
            <a:endParaRPr lang="en-US" altLang="zh-CN" sz="2400" b="1" i="1" kern="1500" spc="300" dirty="0">
              <a:solidFill>
                <a:srgbClr val="0B61FF"/>
              </a:solidFill>
              <a:latin typeface="Trebuchet MS" panose="020B0603020202020204" pitchFamily="34" charset="0"/>
              <a:cs typeface="Times New Roman" panose="02020603050405020304" pitchFamily="18" charset="0"/>
            </a:endParaRPr>
          </a:p>
          <a:p>
            <a:pPr marL="342900" indent="-163513">
              <a:lnSpc>
                <a:spcPct val="110000"/>
              </a:lnSpc>
              <a:buClr>
                <a:srgbClr val="0B61FF"/>
              </a:buClr>
              <a:buSzPct val="120000"/>
              <a:buFont typeface="Arial" panose="020B0604020202020204" pitchFamily="34" charset="0"/>
              <a:buChar char="•"/>
            </a:pPr>
            <a:r>
              <a:rPr lang="en-US" sz="2400" dirty="0">
                <a:latin typeface="Trebuchet MS" panose="020B0603020202020204" pitchFamily="34" charset="0"/>
              </a:rPr>
              <a:t>Reverse Polish Notation (Postfix)</a:t>
            </a:r>
            <a:r>
              <a:rPr lang="en-US" altLang="zh-CN" sz="2400" b="1" dirty="0">
                <a:latin typeface="Trebuchet MS" panose="020B0603020202020204" pitchFamily="34" charset="0"/>
              </a:rPr>
              <a:t>:</a:t>
            </a:r>
          </a:p>
          <a:p>
            <a:pPr marL="177800" indent="179388">
              <a:lnSpc>
                <a:spcPct val="110000"/>
              </a:lnSpc>
              <a:buClr>
                <a:srgbClr val="0B61FF"/>
              </a:buClr>
              <a:buSzPct val="120000"/>
            </a:pPr>
            <a:r>
              <a:rPr lang="en-US" altLang="zh-CN" sz="2400" b="1" i="1" spc="300" dirty="0" err="1">
                <a:solidFill>
                  <a:srgbClr val="0B61FF"/>
                </a:solidFill>
                <a:latin typeface="Trebuchet MS" panose="020B0603020202020204" pitchFamily="34" charset="0"/>
                <a:cs typeface="Times New Roman" panose="02020603050405020304" pitchFamily="18" charset="0"/>
              </a:rPr>
              <a:t>bcd</a:t>
            </a:r>
            <a:r>
              <a:rPr lang="en-US" altLang="zh-CN" sz="2400" b="1" spc="300" dirty="0">
                <a:solidFill>
                  <a:srgbClr val="0B61FF"/>
                </a:solidFill>
                <a:latin typeface="Trebuchet MS" panose="020B0603020202020204" pitchFamily="34" charset="0"/>
                <a:cs typeface="Times New Roman" panose="02020603050405020304" pitchFamily="18" charset="0"/>
              </a:rPr>
              <a:t>++</a:t>
            </a:r>
            <a:r>
              <a:rPr lang="en-US" altLang="zh-CN" sz="2400" b="1" i="1" spc="300" dirty="0" err="1">
                <a:solidFill>
                  <a:srgbClr val="0B61FF"/>
                </a:solidFill>
                <a:latin typeface="Trebuchet MS" panose="020B0603020202020204" pitchFamily="34" charset="0"/>
                <a:cs typeface="Times New Roman" panose="02020603050405020304" pitchFamily="18" charset="0"/>
              </a:rPr>
              <a:t>a</a:t>
            </a:r>
            <a:r>
              <a:rPr lang="en-US" altLang="zh-CN" sz="2400" b="1" i="1"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spc="300" dirty="0" err="1">
                <a:solidFill>
                  <a:srgbClr val="0B61FF"/>
                </a:solidFill>
                <a:latin typeface="Trebuchet MS" panose="020B0603020202020204" pitchFamily="34" charset="0"/>
                <a:cs typeface="Times New Roman" panose="02020603050405020304" pitchFamily="18" charset="0"/>
              </a:rPr>
              <a:t>ef</a:t>
            </a:r>
            <a:r>
              <a:rPr lang="en-US" altLang="zh-CN" sz="2400" b="1"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spc="300" dirty="0" err="1">
                <a:solidFill>
                  <a:srgbClr val="0B61FF"/>
                </a:solidFill>
                <a:latin typeface="Trebuchet MS" panose="020B0603020202020204" pitchFamily="34" charset="0"/>
                <a:cs typeface="Times New Roman" panose="02020603050405020304" pitchFamily="18" charset="0"/>
              </a:rPr>
              <a:t>gh</a:t>
            </a:r>
            <a:r>
              <a:rPr lang="en-US" altLang="zh-CN" sz="2400" b="1" spc="300" dirty="0" err="1">
                <a:solidFill>
                  <a:srgbClr val="0B61FF"/>
                </a:solidFill>
                <a:latin typeface="Trebuchet MS" panose="020B0603020202020204" pitchFamily="34" charset="0"/>
                <a:cs typeface="Times New Roman" panose="02020603050405020304" pitchFamily="18" charset="0"/>
              </a:rPr>
              <a:t>+</a:t>
            </a:r>
            <a:r>
              <a:rPr lang="en-US" altLang="zh-CN" sz="2400" b="1" i="1" spc="300" dirty="0" err="1">
                <a:solidFill>
                  <a:srgbClr val="0B61FF"/>
                </a:solidFill>
                <a:latin typeface="Trebuchet MS" panose="020B0603020202020204" pitchFamily="34" charset="0"/>
                <a:cs typeface="Times New Roman" panose="02020603050405020304" pitchFamily="18" charset="0"/>
              </a:rPr>
              <a:t>ij</a:t>
            </a:r>
            <a:r>
              <a:rPr lang="en-US" altLang="zh-CN" sz="2400" b="1"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spc="300" dirty="0">
                <a:solidFill>
                  <a:srgbClr val="0B61FF"/>
                </a:solidFill>
                <a:latin typeface="Trebuchet MS" panose="020B0603020202020204" pitchFamily="34" charset="0"/>
                <a:cs typeface="Times New Roman" panose="02020603050405020304" pitchFamily="18" charset="0"/>
              </a:rPr>
              <a:t> </a:t>
            </a:r>
          </a:p>
        </p:txBody>
      </p:sp>
      <p:pic>
        <p:nvPicPr>
          <p:cNvPr id="19" name="Picture 7" descr="16-13">
            <a:extLst>
              <a:ext uri="{FF2B5EF4-FFF2-40B4-BE49-F238E27FC236}">
                <a16:creationId xmlns:a16="http://schemas.microsoft.com/office/drawing/2014/main" id="{F6A5D68E-34A2-41BB-9B36-989101949A1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239" r="14951" b="47244"/>
          <a:stretch>
            <a:fillRect/>
          </a:stretch>
        </p:blipFill>
        <p:spPr bwMode="auto">
          <a:xfrm>
            <a:off x="6882665" y="3468909"/>
            <a:ext cx="3194878" cy="270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0366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0" end="0"/>
                                            </p:txEl>
                                          </p:spTgt>
                                        </p:tgtEl>
                                        <p:attrNameLst>
                                          <p:attrName>style.visibility</p:attrName>
                                        </p:attrNameLst>
                                      </p:cBhvr>
                                      <p:to>
                                        <p:strVal val="visible"/>
                                      </p:to>
                                    </p:set>
                                    <p:animEffect transition="in" filter="fade">
                                      <p:cBhvr>
                                        <p:cTn id="14" dur="1000"/>
                                        <p:tgtEl>
                                          <p:spTgt spid="17">
                                            <p:txEl>
                                              <p:pRg st="0" end="0"/>
                                            </p:txEl>
                                          </p:spTgt>
                                        </p:tgtEl>
                                      </p:cBhvr>
                                    </p:animEffect>
                                    <p:anim calcmode="lin" valueType="num">
                                      <p:cBhvr>
                                        <p:cTn id="15"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7">
                                            <p:txEl>
                                              <p:pRg st="1" end="1"/>
                                            </p:txEl>
                                          </p:spTgt>
                                        </p:tgtEl>
                                        <p:attrNameLst>
                                          <p:attrName>style.visibility</p:attrName>
                                        </p:attrNameLst>
                                      </p:cBhvr>
                                      <p:to>
                                        <p:strVal val="visible"/>
                                      </p:to>
                                    </p:set>
                                    <p:animEffect transition="in" filter="fade">
                                      <p:cBhvr>
                                        <p:cTn id="26" dur="1000"/>
                                        <p:tgtEl>
                                          <p:spTgt spid="17">
                                            <p:txEl>
                                              <p:pRg st="1" end="1"/>
                                            </p:txEl>
                                          </p:spTgt>
                                        </p:tgtEl>
                                      </p:cBhvr>
                                    </p:animEffect>
                                    <p:anim calcmode="lin" valueType="num">
                                      <p:cBhvr>
                                        <p:cTn id="27"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17">
                                            <p:txEl>
                                              <p:pRg st="1" end="1"/>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7">
                                            <p:txEl>
                                              <p:pRg st="2" end="2"/>
                                            </p:txEl>
                                          </p:spTgt>
                                        </p:tgtEl>
                                        <p:attrNameLst>
                                          <p:attrName>style.visibility</p:attrName>
                                        </p:attrNameLst>
                                      </p:cBhvr>
                                      <p:to>
                                        <p:strVal val="visible"/>
                                      </p:to>
                                    </p:set>
                                    <p:animEffect transition="in" filter="fade">
                                      <p:cBhvr>
                                        <p:cTn id="31" dur="1000"/>
                                        <p:tgtEl>
                                          <p:spTgt spid="17">
                                            <p:txEl>
                                              <p:pRg st="2" end="2"/>
                                            </p:txEl>
                                          </p:spTgt>
                                        </p:tgtEl>
                                      </p:cBhvr>
                                    </p:animEffect>
                                    <p:anim calcmode="lin" valueType="num">
                                      <p:cBhvr>
                                        <p:cTn id="3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7">
                                            <p:txEl>
                                              <p:pRg st="3" end="3"/>
                                            </p:txEl>
                                          </p:spTgt>
                                        </p:tgtEl>
                                        <p:attrNameLst>
                                          <p:attrName>style.visibility</p:attrName>
                                        </p:attrNameLst>
                                      </p:cBhvr>
                                      <p:to>
                                        <p:strVal val="visible"/>
                                      </p:to>
                                    </p:set>
                                    <p:animEffect transition="in" filter="fade">
                                      <p:cBhvr>
                                        <p:cTn id="38" dur="1000"/>
                                        <p:tgtEl>
                                          <p:spTgt spid="17">
                                            <p:txEl>
                                              <p:pRg st="3" end="3"/>
                                            </p:txEl>
                                          </p:spTgt>
                                        </p:tgtEl>
                                      </p:cBhvr>
                                    </p:animEffect>
                                    <p:anim calcmode="lin" valueType="num">
                                      <p:cBhvr>
                                        <p:cTn id="3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40" dur="1000" fill="hold"/>
                                        <p:tgtEl>
                                          <p:spTgt spid="17">
                                            <p:txEl>
                                              <p:pRg st="3" end="3"/>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7">
                                            <p:txEl>
                                              <p:pRg st="4" end="4"/>
                                            </p:txEl>
                                          </p:spTgt>
                                        </p:tgtEl>
                                        <p:attrNameLst>
                                          <p:attrName>style.visibility</p:attrName>
                                        </p:attrNameLst>
                                      </p:cBhvr>
                                      <p:to>
                                        <p:strVal val="visible"/>
                                      </p:to>
                                    </p:set>
                                    <p:animEffect transition="in" filter="fade">
                                      <p:cBhvr>
                                        <p:cTn id="43" dur="1000"/>
                                        <p:tgtEl>
                                          <p:spTgt spid="17">
                                            <p:txEl>
                                              <p:pRg st="4" end="4"/>
                                            </p:txEl>
                                          </p:spTgt>
                                        </p:tgtEl>
                                      </p:cBhvr>
                                    </p:animEffect>
                                    <p:anim calcmode="lin" valueType="num">
                                      <p:cBhvr>
                                        <p:cTn id="44" dur="1000" fill="hold"/>
                                        <p:tgtEl>
                                          <p:spTgt spid="17">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1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7.2.4 Traversals of Rooted Trees and Their Applications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How computers process Polish and reverse Polish notation</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p>
        </p:txBody>
      </p:sp>
      <p:pic>
        <p:nvPicPr>
          <p:cNvPr id="19" name="Picture 7" descr="16-13">
            <a:extLst>
              <a:ext uri="{FF2B5EF4-FFF2-40B4-BE49-F238E27FC236}">
                <a16:creationId xmlns:a16="http://schemas.microsoft.com/office/drawing/2014/main" id="{F6A5D68E-34A2-41BB-9B36-989101949A1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239" r="14951" b="47244"/>
          <a:stretch>
            <a:fillRect/>
          </a:stretch>
        </p:blipFill>
        <p:spPr bwMode="auto">
          <a:xfrm>
            <a:off x="7712696" y="868732"/>
            <a:ext cx="3164765" cy="2683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文本框 24">
            <a:extLst>
              <a:ext uri="{FF2B5EF4-FFF2-40B4-BE49-F238E27FC236}">
                <a16:creationId xmlns:a16="http://schemas.microsoft.com/office/drawing/2014/main" id="{A727E770-8FED-47F3-9B83-9D12B28FA2F2}"/>
              </a:ext>
            </a:extLst>
          </p:cNvPr>
          <p:cNvSpPr txBox="1"/>
          <p:nvPr/>
        </p:nvSpPr>
        <p:spPr>
          <a:xfrm>
            <a:off x="791622" y="815365"/>
            <a:ext cx="6603091" cy="4364143"/>
          </a:xfrm>
          <a:prstGeom prst="rect">
            <a:avLst/>
          </a:prstGeom>
          <a:noFill/>
        </p:spPr>
        <p:txBody>
          <a:bodyPr wrap="square">
            <a:spAutoFit/>
          </a:bodyPr>
          <a:lstStyle/>
          <a:p>
            <a:pPr marL="342900" indent="-342900">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Computer Processing Method:</a:t>
            </a:r>
          </a:p>
          <a:p>
            <a:pPr marL="447675" indent="-268288">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For an expression represented in </a:t>
            </a:r>
            <a:r>
              <a:rPr lang="en-US" sz="2400" b="1" dirty="0">
                <a:latin typeface="Trebuchet MS" panose="020B0603020202020204" pitchFamily="34" charset="0"/>
              </a:rPr>
              <a:t>Polish notation</a:t>
            </a:r>
            <a:r>
              <a:rPr lang="en-US" sz="2400" dirty="0">
                <a:latin typeface="Trebuchet MS" panose="020B0603020202020204" pitchFamily="34" charset="0"/>
              </a:rPr>
              <a:t>, computation starts from the </a:t>
            </a:r>
            <a:r>
              <a:rPr lang="en-US" sz="2400" b="1" dirty="0">
                <a:latin typeface="Trebuchet MS" panose="020B0603020202020204" pitchFamily="34" charset="0"/>
              </a:rPr>
              <a:t>root node</a:t>
            </a:r>
            <a:r>
              <a:rPr lang="en-US" sz="2400" dirty="0">
                <a:latin typeface="Trebuchet MS" panose="020B0603020202020204" pitchFamily="34" charset="0"/>
              </a:rPr>
              <a:t>—the operator is encountered first, followed by its operands.</a:t>
            </a:r>
          </a:p>
          <a:p>
            <a:pPr marL="447675" indent="-268288">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For an expression in </a:t>
            </a:r>
            <a:r>
              <a:rPr lang="en-US" sz="2400" b="1" dirty="0">
                <a:latin typeface="Trebuchet MS" panose="020B0603020202020204" pitchFamily="34" charset="0"/>
              </a:rPr>
              <a:t>Reverse Polish notation</a:t>
            </a:r>
            <a:r>
              <a:rPr lang="en-US" sz="2400" dirty="0">
                <a:latin typeface="Trebuchet MS" panose="020B0603020202020204" pitchFamily="34" charset="0"/>
              </a:rPr>
              <a:t>, computation begins from the </a:t>
            </a:r>
            <a:r>
              <a:rPr lang="en-US" sz="2400" b="1" dirty="0">
                <a:latin typeface="Trebuchet MS" panose="020B0603020202020204" pitchFamily="34" charset="0"/>
              </a:rPr>
              <a:t>leaf nodes</a:t>
            </a:r>
            <a:r>
              <a:rPr lang="en-US" sz="2400" dirty="0">
                <a:latin typeface="Trebuchet MS" panose="020B0603020202020204" pitchFamily="34" charset="0"/>
              </a:rPr>
              <a:t> and proceeds </a:t>
            </a:r>
            <a:r>
              <a:rPr lang="en-US" sz="2400" b="1" dirty="0">
                <a:latin typeface="Trebuchet MS" panose="020B0603020202020204" pitchFamily="34" charset="0"/>
              </a:rPr>
              <a:t>upward step by step</a:t>
            </a:r>
            <a:r>
              <a:rPr lang="en-US" sz="2400" dirty="0">
                <a:latin typeface="Trebuchet MS" panose="020B0603020202020204" pitchFamily="34" charset="0"/>
              </a:rPr>
              <a:t> until reaching the root node.</a:t>
            </a:r>
            <a:endParaRPr lang="zh-CN" altLang="en-US" sz="2400" dirty="0">
              <a:latin typeface="Trebuchet MS" panose="020B0603020202020204" pitchFamily="34" charset="0"/>
            </a:endParaRPr>
          </a:p>
        </p:txBody>
      </p:sp>
      <p:sp>
        <p:nvSpPr>
          <p:cNvPr id="3" name="矩形 2">
            <a:extLst>
              <a:ext uri="{FF2B5EF4-FFF2-40B4-BE49-F238E27FC236}">
                <a16:creationId xmlns:a16="http://schemas.microsoft.com/office/drawing/2014/main" id="{1C200041-60E8-494F-9679-6DCA1DC00D9F}"/>
              </a:ext>
            </a:extLst>
          </p:cNvPr>
          <p:cNvSpPr/>
          <p:nvPr/>
        </p:nvSpPr>
        <p:spPr>
          <a:xfrm>
            <a:off x="7120393" y="3684925"/>
            <a:ext cx="4533635" cy="2091919"/>
          </a:xfrm>
          <a:prstGeom prst="rect">
            <a:avLst/>
          </a:prstGeom>
        </p:spPr>
        <p:txBody>
          <a:bodyPr wrap="square">
            <a:spAutoFit/>
          </a:bodyPr>
          <a:lstStyle/>
          <a:p>
            <a:pPr marL="342900" indent="-163513">
              <a:lnSpc>
                <a:spcPct val="11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Polish Notation (Prefix):</a:t>
            </a:r>
          </a:p>
          <a:p>
            <a:pPr marL="177800" indent="179388" algn="just">
              <a:lnSpc>
                <a:spcPct val="110000"/>
              </a:lnSpc>
              <a:buClr>
                <a:srgbClr val="0B61FF"/>
              </a:buClr>
              <a:buSzPct val="120000"/>
            </a:pPr>
            <a:r>
              <a:rPr lang="zh-CN" altLang="en-US"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b</a:t>
            </a:r>
            <a:r>
              <a:rPr lang="en-US" altLang="zh-CN" sz="2400" b="1" kern="1500" spc="300" dirty="0" err="1">
                <a:solidFill>
                  <a:srgbClr val="0B61FF"/>
                </a:solidFill>
                <a:latin typeface="Trebuchet MS" panose="020B0603020202020204" pitchFamily="34" charset="0"/>
                <a:cs typeface="Times New Roman" panose="02020603050405020304" pitchFamily="18" charset="0"/>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cda</a:t>
            </a:r>
            <a:r>
              <a:rPr lang="en-US" altLang="zh-CN"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ef</a:t>
            </a:r>
            <a:r>
              <a:rPr lang="en-US" altLang="zh-CN"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kern="1500" spc="300" dirty="0">
                <a:solidFill>
                  <a:srgbClr val="0B61FF"/>
                </a:solidFill>
                <a:latin typeface="Trebuchet MS" panose="020B0603020202020204" pitchFamily="34" charset="0"/>
                <a:cs typeface="Times New Roman" panose="02020603050405020304" pitchFamily="18" charset="0"/>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gh</a:t>
            </a:r>
            <a:r>
              <a:rPr lang="en-US" altLang="zh-CN" sz="2400" b="1" kern="1500"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ij</a:t>
            </a:r>
            <a:endParaRPr lang="en-US" altLang="zh-CN" sz="2400" b="1" i="1" kern="1500" spc="300" dirty="0">
              <a:solidFill>
                <a:srgbClr val="0B61FF"/>
              </a:solidFill>
              <a:latin typeface="Trebuchet MS" panose="020B0603020202020204" pitchFamily="34" charset="0"/>
              <a:cs typeface="Times New Roman" panose="02020603050405020304" pitchFamily="18" charset="0"/>
            </a:endParaRPr>
          </a:p>
          <a:p>
            <a:pPr marL="342900" indent="-163513">
              <a:lnSpc>
                <a:spcPct val="11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Reverse Polish Notation (Postfix)</a:t>
            </a:r>
            <a:r>
              <a:rPr lang="en-US" altLang="zh-CN" sz="2400" b="1" dirty="0">
                <a:latin typeface="Trebuchet MS" panose="020B0603020202020204" pitchFamily="34" charset="0"/>
              </a:rPr>
              <a:t>:</a:t>
            </a:r>
          </a:p>
          <a:p>
            <a:pPr marL="177800" indent="179388">
              <a:lnSpc>
                <a:spcPct val="110000"/>
              </a:lnSpc>
              <a:buClr>
                <a:srgbClr val="0B61FF"/>
              </a:buClr>
              <a:buSzPct val="120000"/>
            </a:pPr>
            <a:r>
              <a:rPr lang="en-US" altLang="zh-CN" sz="2400" b="1" i="1" spc="300" dirty="0" err="1">
                <a:solidFill>
                  <a:srgbClr val="0B61FF"/>
                </a:solidFill>
                <a:latin typeface="Trebuchet MS" panose="020B0603020202020204" pitchFamily="34" charset="0"/>
                <a:cs typeface="Times New Roman" panose="02020603050405020304" pitchFamily="18" charset="0"/>
              </a:rPr>
              <a:t>bcd</a:t>
            </a:r>
            <a:r>
              <a:rPr lang="en-US" altLang="zh-CN" sz="2400" b="1" spc="300" dirty="0">
                <a:solidFill>
                  <a:srgbClr val="0B61FF"/>
                </a:solidFill>
                <a:latin typeface="Trebuchet MS" panose="020B0603020202020204" pitchFamily="34" charset="0"/>
                <a:cs typeface="Times New Roman" panose="02020603050405020304" pitchFamily="18" charset="0"/>
              </a:rPr>
              <a:t>++</a:t>
            </a:r>
            <a:r>
              <a:rPr lang="en-US" altLang="zh-CN" sz="2400" b="1" i="1" spc="300" dirty="0" err="1">
                <a:solidFill>
                  <a:srgbClr val="0B61FF"/>
                </a:solidFill>
                <a:latin typeface="Trebuchet MS" panose="020B0603020202020204" pitchFamily="34" charset="0"/>
                <a:cs typeface="Times New Roman" panose="02020603050405020304" pitchFamily="18" charset="0"/>
              </a:rPr>
              <a:t>a</a:t>
            </a:r>
            <a:r>
              <a:rPr lang="en-US" altLang="zh-CN" sz="2400" b="1" i="1"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spc="300" dirty="0" err="1">
                <a:solidFill>
                  <a:srgbClr val="0B61FF"/>
                </a:solidFill>
                <a:latin typeface="Trebuchet MS" panose="020B0603020202020204" pitchFamily="34" charset="0"/>
                <a:cs typeface="Times New Roman" panose="02020603050405020304" pitchFamily="18" charset="0"/>
              </a:rPr>
              <a:t>ef</a:t>
            </a:r>
            <a:r>
              <a:rPr lang="en-US" altLang="zh-CN" sz="2400" b="1"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spc="300" dirty="0" err="1">
                <a:solidFill>
                  <a:srgbClr val="0B61FF"/>
                </a:solidFill>
                <a:latin typeface="Trebuchet MS" panose="020B0603020202020204" pitchFamily="34" charset="0"/>
                <a:cs typeface="Times New Roman" panose="02020603050405020304" pitchFamily="18" charset="0"/>
              </a:rPr>
              <a:t>gh</a:t>
            </a:r>
            <a:r>
              <a:rPr lang="en-US" altLang="zh-CN" sz="2400" b="1" spc="300" dirty="0" err="1">
                <a:solidFill>
                  <a:srgbClr val="0B61FF"/>
                </a:solidFill>
                <a:latin typeface="Trebuchet MS" panose="020B0603020202020204" pitchFamily="34" charset="0"/>
                <a:cs typeface="Times New Roman" panose="02020603050405020304" pitchFamily="18" charset="0"/>
              </a:rPr>
              <a:t>+</a:t>
            </a:r>
            <a:r>
              <a:rPr lang="en-US" altLang="zh-CN" sz="2400" b="1" i="1" spc="300" dirty="0" err="1">
                <a:solidFill>
                  <a:srgbClr val="0B61FF"/>
                </a:solidFill>
                <a:latin typeface="Trebuchet MS" panose="020B0603020202020204" pitchFamily="34" charset="0"/>
                <a:cs typeface="Times New Roman" panose="02020603050405020304" pitchFamily="18" charset="0"/>
              </a:rPr>
              <a:t>ij</a:t>
            </a:r>
            <a:r>
              <a:rPr lang="en-US" altLang="zh-CN" sz="2400" b="1"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spc="300" dirty="0">
                <a:solidFill>
                  <a:srgbClr val="0B61FF"/>
                </a:solidFill>
                <a:latin typeface="Trebuchet MS" panose="020B0603020202020204" pitchFamily="34" charset="0"/>
                <a:cs typeface="Times New Roman" panose="02020603050405020304" pitchFamily="18" charset="0"/>
              </a:rPr>
              <a:t> </a:t>
            </a:r>
          </a:p>
        </p:txBody>
      </p:sp>
    </p:spTree>
    <p:extLst>
      <p:ext uri="{BB962C8B-B14F-4D97-AF65-F5344CB8AC3E}">
        <p14:creationId xmlns:p14="http://schemas.microsoft.com/office/powerpoint/2010/main" val="1513043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
                                            <p:txEl>
                                              <p:pRg st="2" end="2"/>
                                            </p:txEl>
                                          </p:spTgt>
                                        </p:tgtEl>
                                        <p:attrNameLst>
                                          <p:attrName>style.visibility</p:attrName>
                                        </p:attrNameLst>
                                      </p:cBhvr>
                                      <p:to>
                                        <p:strVal val="visible"/>
                                      </p:to>
                                    </p:set>
                                    <p:animEffect transition="in" filter="fade">
                                      <p:cBhvr>
                                        <p:cTn id="7" dur="1000"/>
                                        <p:tgtEl>
                                          <p:spTgt spid="25">
                                            <p:txEl>
                                              <p:pRg st="2" end="2"/>
                                            </p:txEl>
                                          </p:spTgt>
                                        </p:tgtEl>
                                      </p:cBhvr>
                                    </p:animEffect>
                                    <p:anim calcmode="lin" valueType="num">
                                      <p:cBhvr>
                                        <p:cTn id="8" dur="1000" fill="hold"/>
                                        <p:tgtEl>
                                          <p:spTgt spid="2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cs typeface="Times New Roman" panose="02020603050405020304" pitchFamily="18" charset="0"/>
              </a:rPr>
              <a:t>          7.2 Rooted Trees and Their Applications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95734521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7: Trees and Their Applications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a:p>
            <a:pPr>
              <a:lnSpc>
                <a:spcPct val="13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7.1 Undirected Trees</a:t>
            </a:r>
          </a:p>
          <a:p>
            <a:pPr>
              <a:lnSpc>
                <a:spcPct val="13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7.2 Rooted Trees and Their Applications</a:t>
            </a:r>
            <a:endParaRPr lang="en-US" altLang="zh-CN" sz="2400" dirty="0">
              <a:latin typeface="Trebuchet MS" panose="020B0603020202020204" pitchFamily="34" charset="0"/>
            </a:endParaRPr>
          </a:p>
        </p:txBody>
      </p:sp>
    </p:spTree>
    <p:extLst>
      <p:ext uri="{BB962C8B-B14F-4D97-AF65-F5344CB8AC3E}">
        <p14:creationId xmlns:p14="http://schemas.microsoft.com/office/powerpoint/2010/main" val="18659979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7002</TotalTime>
  <Words>10947</Words>
  <Application>Microsoft Office PowerPoint</Application>
  <PresentationFormat>宽屏</PresentationFormat>
  <Paragraphs>858</Paragraphs>
  <Slides>48</Slides>
  <Notes>48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2" baseType="lpstr">
      <vt:lpstr>Söhne</vt:lpstr>
      <vt:lpstr>华文行楷</vt:lpstr>
      <vt:lpstr>宋体</vt:lpstr>
      <vt:lpstr>Arial</vt:lpstr>
      <vt:lpstr>Calibri</vt:lpstr>
      <vt:lpstr>Calibri Light</vt:lpstr>
      <vt:lpstr>Cambria Math</vt:lpstr>
      <vt:lpstr>Segoe UI</vt:lpstr>
      <vt:lpstr>Symbol</vt:lpstr>
      <vt:lpstr>Times New Roman</vt:lpstr>
      <vt:lpstr>Trebuchet MS</vt:lpstr>
      <vt:lpstr>Wingdings</vt:lpstr>
      <vt:lpstr>Office 主题</vt:lpstr>
      <vt:lpstr>Equation</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dc:title>
  <dc:creator>..</dc:creator>
  <cp:lastModifiedBy>KejiWei</cp:lastModifiedBy>
  <cp:revision>929</cp:revision>
  <dcterms:created xsi:type="dcterms:W3CDTF">2017-07-24T02:14:00Z</dcterms:created>
  <dcterms:modified xsi:type="dcterms:W3CDTF">2025-08-16T14:02:44Z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73C6946277D1426C8BB6322F8B832BA4</vt:lpwstr>
  </property>
</Properties>
</file>